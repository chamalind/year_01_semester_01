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sldIdLst>
    <p:sldId id="319" r:id="rId2"/>
    <p:sldId id="366" r:id="rId3"/>
    <p:sldId id="367" r:id="rId4"/>
    <p:sldId id="368" r:id="rId5"/>
    <p:sldId id="369" r:id="rId6"/>
    <p:sldId id="370" r:id="rId7"/>
    <p:sldId id="371" r:id="rId8"/>
    <p:sldId id="372" r:id="rId9"/>
    <p:sldId id="399" r:id="rId10"/>
    <p:sldId id="400" r:id="rId11"/>
    <p:sldId id="373" r:id="rId12"/>
    <p:sldId id="374" r:id="rId13"/>
    <p:sldId id="401" r:id="rId14"/>
    <p:sldId id="402" r:id="rId15"/>
    <p:sldId id="375" r:id="rId16"/>
    <p:sldId id="377" r:id="rId17"/>
    <p:sldId id="378" r:id="rId18"/>
    <p:sldId id="379" r:id="rId19"/>
    <p:sldId id="380" r:id="rId20"/>
    <p:sldId id="381" r:id="rId21"/>
    <p:sldId id="382" r:id="rId22"/>
    <p:sldId id="383" r:id="rId23"/>
    <p:sldId id="384" r:id="rId24"/>
    <p:sldId id="385" r:id="rId25"/>
    <p:sldId id="386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howGuides="1">
      <p:cViewPr varScale="1">
        <p:scale>
          <a:sx n="56" d="100"/>
          <a:sy n="56" d="100"/>
        </p:scale>
        <p:origin x="156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78639-0D19-45B0-A86B-EC65E962A62A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ED4BB1-ADCC-4275-BBC4-8A0D60650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18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9144000" cy="4267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286000"/>
            <a:ext cx="7772400" cy="460375"/>
          </a:xfrm>
        </p:spPr>
        <p:txBody>
          <a:bodyPr>
            <a:normAutofit/>
          </a:bodyPr>
          <a:lstStyle>
            <a:lvl1pPr algn="ctr">
              <a:defRPr sz="2000" baseline="0"/>
            </a:lvl1pPr>
          </a:lstStyle>
          <a:p>
            <a:r>
              <a:rPr lang="en-US" dirty="0"/>
              <a:t>&lt;COURSE CODE &amp; COURSE NAME&gt;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352800"/>
            <a:ext cx="7772400" cy="381000"/>
          </a:xfrm>
        </p:spPr>
        <p:txBody>
          <a:bodyPr anchor="b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en-US" sz="2400" b="1" dirty="0">
                <a:solidFill>
                  <a:schemeClr val="bg1"/>
                </a:solidFill>
              </a:rPr>
              <a:t>&lt;Handout #&gt; - &lt;Topic&gt;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685800" y="457200"/>
            <a:ext cx="7772400" cy="83099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bg1"/>
                </a:solidFill>
                <a:latin typeface="+mn-lt"/>
              </a:rPr>
              <a:t>MASTER</a:t>
            </a:r>
            <a:r>
              <a:rPr lang="en-US" sz="2400" baseline="0" dirty="0">
                <a:solidFill>
                  <a:schemeClr val="bg1"/>
                </a:solidFill>
                <a:latin typeface="+mn-lt"/>
              </a:rPr>
              <a:t> OF COMPUTER SCIENCE/</a:t>
            </a: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bg1"/>
                </a:solidFill>
                <a:latin typeface="+mn-lt"/>
              </a:rPr>
              <a:t>MASTER</a:t>
            </a:r>
            <a:r>
              <a:rPr lang="en-US" sz="2400" baseline="0" dirty="0">
                <a:solidFill>
                  <a:schemeClr val="bg1"/>
                </a:solidFill>
                <a:latin typeface="+mn-lt"/>
              </a:rPr>
              <a:t> OF SCIENCE IN COMPUTER SCIENCE</a:t>
            </a:r>
            <a:endParaRPr lang="en-US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685800" y="6074282"/>
            <a:ext cx="7772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UNIVERSITY OF COLOMBO SCHOOL OF COMPUTING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5436882"/>
            <a:ext cx="1269999" cy="95249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5410200"/>
            <a:ext cx="800872" cy="94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597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0416C-905D-4BE0-9B05-6BB6284CA0C5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45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3429000"/>
            <a:ext cx="9144000" cy="2540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446087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D089F-91F1-431F-BD8C-2A56BD3B8F08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563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4A36-C5BB-4B3A-A604-753957FBA3C8}" type="datetime3">
              <a:rPr lang="en-US" smtClean="0"/>
              <a:t>10 August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113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22438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25C61-B649-4909-BF29-0BC99F7D832A}" type="datetime3">
              <a:rPr lang="en-US" smtClean="0"/>
              <a:t>10 August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10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CD29-C5EF-460C-B1D6-1717196B1B1E}" type="datetime3">
              <a:rPr lang="en-US" smtClean="0"/>
              <a:t>10 August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1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D6BAD-53A3-4268-BFB2-3A4D4E4445EA}" type="datetime3">
              <a:rPr lang="en-US" smtClean="0"/>
              <a:t>10 August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79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76400"/>
            <a:ext cx="3008313" cy="44497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A3AD-E752-4CDB-8CE3-2E07410C56FF}" type="datetime3">
              <a:rPr lang="en-US" smtClean="0"/>
              <a:t>10 August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61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ctr">
              <a:defRPr sz="20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 baseline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CBD8-6277-476F-A833-51B81DF4C9BD}" type="datetime3">
              <a:rPr lang="en-US" smtClean="0"/>
              <a:t>10 August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263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464A0-7AE1-4FE2-BE89-10295B7FFC91}" type="datetime3">
              <a:rPr lang="en-US" smtClean="0"/>
              <a:t>10 August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    </a:t>
            </a:r>
            <a:fld id="{0CA841A6-7C02-4C92-B6EE-5DBCC2AD53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457200" y="1676400"/>
            <a:ext cx="4038600" cy="44196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4648200" y="1676400"/>
            <a:ext cx="4038600" cy="4419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03445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ctr">
              <a:defRPr sz="20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F2CB7-4C58-4F0C-AFE9-4B6E023B69E8}" type="datetime3">
              <a:rPr lang="en-US" smtClean="0"/>
              <a:t>10 August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 hasCustomPrompt="1"/>
          </p:nvPr>
        </p:nvSpPr>
        <p:spPr>
          <a:xfrm>
            <a:off x="1828800" y="609600"/>
            <a:ext cx="5410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3700273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F0588-F3AF-4F27-A0BD-FFDE30592074}" type="datetime3">
              <a:rPr lang="en-US" smtClean="0"/>
              <a:t>10 August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    </a:t>
            </a:r>
            <a:fld id="{0CA841A6-7C02-4C92-B6EE-5DBCC2AD53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3" hasCustomPrompt="1"/>
          </p:nvPr>
        </p:nvSpPr>
        <p:spPr>
          <a:xfrm>
            <a:off x="4648200" y="1676400"/>
            <a:ext cx="4038600" cy="4419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457200" y="1676400"/>
            <a:ext cx="4038600" cy="44196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01967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ctr">
              <a:defRPr sz="20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D61EB-E89B-4432-A338-FA74D86FF8F0}" type="datetime3">
              <a:rPr lang="en-US" smtClean="0"/>
              <a:t>10 August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4" hasCustomPrompt="1"/>
          </p:nvPr>
        </p:nvSpPr>
        <p:spPr>
          <a:xfrm>
            <a:off x="1828800" y="609600"/>
            <a:ext cx="5410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3241394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7D236-66F7-4E1F-B6E5-781E541CC2C4}" type="datetime3">
              <a:rPr lang="en-US" smtClean="0"/>
              <a:t>10 August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    </a:t>
            </a:r>
            <a:fld id="{0CA841A6-7C02-4C92-B6EE-5DBCC2AD53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457200" y="1676400"/>
            <a:ext cx="4038600" cy="44196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5" hasCustomPrompt="1"/>
          </p:nvPr>
        </p:nvSpPr>
        <p:spPr>
          <a:xfrm>
            <a:off x="4648200" y="1676400"/>
            <a:ext cx="4038600" cy="4419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41669013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ctr">
              <a:defRPr sz="20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48191-6EC0-47AA-84D2-992F9BA30B18}" type="datetime3">
              <a:rPr lang="en-US" smtClean="0"/>
              <a:t>10 August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SmartArt Placeholder 9"/>
          <p:cNvSpPr>
            <a:spLocks noGrp="1"/>
          </p:cNvSpPr>
          <p:nvPr>
            <p:ph type="dgm" sz="quarter" idx="15"/>
          </p:nvPr>
        </p:nvSpPr>
        <p:spPr>
          <a:xfrm>
            <a:off x="1828800" y="609600"/>
            <a:ext cx="5410200" cy="4114800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Click icon to add SmartArt</a:t>
            </a:r>
          </a:p>
        </p:txBody>
      </p:sp>
    </p:spTree>
    <p:extLst>
      <p:ext uri="{BB962C8B-B14F-4D97-AF65-F5344CB8AC3E}">
        <p14:creationId xmlns:p14="http://schemas.microsoft.com/office/powerpoint/2010/main" val="1203592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572C1-D28A-4D22-9960-AA75A4A33DB0}" type="datetime3">
              <a:rPr lang="en-US" smtClean="0"/>
              <a:t>10 August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    </a:t>
            </a:r>
            <a:fld id="{0CA841A6-7C02-4C92-B6EE-5DBCC2AD53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457200" y="1676400"/>
            <a:ext cx="4038600" cy="44196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martArt Placeholder 7"/>
          <p:cNvSpPr>
            <a:spLocks noGrp="1"/>
          </p:cNvSpPr>
          <p:nvPr>
            <p:ph type="dgm" sz="quarter" idx="16"/>
          </p:nvPr>
        </p:nvSpPr>
        <p:spPr>
          <a:xfrm>
            <a:off x="4648200" y="1676400"/>
            <a:ext cx="4038600" cy="4419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SmartArt</a:t>
            </a:r>
          </a:p>
        </p:txBody>
      </p:sp>
    </p:spTree>
    <p:extLst>
      <p:ext uri="{BB962C8B-B14F-4D97-AF65-F5344CB8AC3E}">
        <p14:creationId xmlns:p14="http://schemas.microsoft.com/office/powerpoint/2010/main" val="10508923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ctr">
              <a:defRPr sz="2000" b="1">
                <a:solidFill>
                  <a:schemeClr val="bg2">
                    <a:lumMod val="50000"/>
                  </a:schemeClr>
                </a:solidFill>
                <a:latin typeface="DINPro-Black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3821A-0405-4287-9E5A-D7790E5FEA80}" type="datetime3">
              <a:rPr lang="en-US" smtClean="0"/>
              <a:t>10 August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8"/>
          <p:cNvSpPr>
            <a:spLocks noGrp="1"/>
          </p:cNvSpPr>
          <p:nvPr>
            <p:ph type="media" sz="quarter" idx="16" hasCustomPrompt="1"/>
          </p:nvPr>
        </p:nvSpPr>
        <p:spPr>
          <a:xfrm>
            <a:off x="1828800" y="609600"/>
            <a:ext cx="5410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40643518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8A0B2-3D9E-40FC-BD2D-7A71A47202FF}" type="datetime3">
              <a:rPr lang="en-US" smtClean="0"/>
              <a:t>10 August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     </a:t>
            </a:r>
            <a:fld id="{0CA841A6-7C02-4C92-B6EE-5DBCC2AD53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457200" y="1676400"/>
            <a:ext cx="4038600" cy="44196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Media Placeholder 6"/>
          <p:cNvSpPr>
            <a:spLocks noGrp="1"/>
          </p:cNvSpPr>
          <p:nvPr>
            <p:ph type="media" sz="quarter" idx="17" hasCustomPrompt="1"/>
          </p:nvPr>
        </p:nvSpPr>
        <p:spPr>
          <a:xfrm>
            <a:off x="4648200" y="1676400"/>
            <a:ext cx="4038600" cy="4419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921398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CAC6C-0654-41F9-B30D-B4016C387510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2728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7467600" y="0"/>
            <a:ext cx="1371600" cy="6172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7543800" y="274638"/>
            <a:ext cx="1295400" cy="5851525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934200" cy="585152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DF9D-695F-471C-A108-B42430214D51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804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1066800" y="6454833"/>
            <a:ext cx="4495800" cy="25076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279400"/>
            <a:ext cx="9144000" cy="13208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2493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8229600" cy="444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2121" y="6400800"/>
            <a:ext cx="1092679" cy="3206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DE92AC1-FE72-48A5-AE45-70048AA122DA}" type="datetime3">
              <a:rPr lang="en-US" smtClean="0"/>
              <a:t>10 August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400800"/>
            <a:ext cx="4495800" cy="3206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r>
              <a:rPr lang="en-GB"/>
              <a:t>SCS 1204   Discrete Mathematics I      Dr. Sritharan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24800" y="6400800"/>
            <a:ext cx="762000" cy="3206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|        </a:t>
            </a:r>
            <a:fld id="{0CA841A6-7C02-4C92-B6EE-5DBCC2AD53D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226233"/>
            <a:ext cx="609600" cy="457200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>
            <a:off x="1066800" y="6400800"/>
            <a:ext cx="807720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522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2" r:id="rId10"/>
    <p:sldLayoutId id="2147483663" r:id="rId11"/>
    <p:sldLayoutId id="2147483660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58" r:id="rId19"/>
    <p:sldLayoutId id="2147483659" r:id="rId20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5" Type="http://schemas.openxmlformats.org/officeDocument/2006/relationships/image" Target="../media/image350.png"/><Relationship Id="rId4" Type="http://schemas.openxmlformats.org/officeDocument/2006/relationships/image" Target="../media/image3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Lesson 7: Binary Relations and their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Topics to be covered. </a:t>
            </a:r>
          </a:p>
          <a:p>
            <a:pPr lvl="1"/>
            <a:r>
              <a:rPr lang="en-GB" b="1" dirty="0"/>
              <a:t>Binary Relations</a:t>
            </a:r>
          </a:p>
          <a:p>
            <a:pPr lvl="1"/>
            <a:r>
              <a:rPr lang="en-GB" b="1" dirty="0"/>
              <a:t>Reflexive Relations</a:t>
            </a:r>
          </a:p>
          <a:p>
            <a:pPr lvl="1"/>
            <a:r>
              <a:rPr lang="en-GB" b="1" dirty="0"/>
              <a:t>Symmetric Relations</a:t>
            </a:r>
          </a:p>
          <a:p>
            <a:pPr lvl="1"/>
            <a:r>
              <a:rPr lang="en-GB" b="1" dirty="0"/>
              <a:t>Anti-symmetric Relations</a:t>
            </a:r>
          </a:p>
          <a:p>
            <a:pPr lvl="1"/>
            <a:r>
              <a:rPr lang="en-GB" b="1" dirty="0"/>
              <a:t>Transitive Relations</a:t>
            </a:r>
          </a:p>
          <a:p>
            <a:pPr lvl="1"/>
            <a:r>
              <a:rPr lang="en-GB" b="1" dirty="0"/>
              <a:t>Combining Relations</a:t>
            </a:r>
          </a:p>
          <a:p>
            <a:pPr lvl="1"/>
            <a:r>
              <a:rPr lang="en-GB" b="1" dirty="0"/>
              <a:t>n-</a:t>
            </a:r>
            <a:r>
              <a:rPr lang="en-GB" b="1" dirty="0" err="1"/>
              <a:t>ary</a:t>
            </a:r>
            <a:r>
              <a:rPr lang="en-GB" b="1" dirty="0"/>
              <a:t> Relations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5CD61-CE95-4BD6-B153-DE8629CF4458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009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Cartesian product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12902-6ACF-4048-897E-51E5A38E8120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57200" y="1676400"/>
                <a:ext cx="822960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Definition:</a:t>
                </a:r>
                <a:r>
                  <a:rPr lang="en-US" sz="2000" dirty="0"/>
                  <a:t> Let </a:t>
                </a:r>
                <a:r>
                  <a:rPr lang="en-US" sz="2000" i="1" dirty="0"/>
                  <a:t>A</a:t>
                </a:r>
                <a:r>
                  <a:rPr lang="en-US" sz="2000" dirty="0"/>
                  <a:t> and </a:t>
                </a:r>
                <a:r>
                  <a:rPr lang="en-US" sz="2000" i="1" dirty="0"/>
                  <a:t>B </a:t>
                </a:r>
                <a:r>
                  <a:rPr lang="en-US" sz="2000" dirty="0"/>
                  <a:t>be sets. The </a:t>
                </a:r>
                <a:r>
                  <a:rPr lang="en-US" sz="2000" b="1" dirty="0"/>
                  <a:t>Cartesian product</a:t>
                </a:r>
                <a:r>
                  <a:rPr lang="en-US" sz="2000" dirty="0"/>
                  <a:t> of </a:t>
                </a:r>
                <a:r>
                  <a:rPr lang="en-US" sz="2000" i="1" dirty="0"/>
                  <a:t>A</a:t>
                </a:r>
                <a:r>
                  <a:rPr lang="en-US" sz="2000" dirty="0"/>
                  <a:t> and </a:t>
                </a:r>
                <a:r>
                  <a:rPr lang="en-US" sz="2000" i="1" dirty="0"/>
                  <a:t>B</a:t>
                </a:r>
                <a:r>
                  <a:rPr lang="en-US" sz="2000" dirty="0"/>
                  <a:t>, denoted by   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sz="2000" dirty="0"/>
                  <a:t>, is the set of all ordered pairs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where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. Hence,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∧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}.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76400"/>
                <a:ext cx="8229600" cy="1015663"/>
              </a:xfrm>
              <a:prstGeom prst="rect">
                <a:avLst/>
              </a:prstGeom>
              <a:blipFill>
                <a:blip r:embed="rId2"/>
                <a:stretch>
                  <a:fillRect l="-741" t="-2994" r="-3333" b="-4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57200" y="3283803"/>
                <a:ext cx="8382000" cy="9671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b="1" dirty="0"/>
                  <a:t>Example:</a:t>
                </a:r>
                <a:r>
                  <a:rPr lang="en-US" sz="2000" dirty="0"/>
                  <a:t> What is the Cartesian product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={ 1, 2}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?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283803"/>
                <a:ext cx="8382000" cy="967188"/>
              </a:xfrm>
              <a:prstGeom prst="rect">
                <a:avLst/>
              </a:prstGeom>
              <a:blipFill>
                <a:blip r:embed="rId3"/>
                <a:stretch>
                  <a:fillRect l="-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57200" y="4648200"/>
                <a:ext cx="8229600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Definition:</a:t>
                </a:r>
                <a:r>
                  <a:rPr lang="en-US" sz="2000" dirty="0"/>
                  <a:t> The Cartesian product of the 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, denoted by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×···×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, is the set of ordered n-tuples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belongs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for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. In other words,</a:t>
                </a:r>
              </a:p>
              <a:p>
                <a:r>
                  <a:rPr lang="en-US" sz="2000" dirty="0"/>
                  <a:t> 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×···×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for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=1,2,…,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648200"/>
                <a:ext cx="8229600" cy="1631216"/>
              </a:xfrm>
              <a:prstGeom prst="rect">
                <a:avLst/>
              </a:prstGeom>
              <a:blipFill rotWithShape="0">
                <a:blip r:embed="rId4"/>
                <a:stretch>
                  <a:fillRect l="-741" t="-1873" r="-10889" b="-59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73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Binary Relations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46546-5766-4070-AB49-AA2E4AAC9720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57201" y="1875270"/>
                <a:ext cx="8229600" cy="7571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2400" b="1" dirty="0"/>
                  <a:t>Definition: </a:t>
                </a:r>
                <a:r>
                  <a:rPr lang="en-US" sz="2400" dirty="0"/>
                  <a:t>Let A and B be sets. A </a:t>
                </a:r>
                <a:r>
                  <a:rPr lang="en-US" sz="2400" b="1" dirty="0"/>
                  <a:t>binary relation from A to B </a:t>
                </a:r>
                <a:r>
                  <a:rPr lang="en-US" sz="2400" dirty="0"/>
                  <a:t>is a </a:t>
                </a:r>
                <a:r>
                  <a:rPr lang="en-US" sz="2400" b="1" dirty="0"/>
                  <a:t>subset</a:t>
                </a:r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1875270"/>
                <a:ext cx="8229600" cy="757130"/>
              </a:xfrm>
              <a:prstGeom prst="rect">
                <a:avLst/>
              </a:prstGeom>
              <a:blipFill>
                <a:blip r:embed="rId2"/>
                <a:stretch>
                  <a:fillRect l="-1111" t="-11290" r="-1111" b="-17742"/>
                </a:stretch>
              </a:blipFill>
            </p:spPr>
            <p:txBody>
              <a:bodyPr/>
              <a:lstStyle/>
              <a:p>
                <a:r>
                  <a:rPr lang="si-L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457200" y="2637472"/>
            <a:ext cx="8229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In other words, a binary relation from A to B is a set R of ordered pairs where the first element of each ordered pair comes from A and the second element comes from B.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57201" y="4191000"/>
                <a:ext cx="8229599" cy="20313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b="1" dirty="0"/>
                  <a:t>Notation:</a:t>
                </a:r>
                <a:r>
                  <a:rPr lang="en-US" sz="2000" dirty="0"/>
                  <a:t>  Let R be a binary relation from a set A to a set B. Then </a:t>
                </a:r>
                <a:r>
                  <a:rPr lang="en-GB" sz="2000" dirty="0"/>
                  <a:t>we use the notation </a:t>
                </a:r>
                <a14:m>
                  <m:oMath xmlns:m="http://schemas.openxmlformats.org/officeDocument/2006/math">
                    <m:r>
                      <a:rPr lang="en-GB" sz="200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GB" sz="2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2000" dirty="0"/>
                  <a:t> to denote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en-GB" sz="2000" dirty="0"/>
              </a:p>
              <a:p>
                <a:pPr>
                  <a:lnSpc>
                    <a:spcPct val="150000"/>
                  </a:lnSpc>
                </a:pPr>
                <a:r>
                  <a:rPr lang="en-GB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trike="sngStrike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/>
                  <a:t>to denote that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)∉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>
                  <a:lnSpc>
                    <a:spcPct val="90000"/>
                  </a:lnSpc>
                </a:pPr>
                <a:endParaRPr lang="en-US" sz="2000" dirty="0"/>
              </a:p>
              <a:p>
                <a:pPr>
                  <a:lnSpc>
                    <a:spcPct val="90000"/>
                  </a:lnSpc>
                </a:pPr>
                <a:r>
                  <a:rPr lang="en-GB" sz="2000" dirty="0"/>
                  <a:t>Moreover, when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sz="2000" dirty="0"/>
                  <a:t>,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000" dirty="0"/>
                  <a:t> is said to be related to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2000" dirty="0"/>
                  <a:t> by R.</a:t>
                </a:r>
                <a:endParaRPr lang="en-US" sz="20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4191000"/>
                <a:ext cx="8229599" cy="2031325"/>
              </a:xfrm>
              <a:prstGeom prst="rect">
                <a:avLst/>
              </a:prstGeom>
              <a:blipFill>
                <a:blip r:embed="rId3"/>
                <a:stretch>
                  <a:fillRect l="-741" b="-4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4953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Binary Relations on a set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3A005-8678-4C0E-B480-A6AAB36F2670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4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04800" y="1882069"/>
            <a:ext cx="8382001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b="1" dirty="0"/>
              <a:t>Definition:</a:t>
            </a:r>
            <a:r>
              <a:rPr lang="en-US" sz="2400" dirty="0"/>
              <a:t> A </a:t>
            </a:r>
            <a:r>
              <a:rPr lang="en-US" sz="2400" b="1" dirty="0"/>
              <a:t>binary</a:t>
            </a:r>
            <a:r>
              <a:rPr lang="en-US" sz="2400" dirty="0"/>
              <a:t> </a:t>
            </a:r>
            <a:r>
              <a:rPr lang="en-US" sz="2400" b="1" dirty="0"/>
              <a:t>relation</a:t>
            </a:r>
            <a:r>
              <a:rPr lang="en-US" sz="2400" dirty="0"/>
              <a:t> on the set A is a relation from A to 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57201" y="3081516"/>
                <a:ext cx="8229599" cy="12618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Example:</a:t>
                </a:r>
                <a:r>
                  <a:rPr lang="en-US" sz="2400" dirty="0"/>
                  <a:t> Let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={1, 2, 3, 4}</m:t>
                    </m:r>
                  </m:oMath>
                </a14:m>
                <a:r>
                  <a:rPr lang="en-US" sz="2400" dirty="0"/>
                  <a:t>. Which ordered pairs are in the binary relation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⌊"/>
                            <m:endChr m:val="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divides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/>
                  <a:t>?</a:t>
                </a:r>
                <a:br>
                  <a:rPr lang="en-US" sz="2800" dirty="0"/>
                </a:br>
                <a:endParaRPr lang="en-US" sz="28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3081516"/>
                <a:ext cx="8229599" cy="1261884"/>
              </a:xfrm>
              <a:prstGeom prst="rect">
                <a:avLst/>
              </a:prstGeom>
              <a:blipFill>
                <a:blip r:embed="rId2"/>
                <a:stretch>
                  <a:fillRect l="-1111" t="-18750" b="-36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57200" y="4043387"/>
                <a:ext cx="8229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e>
                          </m:d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1,3</m:t>
                              </m:r>
                            </m:e>
                          </m:d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1,4</m:t>
                              </m:r>
                            </m:e>
                          </m:d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2,2</m:t>
                              </m:r>
                            </m:e>
                          </m:d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2,4</m:t>
                              </m:r>
                            </m:e>
                          </m:d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3,3</m:t>
                              </m:r>
                            </m:e>
                          </m:d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4,4</m:t>
                              </m:r>
                            </m:e>
                          </m:d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043387"/>
                <a:ext cx="8229600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6763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Example -1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3DE95-F363-4C30-BC86-997018F8BCDD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57200" y="1789093"/>
                <a:ext cx="8229600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dirty="0">
                    <a:sym typeface="Symbol" panose="05050102010706020507" pitchFamily="18" charset="2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= {1, 2, 3, 4}. </m:t>
                    </m:r>
                  </m:oMath>
                </a14:m>
                <a:r>
                  <a:rPr lang="en-US" sz="2400" dirty="0">
                    <a:sym typeface="Symbol" panose="05050102010706020507" pitchFamily="18" charset="2"/>
                  </a:rPr>
                  <a:t>Which ordered pairs are in the binary relation on A  given by 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    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= {(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 |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&lt;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} </m:t>
                    </m:r>
                  </m:oMath>
                </a14:m>
                <a:r>
                  <a:rPr lang="en-US" sz="2400" dirty="0">
                    <a:sym typeface="Symbol" panose="05050102010706020507" pitchFamily="18" charset="2"/>
                  </a:rPr>
                  <a:t>?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789093"/>
                <a:ext cx="8229600" cy="830997"/>
              </a:xfrm>
              <a:prstGeom prst="rect">
                <a:avLst/>
              </a:prstGeom>
              <a:blipFill rotWithShape="0">
                <a:blip r:embed="rId2"/>
                <a:stretch>
                  <a:fillRect l="-1111" t="-5109" b="-160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57200" y="2753380"/>
                <a:ext cx="8229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Solution: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1,3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1,4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2,3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753380"/>
                <a:ext cx="8229600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1111" t="-9333" b="-3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348335"/>
            <a:ext cx="3127519" cy="305246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3389335"/>
            <a:ext cx="3110588" cy="301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993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Relations on a Set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2ADD-0432-46F7-A96D-3A9BA94EC0AF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6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0" y="1762780"/>
            <a:ext cx="8229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How many different relations can we define on a set A with n elements?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57200" y="2637270"/>
                <a:ext cx="8229600" cy="7571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9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sz="2400" dirty="0">
                    <a:sym typeface="Symbol" panose="05050102010706020507" pitchFamily="18" charset="2"/>
                  </a:rPr>
                  <a:t>A relation on a set A is a subset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A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×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</m:oMath>
                </a14:m>
                <a:r>
                  <a:rPr lang="en-US" sz="2400" dirty="0">
                    <a:sym typeface="Symbol" panose="05050102010706020507" pitchFamily="18" charset="2"/>
                  </a:rPr>
                  <a:t>.</a:t>
                </a:r>
              </a:p>
              <a:p>
                <a:pPr>
                  <a:lnSpc>
                    <a:spcPct val="90000"/>
                  </a:lnSpc>
                  <a:defRPr/>
                </a:pPr>
                <a:r>
                  <a:rPr lang="en-US" sz="2400" dirty="0">
                    <a:sym typeface="Symbol" panose="05050102010706020507" pitchFamily="18" charset="2"/>
                  </a:rPr>
                  <a:t>    How many elements are 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US" sz="2400" dirty="0">
                    <a:sym typeface="Symbol" panose="05050102010706020507" pitchFamily="18" charset="2"/>
                  </a:rPr>
                  <a:t>?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637270"/>
                <a:ext cx="8229600" cy="757130"/>
              </a:xfrm>
              <a:prstGeom prst="rect">
                <a:avLst/>
              </a:prstGeom>
              <a:blipFill>
                <a:blip r:embed="rId2"/>
                <a:stretch>
                  <a:fillRect l="-963" t="-11290" b="-17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57200" y="3551670"/>
                <a:ext cx="8229600" cy="7571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9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sz="2400" dirty="0">
                    <a:sym typeface="Symbol" panose="05050102010706020507" pitchFamily="18" charset="2"/>
                  </a:rPr>
                  <a:t>There are n</a:t>
                </a:r>
                <a:r>
                  <a:rPr lang="en-US" sz="2400" baseline="30000" dirty="0">
                    <a:sym typeface="Symbol" panose="05050102010706020507" pitchFamily="18" charset="2"/>
                  </a:rPr>
                  <a:t>2</a:t>
                </a:r>
                <a:r>
                  <a:rPr lang="en-US" sz="2400" dirty="0">
                    <a:sym typeface="Symbol" panose="05050102010706020507" pitchFamily="18" charset="2"/>
                  </a:rPr>
                  <a:t> elements in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×</m:t>
                    </m:r>
                    <m:r>
                      <a:rPr lang="en-US" sz="24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</m:oMath>
                </a14:m>
                <a:r>
                  <a:rPr lang="en-US" sz="2400" dirty="0">
                    <a:sym typeface="Symbol" panose="05050102010706020507" pitchFamily="18" charset="2"/>
                  </a:rPr>
                  <a:t>, so how many subsets             (= relations on A) does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×</m:t>
                    </m:r>
                    <m:r>
                      <a:rPr lang="en-US" sz="24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</m:oMath>
                </a14:m>
                <a:r>
                  <a:rPr lang="en-US" sz="2400" dirty="0">
                    <a:sym typeface="Symbol" panose="05050102010706020507" pitchFamily="18" charset="2"/>
                  </a:rPr>
                  <a:t> have?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551670"/>
                <a:ext cx="8229600" cy="757130"/>
              </a:xfrm>
              <a:prstGeom prst="rect">
                <a:avLst/>
              </a:prstGeom>
              <a:blipFill>
                <a:blip r:embed="rId3"/>
                <a:stretch>
                  <a:fillRect l="-963" t="-11290" b="-17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57200" y="4549271"/>
                <a:ext cx="8229600" cy="11639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9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sz="2400" dirty="0">
                    <a:sym typeface="Symbol" panose="05050102010706020507" pitchFamily="18" charset="2"/>
                  </a:rPr>
                  <a:t>The number of subsets that we can form out of a set with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𝑚</m:t>
                    </m:r>
                  </m:oMath>
                </a14:m>
                <a:r>
                  <a:rPr lang="en-US" sz="2400" dirty="0">
                    <a:sym typeface="Symbol" panose="05050102010706020507" pitchFamily="18" charset="2"/>
                  </a:rPr>
                  <a:t> elements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400" dirty="0">
                    <a:sym typeface="Symbol" panose="05050102010706020507" pitchFamily="18" charset="2"/>
                  </a:rPr>
                  <a:t>. Therefore,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sz="2400" dirty="0">
                    <a:sym typeface="Symbol" panose="05050102010706020507" pitchFamily="18" charset="2"/>
                  </a:rPr>
                  <a:t> subsets can be formed out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×</m:t>
                    </m:r>
                    <m:r>
                      <a:rPr lang="en-US" sz="24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</m:oMath>
                </a14:m>
                <a:r>
                  <a:rPr lang="en-US" sz="2400" dirty="0">
                    <a:sym typeface="Symbol" panose="05050102010706020507" pitchFamily="18" charset="2"/>
                  </a:rPr>
                  <a:t>.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549271"/>
                <a:ext cx="8229600" cy="1163908"/>
              </a:xfrm>
              <a:prstGeom prst="rect">
                <a:avLst/>
              </a:prstGeom>
              <a:blipFill>
                <a:blip r:embed="rId4"/>
                <a:stretch>
                  <a:fillRect l="-963" t="-7330" b="-8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57200" y="5710535"/>
                <a:ext cx="8229600" cy="512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ym typeface="Symbol" panose="05050102010706020507" pitchFamily="18" charset="2"/>
                  </a:rPr>
                  <a:t>Therefore, we can define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sz="2400" dirty="0">
                    <a:sym typeface="Symbol" panose="05050102010706020507" pitchFamily="18" charset="2"/>
                  </a:rPr>
                  <a:t> different relations  on A.</a:t>
                </a:r>
                <a:endParaRPr lang="en-US" sz="24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710535"/>
                <a:ext cx="8229600" cy="512320"/>
              </a:xfrm>
              <a:prstGeom prst="rect">
                <a:avLst/>
              </a:prstGeom>
              <a:blipFill>
                <a:blip r:embed="rId5"/>
                <a:stretch>
                  <a:fillRect l="-963" b="-2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4972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Properties of Relations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5C1D2-4F32-4CBB-8693-CAE5A48B4ABD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28600" y="1600200"/>
                <a:ext cx="8458200" cy="10552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Definition:</a:t>
                </a:r>
                <a:r>
                  <a:rPr lang="en-US" sz="2000" dirty="0"/>
                  <a:t> A relation R on a set A is called </a:t>
                </a:r>
                <a:r>
                  <a:rPr lang="en-US" sz="2000" dirty="0">
                    <a:solidFill>
                      <a:srgbClr val="FF6600"/>
                    </a:solidFill>
                  </a:rPr>
                  <a:t>reflexive</a:t>
                </a:r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sym typeface="Symbol" panose="05050102010706020507" pitchFamily="18" charset="2"/>
                  </a:rPr>
                  <a:t> for every element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</m:oMath>
                </a14:m>
                <a:r>
                  <a:rPr lang="en-US" sz="2000" dirty="0">
                    <a:sym typeface="Symbol" panose="05050102010706020507" pitchFamily="18" charset="2"/>
                  </a:rPr>
                  <a:t>.  </a:t>
                </a:r>
              </a:p>
              <a:p>
                <a:pPr lvl="1"/>
                <a:r>
                  <a:rPr lang="en-US" sz="2000" dirty="0">
                    <a:sym typeface="Symbol" panose="05050102010706020507" pitchFamily="18" charset="2"/>
                  </a:rPr>
                  <a:t>R is reflexive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600200"/>
                <a:ext cx="8458200" cy="1055289"/>
              </a:xfrm>
              <a:prstGeom prst="rect">
                <a:avLst/>
              </a:prstGeom>
              <a:blipFill>
                <a:blip r:embed="rId2"/>
                <a:stretch>
                  <a:fillRect l="-793" t="-3468" b="-5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28600" y="2754711"/>
                <a:ext cx="8458200" cy="10552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Definition: </a:t>
                </a:r>
                <a:r>
                  <a:rPr lang="en-US" sz="2000" dirty="0"/>
                  <a:t>A relation R on a set A is called </a:t>
                </a:r>
                <a:r>
                  <a:rPr lang="en-US" sz="2000" dirty="0">
                    <a:solidFill>
                      <a:srgbClr val="FF6600"/>
                    </a:solidFill>
                  </a:rPr>
                  <a:t>symmetric</a:t>
                </a:r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sym typeface="Symbol" panose="05050102010706020507" pitchFamily="18" charset="2"/>
                  </a:rPr>
                  <a:t> whenever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sym typeface="Symbol" panose="05050102010706020507" pitchFamily="18" charset="2"/>
                  </a:rPr>
                  <a:t>, for all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</m:oMath>
                </a14:m>
                <a:r>
                  <a:rPr lang="en-US" sz="2000" dirty="0">
                    <a:sym typeface="Symbol" panose="05050102010706020507" pitchFamily="18" charset="2"/>
                  </a:rPr>
                  <a:t>. </a:t>
                </a:r>
              </a:p>
              <a:p>
                <a:r>
                  <a:rPr lang="en-US" sz="2000" dirty="0">
                    <a:sym typeface="Symbol" panose="05050102010706020507" pitchFamily="18" charset="2"/>
                  </a:rPr>
                  <a:t>       R is symmetric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 ∀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∀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→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754711"/>
                <a:ext cx="8458200" cy="1055289"/>
              </a:xfrm>
              <a:prstGeom prst="rect">
                <a:avLst/>
              </a:prstGeom>
              <a:blipFill>
                <a:blip r:embed="rId3"/>
                <a:stretch>
                  <a:fillRect l="-793" t="-3468" b="-5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28600" y="3962400"/>
                <a:ext cx="8610600" cy="10552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Definition: </a:t>
                </a:r>
                <a:r>
                  <a:rPr lang="en-US" sz="2000" dirty="0">
                    <a:sym typeface="Symbol" panose="05050102010706020507" pitchFamily="18" charset="2"/>
                  </a:rPr>
                  <a:t>A relation R on a set A such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sym typeface="Symbol" panose="05050102010706020507" pitchFamily="18" charset="2"/>
                  </a:rPr>
                  <a:t> only if       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</m:oMath>
                </a14:m>
                <a:r>
                  <a:rPr lang="en-US" sz="2000" dirty="0">
                    <a:sym typeface="Symbol" panose="05050102010706020507" pitchFamily="18" charset="2"/>
                  </a:rPr>
                  <a:t>, for all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</m:oMath>
                </a14:m>
                <a:r>
                  <a:rPr lang="en-US" sz="2000" dirty="0">
                    <a:sym typeface="Symbol" panose="05050102010706020507" pitchFamily="18" charset="2"/>
                  </a:rPr>
                  <a:t>, is called </a:t>
                </a:r>
                <a:r>
                  <a:rPr lang="en-US" sz="2000" dirty="0">
                    <a:solidFill>
                      <a:srgbClr val="FF6600"/>
                    </a:solidFill>
                    <a:sym typeface="Symbol" panose="05050102010706020507" pitchFamily="18" charset="2"/>
                  </a:rPr>
                  <a:t>anti-symmetric</a:t>
                </a:r>
                <a:r>
                  <a:rPr lang="en-US" sz="2000" dirty="0">
                    <a:sym typeface="Symbol" panose="05050102010706020507" pitchFamily="18" charset="2"/>
                  </a:rPr>
                  <a:t>.</a:t>
                </a:r>
              </a:p>
              <a:p>
                <a:pPr lvl="1"/>
                <a:r>
                  <a:rPr lang="en-US" sz="2000" dirty="0">
                    <a:sym typeface="Symbol" panose="05050102010706020507" pitchFamily="18" charset="2"/>
                  </a:rPr>
                  <a:t>R is anti-symmetric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 ∀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∀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∧(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)∈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962400"/>
                <a:ext cx="8610600" cy="1055289"/>
              </a:xfrm>
              <a:prstGeom prst="rect">
                <a:avLst/>
              </a:prstGeom>
              <a:blipFill>
                <a:blip r:embed="rId4"/>
                <a:stretch>
                  <a:fillRect l="-779" t="-2890" r="-71" b="-80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28600" y="5158599"/>
                <a:ext cx="8686799" cy="10552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Definition: </a:t>
                </a:r>
                <a:r>
                  <a:rPr lang="en-US" sz="2000" dirty="0"/>
                  <a:t>A relation R on a set A is called </a:t>
                </a:r>
                <a:r>
                  <a:rPr lang="en-US" sz="2000" dirty="0">
                    <a:solidFill>
                      <a:srgbClr val="FF6600"/>
                    </a:solidFill>
                  </a:rPr>
                  <a:t>transitive</a:t>
                </a:r>
                <a:r>
                  <a:rPr lang="en-US" sz="2000" dirty="0"/>
                  <a:t> if whenever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sym typeface="Symbol" panose="05050102010706020507" pitchFamily="18" charset="2"/>
                  </a:rPr>
                  <a:t> , then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sym typeface="Symbol" panose="05050102010706020507" pitchFamily="18" charset="2"/>
                  </a:rPr>
                  <a:t> , for all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.</m:t>
                    </m:r>
                  </m:oMath>
                </a14:m>
                <a:r>
                  <a:rPr lang="en-US" sz="2000" dirty="0">
                    <a:sym typeface="Symbol" panose="05050102010706020507" pitchFamily="18" charset="2"/>
                  </a:rPr>
                  <a:t> </a:t>
                </a:r>
              </a:p>
              <a:p>
                <a:pPr lvl="1"/>
                <a:r>
                  <a:rPr lang="en-US" sz="2000" dirty="0">
                    <a:sym typeface="Symbol" panose="05050102010706020507" pitchFamily="18" charset="2"/>
                  </a:rPr>
                  <a:t>R is transitive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∧ 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5158599"/>
                <a:ext cx="8686799" cy="1055289"/>
              </a:xfrm>
              <a:prstGeom prst="rect">
                <a:avLst/>
              </a:prstGeom>
              <a:blipFill>
                <a:blip r:embed="rId5"/>
                <a:stretch>
                  <a:fillRect l="-772" t="-2890" b="-80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0840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Example -2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6F23-00BB-4F58-A140-AE5655FF25D8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57201" y="1671221"/>
                <a:ext cx="8077200" cy="43534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Consider the following relations 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3,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={ (1,1),(1,2),(2,1),(2,2),(3,4),(4,1),(4,4)}</m:t>
                    </m:r>
                  </m:oMath>
                </a14:m>
                <a:r>
                  <a:rPr lang="en-US" sz="2000" dirty="0"/>
                  <a:t>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={ (1,1),(1,2),(2,1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en-US" sz="2000" dirty="0"/>
                  <a:t>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={ (1,1),(1,2),(1,4),(2,1),(2,2),(3,3),(4,1),(4,4)}</m:t>
                    </m:r>
                  </m:oMath>
                </a14:m>
                <a:r>
                  <a:rPr lang="en-US" sz="2000" dirty="0"/>
                  <a:t>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={ (2,1),(3,1),(3,2),(4,1),(4,2),(4,3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en-US" sz="2000" dirty="0"/>
                  <a:t>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={ (1,1),(1,2),(1,3),(1,4),(2,2),(2,3),(2,4),(3,3),(3,4),(4,4)}</m:t>
                    </m:r>
                  </m:oMath>
                </a14:m>
                <a:r>
                  <a:rPr lang="en-US" sz="2000" dirty="0"/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={ (3,4)}. </m:t>
                      </m:r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/>
                  <a:t>Which of these relations are reﬂexive?</a:t>
                </a: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/>
                  <a:t>Which of the relations are symmetric?</a:t>
                </a: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/>
                  <a:t>Which of the relations are anti-symmetric?</a:t>
                </a: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/>
                  <a:t>Which of the relations are transitive?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1671221"/>
                <a:ext cx="8077200" cy="4353499"/>
              </a:xfrm>
              <a:prstGeom prst="rect">
                <a:avLst/>
              </a:prstGeom>
              <a:blipFill>
                <a:blip r:embed="rId2"/>
                <a:stretch>
                  <a:fillRect l="-830" t="-700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CD6997-7F89-4308-9EB4-3F62D72EE521}"/>
                  </a:ext>
                </a:extLst>
              </p:cNvPr>
              <p:cNvSpPr txBox="1"/>
              <p:nvPr/>
            </p:nvSpPr>
            <p:spPr>
              <a:xfrm>
                <a:off x="5003320" y="4202668"/>
                <a:ext cx="1473680" cy="4001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CD6997-7F89-4308-9EB4-3F62D72EE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320" y="4202668"/>
                <a:ext cx="1473680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DD20CC6-040E-4B42-9169-0B7682CB1C22}"/>
                  </a:ext>
                </a:extLst>
              </p:cNvPr>
              <p:cNvSpPr txBox="1"/>
              <p:nvPr/>
            </p:nvSpPr>
            <p:spPr>
              <a:xfrm>
                <a:off x="5029200" y="4648200"/>
                <a:ext cx="1473680" cy="4001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DD20CC6-040E-4B42-9169-0B7682CB1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4648200"/>
                <a:ext cx="147368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B3E8F8B-BA2C-4116-8588-514037BD60D6}"/>
                  </a:ext>
                </a:extLst>
              </p:cNvPr>
              <p:cNvSpPr txBox="1"/>
              <p:nvPr/>
            </p:nvSpPr>
            <p:spPr>
              <a:xfrm>
                <a:off x="5471514" y="5115355"/>
                <a:ext cx="1767485" cy="4001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B3E8F8B-BA2C-4116-8588-514037BD6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514" y="5115355"/>
                <a:ext cx="176748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D95469E-752F-423E-AB6D-34A607FED4B1}"/>
                  </a:ext>
                </a:extLst>
              </p:cNvPr>
              <p:cNvSpPr txBox="1"/>
              <p:nvPr/>
            </p:nvSpPr>
            <p:spPr>
              <a:xfrm>
                <a:off x="4876800" y="5619690"/>
                <a:ext cx="1767485" cy="4001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D95469E-752F-423E-AB6D-34A607FED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5619690"/>
                <a:ext cx="176748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616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b="1" dirty="0"/>
                  <a:t>Solution to Example -2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GB" b="1" dirty="0"/>
                  <a:t>)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222" b="-18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F6896-2E82-416D-ACFF-951A94E62D55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57200" y="1676400"/>
                <a:ext cx="822960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Consider the 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1, 2, 3, 4</m:t>
                        </m:r>
                      </m:e>
                    </m:d>
                  </m:oMath>
                </a14:m>
                <a:r>
                  <a:rPr lang="en-GB" sz="2000" dirty="0"/>
                  <a:t> given by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2,1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2,2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4,1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4,4</m:t>
                            </m:r>
                          </m:e>
                        </m:d>
                      </m:e>
                    </m:d>
                    <m:r>
                      <a:rPr lang="en-GB" sz="2000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sz="2000" dirty="0"/>
                  <a:t> 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76400"/>
                <a:ext cx="8229600" cy="707886"/>
              </a:xfrm>
              <a:prstGeom prst="rect">
                <a:avLst/>
              </a:prstGeom>
              <a:blipFill rotWithShape="0">
                <a:blip r:embed="rId3"/>
                <a:stretch>
                  <a:fillRect l="-741" t="-3448" b="-8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57200" y="2590800"/>
                <a:ext cx="8458200" cy="25237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000" dirty="0"/>
                  <a:t> is not reflexive, because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,3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0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000" dirty="0"/>
                  <a:t> is not symmetric, because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,4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but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(4,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)∉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0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000" dirty="0"/>
                  <a:t> is not anti-symmetric, because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0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000" dirty="0"/>
                  <a:t>, but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≠2</m:t>
                    </m:r>
                  </m:oMath>
                </a14:m>
                <a:r>
                  <a:rPr lang="en-GB" sz="20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000" dirty="0"/>
                  <a:t> is not transitive, because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0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000" dirty="0"/>
                  <a:t>, but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)∉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000" dirty="0"/>
                  <a:t>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590800"/>
                <a:ext cx="8458200" cy="2523768"/>
              </a:xfrm>
              <a:prstGeom prst="rect">
                <a:avLst/>
              </a:prstGeom>
              <a:blipFill rotWithShape="0">
                <a:blip r:embed="rId4"/>
                <a:stretch>
                  <a:fillRect l="-648" t="-9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6035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b="1" dirty="0"/>
                  <a:t>Solution to Example -2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GB" b="1" dirty="0"/>
                  <a:t>)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222" b="-18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5BABB-3253-4DA2-A527-F528E5E79911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57200" y="1676400"/>
                <a:ext cx="822960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Consider the 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1, 2, 3, 4</m:t>
                        </m:r>
                      </m:e>
                    </m:d>
                  </m:oMath>
                </a14:m>
                <a:r>
                  <a:rPr lang="en-GB" sz="2000" dirty="0"/>
                  <a:t> given by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={ (1,1),(1,2),(2,1)}</m:t>
                    </m:r>
                    <m:r>
                      <a:rPr lang="en-GB" sz="2000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sz="2000" dirty="0"/>
                  <a:t> 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76400"/>
                <a:ext cx="8229600" cy="707886"/>
              </a:xfrm>
              <a:prstGeom prst="rect">
                <a:avLst/>
              </a:prstGeom>
              <a:blipFill rotWithShape="0">
                <a:blip r:embed="rId3"/>
                <a:stretch>
                  <a:fillRect l="-741" t="-3448" b="-94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57200" y="2590800"/>
                <a:ext cx="8458200" cy="25237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000" dirty="0"/>
                  <a:t> is not reflexive, because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0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000" dirty="0"/>
                  <a:t> is symmetric, because whenever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sz="2000" dirty="0"/>
                  <a:t> we have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)∈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000" dirty="0"/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000" dirty="0"/>
                  <a:t> is not anti-symmetric, because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0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000" dirty="0"/>
                  <a:t>, but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≠2</m:t>
                    </m:r>
                  </m:oMath>
                </a14:m>
                <a:r>
                  <a:rPr lang="en-GB" sz="20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000" dirty="0"/>
                  <a:t> is not transitive, because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0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000" dirty="0"/>
                  <a:t>, but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)∉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000" dirty="0"/>
                  <a:t>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590800"/>
                <a:ext cx="8458200" cy="2523768"/>
              </a:xfrm>
              <a:prstGeom prst="rect">
                <a:avLst/>
              </a:prstGeom>
              <a:blipFill rotWithShape="0">
                <a:blip r:embed="rId4"/>
                <a:stretch>
                  <a:fillRect l="-648" t="-9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5134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b="1" dirty="0"/>
                  <a:t>Solution to Example -2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222" b="-18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781DF-09F3-4279-AA8F-8AC1A1114441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57200" y="1578114"/>
                <a:ext cx="822960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Consider the 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2000" dirty="0"/>
                  <a:t> 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1, 2, 3, 4</m:t>
                        </m:r>
                      </m:e>
                    </m:d>
                  </m:oMath>
                </a14:m>
                <a:r>
                  <a:rPr lang="en-GB" sz="2000" dirty="0"/>
                  <a:t> given by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 ={ (1,1),(1,2),(1,3),(1,4),(2,2),(2,3),(2,4),(3,3),(3,4),(4,4)}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578114"/>
                <a:ext cx="8229600" cy="707886"/>
              </a:xfrm>
              <a:prstGeom prst="rect">
                <a:avLst/>
              </a:prstGeom>
              <a:blipFill rotWithShape="0">
                <a:blip r:embed="rId3"/>
                <a:stretch>
                  <a:fillRect l="-741" t="-4310" b="-155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57200" y="2362200"/>
                <a:ext cx="8458200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GB" sz="2000" dirty="0"/>
                  <a:t> is reflexive, because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,2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,3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GB" sz="2000" b="0" i="0" dirty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,4)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GB" sz="2000" dirty="0"/>
                  <a:t>.</a:t>
                </a:r>
              </a:p>
              <a:p>
                <a:endParaRPr lang="en-GB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GB" sz="2000" dirty="0"/>
                  <a:t> is not symmetric, because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1,4</m:t>
                        </m:r>
                      </m:e>
                    </m:d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but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(4,1)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GB" sz="20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GB" sz="2000" dirty="0"/>
                  <a:t> is anti-symmetric, because there is no pair of elements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000" dirty="0"/>
                  <a:t> and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2000" dirty="0"/>
                  <a:t> with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2000" dirty="0"/>
                  <a:t> such that both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 and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)∈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GB" sz="2000" dirty="0"/>
                  <a:t>.</a:t>
                </a:r>
              </a:p>
              <a:p>
                <a:endParaRPr lang="en-GB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GB" sz="2000" dirty="0"/>
                  <a:t> is transitive, because we can verify that  whenever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GB" sz="20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sz="2000" dirty="0"/>
                  <a:t> we have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sz="2000" dirty="0"/>
                  <a:t> </a:t>
                </a:r>
              </a:p>
              <a:p>
                <a:r>
                  <a:rPr lang="en-GB" sz="2000" dirty="0"/>
                  <a:t>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b="0" i="0" dirty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dirty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dirty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dirty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,2</m:t>
                        </m:r>
                      </m:e>
                    </m:d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dirty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dirty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dirty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en-GB" dirty="0"/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dirty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dirty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dirty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dirty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dirty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GB" b="0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dirty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dirty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en-GB" dirty="0"/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dirty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dirty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en-GB" dirty="0"/>
                  <a:t> are the only such pairs. </a:t>
                </a:r>
              </a:p>
              <a:p>
                <a:endParaRPr lang="en-GB" sz="1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362200"/>
                <a:ext cx="8458200" cy="4247317"/>
              </a:xfrm>
              <a:prstGeom prst="rect">
                <a:avLst/>
              </a:prstGeom>
              <a:blipFill rotWithShape="0">
                <a:blip r:embed="rId4"/>
                <a:stretch>
                  <a:fillRect l="-648" t="-718" r="-6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0942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Example -3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288F-31F4-480A-A3FB-22BC187DF8F7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57201" y="1600200"/>
                <a:ext cx="8229599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Consider these relations on the set of integers: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={(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 |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≤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={(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 |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r>
                  <a:rPr lang="en-US" sz="2400" dirty="0"/>
                  <a:t>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={(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 |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=−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={(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 |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={(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 |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+1}</m:t>
                    </m:r>
                  </m:oMath>
                </a14:m>
                <a:r>
                  <a:rPr lang="en-US" sz="2400" dirty="0"/>
                  <a:t>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={(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 | 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≤ 3}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1600200"/>
                <a:ext cx="8229599" cy="2677656"/>
              </a:xfrm>
              <a:prstGeom prst="rect">
                <a:avLst/>
              </a:prstGeom>
              <a:blipFill rotWithShape="0">
                <a:blip r:embed="rId2"/>
                <a:stretch>
                  <a:fillRect l="-1111" t="-1595" b="-43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457201" y="4495800"/>
            <a:ext cx="822959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Which of these relations are reﬂexive?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Which of the relations are symmetric?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Which of the relations are anti-symmetric?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Which of the relations are transitive?</a:t>
            </a:r>
          </a:p>
        </p:txBody>
      </p:sp>
    </p:spTree>
    <p:extLst>
      <p:ext uri="{BB962C8B-B14F-4D97-AF65-F5344CB8AC3E}">
        <p14:creationId xmlns:p14="http://schemas.microsoft.com/office/powerpoint/2010/main" val="122550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b="1" dirty="0"/>
                  <a:t>Solution to Example -3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GB" b="1" dirty="0"/>
                  <a:t>)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222" b="-18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E5D1D-EE04-4EE9-8FEF-A5F9549F17B1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57200" y="1600200"/>
                <a:ext cx="822960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/>
                  <a:t>Consider the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on the set of integers given by: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 ={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0200"/>
                <a:ext cx="8229600" cy="1015663"/>
              </a:xfrm>
              <a:prstGeom prst="rect">
                <a:avLst/>
              </a:prstGeom>
              <a:blipFill rotWithShape="0">
                <a:blip r:embed="rId3"/>
                <a:stretch>
                  <a:fillRect l="-741" b="-4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04800" y="2819400"/>
                <a:ext cx="8610600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000" dirty="0"/>
                  <a:t> is reflexive,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 b="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/>
                  <a:t>for all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sz="2000" dirty="0"/>
                  <a:t> 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000" dirty="0"/>
                  <a:t> is not symmetric, because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</m:t>
                    </m:r>
                  </m:oMath>
                </a14:m>
                <a:r>
                  <a:rPr lang="en-GB" sz="2000" dirty="0"/>
                  <a:t> but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≰1</m:t>
                    </m:r>
                  </m:oMath>
                </a14:m>
                <a:r>
                  <a:rPr lang="en-GB" sz="20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000" dirty="0"/>
                  <a:t> is  anti-symmetric, because inequalities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2000" dirty="0"/>
                  <a:t> and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000" dirty="0"/>
                  <a:t> imply that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20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000" dirty="0"/>
                  <a:t> is transitive, because inequalities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2000" dirty="0"/>
                  <a:t> and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2000" dirty="0"/>
                  <a:t> imply that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819400"/>
                <a:ext cx="8610600" cy="2246769"/>
              </a:xfrm>
              <a:prstGeom prst="rect">
                <a:avLst/>
              </a:prstGeom>
              <a:blipFill>
                <a:blip r:embed="rId4"/>
                <a:stretch>
                  <a:fillRect l="-637" t="-1630" b="-3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5040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b="1" dirty="0"/>
                  <a:t>Solution to Example -3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en-GB" b="1" dirty="0"/>
                  <a:t>)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222" b="-18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4235-93AB-4DE7-80D9-65E2F148FB17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57200" y="1600200"/>
                <a:ext cx="8229600" cy="958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/>
                  <a:t>Consider the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2000" dirty="0"/>
                  <a:t> on the set of integers given by: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begChr m:val="{"/>
                        <m:endChr m:val="|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GB" sz="2000" b="0" i="1" dirty="0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GB" sz="20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+1}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0200"/>
                <a:ext cx="8229600" cy="958660"/>
              </a:xfrm>
              <a:prstGeom prst="rect">
                <a:avLst/>
              </a:prstGeom>
              <a:blipFill rotWithShape="0">
                <a:blip r:embed="rId3"/>
                <a:stretch>
                  <a:fillRect l="-741" b="-101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04800" y="2819400"/>
                <a:ext cx="8458200" cy="25545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GB" sz="2000" dirty="0"/>
                  <a:t> is not reflexive, because </a:t>
                </a:r>
                <a14:m>
                  <m:oMath xmlns:m="http://schemas.openxmlformats.org/officeDocument/2006/math">
                    <m:r>
                      <a:rPr lang="en-GB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≠1+1 </m:t>
                    </m:r>
                  </m:oMath>
                </a14:m>
                <a:r>
                  <a:rPr lang="en-GB" sz="2000" dirty="0"/>
                  <a:t> and hence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GB" sz="20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GB" sz="2000" dirty="0"/>
                  <a:t> is not symmetric, because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(2,1)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GB" sz="2000" dirty="0"/>
                  <a:t> but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(1, 2)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GB" sz="20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GB" sz="2000" dirty="0"/>
                  <a:t> is  anti-symmetric, because it is impossible to have  that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2000" dirty="0"/>
                  <a:t> and    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2000" dirty="0"/>
                  <a:t> for any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sz="20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GB" sz="2000" dirty="0"/>
                  <a:t> is not transitive, because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(3,2)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GB" sz="2000" dirty="0"/>
                  <a:t> and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(2,1)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GB" sz="2000" dirty="0"/>
                  <a:t>, but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(3,1)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819400"/>
                <a:ext cx="8458200" cy="2554545"/>
              </a:xfrm>
              <a:prstGeom prst="rect">
                <a:avLst/>
              </a:prstGeom>
              <a:blipFill>
                <a:blip r:embed="rId4"/>
                <a:stretch>
                  <a:fillRect l="-648" t="-1432" b="-3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500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b="1" dirty="0"/>
                  <a:t>Solution to Example -3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</m:oMath>
                </a14:m>
                <a:r>
                  <a:rPr lang="en-GB" b="1" dirty="0"/>
                  <a:t>)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222" b="-18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5E3FE-15DB-4F65-BF17-DB45E2C0E033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57200" y="1886902"/>
                <a:ext cx="8382000" cy="37548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/>
                  <a:t>Consider the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sz="2000" dirty="0"/>
                  <a:t> on the set of integers: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 ={(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 | 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≤ 3}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GB" sz="2000" dirty="0"/>
                  <a:t> is not reflexive, because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GB" sz="20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GB" sz="2000" dirty="0"/>
                  <a:t> is symmetric, because for all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sz="2000" dirty="0"/>
                  <a:t>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≤3</m:t>
                    </m:r>
                  </m:oMath>
                </a14:m>
                <a:r>
                  <a:rPr lang="en-GB" sz="2000" dirty="0"/>
                  <a:t> implies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≤3</m:t>
                    </m:r>
                  </m:oMath>
                </a14:m>
                <a:r>
                  <a:rPr lang="en-GB" sz="2000" dirty="0"/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GB" sz="2000" dirty="0"/>
                  <a:t> is not anti-symmetric, because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(1,2)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GB" sz="2000" dirty="0"/>
                  <a:t> and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(2,1)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GB" sz="2000" dirty="0"/>
                  <a:t> but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≠2</m:t>
                    </m:r>
                  </m:oMath>
                </a14:m>
                <a:r>
                  <a:rPr lang="en-GB" sz="20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GB" sz="2000" dirty="0"/>
                  <a:t> is not transitive, because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(2,1)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GB" sz="2000" dirty="0"/>
                  <a:t> and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(1,2)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GB" sz="2000" dirty="0"/>
                  <a:t> but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(2,2)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GB" sz="20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886902"/>
                <a:ext cx="8382000" cy="3754874"/>
              </a:xfrm>
              <a:prstGeom prst="rect">
                <a:avLst/>
              </a:prstGeom>
              <a:blipFill rotWithShape="0">
                <a:blip r:embed="rId3"/>
                <a:stretch>
                  <a:fillRect l="-7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4987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Combining Relations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057A5-45EC-49A8-8E92-3946F39CCAF3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19100" y="1752600"/>
                <a:ext cx="8305800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  <a:defRPr/>
                </a:pPr>
                <a:r>
                  <a:rPr lang="en-US" sz="2000" dirty="0">
                    <a:sym typeface="Symbol" panose="05050102010706020507" pitchFamily="18" charset="2"/>
                  </a:rPr>
                  <a:t>Relations are sets, and therefore, we can apply the usual </a:t>
                </a:r>
                <a:r>
                  <a:rPr lang="en-US" sz="2000" b="1" dirty="0">
                    <a:sym typeface="Symbol" panose="05050102010706020507" pitchFamily="18" charset="2"/>
                  </a:rPr>
                  <a:t>set operations </a:t>
                </a:r>
                <a:r>
                  <a:rPr lang="en-US" sz="2000" dirty="0">
                    <a:sym typeface="Symbol" panose="05050102010706020507" pitchFamily="18" charset="2"/>
                  </a:rPr>
                  <a:t>to them.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  <a:defRPr/>
                </a:pPr>
                <a:r>
                  <a:rPr lang="en-US" sz="2000" dirty="0"/>
                  <a:t>Because relations from A to B are subsets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, two relations from A to B can be combined in any way two sets can be combined.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" y="1752600"/>
                <a:ext cx="8305800" cy="1323439"/>
              </a:xfrm>
              <a:prstGeom prst="rect">
                <a:avLst/>
              </a:prstGeom>
              <a:blipFill>
                <a:blip r:embed="rId2"/>
                <a:stretch>
                  <a:fillRect l="-661" t="-2765" r="-881" b="-6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81000" y="3429000"/>
                <a:ext cx="8305800" cy="2862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Example - 4:</a:t>
                </a:r>
                <a:r>
                  <a:rPr lang="en-US" sz="2000" dirty="0"/>
                  <a:t> 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={ 1,2,3}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={ 1,2,3,4}</m:t>
                    </m:r>
                  </m:oMath>
                </a14:m>
                <a:r>
                  <a:rPr lang="en-US" sz="2000" dirty="0"/>
                  <a:t>. The relations       </a:t>
                </a:r>
              </a:p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={ (1,1), (2,2), (3,3)}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begChr m:val="{"/>
                        <m:endChr m:val="}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1,3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1,4</m:t>
                            </m:r>
                          </m:e>
                        </m:d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can be combined to obtain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∪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={ (1,1),(1,2),(1,3),(1,4),(2,2),(3,3)}, </m:t>
                    </m:r>
                  </m:oMath>
                </a14:m>
                <a:endParaRPr lang="en-US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∩</m:t>
                      </m:r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={ (1,1)}, </m:t>
                      </m:r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={ (2,2),(3,3)},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={ (1,2),(1,3),(1,4)}.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429000"/>
                <a:ext cx="8305800" cy="2862322"/>
              </a:xfrm>
              <a:prstGeom prst="rect">
                <a:avLst/>
              </a:prstGeom>
              <a:blipFill rotWithShape="0">
                <a:blip r:embed="rId3"/>
                <a:stretch>
                  <a:fillRect l="-808" t="-10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9017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Combining Relations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7C2D0-2F00-4FAE-9F9D-546F76B68F0E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57200" y="1654846"/>
                <a:ext cx="8382000" cy="40934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Example - 4: </a:t>
                </a:r>
                <a:r>
                  <a:rPr lang="en-US" sz="2000" dirty="0"/>
                  <a:t>Let </a:t>
                </a:r>
                <a:r>
                  <a:rPr lang="en-US" sz="2000" i="1" dirty="0"/>
                  <a:t>A</a:t>
                </a:r>
                <a:r>
                  <a:rPr lang="en-US" sz="2000" dirty="0"/>
                  <a:t> and </a:t>
                </a:r>
                <a:r>
                  <a:rPr lang="en-US" sz="2000" i="1" dirty="0"/>
                  <a:t>B</a:t>
                </a:r>
                <a:r>
                  <a:rPr lang="en-US" sz="2000" dirty="0"/>
                  <a:t> be the set of all students and the set of all courses at UCSC, respectively. 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consists of all ordered pairs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where </a:t>
                </a:r>
                <a:r>
                  <a:rPr lang="en-US" sz="2000" i="1" dirty="0"/>
                  <a:t>a </a:t>
                </a:r>
                <a:r>
                  <a:rPr lang="en-US" sz="2000" dirty="0"/>
                  <a:t>is a student who has taken course </a:t>
                </a:r>
                <a:r>
                  <a:rPr lang="en-US" sz="2000" i="1" dirty="0"/>
                  <a:t>b</a:t>
                </a:r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consists of all ordered pairs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where </a:t>
                </a:r>
                <a:r>
                  <a:rPr lang="en-US" sz="2000" i="1" dirty="0"/>
                  <a:t>a</a:t>
                </a:r>
                <a:r>
                  <a:rPr lang="en-US" sz="2000" dirty="0"/>
                  <a:t> is a student who requires course </a:t>
                </a:r>
                <a:r>
                  <a:rPr lang="en-US" sz="2000" i="1" dirty="0"/>
                  <a:t>b</a:t>
                </a:r>
                <a:r>
                  <a:rPr lang="en-US" sz="2000" dirty="0"/>
                  <a:t> to graduate. What are the relations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𝑠𝑡𝑢𝑑𝑒𝑛𝑡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h𝑎𝑠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𝑡𝑎𝑘𝑒𝑛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𝑐𝑜𝑢𝑟𝑠𝑒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1" dirty="0">
                              <a:latin typeface="Cambria Math" panose="02040503050406030204" pitchFamily="18" charset="0"/>
                            </a:rPr>
                            <m:t>𝒐𝒓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𝑛𝑒𝑒𝑑𝑠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𝑐𝑜𝑢𝑟𝑠𝑒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𝑡𝑜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𝑔𝑟𝑎𝑑𝑢𝑎𝑡𝑒</m:t>
                          </m:r>
                        </m:e>
                      </m:d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000" b="0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𝑠𝑡𝑢𝑑𝑒𝑛𝑡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h𝑎𝑠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𝑡𝑎𝑘𝑒𝑛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𝑐𝑜𝑢𝑟𝑠𝑒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000" b="1" i="1" dirty="0" smtClean="0">
                              <a:latin typeface="Cambria Math" panose="02040503050406030204" pitchFamily="18" charset="0"/>
                            </a:rPr>
                            <m:t>𝒂𝒏𝒅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𝑛𝑒𝑒𝑑𝑠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𝑐𝑜𝑢𝑟𝑠𝑒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𝑡𝑜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𝑔𝑟𝑎𝑑𝑢𝑎𝑡𝑒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𝑠𝑡𝑢𝑑𝑒𝑛𝑡</m:t>
                        </m:r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h𝑎𝑠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𝑡𝑎𝑘𝑒𝑛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𝑐𝑜𝑢𝑟𝑠𝑒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𝑏𝑢𝑡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𝑑𝑜𝑒𝑠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𝑛𝑜𝑡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𝑛𝑒𝑒𝑑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𝑖𝑡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𝑡𝑜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𝑔𝑟𝑎𝑑𝑢𝑎𝑡𝑒</m:t>
                        </m:r>
                      </m:e>
                    </m:d>
                  </m:oMath>
                </a14:m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000" b="0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𝑖𝑠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𝑐𝑜𝑢𝑟𝑠𝑒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𝑡h𝑎𝑡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𝑛𝑒𝑒𝑑𝑠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𝑡𝑜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𝑔𝑟𝑎𝑑𝑢𝑎𝑡𝑒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𝑏𝑢𝑡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h𝑎𝑠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𝑛𝑜𝑡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𝑡𝑎𝑘𝑒𝑛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54846"/>
                <a:ext cx="8382000" cy="4093428"/>
              </a:xfrm>
              <a:prstGeom prst="rect">
                <a:avLst/>
              </a:prstGeom>
              <a:blipFill>
                <a:blip r:embed="rId2"/>
                <a:stretch>
                  <a:fillRect l="-727" t="-744" r="-1164" b="-4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9646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Example -5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8ADB3-D93D-4113-BA92-5935A0143C59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81001" y="1689318"/>
                <a:ext cx="8305800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 </a:t>
                </a: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be the “less than” relation on the set of real numbers and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be the “greater than” relation on the set of real numbers, that is,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={(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 |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} 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={(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 |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endParaRPr lang="en-US" sz="2000" dirty="0"/>
              </a:p>
              <a:p>
                <a:r>
                  <a:rPr lang="pt-BR" sz="2000" dirty="0"/>
                  <a:t>What are the relations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000" i="1" dirty="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000" i="1" dirty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0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1" y="1689318"/>
                <a:ext cx="8305800" cy="1631216"/>
              </a:xfrm>
              <a:prstGeom prst="rect">
                <a:avLst/>
              </a:prstGeom>
              <a:blipFill>
                <a:blip r:embed="rId2"/>
                <a:stretch>
                  <a:fillRect l="-808" t="-1866" r="-881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1001" y="3581400"/>
                <a:ext cx="8381999" cy="2616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 dirty="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 |</m:t>
                        </m:r>
                        <m:d>
                          <m:dPr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GB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GB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GB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or</m:t>
                        </m:r>
                        <m:r>
                          <a:rPr lang="en-GB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d>
                          <m:dPr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GB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/>
                  <a:t> </a:t>
                </a:r>
              </a:p>
              <a:p>
                <a:r>
                  <a:rPr lang="en-GB" b="0" dirty="0"/>
                  <a:t>               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  |   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𝑜𝑟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GB" dirty="0"/>
                  <a:t> </a:t>
                </a:r>
              </a:p>
              <a:p>
                <a:r>
                  <a:rPr lang="en-GB" b="0" dirty="0"/>
                  <a:t>               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  |   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 dirty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 |</m:t>
                        </m:r>
                        <m:d>
                          <m:dPr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GB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GB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and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GB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GB" dirty="0"/>
              </a:p>
              <a:p>
                <a:r>
                  <a:rPr lang="en-GB" dirty="0"/>
                  <a:t>               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  |   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𝑎𝑛𝑑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 |</m:t>
                        </m:r>
                        <m:d>
                          <m:dPr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GB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GB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and</m:t>
                        </m:r>
                        <m:r>
                          <a: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∉</m:t>
                        </m:r>
                        <m:sSub>
                          <m:sSubPr>
                            <m:ctrlPr>
                              <a:rPr lang="en-GB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GB" dirty="0"/>
              </a:p>
              <a:p>
                <a:r>
                  <a:rPr lang="en-GB" dirty="0"/>
                  <a:t>               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  |   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𝑎𝑛𝑑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  |   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1" y="3581400"/>
                <a:ext cx="8381999" cy="2616101"/>
              </a:xfrm>
              <a:prstGeom prst="rect">
                <a:avLst/>
              </a:prstGeom>
              <a:blipFill rotWithShape="0">
                <a:blip r:embed="rId3"/>
                <a:stretch>
                  <a:fillRect l="-509" t="-466" b="-13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1388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Combining Relations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78DD1-7D2D-4D94-B86A-AFE0A3AF8BD6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57200" y="1882676"/>
                <a:ext cx="8229600" cy="30162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b="1" dirty="0"/>
                  <a:t>Definition:</a:t>
                </a:r>
                <a:r>
                  <a:rPr lang="en-US" sz="2000" dirty="0"/>
                  <a:t> Let </a:t>
                </a:r>
                <a:r>
                  <a:rPr lang="en-US" sz="2000" b="1" i="1" dirty="0"/>
                  <a:t>R</a:t>
                </a:r>
                <a:r>
                  <a:rPr lang="en-US" sz="2000" dirty="0"/>
                  <a:t> be a relation from a set </a:t>
                </a:r>
                <a:r>
                  <a:rPr lang="en-US" sz="2000" i="1" dirty="0"/>
                  <a:t>A</a:t>
                </a:r>
                <a:r>
                  <a:rPr lang="en-US" sz="2000" dirty="0"/>
                  <a:t> to a set </a:t>
                </a:r>
                <a:r>
                  <a:rPr lang="en-US" sz="2000" i="1" dirty="0"/>
                  <a:t>B</a:t>
                </a:r>
                <a:r>
                  <a:rPr lang="en-US" sz="2000" dirty="0"/>
                  <a:t> and </a:t>
                </a:r>
                <a:r>
                  <a:rPr lang="en-US" sz="2000" b="1" i="1" dirty="0"/>
                  <a:t>S</a:t>
                </a:r>
                <a:r>
                  <a:rPr lang="en-US" sz="2000" dirty="0"/>
                  <a:t> a relation from </a:t>
                </a:r>
                <a:r>
                  <a:rPr lang="en-US" sz="2000" i="1" dirty="0"/>
                  <a:t>B</a:t>
                </a:r>
                <a:r>
                  <a:rPr lang="en-US" sz="2000" dirty="0"/>
                  <a:t> to a set </a:t>
                </a:r>
                <a:r>
                  <a:rPr lang="en-US" sz="2000" i="1" dirty="0"/>
                  <a:t>C</a:t>
                </a:r>
                <a:r>
                  <a:rPr lang="en-US" sz="2000" dirty="0"/>
                  <a:t>. The </a:t>
                </a:r>
                <a:r>
                  <a:rPr lang="en-US" sz="2000" b="1" dirty="0"/>
                  <a:t>composite of </a:t>
                </a:r>
                <a:r>
                  <a:rPr lang="en-US" sz="2000" b="1" i="1" dirty="0"/>
                  <a:t>R</a:t>
                </a:r>
                <a:r>
                  <a:rPr lang="en-US" sz="2000" b="1" dirty="0"/>
                  <a:t> and </a:t>
                </a:r>
                <a:r>
                  <a:rPr lang="en-US" sz="2000" b="1" i="1" dirty="0"/>
                  <a:t>S</a:t>
                </a:r>
                <a:r>
                  <a:rPr lang="en-US" sz="2000" i="1" dirty="0"/>
                  <a:t> </a:t>
                </a:r>
                <a:r>
                  <a:rPr lang="en-US" sz="2000" dirty="0"/>
                  <a:t>is the relation consisting of ordered pairs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where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, and for which there exists an element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 such that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. We denote the composite of </a:t>
                </a:r>
                <a:r>
                  <a:rPr lang="en-US" sz="2000" i="1" dirty="0"/>
                  <a:t>R</a:t>
                </a:r>
                <a:r>
                  <a:rPr lang="en-US" sz="2000" dirty="0"/>
                  <a:t> and </a:t>
                </a:r>
                <a:r>
                  <a:rPr lang="en-US" sz="2000" i="1" dirty="0"/>
                  <a:t>S</a:t>
                </a:r>
                <a:r>
                  <a:rPr lang="en-US" sz="2000" dirty="0"/>
                  <a:t> by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◦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◦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 ∃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&amp;</m:t>
                              </m:r>
                              <m:d>
                                <m:d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d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</m:e>
                      </m:d>
                      <m:r>
                        <a:rPr lang="en-GB" sz="20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882676"/>
                <a:ext cx="8229600" cy="3016210"/>
              </a:xfrm>
              <a:prstGeom prst="rect">
                <a:avLst/>
              </a:prstGeom>
              <a:blipFill rotWithShape="0">
                <a:blip r:embed="rId2"/>
                <a:stretch>
                  <a:fillRect l="-741" r="-889" b="-14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8023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Example -6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3D27C-62C3-4EEF-AC38-777A91175E48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28601" y="1676400"/>
                <a:ext cx="883920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What is the composite of the relations </a:t>
                </a:r>
                <a:r>
                  <a:rPr lang="en-US" sz="2000" i="1" dirty="0"/>
                  <a:t>R</a:t>
                </a:r>
                <a:r>
                  <a:rPr lang="en-US" sz="2000" dirty="0"/>
                  <a:t> and </a:t>
                </a:r>
                <a:r>
                  <a:rPr lang="en-US" sz="2000" i="1" dirty="0"/>
                  <a:t>S</a:t>
                </a:r>
                <a:r>
                  <a:rPr lang="en-US" sz="2000" dirty="0"/>
                  <a:t>, where </a:t>
                </a:r>
                <a:r>
                  <a:rPr lang="en-US" sz="2000" i="1" dirty="0"/>
                  <a:t>R</a:t>
                </a:r>
                <a:r>
                  <a:rPr lang="en-US" sz="2000" dirty="0"/>
                  <a:t> is the relation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{1,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2,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3}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{1,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2,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3,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 with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={ (1,1),(1,4),(2,3),(3,1),(3,4)}</m:t>
                    </m:r>
                  </m:oMath>
                </a14:m>
                <a:r>
                  <a:rPr lang="en-US" sz="2000" dirty="0"/>
                  <a:t> and </a:t>
                </a:r>
                <a:r>
                  <a:rPr lang="en-US" sz="2000" i="1" dirty="0"/>
                  <a:t>S</a:t>
                </a:r>
                <a:r>
                  <a:rPr lang="en-US" sz="2000" dirty="0"/>
                  <a:t> is the relation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2,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3,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{0,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1,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2}</m:t>
                    </m:r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={ (1,0),(2,0),(3,1),(3,2),(4,1)}</m:t>
                    </m:r>
                  </m:oMath>
                </a14:m>
                <a:r>
                  <a:rPr lang="en-US" sz="2000" dirty="0"/>
                  <a:t>? 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1" y="1676400"/>
                <a:ext cx="8839200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59" t="-2395" b="-101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/>
              <p:cNvSpPr/>
              <p:nvPr/>
            </p:nvSpPr>
            <p:spPr>
              <a:xfrm>
                <a:off x="2246171" y="5562600"/>
                <a:ext cx="514422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◦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1,0</m:t>
                              </m:r>
                            </m:e>
                          </m:d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e>
                          </m:d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2,1</m:t>
                              </m:r>
                            </m:e>
                          </m:d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2,2</m:t>
                              </m:r>
                            </m:e>
                          </m:d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3,0</m:t>
                              </m:r>
                            </m:e>
                          </m:d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3,1</m:t>
                              </m:r>
                            </m:e>
                          </m:d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1" name="Rectangle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171" y="5562600"/>
                <a:ext cx="5144229" cy="40011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Group 71"/>
          <p:cNvGrpSpPr/>
          <p:nvPr/>
        </p:nvGrpSpPr>
        <p:grpSpPr>
          <a:xfrm>
            <a:off x="6477000" y="3104531"/>
            <a:ext cx="2286000" cy="1772269"/>
            <a:chOff x="6477000" y="2819400"/>
            <a:chExt cx="2286000" cy="1772269"/>
          </a:xfrm>
        </p:grpSpPr>
        <p:sp>
          <p:nvSpPr>
            <p:cNvPr id="40" name="Oval 39"/>
            <p:cNvSpPr/>
            <p:nvPr/>
          </p:nvSpPr>
          <p:spPr>
            <a:xfrm>
              <a:off x="8077200" y="2819400"/>
              <a:ext cx="685800" cy="1772269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8256621" y="3044787"/>
              <a:ext cx="27667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0</a:t>
              </a:r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8264727" y="3516868"/>
              <a:ext cx="27667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1</a:t>
              </a:r>
              <a:endParaRPr lang="en-US" dirty="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8269445" y="3964990"/>
              <a:ext cx="27667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2</a:t>
              </a:r>
              <a:endParaRPr lang="en-US" dirty="0"/>
            </a:p>
          </p:txBody>
        </p:sp>
        <p:sp>
          <p:nvSpPr>
            <p:cNvPr id="44" name="Oval 43"/>
            <p:cNvSpPr/>
            <p:nvPr/>
          </p:nvSpPr>
          <p:spPr>
            <a:xfrm>
              <a:off x="6477000" y="2819400"/>
              <a:ext cx="685800" cy="1772269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6656421" y="3044787"/>
              <a:ext cx="27667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1</a:t>
              </a:r>
              <a:endParaRPr lang="en-US" dirty="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664527" y="3516868"/>
              <a:ext cx="27667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2</a:t>
              </a:r>
              <a:endParaRPr lang="en-US" dirty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669245" y="3964990"/>
              <a:ext cx="27667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ym typeface="Symbol" panose="05050102010706020507" pitchFamily="18" charset="2"/>
                </a:rPr>
                <a:t>3</a:t>
              </a:r>
              <a:endParaRPr lang="en-US" dirty="0"/>
            </a:p>
          </p:txBody>
        </p:sp>
        <p:cxnSp>
          <p:nvCxnSpPr>
            <p:cNvPr id="60" name="Straight Arrow Connector 59"/>
            <p:cNvCxnSpPr/>
            <p:nvPr/>
          </p:nvCxnSpPr>
          <p:spPr>
            <a:xfrm>
              <a:off x="6933092" y="3204769"/>
              <a:ext cx="13727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>
              <a:off x="6933092" y="3344799"/>
              <a:ext cx="1372708" cy="3279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6941198" y="3714131"/>
              <a:ext cx="132352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>
              <a:off x="6941198" y="3792921"/>
              <a:ext cx="1364602" cy="3320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 flipV="1">
              <a:off x="6941198" y="3344799"/>
              <a:ext cx="1364602" cy="7801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/>
            <p:nvPr/>
          </p:nvCxnSpPr>
          <p:spPr>
            <a:xfrm flipV="1">
              <a:off x="6941198" y="3792921"/>
              <a:ext cx="1364602" cy="3693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/>
          <p:cNvGrpSpPr/>
          <p:nvPr/>
        </p:nvGrpSpPr>
        <p:grpSpPr>
          <a:xfrm>
            <a:off x="533400" y="3013612"/>
            <a:ext cx="3886200" cy="2324853"/>
            <a:chOff x="533400" y="3013612"/>
            <a:chExt cx="3886200" cy="2324853"/>
          </a:xfrm>
        </p:grpSpPr>
        <p:grpSp>
          <p:nvGrpSpPr>
            <p:cNvPr id="73" name="Group 72"/>
            <p:cNvGrpSpPr/>
            <p:nvPr/>
          </p:nvGrpSpPr>
          <p:grpSpPr>
            <a:xfrm>
              <a:off x="533400" y="3013612"/>
              <a:ext cx="3886200" cy="1939388"/>
              <a:chOff x="533400" y="3013612"/>
              <a:chExt cx="3886200" cy="1939388"/>
            </a:xfrm>
          </p:grpSpPr>
          <p:sp>
            <p:nvSpPr>
              <p:cNvPr id="8" name="Oval 7"/>
              <p:cNvSpPr/>
              <p:nvPr/>
            </p:nvSpPr>
            <p:spPr>
              <a:xfrm>
                <a:off x="533400" y="3039818"/>
                <a:ext cx="685800" cy="177226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712821" y="3265205"/>
                <a:ext cx="2766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ym typeface="Symbol" panose="05050102010706020507" pitchFamily="18" charset="2"/>
                  </a:rPr>
                  <a:t>1</a:t>
                </a:r>
                <a:endParaRPr lang="en-US" dirty="0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720927" y="3737286"/>
                <a:ext cx="2766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ym typeface="Symbol" panose="05050102010706020507" pitchFamily="18" charset="2"/>
                  </a:rPr>
                  <a:t>2</a:t>
                </a:r>
                <a:endParaRPr lang="en-US" dirty="0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725645" y="4185408"/>
                <a:ext cx="2766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ym typeface="Symbol" panose="05050102010706020507" pitchFamily="18" charset="2"/>
                  </a:rPr>
                  <a:t>3</a:t>
                </a:r>
                <a:endParaRPr lang="en-US" dirty="0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1905000" y="3013612"/>
                <a:ext cx="925128" cy="1939388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2211111" y="3112805"/>
                <a:ext cx="3129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ym typeface="Symbol" panose="05050102010706020507" pitchFamily="18" charset="2"/>
                  </a:rPr>
                  <a:t>1</a:t>
                </a:r>
                <a:endParaRPr lang="en-US" dirty="0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2219217" y="3584886"/>
                <a:ext cx="3129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ym typeface="Symbol" panose="05050102010706020507" pitchFamily="18" charset="2"/>
                  </a:rPr>
                  <a:t>2</a:t>
                </a:r>
                <a:endParaRPr lang="en-US" dirty="0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2223935" y="4033008"/>
                <a:ext cx="3129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ym typeface="Symbol" panose="05050102010706020507" pitchFamily="18" charset="2"/>
                  </a:rPr>
                  <a:t>3</a:t>
                </a:r>
                <a:endParaRPr lang="en-US" dirty="0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2211111" y="4490208"/>
                <a:ext cx="3129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ym typeface="Symbol" panose="05050102010706020507" pitchFamily="18" charset="2"/>
                  </a:rPr>
                  <a:t>4</a:t>
                </a:r>
                <a:endParaRPr lang="en-US" dirty="0"/>
              </a:p>
            </p:txBody>
          </p:sp>
          <p:cxnSp>
            <p:nvCxnSpPr>
              <p:cNvPr id="25" name="Straight Arrow Connector 24"/>
              <p:cNvCxnSpPr/>
              <p:nvPr/>
            </p:nvCxnSpPr>
            <p:spPr>
              <a:xfrm flipV="1">
                <a:off x="989492" y="3312352"/>
                <a:ext cx="1248527" cy="13751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>
              <a:xfrm>
                <a:off x="989492" y="3482137"/>
                <a:ext cx="1313299" cy="110598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/>
              <p:nvPr/>
            </p:nvCxnSpPr>
            <p:spPr>
              <a:xfrm>
                <a:off x="997598" y="3912849"/>
                <a:ext cx="1240421" cy="3048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/>
              <p:cNvCxnSpPr/>
              <p:nvPr/>
            </p:nvCxnSpPr>
            <p:spPr>
              <a:xfrm flipV="1">
                <a:off x="989492" y="3449871"/>
                <a:ext cx="1248527" cy="9202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>
                <a:off x="1066800" y="4402340"/>
                <a:ext cx="1171219" cy="27253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Oval 35"/>
              <p:cNvSpPr/>
              <p:nvPr/>
            </p:nvSpPr>
            <p:spPr>
              <a:xfrm>
                <a:off x="3733800" y="3034803"/>
                <a:ext cx="685800" cy="177226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3913221" y="3260190"/>
                <a:ext cx="2766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ym typeface="Symbol" panose="05050102010706020507" pitchFamily="18" charset="2"/>
                  </a:rPr>
                  <a:t>0</a:t>
                </a:r>
                <a:endParaRPr lang="en-US" dirty="0"/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3921327" y="3732271"/>
                <a:ext cx="2766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ym typeface="Symbol" panose="05050102010706020507" pitchFamily="18" charset="2"/>
                  </a:rPr>
                  <a:t>1</a:t>
                </a:r>
                <a:endParaRPr lang="en-US" dirty="0"/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3926045" y="4180393"/>
                <a:ext cx="2766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ym typeface="Symbol" panose="05050102010706020507" pitchFamily="18" charset="2"/>
                  </a:rPr>
                  <a:t>2</a:t>
                </a:r>
                <a:endParaRPr lang="en-US" dirty="0"/>
              </a:p>
            </p:txBody>
          </p:sp>
          <p:cxnSp>
            <p:nvCxnSpPr>
              <p:cNvPr id="49" name="Straight Arrow Connector 48"/>
              <p:cNvCxnSpPr/>
              <p:nvPr/>
            </p:nvCxnSpPr>
            <p:spPr>
              <a:xfrm>
                <a:off x="2524017" y="3312352"/>
                <a:ext cx="1389204" cy="8832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/>
              <p:nvPr/>
            </p:nvCxnSpPr>
            <p:spPr>
              <a:xfrm flipV="1">
                <a:off x="2524017" y="3482137"/>
                <a:ext cx="1397310" cy="28741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>
                <a:endCxn id="38" idx="1"/>
              </p:cNvCxnSpPr>
              <p:nvPr/>
            </p:nvCxnSpPr>
            <p:spPr>
              <a:xfrm flipV="1">
                <a:off x="2524017" y="3916937"/>
                <a:ext cx="1397310" cy="28814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/>
              <p:cNvCxnSpPr/>
              <p:nvPr/>
            </p:nvCxnSpPr>
            <p:spPr>
              <a:xfrm>
                <a:off x="2532123" y="4217674"/>
                <a:ext cx="1389204" cy="1473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/>
              <p:cNvCxnSpPr/>
              <p:nvPr/>
            </p:nvCxnSpPr>
            <p:spPr>
              <a:xfrm flipV="1">
                <a:off x="2524017" y="4033008"/>
                <a:ext cx="1397310" cy="64186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4" name="Straight Arrow Connector 73"/>
            <p:cNvCxnSpPr/>
            <p:nvPr/>
          </p:nvCxnSpPr>
          <p:spPr>
            <a:xfrm>
              <a:off x="1066800" y="4953000"/>
              <a:ext cx="990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/>
                <p:cNvSpPr txBox="1"/>
                <p:nvPr/>
              </p:nvSpPr>
              <p:spPr>
                <a:xfrm>
                  <a:off x="1363370" y="4872335"/>
                  <a:ext cx="35595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75" name="TextBox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3370" y="4872335"/>
                  <a:ext cx="355955" cy="46166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5172" r="-1551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Straight Arrow Connector 78"/>
            <p:cNvCxnSpPr/>
            <p:nvPr/>
          </p:nvCxnSpPr>
          <p:spPr>
            <a:xfrm>
              <a:off x="2819400" y="4957465"/>
              <a:ext cx="990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/>
                <p:cNvSpPr txBox="1"/>
                <p:nvPr/>
              </p:nvSpPr>
              <p:spPr>
                <a:xfrm>
                  <a:off x="3115970" y="4876800"/>
                  <a:ext cx="35595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80" name="TextBox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5970" y="4876800"/>
                  <a:ext cx="355955" cy="46166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3390" r="-339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1" name="Straight Arrow Connector 80"/>
          <p:cNvCxnSpPr/>
          <p:nvPr/>
        </p:nvCxnSpPr>
        <p:spPr>
          <a:xfrm>
            <a:off x="7162800" y="4881265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7194399" y="4800600"/>
                <a:ext cx="9590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𝑹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399" y="4800600"/>
                <a:ext cx="959001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035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1" grpId="0"/>
      <p:bldP spid="8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Combining Relations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0F490-F14A-4C5F-BD6A-8C0C3B451720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25003" y="1600200"/>
                <a:ext cx="822960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000" b="1" dirty="0">
                    <a:sym typeface="Symbol" panose="05050102010706020507" pitchFamily="18" charset="2"/>
                  </a:rPr>
                  <a:t>Example -7:</a:t>
                </a:r>
                <a:r>
                  <a:rPr lang="en-US" sz="2000" dirty="0">
                    <a:sym typeface="Symbol" panose="05050102010706020507" pitchFamily="18" charset="2"/>
                  </a:rPr>
                  <a:t> Let </a:t>
                </a:r>
                <a:r>
                  <a:rPr lang="en-US" sz="2000" i="1" dirty="0">
                    <a:sym typeface="Symbol" panose="05050102010706020507" pitchFamily="18" charset="2"/>
                  </a:rPr>
                  <a:t>D</a:t>
                </a:r>
                <a:r>
                  <a:rPr lang="en-US" sz="2000" dirty="0">
                    <a:sym typeface="Symbol" panose="05050102010706020507" pitchFamily="18" charset="2"/>
                  </a:rPr>
                  <a:t> and </a:t>
                </a:r>
                <a:r>
                  <a:rPr lang="en-US" sz="2000" i="1" dirty="0">
                    <a:sym typeface="Symbol" panose="05050102010706020507" pitchFamily="18" charset="2"/>
                  </a:rPr>
                  <a:t>S</a:t>
                </a:r>
                <a:r>
                  <a:rPr lang="en-US" sz="2000" dirty="0">
                    <a:sym typeface="Symbol" panose="05050102010706020507" pitchFamily="18" charset="2"/>
                  </a:rPr>
                  <a:t> be relations 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= {1, 2, 3, 4}</m:t>
                    </m:r>
                  </m:oMath>
                </a14:m>
                <a:r>
                  <a:rPr lang="en-US" sz="2000" dirty="0">
                    <a:sym typeface="Symbol" panose="05050102010706020507" pitchFamily="18" charset="2"/>
                  </a:rPr>
                  <a:t>.</a:t>
                </a:r>
              </a:p>
              <a:p>
                <a:pPr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𝐷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= {(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 |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= 5 −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}</m:t>
                    </m:r>
                  </m:oMath>
                </a14:m>
                <a:r>
                  <a:rPr lang="en-US" sz="2000" dirty="0">
                    <a:sym typeface="Symbol" panose="05050102010706020507" pitchFamily="18" charset="2"/>
                  </a:rPr>
                  <a:t>     “b equals (5 – a)”</a:t>
                </a:r>
              </a:p>
              <a:p>
                <a:pPr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𝑆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= {(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 |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&lt;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}   </m:t>
                    </m:r>
                  </m:oMath>
                </a14:m>
                <a:r>
                  <a:rPr lang="en-US" sz="2000" dirty="0">
                    <a:sym typeface="Symbol" panose="05050102010706020507" pitchFamily="18" charset="2"/>
                  </a:rPr>
                  <a:t>           “a is smaller than b”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003" y="1600200"/>
                <a:ext cx="8229600" cy="1015663"/>
              </a:xfrm>
              <a:prstGeom prst="rect">
                <a:avLst/>
              </a:prstGeom>
              <a:blipFill>
                <a:blip r:embed="rId2"/>
                <a:stretch>
                  <a:fillRect l="-815" t="-3614" b="-9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25003" y="2590800"/>
                <a:ext cx="8261797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000" dirty="0">
                    <a:sym typeface="Symbol" panose="05050102010706020507" pitchFamily="18" charset="2"/>
                  </a:rPr>
                  <a:t>That is; 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𝐷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= {(1, 4), (2, 3), (3, 2), (4, 1)}</m:t>
                    </m:r>
                  </m:oMath>
                </a14:m>
                <a:endParaRPr lang="en-US" sz="2000" dirty="0">
                  <a:sym typeface="Symbol" panose="05050102010706020507" pitchFamily="18" charset="2"/>
                </a:endParaRPr>
              </a:p>
              <a:p>
                <a:pPr>
                  <a:lnSpc>
                    <a:spcPct val="15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𝑆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= {(1, 2), (1, 3), (1, 4), (2, 3), (2, 4), (3, 4)}</m:t>
                    </m:r>
                  </m:oMath>
                </a14:m>
                <a:r>
                  <a:rPr lang="en-US" sz="2000" dirty="0">
                    <a:sym typeface="Symbol" panose="05050102010706020507" pitchFamily="18" charset="2"/>
                  </a:rPr>
                  <a:t>.</a:t>
                </a: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sz="2000" b="0" dirty="0">
                    <a:sym typeface="Symbol" panose="05050102010706020507" pitchFamily="18" charset="2"/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𝑆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◦</m:t>
                    </m:r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e>
                        </m:d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3,3</m:t>
                            </m:r>
                          </m:e>
                        </m:d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e>
                        </m:d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4,2</m:t>
                            </m:r>
                          </m:e>
                        </m:d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4,3</m:t>
                            </m:r>
                          </m:e>
                        </m:d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4,4</m:t>
                            </m:r>
                          </m:e>
                        </m:d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003" y="2590800"/>
                <a:ext cx="8261797" cy="1323439"/>
              </a:xfrm>
              <a:prstGeom prst="rect">
                <a:avLst/>
              </a:prstGeom>
              <a:blipFill rotWithShape="0">
                <a:blip r:embed="rId3"/>
                <a:stretch>
                  <a:fillRect l="-812" t="-1843" b="-32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04801" y="3962400"/>
                <a:ext cx="8229600" cy="24600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◦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𝑎𝑛𝑑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∃ 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such</m:t>
                          </m:r>
                          <m:r>
                            <a:rPr lang="en-US" sz="20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that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d>
                            <m:d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&amp;</m:t>
                              </m:r>
                              <m:d>
                                <m:d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d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50000"/>
                  </a:lnSpc>
                </a:pPr>
                <a:r>
                  <a:rPr lang="en-US" sz="2000" b="0" dirty="0"/>
                  <a:t>     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|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𝑎𝑛𝑑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∃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such</m:t>
                        </m:r>
                        <m:r>
                          <a:rPr lang="en-US" sz="20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that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=5−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&amp;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</m:t>
                            </m:r>
                          </m:e>
                        </m:d>
                      </m:e>
                    </m:d>
                  </m:oMath>
                </a14:m>
                <a:endParaRPr lang="en-US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such</m:t>
                          </m:r>
                          <m:r>
                            <a:rPr lang="en-US" sz="2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that</m:t>
                          </m:r>
                          <m:r>
                            <a:rPr lang="en-US" sz="20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&gt;5−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such</m:t>
                          </m:r>
                          <m:r>
                            <a:rPr lang="en-US" sz="20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that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&gt;5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                                  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3,3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4,2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4,3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4,4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1" y="3962400"/>
                <a:ext cx="8229600" cy="2460097"/>
              </a:xfrm>
              <a:prstGeom prst="rect">
                <a:avLst/>
              </a:prstGeom>
              <a:blipFill rotWithShape="0">
                <a:blip r:embed="rId4"/>
                <a:stretch>
                  <a:fillRect b="-12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6089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Powers of a Relation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49FF-8EEE-4B1B-A19C-01FCEF0B2134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22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04801" y="1560493"/>
            <a:ext cx="838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The powers of a relation R can be recursively deﬁned from the deﬁnition of a composite of two relations.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28600" y="2340114"/>
                <a:ext cx="876300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Definition: </a:t>
                </a:r>
                <a:r>
                  <a:rPr lang="en-US" sz="2000" dirty="0"/>
                  <a:t>Let R be a relation on the set A. The powers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 1,2,3,…,</m:t>
                    </m:r>
                  </m:oMath>
                </a14:m>
                <a:r>
                  <a:rPr lang="en-US" sz="2000" dirty="0"/>
                  <a:t>  are deﬁned recursively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</a:rPr>
                      <m:t>◦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. 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340114"/>
                <a:ext cx="8763000" cy="707886"/>
              </a:xfrm>
              <a:prstGeom prst="rect">
                <a:avLst/>
              </a:prstGeom>
              <a:blipFill>
                <a:blip r:embed="rId2"/>
                <a:stretch>
                  <a:fillRect l="-765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04801" y="3262591"/>
                <a:ext cx="861059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The deﬁnition shows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◦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◦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◦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)◦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, and so on. 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1" y="3262591"/>
                <a:ext cx="8610599" cy="400110"/>
              </a:xfrm>
              <a:prstGeom prst="rect">
                <a:avLst/>
              </a:prstGeom>
              <a:blipFill rotWithShape="0">
                <a:blip r:embed="rId3"/>
                <a:stretch>
                  <a:fillRect l="-708" t="-6061" b="-27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28600" y="3861137"/>
                <a:ext cx="8458201" cy="29366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 </a:t>
                </a:r>
                <a:r>
                  <a:rPr lang="en-US" sz="2000" b="1" dirty="0"/>
                  <a:t>Example -8:</a:t>
                </a:r>
                <a:r>
                  <a:rPr lang="en-US" sz="2000" dirty="0"/>
                  <a:t> 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={ (1,1),(2,1),(3,2),(4,3)}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r>
                  <a:rPr lang="en-US" sz="2000" dirty="0"/>
                  <a:t> Find the powers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 2,3,4,…. 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pt-BR" sz="2000" dirty="0"/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pt-BR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000" i="1" dirty="0" smtClean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e>
                        </m:d>
                        <m:r>
                          <a:rPr lang="pt-BR" sz="20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pt-BR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000" i="1" dirty="0" smtClean="0">
                                <a:latin typeface="Cambria Math" panose="02040503050406030204" pitchFamily="18" charset="0"/>
                              </a:rPr>
                              <m:t>2,1</m:t>
                            </m:r>
                          </m:e>
                        </m:d>
                        <m:r>
                          <a:rPr lang="pt-BR" sz="20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pt-BR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000" i="1" dirty="0" smtClean="0">
                                <a:latin typeface="Cambria Math" panose="02040503050406030204" pitchFamily="18" charset="0"/>
                              </a:rPr>
                              <m:t>3,1</m:t>
                            </m:r>
                          </m:e>
                        </m:d>
                        <m:r>
                          <a:rPr lang="pt-BR" sz="20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pt-BR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000" i="1" dirty="0" smtClean="0">
                                <a:latin typeface="Cambria Math" panose="02040503050406030204" pitchFamily="18" charset="0"/>
                              </a:rPr>
                              <m:t>4,2</m:t>
                            </m:r>
                          </m:e>
                        </m:d>
                      </m:e>
                    </m:d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GB" sz="2000" b="0" i="0" dirty="0">
                    <a:latin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e>
                        </m:d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2,1</m:t>
                            </m:r>
                          </m:e>
                        </m:d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3,1</m:t>
                            </m:r>
                          </m:e>
                        </m:d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4,1</m:t>
                            </m:r>
                          </m:e>
                        </m:d>
                      </m:e>
                    </m:d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/>
              </a:p>
              <a:p>
                <a:endParaRPr lang="en-US" sz="2000" i="1" dirty="0">
                  <a:latin typeface="Cambria Math" panose="02040503050406030204" pitchFamily="18" charset="0"/>
                </a:endParaRPr>
              </a:p>
              <a:p>
                <a:r>
                  <a:rPr lang="en-US" sz="2000" dirty="0"/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2,1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3,1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4,1</m:t>
                            </m:r>
                          </m:e>
                        </m:d>
                      </m:e>
                    </m:d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000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≥4.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861137"/>
                <a:ext cx="8458201" cy="2936638"/>
              </a:xfrm>
              <a:prstGeom prst="rect">
                <a:avLst/>
              </a:prstGeom>
              <a:blipFill>
                <a:blip r:embed="rId4"/>
                <a:stretch>
                  <a:fillRect l="-144" t="-1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0747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Application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AEDCB-3515-4ED8-B4AE-83C6CEEFA00D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42900" y="1752600"/>
                <a:ext cx="845820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Theorem:</a:t>
                </a:r>
                <a:r>
                  <a:rPr lang="en-US" dirty="0"/>
                  <a:t>  The relation </a:t>
                </a:r>
                <a:r>
                  <a:rPr lang="en-US" i="1" dirty="0"/>
                  <a:t>R</a:t>
                </a:r>
                <a:r>
                  <a:rPr lang="en-US" dirty="0"/>
                  <a:t> on a set </a:t>
                </a:r>
                <a:r>
                  <a:rPr lang="en-US" i="1" dirty="0"/>
                  <a:t>A</a:t>
                </a:r>
                <a:r>
                  <a:rPr lang="en-US" dirty="0"/>
                  <a:t> is transitive if and only if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⊆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" y="1752600"/>
                <a:ext cx="8458200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576" t="-10000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42900" y="2209800"/>
                <a:ext cx="8458200" cy="3995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Proof:</a:t>
                </a:r>
                <a:r>
                  <a:rPr lang="en-GB" dirty="0"/>
                  <a:t> (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⇐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 Suppose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⊆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GB" dirty="0"/>
                  <a:t>. Then in particular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⊆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dirty="0"/>
                  <a:t>. Then by composition, we have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)∈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So,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dirty="0"/>
                  <a:t>  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⊆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dirty="0"/>
                  <a:t>. Hence R is transitive.</a:t>
                </a:r>
              </a:p>
              <a:p>
                <a:endParaRPr lang="en-GB" dirty="0"/>
              </a:p>
              <a:p>
                <a:r>
                  <a:rPr lang="en-GB" dirty="0"/>
                  <a:t>(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 Suppose that R is transitive. We shall show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⊆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GB" dirty="0"/>
                  <a:t>, using Mathematical induction. The result is trivially true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Assume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⊆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dirty="0"/>
                  <a:t>, for some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Assume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GB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∃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 such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)∈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GB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∵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∃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 such that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dirty="0"/>
                  <a:t>   (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∵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⊆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dirty="0"/>
                  <a:t> by our assumption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(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)∈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dirty="0"/>
                  <a:t> (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∵ </m:t>
                    </m:r>
                  </m:oMath>
                </a14:m>
                <a:r>
                  <a:rPr lang="en-GB" dirty="0"/>
                  <a:t> R is transitive)</a:t>
                </a:r>
              </a:p>
              <a:p>
                <a:r>
                  <a:rPr lang="en-GB" dirty="0"/>
                  <a:t>Therefore,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GB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dirty="0"/>
                  <a:t>, and the result is true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Hence by the mathematical induction principle,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⊆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  <a:r>
                  <a:rPr lang="en-GB" dirty="0"/>
                  <a:t> 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" y="2209800"/>
                <a:ext cx="8458200" cy="3995004"/>
              </a:xfrm>
              <a:prstGeom prst="rect">
                <a:avLst/>
              </a:prstGeom>
              <a:blipFill rotWithShape="0">
                <a:blip r:embed="rId3"/>
                <a:stretch>
                  <a:fillRect l="-576" t="-9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8259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Functions as Relations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3A86D-338D-4650-8778-734E9AAB5C42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24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0" y="1712893"/>
            <a:ext cx="8458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ym typeface="Symbol" panose="05050102010706020507" pitchFamily="18" charset="2"/>
              </a:rPr>
              <a:t>You might remember that a </a:t>
            </a:r>
            <a:r>
              <a:rPr lang="en-US" sz="2000" b="1" dirty="0">
                <a:sym typeface="Symbol" panose="05050102010706020507" pitchFamily="18" charset="2"/>
              </a:rPr>
              <a:t>function</a:t>
            </a:r>
            <a:r>
              <a:rPr lang="en-US" sz="2000" dirty="0">
                <a:sym typeface="Symbol" panose="05050102010706020507" pitchFamily="18" charset="2"/>
              </a:rPr>
              <a:t> </a:t>
            </a:r>
            <a:r>
              <a:rPr lang="en-US" sz="2000" i="1" dirty="0">
                <a:sym typeface="Symbol" panose="05050102010706020507" pitchFamily="18" charset="2"/>
              </a:rPr>
              <a:t>f  </a:t>
            </a:r>
            <a:r>
              <a:rPr lang="en-US" sz="2000" dirty="0">
                <a:sym typeface="Symbol" panose="05050102010706020507" pitchFamily="18" charset="2"/>
              </a:rPr>
              <a:t>from a set </a:t>
            </a:r>
            <a:r>
              <a:rPr lang="en-US" sz="2000" i="1" dirty="0">
                <a:sym typeface="Symbol" panose="05050102010706020507" pitchFamily="18" charset="2"/>
              </a:rPr>
              <a:t>A</a:t>
            </a:r>
            <a:r>
              <a:rPr lang="en-US" sz="2000" dirty="0">
                <a:sym typeface="Symbol" panose="05050102010706020507" pitchFamily="18" charset="2"/>
              </a:rPr>
              <a:t> to a set </a:t>
            </a:r>
            <a:r>
              <a:rPr lang="en-US" sz="2000" i="1" dirty="0">
                <a:sym typeface="Symbol" panose="05050102010706020507" pitchFamily="18" charset="2"/>
              </a:rPr>
              <a:t>B</a:t>
            </a:r>
            <a:r>
              <a:rPr lang="en-US" sz="2000" dirty="0">
                <a:sym typeface="Symbol" panose="05050102010706020507" pitchFamily="18" charset="2"/>
              </a:rPr>
              <a:t> assigns a unique element of </a:t>
            </a:r>
            <a:r>
              <a:rPr lang="en-US" sz="2000" i="1" dirty="0">
                <a:sym typeface="Symbol" panose="05050102010706020507" pitchFamily="18" charset="2"/>
              </a:rPr>
              <a:t>B</a:t>
            </a:r>
            <a:r>
              <a:rPr lang="en-US" sz="2000" dirty="0">
                <a:sym typeface="Symbol" panose="05050102010706020507" pitchFamily="18" charset="2"/>
              </a:rPr>
              <a:t> to each element of </a:t>
            </a:r>
            <a:r>
              <a:rPr lang="en-US" sz="2000" i="1" dirty="0">
                <a:sym typeface="Symbol" panose="05050102010706020507" pitchFamily="18" charset="2"/>
              </a:rPr>
              <a:t>A</a:t>
            </a:r>
            <a:r>
              <a:rPr lang="en-US" sz="2000" dirty="0">
                <a:sym typeface="Symbol" panose="05050102010706020507" pitchFamily="18" charset="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57200" y="2667000"/>
                <a:ext cx="845820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  <a:defRPr/>
                </a:pPr>
                <a:r>
                  <a:rPr lang="en-US" sz="2000" dirty="0">
                    <a:sym typeface="Symbol" panose="05050102010706020507" pitchFamily="18" charset="2"/>
                  </a:rPr>
                  <a:t>The </a:t>
                </a:r>
                <a:r>
                  <a:rPr lang="en-US" sz="2000" b="1" dirty="0">
                    <a:sym typeface="Symbol" panose="05050102010706020507" pitchFamily="18" charset="2"/>
                  </a:rPr>
                  <a:t>graph</a:t>
                </a:r>
                <a:r>
                  <a:rPr lang="en-US" sz="2000" dirty="0">
                    <a:sym typeface="Symbol" panose="05050102010706020507" pitchFamily="18" charset="2"/>
                  </a:rPr>
                  <a:t> of f is the set of ordered pairs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 </m:t>
                    </m:r>
                  </m:oMath>
                </a14:m>
                <a:r>
                  <a:rPr lang="en-US" sz="2000" dirty="0">
                    <a:sym typeface="Symbol" panose="05050102010706020507" pitchFamily="18" charset="2"/>
                  </a:rPr>
                  <a:t>such that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en-US" sz="2000" dirty="0">
                    <a:sym typeface="Symbol" panose="05050102010706020507" pitchFamily="18" charset="2"/>
                  </a:rPr>
                  <a:t>.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667000"/>
                <a:ext cx="8458200" cy="400110"/>
              </a:xfrm>
              <a:prstGeom prst="rect">
                <a:avLst/>
              </a:prstGeom>
              <a:blipFill rotWithShape="0">
                <a:blip r:embed="rId2"/>
                <a:stretch>
                  <a:fillRect l="-648" t="-7692" b="-2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57200" y="3429000"/>
                <a:ext cx="822960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  <a:defRPr/>
                </a:pPr>
                <a:r>
                  <a:rPr lang="en-US" sz="2000" dirty="0">
                    <a:sym typeface="Symbol" panose="05050102010706020507" pitchFamily="18" charset="2"/>
                  </a:rPr>
                  <a:t>Since the graph of </a:t>
                </a:r>
                <a:r>
                  <a:rPr lang="en-US" sz="2000" i="1" dirty="0">
                    <a:sym typeface="Symbol" panose="05050102010706020507" pitchFamily="18" charset="2"/>
                  </a:rPr>
                  <a:t>f </a:t>
                </a:r>
                <a:r>
                  <a:rPr lang="en-US" sz="2000" dirty="0">
                    <a:sym typeface="Symbol" panose="05050102010706020507" pitchFamily="18" charset="2"/>
                  </a:rPr>
                  <a:t>is a subset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×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𝐵</m:t>
                    </m:r>
                  </m:oMath>
                </a14:m>
                <a:r>
                  <a:rPr lang="en-US" sz="2000" dirty="0">
                    <a:sym typeface="Symbol" panose="05050102010706020507" pitchFamily="18" charset="2"/>
                  </a:rPr>
                  <a:t>, it is a </a:t>
                </a:r>
                <a:r>
                  <a:rPr lang="en-US" sz="2000" b="1" dirty="0">
                    <a:sym typeface="Symbol" panose="05050102010706020507" pitchFamily="18" charset="2"/>
                  </a:rPr>
                  <a:t>relation</a:t>
                </a:r>
                <a:r>
                  <a:rPr lang="en-US" sz="2000" dirty="0">
                    <a:sym typeface="Symbol" panose="05050102010706020507" pitchFamily="18" charset="2"/>
                  </a:rPr>
                  <a:t> from </a:t>
                </a:r>
                <a:r>
                  <a:rPr lang="en-US" sz="2000" i="1" dirty="0">
                    <a:sym typeface="Symbol" panose="05050102010706020507" pitchFamily="18" charset="2"/>
                  </a:rPr>
                  <a:t>A</a:t>
                </a:r>
                <a:r>
                  <a:rPr lang="en-US" sz="2000" dirty="0">
                    <a:sym typeface="Symbol" panose="05050102010706020507" pitchFamily="18" charset="2"/>
                  </a:rPr>
                  <a:t> to </a:t>
                </a:r>
                <a:r>
                  <a:rPr lang="en-US" sz="2000" i="1" dirty="0">
                    <a:sym typeface="Symbol" panose="05050102010706020507" pitchFamily="18" charset="2"/>
                  </a:rPr>
                  <a:t>B</a:t>
                </a:r>
                <a:r>
                  <a:rPr lang="en-US" sz="2000" dirty="0">
                    <a:sym typeface="Symbol" panose="05050102010706020507" pitchFamily="18" charset="2"/>
                  </a:rPr>
                  <a:t>.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429000"/>
                <a:ext cx="8229600" cy="400110"/>
              </a:xfrm>
              <a:prstGeom prst="rect">
                <a:avLst/>
              </a:prstGeom>
              <a:blipFill rotWithShape="0">
                <a:blip r:embed="rId3"/>
                <a:stretch>
                  <a:fillRect l="-667" t="-7692" b="-2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457200" y="4114800"/>
            <a:ext cx="8458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ym typeface="Symbol" panose="05050102010706020507" pitchFamily="18" charset="2"/>
              </a:rPr>
              <a:t>Moreover, for each element </a:t>
            </a:r>
            <a:r>
              <a:rPr lang="en-US" sz="2000" b="1" i="1" dirty="0">
                <a:sym typeface="Symbol" panose="05050102010706020507" pitchFamily="18" charset="2"/>
              </a:rPr>
              <a:t>a</a:t>
            </a:r>
            <a:r>
              <a:rPr lang="en-US" sz="2000" dirty="0">
                <a:sym typeface="Symbol" panose="05050102010706020507" pitchFamily="18" charset="2"/>
              </a:rPr>
              <a:t> of </a:t>
            </a:r>
            <a:r>
              <a:rPr lang="en-US" sz="2000" i="1" dirty="0">
                <a:sym typeface="Symbol" panose="05050102010706020507" pitchFamily="18" charset="2"/>
              </a:rPr>
              <a:t>A</a:t>
            </a:r>
            <a:r>
              <a:rPr lang="en-US" sz="2000" dirty="0">
                <a:sym typeface="Symbol" panose="05050102010706020507" pitchFamily="18" charset="2"/>
              </a:rPr>
              <a:t>, there is exactly one ordered pair in the graph that has </a:t>
            </a:r>
            <a:r>
              <a:rPr lang="en-US" sz="2000" b="1" i="1" dirty="0">
                <a:sym typeface="Symbol" panose="05050102010706020507" pitchFamily="18" charset="2"/>
              </a:rPr>
              <a:t>a</a:t>
            </a:r>
            <a:r>
              <a:rPr lang="en-US" sz="2000" dirty="0">
                <a:sym typeface="Symbol" panose="05050102010706020507" pitchFamily="18" charset="2"/>
              </a:rPr>
              <a:t> as its first element.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80337"/>
            <a:ext cx="84582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ym typeface="Symbol" panose="05050102010706020507" pitchFamily="18" charset="2"/>
              </a:rPr>
              <a:t>Conversely, if </a:t>
            </a:r>
            <a:r>
              <a:rPr lang="en-US" sz="2000" i="1" dirty="0">
                <a:sym typeface="Symbol" panose="05050102010706020507" pitchFamily="18" charset="2"/>
              </a:rPr>
              <a:t>R</a:t>
            </a:r>
            <a:r>
              <a:rPr lang="en-US" sz="2000" dirty="0">
                <a:sym typeface="Symbol" panose="05050102010706020507" pitchFamily="18" charset="2"/>
              </a:rPr>
              <a:t> is a relation from </a:t>
            </a:r>
            <a:r>
              <a:rPr lang="en-US" sz="2000" i="1" dirty="0">
                <a:sym typeface="Symbol" panose="05050102010706020507" pitchFamily="18" charset="2"/>
              </a:rPr>
              <a:t>A</a:t>
            </a:r>
            <a:r>
              <a:rPr lang="en-US" sz="2000" dirty="0">
                <a:sym typeface="Symbol" panose="05050102010706020507" pitchFamily="18" charset="2"/>
              </a:rPr>
              <a:t> to </a:t>
            </a:r>
            <a:r>
              <a:rPr lang="en-US" sz="2000" i="1" dirty="0">
                <a:sym typeface="Symbol" panose="05050102010706020507" pitchFamily="18" charset="2"/>
              </a:rPr>
              <a:t>B</a:t>
            </a:r>
            <a:r>
              <a:rPr lang="en-US" sz="2000" dirty="0">
                <a:sym typeface="Symbol" panose="05050102010706020507" pitchFamily="18" charset="2"/>
              </a:rPr>
              <a:t> such that every element in </a:t>
            </a:r>
            <a:r>
              <a:rPr lang="en-US" sz="2000" i="1" dirty="0">
                <a:sym typeface="Symbol" panose="05050102010706020507" pitchFamily="18" charset="2"/>
              </a:rPr>
              <a:t>A</a:t>
            </a:r>
            <a:r>
              <a:rPr lang="en-US" sz="2000" dirty="0">
                <a:sym typeface="Symbol" panose="05050102010706020507" pitchFamily="18" charset="2"/>
              </a:rPr>
              <a:t> is the first element of exactly one ordered pair of R, then a function can be defined with </a:t>
            </a:r>
            <a:r>
              <a:rPr lang="en-US" sz="2000" i="1" dirty="0">
                <a:sym typeface="Symbol" panose="05050102010706020507" pitchFamily="18" charset="2"/>
              </a:rPr>
              <a:t>R</a:t>
            </a:r>
            <a:r>
              <a:rPr lang="en-US" sz="2000" dirty="0">
                <a:sym typeface="Symbol" panose="05050102010706020507" pitchFamily="18" charset="2"/>
              </a:rPr>
              <a:t> as its graph.</a:t>
            </a:r>
          </a:p>
        </p:txBody>
      </p:sp>
    </p:spTree>
    <p:extLst>
      <p:ext uri="{BB962C8B-B14F-4D97-AF65-F5344CB8AC3E}">
        <p14:creationId xmlns:p14="http://schemas.microsoft.com/office/powerpoint/2010/main" val="2086482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 - </a:t>
            </a:r>
            <a:r>
              <a:rPr lang="en-GB" b="1" dirty="0" err="1"/>
              <a:t>ary</a:t>
            </a:r>
            <a:r>
              <a:rPr lang="en-GB" b="1" dirty="0"/>
              <a:t> Relations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B4971-C945-438D-96EF-585751E05A86}" type="datetime3">
              <a:rPr lang="en-US" smtClean="0"/>
              <a:t>10 August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SCS 1204   Discrete Mathematics I      Dr. Sritharan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41A6-7C02-4C92-B6EE-5DBCC2AD53D0}" type="slidenum">
              <a:rPr lang="en-US" smtClean="0"/>
              <a:t>25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0" y="1712893"/>
            <a:ext cx="8229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We begin with the basic deﬁnition on which the theory of relational databases rests.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57200" y="2577405"/>
                <a:ext cx="8229600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b="1" dirty="0"/>
                  <a:t>Definition:</a:t>
                </a:r>
                <a:r>
                  <a:rPr lang="en-US" sz="2000" dirty="0"/>
                  <a:t>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. . .  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 be sets. An n-</a:t>
                </a:r>
                <a:r>
                  <a:rPr lang="en-US" sz="2000" dirty="0" err="1"/>
                  <a:t>ary</a:t>
                </a:r>
                <a:r>
                  <a:rPr lang="en-US" sz="2000" dirty="0"/>
                  <a:t> relation on these sets is a subset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×⋯×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. The 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 . . .  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are called the domains of the relation, and </a:t>
                </a:r>
                <a:r>
                  <a:rPr lang="en-US" sz="2000" i="1" dirty="0"/>
                  <a:t>n</a:t>
                </a:r>
                <a:r>
                  <a:rPr lang="en-US" sz="2000" dirty="0"/>
                  <a:t> is called its degree.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577405"/>
                <a:ext cx="8229600" cy="1477328"/>
              </a:xfrm>
              <a:prstGeom prst="rect">
                <a:avLst/>
              </a:prstGeom>
              <a:blipFill rotWithShape="0">
                <a:blip r:embed="rId2"/>
                <a:stretch>
                  <a:fillRect l="-741" r="-741" b="-28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57200" y="4460319"/>
                <a:ext cx="8229600" cy="2092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Example -9:</a:t>
                </a:r>
                <a:r>
                  <a:rPr lang="en-US" sz="2000" dirty="0"/>
                  <a:t> Let </a:t>
                </a:r>
                <a:r>
                  <a:rPr lang="en-US" sz="20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𝑅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=</m:t>
                    </m:r>
                    <m:d>
                      <m:dPr>
                        <m:begChr m:val="{"/>
                        <m:endChr m:val="|"/>
                        <m:ctrlPr>
                          <a:rPr lang="en-US" sz="200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𝑎</m:t>
                            </m:r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, </m:t>
                            </m:r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𝑏</m:t>
                            </m:r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, </m:t>
                            </m:r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𝑐</m:t>
                            </m:r>
                          </m:e>
                        </m:d>
                      </m:e>
                    </m:d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=2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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=2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𝑐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𝑤𝑖𝑡h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 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𝑐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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ℤ</m:t>
                    </m:r>
                    <m:r>
                      <a:rPr lang="en-US" sz="20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}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. </m:t>
                    </m:r>
                  </m:oMath>
                </a14:m>
                <a:endParaRPr lang="en-US" sz="2000" b="0" dirty="0">
                  <a:sym typeface="Symbol" panose="05050102010706020507" pitchFamily="18" charset="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sym typeface="Symbol" panose="05050102010706020507" pitchFamily="18" charset="2"/>
                  </a:rPr>
                  <a:t>The degree of R is 3, so its elements are triples.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sym typeface="Symbol" panose="05050102010706020507" pitchFamily="18" charset="2"/>
                  </a:rPr>
                  <a:t>Its domains are all equal to the set of integers.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4, 2, 1</m:t>
                          </m:r>
                        </m:e>
                      </m:d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∈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 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𝑎𝑛𝑑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2, 4, 8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.</m:t>
                      </m:r>
                    </m:oMath>
                  </m:oMathPara>
                </a14:m>
                <a:endParaRPr lang="en-US" sz="2000" dirty="0">
                  <a:sym typeface="Symbol" panose="05050102010706020507" pitchFamily="18" charset="2"/>
                </a:endParaRP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460319"/>
                <a:ext cx="8229600" cy="2092881"/>
              </a:xfrm>
              <a:prstGeom prst="rect">
                <a:avLst/>
              </a:prstGeom>
              <a:blipFill>
                <a:blip r:embed="rId3"/>
                <a:stretch>
                  <a:fillRect l="-741" t="-17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572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UCSC Masters 1">
      <a:majorFont>
        <a:latin typeface="DINPro-Bold"/>
        <a:ea typeface=""/>
        <a:cs typeface=""/>
      </a:majorFont>
      <a:minorFont>
        <a:latin typeface="DINPro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6171</TotalTime>
  <Words>3302</Words>
  <Application>Microsoft Office PowerPoint</Application>
  <PresentationFormat>On-screen Show (4:3)</PresentationFormat>
  <Paragraphs>324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Cambria Math</vt:lpstr>
      <vt:lpstr>DINPro-Black</vt:lpstr>
      <vt:lpstr>DINPro-Bold</vt:lpstr>
      <vt:lpstr>DINPro-Light</vt:lpstr>
      <vt:lpstr>Symbol</vt:lpstr>
      <vt:lpstr>Office Theme</vt:lpstr>
      <vt:lpstr>Lesson 7: Binary Relations and their Properties</vt:lpstr>
      <vt:lpstr>Cartesian product</vt:lpstr>
      <vt:lpstr>Binary Relations</vt:lpstr>
      <vt:lpstr>Binary Relations on a set</vt:lpstr>
      <vt:lpstr>Example -1</vt:lpstr>
      <vt:lpstr>Relations on a Set</vt:lpstr>
      <vt:lpstr>Properties of Relations</vt:lpstr>
      <vt:lpstr>Example -2</vt:lpstr>
      <vt:lpstr>Solution to Example -2 (R_1)</vt:lpstr>
      <vt:lpstr>Solution to Example -2 (R_2)</vt:lpstr>
      <vt:lpstr>Solution to Example -2 (R_5)</vt:lpstr>
      <vt:lpstr>Example -3</vt:lpstr>
      <vt:lpstr>Solution to Example -3 (R_1)</vt:lpstr>
      <vt:lpstr>Solution to Example -3 (R_5)</vt:lpstr>
      <vt:lpstr>Solution to Example -3 (R_6)</vt:lpstr>
      <vt:lpstr>Combining Relations</vt:lpstr>
      <vt:lpstr>Combining Relations</vt:lpstr>
      <vt:lpstr>Example -5</vt:lpstr>
      <vt:lpstr>Combining Relations</vt:lpstr>
      <vt:lpstr>Example -6</vt:lpstr>
      <vt:lpstr>Combining Relations</vt:lpstr>
      <vt:lpstr>Powers of a Relation</vt:lpstr>
      <vt:lpstr>Application</vt:lpstr>
      <vt:lpstr>Functions as Relations</vt:lpstr>
      <vt:lpstr>n - ary Relations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ucsc</dc:creator>
  <cp:lastModifiedBy>Karunaratne, Damitha</cp:lastModifiedBy>
  <cp:revision>386</cp:revision>
  <dcterms:created xsi:type="dcterms:W3CDTF">2019-07-04T09:03:38Z</dcterms:created>
  <dcterms:modified xsi:type="dcterms:W3CDTF">2025-08-10T23:56:06Z</dcterms:modified>
</cp:coreProperties>
</file>