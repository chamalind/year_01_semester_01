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78"/>
  </p:notesMasterIdLst>
  <p:sldIdLst>
    <p:sldId id="352" r:id="rId2"/>
    <p:sldId id="345" r:id="rId3"/>
    <p:sldId id="315" r:id="rId4"/>
    <p:sldId id="319" r:id="rId5"/>
    <p:sldId id="316" r:id="rId6"/>
    <p:sldId id="368" r:id="rId7"/>
    <p:sldId id="370" r:id="rId8"/>
    <p:sldId id="371" r:id="rId9"/>
    <p:sldId id="374" r:id="rId10"/>
    <p:sldId id="407" r:id="rId11"/>
    <p:sldId id="372" r:id="rId12"/>
    <p:sldId id="389" r:id="rId13"/>
    <p:sldId id="373" r:id="rId14"/>
    <p:sldId id="369" r:id="rId15"/>
    <p:sldId id="318" r:id="rId16"/>
    <p:sldId id="320" r:id="rId17"/>
    <p:sldId id="402" r:id="rId18"/>
    <p:sldId id="343" r:id="rId19"/>
    <p:sldId id="321" r:id="rId20"/>
    <p:sldId id="322" r:id="rId21"/>
    <p:sldId id="388" r:id="rId22"/>
    <p:sldId id="390" r:id="rId23"/>
    <p:sldId id="391" r:id="rId24"/>
    <p:sldId id="392" r:id="rId25"/>
    <p:sldId id="323" r:id="rId26"/>
    <p:sldId id="405" r:id="rId27"/>
    <p:sldId id="382" r:id="rId28"/>
    <p:sldId id="404" r:id="rId29"/>
    <p:sldId id="344" r:id="rId30"/>
    <p:sldId id="326" r:id="rId31"/>
    <p:sldId id="328" r:id="rId32"/>
    <p:sldId id="393" r:id="rId33"/>
    <p:sldId id="394" r:id="rId34"/>
    <p:sldId id="375" r:id="rId35"/>
    <p:sldId id="376" r:id="rId36"/>
    <p:sldId id="377" r:id="rId37"/>
    <p:sldId id="378" r:id="rId38"/>
    <p:sldId id="379" r:id="rId39"/>
    <p:sldId id="327" r:id="rId40"/>
    <p:sldId id="395" r:id="rId41"/>
    <p:sldId id="396" r:id="rId42"/>
    <p:sldId id="397" r:id="rId43"/>
    <p:sldId id="329" r:id="rId44"/>
    <p:sldId id="348" r:id="rId45"/>
    <p:sldId id="331" r:id="rId46"/>
    <p:sldId id="399" r:id="rId47"/>
    <p:sldId id="398" r:id="rId48"/>
    <p:sldId id="346" r:id="rId49"/>
    <p:sldId id="347" r:id="rId50"/>
    <p:sldId id="332" r:id="rId51"/>
    <p:sldId id="333" r:id="rId52"/>
    <p:sldId id="334" r:id="rId53"/>
    <p:sldId id="335" r:id="rId54"/>
    <p:sldId id="381" r:id="rId55"/>
    <p:sldId id="336" r:id="rId56"/>
    <p:sldId id="380" r:id="rId57"/>
    <p:sldId id="337" r:id="rId58"/>
    <p:sldId id="353" r:id="rId59"/>
    <p:sldId id="355" r:id="rId60"/>
    <p:sldId id="356" r:id="rId61"/>
    <p:sldId id="338" r:id="rId62"/>
    <p:sldId id="339" r:id="rId63"/>
    <p:sldId id="349" r:id="rId64"/>
    <p:sldId id="340" r:id="rId65"/>
    <p:sldId id="383" r:id="rId66"/>
    <p:sldId id="406" r:id="rId67"/>
    <p:sldId id="384" r:id="rId68"/>
    <p:sldId id="385" r:id="rId69"/>
    <p:sldId id="386" r:id="rId70"/>
    <p:sldId id="387" r:id="rId71"/>
    <p:sldId id="341" r:id="rId72"/>
    <p:sldId id="351" r:id="rId73"/>
    <p:sldId id="350" r:id="rId74"/>
    <p:sldId id="342" r:id="rId75"/>
    <p:sldId id="367" r:id="rId76"/>
    <p:sldId id="401" r:id="rId7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52" d="100"/>
          <a:sy n="52" d="100"/>
        </p:scale>
        <p:origin x="1668" y="72"/>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notesMaster" Target="notesMasters/notesMaster1.xml"/><Relationship Id="rId8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C378639-0D19-45B0-A86B-EC65E962A62A}" type="datetimeFigureOut">
              <a:rPr lang="en-US" smtClean="0"/>
              <a:t>4/27/2026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DED4BB1-ADCC-4275-BBC4-8A0D60650175}" type="slidenum">
              <a:rPr lang="en-US" smtClean="0"/>
              <a:t>‹#›</a:t>
            </a:fld>
            <a:endParaRPr lang="en-US"/>
          </a:p>
        </p:txBody>
      </p:sp>
    </p:spTree>
    <p:extLst>
      <p:ext uri="{BB962C8B-B14F-4D97-AF65-F5344CB8AC3E}">
        <p14:creationId xmlns:p14="http://schemas.microsoft.com/office/powerpoint/2010/main" val="9863188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ADED4BB1-ADCC-4275-BBC4-8A0D60650175}" type="slidenum">
              <a:rPr lang="en-US" smtClean="0"/>
              <a:t>2</a:t>
            </a:fld>
            <a:endParaRPr lang="en-US"/>
          </a:p>
        </p:txBody>
      </p:sp>
    </p:spTree>
    <p:extLst>
      <p:ext uri="{BB962C8B-B14F-4D97-AF65-F5344CB8AC3E}">
        <p14:creationId xmlns:p14="http://schemas.microsoft.com/office/powerpoint/2010/main" val="131122774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ADED4BB1-ADCC-4275-BBC4-8A0D60650175}" type="slidenum">
              <a:rPr lang="en-US" smtClean="0"/>
              <a:t>3</a:t>
            </a:fld>
            <a:endParaRPr lang="en-US"/>
          </a:p>
        </p:txBody>
      </p:sp>
    </p:spTree>
    <p:extLst>
      <p:ext uri="{BB962C8B-B14F-4D97-AF65-F5344CB8AC3E}">
        <p14:creationId xmlns:p14="http://schemas.microsoft.com/office/powerpoint/2010/main" val="397061732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13" name="Rectangle 12"/>
          <p:cNvSpPr/>
          <p:nvPr userDrawn="1"/>
        </p:nvSpPr>
        <p:spPr>
          <a:xfrm>
            <a:off x="0" y="0"/>
            <a:ext cx="9144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userDrawn="1"/>
        </p:nvSpPr>
        <p:spPr>
          <a:xfrm>
            <a:off x="0" y="0"/>
            <a:ext cx="9144000" cy="4267200"/>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hasCustomPrompt="1"/>
          </p:nvPr>
        </p:nvSpPr>
        <p:spPr>
          <a:xfrm>
            <a:off x="685800" y="2286000"/>
            <a:ext cx="7772400" cy="460375"/>
          </a:xfrm>
        </p:spPr>
        <p:txBody>
          <a:bodyPr>
            <a:normAutofit/>
          </a:bodyPr>
          <a:lstStyle>
            <a:lvl1pPr algn="ctr">
              <a:defRPr sz="2000" baseline="0"/>
            </a:lvl1pPr>
          </a:lstStyle>
          <a:p>
            <a:r>
              <a:rPr lang="en-US" dirty="0"/>
              <a:t>&lt;COURSE CODE &amp; COURSE NAME&gt;</a:t>
            </a:r>
          </a:p>
        </p:txBody>
      </p:sp>
      <p:sp>
        <p:nvSpPr>
          <p:cNvPr id="3" name="Subtitle 2"/>
          <p:cNvSpPr>
            <a:spLocks noGrp="1"/>
          </p:cNvSpPr>
          <p:nvPr>
            <p:ph type="subTitle" idx="1" hasCustomPrompt="1"/>
          </p:nvPr>
        </p:nvSpPr>
        <p:spPr>
          <a:xfrm>
            <a:off x="685800" y="3352800"/>
            <a:ext cx="7772400" cy="381000"/>
          </a:xfrm>
        </p:spPr>
        <p:txBody>
          <a:bodyPr anchor="b">
            <a:normAutofit/>
          </a:bodyPr>
          <a:lstStyle>
            <a:lvl1pPr marL="0" indent="0" algn="ctr">
              <a:buNone/>
              <a:defRPr sz="2800">
                <a:solidFill>
                  <a:schemeClr val="bg1"/>
                </a:solidFill>
                <a:latin typeface="+mn-lt"/>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pPr algn="ctr"/>
            <a:r>
              <a:rPr lang="en-US" sz="2400" b="1" dirty="0">
                <a:solidFill>
                  <a:schemeClr val="bg1"/>
                </a:solidFill>
              </a:rPr>
              <a:t>&lt;Handout #&gt; - &lt;Topic&gt;</a:t>
            </a:r>
          </a:p>
        </p:txBody>
      </p:sp>
      <p:sp>
        <p:nvSpPr>
          <p:cNvPr id="8" name="TextBox 7"/>
          <p:cNvSpPr txBox="1"/>
          <p:nvPr userDrawn="1"/>
        </p:nvSpPr>
        <p:spPr>
          <a:xfrm>
            <a:off x="685800" y="457200"/>
            <a:ext cx="7772400" cy="830997"/>
          </a:xfrm>
          <a:prstGeom prst="rect">
            <a:avLst/>
          </a:prstGeom>
          <a:noFill/>
        </p:spPr>
        <p:txBody>
          <a:bodyPr wrap="square" rtlCol="0" anchor="b">
            <a:spAutoFit/>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2400" dirty="0">
                <a:solidFill>
                  <a:schemeClr val="bg1"/>
                </a:solidFill>
                <a:latin typeface="+mn-lt"/>
              </a:rPr>
              <a:t>MASTER</a:t>
            </a:r>
            <a:r>
              <a:rPr lang="en-US" sz="2400" baseline="0" dirty="0">
                <a:solidFill>
                  <a:schemeClr val="bg1"/>
                </a:solidFill>
                <a:latin typeface="+mn-lt"/>
              </a:rPr>
              <a:t> OF COMPUTER SCIENCE/</a:t>
            </a:r>
          </a:p>
          <a:p>
            <a:pPr marL="0" marR="0" indent="0" algn="ctr" defTabSz="914400" rtl="0" eaLnBrk="1" fontAlgn="auto" latinLnBrk="0" hangingPunct="1">
              <a:lnSpc>
                <a:spcPct val="100000"/>
              </a:lnSpc>
              <a:spcBef>
                <a:spcPts val="0"/>
              </a:spcBef>
              <a:spcAft>
                <a:spcPts val="0"/>
              </a:spcAft>
              <a:buClrTx/>
              <a:buSzTx/>
              <a:buFontTx/>
              <a:buNone/>
              <a:tabLst/>
              <a:defRPr/>
            </a:pPr>
            <a:r>
              <a:rPr lang="en-US" sz="2400" dirty="0">
                <a:solidFill>
                  <a:schemeClr val="bg1"/>
                </a:solidFill>
                <a:latin typeface="+mn-lt"/>
              </a:rPr>
              <a:t>MASTER</a:t>
            </a:r>
            <a:r>
              <a:rPr lang="en-US" sz="2400" baseline="0" dirty="0">
                <a:solidFill>
                  <a:schemeClr val="bg1"/>
                </a:solidFill>
                <a:latin typeface="+mn-lt"/>
              </a:rPr>
              <a:t> OF SCIENCE IN COMPUTER SCIENCE</a:t>
            </a:r>
            <a:endParaRPr lang="en-US" sz="2400" dirty="0">
              <a:solidFill>
                <a:schemeClr val="bg1"/>
              </a:solidFill>
              <a:latin typeface="+mn-lt"/>
            </a:endParaRPr>
          </a:p>
        </p:txBody>
      </p:sp>
      <p:sp>
        <p:nvSpPr>
          <p:cNvPr id="17" name="TextBox 16"/>
          <p:cNvSpPr txBox="1"/>
          <p:nvPr userDrawn="1"/>
        </p:nvSpPr>
        <p:spPr>
          <a:xfrm>
            <a:off x="685800" y="6074282"/>
            <a:ext cx="7772400" cy="276999"/>
          </a:xfrm>
          <a:prstGeom prst="rect">
            <a:avLst/>
          </a:prstGeom>
          <a:noFill/>
        </p:spPr>
        <p:txBody>
          <a:bodyPr wrap="square" rtlCol="0">
            <a:spAutoFit/>
          </a:bodyPr>
          <a:lstStyle/>
          <a:p>
            <a:pPr algn="ctr"/>
            <a:r>
              <a:rPr lang="en-US" sz="1200" dirty="0">
                <a:solidFill>
                  <a:schemeClr val="bg2">
                    <a:lumMod val="50000"/>
                  </a:schemeClr>
                </a:solidFill>
                <a:latin typeface="+mn-lt"/>
              </a:rPr>
              <a:t>UNIVERSITY OF COLOMBO SCHOOL OF COMPUTING</a:t>
            </a:r>
          </a:p>
        </p:txBody>
      </p:sp>
      <p:pic>
        <p:nvPicPr>
          <p:cNvPr id="18" name="Picture 17"/>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858000" y="5436882"/>
            <a:ext cx="1269999" cy="952499"/>
          </a:xfrm>
          <a:prstGeom prst="rect">
            <a:avLst/>
          </a:prstGeom>
        </p:spPr>
      </p:pic>
      <p:pic>
        <p:nvPicPr>
          <p:cNvPr id="19" name="Picture 18"/>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371600" y="5410200"/>
            <a:ext cx="800872" cy="941082"/>
          </a:xfrm>
          <a:prstGeom prst="rect">
            <a:avLst/>
          </a:prstGeom>
        </p:spPr>
      </p:pic>
    </p:spTree>
    <p:extLst>
      <p:ext uri="{BB962C8B-B14F-4D97-AF65-F5344CB8AC3E}">
        <p14:creationId xmlns:p14="http://schemas.microsoft.com/office/powerpoint/2010/main" val="41725973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4833C929-C9DD-4C66-BDC9-0D85DE389F8F}" type="datetime3">
              <a:rPr lang="en-US" smtClean="0"/>
              <a:t>27 April 2026</a:t>
            </a:fld>
            <a:endParaRPr lang="en-US"/>
          </a:p>
        </p:txBody>
      </p:sp>
      <p:sp>
        <p:nvSpPr>
          <p:cNvPr id="5" name="Footer Placeholder 4"/>
          <p:cNvSpPr>
            <a:spLocks noGrp="1"/>
          </p:cNvSpPr>
          <p:nvPr>
            <p:ph type="ftr" sz="quarter" idx="11"/>
          </p:nvPr>
        </p:nvSpPr>
        <p:spPr/>
        <p:txBody>
          <a:bodyPr/>
          <a:lstStyle/>
          <a:p>
            <a:r>
              <a:rPr lang="en-US"/>
              <a:t>SCS 1302   Discrete Mathematics 1       Prof. D D Karunaratna</a:t>
            </a:r>
          </a:p>
        </p:txBody>
      </p:sp>
      <p:sp>
        <p:nvSpPr>
          <p:cNvPr id="6" name="Slide Number Placeholder 5"/>
          <p:cNvSpPr>
            <a:spLocks noGrp="1"/>
          </p:cNvSpPr>
          <p:nvPr>
            <p:ph type="sldNum" sz="quarter" idx="12"/>
          </p:nvPr>
        </p:nvSpPr>
        <p:spPr/>
        <p:txBody>
          <a:bodyPr/>
          <a:lstStyle/>
          <a:p>
            <a:fld id="{0CA841A6-7C02-4C92-B6EE-5DBCC2AD53D0}" type="slidenum">
              <a:rPr lang="en-US" smtClean="0"/>
              <a:t>‹#›</a:t>
            </a:fld>
            <a:endParaRPr lang="en-US"/>
          </a:p>
        </p:txBody>
      </p:sp>
    </p:spTree>
    <p:extLst>
      <p:ext uri="{BB962C8B-B14F-4D97-AF65-F5344CB8AC3E}">
        <p14:creationId xmlns:p14="http://schemas.microsoft.com/office/powerpoint/2010/main" val="38872454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10" name="Rectangle 9"/>
          <p:cNvSpPr/>
          <p:nvPr userDrawn="1"/>
        </p:nvSpPr>
        <p:spPr>
          <a:xfrm>
            <a:off x="0" y="0"/>
            <a:ext cx="9144000" cy="3429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userDrawn="1"/>
        </p:nvSpPr>
        <p:spPr>
          <a:xfrm>
            <a:off x="0" y="3429000"/>
            <a:ext cx="9144000" cy="2540000"/>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hasCustomPrompt="1"/>
          </p:nvPr>
        </p:nvSpPr>
        <p:spPr>
          <a:xfrm>
            <a:off x="722313" y="2906713"/>
            <a:ext cx="7772400" cy="446087"/>
          </a:xfrm>
        </p:spPr>
        <p:txBody>
          <a:bodyPr anchor="b">
            <a:noAutofit/>
          </a:bodyPr>
          <a:lstStyle>
            <a:lvl1pPr marL="0" indent="0">
              <a:buNone/>
              <a:defRPr sz="2400">
                <a:solidFill>
                  <a:schemeClr val="bg2">
                    <a:lumMod val="50000"/>
                  </a:schemeClr>
                </a:solidFill>
                <a:latin typeface="DINPro-Black" pitchFamily="2" charset="0"/>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1407B001-FE5F-4E57-8C54-891D4C62D32B}" type="datetime3">
              <a:rPr lang="en-US" smtClean="0"/>
              <a:t>27 April 2026</a:t>
            </a:fld>
            <a:endParaRPr lang="en-US"/>
          </a:p>
        </p:txBody>
      </p:sp>
      <p:sp>
        <p:nvSpPr>
          <p:cNvPr id="5" name="Footer Placeholder 4"/>
          <p:cNvSpPr>
            <a:spLocks noGrp="1"/>
          </p:cNvSpPr>
          <p:nvPr>
            <p:ph type="ftr" sz="quarter" idx="11"/>
          </p:nvPr>
        </p:nvSpPr>
        <p:spPr/>
        <p:txBody>
          <a:bodyPr/>
          <a:lstStyle/>
          <a:p>
            <a:r>
              <a:rPr lang="en-US"/>
              <a:t>SCS 1302   Discrete Mathematics 1       Prof. D D Karunaratna</a:t>
            </a:r>
          </a:p>
        </p:txBody>
      </p:sp>
      <p:sp>
        <p:nvSpPr>
          <p:cNvPr id="6" name="Slide Number Placeholder 5"/>
          <p:cNvSpPr>
            <a:spLocks noGrp="1"/>
          </p:cNvSpPr>
          <p:nvPr>
            <p:ph type="sldNum" sz="quarter" idx="12"/>
          </p:nvPr>
        </p:nvSpPr>
        <p:spPr/>
        <p:txBody>
          <a:bodyPr/>
          <a:lstStyle/>
          <a:p>
            <a:fld id="{0CA841A6-7C02-4C92-B6EE-5DBCC2AD53D0}" type="slidenum">
              <a:rPr lang="en-US" smtClean="0"/>
              <a:t>‹#›</a:t>
            </a:fld>
            <a:endParaRPr lang="en-US"/>
          </a:p>
        </p:txBody>
      </p:sp>
    </p:spTree>
    <p:extLst>
      <p:ext uri="{BB962C8B-B14F-4D97-AF65-F5344CB8AC3E}">
        <p14:creationId xmlns:p14="http://schemas.microsoft.com/office/powerpoint/2010/main" val="20875635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1B06067-EE1B-4E38-A0F2-08AC8596BC4D}" type="datetime3">
              <a:rPr lang="en-US" smtClean="0"/>
              <a:t>27 April 2026</a:t>
            </a:fld>
            <a:endParaRPr lang="en-US"/>
          </a:p>
        </p:txBody>
      </p:sp>
      <p:sp>
        <p:nvSpPr>
          <p:cNvPr id="6" name="Footer Placeholder 5"/>
          <p:cNvSpPr>
            <a:spLocks noGrp="1"/>
          </p:cNvSpPr>
          <p:nvPr>
            <p:ph type="ftr" sz="quarter" idx="11"/>
          </p:nvPr>
        </p:nvSpPr>
        <p:spPr/>
        <p:txBody>
          <a:bodyPr/>
          <a:lstStyle/>
          <a:p>
            <a:r>
              <a:rPr lang="en-US"/>
              <a:t>SCS 1302   Discrete Mathematics 1       Prof. D D Karunaratna</a:t>
            </a:r>
          </a:p>
        </p:txBody>
      </p:sp>
      <p:sp>
        <p:nvSpPr>
          <p:cNvPr id="7" name="Slide Number Placeholder 6"/>
          <p:cNvSpPr>
            <a:spLocks noGrp="1"/>
          </p:cNvSpPr>
          <p:nvPr>
            <p:ph type="sldNum" sz="quarter" idx="12"/>
          </p:nvPr>
        </p:nvSpPr>
        <p:spPr/>
        <p:txBody>
          <a:bodyPr/>
          <a:lstStyle/>
          <a:p>
            <a:fld id="{0CA841A6-7C02-4C92-B6EE-5DBCC2AD53D0}" type="slidenum">
              <a:rPr lang="en-US" smtClean="0"/>
              <a:t>‹#›</a:t>
            </a:fld>
            <a:endParaRPr lang="en-US"/>
          </a:p>
        </p:txBody>
      </p:sp>
    </p:spTree>
    <p:extLst>
      <p:ext uri="{BB962C8B-B14F-4D97-AF65-F5344CB8AC3E}">
        <p14:creationId xmlns:p14="http://schemas.microsoft.com/office/powerpoint/2010/main" val="22561131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dirty="0"/>
              <a:t>CLICK TO EDIT MASTER TITLE STYLE</a:t>
            </a:r>
          </a:p>
        </p:txBody>
      </p:sp>
      <p:sp>
        <p:nvSpPr>
          <p:cNvPr id="3" name="Text Placeholder 2"/>
          <p:cNvSpPr>
            <a:spLocks noGrp="1"/>
          </p:cNvSpPr>
          <p:nvPr>
            <p:ph type="body" idx="1"/>
          </p:nvPr>
        </p:nvSpPr>
        <p:spPr>
          <a:xfrm>
            <a:off x="457200" y="1722438"/>
            <a:ext cx="4040188" cy="639762"/>
          </a:xfrm>
        </p:spPr>
        <p:txBody>
          <a:bodyPr anchor="b"/>
          <a:lstStyle>
            <a:lvl1pPr marL="0" indent="0">
              <a:buNone/>
              <a:defRPr sz="2400" b="1">
                <a:solidFill>
                  <a:schemeClr val="bg2">
                    <a:lumMod val="50000"/>
                  </a:schemeClr>
                </a:solidFill>
                <a:latin typeface="DINPro-Black"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2438400"/>
            <a:ext cx="4040188" cy="368776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722438"/>
            <a:ext cx="4041775" cy="639762"/>
          </a:xfrm>
        </p:spPr>
        <p:txBody>
          <a:bodyPr anchor="b"/>
          <a:lstStyle>
            <a:lvl1pPr marL="0" indent="0">
              <a:buNone/>
              <a:defRPr sz="2400" b="1">
                <a:solidFill>
                  <a:schemeClr val="bg2">
                    <a:lumMod val="50000"/>
                  </a:schemeClr>
                </a:solidFill>
                <a:latin typeface="DINPro-Black" pitchFamily="2" charset="0"/>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645025" y="2438400"/>
            <a:ext cx="4041775" cy="368776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32BF3054-5C70-4742-9FFC-B2E1A2ADC3F3}" type="datetime3">
              <a:rPr lang="en-US" smtClean="0"/>
              <a:t>27 April 2026</a:t>
            </a:fld>
            <a:endParaRPr lang="en-US"/>
          </a:p>
        </p:txBody>
      </p:sp>
      <p:sp>
        <p:nvSpPr>
          <p:cNvPr id="8" name="Footer Placeholder 7"/>
          <p:cNvSpPr>
            <a:spLocks noGrp="1"/>
          </p:cNvSpPr>
          <p:nvPr>
            <p:ph type="ftr" sz="quarter" idx="11"/>
          </p:nvPr>
        </p:nvSpPr>
        <p:spPr/>
        <p:txBody>
          <a:bodyPr/>
          <a:lstStyle/>
          <a:p>
            <a:r>
              <a:rPr lang="en-US"/>
              <a:t>SCS 1302   Discrete Mathematics 1       Prof. D D Karunaratna</a:t>
            </a:r>
          </a:p>
        </p:txBody>
      </p:sp>
      <p:sp>
        <p:nvSpPr>
          <p:cNvPr id="9" name="Slide Number Placeholder 8"/>
          <p:cNvSpPr>
            <a:spLocks noGrp="1"/>
          </p:cNvSpPr>
          <p:nvPr>
            <p:ph type="sldNum" sz="quarter" idx="12"/>
          </p:nvPr>
        </p:nvSpPr>
        <p:spPr/>
        <p:txBody>
          <a:bodyPr/>
          <a:lstStyle/>
          <a:p>
            <a:fld id="{0CA841A6-7C02-4C92-B6EE-5DBCC2AD53D0}" type="slidenum">
              <a:rPr lang="en-US" smtClean="0"/>
              <a:t>‹#›</a:t>
            </a:fld>
            <a:endParaRPr lang="en-US"/>
          </a:p>
        </p:txBody>
      </p:sp>
    </p:spTree>
    <p:extLst>
      <p:ext uri="{BB962C8B-B14F-4D97-AF65-F5344CB8AC3E}">
        <p14:creationId xmlns:p14="http://schemas.microsoft.com/office/powerpoint/2010/main" val="7800102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4C6A516A-962D-4289-8F89-76DAE0CDDE74}" type="datetime3">
              <a:rPr lang="en-US" smtClean="0"/>
              <a:t>27 April 2026</a:t>
            </a:fld>
            <a:endParaRPr lang="en-US"/>
          </a:p>
        </p:txBody>
      </p:sp>
      <p:sp>
        <p:nvSpPr>
          <p:cNvPr id="4" name="Footer Placeholder 3"/>
          <p:cNvSpPr>
            <a:spLocks noGrp="1"/>
          </p:cNvSpPr>
          <p:nvPr>
            <p:ph type="ftr" sz="quarter" idx="11"/>
          </p:nvPr>
        </p:nvSpPr>
        <p:spPr/>
        <p:txBody>
          <a:bodyPr/>
          <a:lstStyle/>
          <a:p>
            <a:r>
              <a:rPr lang="en-US"/>
              <a:t>SCS 1302   Discrete Mathematics 1       Prof. D D Karunaratna</a:t>
            </a:r>
          </a:p>
        </p:txBody>
      </p:sp>
      <p:sp>
        <p:nvSpPr>
          <p:cNvPr id="5" name="Slide Number Placeholder 4"/>
          <p:cNvSpPr>
            <a:spLocks noGrp="1"/>
          </p:cNvSpPr>
          <p:nvPr>
            <p:ph type="sldNum" sz="quarter" idx="12"/>
          </p:nvPr>
        </p:nvSpPr>
        <p:spPr/>
        <p:txBody>
          <a:bodyPr/>
          <a:lstStyle/>
          <a:p>
            <a:fld id="{0CA841A6-7C02-4C92-B6EE-5DBCC2AD53D0}" type="slidenum">
              <a:rPr lang="en-US" smtClean="0"/>
              <a:t>‹#›</a:t>
            </a:fld>
            <a:endParaRPr lang="en-US"/>
          </a:p>
        </p:txBody>
      </p:sp>
    </p:spTree>
    <p:extLst>
      <p:ext uri="{BB962C8B-B14F-4D97-AF65-F5344CB8AC3E}">
        <p14:creationId xmlns:p14="http://schemas.microsoft.com/office/powerpoint/2010/main" val="21249120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DF2CC76-630B-4366-9681-58410EF99AE3}" type="datetime3">
              <a:rPr lang="en-US" smtClean="0"/>
              <a:t>27 April 2026</a:t>
            </a:fld>
            <a:endParaRPr lang="en-US"/>
          </a:p>
        </p:txBody>
      </p:sp>
      <p:sp>
        <p:nvSpPr>
          <p:cNvPr id="3" name="Footer Placeholder 2"/>
          <p:cNvSpPr>
            <a:spLocks noGrp="1"/>
          </p:cNvSpPr>
          <p:nvPr>
            <p:ph type="ftr" sz="quarter" idx="11"/>
          </p:nvPr>
        </p:nvSpPr>
        <p:spPr/>
        <p:txBody>
          <a:bodyPr/>
          <a:lstStyle/>
          <a:p>
            <a:r>
              <a:rPr lang="en-US"/>
              <a:t>SCS 1302   Discrete Mathematics 1       Prof. D D Karunaratna</a:t>
            </a:r>
          </a:p>
        </p:txBody>
      </p:sp>
      <p:sp>
        <p:nvSpPr>
          <p:cNvPr id="4" name="Slide Number Placeholder 3"/>
          <p:cNvSpPr>
            <a:spLocks noGrp="1"/>
          </p:cNvSpPr>
          <p:nvPr>
            <p:ph type="sldNum" sz="quarter" idx="12"/>
          </p:nvPr>
        </p:nvSpPr>
        <p:spPr/>
        <p:txBody>
          <a:bodyPr/>
          <a:lstStyle/>
          <a:p>
            <a:fld id="{0CA841A6-7C02-4C92-B6EE-5DBCC2AD53D0}" type="slidenum">
              <a:rPr lang="en-US" smtClean="0"/>
              <a:t>‹#›</a:t>
            </a:fld>
            <a:endParaRPr lang="en-US"/>
          </a:p>
        </p:txBody>
      </p:sp>
      <p:sp>
        <p:nvSpPr>
          <p:cNvPr id="5" name="Rectangle 4"/>
          <p:cNvSpPr/>
          <p:nvPr userDrawn="1"/>
        </p:nvSpPr>
        <p:spPr>
          <a:xfrm>
            <a:off x="0" y="0"/>
            <a:ext cx="9144000" cy="6172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191795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userDrawn="1"/>
        </p:nvSpPr>
        <p:spPr>
          <a:xfrm>
            <a:off x="0" y="0"/>
            <a:ext cx="9144000" cy="6172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457200" y="273050"/>
            <a:ext cx="3008313" cy="1162050"/>
          </a:xfrm>
        </p:spPr>
        <p:txBody>
          <a:bodyPr anchor="b">
            <a:normAutofit/>
          </a:bodyPr>
          <a:lstStyle>
            <a:lvl1pPr algn="l">
              <a:defRPr sz="2400" b="1">
                <a:solidFill>
                  <a:schemeClr val="bg2">
                    <a:lumMod val="50000"/>
                  </a:schemeClr>
                </a:solidFill>
                <a:latin typeface="DINPro-Black" pitchFamily="2" charset="0"/>
              </a:defRPr>
            </a:lvl1pPr>
          </a:lstStyle>
          <a:p>
            <a:r>
              <a:rPr lang="en-US" dirty="0"/>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676400"/>
            <a:ext cx="3008313" cy="44497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D29AAA5C-1AC7-4F50-B0A2-966063B87A9D}" type="datetime3">
              <a:rPr lang="en-US" smtClean="0"/>
              <a:t>27 April 2026</a:t>
            </a:fld>
            <a:endParaRPr lang="en-US"/>
          </a:p>
        </p:txBody>
      </p:sp>
      <p:sp>
        <p:nvSpPr>
          <p:cNvPr id="6" name="Footer Placeholder 5"/>
          <p:cNvSpPr>
            <a:spLocks noGrp="1"/>
          </p:cNvSpPr>
          <p:nvPr>
            <p:ph type="ftr" sz="quarter" idx="11"/>
          </p:nvPr>
        </p:nvSpPr>
        <p:spPr/>
        <p:txBody>
          <a:bodyPr/>
          <a:lstStyle/>
          <a:p>
            <a:r>
              <a:rPr lang="en-US"/>
              <a:t>SCS 1302   Discrete Mathematics 1       Prof. D D Karunaratna</a:t>
            </a:r>
          </a:p>
        </p:txBody>
      </p:sp>
      <p:sp>
        <p:nvSpPr>
          <p:cNvPr id="7" name="Slide Number Placeholder 6"/>
          <p:cNvSpPr>
            <a:spLocks noGrp="1"/>
          </p:cNvSpPr>
          <p:nvPr>
            <p:ph type="sldNum" sz="quarter" idx="12"/>
          </p:nvPr>
        </p:nvSpPr>
        <p:spPr/>
        <p:txBody>
          <a:bodyPr/>
          <a:lstStyle/>
          <a:p>
            <a:fld id="{0CA841A6-7C02-4C92-B6EE-5DBCC2AD53D0}" type="slidenum">
              <a:rPr lang="en-US" smtClean="0"/>
              <a:t>‹#›</a:t>
            </a:fld>
            <a:endParaRPr lang="en-US"/>
          </a:p>
        </p:txBody>
      </p:sp>
    </p:spTree>
    <p:extLst>
      <p:ext uri="{BB962C8B-B14F-4D97-AF65-F5344CB8AC3E}">
        <p14:creationId xmlns:p14="http://schemas.microsoft.com/office/powerpoint/2010/main" val="14636130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userDrawn="1"/>
        </p:nvSpPr>
        <p:spPr>
          <a:xfrm>
            <a:off x="0" y="0"/>
            <a:ext cx="9144000" cy="6172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792288" y="4800600"/>
            <a:ext cx="5486400" cy="566738"/>
          </a:xfrm>
        </p:spPr>
        <p:txBody>
          <a:bodyPr anchor="b"/>
          <a:lstStyle>
            <a:lvl1pPr algn="ctr">
              <a:defRPr sz="2000" b="1">
                <a:solidFill>
                  <a:schemeClr val="bg2">
                    <a:lumMod val="50000"/>
                  </a:schemeClr>
                </a:solidFill>
                <a:latin typeface="DINPro-Black" pitchFamily="2" charset="0"/>
              </a:defRPr>
            </a:lvl1pPr>
          </a:lstStyle>
          <a:p>
            <a:r>
              <a:rPr lang="en-US" dirty="0"/>
              <a:t>Click to edit Master title style</a:t>
            </a:r>
          </a:p>
        </p:txBody>
      </p:sp>
      <p:sp>
        <p:nvSpPr>
          <p:cNvPr id="3" name="Picture Placeholder 2"/>
          <p:cNvSpPr>
            <a:spLocks noGrp="1"/>
          </p:cNvSpPr>
          <p:nvPr>
            <p:ph type="pic" idx="1" hasCustomPrompt="1"/>
          </p:nvPr>
        </p:nvSpPr>
        <p:spPr>
          <a:xfrm>
            <a:off x="1792288" y="612775"/>
            <a:ext cx="5486400" cy="4114800"/>
          </a:xfrm>
        </p:spPr>
        <p:txBody>
          <a:bodyPr/>
          <a:lstStyle>
            <a:lvl1pPr marL="0" indent="0">
              <a:buNone/>
              <a:defRPr sz="3200" baseline="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07E3DA51-AAAA-4607-92B1-596A7D77A38F}" type="datetime3">
              <a:rPr lang="en-US" smtClean="0"/>
              <a:t>27 April 2026</a:t>
            </a:fld>
            <a:endParaRPr lang="en-US"/>
          </a:p>
        </p:txBody>
      </p:sp>
      <p:sp>
        <p:nvSpPr>
          <p:cNvPr id="6" name="Footer Placeholder 5"/>
          <p:cNvSpPr>
            <a:spLocks noGrp="1"/>
          </p:cNvSpPr>
          <p:nvPr>
            <p:ph type="ftr" sz="quarter" idx="11"/>
          </p:nvPr>
        </p:nvSpPr>
        <p:spPr/>
        <p:txBody>
          <a:bodyPr/>
          <a:lstStyle/>
          <a:p>
            <a:r>
              <a:rPr lang="en-US"/>
              <a:t>SCS 1302   Discrete Mathematics 1       Prof. D D Karunaratna</a:t>
            </a:r>
          </a:p>
        </p:txBody>
      </p:sp>
      <p:sp>
        <p:nvSpPr>
          <p:cNvPr id="7" name="Slide Number Placeholder 6"/>
          <p:cNvSpPr>
            <a:spLocks noGrp="1"/>
          </p:cNvSpPr>
          <p:nvPr>
            <p:ph type="sldNum" sz="quarter" idx="12"/>
          </p:nvPr>
        </p:nvSpPr>
        <p:spPr/>
        <p:txBody>
          <a:bodyPr/>
          <a:lstStyle/>
          <a:p>
            <a:fld id="{0CA841A6-7C02-4C92-B6EE-5DBCC2AD53D0}" type="slidenum">
              <a:rPr lang="en-US" smtClean="0"/>
              <a:t>‹#›</a:t>
            </a:fld>
            <a:endParaRPr lang="en-US"/>
          </a:p>
        </p:txBody>
      </p:sp>
    </p:spTree>
    <p:extLst>
      <p:ext uri="{BB962C8B-B14F-4D97-AF65-F5344CB8AC3E}">
        <p14:creationId xmlns:p14="http://schemas.microsoft.com/office/powerpoint/2010/main" val="40202634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D4EAF687-2AC1-4AFD-A981-BF1BA6ED2501}" type="datetime3">
              <a:rPr lang="en-US" smtClean="0"/>
              <a:t>27 April 2026</a:t>
            </a:fld>
            <a:endParaRPr lang="en-US" dirty="0"/>
          </a:p>
        </p:txBody>
      </p:sp>
      <p:sp>
        <p:nvSpPr>
          <p:cNvPr id="4" name="Footer Placeholder 3"/>
          <p:cNvSpPr>
            <a:spLocks noGrp="1"/>
          </p:cNvSpPr>
          <p:nvPr>
            <p:ph type="ftr" sz="quarter" idx="11"/>
          </p:nvPr>
        </p:nvSpPr>
        <p:spPr/>
        <p:txBody>
          <a:bodyPr/>
          <a:lstStyle/>
          <a:p>
            <a:r>
              <a:rPr lang="en-US"/>
              <a:t>SCS 1302   Discrete Mathematics 1       Prof. D D Karunaratna</a:t>
            </a:r>
            <a:endParaRPr lang="en-US" dirty="0"/>
          </a:p>
        </p:txBody>
      </p:sp>
      <p:sp>
        <p:nvSpPr>
          <p:cNvPr id="5" name="Slide Number Placeholder 4"/>
          <p:cNvSpPr>
            <a:spLocks noGrp="1"/>
          </p:cNvSpPr>
          <p:nvPr>
            <p:ph type="sldNum" sz="quarter" idx="12"/>
          </p:nvPr>
        </p:nvSpPr>
        <p:spPr/>
        <p:txBody>
          <a:bodyPr/>
          <a:lstStyle/>
          <a:p>
            <a:r>
              <a:rPr lang="en-US"/>
              <a:t>|       </a:t>
            </a:r>
            <a:fld id="{0CA841A6-7C02-4C92-B6EE-5DBCC2AD53D0}" type="slidenum">
              <a:rPr lang="en-US" smtClean="0"/>
              <a:pPr/>
              <a:t>‹#›</a:t>
            </a:fld>
            <a:endParaRPr lang="en-US" dirty="0"/>
          </a:p>
        </p:txBody>
      </p:sp>
      <p:sp>
        <p:nvSpPr>
          <p:cNvPr id="16" name="Text Placeholder 15"/>
          <p:cNvSpPr>
            <a:spLocks noGrp="1"/>
          </p:cNvSpPr>
          <p:nvPr>
            <p:ph type="body" sz="quarter" idx="14"/>
          </p:nvPr>
        </p:nvSpPr>
        <p:spPr>
          <a:xfrm>
            <a:off x="457200" y="1676400"/>
            <a:ext cx="4038600" cy="4419600"/>
          </a:xfrm>
        </p:spPr>
        <p:txBody>
          <a:bodyPr/>
          <a:lstStyle>
            <a:lvl1pPr>
              <a:defRPr sz="2000"/>
            </a:lvl1pPr>
            <a:lvl2pPr>
              <a:defRPr sz="1800"/>
            </a:lvl2pPr>
            <a:lvl3pPr>
              <a:defRPr sz="16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Picture Placeholder 6"/>
          <p:cNvSpPr>
            <a:spLocks noGrp="1"/>
          </p:cNvSpPr>
          <p:nvPr>
            <p:ph type="pic" sz="quarter" idx="15" hasCustomPrompt="1"/>
          </p:nvPr>
        </p:nvSpPr>
        <p:spPr>
          <a:xfrm>
            <a:off x="4648200" y="1676400"/>
            <a:ext cx="4038600" cy="4419600"/>
          </a:xfrm>
        </p:spPr>
        <p:txBody>
          <a:bodyPr/>
          <a:lstStyle>
            <a:lvl1pPr marL="0" indent="0">
              <a:buNone/>
              <a:defRPr/>
            </a:lvl1pPr>
          </a:lstStyle>
          <a:p>
            <a:r>
              <a:rPr lang="en-US" dirty="0"/>
              <a:t>Click icon to add Picture</a:t>
            </a:r>
          </a:p>
        </p:txBody>
      </p:sp>
    </p:spTree>
    <p:extLst>
      <p:ext uri="{BB962C8B-B14F-4D97-AF65-F5344CB8AC3E}">
        <p14:creationId xmlns:p14="http://schemas.microsoft.com/office/powerpoint/2010/main" val="22034450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Picture with Caption">
    <p:spTree>
      <p:nvGrpSpPr>
        <p:cNvPr id="1" name=""/>
        <p:cNvGrpSpPr/>
        <p:nvPr/>
      </p:nvGrpSpPr>
      <p:grpSpPr>
        <a:xfrm>
          <a:off x="0" y="0"/>
          <a:ext cx="0" cy="0"/>
          <a:chOff x="0" y="0"/>
          <a:chExt cx="0" cy="0"/>
        </a:xfrm>
      </p:grpSpPr>
      <p:sp>
        <p:nvSpPr>
          <p:cNvPr id="8" name="Rectangle 7"/>
          <p:cNvSpPr/>
          <p:nvPr userDrawn="1"/>
        </p:nvSpPr>
        <p:spPr>
          <a:xfrm>
            <a:off x="0" y="0"/>
            <a:ext cx="9144000" cy="6172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792288" y="4800600"/>
            <a:ext cx="5486400" cy="566738"/>
          </a:xfrm>
        </p:spPr>
        <p:txBody>
          <a:bodyPr anchor="b"/>
          <a:lstStyle>
            <a:lvl1pPr algn="ctr">
              <a:defRPr sz="2000" b="1">
                <a:solidFill>
                  <a:schemeClr val="bg2">
                    <a:lumMod val="50000"/>
                  </a:schemeClr>
                </a:solidFill>
                <a:latin typeface="DINPro-Black" pitchFamily="2" charset="0"/>
              </a:defRPr>
            </a:lvl1pPr>
          </a:lstStyle>
          <a:p>
            <a:r>
              <a:rPr lang="en-US" dirty="0"/>
              <a:t>Click to edit Master title style</a:t>
            </a:r>
          </a:p>
        </p:txBody>
      </p:sp>
      <p:sp>
        <p:nvSpPr>
          <p:cNvPr id="4" name="Text Placeholder 3"/>
          <p:cNvSpPr>
            <a:spLocks noGrp="1"/>
          </p:cNvSpPr>
          <p:nvPr>
            <p:ph type="body" sz="half" idx="2"/>
          </p:nvPr>
        </p:nvSpPr>
        <p:spPr>
          <a:xfrm>
            <a:off x="1792288" y="5367338"/>
            <a:ext cx="5486400" cy="804862"/>
          </a:xfrm>
        </p:spPr>
        <p:txBody>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506BA11E-3596-4090-A206-14D3F4CB937E}" type="datetime3">
              <a:rPr lang="en-US" smtClean="0"/>
              <a:t>27 April 2026</a:t>
            </a:fld>
            <a:endParaRPr lang="en-US"/>
          </a:p>
        </p:txBody>
      </p:sp>
      <p:sp>
        <p:nvSpPr>
          <p:cNvPr id="6" name="Footer Placeholder 5"/>
          <p:cNvSpPr>
            <a:spLocks noGrp="1"/>
          </p:cNvSpPr>
          <p:nvPr>
            <p:ph type="ftr" sz="quarter" idx="11"/>
          </p:nvPr>
        </p:nvSpPr>
        <p:spPr/>
        <p:txBody>
          <a:bodyPr/>
          <a:lstStyle/>
          <a:p>
            <a:r>
              <a:rPr lang="en-US"/>
              <a:t>SCS 1302   Discrete Mathematics 1       Prof. D D Karunaratna</a:t>
            </a:r>
          </a:p>
        </p:txBody>
      </p:sp>
      <p:sp>
        <p:nvSpPr>
          <p:cNvPr id="7" name="Slide Number Placeholder 6"/>
          <p:cNvSpPr>
            <a:spLocks noGrp="1"/>
          </p:cNvSpPr>
          <p:nvPr>
            <p:ph type="sldNum" sz="quarter" idx="12"/>
          </p:nvPr>
        </p:nvSpPr>
        <p:spPr/>
        <p:txBody>
          <a:bodyPr/>
          <a:lstStyle/>
          <a:p>
            <a:fld id="{0CA841A6-7C02-4C92-B6EE-5DBCC2AD53D0}" type="slidenum">
              <a:rPr lang="en-US" smtClean="0"/>
              <a:t>‹#›</a:t>
            </a:fld>
            <a:endParaRPr lang="en-US"/>
          </a:p>
        </p:txBody>
      </p:sp>
      <p:sp>
        <p:nvSpPr>
          <p:cNvPr id="10" name="Chart Placeholder 9"/>
          <p:cNvSpPr>
            <a:spLocks noGrp="1"/>
          </p:cNvSpPr>
          <p:nvPr>
            <p:ph type="chart" sz="quarter" idx="13" hasCustomPrompt="1"/>
          </p:nvPr>
        </p:nvSpPr>
        <p:spPr>
          <a:xfrm>
            <a:off x="1828800" y="609600"/>
            <a:ext cx="5410200" cy="4114800"/>
          </a:xfrm>
        </p:spPr>
        <p:txBody>
          <a:bodyPr/>
          <a:lstStyle>
            <a:lvl1pPr marL="0" indent="0">
              <a:buNone/>
              <a:defRPr/>
            </a:lvl1pPr>
          </a:lstStyle>
          <a:p>
            <a:r>
              <a:rPr lang="en-US" dirty="0"/>
              <a:t>Click icon to add Chart</a:t>
            </a:r>
          </a:p>
        </p:txBody>
      </p:sp>
    </p:spTree>
    <p:extLst>
      <p:ext uri="{BB962C8B-B14F-4D97-AF65-F5344CB8AC3E}">
        <p14:creationId xmlns:p14="http://schemas.microsoft.com/office/powerpoint/2010/main" val="370027365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B63FFEB0-A5A8-4A4A-9FB1-9DCC95DA0C7A}" type="datetime3">
              <a:rPr lang="en-US" smtClean="0"/>
              <a:t>27 April 2026</a:t>
            </a:fld>
            <a:endParaRPr lang="en-US" dirty="0"/>
          </a:p>
        </p:txBody>
      </p:sp>
      <p:sp>
        <p:nvSpPr>
          <p:cNvPr id="4" name="Footer Placeholder 3"/>
          <p:cNvSpPr>
            <a:spLocks noGrp="1"/>
          </p:cNvSpPr>
          <p:nvPr>
            <p:ph type="ftr" sz="quarter" idx="11"/>
          </p:nvPr>
        </p:nvSpPr>
        <p:spPr/>
        <p:txBody>
          <a:bodyPr/>
          <a:lstStyle/>
          <a:p>
            <a:r>
              <a:rPr lang="en-US"/>
              <a:t>SCS 1302   Discrete Mathematics 1       Prof. D D Karunaratna</a:t>
            </a:r>
            <a:endParaRPr lang="en-US" dirty="0"/>
          </a:p>
        </p:txBody>
      </p:sp>
      <p:sp>
        <p:nvSpPr>
          <p:cNvPr id="5" name="Slide Number Placeholder 4"/>
          <p:cNvSpPr>
            <a:spLocks noGrp="1"/>
          </p:cNvSpPr>
          <p:nvPr>
            <p:ph type="sldNum" sz="quarter" idx="12"/>
          </p:nvPr>
        </p:nvSpPr>
        <p:spPr/>
        <p:txBody>
          <a:bodyPr/>
          <a:lstStyle/>
          <a:p>
            <a:r>
              <a:rPr lang="en-US"/>
              <a:t>|       </a:t>
            </a:r>
            <a:fld id="{0CA841A6-7C02-4C92-B6EE-5DBCC2AD53D0}" type="slidenum">
              <a:rPr lang="en-US" smtClean="0"/>
              <a:pPr/>
              <a:t>‹#›</a:t>
            </a:fld>
            <a:endParaRPr lang="en-US" dirty="0"/>
          </a:p>
        </p:txBody>
      </p:sp>
      <p:sp>
        <p:nvSpPr>
          <p:cNvPr id="12" name="Chart Placeholder 11"/>
          <p:cNvSpPr>
            <a:spLocks noGrp="1"/>
          </p:cNvSpPr>
          <p:nvPr>
            <p:ph type="chart" sz="quarter" idx="13" hasCustomPrompt="1"/>
          </p:nvPr>
        </p:nvSpPr>
        <p:spPr>
          <a:xfrm>
            <a:off x="4648200" y="1676400"/>
            <a:ext cx="4038600" cy="4419600"/>
          </a:xfrm>
        </p:spPr>
        <p:txBody>
          <a:bodyPr/>
          <a:lstStyle>
            <a:lvl1pPr marL="0" indent="0">
              <a:buNone/>
              <a:defRPr/>
            </a:lvl1pPr>
          </a:lstStyle>
          <a:p>
            <a:r>
              <a:rPr lang="en-US" dirty="0"/>
              <a:t>Click icon to add Chart</a:t>
            </a:r>
          </a:p>
        </p:txBody>
      </p:sp>
      <p:sp>
        <p:nvSpPr>
          <p:cNvPr id="16" name="Text Placeholder 15"/>
          <p:cNvSpPr>
            <a:spLocks noGrp="1"/>
          </p:cNvSpPr>
          <p:nvPr>
            <p:ph type="body" sz="quarter" idx="14"/>
          </p:nvPr>
        </p:nvSpPr>
        <p:spPr>
          <a:xfrm>
            <a:off x="457200" y="1676400"/>
            <a:ext cx="4038600" cy="4419600"/>
          </a:xfrm>
        </p:spPr>
        <p:txBody>
          <a:bodyPr/>
          <a:lstStyle>
            <a:lvl1pPr>
              <a:defRPr sz="2000"/>
            </a:lvl1pPr>
            <a:lvl2pPr>
              <a:defRPr sz="1800"/>
            </a:lvl2pPr>
            <a:lvl3pPr>
              <a:defRPr sz="16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36019672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Picture with Caption">
    <p:spTree>
      <p:nvGrpSpPr>
        <p:cNvPr id="1" name=""/>
        <p:cNvGrpSpPr/>
        <p:nvPr/>
      </p:nvGrpSpPr>
      <p:grpSpPr>
        <a:xfrm>
          <a:off x="0" y="0"/>
          <a:ext cx="0" cy="0"/>
          <a:chOff x="0" y="0"/>
          <a:chExt cx="0" cy="0"/>
        </a:xfrm>
      </p:grpSpPr>
      <p:sp>
        <p:nvSpPr>
          <p:cNvPr id="8" name="Rectangle 7"/>
          <p:cNvSpPr/>
          <p:nvPr userDrawn="1"/>
        </p:nvSpPr>
        <p:spPr>
          <a:xfrm>
            <a:off x="0" y="0"/>
            <a:ext cx="9144000" cy="6172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792288" y="4800600"/>
            <a:ext cx="5486400" cy="566738"/>
          </a:xfrm>
        </p:spPr>
        <p:txBody>
          <a:bodyPr anchor="b"/>
          <a:lstStyle>
            <a:lvl1pPr algn="ctr">
              <a:defRPr sz="2000" b="1">
                <a:solidFill>
                  <a:schemeClr val="bg2">
                    <a:lumMod val="50000"/>
                  </a:schemeClr>
                </a:solidFill>
                <a:latin typeface="DINPro-Black" pitchFamily="2" charset="0"/>
              </a:defRPr>
            </a:lvl1pPr>
          </a:lstStyle>
          <a:p>
            <a:r>
              <a:rPr lang="en-US" dirty="0"/>
              <a:t>Click to edit Master title style</a:t>
            </a:r>
          </a:p>
        </p:txBody>
      </p:sp>
      <p:sp>
        <p:nvSpPr>
          <p:cNvPr id="4" name="Text Placeholder 3"/>
          <p:cNvSpPr>
            <a:spLocks noGrp="1"/>
          </p:cNvSpPr>
          <p:nvPr>
            <p:ph type="body" sz="half" idx="2"/>
          </p:nvPr>
        </p:nvSpPr>
        <p:spPr>
          <a:xfrm>
            <a:off x="1792288" y="5367338"/>
            <a:ext cx="5486400" cy="804862"/>
          </a:xfrm>
        </p:spPr>
        <p:txBody>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17A9D845-9927-498F-AAF3-2A7D8EC195FA}" type="datetime3">
              <a:rPr lang="en-US" smtClean="0"/>
              <a:t>27 April 2026</a:t>
            </a:fld>
            <a:endParaRPr lang="en-US"/>
          </a:p>
        </p:txBody>
      </p:sp>
      <p:sp>
        <p:nvSpPr>
          <p:cNvPr id="6" name="Footer Placeholder 5"/>
          <p:cNvSpPr>
            <a:spLocks noGrp="1"/>
          </p:cNvSpPr>
          <p:nvPr>
            <p:ph type="ftr" sz="quarter" idx="11"/>
          </p:nvPr>
        </p:nvSpPr>
        <p:spPr/>
        <p:txBody>
          <a:bodyPr/>
          <a:lstStyle/>
          <a:p>
            <a:r>
              <a:rPr lang="en-US"/>
              <a:t>SCS 1302   Discrete Mathematics 1       Prof. D D Karunaratna</a:t>
            </a:r>
          </a:p>
        </p:txBody>
      </p:sp>
      <p:sp>
        <p:nvSpPr>
          <p:cNvPr id="7" name="Slide Number Placeholder 6"/>
          <p:cNvSpPr>
            <a:spLocks noGrp="1"/>
          </p:cNvSpPr>
          <p:nvPr>
            <p:ph type="sldNum" sz="quarter" idx="12"/>
          </p:nvPr>
        </p:nvSpPr>
        <p:spPr/>
        <p:txBody>
          <a:bodyPr/>
          <a:lstStyle/>
          <a:p>
            <a:fld id="{0CA841A6-7C02-4C92-B6EE-5DBCC2AD53D0}" type="slidenum">
              <a:rPr lang="en-US" smtClean="0"/>
              <a:t>‹#›</a:t>
            </a:fld>
            <a:endParaRPr lang="en-US"/>
          </a:p>
        </p:txBody>
      </p:sp>
      <p:sp>
        <p:nvSpPr>
          <p:cNvPr id="9" name="Table Placeholder 8"/>
          <p:cNvSpPr>
            <a:spLocks noGrp="1"/>
          </p:cNvSpPr>
          <p:nvPr>
            <p:ph type="tbl" sz="quarter" idx="14" hasCustomPrompt="1"/>
          </p:nvPr>
        </p:nvSpPr>
        <p:spPr>
          <a:xfrm>
            <a:off x="1828800" y="609600"/>
            <a:ext cx="5410200" cy="4114800"/>
          </a:xfrm>
        </p:spPr>
        <p:txBody>
          <a:bodyPr/>
          <a:lstStyle>
            <a:lvl1pPr marL="0" indent="0">
              <a:buNone/>
              <a:defRPr/>
            </a:lvl1pPr>
          </a:lstStyle>
          <a:p>
            <a:r>
              <a:rPr lang="en-US" dirty="0"/>
              <a:t>Click icon to add Table</a:t>
            </a:r>
          </a:p>
        </p:txBody>
      </p:sp>
    </p:spTree>
    <p:extLst>
      <p:ext uri="{BB962C8B-B14F-4D97-AF65-F5344CB8AC3E}">
        <p14:creationId xmlns:p14="http://schemas.microsoft.com/office/powerpoint/2010/main" val="132413949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01AC816A-DA37-4CDC-90C5-ABDB66C8B702}" type="datetime3">
              <a:rPr lang="en-US" smtClean="0"/>
              <a:t>27 April 2026</a:t>
            </a:fld>
            <a:endParaRPr lang="en-US" dirty="0"/>
          </a:p>
        </p:txBody>
      </p:sp>
      <p:sp>
        <p:nvSpPr>
          <p:cNvPr id="4" name="Footer Placeholder 3"/>
          <p:cNvSpPr>
            <a:spLocks noGrp="1"/>
          </p:cNvSpPr>
          <p:nvPr>
            <p:ph type="ftr" sz="quarter" idx="11"/>
          </p:nvPr>
        </p:nvSpPr>
        <p:spPr/>
        <p:txBody>
          <a:bodyPr/>
          <a:lstStyle/>
          <a:p>
            <a:r>
              <a:rPr lang="en-US"/>
              <a:t>SCS 1302   Discrete Mathematics 1       Prof. D D Karunaratna</a:t>
            </a:r>
            <a:endParaRPr lang="en-US" dirty="0"/>
          </a:p>
        </p:txBody>
      </p:sp>
      <p:sp>
        <p:nvSpPr>
          <p:cNvPr id="5" name="Slide Number Placeholder 4"/>
          <p:cNvSpPr>
            <a:spLocks noGrp="1"/>
          </p:cNvSpPr>
          <p:nvPr>
            <p:ph type="sldNum" sz="quarter" idx="12"/>
          </p:nvPr>
        </p:nvSpPr>
        <p:spPr/>
        <p:txBody>
          <a:bodyPr/>
          <a:lstStyle/>
          <a:p>
            <a:r>
              <a:rPr lang="en-US"/>
              <a:t>|       </a:t>
            </a:r>
            <a:fld id="{0CA841A6-7C02-4C92-B6EE-5DBCC2AD53D0}" type="slidenum">
              <a:rPr lang="en-US" smtClean="0"/>
              <a:pPr/>
              <a:t>‹#›</a:t>
            </a:fld>
            <a:endParaRPr lang="en-US" dirty="0"/>
          </a:p>
        </p:txBody>
      </p:sp>
      <p:sp>
        <p:nvSpPr>
          <p:cNvPr id="16" name="Text Placeholder 15"/>
          <p:cNvSpPr>
            <a:spLocks noGrp="1"/>
          </p:cNvSpPr>
          <p:nvPr>
            <p:ph type="body" sz="quarter" idx="14"/>
          </p:nvPr>
        </p:nvSpPr>
        <p:spPr>
          <a:xfrm>
            <a:off x="457200" y="1676400"/>
            <a:ext cx="4038600" cy="4419600"/>
          </a:xfrm>
        </p:spPr>
        <p:txBody>
          <a:bodyPr/>
          <a:lstStyle>
            <a:lvl1pPr>
              <a:defRPr sz="2000"/>
            </a:lvl1pPr>
            <a:lvl2pPr>
              <a:defRPr sz="1800"/>
            </a:lvl2pPr>
            <a:lvl3pPr>
              <a:defRPr sz="16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Table Placeholder 6"/>
          <p:cNvSpPr>
            <a:spLocks noGrp="1"/>
          </p:cNvSpPr>
          <p:nvPr>
            <p:ph type="tbl" sz="quarter" idx="15" hasCustomPrompt="1"/>
          </p:nvPr>
        </p:nvSpPr>
        <p:spPr>
          <a:xfrm>
            <a:off x="4648200" y="1676400"/>
            <a:ext cx="4038600" cy="4419600"/>
          </a:xfrm>
        </p:spPr>
        <p:txBody>
          <a:bodyPr/>
          <a:lstStyle>
            <a:lvl1pPr marL="0" indent="0">
              <a:buNone/>
              <a:defRPr/>
            </a:lvl1pPr>
          </a:lstStyle>
          <a:p>
            <a:r>
              <a:rPr lang="en-US" dirty="0"/>
              <a:t>Click icon to add Table</a:t>
            </a:r>
          </a:p>
        </p:txBody>
      </p:sp>
    </p:spTree>
    <p:extLst>
      <p:ext uri="{BB962C8B-B14F-4D97-AF65-F5344CB8AC3E}">
        <p14:creationId xmlns:p14="http://schemas.microsoft.com/office/powerpoint/2010/main" val="416690130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_Picture with Caption">
    <p:spTree>
      <p:nvGrpSpPr>
        <p:cNvPr id="1" name=""/>
        <p:cNvGrpSpPr/>
        <p:nvPr/>
      </p:nvGrpSpPr>
      <p:grpSpPr>
        <a:xfrm>
          <a:off x="0" y="0"/>
          <a:ext cx="0" cy="0"/>
          <a:chOff x="0" y="0"/>
          <a:chExt cx="0" cy="0"/>
        </a:xfrm>
      </p:grpSpPr>
      <p:sp>
        <p:nvSpPr>
          <p:cNvPr id="8" name="Rectangle 7"/>
          <p:cNvSpPr/>
          <p:nvPr userDrawn="1"/>
        </p:nvSpPr>
        <p:spPr>
          <a:xfrm>
            <a:off x="0" y="0"/>
            <a:ext cx="9144000" cy="6172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792288" y="4800600"/>
            <a:ext cx="5486400" cy="566738"/>
          </a:xfrm>
        </p:spPr>
        <p:txBody>
          <a:bodyPr anchor="b"/>
          <a:lstStyle>
            <a:lvl1pPr algn="ctr">
              <a:defRPr sz="2000" b="1">
                <a:solidFill>
                  <a:schemeClr val="bg2">
                    <a:lumMod val="50000"/>
                  </a:schemeClr>
                </a:solidFill>
                <a:latin typeface="DINPro-Black" pitchFamily="2" charset="0"/>
              </a:defRPr>
            </a:lvl1pPr>
          </a:lstStyle>
          <a:p>
            <a:r>
              <a:rPr lang="en-US" dirty="0"/>
              <a:t>Click to edit Master title style</a:t>
            </a:r>
          </a:p>
        </p:txBody>
      </p:sp>
      <p:sp>
        <p:nvSpPr>
          <p:cNvPr id="4" name="Text Placeholder 3"/>
          <p:cNvSpPr>
            <a:spLocks noGrp="1"/>
          </p:cNvSpPr>
          <p:nvPr>
            <p:ph type="body" sz="half" idx="2"/>
          </p:nvPr>
        </p:nvSpPr>
        <p:spPr>
          <a:xfrm>
            <a:off x="1792288" y="5367338"/>
            <a:ext cx="5486400" cy="804862"/>
          </a:xfrm>
        </p:spPr>
        <p:txBody>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74A65E5E-5076-4B6E-BFAD-7C645CCBDDAF}" type="datetime3">
              <a:rPr lang="en-US" smtClean="0"/>
              <a:t>27 April 2026</a:t>
            </a:fld>
            <a:endParaRPr lang="en-US"/>
          </a:p>
        </p:txBody>
      </p:sp>
      <p:sp>
        <p:nvSpPr>
          <p:cNvPr id="6" name="Footer Placeholder 5"/>
          <p:cNvSpPr>
            <a:spLocks noGrp="1"/>
          </p:cNvSpPr>
          <p:nvPr>
            <p:ph type="ftr" sz="quarter" idx="11"/>
          </p:nvPr>
        </p:nvSpPr>
        <p:spPr/>
        <p:txBody>
          <a:bodyPr/>
          <a:lstStyle/>
          <a:p>
            <a:r>
              <a:rPr lang="en-US"/>
              <a:t>SCS 1302   Discrete Mathematics 1       Prof. D D Karunaratna</a:t>
            </a:r>
          </a:p>
        </p:txBody>
      </p:sp>
      <p:sp>
        <p:nvSpPr>
          <p:cNvPr id="7" name="Slide Number Placeholder 6"/>
          <p:cNvSpPr>
            <a:spLocks noGrp="1"/>
          </p:cNvSpPr>
          <p:nvPr>
            <p:ph type="sldNum" sz="quarter" idx="12"/>
          </p:nvPr>
        </p:nvSpPr>
        <p:spPr/>
        <p:txBody>
          <a:bodyPr/>
          <a:lstStyle/>
          <a:p>
            <a:fld id="{0CA841A6-7C02-4C92-B6EE-5DBCC2AD53D0}" type="slidenum">
              <a:rPr lang="en-US" smtClean="0"/>
              <a:t>‹#›</a:t>
            </a:fld>
            <a:endParaRPr lang="en-US"/>
          </a:p>
        </p:txBody>
      </p:sp>
      <p:sp>
        <p:nvSpPr>
          <p:cNvPr id="10" name="SmartArt Placeholder 9"/>
          <p:cNvSpPr>
            <a:spLocks noGrp="1"/>
          </p:cNvSpPr>
          <p:nvPr>
            <p:ph type="dgm" sz="quarter" idx="15"/>
          </p:nvPr>
        </p:nvSpPr>
        <p:spPr>
          <a:xfrm>
            <a:off x="1828800" y="609600"/>
            <a:ext cx="5410200" cy="4114800"/>
          </a:xfrm>
        </p:spPr>
        <p:txBody>
          <a:bodyPr/>
          <a:lstStyle>
            <a:lvl1pPr marL="0" indent="0">
              <a:buNone/>
              <a:defRPr baseline="0"/>
            </a:lvl1pPr>
          </a:lstStyle>
          <a:p>
            <a:r>
              <a:rPr lang="en-US" dirty="0"/>
              <a:t>Click icon to add SmartArt</a:t>
            </a:r>
          </a:p>
        </p:txBody>
      </p:sp>
    </p:spTree>
    <p:extLst>
      <p:ext uri="{BB962C8B-B14F-4D97-AF65-F5344CB8AC3E}">
        <p14:creationId xmlns:p14="http://schemas.microsoft.com/office/powerpoint/2010/main" val="120359274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0CCA0D9C-30E5-473F-9F6B-6FCC2616A902}" type="datetime3">
              <a:rPr lang="en-US" smtClean="0"/>
              <a:t>27 April 2026</a:t>
            </a:fld>
            <a:endParaRPr lang="en-US" dirty="0"/>
          </a:p>
        </p:txBody>
      </p:sp>
      <p:sp>
        <p:nvSpPr>
          <p:cNvPr id="4" name="Footer Placeholder 3"/>
          <p:cNvSpPr>
            <a:spLocks noGrp="1"/>
          </p:cNvSpPr>
          <p:nvPr>
            <p:ph type="ftr" sz="quarter" idx="11"/>
          </p:nvPr>
        </p:nvSpPr>
        <p:spPr/>
        <p:txBody>
          <a:bodyPr/>
          <a:lstStyle/>
          <a:p>
            <a:r>
              <a:rPr lang="en-US"/>
              <a:t>SCS 1302   Discrete Mathematics 1       Prof. D D Karunaratna</a:t>
            </a:r>
            <a:endParaRPr lang="en-US" dirty="0"/>
          </a:p>
        </p:txBody>
      </p:sp>
      <p:sp>
        <p:nvSpPr>
          <p:cNvPr id="5" name="Slide Number Placeholder 4"/>
          <p:cNvSpPr>
            <a:spLocks noGrp="1"/>
          </p:cNvSpPr>
          <p:nvPr>
            <p:ph type="sldNum" sz="quarter" idx="12"/>
          </p:nvPr>
        </p:nvSpPr>
        <p:spPr/>
        <p:txBody>
          <a:bodyPr/>
          <a:lstStyle/>
          <a:p>
            <a:r>
              <a:rPr lang="en-US"/>
              <a:t>|       </a:t>
            </a:r>
            <a:fld id="{0CA841A6-7C02-4C92-B6EE-5DBCC2AD53D0}" type="slidenum">
              <a:rPr lang="en-US" smtClean="0"/>
              <a:pPr/>
              <a:t>‹#›</a:t>
            </a:fld>
            <a:endParaRPr lang="en-US" dirty="0"/>
          </a:p>
        </p:txBody>
      </p:sp>
      <p:sp>
        <p:nvSpPr>
          <p:cNvPr id="16" name="Text Placeholder 15"/>
          <p:cNvSpPr>
            <a:spLocks noGrp="1"/>
          </p:cNvSpPr>
          <p:nvPr>
            <p:ph type="body" sz="quarter" idx="14"/>
          </p:nvPr>
        </p:nvSpPr>
        <p:spPr>
          <a:xfrm>
            <a:off x="457200" y="1676400"/>
            <a:ext cx="4038600" cy="4419600"/>
          </a:xfrm>
        </p:spPr>
        <p:txBody>
          <a:bodyPr/>
          <a:lstStyle>
            <a:lvl1pPr>
              <a:defRPr sz="2000"/>
            </a:lvl1pPr>
            <a:lvl2pPr>
              <a:defRPr sz="1800"/>
            </a:lvl2pPr>
            <a:lvl3pPr>
              <a:defRPr sz="16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SmartArt Placeholder 7"/>
          <p:cNvSpPr>
            <a:spLocks noGrp="1"/>
          </p:cNvSpPr>
          <p:nvPr>
            <p:ph type="dgm" sz="quarter" idx="16"/>
          </p:nvPr>
        </p:nvSpPr>
        <p:spPr>
          <a:xfrm>
            <a:off x="4648200" y="1676400"/>
            <a:ext cx="4038600" cy="4419600"/>
          </a:xfrm>
        </p:spPr>
        <p:txBody>
          <a:bodyPr/>
          <a:lstStyle>
            <a:lvl1pPr marL="0" indent="0">
              <a:buNone/>
              <a:defRPr/>
            </a:lvl1pPr>
          </a:lstStyle>
          <a:p>
            <a:r>
              <a:rPr lang="en-US" dirty="0"/>
              <a:t>Click icon to add SmartArt</a:t>
            </a:r>
          </a:p>
        </p:txBody>
      </p:sp>
    </p:spTree>
    <p:extLst>
      <p:ext uri="{BB962C8B-B14F-4D97-AF65-F5344CB8AC3E}">
        <p14:creationId xmlns:p14="http://schemas.microsoft.com/office/powerpoint/2010/main" val="105089233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4_Picture with Caption">
    <p:spTree>
      <p:nvGrpSpPr>
        <p:cNvPr id="1" name=""/>
        <p:cNvGrpSpPr/>
        <p:nvPr/>
      </p:nvGrpSpPr>
      <p:grpSpPr>
        <a:xfrm>
          <a:off x="0" y="0"/>
          <a:ext cx="0" cy="0"/>
          <a:chOff x="0" y="0"/>
          <a:chExt cx="0" cy="0"/>
        </a:xfrm>
      </p:grpSpPr>
      <p:sp>
        <p:nvSpPr>
          <p:cNvPr id="8" name="Rectangle 7"/>
          <p:cNvSpPr/>
          <p:nvPr userDrawn="1"/>
        </p:nvSpPr>
        <p:spPr>
          <a:xfrm>
            <a:off x="0" y="0"/>
            <a:ext cx="9144000" cy="6172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1792288" y="4800600"/>
            <a:ext cx="5486400" cy="566738"/>
          </a:xfrm>
        </p:spPr>
        <p:txBody>
          <a:bodyPr anchor="b"/>
          <a:lstStyle>
            <a:lvl1pPr algn="ctr">
              <a:defRPr sz="2000" b="1">
                <a:solidFill>
                  <a:schemeClr val="bg2">
                    <a:lumMod val="50000"/>
                  </a:schemeClr>
                </a:solidFill>
                <a:latin typeface="DINPro-Black" pitchFamily="2" charset="0"/>
              </a:defRPr>
            </a:lvl1pPr>
          </a:lstStyle>
          <a:p>
            <a:r>
              <a:rPr lang="en-US" dirty="0"/>
              <a:t>Click to edit Master title style</a:t>
            </a:r>
          </a:p>
        </p:txBody>
      </p:sp>
      <p:sp>
        <p:nvSpPr>
          <p:cNvPr id="4" name="Text Placeholder 3"/>
          <p:cNvSpPr>
            <a:spLocks noGrp="1"/>
          </p:cNvSpPr>
          <p:nvPr>
            <p:ph type="body" sz="half" idx="2"/>
          </p:nvPr>
        </p:nvSpPr>
        <p:spPr>
          <a:xfrm>
            <a:off x="1792288" y="5367338"/>
            <a:ext cx="5486400" cy="804862"/>
          </a:xfrm>
        </p:spPr>
        <p:txBody>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4C237C74-37E8-400D-9A1A-81963A6C8D14}" type="datetime3">
              <a:rPr lang="en-US" smtClean="0"/>
              <a:t>27 April 2026</a:t>
            </a:fld>
            <a:endParaRPr lang="en-US"/>
          </a:p>
        </p:txBody>
      </p:sp>
      <p:sp>
        <p:nvSpPr>
          <p:cNvPr id="6" name="Footer Placeholder 5"/>
          <p:cNvSpPr>
            <a:spLocks noGrp="1"/>
          </p:cNvSpPr>
          <p:nvPr>
            <p:ph type="ftr" sz="quarter" idx="11"/>
          </p:nvPr>
        </p:nvSpPr>
        <p:spPr/>
        <p:txBody>
          <a:bodyPr/>
          <a:lstStyle/>
          <a:p>
            <a:r>
              <a:rPr lang="en-US"/>
              <a:t>SCS 1302   Discrete Mathematics 1       Prof. D D Karunaratna</a:t>
            </a:r>
          </a:p>
        </p:txBody>
      </p:sp>
      <p:sp>
        <p:nvSpPr>
          <p:cNvPr id="7" name="Slide Number Placeholder 6"/>
          <p:cNvSpPr>
            <a:spLocks noGrp="1"/>
          </p:cNvSpPr>
          <p:nvPr>
            <p:ph type="sldNum" sz="quarter" idx="12"/>
          </p:nvPr>
        </p:nvSpPr>
        <p:spPr/>
        <p:txBody>
          <a:bodyPr/>
          <a:lstStyle/>
          <a:p>
            <a:fld id="{0CA841A6-7C02-4C92-B6EE-5DBCC2AD53D0}" type="slidenum">
              <a:rPr lang="en-US" smtClean="0"/>
              <a:t>‹#›</a:t>
            </a:fld>
            <a:endParaRPr lang="en-US"/>
          </a:p>
        </p:txBody>
      </p:sp>
      <p:sp>
        <p:nvSpPr>
          <p:cNvPr id="9" name="Media Placeholder 8"/>
          <p:cNvSpPr>
            <a:spLocks noGrp="1"/>
          </p:cNvSpPr>
          <p:nvPr>
            <p:ph type="media" sz="quarter" idx="16" hasCustomPrompt="1"/>
          </p:nvPr>
        </p:nvSpPr>
        <p:spPr>
          <a:xfrm>
            <a:off x="1828800" y="609600"/>
            <a:ext cx="5410200" cy="4114800"/>
          </a:xfrm>
        </p:spPr>
        <p:txBody>
          <a:bodyPr/>
          <a:lstStyle>
            <a:lvl1pPr marL="0" indent="0">
              <a:buNone/>
              <a:defRPr/>
            </a:lvl1pPr>
          </a:lstStyle>
          <a:p>
            <a:r>
              <a:rPr lang="en-US" dirty="0"/>
              <a:t>Click icon to add Media</a:t>
            </a:r>
          </a:p>
        </p:txBody>
      </p:sp>
    </p:spTree>
    <p:extLst>
      <p:ext uri="{BB962C8B-B14F-4D97-AF65-F5344CB8AC3E}">
        <p14:creationId xmlns:p14="http://schemas.microsoft.com/office/powerpoint/2010/main" val="406435181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C414F990-133C-40B5-A848-3BDAAD647482}" type="datetime3">
              <a:rPr lang="en-US" smtClean="0"/>
              <a:t>27 April 2026</a:t>
            </a:fld>
            <a:endParaRPr lang="en-US" dirty="0"/>
          </a:p>
        </p:txBody>
      </p:sp>
      <p:sp>
        <p:nvSpPr>
          <p:cNvPr id="4" name="Footer Placeholder 3"/>
          <p:cNvSpPr>
            <a:spLocks noGrp="1"/>
          </p:cNvSpPr>
          <p:nvPr>
            <p:ph type="ftr" sz="quarter" idx="11"/>
          </p:nvPr>
        </p:nvSpPr>
        <p:spPr/>
        <p:txBody>
          <a:bodyPr/>
          <a:lstStyle/>
          <a:p>
            <a:r>
              <a:rPr lang="en-US"/>
              <a:t>SCS 1302   Discrete Mathematics 1       Prof. D D Karunaratna</a:t>
            </a:r>
            <a:endParaRPr lang="en-US" dirty="0"/>
          </a:p>
        </p:txBody>
      </p:sp>
      <p:sp>
        <p:nvSpPr>
          <p:cNvPr id="5" name="Slide Number Placeholder 4"/>
          <p:cNvSpPr>
            <a:spLocks noGrp="1"/>
          </p:cNvSpPr>
          <p:nvPr>
            <p:ph type="sldNum" sz="quarter" idx="12"/>
          </p:nvPr>
        </p:nvSpPr>
        <p:spPr/>
        <p:txBody>
          <a:bodyPr/>
          <a:lstStyle/>
          <a:p>
            <a:r>
              <a:rPr lang="en-US"/>
              <a:t>|       </a:t>
            </a:r>
            <a:fld id="{0CA841A6-7C02-4C92-B6EE-5DBCC2AD53D0}" type="slidenum">
              <a:rPr lang="en-US" smtClean="0"/>
              <a:pPr/>
              <a:t>‹#›</a:t>
            </a:fld>
            <a:endParaRPr lang="en-US" dirty="0"/>
          </a:p>
        </p:txBody>
      </p:sp>
      <p:sp>
        <p:nvSpPr>
          <p:cNvPr id="16" name="Text Placeholder 15"/>
          <p:cNvSpPr>
            <a:spLocks noGrp="1"/>
          </p:cNvSpPr>
          <p:nvPr>
            <p:ph type="body" sz="quarter" idx="14"/>
          </p:nvPr>
        </p:nvSpPr>
        <p:spPr>
          <a:xfrm>
            <a:off x="457200" y="1676400"/>
            <a:ext cx="4038600" cy="4419600"/>
          </a:xfrm>
        </p:spPr>
        <p:txBody>
          <a:bodyPr/>
          <a:lstStyle>
            <a:lvl1pPr>
              <a:defRPr sz="2000"/>
            </a:lvl1pPr>
            <a:lvl2pPr>
              <a:defRPr sz="1800"/>
            </a:lvl2pPr>
            <a:lvl3pPr>
              <a:defRPr sz="16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Media Placeholder 6"/>
          <p:cNvSpPr>
            <a:spLocks noGrp="1"/>
          </p:cNvSpPr>
          <p:nvPr>
            <p:ph type="media" sz="quarter" idx="17" hasCustomPrompt="1"/>
          </p:nvPr>
        </p:nvSpPr>
        <p:spPr>
          <a:xfrm>
            <a:off x="4648200" y="1676400"/>
            <a:ext cx="4038600" cy="4419600"/>
          </a:xfrm>
        </p:spPr>
        <p:txBody>
          <a:bodyPr/>
          <a:lstStyle>
            <a:lvl1pPr marL="0" indent="0">
              <a:buNone/>
              <a:defRPr/>
            </a:lvl1pPr>
          </a:lstStyle>
          <a:p>
            <a:r>
              <a:rPr lang="en-US" dirty="0"/>
              <a:t>Click icon to add Media</a:t>
            </a:r>
          </a:p>
        </p:txBody>
      </p:sp>
    </p:spTree>
    <p:extLst>
      <p:ext uri="{BB962C8B-B14F-4D97-AF65-F5344CB8AC3E}">
        <p14:creationId xmlns:p14="http://schemas.microsoft.com/office/powerpoint/2010/main" val="9213989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baseline="0"/>
            </a:lvl1pPr>
          </a:lstStyle>
          <a:p>
            <a:r>
              <a:rPr lang="en-US" dirty="0"/>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4D33B29-E9C2-412D-9DA7-607040E27337}" type="datetime3">
              <a:rPr lang="en-US" smtClean="0"/>
              <a:t>27 April 2026</a:t>
            </a:fld>
            <a:endParaRPr lang="en-US"/>
          </a:p>
        </p:txBody>
      </p:sp>
      <p:sp>
        <p:nvSpPr>
          <p:cNvPr id="5" name="Footer Placeholder 4"/>
          <p:cNvSpPr>
            <a:spLocks noGrp="1"/>
          </p:cNvSpPr>
          <p:nvPr>
            <p:ph type="ftr" sz="quarter" idx="11"/>
          </p:nvPr>
        </p:nvSpPr>
        <p:spPr/>
        <p:txBody>
          <a:bodyPr/>
          <a:lstStyle/>
          <a:p>
            <a:r>
              <a:rPr lang="en-US"/>
              <a:t>SCS 1302   Discrete Mathematics 1       Prof. D D Karunaratna</a:t>
            </a:r>
          </a:p>
        </p:txBody>
      </p:sp>
      <p:sp>
        <p:nvSpPr>
          <p:cNvPr id="6" name="Slide Number Placeholder 5"/>
          <p:cNvSpPr>
            <a:spLocks noGrp="1"/>
          </p:cNvSpPr>
          <p:nvPr>
            <p:ph type="sldNum" sz="quarter" idx="12"/>
          </p:nvPr>
        </p:nvSpPr>
        <p:spPr/>
        <p:txBody>
          <a:bodyPr/>
          <a:lstStyle/>
          <a:p>
            <a:fld id="{0CA841A6-7C02-4C92-B6EE-5DBCC2AD53D0}" type="slidenum">
              <a:rPr lang="en-US" smtClean="0"/>
              <a:t>‹#›</a:t>
            </a:fld>
            <a:endParaRPr lang="en-US"/>
          </a:p>
        </p:txBody>
      </p:sp>
    </p:spTree>
    <p:extLst>
      <p:ext uri="{BB962C8B-B14F-4D97-AF65-F5344CB8AC3E}">
        <p14:creationId xmlns:p14="http://schemas.microsoft.com/office/powerpoint/2010/main" val="43027285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userDrawn="1"/>
        </p:nvSpPr>
        <p:spPr>
          <a:xfrm>
            <a:off x="0" y="0"/>
            <a:ext cx="9144000" cy="61722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userDrawn="1"/>
        </p:nvSpPr>
        <p:spPr>
          <a:xfrm>
            <a:off x="7467600" y="0"/>
            <a:ext cx="1371600" cy="6172200"/>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Vertical Title 1"/>
          <p:cNvSpPr>
            <a:spLocks noGrp="1"/>
          </p:cNvSpPr>
          <p:nvPr>
            <p:ph type="title" orient="vert" hasCustomPrompt="1"/>
          </p:nvPr>
        </p:nvSpPr>
        <p:spPr>
          <a:xfrm>
            <a:off x="7543800" y="274638"/>
            <a:ext cx="1295400" cy="5851525"/>
          </a:xfrm>
        </p:spPr>
        <p:txBody>
          <a:bodyPr vert="eaVert"/>
          <a:lstStyle>
            <a:lvl1pPr>
              <a:defRPr>
                <a:solidFill>
                  <a:schemeClr val="bg1"/>
                </a:solidFill>
              </a:defRPr>
            </a:lvl1pPr>
          </a:lstStyle>
          <a:p>
            <a:r>
              <a:rPr lang="en-US" dirty="0"/>
              <a:t>CLICK TO EDIT MASTER TITLE STYLE</a:t>
            </a:r>
          </a:p>
        </p:txBody>
      </p:sp>
      <p:sp>
        <p:nvSpPr>
          <p:cNvPr id="3" name="Vertical Text Placeholder 2"/>
          <p:cNvSpPr>
            <a:spLocks noGrp="1"/>
          </p:cNvSpPr>
          <p:nvPr>
            <p:ph type="body" orient="vert" idx="1"/>
          </p:nvPr>
        </p:nvSpPr>
        <p:spPr>
          <a:xfrm>
            <a:off x="457200" y="274638"/>
            <a:ext cx="6934200" cy="5851525"/>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3A1D3AC4-21A6-4DA8-BAAB-D3659441B718}" type="datetime3">
              <a:rPr lang="en-US" smtClean="0"/>
              <a:t>27 April 2026</a:t>
            </a:fld>
            <a:endParaRPr lang="en-US"/>
          </a:p>
        </p:txBody>
      </p:sp>
      <p:sp>
        <p:nvSpPr>
          <p:cNvPr id="5" name="Footer Placeholder 4"/>
          <p:cNvSpPr>
            <a:spLocks noGrp="1"/>
          </p:cNvSpPr>
          <p:nvPr>
            <p:ph type="ftr" sz="quarter" idx="11"/>
          </p:nvPr>
        </p:nvSpPr>
        <p:spPr/>
        <p:txBody>
          <a:bodyPr/>
          <a:lstStyle/>
          <a:p>
            <a:r>
              <a:rPr lang="en-US"/>
              <a:t>SCS 1302   Discrete Mathematics 1       Prof. D D Karunaratna</a:t>
            </a:r>
          </a:p>
        </p:txBody>
      </p:sp>
      <p:sp>
        <p:nvSpPr>
          <p:cNvPr id="6" name="Slide Number Placeholder 5"/>
          <p:cNvSpPr>
            <a:spLocks noGrp="1"/>
          </p:cNvSpPr>
          <p:nvPr>
            <p:ph type="sldNum" sz="quarter" idx="12"/>
          </p:nvPr>
        </p:nvSpPr>
        <p:spPr/>
        <p:txBody>
          <a:bodyPr/>
          <a:lstStyle/>
          <a:p>
            <a:fld id="{0CA841A6-7C02-4C92-B6EE-5DBCC2AD53D0}" type="slidenum">
              <a:rPr lang="en-US" smtClean="0"/>
              <a:t>‹#›</a:t>
            </a:fld>
            <a:endParaRPr lang="en-US"/>
          </a:p>
        </p:txBody>
      </p:sp>
    </p:spTree>
    <p:extLst>
      <p:ext uri="{BB962C8B-B14F-4D97-AF65-F5344CB8AC3E}">
        <p14:creationId xmlns:p14="http://schemas.microsoft.com/office/powerpoint/2010/main" val="4628042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 name="Rectangle 10"/>
          <p:cNvSpPr/>
          <p:nvPr userDrawn="1"/>
        </p:nvSpPr>
        <p:spPr>
          <a:xfrm>
            <a:off x="1066800" y="6454833"/>
            <a:ext cx="4495800" cy="250767"/>
          </a:xfrm>
          <a:prstGeom prst="rect">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userDrawn="1"/>
        </p:nvSpPr>
        <p:spPr>
          <a:xfrm>
            <a:off x="0" y="279400"/>
            <a:ext cx="9144000" cy="1320800"/>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457200" y="304800"/>
            <a:ext cx="8229600" cy="1249362"/>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p:cNvSpPr>
            <a:spLocks noGrp="1"/>
          </p:cNvSpPr>
          <p:nvPr>
            <p:ph type="body" idx="1"/>
          </p:nvPr>
        </p:nvSpPr>
        <p:spPr>
          <a:xfrm>
            <a:off x="457200" y="1676400"/>
            <a:ext cx="8229600" cy="44497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6832121" y="6400800"/>
            <a:ext cx="1092679" cy="320675"/>
          </a:xfrm>
          <a:prstGeom prst="rect">
            <a:avLst/>
          </a:prstGeom>
        </p:spPr>
        <p:txBody>
          <a:bodyPr vert="horz" lIns="91440" tIns="45720" rIns="91440" bIns="45720" rtlCol="0" anchor="b"/>
          <a:lstStyle>
            <a:lvl1pPr algn="r">
              <a:defRPr sz="1000" b="1">
                <a:solidFill>
                  <a:schemeClr val="bg1">
                    <a:lumMod val="50000"/>
                  </a:schemeClr>
                </a:solidFill>
              </a:defRPr>
            </a:lvl1pPr>
          </a:lstStyle>
          <a:p>
            <a:fld id="{2F6C03F0-88A7-4CFE-83B7-F7F523CF9D8A}" type="datetime3">
              <a:rPr lang="en-US" smtClean="0"/>
              <a:t>27 April 2026</a:t>
            </a:fld>
            <a:endParaRPr lang="en-US" dirty="0"/>
          </a:p>
        </p:txBody>
      </p:sp>
      <p:sp>
        <p:nvSpPr>
          <p:cNvPr id="5" name="Footer Placeholder 4"/>
          <p:cNvSpPr>
            <a:spLocks noGrp="1"/>
          </p:cNvSpPr>
          <p:nvPr>
            <p:ph type="ftr" sz="quarter" idx="3"/>
          </p:nvPr>
        </p:nvSpPr>
        <p:spPr>
          <a:xfrm>
            <a:off x="1066800" y="6400800"/>
            <a:ext cx="4495800" cy="320675"/>
          </a:xfrm>
          <a:prstGeom prst="rect">
            <a:avLst/>
          </a:prstGeom>
        </p:spPr>
        <p:txBody>
          <a:bodyPr vert="horz" lIns="91440" tIns="45720" rIns="91440" bIns="45720" rtlCol="0" anchor="b"/>
          <a:lstStyle>
            <a:lvl1pPr algn="l">
              <a:defRPr sz="1000" b="1">
                <a:solidFill>
                  <a:schemeClr val="tx1"/>
                </a:solidFill>
              </a:defRPr>
            </a:lvl1pPr>
          </a:lstStyle>
          <a:p>
            <a:r>
              <a:rPr lang="en-US"/>
              <a:t>SCS 1302   Discrete Mathematics 1       Prof. D D Karunaratna</a:t>
            </a:r>
            <a:endParaRPr lang="en-US" dirty="0"/>
          </a:p>
        </p:txBody>
      </p:sp>
      <p:sp>
        <p:nvSpPr>
          <p:cNvPr id="6" name="Slide Number Placeholder 5"/>
          <p:cNvSpPr>
            <a:spLocks noGrp="1"/>
          </p:cNvSpPr>
          <p:nvPr>
            <p:ph type="sldNum" sz="quarter" idx="4"/>
          </p:nvPr>
        </p:nvSpPr>
        <p:spPr>
          <a:xfrm>
            <a:off x="7924800" y="6400800"/>
            <a:ext cx="762000" cy="320675"/>
          </a:xfrm>
          <a:prstGeom prst="rect">
            <a:avLst/>
          </a:prstGeom>
        </p:spPr>
        <p:txBody>
          <a:bodyPr vert="horz" lIns="91440" tIns="45720" rIns="91440" bIns="45720" rtlCol="0" anchor="b"/>
          <a:lstStyle>
            <a:lvl1pPr algn="r">
              <a:defRPr sz="1000" b="1">
                <a:solidFill>
                  <a:schemeClr val="bg1">
                    <a:lumMod val="50000"/>
                  </a:schemeClr>
                </a:solidFill>
              </a:defRPr>
            </a:lvl1pPr>
          </a:lstStyle>
          <a:p>
            <a:r>
              <a:rPr lang="en-US" dirty="0"/>
              <a:t>|        </a:t>
            </a:r>
            <a:fld id="{0CA841A6-7C02-4C92-B6EE-5DBCC2AD53D0}" type="slidenum">
              <a:rPr lang="en-US" smtClean="0"/>
              <a:pPr/>
              <a:t>‹#›</a:t>
            </a:fld>
            <a:endParaRPr lang="en-US" dirty="0"/>
          </a:p>
        </p:txBody>
      </p:sp>
      <p:pic>
        <p:nvPicPr>
          <p:cNvPr id="8" name="Picture 7"/>
          <p:cNvPicPr>
            <a:picLocks noChangeAspect="1"/>
          </p:cNvPicPr>
          <p:nvPr userDrawn="1"/>
        </p:nvPicPr>
        <p:blipFill>
          <a:blip r:embed="rId22" cstate="print">
            <a:extLst>
              <a:ext uri="{28A0092B-C50C-407E-A947-70E740481C1C}">
                <a14:useLocalDpi xmlns:a14="http://schemas.microsoft.com/office/drawing/2010/main" val="0"/>
              </a:ext>
            </a:extLst>
          </a:blip>
          <a:stretch>
            <a:fillRect/>
          </a:stretch>
        </p:blipFill>
        <p:spPr>
          <a:xfrm>
            <a:off x="381000" y="6226233"/>
            <a:ext cx="609600" cy="457200"/>
          </a:xfrm>
          <a:prstGeom prst="rect">
            <a:avLst/>
          </a:prstGeom>
        </p:spPr>
      </p:pic>
      <p:cxnSp>
        <p:nvCxnSpPr>
          <p:cNvPr id="10" name="Straight Connector 9"/>
          <p:cNvCxnSpPr/>
          <p:nvPr userDrawn="1"/>
        </p:nvCxnSpPr>
        <p:spPr>
          <a:xfrm>
            <a:off x="1066800" y="6400800"/>
            <a:ext cx="8077200" cy="0"/>
          </a:xfrm>
          <a:prstGeom prst="line">
            <a:avLst/>
          </a:prstGeom>
          <a:ln w="12700">
            <a:solidFill>
              <a:schemeClr val="bg2">
                <a:lumMod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915228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2" r:id="rId10"/>
    <p:sldLayoutId id="2147483663" r:id="rId11"/>
    <p:sldLayoutId id="2147483660" r:id="rId12"/>
    <p:sldLayoutId id="2147483664" r:id="rId13"/>
    <p:sldLayoutId id="2147483665" r:id="rId14"/>
    <p:sldLayoutId id="2147483666" r:id="rId15"/>
    <p:sldLayoutId id="2147483667" r:id="rId16"/>
    <p:sldLayoutId id="2147483668" r:id="rId17"/>
    <p:sldLayoutId id="2147483669" r:id="rId18"/>
    <p:sldLayoutId id="2147483658" r:id="rId19"/>
    <p:sldLayoutId id="2147483659" r:id="rId20"/>
  </p:sldLayoutIdLst>
  <p:hf hdr="0"/>
  <p:txStyles>
    <p:titleStyle>
      <a:lvl1pPr algn="l" defTabSz="914400" rtl="0" eaLnBrk="1" latinLnBrk="0" hangingPunct="1">
        <a:spcBef>
          <a:spcPct val="0"/>
        </a:spcBef>
        <a:buNone/>
        <a:defRPr sz="3600" kern="1200">
          <a:solidFill>
            <a:schemeClr val="bg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7.pn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10" Type="http://schemas.openxmlformats.org/officeDocument/2006/relationships/image" Target="../media/image14.png"/><Relationship Id="rId4" Type="http://schemas.openxmlformats.org/officeDocument/2006/relationships/image" Target="../media/image8.png"/><Relationship Id="rId9" Type="http://schemas.openxmlformats.org/officeDocument/2006/relationships/image" Target="../media/image13.png"/></Relationships>
</file>

<file path=ppt/slides/_rels/slide30.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3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5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7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82.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92.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50.png"/><Relationship Id="rId7" Type="http://schemas.openxmlformats.org/officeDocument/2006/relationships/image" Target="../media/image191.png"/><Relationship Id="rId2" Type="http://schemas.openxmlformats.org/officeDocument/2006/relationships/image" Target="../media/image70.png"/><Relationship Id="rId1" Type="http://schemas.openxmlformats.org/officeDocument/2006/relationships/slideLayout" Target="../slideLayouts/slideLayout2.xml"/><Relationship Id="rId6" Type="http://schemas.openxmlformats.org/officeDocument/2006/relationships/image" Target="../media/image181.png"/><Relationship Id="rId5" Type="http://schemas.openxmlformats.org/officeDocument/2006/relationships/image" Target="../media/image170.png"/><Relationship Id="rId4" Type="http://schemas.openxmlformats.org/officeDocument/2006/relationships/image" Target="../media/image160.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11.png"/><Relationship Id="rId7" Type="http://schemas.openxmlformats.org/officeDocument/2006/relationships/image" Target="../media/image25.png"/><Relationship Id="rId2" Type="http://schemas.openxmlformats.org/officeDocument/2006/relationships/image" Target="../media/image202.png"/><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45.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image" Target="../media/image26.png"/><Relationship Id="rId1" Type="http://schemas.openxmlformats.org/officeDocument/2006/relationships/slideLayout" Target="../slideLayouts/slideLayout2.xml"/><Relationship Id="rId6" Type="http://schemas.openxmlformats.org/officeDocument/2006/relationships/image" Target="../media/image30.png"/><Relationship Id="rId11" Type="http://schemas.openxmlformats.org/officeDocument/2006/relationships/image" Target="../media/image35.png"/><Relationship Id="rId5" Type="http://schemas.openxmlformats.org/officeDocument/2006/relationships/image" Target="../media/image29.png"/><Relationship Id="rId10" Type="http://schemas.openxmlformats.org/officeDocument/2006/relationships/image" Target="../media/image34.png"/><Relationship Id="rId4" Type="http://schemas.openxmlformats.org/officeDocument/2006/relationships/image" Target="../media/image28.png"/><Relationship Id="rId9" Type="http://schemas.openxmlformats.org/officeDocument/2006/relationships/image" Target="../media/image33.png"/></Relationships>
</file>

<file path=ppt/slides/_rels/slide46.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361.png"/><Relationship Id="rId7" Type="http://schemas.openxmlformats.org/officeDocument/2006/relationships/image" Target="../media/image39.png"/><Relationship Id="rId2" Type="http://schemas.openxmlformats.org/officeDocument/2006/relationships/image" Target="../media/image201.png"/><Relationship Id="rId1" Type="http://schemas.openxmlformats.org/officeDocument/2006/relationships/slideLayout" Target="../slideLayouts/slideLayout2.xml"/><Relationship Id="rId6" Type="http://schemas.openxmlformats.org/officeDocument/2006/relationships/image" Target="../media/image240.png"/><Relationship Id="rId5" Type="http://schemas.openxmlformats.org/officeDocument/2006/relationships/image" Target="../media/image38.png"/><Relationship Id="rId4" Type="http://schemas.openxmlformats.org/officeDocument/2006/relationships/image" Target="../media/image371.png"/></Relationships>
</file>

<file path=ppt/slides/_rels/slide49.xml.rels><?xml version="1.0" encoding="UTF-8" standalone="yes"?>
<Relationships xmlns="http://schemas.openxmlformats.org/package/2006/relationships"><Relationship Id="rId3" Type="http://schemas.openxmlformats.org/officeDocument/2006/relationships/image" Target="../media/image280.png"/><Relationship Id="rId2" Type="http://schemas.openxmlformats.org/officeDocument/2006/relationships/image" Target="../media/image270.png"/><Relationship Id="rId1" Type="http://schemas.openxmlformats.org/officeDocument/2006/relationships/slideLayout" Target="../slideLayouts/slideLayout2.xml"/><Relationship Id="rId4" Type="http://schemas.openxmlformats.org/officeDocument/2006/relationships/image" Target="../media/image290.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8" Type="http://schemas.openxmlformats.org/officeDocument/2006/relationships/image" Target="../media/image360.png"/><Relationship Id="rId3" Type="http://schemas.openxmlformats.org/officeDocument/2006/relationships/image" Target="../media/image310.png"/><Relationship Id="rId7" Type="http://schemas.openxmlformats.org/officeDocument/2006/relationships/image" Target="../media/image350.png"/><Relationship Id="rId2" Type="http://schemas.openxmlformats.org/officeDocument/2006/relationships/image" Target="../media/image300.png"/><Relationship Id="rId1" Type="http://schemas.openxmlformats.org/officeDocument/2006/relationships/slideLayout" Target="../slideLayouts/slideLayout2.xml"/><Relationship Id="rId6" Type="http://schemas.openxmlformats.org/officeDocument/2006/relationships/image" Target="../media/image340.png"/><Relationship Id="rId5" Type="http://schemas.openxmlformats.org/officeDocument/2006/relationships/image" Target="../media/image330.png"/><Relationship Id="rId4" Type="http://schemas.openxmlformats.org/officeDocument/2006/relationships/image" Target="../media/image320.png"/><Relationship Id="rId9" Type="http://schemas.openxmlformats.org/officeDocument/2006/relationships/image" Target="../media/image370.png"/></Relationships>
</file>

<file path=ppt/slides/_rels/slide52.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 Id="rId4" Type="http://schemas.openxmlformats.org/officeDocument/2006/relationships/image" Target="../media/image44.png"/></Relationships>
</file>

<file path=ppt/slides/_rels/slide55.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180.png"/><Relationship Id="rId2" Type="http://schemas.openxmlformats.org/officeDocument/2006/relationships/image" Target="../media/image48.png"/><Relationship Id="rId1" Type="http://schemas.openxmlformats.org/officeDocument/2006/relationships/slideLayout" Target="../slideLayouts/slideLayout2.xml"/><Relationship Id="rId6" Type="http://schemas.openxmlformats.org/officeDocument/2006/relationships/image" Target="../media/image210.png"/><Relationship Id="rId5" Type="http://schemas.openxmlformats.org/officeDocument/2006/relationships/image" Target="../media/image200.png"/><Relationship Id="rId4" Type="http://schemas.openxmlformats.org/officeDocument/2006/relationships/image" Target="../media/image190.png"/></Relationships>
</file>

<file path=ppt/slides/_rels/slide58.xml.rels><?xml version="1.0" encoding="UTF-8" standalone="yes"?>
<Relationships xmlns="http://schemas.openxmlformats.org/package/2006/relationships"><Relationship Id="rId8" Type="http://schemas.openxmlformats.org/officeDocument/2006/relationships/image" Target="../media/image471.png"/><Relationship Id="rId3" Type="http://schemas.openxmlformats.org/officeDocument/2006/relationships/image" Target="../media/image421.png"/><Relationship Id="rId7" Type="http://schemas.openxmlformats.org/officeDocument/2006/relationships/image" Target="../media/image461.png"/><Relationship Id="rId2" Type="http://schemas.openxmlformats.org/officeDocument/2006/relationships/image" Target="../media/image432.png"/><Relationship Id="rId1" Type="http://schemas.openxmlformats.org/officeDocument/2006/relationships/slideLayout" Target="../slideLayouts/slideLayout2.xml"/><Relationship Id="rId6" Type="http://schemas.openxmlformats.org/officeDocument/2006/relationships/image" Target="../media/image451.png"/><Relationship Id="rId5" Type="http://schemas.openxmlformats.org/officeDocument/2006/relationships/image" Target="../media/image441.png"/><Relationship Id="rId4" Type="http://schemas.openxmlformats.org/officeDocument/2006/relationships/image" Target="../media/image431.png"/><Relationship Id="rId9" Type="http://schemas.openxmlformats.org/officeDocument/2006/relationships/image" Target="../media/image481.png"/></Relationships>
</file>

<file path=ppt/slides/_rels/slide59.xml.rels><?xml version="1.0" encoding="UTF-8" standalone="yes"?>
<Relationships xmlns="http://schemas.openxmlformats.org/package/2006/relationships"><Relationship Id="rId8" Type="http://schemas.openxmlformats.org/officeDocument/2006/relationships/image" Target="../media/image56.png"/><Relationship Id="rId3" Type="http://schemas.openxmlformats.org/officeDocument/2006/relationships/image" Target="../media/image51.png"/><Relationship Id="rId7" Type="http://schemas.openxmlformats.org/officeDocument/2006/relationships/image" Target="../media/image55.png"/><Relationship Id="rId2" Type="http://schemas.openxmlformats.org/officeDocument/2006/relationships/image" Target="../media/image49.png"/><Relationship Id="rId1" Type="http://schemas.openxmlformats.org/officeDocument/2006/relationships/slideLayout" Target="../slideLayouts/slideLayout2.xml"/><Relationship Id="rId6" Type="http://schemas.openxmlformats.org/officeDocument/2006/relationships/image" Target="../media/image54.png"/><Relationship Id="rId5" Type="http://schemas.openxmlformats.org/officeDocument/2006/relationships/image" Target="../media/image53.png"/><Relationship Id="rId10" Type="http://schemas.openxmlformats.org/officeDocument/2006/relationships/image" Target="../media/image58.png"/><Relationship Id="rId4" Type="http://schemas.openxmlformats.org/officeDocument/2006/relationships/image" Target="../media/image52.png"/><Relationship Id="rId9" Type="http://schemas.openxmlformats.org/officeDocument/2006/relationships/image" Target="../media/image57.png"/></Relationships>
</file>

<file path=ppt/slides/_rels/slide60.xml.rels><?xml version="1.0" encoding="UTF-8" standalone="yes"?>
<Relationships xmlns="http://schemas.openxmlformats.org/package/2006/relationships"><Relationship Id="rId8" Type="http://schemas.openxmlformats.org/officeDocument/2006/relationships/image" Target="../media/image61.png"/><Relationship Id="rId13" Type="http://schemas.openxmlformats.org/officeDocument/2006/relationships/image" Target="../media/image66.png"/><Relationship Id="rId3" Type="http://schemas.openxmlformats.org/officeDocument/2006/relationships/image" Target="../media/image421.png"/><Relationship Id="rId7" Type="http://schemas.openxmlformats.org/officeDocument/2006/relationships/image" Target="../media/image461.png"/><Relationship Id="rId12" Type="http://schemas.openxmlformats.org/officeDocument/2006/relationships/image" Target="../media/image65.png"/><Relationship Id="rId2" Type="http://schemas.openxmlformats.org/officeDocument/2006/relationships/image" Target="../media/image59.png"/><Relationship Id="rId1" Type="http://schemas.openxmlformats.org/officeDocument/2006/relationships/slideLayout" Target="../slideLayouts/slideLayout2.xml"/><Relationship Id="rId6" Type="http://schemas.openxmlformats.org/officeDocument/2006/relationships/image" Target="../media/image451.png"/><Relationship Id="rId11" Type="http://schemas.openxmlformats.org/officeDocument/2006/relationships/image" Target="../media/image64.png"/><Relationship Id="rId5" Type="http://schemas.openxmlformats.org/officeDocument/2006/relationships/image" Target="../media/image441.png"/><Relationship Id="rId10" Type="http://schemas.openxmlformats.org/officeDocument/2006/relationships/image" Target="../media/image63.png"/><Relationship Id="rId4" Type="http://schemas.openxmlformats.org/officeDocument/2006/relationships/image" Target="../media/image431.png"/><Relationship Id="rId9" Type="http://schemas.openxmlformats.org/officeDocument/2006/relationships/image" Target="../media/image62.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400.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220.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410.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8" Type="http://schemas.openxmlformats.org/officeDocument/2006/relationships/image" Target="../media/image480.png"/><Relationship Id="rId3" Type="http://schemas.openxmlformats.org/officeDocument/2006/relationships/image" Target="../media/image430.png"/><Relationship Id="rId7" Type="http://schemas.openxmlformats.org/officeDocument/2006/relationships/image" Target="../media/image470.png"/><Relationship Id="rId2" Type="http://schemas.openxmlformats.org/officeDocument/2006/relationships/image" Target="../media/image420.png"/><Relationship Id="rId1" Type="http://schemas.openxmlformats.org/officeDocument/2006/relationships/slideLayout" Target="../slideLayouts/slideLayout2.xml"/><Relationship Id="rId6" Type="http://schemas.openxmlformats.org/officeDocument/2006/relationships/image" Target="../media/image460.png"/><Relationship Id="rId5" Type="http://schemas.openxmlformats.org/officeDocument/2006/relationships/image" Target="../media/image450.png"/><Relationship Id="rId4" Type="http://schemas.openxmlformats.org/officeDocument/2006/relationships/image" Target="../media/image440.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490.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510.png"/><Relationship Id="rId2" Type="http://schemas.openxmlformats.org/officeDocument/2006/relationships/image" Target="../media/image411.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GB" sz="3200" b="1" dirty="0"/>
              <a:t>Bachelor of Science in Computer Science</a:t>
            </a:r>
            <a:br>
              <a:rPr lang="en-GB" sz="3200" b="1" dirty="0"/>
            </a:br>
            <a:r>
              <a:rPr lang="en-GB" sz="3200" b="1" dirty="0"/>
              <a:t>University of Colombo School of Computing</a:t>
            </a:r>
          </a:p>
        </p:txBody>
      </p:sp>
      <p:sp>
        <p:nvSpPr>
          <p:cNvPr id="4" name="Date Placeholder 3"/>
          <p:cNvSpPr>
            <a:spLocks noGrp="1"/>
          </p:cNvSpPr>
          <p:nvPr>
            <p:ph type="dt" sz="half" idx="10"/>
          </p:nvPr>
        </p:nvSpPr>
        <p:spPr/>
        <p:txBody>
          <a:bodyPr/>
          <a:lstStyle/>
          <a:p>
            <a:fld id="{60AD89EC-058E-44F9-AEBC-8954FA2AE80E}" type="datetime3">
              <a:rPr lang="en-US" smtClean="0"/>
              <a:t>27 April 2026</a:t>
            </a:fld>
            <a:endParaRPr lang="en-US"/>
          </a:p>
        </p:txBody>
      </p:sp>
      <p:sp>
        <p:nvSpPr>
          <p:cNvPr id="5" name="Footer Placeholder 4"/>
          <p:cNvSpPr>
            <a:spLocks noGrp="1"/>
          </p:cNvSpPr>
          <p:nvPr>
            <p:ph type="ftr" sz="quarter" idx="11"/>
          </p:nvPr>
        </p:nvSpPr>
        <p:spPr/>
        <p:txBody>
          <a:bodyPr/>
          <a:lstStyle/>
          <a:p>
            <a:r>
              <a:rPr lang="en-US"/>
              <a:t>SCS 1302   Discrete Mathematics 1       Prof. D D Karunaratna</a:t>
            </a:r>
          </a:p>
        </p:txBody>
      </p:sp>
      <p:sp>
        <p:nvSpPr>
          <p:cNvPr id="6" name="Slide Number Placeholder 5"/>
          <p:cNvSpPr>
            <a:spLocks noGrp="1"/>
          </p:cNvSpPr>
          <p:nvPr>
            <p:ph type="sldNum" sz="quarter" idx="12"/>
          </p:nvPr>
        </p:nvSpPr>
        <p:spPr/>
        <p:txBody>
          <a:bodyPr/>
          <a:lstStyle/>
          <a:p>
            <a:fld id="{0CA841A6-7C02-4C92-B6EE-5DBCC2AD53D0}" type="slidenum">
              <a:rPr lang="en-US" smtClean="0"/>
              <a:t>1</a:t>
            </a:fld>
            <a:endParaRPr lang="en-US"/>
          </a:p>
        </p:txBody>
      </p:sp>
      <p:sp>
        <p:nvSpPr>
          <p:cNvPr id="7" name="TextBox 6"/>
          <p:cNvSpPr txBox="1"/>
          <p:nvPr/>
        </p:nvSpPr>
        <p:spPr>
          <a:xfrm>
            <a:off x="914400" y="2438400"/>
            <a:ext cx="7010400" cy="2554545"/>
          </a:xfrm>
          <a:prstGeom prst="rect">
            <a:avLst/>
          </a:prstGeom>
          <a:noFill/>
        </p:spPr>
        <p:txBody>
          <a:bodyPr wrap="square" rtlCol="0">
            <a:spAutoFit/>
          </a:bodyPr>
          <a:lstStyle/>
          <a:p>
            <a:r>
              <a:rPr lang="en-GB" sz="3200" b="1" dirty="0"/>
              <a:t>SCS 1302 – Discrete Mathematics 1</a:t>
            </a:r>
          </a:p>
          <a:p>
            <a:endParaRPr lang="en-GB" sz="3200" b="1" dirty="0"/>
          </a:p>
          <a:p>
            <a:r>
              <a:rPr lang="en-GB" sz="3200" b="1" dirty="0"/>
              <a:t>Prof. D </a:t>
            </a:r>
            <a:r>
              <a:rPr lang="en-GB" sz="3200" b="1" dirty="0" err="1"/>
              <a:t>D</a:t>
            </a:r>
            <a:r>
              <a:rPr lang="en-GB" sz="3200" b="1" dirty="0"/>
              <a:t> </a:t>
            </a:r>
            <a:r>
              <a:rPr lang="en-GB" sz="3200" b="1" dirty="0" err="1"/>
              <a:t>Karunaratna</a:t>
            </a:r>
            <a:endParaRPr lang="en-GB" sz="3200" b="1" dirty="0"/>
          </a:p>
          <a:p>
            <a:r>
              <a:rPr lang="en-GB" sz="3200" b="1" dirty="0"/>
              <a:t>(Lecture Hall - S104)</a:t>
            </a:r>
          </a:p>
          <a:p>
            <a:endParaRPr lang="en-GB" sz="3200" b="1" dirty="0"/>
          </a:p>
        </p:txBody>
      </p:sp>
    </p:spTree>
    <p:extLst>
      <p:ext uri="{BB962C8B-B14F-4D97-AF65-F5344CB8AC3E}">
        <p14:creationId xmlns:p14="http://schemas.microsoft.com/office/powerpoint/2010/main" val="42862134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Discrete Mathematics </a:t>
            </a:r>
          </a:p>
        </p:txBody>
      </p:sp>
      <p:sp>
        <p:nvSpPr>
          <p:cNvPr id="4" name="Date Placeholder 3"/>
          <p:cNvSpPr>
            <a:spLocks noGrp="1"/>
          </p:cNvSpPr>
          <p:nvPr>
            <p:ph type="dt" sz="half" idx="10"/>
          </p:nvPr>
        </p:nvSpPr>
        <p:spPr/>
        <p:txBody>
          <a:bodyPr/>
          <a:lstStyle/>
          <a:p>
            <a:fld id="{B68B435A-0D1E-4CA4-9DBE-749367A9B43A}" type="datetime3">
              <a:rPr lang="en-US" smtClean="0"/>
              <a:t>27 April 2026</a:t>
            </a:fld>
            <a:endParaRPr lang="en-US"/>
          </a:p>
        </p:txBody>
      </p:sp>
      <p:sp>
        <p:nvSpPr>
          <p:cNvPr id="5" name="Footer Placeholder 4"/>
          <p:cNvSpPr>
            <a:spLocks noGrp="1"/>
          </p:cNvSpPr>
          <p:nvPr>
            <p:ph type="ftr" sz="quarter" idx="11"/>
          </p:nvPr>
        </p:nvSpPr>
        <p:spPr/>
        <p:txBody>
          <a:bodyPr/>
          <a:lstStyle/>
          <a:p>
            <a:r>
              <a:rPr lang="en-US"/>
              <a:t>SCS 1302   Discrete Mathematics 1       Prof. D D Karunaratna</a:t>
            </a:r>
          </a:p>
        </p:txBody>
      </p:sp>
      <p:sp>
        <p:nvSpPr>
          <p:cNvPr id="6" name="Slide Number Placeholder 5"/>
          <p:cNvSpPr>
            <a:spLocks noGrp="1"/>
          </p:cNvSpPr>
          <p:nvPr>
            <p:ph type="sldNum" sz="quarter" idx="12"/>
          </p:nvPr>
        </p:nvSpPr>
        <p:spPr/>
        <p:txBody>
          <a:bodyPr/>
          <a:lstStyle/>
          <a:p>
            <a:fld id="{0CA841A6-7C02-4C92-B6EE-5DBCC2AD53D0}" type="slidenum">
              <a:rPr lang="en-US" smtClean="0"/>
              <a:t>2</a:t>
            </a:fld>
            <a:endParaRPr lang="en-US"/>
          </a:p>
        </p:txBody>
      </p:sp>
      <p:sp>
        <p:nvSpPr>
          <p:cNvPr id="7" name="TextBox 6"/>
          <p:cNvSpPr txBox="1"/>
          <p:nvPr/>
        </p:nvSpPr>
        <p:spPr>
          <a:xfrm>
            <a:off x="457200" y="1600200"/>
            <a:ext cx="8229600" cy="4610365"/>
          </a:xfrm>
          <a:prstGeom prst="rect">
            <a:avLst/>
          </a:prstGeom>
          <a:noFill/>
        </p:spPr>
        <p:txBody>
          <a:bodyPr wrap="square" rtlCol="0">
            <a:spAutoFit/>
          </a:bodyPr>
          <a:lstStyle/>
          <a:p>
            <a:pPr>
              <a:lnSpc>
                <a:spcPct val="150000"/>
              </a:lnSpc>
            </a:pPr>
            <a:r>
              <a:rPr lang="en-GB" sz="2200" b="1" dirty="0"/>
              <a:t>Main Topics :</a:t>
            </a:r>
          </a:p>
          <a:p>
            <a:pPr marL="342900" indent="-342900">
              <a:lnSpc>
                <a:spcPct val="150000"/>
              </a:lnSpc>
              <a:buFont typeface="+mj-lt"/>
              <a:buAutoNum type="arabicPeriod"/>
            </a:pPr>
            <a:r>
              <a:rPr lang="en-GB" sz="2200" dirty="0"/>
              <a:t>Propositional Logic</a:t>
            </a:r>
          </a:p>
          <a:p>
            <a:pPr marL="342900" indent="-342900">
              <a:lnSpc>
                <a:spcPct val="150000"/>
              </a:lnSpc>
              <a:buFont typeface="+mj-lt"/>
              <a:buAutoNum type="arabicPeriod"/>
            </a:pPr>
            <a:r>
              <a:rPr lang="en-GB" sz="2200" dirty="0"/>
              <a:t>Predicate Logic</a:t>
            </a:r>
          </a:p>
          <a:p>
            <a:pPr marL="342900" indent="-342900">
              <a:lnSpc>
                <a:spcPct val="150000"/>
              </a:lnSpc>
              <a:buFont typeface="+mj-lt"/>
              <a:buAutoNum type="arabicPeriod"/>
            </a:pPr>
            <a:r>
              <a:rPr lang="en-GB" sz="2200" dirty="0"/>
              <a:t>Arguments</a:t>
            </a:r>
          </a:p>
          <a:p>
            <a:pPr marL="342900" indent="-342900">
              <a:lnSpc>
                <a:spcPct val="150000"/>
              </a:lnSpc>
              <a:buFont typeface="+mj-lt"/>
              <a:buAutoNum type="arabicPeriod"/>
            </a:pPr>
            <a:r>
              <a:rPr lang="en-GB" sz="2200" dirty="0"/>
              <a:t>Introduction to Proofs</a:t>
            </a:r>
          </a:p>
          <a:p>
            <a:pPr marL="342900" indent="-342900">
              <a:lnSpc>
                <a:spcPct val="150000"/>
              </a:lnSpc>
              <a:buFont typeface="+mj-lt"/>
              <a:buAutoNum type="arabicPeriod"/>
            </a:pPr>
            <a:r>
              <a:rPr lang="en-GB" sz="2200" dirty="0"/>
              <a:t>Sets</a:t>
            </a:r>
          </a:p>
          <a:p>
            <a:pPr marL="342900" indent="-342900">
              <a:lnSpc>
                <a:spcPct val="150000"/>
              </a:lnSpc>
              <a:buFont typeface="+mj-lt"/>
              <a:buAutoNum type="arabicPeriod"/>
            </a:pPr>
            <a:r>
              <a:rPr lang="en-GB" sz="2200" dirty="0"/>
              <a:t>Functions</a:t>
            </a:r>
          </a:p>
          <a:p>
            <a:pPr marL="342900" indent="-342900">
              <a:lnSpc>
                <a:spcPct val="150000"/>
              </a:lnSpc>
              <a:buFont typeface="+mj-lt"/>
              <a:buAutoNum type="arabicPeriod"/>
            </a:pPr>
            <a:r>
              <a:rPr lang="en-GB" sz="2200" dirty="0"/>
              <a:t>Relation</a:t>
            </a:r>
          </a:p>
          <a:p>
            <a:pPr marL="342900" indent="-342900">
              <a:lnSpc>
                <a:spcPct val="150000"/>
              </a:lnSpc>
              <a:buFont typeface="+mj-lt"/>
              <a:buAutoNum type="arabicPeriod"/>
            </a:pPr>
            <a:r>
              <a:rPr lang="en-GB" sz="2200" dirty="0"/>
              <a:t>Number Theory</a:t>
            </a:r>
          </a:p>
        </p:txBody>
      </p:sp>
    </p:spTree>
    <p:extLst>
      <p:ext uri="{BB962C8B-B14F-4D97-AF65-F5344CB8AC3E}">
        <p14:creationId xmlns:p14="http://schemas.microsoft.com/office/powerpoint/2010/main" val="40555908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89720"/>
            <a:ext cx="8229600" cy="1249362"/>
          </a:xfrm>
        </p:spPr>
        <p:txBody>
          <a:bodyPr>
            <a:normAutofit/>
          </a:bodyPr>
          <a:lstStyle/>
          <a:p>
            <a:r>
              <a:rPr lang="en-US" sz="4800" b="1" dirty="0"/>
              <a:t>Textbook</a:t>
            </a:r>
            <a:endParaRPr lang="en-GB" sz="4800" dirty="0"/>
          </a:p>
        </p:txBody>
      </p:sp>
      <p:sp>
        <p:nvSpPr>
          <p:cNvPr id="3" name="Content Placeholder 2"/>
          <p:cNvSpPr>
            <a:spLocks noGrp="1"/>
          </p:cNvSpPr>
          <p:nvPr>
            <p:ph idx="1"/>
          </p:nvPr>
        </p:nvSpPr>
        <p:spPr/>
        <p:txBody>
          <a:bodyPr/>
          <a:lstStyle/>
          <a:p>
            <a:pPr marL="0" indent="0">
              <a:buNone/>
            </a:pPr>
            <a:r>
              <a:rPr lang="en-US" dirty="0"/>
              <a:t>Discrete Mathematics and Its Applications </a:t>
            </a:r>
          </a:p>
          <a:p>
            <a:pPr marL="0" indent="0">
              <a:buNone/>
            </a:pPr>
            <a:r>
              <a:rPr lang="en-US" b="1" dirty="0"/>
              <a:t>By Kenneth H. Rosen </a:t>
            </a:r>
          </a:p>
          <a:p>
            <a:pPr marL="0" indent="0">
              <a:buNone/>
            </a:pPr>
            <a:r>
              <a:rPr lang="en-US" b="1" dirty="0"/>
              <a:t>Published by McGraw-Hill</a:t>
            </a:r>
          </a:p>
          <a:p>
            <a:pPr marL="0" indent="0">
              <a:buNone/>
            </a:pPr>
            <a:r>
              <a:rPr lang="en-US" dirty="0"/>
              <a:t>(7</a:t>
            </a:r>
            <a:r>
              <a:rPr lang="en-US" baseline="30000" dirty="0"/>
              <a:t>th</a:t>
            </a:r>
            <a:r>
              <a:rPr lang="en-US" dirty="0"/>
              <a:t> Edition)</a:t>
            </a:r>
          </a:p>
          <a:p>
            <a:pPr marL="0" indent="0">
              <a:buNone/>
            </a:pPr>
            <a:r>
              <a:rPr lang="en-US" b="1" dirty="0"/>
              <a:t>Chapters 1, 2, 4, and 9.</a:t>
            </a:r>
          </a:p>
          <a:p>
            <a:pPr marL="0" indent="0">
              <a:buNone/>
            </a:pPr>
            <a:endParaRPr lang="en-GB" dirty="0"/>
          </a:p>
        </p:txBody>
      </p:sp>
      <p:sp>
        <p:nvSpPr>
          <p:cNvPr id="4" name="Date Placeholder 3"/>
          <p:cNvSpPr>
            <a:spLocks noGrp="1"/>
          </p:cNvSpPr>
          <p:nvPr>
            <p:ph type="dt" sz="half" idx="10"/>
          </p:nvPr>
        </p:nvSpPr>
        <p:spPr/>
        <p:txBody>
          <a:bodyPr/>
          <a:lstStyle/>
          <a:p>
            <a:fld id="{D20327FB-3B7A-4D00-AD79-578E01F27C93}" type="datetime3">
              <a:rPr lang="en-US" smtClean="0"/>
              <a:t>27 April 2026</a:t>
            </a:fld>
            <a:endParaRPr lang="en-US"/>
          </a:p>
        </p:txBody>
      </p:sp>
      <p:sp>
        <p:nvSpPr>
          <p:cNvPr id="5" name="Footer Placeholder 4"/>
          <p:cNvSpPr>
            <a:spLocks noGrp="1"/>
          </p:cNvSpPr>
          <p:nvPr>
            <p:ph type="ftr" sz="quarter" idx="11"/>
          </p:nvPr>
        </p:nvSpPr>
        <p:spPr/>
        <p:txBody>
          <a:bodyPr/>
          <a:lstStyle/>
          <a:p>
            <a:r>
              <a:rPr lang="en-US"/>
              <a:t>SCS 1302   Discrete Mathematics 1       Prof. D D Karunaratna</a:t>
            </a:r>
          </a:p>
        </p:txBody>
      </p:sp>
      <p:sp>
        <p:nvSpPr>
          <p:cNvPr id="6" name="Slide Number Placeholder 5"/>
          <p:cNvSpPr>
            <a:spLocks noGrp="1"/>
          </p:cNvSpPr>
          <p:nvPr>
            <p:ph type="sldNum" sz="quarter" idx="12"/>
          </p:nvPr>
        </p:nvSpPr>
        <p:spPr/>
        <p:txBody>
          <a:bodyPr/>
          <a:lstStyle/>
          <a:p>
            <a:fld id="{0CA841A6-7C02-4C92-B6EE-5DBCC2AD53D0}" type="slidenum">
              <a:rPr lang="en-US" smtClean="0"/>
              <a:t>3</a:t>
            </a:fld>
            <a:endParaRPr lang="en-US"/>
          </a:p>
        </p:txBody>
      </p:sp>
    </p:spTree>
    <p:extLst>
      <p:ext uri="{BB962C8B-B14F-4D97-AF65-F5344CB8AC3E}">
        <p14:creationId xmlns:p14="http://schemas.microsoft.com/office/powerpoint/2010/main" val="371047750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r>
              <a:rPr lang="en-US" b="1" dirty="0"/>
              <a:t>Lesson 1:  Propositional Logic</a:t>
            </a:r>
          </a:p>
        </p:txBody>
      </p:sp>
      <p:sp>
        <p:nvSpPr>
          <p:cNvPr id="3" name="Content Placeholder 2"/>
          <p:cNvSpPr>
            <a:spLocks noGrp="1"/>
          </p:cNvSpPr>
          <p:nvPr>
            <p:ph idx="1"/>
          </p:nvPr>
        </p:nvSpPr>
        <p:spPr/>
        <p:txBody>
          <a:bodyPr>
            <a:normAutofit fontScale="92500" lnSpcReduction="10000"/>
          </a:bodyPr>
          <a:lstStyle/>
          <a:p>
            <a:r>
              <a:rPr lang="en-US" b="1" dirty="0"/>
              <a:t>Topics to be covered. </a:t>
            </a:r>
          </a:p>
          <a:p>
            <a:pPr lvl="1"/>
            <a:r>
              <a:rPr lang="en-GB" b="1" dirty="0"/>
              <a:t>Propositions</a:t>
            </a:r>
          </a:p>
          <a:p>
            <a:pPr lvl="1"/>
            <a:r>
              <a:rPr lang="en-GB" b="1" dirty="0"/>
              <a:t>Primitive propositions, logical operators, Compound Propositions and Truth Tables </a:t>
            </a:r>
          </a:p>
          <a:p>
            <a:pPr lvl="1"/>
            <a:r>
              <a:rPr lang="en-GB" b="1" dirty="0"/>
              <a:t>Equivalences</a:t>
            </a:r>
          </a:p>
          <a:p>
            <a:pPr lvl="1"/>
            <a:r>
              <a:rPr lang="en-US" b="1" dirty="0"/>
              <a:t>Precedence of Logical Operators</a:t>
            </a:r>
          </a:p>
          <a:p>
            <a:pPr lvl="1"/>
            <a:r>
              <a:rPr lang="en-US" b="1" dirty="0"/>
              <a:t>Tautology and Contradiction</a:t>
            </a:r>
          </a:p>
          <a:p>
            <a:pPr lvl="1"/>
            <a:r>
              <a:rPr lang="en-US" b="1" dirty="0"/>
              <a:t>Normal Forms</a:t>
            </a:r>
            <a:endParaRPr lang="en-GB" b="1" dirty="0"/>
          </a:p>
          <a:p>
            <a:pPr lvl="1"/>
            <a:r>
              <a:rPr lang="en-GB" b="1" dirty="0"/>
              <a:t>Applications of Propositional Logic</a:t>
            </a:r>
          </a:p>
          <a:p>
            <a:pPr lvl="1"/>
            <a:r>
              <a:rPr lang="en-GB" b="1" dirty="0"/>
              <a:t>Satisfiability</a:t>
            </a:r>
            <a:endParaRPr lang="en-US" dirty="0"/>
          </a:p>
        </p:txBody>
      </p:sp>
      <p:sp>
        <p:nvSpPr>
          <p:cNvPr id="4" name="Date Placeholder 3"/>
          <p:cNvSpPr>
            <a:spLocks noGrp="1"/>
          </p:cNvSpPr>
          <p:nvPr>
            <p:ph type="dt" sz="half" idx="10"/>
          </p:nvPr>
        </p:nvSpPr>
        <p:spPr/>
        <p:txBody>
          <a:bodyPr/>
          <a:lstStyle/>
          <a:p>
            <a:fld id="{D7990DC6-C4BF-49F2-885C-67B9E046D380}" type="datetime3">
              <a:rPr lang="en-US" smtClean="0"/>
              <a:t>27 April 2026</a:t>
            </a:fld>
            <a:endParaRPr lang="en-US"/>
          </a:p>
        </p:txBody>
      </p:sp>
      <p:sp>
        <p:nvSpPr>
          <p:cNvPr id="5" name="Footer Placeholder 4"/>
          <p:cNvSpPr>
            <a:spLocks noGrp="1"/>
          </p:cNvSpPr>
          <p:nvPr>
            <p:ph type="ftr" sz="quarter" idx="11"/>
          </p:nvPr>
        </p:nvSpPr>
        <p:spPr/>
        <p:txBody>
          <a:bodyPr/>
          <a:lstStyle/>
          <a:p>
            <a:r>
              <a:rPr lang="en-US"/>
              <a:t>SCS 1302   Discrete Mathematics 1       Prof. D D Karunaratna</a:t>
            </a:r>
          </a:p>
        </p:txBody>
      </p:sp>
      <p:sp>
        <p:nvSpPr>
          <p:cNvPr id="6" name="Slide Number Placeholder 5"/>
          <p:cNvSpPr>
            <a:spLocks noGrp="1"/>
          </p:cNvSpPr>
          <p:nvPr>
            <p:ph type="sldNum" sz="quarter" idx="12"/>
          </p:nvPr>
        </p:nvSpPr>
        <p:spPr/>
        <p:txBody>
          <a:bodyPr/>
          <a:lstStyle/>
          <a:p>
            <a:fld id="{0CA841A6-7C02-4C92-B6EE-5DBCC2AD53D0}" type="slidenum">
              <a:rPr lang="en-US" smtClean="0"/>
              <a:t>4</a:t>
            </a:fld>
            <a:endParaRPr lang="en-US"/>
          </a:p>
        </p:txBody>
      </p:sp>
    </p:spTree>
    <p:extLst>
      <p:ext uri="{BB962C8B-B14F-4D97-AF65-F5344CB8AC3E}">
        <p14:creationId xmlns:p14="http://schemas.microsoft.com/office/powerpoint/2010/main" val="30230093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Propositions</a:t>
            </a:r>
            <a:endParaRPr lang="en-GB" dirty="0"/>
          </a:p>
        </p:txBody>
      </p:sp>
      <p:sp>
        <p:nvSpPr>
          <p:cNvPr id="4" name="Date Placeholder 3"/>
          <p:cNvSpPr>
            <a:spLocks noGrp="1"/>
          </p:cNvSpPr>
          <p:nvPr>
            <p:ph type="dt" sz="half" idx="10"/>
          </p:nvPr>
        </p:nvSpPr>
        <p:spPr/>
        <p:txBody>
          <a:bodyPr/>
          <a:lstStyle/>
          <a:p>
            <a:fld id="{CDBB4D7E-C0A5-483D-BA40-995A9B02E66C}" type="datetime3">
              <a:rPr lang="en-US" smtClean="0"/>
              <a:t>27 April 2026</a:t>
            </a:fld>
            <a:endParaRPr lang="en-US"/>
          </a:p>
        </p:txBody>
      </p:sp>
      <p:sp>
        <p:nvSpPr>
          <p:cNvPr id="5" name="Footer Placeholder 4"/>
          <p:cNvSpPr>
            <a:spLocks noGrp="1"/>
          </p:cNvSpPr>
          <p:nvPr>
            <p:ph type="ftr" sz="quarter" idx="11"/>
          </p:nvPr>
        </p:nvSpPr>
        <p:spPr/>
        <p:txBody>
          <a:bodyPr/>
          <a:lstStyle/>
          <a:p>
            <a:r>
              <a:rPr lang="en-US"/>
              <a:t>SCS 1302   Discrete Mathematics 1       Prof. D D Karunaratna</a:t>
            </a:r>
          </a:p>
        </p:txBody>
      </p:sp>
      <p:sp>
        <p:nvSpPr>
          <p:cNvPr id="6" name="Slide Number Placeholder 5"/>
          <p:cNvSpPr>
            <a:spLocks noGrp="1"/>
          </p:cNvSpPr>
          <p:nvPr>
            <p:ph type="sldNum" sz="quarter" idx="12"/>
          </p:nvPr>
        </p:nvSpPr>
        <p:spPr/>
        <p:txBody>
          <a:bodyPr/>
          <a:lstStyle/>
          <a:p>
            <a:fld id="{0CA841A6-7C02-4C92-B6EE-5DBCC2AD53D0}" type="slidenum">
              <a:rPr lang="en-US" smtClean="0"/>
              <a:t>5</a:t>
            </a:fld>
            <a:endParaRPr lang="en-US"/>
          </a:p>
        </p:txBody>
      </p:sp>
      <p:sp>
        <p:nvSpPr>
          <p:cNvPr id="7" name="Rectangle 6"/>
          <p:cNvSpPr/>
          <p:nvPr/>
        </p:nvSpPr>
        <p:spPr>
          <a:xfrm>
            <a:off x="457200" y="1759803"/>
            <a:ext cx="8229600" cy="4524315"/>
          </a:xfrm>
          <a:prstGeom prst="rect">
            <a:avLst/>
          </a:prstGeom>
        </p:spPr>
        <p:txBody>
          <a:bodyPr wrap="square">
            <a:spAutoFit/>
          </a:bodyPr>
          <a:lstStyle/>
          <a:p>
            <a:r>
              <a:rPr lang="en-US" sz="2400" dirty="0"/>
              <a:t>A </a:t>
            </a:r>
            <a:r>
              <a:rPr lang="en-US" sz="2400" b="1" dirty="0"/>
              <a:t>proposition </a:t>
            </a:r>
            <a:r>
              <a:rPr lang="en-US" sz="2400" dirty="0"/>
              <a:t>is a </a:t>
            </a:r>
            <a:r>
              <a:rPr lang="en-US" sz="2400" b="1" dirty="0"/>
              <a:t>declarative sentence </a:t>
            </a:r>
            <a:r>
              <a:rPr lang="en-US" sz="2400" dirty="0"/>
              <a:t>(a sentence that declares a fact )  that is either </a:t>
            </a:r>
            <a:r>
              <a:rPr lang="en-US" sz="2400" b="1" dirty="0"/>
              <a:t>true (1) </a:t>
            </a:r>
            <a:r>
              <a:rPr lang="en-US" sz="2400" dirty="0"/>
              <a:t>or </a:t>
            </a:r>
            <a:r>
              <a:rPr lang="en-US" sz="2400" b="1" dirty="0"/>
              <a:t>false(0)</a:t>
            </a:r>
            <a:r>
              <a:rPr lang="en-US" sz="2400" dirty="0"/>
              <a:t>, but not both. The </a:t>
            </a:r>
            <a:r>
              <a:rPr lang="en-US" sz="2400" b="1" dirty="0"/>
              <a:t>true</a:t>
            </a:r>
            <a:r>
              <a:rPr lang="en-US" sz="2400" dirty="0"/>
              <a:t> or </a:t>
            </a:r>
            <a:r>
              <a:rPr lang="en-US" sz="2400" b="1" dirty="0"/>
              <a:t>false</a:t>
            </a:r>
            <a:r>
              <a:rPr lang="en-US" sz="2400" dirty="0"/>
              <a:t> value that can be assigned to a proposition is called its </a:t>
            </a:r>
            <a:r>
              <a:rPr lang="en-US" sz="2400" b="1" dirty="0"/>
              <a:t>truth value</a:t>
            </a:r>
            <a:r>
              <a:rPr lang="en-US" sz="2400" dirty="0"/>
              <a:t>.</a:t>
            </a:r>
          </a:p>
          <a:p>
            <a:endParaRPr lang="en-US" sz="2400" dirty="0"/>
          </a:p>
          <a:p>
            <a:r>
              <a:rPr lang="en-US" sz="2400" dirty="0"/>
              <a:t>A proposition can be viewed as a sentence that can be assigned with a truth value.</a:t>
            </a:r>
          </a:p>
          <a:p>
            <a:endParaRPr lang="en-US" sz="2400" dirty="0"/>
          </a:p>
          <a:p>
            <a:r>
              <a:rPr lang="en-US" sz="2400" dirty="0"/>
              <a:t>The area of logic that deals with propositions is called the </a:t>
            </a:r>
            <a:r>
              <a:rPr lang="en-US" sz="2400" b="1" dirty="0"/>
              <a:t>propositional calculus or propositional logic. </a:t>
            </a:r>
            <a:r>
              <a:rPr lang="en-US" sz="2400" dirty="0"/>
              <a:t>It was first developed systematically by the Greek philosopher Aristotle more than 2300 years ago.</a:t>
            </a:r>
          </a:p>
        </p:txBody>
      </p:sp>
    </p:spTree>
    <p:extLst>
      <p:ext uri="{BB962C8B-B14F-4D97-AF65-F5344CB8AC3E}">
        <p14:creationId xmlns:p14="http://schemas.microsoft.com/office/powerpoint/2010/main" val="26008043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8E50B3-67C7-3251-AC26-F9715D8286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EA4FE2-4CD3-1BB4-BD0C-A7E0164CA0E1}"/>
              </a:ext>
            </a:extLst>
          </p:cNvPr>
          <p:cNvSpPr>
            <a:spLocks noGrp="1"/>
          </p:cNvSpPr>
          <p:nvPr>
            <p:ph type="title"/>
          </p:nvPr>
        </p:nvSpPr>
        <p:spPr/>
        <p:txBody>
          <a:bodyPr/>
          <a:lstStyle/>
          <a:p>
            <a:r>
              <a:rPr lang="en-US" b="1" dirty="0"/>
              <a:t>Examples</a:t>
            </a:r>
            <a:endParaRPr lang="en-GB" dirty="0"/>
          </a:p>
        </p:txBody>
      </p:sp>
      <p:sp>
        <p:nvSpPr>
          <p:cNvPr id="4" name="Date Placeholder 3">
            <a:extLst>
              <a:ext uri="{FF2B5EF4-FFF2-40B4-BE49-F238E27FC236}">
                <a16:creationId xmlns:a16="http://schemas.microsoft.com/office/drawing/2014/main" id="{1E2AA2C4-C4DD-0F20-DA22-717AF3E672E9}"/>
              </a:ext>
            </a:extLst>
          </p:cNvPr>
          <p:cNvSpPr>
            <a:spLocks noGrp="1"/>
          </p:cNvSpPr>
          <p:nvPr>
            <p:ph type="dt" sz="half" idx="10"/>
          </p:nvPr>
        </p:nvSpPr>
        <p:spPr/>
        <p:txBody>
          <a:bodyPr/>
          <a:lstStyle/>
          <a:p>
            <a:fld id="{0E9655AF-31E0-46B0-93C1-C6FC75B759E0}" type="datetime3">
              <a:rPr lang="en-US" smtClean="0"/>
              <a:t>27 April 2026</a:t>
            </a:fld>
            <a:endParaRPr lang="en-US"/>
          </a:p>
        </p:txBody>
      </p:sp>
      <p:sp>
        <p:nvSpPr>
          <p:cNvPr id="5" name="Footer Placeholder 4">
            <a:extLst>
              <a:ext uri="{FF2B5EF4-FFF2-40B4-BE49-F238E27FC236}">
                <a16:creationId xmlns:a16="http://schemas.microsoft.com/office/drawing/2014/main" id="{C013E5BF-DA38-AD52-0D5D-EEBE0F53A191}"/>
              </a:ext>
            </a:extLst>
          </p:cNvPr>
          <p:cNvSpPr>
            <a:spLocks noGrp="1"/>
          </p:cNvSpPr>
          <p:nvPr>
            <p:ph type="ftr" sz="quarter" idx="11"/>
          </p:nvPr>
        </p:nvSpPr>
        <p:spPr/>
        <p:txBody>
          <a:bodyPr/>
          <a:lstStyle/>
          <a:p>
            <a:r>
              <a:rPr lang="en-US"/>
              <a:t>SCS 1302   Discrete Mathematics 1       Prof. D D Karunaratna</a:t>
            </a:r>
          </a:p>
        </p:txBody>
      </p:sp>
      <p:sp>
        <p:nvSpPr>
          <p:cNvPr id="6" name="Slide Number Placeholder 5">
            <a:extLst>
              <a:ext uri="{FF2B5EF4-FFF2-40B4-BE49-F238E27FC236}">
                <a16:creationId xmlns:a16="http://schemas.microsoft.com/office/drawing/2014/main" id="{3502F795-A135-AD83-D20B-A0CBE10EC791}"/>
              </a:ext>
            </a:extLst>
          </p:cNvPr>
          <p:cNvSpPr>
            <a:spLocks noGrp="1"/>
          </p:cNvSpPr>
          <p:nvPr>
            <p:ph type="sldNum" sz="quarter" idx="12"/>
          </p:nvPr>
        </p:nvSpPr>
        <p:spPr/>
        <p:txBody>
          <a:bodyPr/>
          <a:lstStyle/>
          <a:p>
            <a:fld id="{0CA841A6-7C02-4C92-B6EE-5DBCC2AD53D0}" type="slidenum">
              <a:rPr lang="en-US" smtClean="0"/>
              <a:t>6</a:t>
            </a:fld>
            <a:endParaRPr lang="en-US"/>
          </a:p>
        </p:txBody>
      </p:sp>
      <p:sp>
        <p:nvSpPr>
          <p:cNvPr id="8" name="TextBox 7">
            <a:extLst>
              <a:ext uri="{FF2B5EF4-FFF2-40B4-BE49-F238E27FC236}">
                <a16:creationId xmlns:a16="http://schemas.microsoft.com/office/drawing/2014/main" id="{D19C92AD-2DDB-F3BE-44BA-672E12B462E9}"/>
              </a:ext>
            </a:extLst>
          </p:cNvPr>
          <p:cNvSpPr txBox="1"/>
          <p:nvPr/>
        </p:nvSpPr>
        <p:spPr>
          <a:xfrm>
            <a:off x="304800" y="1642674"/>
            <a:ext cx="8382000" cy="1375826"/>
          </a:xfrm>
          <a:prstGeom prst="rect">
            <a:avLst/>
          </a:prstGeom>
          <a:noFill/>
        </p:spPr>
        <p:txBody>
          <a:bodyPr wrap="square" rtlCol="0">
            <a:spAutoFit/>
          </a:bodyPr>
          <a:lstStyle/>
          <a:p>
            <a:pPr>
              <a:lnSpc>
                <a:spcPts val="2500"/>
              </a:lnSpc>
            </a:pPr>
            <a:r>
              <a:rPr lang="en-US" sz="2400" b="1" dirty="0"/>
              <a:t>Examples of propositions:</a:t>
            </a:r>
          </a:p>
          <a:p>
            <a:pPr marL="457200" indent="-457200">
              <a:lnSpc>
                <a:spcPts val="2500"/>
              </a:lnSpc>
              <a:buFont typeface="+mj-lt"/>
              <a:buAutoNum type="arabicPeriod"/>
            </a:pPr>
            <a:r>
              <a:rPr lang="en-US" sz="2400" dirty="0"/>
              <a:t>Colombo  is the biggest city of  Sri Lanka.</a:t>
            </a:r>
          </a:p>
          <a:p>
            <a:pPr marL="457200" indent="-457200">
              <a:lnSpc>
                <a:spcPts val="2500"/>
              </a:lnSpc>
              <a:buFont typeface="+mj-lt"/>
              <a:buAutoNum type="arabicPeriod"/>
            </a:pPr>
            <a:r>
              <a:rPr lang="en-US" sz="2400" dirty="0"/>
              <a:t>2 +  3 =  4.</a:t>
            </a:r>
          </a:p>
          <a:p>
            <a:pPr marL="457200" indent="-457200">
              <a:lnSpc>
                <a:spcPts val="2500"/>
              </a:lnSpc>
              <a:buFont typeface="+mj-lt"/>
              <a:buAutoNum type="arabicPeriod"/>
            </a:pPr>
            <a:r>
              <a:rPr lang="en-US" sz="2400" dirty="0"/>
              <a:t>The Moon is made of cheese.</a:t>
            </a:r>
          </a:p>
        </p:txBody>
      </p:sp>
      <p:sp>
        <p:nvSpPr>
          <p:cNvPr id="9" name="Rectangle 8">
            <a:extLst>
              <a:ext uri="{FF2B5EF4-FFF2-40B4-BE49-F238E27FC236}">
                <a16:creationId xmlns:a16="http://schemas.microsoft.com/office/drawing/2014/main" id="{92326328-38AE-F1AA-082A-9E27E1488DE7}"/>
              </a:ext>
            </a:extLst>
          </p:cNvPr>
          <p:cNvSpPr/>
          <p:nvPr/>
        </p:nvSpPr>
        <p:spPr>
          <a:xfrm>
            <a:off x="304800" y="2972060"/>
            <a:ext cx="8382000" cy="2658228"/>
          </a:xfrm>
          <a:prstGeom prst="rect">
            <a:avLst/>
          </a:prstGeom>
        </p:spPr>
        <p:txBody>
          <a:bodyPr wrap="square">
            <a:spAutoFit/>
          </a:bodyPr>
          <a:lstStyle/>
          <a:p>
            <a:pPr>
              <a:lnSpc>
                <a:spcPts val="2500"/>
              </a:lnSpc>
            </a:pPr>
            <a:r>
              <a:rPr lang="en-US" sz="2400" dirty="0"/>
              <a:t>The following  sentences are not  propositions:</a:t>
            </a:r>
          </a:p>
          <a:p>
            <a:pPr marL="457200" indent="-457200">
              <a:lnSpc>
                <a:spcPts val="2500"/>
              </a:lnSpc>
              <a:buFont typeface="+mj-lt"/>
              <a:buAutoNum type="arabicPeriod"/>
            </a:pPr>
            <a:r>
              <a:rPr lang="en-US" sz="2400" dirty="0"/>
              <a:t>What time is it?</a:t>
            </a:r>
          </a:p>
          <a:p>
            <a:pPr marL="457200" indent="-457200">
              <a:lnSpc>
                <a:spcPts val="2500"/>
              </a:lnSpc>
              <a:buFont typeface="+mj-lt"/>
              <a:buAutoNum type="arabicPeriod"/>
            </a:pPr>
            <a:r>
              <a:rPr lang="en-US" sz="2400" dirty="0"/>
              <a:t>Please be silent!</a:t>
            </a:r>
          </a:p>
          <a:p>
            <a:pPr marL="457200" indent="-457200">
              <a:lnSpc>
                <a:spcPts val="2500"/>
              </a:lnSpc>
              <a:buFont typeface="+mj-lt"/>
              <a:buAutoNum type="arabicPeriod"/>
            </a:pPr>
            <a:r>
              <a:rPr lang="en-US" sz="2400" dirty="0"/>
              <a:t>X  +  5  =  3.   </a:t>
            </a:r>
          </a:p>
          <a:p>
            <a:pPr>
              <a:lnSpc>
                <a:spcPts val="2500"/>
              </a:lnSpc>
            </a:pPr>
            <a:r>
              <a:rPr lang="en-US" sz="2400" dirty="0"/>
              <a:t>True or False of the last statement depends on the value of X.</a:t>
            </a:r>
          </a:p>
          <a:p>
            <a:pPr>
              <a:lnSpc>
                <a:spcPts val="2500"/>
              </a:lnSpc>
            </a:pPr>
            <a:r>
              <a:rPr lang="en-US" sz="2400" dirty="0"/>
              <a:t>Without knowing it, this statement cannot be assigned with a truth value. The first and second statements are not even declarative statements (facts)</a:t>
            </a:r>
          </a:p>
        </p:txBody>
      </p:sp>
    </p:spTree>
    <p:extLst>
      <p:ext uri="{BB962C8B-B14F-4D97-AF65-F5344CB8AC3E}">
        <p14:creationId xmlns:p14="http://schemas.microsoft.com/office/powerpoint/2010/main" val="18458051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94B26A-5A25-C3E8-888D-5F82EBFAE36E}"/>
              </a:ext>
            </a:extLst>
          </p:cNvPr>
          <p:cNvSpPr>
            <a:spLocks noGrp="1"/>
          </p:cNvSpPr>
          <p:nvPr>
            <p:ph type="title"/>
          </p:nvPr>
        </p:nvSpPr>
        <p:spPr>
          <a:xfrm>
            <a:off x="457200" y="304800"/>
            <a:ext cx="8458200" cy="1249362"/>
          </a:xfrm>
        </p:spPr>
        <p:txBody>
          <a:bodyPr/>
          <a:lstStyle/>
          <a:p>
            <a:r>
              <a:rPr lang="en-US" dirty="0">
                <a:latin typeface="CMSSBX10"/>
              </a:rPr>
              <a:t>A</a:t>
            </a:r>
            <a:r>
              <a:rPr lang="en-US" sz="3600" b="0" i="0" u="none" strike="noStrike" baseline="0" dirty="0">
                <a:latin typeface="CMSSBX10"/>
              </a:rPr>
              <a:t>tomic proposition (Primitive proposition)</a:t>
            </a:r>
            <a:r>
              <a:rPr lang="en-US" sz="3600" b="0" i="0" u="none" strike="noStrike" baseline="0" dirty="0">
                <a:latin typeface="CMSS10"/>
              </a:rPr>
              <a:t>.</a:t>
            </a:r>
            <a:endParaRPr lang="si-LK" dirty="0"/>
          </a:p>
        </p:txBody>
      </p:sp>
      <p:sp>
        <p:nvSpPr>
          <p:cNvPr id="3" name="Content Placeholder 2">
            <a:extLst>
              <a:ext uri="{FF2B5EF4-FFF2-40B4-BE49-F238E27FC236}">
                <a16:creationId xmlns:a16="http://schemas.microsoft.com/office/drawing/2014/main" id="{7B34AC84-DD92-91F2-2B40-CD549DD648B2}"/>
              </a:ext>
            </a:extLst>
          </p:cNvPr>
          <p:cNvSpPr>
            <a:spLocks noGrp="1"/>
          </p:cNvSpPr>
          <p:nvPr>
            <p:ph idx="1"/>
          </p:nvPr>
        </p:nvSpPr>
        <p:spPr/>
        <p:txBody>
          <a:bodyPr>
            <a:normAutofit/>
          </a:bodyPr>
          <a:lstStyle/>
          <a:p>
            <a:pPr marL="0" indent="0">
              <a:buNone/>
            </a:pPr>
            <a:r>
              <a:rPr lang="en-US" sz="2800" b="0" i="0" u="none" strike="noStrike" baseline="0" dirty="0">
                <a:solidFill>
                  <a:srgbClr val="000000"/>
                </a:solidFill>
                <a:latin typeface="CMSS10"/>
              </a:rPr>
              <a:t>A statement that cannot be broken down into smaller statements, is known as </a:t>
            </a:r>
            <a:r>
              <a:rPr lang="en-US" sz="2800" dirty="0">
                <a:solidFill>
                  <a:srgbClr val="000000"/>
                </a:solidFill>
                <a:latin typeface="CMSS10"/>
              </a:rPr>
              <a:t>an</a:t>
            </a:r>
            <a:r>
              <a:rPr lang="en-US" sz="2800" b="0" i="0" u="none" strike="noStrike" baseline="0" dirty="0">
                <a:solidFill>
                  <a:srgbClr val="000000"/>
                </a:solidFill>
                <a:latin typeface="CMSS10"/>
              </a:rPr>
              <a:t> </a:t>
            </a:r>
            <a:r>
              <a:rPr lang="en-US" sz="2800" b="1" i="0" u="none" strike="noStrike" baseline="0" dirty="0">
                <a:solidFill>
                  <a:srgbClr val="000000"/>
                </a:solidFill>
                <a:latin typeface="CMSSBX10"/>
              </a:rPr>
              <a:t>atomic </a:t>
            </a:r>
            <a:r>
              <a:rPr lang="en-US" sz="2800" b="1" dirty="0">
                <a:solidFill>
                  <a:srgbClr val="000000"/>
                </a:solidFill>
                <a:latin typeface="CMSSBX10"/>
              </a:rPr>
              <a:t>(primitive) </a:t>
            </a:r>
            <a:r>
              <a:rPr lang="en-US" sz="2800" b="0" i="0" u="none" strike="noStrike" baseline="0" dirty="0">
                <a:solidFill>
                  <a:srgbClr val="000000"/>
                </a:solidFill>
                <a:latin typeface="CMSSBX10"/>
              </a:rPr>
              <a:t>proposition</a:t>
            </a:r>
            <a:r>
              <a:rPr lang="en-US" sz="2800" b="0" i="0" u="none" strike="noStrike" baseline="0" dirty="0">
                <a:solidFill>
                  <a:srgbClr val="000000"/>
                </a:solidFill>
                <a:latin typeface="CMSS10"/>
              </a:rPr>
              <a:t>.</a:t>
            </a:r>
          </a:p>
          <a:p>
            <a:pPr marL="0" indent="0" algn="l">
              <a:buNone/>
            </a:pPr>
            <a:endParaRPr lang="en-US" sz="2800" dirty="0">
              <a:solidFill>
                <a:srgbClr val="000000"/>
              </a:solidFill>
              <a:latin typeface="CMSSBX10"/>
            </a:endParaRPr>
          </a:p>
          <a:p>
            <a:pPr marL="0" indent="0" algn="l">
              <a:buNone/>
            </a:pPr>
            <a:endParaRPr lang="si-LK" dirty="0"/>
          </a:p>
        </p:txBody>
      </p:sp>
      <p:sp>
        <p:nvSpPr>
          <p:cNvPr id="4" name="Date Placeholder 3">
            <a:extLst>
              <a:ext uri="{FF2B5EF4-FFF2-40B4-BE49-F238E27FC236}">
                <a16:creationId xmlns:a16="http://schemas.microsoft.com/office/drawing/2014/main" id="{6C294DBD-91C6-0042-D67A-86A003767386}"/>
              </a:ext>
            </a:extLst>
          </p:cNvPr>
          <p:cNvSpPr>
            <a:spLocks noGrp="1"/>
          </p:cNvSpPr>
          <p:nvPr>
            <p:ph type="dt" sz="half" idx="10"/>
          </p:nvPr>
        </p:nvSpPr>
        <p:spPr/>
        <p:txBody>
          <a:bodyPr/>
          <a:lstStyle/>
          <a:p>
            <a:fld id="{2A780FB1-1423-46AB-8A8A-23A743682D30}" type="datetime3">
              <a:rPr lang="en-US" smtClean="0"/>
              <a:t>27 April 2026</a:t>
            </a:fld>
            <a:endParaRPr lang="en-US"/>
          </a:p>
        </p:txBody>
      </p:sp>
      <p:sp>
        <p:nvSpPr>
          <p:cNvPr id="5" name="Footer Placeholder 4">
            <a:extLst>
              <a:ext uri="{FF2B5EF4-FFF2-40B4-BE49-F238E27FC236}">
                <a16:creationId xmlns:a16="http://schemas.microsoft.com/office/drawing/2014/main" id="{9D27E0EF-576B-DCC9-E0DD-BDDD3EC3A168}"/>
              </a:ext>
            </a:extLst>
          </p:cNvPr>
          <p:cNvSpPr>
            <a:spLocks noGrp="1"/>
          </p:cNvSpPr>
          <p:nvPr>
            <p:ph type="ftr" sz="quarter" idx="11"/>
          </p:nvPr>
        </p:nvSpPr>
        <p:spPr/>
        <p:txBody>
          <a:bodyPr/>
          <a:lstStyle/>
          <a:p>
            <a:r>
              <a:rPr lang="en-US"/>
              <a:t>SCS 1302   Discrete Mathematics 1       Prof. D D Karunaratna</a:t>
            </a:r>
          </a:p>
        </p:txBody>
      </p:sp>
      <p:sp>
        <p:nvSpPr>
          <p:cNvPr id="6" name="Slide Number Placeholder 5">
            <a:extLst>
              <a:ext uri="{FF2B5EF4-FFF2-40B4-BE49-F238E27FC236}">
                <a16:creationId xmlns:a16="http://schemas.microsoft.com/office/drawing/2014/main" id="{F7CEBB79-3033-AE8D-0BD6-E5ADF4D8AE7A}"/>
              </a:ext>
            </a:extLst>
          </p:cNvPr>
          <p:cNvSpPr>
            <a:spLocks noGrp="1"/>
          </p:cNvSpPr>
          <p:nvPr>
            <p:ph type="sldNum" sz="quarter" idx="12"/>
          </p:nvPr>
        </p:nvSpPr>
        <p:spPr/>
        <p:txBody>
          <a:bodyPr/>
          <a:lstStyle/>
          <a:p>
            <a:fld id="{0CA841A6-7C02-4C92-B6EE-5DBCC2AD53D0}" type="slidenum">
              <a:rPr lang="en-US" smtClean="0"/>
              <a:t>7</a:t>
            </a:fld>
            <a:endParaRPr lang="en-US"/>
          </a:p>
        </p:txBody>
      </p:sp>
    </p:spTree>
    <p:extLst>
      <p:ext uri="{BB962C8B-B14F-4D97-AF65-F5344CB8AC3E}">
        <p14:creationId xmlns:p14="http://schemas.microsoft.com/office/powerpoint/2010/main" val="4812809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7E09EE-1334-957A-01B0-3B465EAF6C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B0E70B-785B-0073-0855-5F06E89EFA61}"/>
              </a:ext>
            </a:extLst>
          </p:cNvPr>
          <p:cNvSpPr>
            <a:spLocks noGrp="1"/>
          </p:cNvSpPr>
          <p:nvPr>
            <p:ph type="title"/>
          </p:nvPr>
        </p:nvSpPr>
        <p:spPr>
          <a:xfrm>
            <a:off x="457200" y="304800"/>
            <a:ext cx="8458200" cy="1249362"/>
          </a:xfrm>
        </p:spPr>
        <p:txBody>
          <a:bodyPr/>
          <a:lstStyle/>
          <a:p>
            <a:r>
              <a:rPr lang="en-US" dirty="0">
                <a:latin typeface="CMSSBX10"/>
              </a:rPr>
              <a:t>A</a:t>
            </a:r>
            <a:r>
              <a:rPr lang="en-US" sz="3600" b="0" i="0" u="none" strike="noStrike" baseline="0" dirty="0">
                <a:latin typeface="CMSSBX10"/>
              </a:rPr>
              <a:t>tomic proposition (Primitive proposition)</a:t>
            </a:r>
            <a:r>
              <a:rPr lang="en-US" sz="3600" b="0" i="0" u="none" strike="noStrike" baseline="0" dirty="0">
                <a:latin typeface="CMSS10"/>
              </a:rPr>
              <a:t>.</a:t>
            </a:r>
            <a:endParaRPr lang="si-LK" dirty="0"/>
          </a:p>
        </p:txBody>
      </p:sp>
      <p:sp>
        <p:nvSpPr>
          <p:cNvPr id="3" name="Content Placeholder 2">
            <a:extLst>
              <a:ext uri="{FF2B5EF4-FFF2-40B4-BE49-F238E27FC236}">
                <a16:creationId xmlns:a16="http://schemas.microsoft.com/office/drawing/2014/main" id="{507ADB50-7049-4D39-0604-4631F6843953}"/>
              </a:ext>
            </a:extLst>
          </p:cNvPr>
          <p:cNvSpPr>
            <a:spLocks noGrp="1"/>
          </p:cNvSpPr>
          <p:nvPr>
            <p:ph idx="1"/>
          </p:nvPr>
        </p:nvSpPr>
        <p:spPr/>
        <p:txBody>
          <a:bodyPr>
            <a:normAutofit lnSpcReduction="10000"/>
          </a:bodyPr>
          <a:lstStyle/>
          <a:p>
            <a:pPr marL="0" indent="0">
              <a:buNone/>
            </a:pPr>
            <a:r>
              <a:rPr lang="en-US" sz="2800" dirty="0">
                <a:solidFill>
                  <a:srgbClr val="000000"/>
                </a:solidFill>
                <a:latin typeface="CMSS10"/>
              </a:rPr>
              <a:t>A statement that cannot be broken down into smaller statements, is known as an </a:t>
            </a:r>
            <a:r>
              <a:rPr lang="en-US" sz="2800" b="1" dirty="0">
                <a:solidFill>
                  <a:srgbClr val="000000"/>
                </a:solidFill>
                <a:latin typeface="CMSSBX10"/>
              </a:rPr>
              <a:t>atomic (primitive) </a:t>
            </a:r>
            <a:r>
              <a:rPr lang="en-US" sz="2800" dirty="0">
                <a:solidFill>
                  <a:srgbClr val="000000"/>
                </a:solidFill>
                <a:latin typeface="CMSSBX10"/>
              </a:rPr>
              <a:t>proposition</a:t>
            </a:r>
            <a:r>
              <a:rPr lang="en-US" sz="2800" dirty="0">
                <a:solidFill>
                  <a:srgbClr val="000000"/>
                </a:solidFill>
                <a:latin typeface="CMSS10"/>
              </a:rPr>
              <a:t>.</a:t>
            </a:r>
          </a:p>
          <a:p>
            <a:pPr marL="0" indent="0" algn="l">
              <a:buNone/>
            </a:pPr>
            <a:endParaRPr lang="en-US" sz="2800" dirty="0">
              <a:solidFill>
                <a:srgbClr val="000000"/>
              </a:solidFill>
              <a:latin typeface="CMSSBX10"/>
            </a:endParaRPr>
          </a:p>
          <a:p>
            <a:pPr marL="0" indent="0" algn="l">
              <a:buNone/>
            </a:pPr>
            <a:r>
              <a:rPr lang="en-US" sz="2800" dirty="0">
                <a:solidFill>
                  <a:srgbClr val="000000"/>
                </a:solidFill>
                <a:latin typeface="CMSSBX10"/>
              </a:rPr>
              <a:t>Examples</a:t>
            </a:r>
            <a:endParaRPr lang="en-US" sz="2800" b="0" i="0" u="none" strike="noStrike" baseline="0" dirty="0">
              <a:solidFill>
                <a:srgbClr val="000000"/>
              </a:solidFill>
              <a:latin typeface="CMSS10"/>
            </a:endParaRPr>
          </a:p>
          <a:p>
            <a:pPr marL="514350" indent="-514350" algn="l">
              <a:buFont typeface="+mj-lt"/>
              <a:buAutoNum type="arabicPeriod"/>
            </a:pPr>
            <a:r>
              <a:rPr lang="en-US" sz="2800" b="0" i="0" u="none" strike="noStrike" baseline="0" dirty="0">
                <a:solidFill>
                  <a:srgbClr val="696969"/>
                </a:solidFill>
                <a:latin typeface="CMSS10"/>
              </a:rPr>
              <a:t> </a:t>
            </a:r>
            <a:r>
              <a:rPr lang="en-US" sz="2800" b="0" i="0" u="none" strike="noStrike" baseline="0" dirty="0">
                <a:solidFill>
                  <a:srgbClr val="000000"/>
                </a:solidFill>
                <a:latin typeface="CMSS10"/>
              </a:rPr>
              <a:t>2 is a prime number.</a:t>
            </a:r>
          </a:p>
          <a:p>
            <a:pPr marL="514350" indent="-514350" algn="l">
              <a:buFont typeface="+mj-lt"/>
              <a:buAutoNum type="arabicPeriod"/>
            </a:pPr>
            <a:r>
              <a:rPr lang="si-LK" sz="2800" b="0" i="0" u="none" strike="noStrike" baseline="0" dirty="0">
                <a:solidFill>
                  <a:srgbClr val="000000"/>
                </a:solidFill>
                <a:latin typeface="CMSS10"/>
              </a:rPr>
              <a:t>6 </a:t>
            </a:r>
            <a:r>
              <a:rPr lang="si-LK" sz="2800" b="0" i="0" u="none" strike="noStrike" baseline="0" dirty="0">
                <a:solidFill>
                  <a:srgbClr val="000000"/>
                </a:solidFill>
                <a:latin typeface="CMMI10"/>
              </a:rPr>
              <a:t>&gt; </a:t>
            </a:r>
            <a:r>
              <a:rPr lang="si-LK" sz="2800" b="0" i="0" u="none" strike="noStrike" baseline="0" dirty="0">
                <a:solidFill>
                  <a:srgbClr val="000000"/>
                </a:solidFill>
                <a:latin typeface="CMSS10"/>
              </a:rPr>
              <a:t>3.</a:t>
            </a:r>
          </a:p>
          <a:p>
            <a:pPr marL="514350" indent="-514350" algn="l">
              <a:buFont typeface="+mj-lt"/>
              <a:buAutoNum type="arabicPeriod"/>
            </a:pPr>
            <a:r>
              <a:rPr lang="si-LK" sz="2800" b="0" i="0" u="none" strike="noStrike" baseline="0" dirty="0">
                <a:solidFill>
                  <a:srgbClr val="000000"/>
                </a:solidFill>
                <a:latin typeface="CMSS10"/>
              </a:rPr>
              <a:t>3 </a:t>
            </a:r>
            <a:r>
              <a:rPr lang="si-LK" sz="2800" b="0" i="0" u="none" strike="noStrike" baseline="0" dirty="0">
                <a:solidFill>
                  <a:srgbClr val="000000"/>
                </a:solidFill>
                <a:latin typeface="CMMI10"/>
              </a:rPr>
              <a:t>&gt; </a:t>
            </a:r>
            <a:r>
              <a:rPr lang="si-LK" sz="2800" b="0" i="0" u="none" strike="noStrike" baseline="0" dirty="0">
                <a:solidFill>
                  <a:srgbClr val="000000"/>
                </a:solidFill>
                <a:latin typeface="CMSS10"/>
              </a:rPr>
              <a:t>6.</a:t>
            </a:r>
            <a:endParaRPr lang="en-US" sz="1800" b="0" i="0" u="none" strike="noStrike" baseline="0" dirty="0">
              <a:solidFill>
                <a:srgbClr val="000000"/>
              </a:solidFill>
              <a:latin typeface="CMSS10"/>
            </a:endParaRPr>
          </a:p>
          <a:p>
            <a:pPr marL="514350" indent="-514350" algn="l">
              <a:buFont typeface="+mj-lt"/>
              <a:buAutoNum type="arabicPeriod"/>
            </a:pPr>
            <a:endParaRPr lang="en-US" sz="1800" b="0" i="0" u="none" strike="noStrike" baseline="0" dirty="0">
              <a:solidFill>
                <a:srgbClr val="000000"/>
              </a:solidFill>
              <a:latin typeface="CMSS10"/>
            </a:endParaRPr>
          </a:p>
          <a:p>
            <a:pPr algn="l"/>
            <a:r>
              <a:rPr lang="en-US" sz="1800" b="0" i="0" u="none" strike="noStrike" baseline="0" dirty="0">
                <a:latin typeface="CMSSBX10"/>
              </a:rPr>
              <a:t>Sentence 1 </a:t>
            </a:r>
            <a:r>
              <a:rPr lang="en-US" sz="1800" b="0" i="0" u="none" strike="noStrike" baseline="0" dirty="0">
                <a:latin typeface="CMSS10"/>
              </a:rPr>
              <a:t>and </a:t>
            </a:r>
            <a:r>
              <a:rPr lang="en-US" sz="1800" b="0" i="0" u="none" strike="noStrike" baseline="0" dirty="0">
                <a:latin typeface="CMSSBX10"/>
              </a:rPr>
              <a:t>sentence 2 </a:t>
            </a:r>
            <a:r>
              <a:rPr lang="en-US" sz="1800" b="0" i="0" u="none" strike="noStrike" baseline="0" dirty="0">
                <a:latin typeface="CMSS10"/>
              </a:rPr>
              <a:t>are </a:t>
            </a:r>
            <a:r>
              <a:rPr lang="en-US" sz="1800" b="0" i="0" u="none" strike="noStrike" baseline="0" dirty="0">
                <a:latin typeface="CMSSBX10"/>
              </a:rPr>
              <a:t>true</a:t>
            </a:r>
            <a:r>
              <a:rPr lang="en-US" sz="1800" b="0" i="0" u="none" strike="noStrike" baseline="0" dirty="0">
                <a:latin typeface="CMSS10"/>
              </a:rPr>
              <a:t>. </a:t>
            </a:r>
            <a:r>
              <a:rPr lang="en-US" sz="1800" b="0" i="0" u="none" strike="noStrike" baseline="0" dirty="0">
                <a:latin typeface="CMSSBX10"/>
              </a:rPr>
              <a:t>Sentence 3 </a:t>
            </a:r>
            <a:r>
              <a:rPr lang="en-US" sz="1800" b="0" i="0" u="none" strike="noStrike" baseline="0" dirty="0">
                <a:latin typeface="CMSS10"/>
              </a:rPr>
              <a:t>is </a:t>
            </a:r>
            <a:r>
              <a:rPr lang="en-US" sz="1800" b="0" i="0" u="none" strike="noStrike" baseline="0" dirty="0">
                <a:latin typeface="CMSSBX10"/>
              </a:rPr>
              <a:t>false</a:t>
            </a:r>
            <a:r>
              <a:rPr lang="en-US" sz="1800" b="0" i="0" u="none" strike="noStrike" baseline="0" dirty="0">
                <a:latin typeface="CMSS10"/>
              </a:rPr>
              <a:t>. These  sentences are </a:t>
            </a:r>
            <a:r>
              <a:rPr lang="en-US" sz="1800" b="0" i="0" u="none" strike="noStrike" baseline="0" dirty="0">
                <a:latin typeface="CMSSBX10"/>
              </a:rPr>
              <a:t>atomic statements (propositions)</a:t>
            </a:r>
            <a:r>
              <a:rPr lang="en-US" sz="1800" b="0" i="0" u="none" strike="noStrike" baseline="0" dirty="0">
                <a:latin typeface="CMSS10"/>
              </a:rPr>
              <a:t>.</a:t>
            </a:r>
            <a:endParaRPr lang="si-LK" dirty="0"/>
          </a:p>
        </p:txBody>
      </p:sp>
      <p:sp>
        <p:nvSpPr>
          <p:cNvPr id="4" name="Date Placeholder 3">
            <a:extLst>
              <a:ext uri="{FF2B5EF4-FFF2-40B4-BE49-F238E27FC236}">
                <a16:creationId xmlns:a16="http://schemas.microsoft.com/office/drawing/2014/main" id="{581B53B3-A37F-3F3C-F728-BC1184871318}"/>
              </a:ext>
            </a:extLst>
          </p:cNvPr>
          <p:cNvSpPr>
            <a:spLocks noGrp="1"/>
          </p:cNvSpPr>
          <p:nvPr>
            <p:ph type="dt" sz="half" idx="10"/>
          </p:nvPr>
        </p:nvSpPr>
        <p:spPr/>
        <p:txBody>
          <a:bodyPr/>
          <a:lstStyle/>
          <a:p>
            <a:fld id="{F1D9B8F1-CBFE-4D2E-90C9-D6988A6B6E95}" type="datetime3">
              <a:rPr lang="en-US" smtClean="0"/>
              <a:t>27 April 2026</a:t>
            </a:fld>
            <a:endParaRPr lang="en-US"/>
          </a:p>
        </p:txBody>
      </p:sp>
      <p:sp>
        <p:nvSpPr>
          <p:cNvPr id="5" name="Footer Placeholder 4">
            <a:extLst>
              <a:ext uri="{FF2B5EF4-FFF2-40B4-BE49-F238E27FC236}">
                <a16:creationId xmlns:a16="http://schemas.microsoft.com/office/drawing/2014/main" id="{9C75E4C7-C132-A612-4EA7-692D85873DAE}"/>
              </a:ext>
            </a:extLst>
          </p:cNvPr>
          <p:cNvSpPr>
            <a:spLocks noGrp="1"/>
          </p:cNvSpPr>
          <p:nvPr>
            <p:ph type="ftr" sz="quarter" idx="11"/>
          </p:nvPr>
        </p:nvSpPr>
        <p:spPr/>
        <p:txBody>
          <a:bodyPr/>
          <a:lstStyle/>
          <a:p>
            <a:r>
              <a:rPr lang="en-US"/>
              <a:t>SCS 1302   Discrete Mathematics 1       Prof. D D Karunaratna</a:t>
            </a:r>
          </a:p>
        </p:txBody>
      </p:sp>
      <p:sp>
        <p:nvSpPr>
          <p:cNvPr id="6" name="Slide Number Placeholder 5">
            <a:extLst>
              <a:ext uri="{FF2B5EF4-FFF2-40B4-BE49-F238E27FC236}">
                <a16:creationId xmlns:a16="http://schemas.microsoft.com/office/drawing/2014/main" id="{01C97386-E47C-C12E-2DF1-945F610372D9}"/>
              </a:ext>
            </a:extLst>
          </p:cNvPr>
          <p:cNvSpPr>
            <a:spLocks noGrp="1"/>
          </p:cNvSpPr>
          <p:nvPr>
            <p:ph type="sldNum" sz="quarter" idx="12"/>
          </p:nvPr>
        </p:nvSpPr>
        <p:spPr/>
        <p:txBody>
          <a:bodyPr/>
          <a:lstStyle/>
          <a:p>
            <a:fld id="{0CA841A6-7C02-4C92-B6EE-5DBCC2AD53D0}" type="slidenum">
              <a:rPr lang="en-US" smtClean="0"/>
              <a:t>8</a:t>
            </a:fld>
            <a:endParaRPr lang="en-US"/>
          </a:p>
        </p:txBody>
      </p:sp>
    </p:spTree>
    <p:extLst>
      <p:ext uri="{BB962C8B-B14F-4D97-AF65-F5344CB8AC3E}">
        <p14:creationId xmlns:p14="http://schemas.microsoft.com/office/powerpoint/2010/main" val="34213696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70D329-B276-53DC-201C-F26B06E8E7CD}"/>
              </a:ext>
            </a:extLst>
          </p:cNvPr>
          <p:cNvSpPr>
            <a:spLocks noGrp="1"/>
          </p:cNvSpPr>
          <p:nvPr>
            <p:ph type="title"/>
          </p:nvPr>
        </p:nvSpPr>
        <p:spPr/>
        <p:txBody>
          <a:bodyPr/>
          <a:lstStyle/>
          <a:p>
            <a:r>
              <a:rPr lang="en-US" dirty="0"/>
              <a:t>Propositional Variables</a:t>
            </a:r>
            <a:endParaRPr lang="si-LK" dirty="0"/>
          </a:p>
        </p:txBody>
      </p:sp>
      <p:sp>
        <p:nvSpPr>
          <p:cNvPr id="3" name="Content Placeholder 2">
            <a:extLst>
              <a:ext uri="{FF2B5EF4-FFF2-40B4-BE49-F238E27FC236}">
                <a16:creationId xmlns:a16="http://schemas.microsoft.com/office/drawing/2014/main" id="{53BC3FB6-BEB3-7F6B-6DB3-FEACBBB3D7CE}"/>
              </a:ext>
            </a:extLst>
          </p:cNvPr>
          <p:cNvSpPr>
            <a:spLocks noGrp="1"/>
          </p:cNvSpPr>
          <p:nvPr>
            <p:ph idx="1"/>
          </p:nvPr>
        </p:nvSpPr>
        <p:spPr/>
        <p:txBody>
          <a:bodyPr/>
          <a:lstStyle/>
          <a:p>
            <a:pPr algn="l"/>
            <a:r>
              <a:rPr lang="en-US" sz="2000" b="0" i="0" u="none" strike="noStrike" baseline="0" dirty="0">
                <a:solidFill>
                  <a:srgbClr val="000000"/>
                </a:solidFill>
                <a:latin typeface="CMSS10"/>
              </a:rPr>
              <a:t>Letters such as </a:t>
            </a:r>
            <a:r>
              <a:rPr lang="en-US" sz="2000" b="0" i="0" u="none" strike="noStrike" baseline="0" dirty="0" err="1">
                <a:solidFill>
                  <a:srgbClr val="000000"/>
                </a:solidFill>
                <a:latin typeface="CMSSI10"/>
              </a:rPr>
              <a:t>p,q</a:t>
            </a:r>
            <a:r>
              <a:rPr lang="en-US" sz="2000" dirty="0" err="1">
                <a:solidFill>
                  <a:srgbClr val="000000"/>
                </a:solidFill>
                <a:latin typeface="CMMI10"/>
              </a:rPr>
              <a:t>,</a:t>
            </a:r>
            <a:r>
              <a:rPr lang="en-US" sz="2000" b="0" i="0" u="none" strike="noStrike" baseline="0" dirty="0" err="1">
                <a:solidFill>
                  <a:srgbClr val="000000"/>
                </a:solidFill>
                <a:latin typeface="CMSSI10"/>
              </a:rPr>
              <a:t>r</a:t>
            </a:r>
            <a:r>
              <a:rPr lang="en-US" sz="2000" b="0" i="0" u="none" strike="noStrike" baseline="0" dirty="0">
                <a:solidFill>
                  <a:srgbClr val="000000"/>
                </a:solidFill>
                <a:latin typeface="CMSSI10"/>
              </a:rPr>
              <a:t> </a:t>
            </a:r>
            <a:r>
              <a:rPr lang="en-US" sz="2000" b="0" i="0" u="none" strike="noStrike" baseline="0" dirty="0">
                <a:solidFill>
                  <a:srgbClr val="000000"/>
                </a:solidFill>
                <a:latin typeface="CMSS10"/>
              </a:rPr>
              <a:t>and </a:t>
            </a:r>
            <a:r>
              <a:rPr lang="en-US" sz="2000" b="0" i="0" u="none" strike="noStrike" baseline="0" dirty="0">
                <a:solidFill>
                  <a:srgbClr val="000000"/>
                </a:solidFill>
                <a:latin typeface="CMSSI10"/>
              </a:rPr>
              <a:t>s </a:t>
            </a:r>
            <a:r>
              <a:rPr lang="en-US" sz="2000" b="0" i="0" u="none" strike="noStrike" baseline="0" dirty="0">
                <a:solidFill>
                  <a:srgbClr val="000000"/>
                </a:solidFill>
                <a:latin typeface="CMSS10"/>
              </a:rPr>
              <a:t>are used to denote atomic propositions. These letters are known as </a:t>
            </a:r>
            <a:r>
              <a:rPr lang="en-US" sz="2000" b="1" i="0" u="none" strike="noStrike" baseline="0" dirty="0">
                <a:solidFill>
                  <a:srgbClr val="000000"/>
                </a:solidFill>
                <a:latin typeface="CMSSBX10"/>
              </a:rPr>
              <a:t>propositional variables</a:t>
            </a:r>
            <a:r>
              <a:rPr lang="en-US" sz="2000" b="0" i="0" u="none" strike="noStrike" baseline="0" dirty="0">
                <a:solidFill>
                  <a:srgbClr val="000000"/>
                </a:solidFill>
                <a:latin typeface="CMSS10"/>
              </a:rPr>
              <a:t>.</a:t>
            </a:r>
          </a:p>
          <a:p>
            <a:pPr algn="l"/>
            <a:r>
              <a:rPr lang="en-US" sz="2000" b="0" i="0" u="none" strike="noStrike" baseline="0" dirty="0">
                <a:solidFill>
                  <a:srgbClr val="000000"/>
                </a:solidFill>
                <a:latin typeface="CMSS10"/>
              </a:rPr>
              <a:t>Generally, a truth value of T (or 1)  for true or F (or 0) for false is assigned to each propositional variable.</a:t>
            </a:r>
          </a:p>
          <a:p>
            <a:pPr algn="l"/>
            <a:endParaRPr lang="en-US" sz="1800" b="0" i="0" u="none" strike="noStrike" baseline="0" dirty="0">
              <a:solidFill>
                <a:srgbClr val="000000"/>
              </a:solidFill>
              <a:latin typeface="CMSS10"/>
            </a:endParaRPr>
          </a:p>
        </p:txBody>
      </p:sp>
      <p:sp>
        <p:nvSpPr>
          <p:cNvPr id="4" name="Date Placeholder 3">
            <a:extLst>
              <a:ext uri="{FF2B5EF4-FFF2-40B4-BE49-F238E27FC236}">
                <a16:creationId xmlns:a16="http://schemas.microsoft.com/office/drawing/2014/main" id="{1BE1CF23-CAE2-A7CA-16E7-4CAE1E126A86}"/>
              </a:ext>
            </a:extLst>
          </p:cNvPr>
          <p:cNvSpPr>
            <a:spLocks noGrp="1"/>
          </p:cNvSpPr>
          <p:nvPr>
            <p:ph type="dt" sz="half" idx="10"/>
          </p:nvPr>
        </p:nvSpPr>
        <p:spPr/>
        <p:txBody>
          <a:bodyPr/>
          <a:lstStyle/>
          <a:p>
            <a:fld id="{2802DA32-2E2C-4ABC-A331-8B4E89E6A669}" type="datetime3">
              <a:rPr lang="en-US" smtClean="0"/>
              <a:t>27 April 2026</a:t>
            </a:fld>
            <a:endParaRPr lang="en-US"/>
          </a:p>
        </p:txBody>
      </p:sp>
      <p:sp>
        <p:nvSpPr>
          <p:cNvPr id="5" name="Footer Placeholder 4">
            <a:extLst>
              <a:ext uri="{FF2B5EF4-FFF2-40B4-BE49-F238E27FC236}">
                <a16:creationId xmlns:a16="http://schemas.microsoft.com/office/drawing/2014/main" id="{A943E155-1D44-B5A3-7D83-415BCA7015DC}"/>
              </a:ext>
            </a:extLst>
          </p:cNvPr>
          <p:cNvSpPr>
            <a:spLocks noGrp="1"/>
          </p:cNvSpPr>
          <p:nvPr>
            <p:ph type="ftr" sz="quarter" idx="11"/>
          </p:nvPr>
        </p:nvSpPr>
        <p:spPr/>
        <p:txBody>
          <a:bodyPr/>
          <a:lstStyle/>
          <a:p>
            <a:r>
              <a:rPr lang="en-US"/>
              <a:t>SCS 1302   Discrete Mathematics 1       Prof. D D Karunaratna</a:t>
            </a:r>
          </a:p>
        </p:txBody>
      </p:sp>
      <p:sp>
        <p:nvSpPr>
          <p:cNvPr id="6" name="Slide Number Placeholder 5">
            <a:extLst>
              <a:ext uri="{FF2B5EF4-FFF2-40B4-BE49-F238E27FC236}">
                <a16:creationId xmlns:a16="http://schemas.microsoft.com/office/drawing/2014/main" id="{D8E35DD6-07CC-F538-B9FC-3AD29C409993}"/>
              </a:ext>
            </a:extLst>
          </p:cNvPr>
          <p:cNvSpPr>
            <a:spLocks noGrp="1"/>
          </p:cNvSpPr>
          <p:nvPr>
            <p:ph type="sldNum" sz="quarter" idx="12"/>
          </p:nvPr>
        </p:nvSpPr>
        <p:spPr/>
        <p:txBody>
          <a:bodyPr/>
          <a:lstStyle/>
          <a:p>
            <a:fld id="{0CA841A6-7C02-4C92-B6EE-5DBCC2AD53D0}" type="slidenum">
              <a:rPr lang="en-US" smtClean="0"/>
              <a:t>9</a:t>
            </a:fld>
            <a:endParaRPr lang="en-US"/>
          </a:p>
        </p:txBody>
      </p:sp>
    </p:spTree>
    <p:extLst>
      <p:ext uri="{BB962C8B-B14F-4D97-AF65-F5344CB8AC3E}">
        <p14:creationId xmlns:p14="http://schemas.microsoft.com/office/powerpoint/2010/main" val="29824801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72A01A-DEB4-4149-9300-E07097F1DA5B}"/>
              </a:ext>
            </a:extLst>
          </p:cNvPr>
          <p:cNvSpPr>
            <a:spLocks noGrp="1"/>
          </p:cNvSpPr>
          <p:nvPr>
            <p:ph type="title"/>
          </p:nvPr>
        </p:nvSpPr>
        <p:spPr/>
        <p:txBody>
          <a:bodyPr/>
          <a:lstStyle/>
          <a:p>
            <a:r>
              <a:rPr lang="en-US" dirty="0"/>
              <a:t>Composite (or compound) propositions</a:t>
            </a:r>
            <a:endParaRPr lang="si-LK" dirty="0"/>
          </a:p>
        </p:txBody>
      </p:sp>
      <p:sp>
        <p:nvSpPr>
          <p:cNvPr id="3" name="Content Placeholder 2">
            <a:extLst>
              <a:ext uri="{FF2B5EF4-FFF2-40B4-BE49-F238E27FC236}">
                <a16:creationId xmlns:a16="http://schemas.microsoft.com/office/drawing/2014/main" id="{C19A6504-4C0C-497C-B58D-6549836417E2}"/>
              </a:ext>
            </a:extLst>
          </p:cNvPr>
          <p:cNvSpPr>
            <a:spLocks noGrp="1"/>
          </p:cNvSpPr>
          <p:nvPr>
            <p:ph idx="1"/>
          </p:nvPr>
        </p:nvSpPr>
        <p:spPr>
          <a:xfrm>
            <a:off x="304800" y="1676400"/>
            <a:ext cx="8382000" cy="4449763"/>
          </a:xfrm>
        </p:spPr>
        <p:txBody>
          <a:bodyPr/>
          <a:lstStyle/>
          <a:p>
            <a:r>
              <a:rPr lang="en-US" dirty="0"/>
              <a:t>A statement formed by combining two or more atomic(simple) propositions using logical connectives such as  "and," "or," "not," or "if...then“.</a:t>
            </a:r>
          </a:p>
          <a:p>
            <a:pPr marL="0" indent="0">
              <a:buNone/>
            </a:pPr>
            <a:r>
              <a:rPr lang="en-US" dirty="0"/>
              <a:t>Examples:</a:t>
            </a:r>
          </a:p>
          <a:p>
            <a:pPr marL="0" indent="0">
              <a:buNone/>
            </a:pPr>
            <a:r>
              <a:rPr lang="en-US" dirty="0"/>
              <a:t>The sun is hot and water is a liquid.</a:t>
            </a:r>
          </a:p>
          <a:p>
            <a:pPr marL="0" indent="0">
              <a:buNone/>
            </a:pPr>
            <a:r>
              <a:rPr lang="en-US" dirty="0"/>
              <a:t>If it is sunny outside, then I walk to work.</a:t>
            </a:r>
          </a:p>
          <a:p>
            <a:pPr marL="0" indent="0">
              <a:buNone/>
            </a:pPr>
            <a:endParaRPr lang="si-LK" dirty="0"/>
          </a:p>
        </p:txBody>
      </p:sp>
      <p:sp>
        <p:nvSpPr>
          <p:cNvPr id="4" name="Date Placeholder 3">
            <a:extLst>
              <a:ext uri="{FF2B5EF4-FFF2-40B4-BE49-F238E27FC236}">
                <a16:creationId xmlns:a16="http://schemas.microsoft.com/office/drawing/2014/main" id="{A482C1A7-F2D5-4E1F-AB43-F9C5E0909444}"/>
              </a:ext>
            </a:extLst>
          </p:cNvPr>
          <p:cNvSpPr>
            <a:spLocks noGrp="1"/>
          </p:cNvSpPr>
          <p:nvPr>
            <p:ph type="dt" sz="half" idx="10"/>
          </p:nvPr>
        </p:nvSpPr>
        <p:spPr/>
        <p:txBody>
          <a:bodyPr/>
          <a:lstStyle/>
          <a:p>
            <a:fld id="{4833C929-C9DD-4C66-BDC9-0D85DE389F8F}" type="datetime3">
              <a:rPr lang="en-US" smtClean="0"/>
              <a:t>27 April 2026</a:t>
            </a:fld>
            <a:endParaRPr lang="en-US"/>
          </a:p>
        </p:txBody>
      </p:sp>
      <p:sp>
        <p:nvSpPr>
          <p:cNvPr id="5" name="Footer Placeholder 4">
            <a:extLst>
              <a:ext uri="{FF2B5EF4-FFF2-40B4-BE49-F238E27FC236}">
                <a16:creationId xmlns:a16="http://schemas.microsoft.com/office/drawing/2014/main" id="{DC74BAAE-3C63-4FC5-AE7F-587736272EEA}"/>
              </a:ext>
            </a:extLst>
          </p:cNvPr>
          <p:cNvSpPr>
            <a:spLocks noGrp="1"/>
          </p:cNvSpPr>
          <p:nvPr>
            <p:ph type="ftr" sz="quarter" idx="11"/>
          </p:nvPr>
        </p:nvSpPr>
        <p:spPr/>
        <p:txBody>
          <a:bodyPr/>
          <a:lstStyle/>
          <a:p>
            <a:r>
              <a:rPr lang="en-US"/>
              <a:t>SCS 1302   Discrete Mathematics 1       Prof. D D Karunaratna</a:t>
            </a:r>
          </a:p>
        </p:txBody>
      </p:sp>
      <p:sp>
        <p:nvSpPr>
          <p:cNvPr id="6" name="Slide Number Placeholder 5">
            <a:extLst>
              <a:ext uri="{FF2B5EF4-FFF2-40B4-BE49-F238E27FC236}">
                <a16:creationId xmlns:a16="http://schemas.microsoft.com/office/drawing/2014/main" id="{E762F6BB-7CF3-43C4-B700-DF75F807A1FA}"/>
              </a:ext>
            </a:extLst>
          </p:cNvPr>
          <p:cNvSpPr>
            <a:spLocks noGrp="1"/>
          </p:cNvSpPr>
          <p:nvPr>
            <p:ph type="sldNum" sz="quarter" idx="12"/>
          </p:nvPr>
        </p:nvSpPr>
        <p:spPr/>
        <p:txBody>
          <a:bodyPr/>
          <a:lstStyle/>
          <a:p>
            <a:fld id="{0CA841A6-7C02-4C92-B6EE-5DBCC2AD53D0}" type="slidenum">
              <a:rPr lang="en-US" smtClean="0"/>
              <a:t>10</a:t>
            </a:fld>
            <a:endParaRPr lang="en-US"/>
          </a:p>
        </p:txBody>
      </p:sp>
    </p:spTree>
    <p:extLst>
      <p:ext uri="{BB962C8B-B14F-4D97-AF65-F5344CB8AC3E}">
        <p14:creationId xmlns:p14="http://schemas.microsoft.com/office/powerpoint/2010/main" val="13399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A2B90F-134D-EA7E-A07D-393DF2016EB2}"/>
              </a:ext>
            </a:extLst>
          </p:cNvPr>
          <p:cNvSpPr>
            <a:spLocks noGrp="1"/>
          </p:cNvSpPr>
          <p:nvPr>
            <p:ph type="title"/>
          </p:nvPr>
        </p:nvSpPr>
        <p:spPr/>
        <p:txBody>
          <a:bodyPr/>
          <a:lstStyle/>
          <a:p>
            <a:r>
              <a:rPr lang="en-US" b="1" dirty="0">
                <a:latin typeface="CMSS10"/>
              </a:rPr>
              <a:t>Logical operators (connectors)</a:t>
            </a:r>
            <a:endParaRPr lang="si-LK" dirty="0"/>
          </a:p>
        </p:txBody>
      </p:sp>
      <p:sp>
        <p:nvSpPr>
          <p:cNvPr id="3" name="Content Placeholder 2">
            <a:extLst>
              <a:ext uri="{FF2B5EF4-FFF2-40B4-BE49-F238E27FC236}">
                <a16:creationId xmlns:a16="http://schemas.microsoft.com/office/drawing/2014/main" id="{E6290863-5D38-4E7A-DDF7-E865F74179CB}"/>
              </a:ext>
            </a:extLst>
          </p:cNvPr>
          <p:cNvSpPr>
            <a:spLocks noGrp="1"/>
          </p:cNvSpPr>
          <p:nvPr>
            <p:ph idx="1"/>
          </p:nvPr>
        </p:nvSpPr>
        <p:spPr/>
        <p:txBody>
          <a:bodyPr/>
          <a:lstStyle/>
          <a:p>
            <a:pPr algn="l"/>
            <a:r>
              <a:rPr lang="en-US" sz="2000" b="0" i="0" u="none" strike="noStrike" baseline="0" dirty="0">
                <a:latin typeface="CMSS10"/>
              </a:rPr>
              <a:t>Compound statements are formed by combining more than one primitive proposition  by using </a:t>
            </a:r>
            <a:r>
              <a:rPr lang="en-US" sz="2000" b="1" i="0" u="none" strike="noStrike" baseline="0" dirty="0">
                <a:latin typeface="CMSS10"/>
              </a:rPr>
              <a:t>logical operators (connectors)</a:t>
            </a:r>
            <a:r>
              <a:rPr lang="en-US" sz="2000" b="0" i="0" u="none" strike="noStrike" baseline="0" dirty="0">
                <a:latin typeface="CMSS10"/>
              </a:rPr>
              <a:t>.</a:t>
            </a:r>
          </a:p>
          <a:p>
            <a:pPr marL="0" indent="0" algn="l">
              <a:buNone/>
            </a:pPr>
            <a:endParaRPr lang="en-US" sz="1800" b="0" i="0" u="none" strike="noStrike" baseline="0" dirty="0">
              <a:latin typeface="CMSS10"/>
            </a:endParaRPr>
          </a:p>
          <a:p>
            <a:pPr algn="l"/>
            <a:endParaRPr lang="en-US" sz="1800" b="0" i="0" u="none" strike="noStrike" baseline="0" dirty="0">
              <a:solidFill>
                <a:srgbClr val="000000"/>
              </a:solidFill>
              <a:latin typeface="CMSS10"/>
            </a:endParaRPr>
          </a:p>
          <a:p>
            <a:pPr algn="l"/>
            <a:endParaRPr lang="en-US" sz="1800" dirty="0">
              <a:solidFill>
                <a:srgbClr val="000000"/>
              </a:solidFill>
              <a:latin typeface="CMSS10"/>
            </a:endParaRPr>
          </a:p>
          <a:p>
            <a:pPr marL="0" indent="0" algn="l">
              <a:buNone/>
            </a:pPr>
            <a:endParaRPr lang="en-US" sz="1800" b="0" i="0" u="none" strike="noStrike" baseline="0" dirty="0">
              <a:solidFill>
                <a:srgbClr val="000000"/>
              </a:solidFill>
              <a:latin typeface="CMSS10"/>
            </a:endParaRPr>
          </a:p>
          <a:p>
            <a:pPr marL="0" indent="0" algn="l">
              <a:buNone/>
            </a:pPr>
            <a:endParaRPr lang="en-US" sz="1800" dirty="0">
              <a:solidFill>
                <a:srgbClr val="000000"/>
              </a:solidFill>
              <a:latin typeface="CMSS10"/>
            </a:endParaRPr>
          </a:p>
          <a:p>
            <a:pPr marL="0" indent="0" algn="l">
              <a:buNone/>
            </a:pPr>
            <a:endParaRPr lang="en-US" sz="1800" b="0" i="0" u="none" strike="noStrike" baseline="0" dirty="0">
              <a:solidFill>
                <a:srgbClr val="000000"/>
              </a:solidFill>
              <a:latin typeface="CMSS10"/>
            </a:endParaRPr>
          </a:p>
          <a:p>
            <a:pPr marL="0" indent="0" algn="l">
              <a:buNone/>
            </a:pPr>
            <a:endParaRPr lang="en-US" sz="1800" dirty="0">
              <a:solidFill>
                <a:srgbClr val="000000"/>
              </a:solidFill>
              <a:latin typeface="CMSS10"/>
            </a:endParaRPr>
          </a:p>
        </p:txBody>
      </p:sp>
      <p:sp>
        <p:nvSpPr>
          <p:cNvPr id="4" name="Date Placeholder 3">
            <a:extLst>
              <a:ext uri="{FF2B5EF4-FFF2-40B4-BE49-F238E27FC236}">
                <a16:creationId xmlns:a16="http://schemas.microsoft.com/office/drawing/2014/main" id="{3B501C35-DC52-4204-CBF5-AF66A13A43FE}"/>
              </a:ext>
            </a:extLst>
          </p:cNvPr>
          <p:cNvSpPr>
            <a:spLocks noGrp="1"/>
          </p:cNvSpPr>
          <p:nvPr>
            <p:ph type="dt" sz="half" idx="10"/>
          </p:nvPr>
        </p:nvSpPr>
        <p:spPr/>
        <p:txBody>
          <a:bodyPr/>
          <a:lstStyle/>
          <a:p>
            <a:fld id="{C2C20106-D551-4C4A-9F10-5AD3C187A54F}" type="datetime3">
              <a:rPr lang="en-US" smtClean="0"/>
              <a:t>27 April 2026</a:t>
            </a:fld>
            <a:endParaRPr lang="en-US"/>
          </a:p>
        </p:txBody>
      </p:sp>
      <p:sp>
        <p:nvSpPr>
          <p:cNvPr id="5" name="Footer Placeholder 4">
            <a:extLst>
              <a:ext uri="{FF2B5EF4-FFF2-40B4-BE49-F238E27FC236}">
                <a16:creationId xmlns:a16="http://schemas.microsoft.com/office/drawing/2014/main" id="{156C58AA-8D56-4327-CC0E-C7DCC99D9EDF}"/>
              </a:ext>
            </a:extLst>
          </p:cNvPr>
          <p:cNvSpPr>
            <a:spLocks noGrp="1"/>
          </p:cNvSpPr>
          <p:nvPr>
            <p:ph type="ftr" sz="quarter" idx="11"/>
          </p:nvPr>
        </p:nvSpPr>
        <p:spPr/>
        <p:txBody>
          <a:bodyPr/>
          <a:lstStyle/>
          <a:p>
            <a:r>
              <a:rPr lang="en-US"/>
              <a:t>SCS 1302   Discrete Mathematics 1       Prof. D D Karunaratna</a:t>
            </a:r>
          </a:p>
        </p:txBody>
      </p:sp>
      <p:sp>
        <p:nvSpPr>
          <p:cNvPr id="6" name="Slide Number Placeholder 5">
            <a:extLst>
              <a:ext uri="{FF2B5EF4-FFF2-40B4-BE49-F238E27FC236}">
                <a16:creationId xmlns:a16="http://schemas.microsoft.com/office/drawing/2014/main" id="{2B636795-FFB0-E898-FB04-67B8E5E82589}"/>
              </a:ext>
            </a:extLst>
          </p:cNvPr>
          <p:cNvSpPr>
            <a:spLocks noGrp="1"/>
          </p:cNvSpPr>
          <p:nvPr>
            <p:ph type="sldNum" sz="quarter" idx="12"/>
          </p:nvPr>
        </p:nvSpPr>
        <p:spPr/>
        <p:txBody>
          <a:bodyPr/>
          <a:lstStyle/>
          <a:p>
            <a:fld id="{0CA841A6-7C02-4C92-B6EE-5DBCC2AD53D0}" type="slidenum">
              <a:rPr lang="en-US" smtClean="0"/>
              <a:t>11</a:t>
            </a:fld>
            <a:endParaRPr lang="en-US"/>
          </a:p>
        </p:txBody>
      </p:sp>
      <p:pic>
        <p:nvPicPr>
          <p:cNvPr id="8" name="Picture 7">
            <a:extLst>
              <a:ext uri="{FF2B5EF4-FFF2-40B4-BE49-F238E27FC236}">
                <a16:creationId xmlns:a16="http://schemas.microsoft.com/office/drawing/2014/main" id="{E25EBB90-857C-D4AF-5C16-69E286107D5B}"/>
              </a:ext>
            </a:extLst>
          </p:cNvPr>
          <p:cNvPicPr>
            <a:picLocks noChangeAspect="1"/>
          </p:cNvPicPr>
          <p:nvPr/>
        </p:nvPicPr>
        <p:blipFill>
          <a:blip r:embed="rId2"/>
          <a:stretch>
            <a:fillRect/>
          </a:stretch>
        </p:blipFill>
        <p:spPr>
          <a:xfrm>
            <a:off x="1066800" y="2722983"/>
            <a:ext cx="6444031" cy="2688569"/>
          </a:xfrm>
          <a:prstGeom prst="rect">
            <a:avLst/>
          </a:prstGeom>
        </p:spPr>
      </p:pic>
      <p:sp>
        <p:nvSpPr>
          <p:cNvPr id="7" name="TextBox 6">
            <a:extLst>
              <a:ext uri="{FF2B5EF4-FFF2-40B4-BE49-F238E27FC236}">
                <a16:creationId xmlns:a16="http://schemas.microsoft.com/office/drawing/2014/main" id="{92ABC45C-4A18-76C3-5852-0172BE71C1D2}"/>
              </a:ext>
            </a:extLst>
          </p:cNvPr>
          <p:cNvSpPr txBox="1"/>
          <p:nvPr/>
        </p:nvSpPr>
        <p:spPr>
          <a:xfrm>
            <a:off x="762000" y="5638800"/>
            <a:ext cx="6748831" cy="646331"/>
          </a:xfrm>
          <a:prstGeom prst="rect">
            <a:avLst/>
          </a:prstGeom>
          <a:noFill/>
        </p:spPr>
        <p:txBody>
          <a:bodyPr wrap="square" rtlCol="0">
            <a:spAutoFit/>
          </a:bodyPr>
          <a:lstStyle/>
          <a:p>
            <a:r>
              <a:rPr lang="en-US" dirty="0"/>
              <a:t>Conjunction – and, product</a:t>
            </a:r>
          </a:p>
          <a:p>
            <a:r>
              <a:rPr lang="en-US" dirty="0"/>
              <a:t>Disjunction – or , sum</a:t>
            </a:r>
          </a:p>
        </p:txBody>
      </p:sp>
    </p:spTree>
    <p:extLst>
      <p:ext uri="{BB962C8B-B14F-4D97-AF65-F5344CB8AC3E}">
        <p14:creationId xmlns:p14="http://schemas.microsoft.com/office/powerpoint/2010/main" val="25481705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381C81-442C-6330-F519-B4D10F9C07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119F97-2534-566F-9ACA-5DD1AF8121A6}"/>
              </a:ext>
            </a:extLst>
          </p:cNvPr>
          <p:cNvSpPr>
            <a:spLocks noGrp="1"/>
          </p:cNvSpPr>
          <p:nvPr>
            <p:ph type="title"/>
          </p:nvPr>
        </p:nvSpPr>
        <p:spPr/>
        <p:txBody>
          <a:bodyPr/>
          <a:lstStyle/>
          <a:p>
            <a:r>
              <a:rPr lang="en-US" dirty="0"/>
              <a:t>Compound Propositions using propositional variables</a:t>
            </a:r>
            <a:endParaRPr lang="si-LK" dirty="0"/>
          </a:p>
        </p:txBody>
      </p:sp>
      <p:sp>
        <p:nvSpPr>
          <p:cNvPr id="3" name="Content Placeholder 2">
            <a:extLst>
              <a:ext uri="{FF2B5EF4-FFF2-40B4-BE49-F238E27FC236}">
                <a16:creationId xmlns:a16="http://schemas.microsoft.com/office/drawing/2014/main" id="{FE1F1EF3-E371-A6C8-E1EF-AD9E860064A9}"/>
              </a:ext>
            </a:extLst>
          </p:cNvPr>
          <p:cNvSpPr>
            <a:spLocks noGrp="1"/>
          </p:cNvSpPr>
          <p:nvPr>
            <p:ph idx="1"/>
          </p:nvPr>
        </p:nvSpPr>
        <p:spPr/>
        <p:txBody>
          <a:bodyPr>
            <a:normAutofit/>
          </a:bodyPr>
          <a:lstStyle/>
          <a:p>
            <a:pPr marL="0" indent="0" algn="l">
              <a:buNone/>
            </a:pPr>
            <a:r>
              <a:rPr lang="en-US" sz="2400" dirty="0">
                <a:solidFill>
                  <a:srgbClr val="000000"/>
                </a:solidFill>
                <a:latin typeface="CMSS10"/>
              </a:rPr>
              <a:t>The following </a:t>
            </a:r>
            <a:r>
              <a:rPr lang="en-US" sz="2400" b="0" i="0" u="none" strike="noStrike" baseline="0" dirty="0">
                <a:solidFill>
                  <a:srgbClr val="000000"/>
                </a:solidFill>
                <a:latin typeface="CMSS10"/>
              </a:rPr>
              <a:t>statements are </a:t>
            </a:r>
            <a:r>
              <a:rPr lang="en-US" sz="2400" b="1" i="0" u="none" strike="noStrike" baseline="0" dirty="0">
                <a:solidFill>
                  <a:srgbClr val="000000"/>
                </a:solidFill>
                <a:latin typeface="CMSS10"/>
              </a:rPr>
              <a:t>compound propositions</a:t>
            </a:r>
            <a:r>
              <a:rPr lang="en-US" sz="2400" b="0" i="0" u="none" strike="noStrike" baseline="0" dirty="0">
                <a:solidFill>
                  <a:srgbClr val="000000"/>
                </a:solidFill>
                <a:latin typeface="CMSS10"/>
              </a:rPr>
              <a:t>?</a:t>
            </a:r>
          </a:p>
          <a:p>
            <a:pPr algn="l">
              <a:buFont typeface="+mj-lt"/>
              <a:buAutoNum type="arabicPeriod"/>
            </a:pPr>
            <a:r>
              <a:rPr lang="en-US" sz="2400" b="0" i="0" u="none" strike="noStrike" baseline="0" dirty="0">
                <a:solidFill>
                  <a:srgbClr val="696969"/>
                </a:solidFill>
                <a:latin typeface="CMSS10"/>
              </a:rPr>
              <a:t> </a:t>
            </a:r>
            <a:r>
              <a:rPr lang="en-US" sz="2400" b="0" i="0" u="sng" strike="noStrike" baseline="0" dirty="0">
                <a:solidFill>
                  <a:srgbClr val="000000"/>
                </a:solidFill>
                <a:latin typeface="CMSS10"/>
              </a:rPr>
              <a:t>5 is a prime number </a:t>
            </a:r>
            <a:r>
              <a:rPr lang="en-US" sz="2400" b="0" i="0" u="none" strike="noStrike" baseline="0" dirty="0">
                <a:solidFill>
                  <a:srgbClr val="FF0000"/>
                </a:solidFill>
                <a:latin typeface="CMSS10"/>
              </a:rPr>
              <a:t>and</a:t>
            </a:r>
            <a:r>
              <a:rPr lang="en-US" sz="2400" b="0" i="0" u="none" strike="noStrike" baseline="0" dirty="0">
                <a:solidFill>
                  <a:srgbClr val="000000"/>
                </a:solidFill>
                <a:latin typeface="CMSS10"/>
              </a:rPr>
              <a:t> </a:t>
            </a:r>
            <a:r>
              <a:rPr lang="en-US" sz="2400" b="0" i="0" u="sng" strike="noStrike" baseline="0" dirty="0">
                <a:solidFill>
                  <a:srgbClr val="000000"/>
                </a:solidFill>
                <a:latin typeface="CMSS10"/>
              </a:rPr>
              <a:t>1 = 0</a:t>
            </a:r>
            <a:r>
              <a:rPr lang="en-US" sz="2400" b="0" i="0" u="none" strike="noStrike" baseline="0" dirty="0">
                <a:solidFill>
                  <a:srgbClr val="000000"/>
                </a:solidFill>
                <a:latin typeface="CMSS10"/>
              </a:rPr>
              <a:t>.</a:t>
            </a:r>
          </a:p>
          <a:p>
            <a:pPr marL="0" indent="0" algn="l">
              <a:buNone/>
            </a:pPr>
            <a:r>
              <a:rPr lang="en-US" sz="2400" dirty="0">
                <a:solidFill>
                  <a:srgbClr val="000000"/>
                </a:solidFill>
                <a:latin typeface="CMSS10"/>
              </a:rPr>
              <a:t>                    p                                 q</a:t>
            </a:r>
          </a:p>
          <a:p>
            <a:pPr marL="0" indent="0" algn="l">
              <a:buNone/>
            </a:pPr>
            <a:r>
              <a:rPr lang="en-US" sz="2400" b="0" i="0" u="none" strike="noStrike" baseline="0" dirty="0">
                <a:solidFill>
                  <a:srgbClr val="000000"/>
                </a:solidFill>
                <a:latin typeface="CMSS10"/>
              </a:rPr>
              <a:t>	p </a:t>
            </a:r>
            <a:r>
              <a:rPr kumimoji="0" lang="en-US" sz="2400" b="0" i="0" u="none" strike="noStrike" cap="none" normalizeH="0" baseline="0" dirty="0">
                <a:ln>
                  <a:noFill/>
                </a:ln>
                <a:effectLst/>
                <a:latin typeface="Arial" charset="0"/>
                <a:ea typeface="ＭＳ Ｐゴシック" pitchFamily="1" charset="-128"/>
                <a:sym typeface="Symbol" pitchFamily="1" charset="2"/>
              </a:rPr>
              <a:t></a:t>
            </a:r>
            <a:r>
              <a:rPr kumimoji="0" lang="en-US" sz="2400" b="0" i="0" u="none" strike="noStrike" cap="none" normalizeH="0" baseline="0" dirty="0">
                <a:ln>
                  <a:noFill/>
                </a:ln>
                <a:solidFill>
                  <a:srgbClr val="000000"/>
                </a:solidFill>
                <a:effectLst/>
                <a:latin typeface="CMSS10"/>
                <a:ea typeface="ＭＳ Ｐゴシック" pitchFamily="1" charset="-128"/>
                <a:sym typeface="Symbol" pitchFamily="1" charset="2"/>
              </a:rPr>
              <a:t> q</a:t>
            </a:r>
            <a:endParaRPr lang="en-US" sz="2400" b="0" i="0" u="none" strike="noStrike" baseline="0" dirty="0">
              <a:solidFill>
                <a:srgbClr val="000000"/>
              </a:solidFill>
              <a:latin typeface="CMSS10"/>
            </a:endParaRPr>
          </a:p>
          <a:p>
            <a:pPr algn="l">
              <a:buFont typeface="+mj-lt"/>
              <a:buAutoNum type="arabicPeriod"/>
            </a:pPr>
            <a:r>
              <a:rPr lang="en-US" sz="2400" b="0" i="0" u="sng" strike="noStrike" baseline="0" dirty="0">
                <a:solidFill>
                  <a:srgbClr val="000000"/>
                </a:solidFill>
                <a:latin typeface="CMSS10"/>
              </a:rPr>
              <a:t>Nimal is holding a pencil</a:t>
            </a:r>
            <a:r>
              <a:rPr lang="en-US" sz="2400" b="0" i="0" u="none" strike="noStrike" baseline="0" dirty="0">
                <a:solidFill>
                  <a:srgbClr val="000000"/>
                </a:solidFill>
                <a:latin typeface="CMSS10"/>
              </a:rPr>
              <a:t> </a:t>
            </a:r>
            <a:r>
              <a:rPr lang="en-US" sz="2400" b="0" i="0" u="none" strike="noStrike" baseline="0" dirty="0">
                <a:solidFill>
                  <a:srgbClr val="FF0000"/>
                </a:solidFill>
                <a:latin typeface="CMSS10"/>
              </a:rPr>
              <a:t>or</a:t>
            </a:r>
            <a:r>
              <a:rPr lang="en-US" sz="2400" b="0" i="0" u="none" strike="noStrike" baseline="0" dirty="0">
                <a:solidFill>
                  <a:srgbClr val="000000"/>
                </a:solidFill>
                <a:latin typeface="CMSS10"/>
              </a:rPr>
              <a:t> </a:t>
            </a:r>
            <a:r>
              <a:rPr lang="en-US" sz="2400" b="0" i="0" u="sng" strike="noStrike" baseline="0" dirty="0">
                <a:solidFill>
                  <a:srgbClr val="000000"/>
                </a:solidFill>
                <a:latin typeface="CMSS10"/>
              </a:rPr>
              <a:t>water is a liquid</a:t>
            </a:r>
            <a:r>
              <a:rPr lang="en-US" sz="2400" b="0" i="0" u="none" strike="noStrike" baseline="0" dirty="0">
                <a:solidFill>
                  <a:srgbClr val="000000"/>
                </a:solidFill>
                <a:latin typeface="CMSS10"/>
              </a:rPr>
              <a:t>.</a:t>
            </a:r>
          </a:p>
          <a:p>
            <a:pPr marL="0" indent="0" algn="l">
              <a:buNone/>
            </a:pPr>
            <a:r>
              <a:rPr lang="en-US" sz="2400" dirty="0">
                <a:solidFill>
                  <a:srgbClr val="000000"/>
                </a:solidFill>
                <a:latin typeface="CMSS10"/>
              </a:rPr>
              <a:t>                       r                                        s</a:t>
            </a:r>
          </a:p>
          <a:p>
            <a:pPr marL="0" indent="0" algn="l">
              <a:buNone/>
            </a:pPr>
            <a:r>
              <a:rPr lang="en-US" sz="2400" b="0" i="0" u="none" strike="noStrike" baseline="0" dirty="0">
                <a:solidFill>
                  <a:srgbClr val="000000"/>
                </a:solidFill>
                <a:latin typeface="CMSS10"/>
              </a:rPr>
              <a:t>     	</a:t>
            </a:r>
            <a:r>
              <a:rPr lang="en-US" sz="2400" b="0" i="0" u="none" strike="noStrike" baseline="0" dirty="0">
                <a:latin typeface="CMSS10"/>
              </a:rPr>
              <a:t>r </a:t>
            </a:r>
            <a:r>
              <a:rPr kumimoji="0" lang="en-US" sz="2400" b="0" i="0" u="none" strike="noStrike" cap="none" normalizeH="0" baseline="0" dirty="0">
                <a:ln>
                  <a:noFill/>
                </a:ln>
                <a:effectLst/>
                <a:latin typeface="Arial" charset="0"/>
                <a:ea typeface="ＭＳ Ｐゴシック" pitchFamily="1" charset="-128"/>
                <a:sym typeface="Symbol" pitchFamily="1" charset="2"/>
              </a:rPr>
              <a:t> s</a:t>
            </a:r>
            <a:endParaRPr lang="en-US" sz="2400" b="0" i="0" u="none" strike="noStrike" baseline="0" dirty="0">
              <a:latin typeface="CMSS10"/>
            </a:endParaRPr>
          </a:p>
          <a:p>
            <a:pPr algn="l">
              <a:buFont typeface="+mj-lt"/>
              <a:buAutoNum type="arabicPeriod"/>
            </a:pPr>
            <a:r>
              <a:rPr lang="en-US" sz="2400" b="0" i="0" u="none" strike="noStrike" baseline="0" dirty="0">
                <a:latin typeface="CMSS10"/>
              </a:rPr>
              <a:t> </a:t>
            </a:r>
            <a:r>
              <a:rPr lang="en-US" sz="2400" b="0" i="0" u="none" strike="noStrike" baseline="0" dirty="0">
                <a:solidFill>
                  <a:srgbClr val="FF0000"/>
                </a:solidFill>
                <a:latin typeface="CMSS10"/>
              </a:rPr>
              <a:t>If</a:t>
            </a:r>
            <a:r>
              <a:rPr lang="en-US" sz="2400" b="0" i="0" u="none" strike="noStrike" baseline="0" dirty="0">
                <a:latin typeface="CMSS10"/>
              </a:rPr>
              <a:t> </a:t>
            </a:r>
            <a:r>
              <a:rPr lang="en-US" sz="2400" u="sng" dirty="0" err="1">
                <a:solidFill>
                  <a:srgbClr val="000000"/>
                </a:solidFill>
                <a:latin typeface="CMSS10"/>
              </a:rPr>
              <a:t>Nimal</a:t>
            </a:r>
            <a:r>
              <a:rPr lang="en-US" sz="2400" b="0" i="0" u="sng" strike="noStrike" baseline="0" dirty="0">
                <a:solidFill>
                  <a:srgbClr val="000000"/>
                </a:solidFill>
                <a:latin typeface="CMSS10"/>
              </a:rPr>
              <a:t> has a dog</a:t>
            </a:r>
            <a:r>
              <a:rPr lang="en-US" sz="2400" b="0" i="0" u="none" strike="noStrike" baseline="0" dirty="0">
                <a:solidFill>
                  <a:srgbClr val="000000"/>
                </a:solidFill>
                <a:latin typeface="CMSS10"/>
              </a:rPr>
              <a:t>, </a:t>
            </a:r>
            <a:r>
              <a:rPr lang="en-US" sz="2400" b="0" i="0" u="none" strike="noStrike" baseline="0" dirty="0">
                <a:solidFill>
                  <a:srgbClr val="FF0000"/>
                </a:solidFill>
                <a:latin typeface="CMSS10"/>
              </a:rPr>
              <a:t>then</a:t>
            </a:r>
            <a:r>
              <a:rPr lang="en-US" sz="2400" b="0" i="0" u="none" strike="noStrike" baseline="0" dirty="0">
                <a:solidFill>
                  <a:srgbClr val="000000"/>
                </a:solidFill>
                <a:latin typeface="CMSS10"/>
              </a:rPr>
              <a:t> </a:t>
            </a:r>
            <a:r>
              <a:rPr lang="en-US" sz="2400" b="0" i="0" u="sng" strike="noStrike" baseline="0" dirty="0">
                <a:solidFill>
                  <a:srgbClr val="000000"/>
                </a:solidFill>
                <a:latin typeface="CMSS10"/>
              </a:rPr>
              <a:t>cat have 5 lungs</a:t>
            </a:r>
            <a:r>
              <a:rPr lang="en-US" sz="2400" b="0" i="0" u="none" strike="noStrike" baseline="0" dirty="0">
                <a:solidFill>
                  <a:srgbClr val="000000"/>
                </a:solidFill>
                <a:latin typeface="CMSS10"/>
              </a:rPr>
              <a:t>.</a:t>
            </a:r>
          </a:p>
          <a:p>
            <a:pPr marL="0" indent="0" algn="l">
              <a:buNone/>
            </a:pPr>
            <a:r>
              <a:rPr lang="en-US" sz="2400" dirty="0">
                <a:solidFill>
                  <a:srgbClr val="000000"/>
                </a:solidFill>
                <a:latin typeface="CMSS10"/>
              </a:rPr>
              <a:t>	    p			q</a:t>
            </a:r>
          </a:p>
          <a:p>
            <a:pPr marL="0" indent="0" algn="l">
              <a:buNone/>
            </a:pPr>
            <a:r>
              <a:rPr lang="en-US" sz="2400" dirty="0">
                <a:solidFill>
                  <a:srgbClr val="000000"/>
                </a:solidFill>
                <a:latin typeface="CMSS10"/>
              </a:rPr>
              <a:t>	p -&gt; q</a:t>
            </a:r>
          </a:p>
          <a:p>
            <a:pPr marL="0" indent="0">
              <a:buNone/>
            </a:pPr>
            <a:endParaRPr lang="en-US" sz="2400" dirty="0"/>
          </a:p>
          <a:p>
            <a:pPr marL="0" indent="0" algn="l">
              <a:buNone/>
            </a:pPr>
            <a:endParaRPr lang="si-LK" sz="2400" dirty="0"/>
          </a:p>
        </p:txBody>
      </p:sp>
      <p:sp>
        <p:nvSpPr>
          <p:cNvPr id="4" name="Date Placeholder 3">
            <a:extLst>
              <a:ext uri="{FF2B5EF4-FFF2-40B4-BE49-F238E27FC236}">
                <a16:creationId xmlns:a16="http://schemas.microsoft.com/office/drawing/2014/main" id="{3D30C8EB-AC79-6A55-B02A-FD80B2201654}"/>
              </a:ext>
            </a:extLst>
          </p:cNvPr>
          <p:cNvSpPr>
            <a:spLocks noGrp="1"/>
          </p:cNvSpPr>
          <p:nvPr>
            <p:ph type="dt" sz="half" idx="10"/>
          </p:nvPr>
        </p:nvSpPr>
        <p:spPr/>
        <p:txBody>
          <a:bodyPr/>
          <a:lstStyle/>
          <a:p>
            <a:fld id="{0734AEEC-D4D4-4A8A-A113-2E1B0A453424}" type="datetime3">
              <a:rPr lang="en-US" smtClean="0"/>
              <a:t>27 April 2026</a:t>
            </a:fld>
            <a:endParaRPr lang="en-US"/>
          </a:p>
        </p:txBody>
      </p:sp>
      <p:sp>
        <p:nvSpPr>
          <p:cNvPr id="5" name="Footer Placeholder 4">
            <a:extLst>
              <a:ext uri="{FF2B5EF4-FFF2-40B4-BE49-F238E27FC236}">
                <a16:creationId xmlns:a16="http://schemas.microsoft.com/office/drawing/2014/main" id="{8D5E9CB6-FFD8-E5B3-9010-72D2DF1FECA9}"/>
              </a:ext>
            </a:extLst>
          </p:cNvPr>
          <p:cNvSpPr>
            <a:spLocks noGrp="1"/>
          </p:cNvSpPr>
          <p:nvPr>
            <p:ph type="ftr" sz="quarter" idx="11"/>
          </p:nvPr>
        </p:nvSpPr>
        <p:spPr/>
        <p:txBody>
          <a:bodyPr/>
          <a:lstStyle/>
          <a:p>
            <a:r>
              <a:rPr lang="en-US"/>
              <a:t>SCS 1302   Discrete Mathematics 1       Prof. D D Karunaratna</a:t>
            </a:r>
          </a:p>
        </p:txBody>
      </p:sp>
      <p:sp>
        <p:nvSpPr>
          <p:cNvPr id="6" name="Slide Number Placeholder 5">
            <a:extLst>
              <a:ext uri="{FF2B5EF4-FFF2-40B4-BE49-F238E27FC236}">
                <a16:creationId xmlns:a16="http://schemas.microsoft.com/office/drawing/2014/main" id="{B3BCF65D-38C1-F9C9-BC2E-9F23C280C6F9}"/>
              </a:ext>
            </a:extLst>
          </p:cNvPr>
          <p:cNvSpPr>
            <a:spLocks noGrp="1"/>
          </p:cNvSpPr>
          <p:nvPr>
            <p:ph type="sldNum" sz="quarter" idx="12"/>
          </p:nvPr>
        </p:nvSpPr>
        <p:spPr/>
        <p:txBody>
          <a:bodyPr/>
          <a:lstStyle/>
          <a:p>
            <a:fld id="{0CA841A6-7C02-4C92-B6EE-5DBCC2AD53D0}" type="slidenum">
              <a:rPr lang="en-US" smtClean="0"/>
              <a:t>12</a:t>
            </a:fld>
            <a:endParaRPr lang="en-US"/>
          </a:p>
        </p:txBody>
      </p:sp>
    </p:spTree>
    <p:extLst>
      <p:ext uri="{BB962C8B-B14F-4D97-AF65-F5344CB8AC3E}">
        <p14:creationId xmlns:p14="http://schemas.microsoft.com/office/powerpoint/2010/main" val="39989744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572F8E-E8CA-71F4-F5A1-CFAC411747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97E043C-FA5F-DA39-CADA-7FCBDF4C4D6F}"/>
              </a:ext>
            </a:extLst>
          </p:cNvPr>
          <p:cNvSpPr>
            <a:spLocks noGrp="1"/>
          </p:cNvSpPr>
          <p:nvPr>
            <p:ph type="title"/>
          </p:nvPr>
        </p:nvSpPr>
        <p:spPr/>
        <p:txBody>
          <a:bodyPr/>
          <a:lstStyle/>
          <a:p>
            <a:r>
              <a:rPr lang="en-US" dirty="0"/>
              <a:t>Compound Propositions - Examples</a:t>
            </a:r>
            <a:endParaRPr lang="si-LK" dirty="0"/>
          </a:p>
        </p:txBody>
      </p:sp>
      <p:sp>
        <p:nvSpPr>
          <p:cNvPr id="3" name="Content Placeholder 2">
            <a:extLst>
              <a:ext uri="{FF2B5EF4-FFF2-40B4-BE49-F238E27FC236}">
                <a16:creationId xmlns:a16="http://schemas.microsoft.com/office/drawing/2014/main" id="{D1395400-BE56-4DFE-91F4-CEA32C28B0AA}"/>
              </a:ext>
            </a:extLst>
          </p:cNvPr>
          <p:cNvSpPr>
            <a:spLocks noGrp="1"/>
          </p:cNvSpPr>
          <p:nvPr>
            <p:ph idx="1"/>
          </p:nvPr>
        </p:nvSpPr>
        <p:spPr/>
        <p:txBody>
          <a:bodyPr>
            <a:normAutofit/>
          </a:bodyPr>
          <a:lstStyle/>
          <a:p>
            <a:pPr marL="0" indent="0">
              <a:buNone/>
            </a:pPr>
            <a:r>
              <a:rPr lang="en-US" sz="2400" dirty="0"/>
              <a:t>If compound propositions are also propositions, they should have truth values.</a:t>
            </a:r>
          </a:p>
          <a:p>
            <a:pPr marL="0" indent="0">
              <a:buNone/>
            </a:pPr>
            <a:r>
              <a:rPr lang="en-US" sz="2400" dirty="0"/>
              <a:t>How to determine the truth values of compound positions?</a:t>
            </a:r>
          </a:p>
          <a:p>
            <a:pPr marL="0" indent="0">
              <a:buNone/>
            </a:pPr>
            <a:endParaRPr lang="en-US" sz="2400" dirty="0"/>
          </a:p>
          <a:p>
            <a:pPr marL="0" indent="0" algn="l">
              <a:buNone/>
            </a:pPr>
            <a:endParaRPr lang="si-LK" sz="2400" dirty="0"/>
          </a:p>
        </p:txBody>
      </p:sp>
      <p:sp>
        <p:nvSpPr>
          <p:cNvPr id="4" name="Date Placeholder 3">
            <a:extLst>
              <a:ext uri="{FF2B5EF4-FFF2-40B4-BE49-F238E27FC236}">
                <a16:creationId xmlns:a16="http://schemas.microsoft.com/office/drawing/2014/main" id="{D0349455-0CBF-72EB-EBBA-B311D00EC099}"/>
              </a:ext>
            </a:extLst>
          </p:cNvPr>
          <p:cNvSpPr>
            <a:spLocks noGrp="1"/>
          </p:cNvSpPr>
          <p:nvPr>
            <p:ph type="dt" sz="half" idx="10"/>
          </p:nvPr>
        </p:nvSpPr>
        <p:spPr/>
        <p:txBody>
          <a:bodyPr/>
          <a:lstStyle/>
          <a:p>
            <a:fld id="{43202D6B-5325-45B5-AD57-B5206AB21D58}" type="datetime3">
              <a:rPr lang="en-US" smtClean="0"/>
              <a:t>27 April 2026</a:t>
            </a:fld>
            <a:endParaRPr lang="en-US"/>
          </a:p>
        </p:txBody>
      </p:sp>
      <p:sp>
        <p:nvSpPr>
          <p:cNvPr id="5" name="Footer Placeholder 4">
            <a:extLst>
              <a:ext uri="{FF2B5EF4-FFF2-40B4-BE49-F238E27FC236}">
                <a16:creationId xmlns:a16="http://schemas.microsoft.com/office/drawing/2014/main" id="{55FAD472-CA6E-DD57-3DF6-E1FB4ED5AA87}"/>
              </a:ext>
            </a:extLst>
          </p:cNvPr>
          <p:cNvSpPr>
            <a:spLocks noGrp="1"/>
          </p:cNvSpPr>
          <p:nvPr>
            <p:ph type="ftr" sz="quarter" idx="11"/>
          </p:nvPr>
        </p:nvSpPr>
        <p:spPr/>
        <p:txBody>
          <a:bodyPr/>
          <a:lstStyle/>
          <a:p>
            <a:r>
              <a:rPr lang="en-US"/>
              <a:t>SCS 1302   Discrete Mathematics 1       Prof. D D Karunaratna</a:t>
            </a:r>
          </a:p>
        </p:txBody>
      </p:sp>
      <p:sp>
        <p:nvSpPr>
          <p:cNvPr id="6" name="Slide Number Placeholder 5">
            <a:extLst>
              <a:ext uri="{FF2B5EF4-FFF2-40B4-BE49-F238E27FC236}">
                <a16:creationId xmlns:a16="http://schemas.microsoft.com/office/drawing/2014/main" id="{9DF2685C-1436-673F-2532-238ECB3C073F}"/>
              </a:ext>
            </a:extLst>
          </p:cNvPr>
          <p:cNvSpPr>
            <a:spLocks noGrp="1"/>
          </p:cNvSpPr>
          <p:nvPr>
            <p:ph type="sldNum" sz="quarter" idx="12"/>
          </p:nvPr>
        </p:nvSpPr>
        <p:spPr/>
        <p:txBody>
          <a:bodyPr/>
          <a:lstStyle/>
          <a:p>
            <a:fld id="{0CA841A6-7C02-4C92-B6EE-5DBCC2AD53D0}" type="slidenum">
              <a:rPr lang="en-US" smtClean="0"/>
              <a:t>13</a:t>
            </a:fld>
            <a:endParaRPr lang="en-US"/>
          </a:p>
        </p:txBody>
      </p:sp>
    </p:spTree>
    <p:extLst>
      <p:ext uri="{BB962C8B-B14F-4D97-AF65-F5344CB8AC3E}">
        <p14:creationId xmlns:p14="http://schemas.microsoft.com/office/powerpoint/2010/main" val="28192294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8DDD3F-EEA5-9E86-3942-80F04F7B3453}"/>
              </a:ext>
            </a:extLst>
          </p:cNvPr>
          <p:cNvSpPr>
            <a:spLocks noGrp="1"/>
          </p:cNvSpPr>
          <p:nvPr>
            <p:ph type="title"/>
          </p:nvPr>
        </p:nvSpPr>
        <p:spPr/>
        <p:txBody>
          <a:bodyPr/>
          <a:lstStyle/>
          <a:p>
            <a:r>
              <a:rPr lang="en-US" dirty="0"/>
              <a:t>Truth Tables</a:t>
            </a:r>
            <a:endParaRPr lang="si-LK" dirty="0"/>
          </a:p>
        </p:txBody>
      </p:sp>
      <p:sp>
        <p:nvSpPr>
          <p:cNvPr id="3" name="Content Placeholder 2">
            <a:extLst>
              <a:ext uri="{FF2B5EF4-FFF2-40B4-BE49-F238E27FC236}">
                <a16:creationId xmlns:a16="http://schemas.microsoft.com/office/drawing/2014/main" id="{A18038CC-2F4D-C856-668C-99719E292E3D}"/>
              </a:ext>
            </a:extLst>
          </p:cNvPr>
          <p:cNvSpPr>
            <a:spLocks noGrp="1"/>
          </p:cNvSpPr>
          <p:nvPr>
            <p:ph idx="1"/>
          </p:nvPr>
        </p:nvSpPr>
        <p:spPr/>
        <p:txBody>
          <a:bodyPr/>
          <a:lstStyle/>
          <a:p>
            <a:r>
              <a:rPr lang="en-US" dirty="0">
                <a:solidFill>
                  <a:srgbClr val="001D35"/>
                </a:solidFill>
                <a:latin typeface="Google Sans"/>
              </a:rPr>
              <a:t>R</a:t>
            </a:r>
            <a:r>
              <a:rPr lang="en-US" b="0" i="0" dirty="0">
                <a:solidFill>
                  <a:srgbClr val="001D35"/>
                </a:solidFill>
                <a:effectLst/>
                <a:latin typeface="Google Sans"/>
              </a:rPr>
              <a:t>ules to determine the truth values of compound propositions can be given by using truth tables.</a:t>
            </a:r>
          </a:p>
          <a:p>
            <a:r>
              <a:rPr lang="en-US" b="0" i="0" dirty="0">
                <a:solidFill>
                  <a:srgbClr val="001D35"/>
                </a:solidFill>
                <a:effectLst/>
                <a:latin typeface="Google Sans"/>
              </a:rPr>
              <a:t>A truth table is a table that displays all possible truth values for the </a:t>
            </a:r>
            <a:r>
              <a:rPr lang="en-US" dirty="0">
                <a:solidFill>
                  <a:srgbClr val="001D35"/>
                </a:solidFill>
                <a:latin typeface="Google Sans"/>
              </a:rPr>
              <a:t>primitive propositions</a:t>
            </a:r>
            <a:r>
              <a:rPr lang="en-US" b="0" i="0" dirty="0">
                <a:solidFill>
                  <a:srgbClr val="001D35"/>
                </a:solidFill>
                <a:effectLst/>
                <a:latin typeface="Google Sans"/>
              </a:rPr>
              <a:t> of a compound proposition and the corresponding truth value of the compound proposition. </a:t>
            </a:r>
            <a:endParaRPr lang="si-LK" dirty="0"/>
          </a:p>
        </p:txBody>
      </p:sp>
      <p:sp>
        <p:nvSpPr>
          <p:cNvPr id="4" name="Date Placeholder 3">
            <a:extLst>
              <a:ext uri="{FF2B5EF4-FFF2-40B4-BE49-F238E27FC236}">
                <a16:creationId xmlns:a16="http://schemas.microsoft.com/office/drawing/2014/main" id="{75305E51-F59B-A246-F649-CE937BA302E4}"/>
              </a:ext>
            </a:extLst>
          </p:cNvPr>
          <p:cNvSpPr>
            <a:spLocks noGrp="1"/>
          </p:cNvSpPr>
          <p:nvPr>
            <p:ph type="dt" sz="half" idx="10"/>
          </p:nvPr>
        </p:nvSpPr>
        <p:spPr/>
        <p:txBody>
          <a:bodyPr/>
          <a:lstStyle/>
          <a:p>
            <a:fld id="{EB586616-942E-41BF-B824-A6530AA107BD}" type="datetime3">
              <a:rPr lang="en-US" smtClean="0"/>
              <a:t>27 April 2026</a:t>
            </a:fld>
            <a:endParaRPr lang="en-US"/>
          </a:p>
        </p:txBody>
      </p:sp>
      <p:sp>
        <p:nvSpPr>
          <p:cNvPr id="5" name="Footer Placeholder 4">
            <a:extLst>
              <a:ext uri="{FF2B5EF4-FFF2-40B4-BE49-F238E27FC236}">
                <a16:creationId xmlns:a16="http://schemas.microsoft.com/office/drawing/2014/main" id="{49AA4941-BBBF-8731-2D2E-1035341E88D3}"/>
              </a:ext>
            </a:extLst>
          </p:cNvPr>
          <p:cNvSpPr>
            <a:spLocks noGrp="1"/>
          </p:cNvSpPr>
          <p:nvPr>
            <p:ph type="ftr" sz="quarter" idx="11"/>
          </p:nvPr>
        </p:nvSpPr>
        <p:spPr/>
        <p:txBody>
          <a:bodyPr/>
          <a:lstStyle/>
          <a:p>
            <a:r>
              <a:rPr lang="en-US"/>
              <a:t>SCS 1302   Discrete Mathematics 1       Prof. D D Karunaratna</a:t>
            </a:r>
          </a:p>
        </p:txBody>
      </p:sp>
      <p:sp>
        <p:nvSpPr>
          <p:cNvPr id="6" name="Slide Number Placeholder 5">
            <a:extLst>
              <a:ext uri="{FF2B5EF4-FFF2-40B4-BE49-F238E27FC236}">
                <a16:creationId xmlns:a16="http://schemas.microsoft.com/office/drawing/2014/main" id="{8CF3A8DB-DA90-DFE6-55D1-EE78860CD047}"/>
              </a:ext>
            </a:extLst>
          </p:cNvPr>
          <p:cNvSpPr>
            <a:spLocks noGrp="1"/>
          </p:cNvSpPr>
          <p:nvPr>
            <p:ph type="sldNum" sz="quarter" idx="12"/>
          </p:nvPr>
        </p:nvSpPr>
        <p:spPr/>
        <p:txBody>
          <a:bodyPr/>
          <a:lstStyle/>
          <a:p>
            <a:fld id="{0CA841A6-7C02-4C92-B6EE-5DBCC2AD53D0}" type="slidenum">
              <a:rPr lang="en-US" smtClean="0"/>
              <a:t>14</a:t>
            </a:fld>
            <a:endParaRPr lang="en-US"/>
          </a:p>
        </p:txBody>
      </p:sp>
    </p:spTree>
    <p:extLst>
      <p:ext uri="{BB962C8B-B14F-4D97-AF65-F5344CB8AC3E}">
        <p14:creationId xmlns:p14="http://schemas.microsoft.com/office/powerpoint/2010/main" val="33008919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Negation</a:t>
            </a:r>
            <a:endParaRPr lang="en-GB" dirty="0"/>
          </a:p>
        </p:txBody>
      </p:sp>
      <p:sp>
        <p:nvSpPr>
          <p:cNvPr id="4" name="Date Placeholder 3"/>
          <p:cNvSpPr>
            <a:spLocks noGrp="1"/>
          </p:cNvSpPr>
          <p:nvPr>
            <p:ph type="dt" sz="half" idx="10"/>
          </p:nvPr>
        </p:nvSpPr>
        <p:spPr/>
        <p:txBody>
          <a:bodyPr/>
          <a:lstStyle/>
          <a:p>
            <a:fld id="{F9287C64-AB61-4378-8383-D0121AC973D3}" type="datetime3">
              <a:rPr lang="en-US" smtClean="0"/>
              <a:t>27 April 2026</a:t>
            </a:fld>
            <a:endParaRPr lang="en-US"/>
          </a:p>
        </p:txBody>
      </p:sp>
      <p:sp>
        <p:nvSpPr>
          <p:cNvPr id="5" name="Footer Placeholder 4"/>
          <p:cNvSpPr>
            <a:spLocks noGrp="1"/>
          </p:cNvSpPr>
          <p:nvPr>
            <p:ph type="ftr" sz="quarter" idx="11"/>
          </p:nvPr>
        </p:nvSpPr>
        <p:spPr/>
        <p:txBody>
          <a:bodyPr/>
          <a:lstStyle/>
          <a:p>
            <a:r>
              <a:rPr lang="en-US"/>
              <a:t>SCS 1302   Discrete Mathematics 1       Prof. D D Karunaratna</a:t>
            </a:r>
          </a:p>
        </p:txBody>
      </p:sp>
      <p:sp>
        <p:nvSpPr>
          <p:cNvPr id="6" name="Slide Number Placeholder 5"/>
          <p:cNvSpPr>
            <a:spLocks noGrp="1"/>
          </p:cNvSpPr>
          <p:nvPr>
            <p:ph type="sldNum" sz="quarter" idx="12"/>
          </p:nvPr>
        </p:nvSpPr>
        <p:spPr/>
        <p:txBody>
          <a:bodyPr/>
          <a:lstStyle/>
          <a:p>
            <a:fld id="{0CA841A6-7C02-4C92-B6EE-5DBCC2AD53D0}" type="slidenum">
              <a:rPr lang="en-US" smtClean="0"/>
              <a:t>15</a:t>
            </a:fld>
            <a:endParaRPr lang="en-US"/>
          </a:p>
        </p:txBody>
      </p:sp>
      <p:sp>
        <p:nvSpPr>
          <p:cNvPr id="7" name="Rectangle 22"/>
          <p:cNvSpPr>
            <a:spLocks noChangeArrowheads="1"/>
          </p:cNvSpPr>
          <p:nvPr/>
        </p:nvSpPr>
        <p:spPr bwMode="auto">
          <a:xfrm>
            <a:off x="533400" y="1751013"/>
            <a:ext cx="8229600" cy="839787"/>
          </a:xfrm>
          <a:prstGeom prst="rect">
            <a:avLst/>
          </a:prstGeom>
          <a:noFill/>
          <a:ln w="9525">
            <a:noFill/>
            <a:miter lim="800000"/>
            <a:headEnd/>
            <a:tailEnd/>
          </a:ln>
        </p:spPr>
        <p:txBody>
          <a:bodyPr/>
          <a:lstStyle/>
          <a:p>
            <a:pPr marL="342900" indent="-342900">
              <a:lnSpc>
                <a:spcPct val="90000"/>
              </a:lnSpc>
              <a:spcBef>
                <a:spcPct val="20000"/>
              </a:spcBef>
            </a:pPr>
            <a:r>
              <a:rPr lang="en-US" sz="2000" dirty="0"/>
              <a:t>Let </a:t>
            </a:r>
            <a:r>
              <a:rPr lang="en-US" sz="2000" i="1" dirty="0"/>
              <a:t>p be a proposition. The </a:t>
            </a:r>
            <a:r>
              <a:rPr lang="en-US" sz="2000" b="1" i="1" dirty="0"/>
              <a:t>negation of p</a:t>
            </a:r>
            <a:r>
              <a:rPr lang="en-US" sz="2000" i="1" dirty="0"/>
              <a:t>, denoted by </a:t>
            </a:r>
            <a:r>
              <a:rPr kumimoji="0" lang="en-US" sz="2000" b="1" i="1" u="none" strike="noStrike" cap="none" normalizeH="0" baseline="0" dirty="0">
                <a:ln>
                  <a:noFill/>
                </a:ln>
                <a:solidFill>
                  <a:schemeClr val="tx1"/>
                </a:solidFill>
                <a:effectLst/>
                <a:latin typeface="Comic Sans MS" pitchFamily="1" charset="0"/>
                <a:ea typeface="ＭＳ Ｐゴシック" pitchFamily="1" charset="-128"/>
                <a:sym typeface="Symbol" pitchFamily="1" charset="2"/>
              </a:rPr>
              <a:t></a:t>
            </a:r>
            <a:r>
              <a:rPr kumimoji="0" lang="en-US" sz="2000" b="1" i="1" u="none" strike="noStrike" cap="none" normalizeH="0" dirty="0">
                <a:ln>
                  <a:noFill/>
                </a:ln>
                <a:solidFill>
                  <a:schemeClr val="tx1"/>
                </a:solidFill>
                <a:effectLst/>
                <a:latin typeface="Comic Sans MS" pitchFamily="1" charset="0"/>
                <a:ea typeface="ＭＳ Ｐゴシック" pitchFamily="1" charset="-128"/>
                <a:sym typeface="Symbol" pitchFamily="1" charset="2"/>
              </a:rPr>
              <a:t> </a:t>
            </a:r>
            <a:r>
              <a:rPr lang="en-US" sz="2000" b="1" i="1" dirty="0"/>
              <a:t>p</a:t>
            </a:r>
            <a:r>
              <a:rPr lang="en-US" sz="2000" i="1" dirty="0"/>
              <a:t>,</a:t>
            </a:r>
            <a:r>
              <a:rPr lang="en-US" sz="2000" dirty="0"/>
              <a:t> is the statement </a:t>
            </a:r>
          </a:p>
          <a:p>
            <a:pPr marL="342900" indent="-342900">
              <a:lnSpc>
                <a:spcPct val="90000"/>
              </a:lnSpc>
              <a:spcBef>
                <a:spcPct val="20000"/>
              </a:spcBef>
            </a:pPr>
            <a:r>
              <a:rPr lang="en-US" sz="2000" dirty="0"/>
              <a:t>“It is not the case that </a:t>
            </a:r>
            <a:r>
              <a:rPr lang="en-US" sz="2000" i="1" dirty="0"/>
              <a:t>p.”</a:t>
            </a:r>
          </a:p>
          <a:p>
            <a:pPr marL="342900" indent="-342900">
              <a:lnSpc>
                <a:spcPct val="90000"/>
              </a:lnSpc>
              <a:spcBef>
                <a:spcPct val="20000"/>
              </a:spcBef>
            </a:pPr>
            <a:r>
              <a:rPr lang="en-US" sz="2000" i="1" dirty="0"/>
              <a:t>Negation is a unary operator</a:t>
            </a:r>
            <a:endParaRPr lang="en-US" sz="2000" dirty="0"/>
          </a:p>
          <a:p>
            <a:pPr marL="342900" indent="-342900">
              <a:lnSpc>
                <a:spcPct val="90000"/>
              </a:lnSpc>
              <a:spcBef>
                <a:spcPct val="20000"/>
              </a:spcBef>
            </a:pPr>
            <a:r>
              <a:rPr lang="en-US" i="1" dirty="0"/>
              <a:t>    </a:t>
            </a:r>
            <a:endParaRPr lang="en-US" dirty="0">
              <a:latin typeface="Comic Sans MS" pitchFamily="1" charset="0"/>
            </a:endParaRPr>
          </a:p>
          <a:p>
            <a:pPr marL="342900" indent="-342900" eaLnBrk="1" hangingPunct="1">
              <a:lnSpc>
                <a:spcPct val="90000"/>
              </a:lnSpc>
              <a:spcBef>
                <a:spcPct val="20000"/>
              </a:spcBef>
            </a:pPr>
            <a:endParaRPr lang="en-US" dirty="0">
              <a:latin typeface="Comic Sans MS" pitchFamily="1" charset="0"/>
            </a:endParaRPr>
          </a:p>
        </p:txBody>
      </p:sp>
      <p:sp>
        <p:nvSpPr>
          <p:cNvPr id="8" name="TextBox 7"/>
          <p:cNvSpPr txBox="1"/>
          <p:nvPr/>
        </p:nvSpPr>
        <p:spPr>
          <a:xfrm>
            <a:off x="304800" y="2700331"/>
            <a:ext cx="8686800" cy="400110"/>
          </a:xfrm>
          <a:prstGeom prst="rect">
            <a:avLst/>
          </a:prstGeom>
          <a:noFill/>
        </p:spPr>
        <p:txBody>
          <a:bodyPr wrap="square" rtlCol="0">
            <a:spAutoFit/>
          </a:bodyPr>
          <a:lstStyle/>
          <a:p>
            <a:r>
              <a:rPr lang="en-US" sz="2000" b="1" dirty="0"/>
              <a:t>Example:</a:t>
            </a:r>
            <a:r>
              <a:rPr lang="en-US" sz="2000" dirty="0"/>
              <a:t>  Let  p be “</a:t>
            </a:r>
            <a:r>
              <a:rPr lang="en-US" sz="2000" i="1" dirty="0" err="1"/>
              <a:t>Nimal’s</a:t>
            </a:r>
            <a:r>
              <a:rPr lang="en-US" sz="2000" i="1" dirty="0"/>
              <a:t> phone has at least 32GB of memory </a:t>
            </a:r>
            <a:r>
              <a:rPr lang="en-US" sz="2000" dirty="0"/>
              <a:t>”.</a:t>
            </a:r>
          </a:p>
        </p:txBody>
      </p:sp>
      <p:sp>
        <p:nvSpPr>
          <p:cNvPr id="9" name="Rectangle 8"/>
          <p:cNvSpPr/>
          <p:nvPr/>
        </p:nvSpPr>
        <p:spPr>
          <a:xfrm>
            <a:off x="381000" y="3096161"/>
            <a:ext cx="8458200" cy="1631216"/>
          </a:xfrm>
          <a:prstGeom prst="rect">
            <a:avLst/>
          </a:prstGeom>
        </p:spPr>
        <p:txBody>
          <a:bodyPr wrap="square">
            <a:spAutoFit/>
          </a:bodyPr>
          <a:lstStyle/>
          <a:p>
            <a:r>
              <a:rPr lang="en-US" sz="2000" dirty="0"/>
              <a:t>The negation  of  p  is </a:t>
            </a:r>
          </a:p>
          <a:p>
            <a:r>
              <a:rPr lang="en-US" sz="2000" i="1" dirty="0">
                <a:latin typeface="Comic Sans MS" pitchFamily="1" charset="0"/>
                <a:ea typeface="ＭＳ Ｐゴシック" pitchFamily="1" charset="-128"/>
                <a:sym typeface="Symbol" pitchFamily="1" charset="2"/>
              </a:rPr>
              <a:t>  (</a:t>
            </a:r>
            <a:r>
              <a:rPr lang="en-US" sz="2000" i="1" dirty="0"/>
              <a:t>Nimal’s phone has at least 32GB of memory)</a:t>
            </a:r>
            <a:endParaRPr lang="en-US" sz="2000" dirty="0"/>
          </a:p>
          <a:p>
            <a:r>
              <a:rPr lang="en-US" sz="2000" dirty="0"/>
              <a:t>“</a:t>
            </a:r>
            <a:r>
              <a:rPr lang="en-US" sz="2000" i="1" dirty="0"/>
              <a:t>It is not the case that  Nimal’s  phone has at least 32GB of memory</a:t>
            </a:r>
            <a:r>
              <a:rPr lang="en-US" sz="2000" dirty="0"/>
              <a:t>.”  Or</a:t>
            </a:r>
          </a:p>
          <a:p>
            <a:r>
              <a:rPr lang="en-US" sz="2000" dirty="0"/>
              <a:t>“</a:t>
            </a:r>
            <a:r>
              <a:rPr lang="en-US" sz="2000" i="1" dirty="0" err="1"/>
              <a:t>Nimal’s</a:t>
            </a:r>
            <a:r>
              <a:rPr lang="en-US" sz="2000" i="1" dirty="0"/>
              <a:t> phone does not have at least 32GB of memory</a:t>
            </a:r>
            <a:r>
              <a:rPr lang="en-US" sz="2000" dirty="0"/>
              <a:t>”  Or  Simply</a:t>
            </a:r>
          </a:p>
          <a:p>
            <a:r>
              <a:rPr lang="en-US" sz="2000" dirty="0"/>
              <a:t>“</a:t>
            </a:r>
            <a:r>
              <a:rPr lang="en-US" sz="2000" i="1" dirty="0" err="1"/>
              <a:t>Nimal’s</a:t>
            </a:r>
            <a:r>
              <a:rPr lang="en-US" sz="2000" i="1" dirty="0"/>
              <a:t>  phone </a:t>
            </a:r>
            <a:r>
              <a:rPr lang="en-US" sz="2000" i="1"/>
              <a:t>has more </a:t>
            </a:r>
            <a:r>
              <a:rPr lang="en-US" sz="2000" i="1" dirty="0"/>
              <a:t>than 32GB of memory</a:t>
            </a:r>
            <a:r>
              <a:rPr lang="en-US" sz="2000" dirty="0"/>
              <a:t>.”</a:t>
            </a:r>
          </a:p>
        </p:txBody>
      </p:sp>
      <p:graphicFrame>
        <p:nvGraphicFramePr>
          <p:cNvPr id="10" name="Group 40"/>
          <p:cNvGraphicFramePr>
            <a:graphicFrameLocks noGrp="1"/>
          </p:cNvGraphicFramePr>
          <p:nvPr>
            <p:extLst>
              <p:ext uri="{D42A27DB-BD31-4B8C-83A1-F6EECF244321}">
                <p14:modId xmlns:p14="http://schemas.microsoft.com/office/powerpoint/2010/main" val="2131922459"/>
              </p:ext>
            </p:extLst>
          </p:nvPr>
        </p:nvGraphicFramePr>
        <p:xfrm>
          <a:off x="6172200" y="4495800"/>
          <a:ext cx="2133600" cy="1676400"/>
        </p:xfrm>
        <a:graphic>
          <a:graphicData uri="http://schemas.openxmlformats.org/drawingml/2006/table">
            <a:tbl>
              <a:tblPr/>
              <a:tblGrid>
                <a:gridCol w="1066800">
                  <a:extLst>
                    <a:ext uri="{9D8B030D-6E8A-4147-A177-3AD203B41FA5}">
                      <a16:colId xmlns:a16="http://schemas.microsoft.com/office/drawing/2014/main" val="20000"/>
                    </a:ext>
                  </a:extLst>
                </a:gridCol>
                <a:gridCol w="1066800">
                  <a:extLst>
                    <a:ext uri="{9D8B030D-6E8A-4147-A177-3AD203B41FA5}">
                      <a16:colId xmlns:a16="http://schemas.microsoft.com/office/drawing/2014/main" val="20001"/>
                    </a:ext>
                  </a:extLst>
                </a:gridCol>
              </a:tblGrid>
              <a:tr h="5588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1" u="none" strike="noStrike" cap="none" normalizeH="0" baseline="0" dirty="0">
                          <a:ln>
                            <a:noFill/>
                          </a:ln>
                          <a:solidFill>
                            <a:srgbClr val="FF0000"/>
                          </a:solidFill>
                          <a:effectLst/>
                          <a:latin typeface="Comic Sans MS" pitchFamily="1" charset="0"/>
                          <a:ea typeface="ＭＳ Ｐゴシック" pitchFamily="1" charset="-128"/>
                        </a:rPr>
                        <a:t>p</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1" u="none" strike="noStrike" cap="none" normalizeH="0" baseline="0" dirty="0">
                          <a:ln>
                            <a:noFill/>
                          </a:ln>
                          <a:solidFill>
                            <a:srgbClr val="FF0000"/>
                          </a:solidFill>
                          <a:effectLst/>
                          <a:latin typeface="Comic Sans MS" pitchFamily="1" charset="0"/>
                          <a:ea typeface="ＭＳ Ｐゴシック" pitchFamily="1" charset="-128"/>
                          <a:sym typeface="Symbol" pitchFamily="1" charset="2"/>
                        </a:rPr>
                        <a:t> p</a:t>
                      </a:r>
                      <a:endParaRPr kumimoji="0" lang="en-US" sz="2000" b="0" i="0" u="none" strike="noStrike" cap="none" normalizeH="0" baseline="0" dirty="0">
                        <a:ln>
                          <a:noFill/>
                        </a:ln>
                        <a:solidFill>
                          <a:srgbClr val="FF0000"/>
                        </a:solidFill>
                        <a:effectLst/>
                        <a:latin typeface="Comic Sans MS" pitchFamily="1" charset="0"/>
                        <a:ea typeface="ＭＳ Ｐゴシック" pitchFamily="1" charset="-128"/>
                        <a:sym typeface="Symbol" pitchFamily="1" charset="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1176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pitchFamily="1" charset="0"/>
                          <a:ea typeface="ＭＳ Ｐゴシック" pitchFamily="1" charset="-128"/>
                        </a:rPr>
                        <a:t>F</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pitchFamily="1" charset="0"/>
                          <a:ea typeface="ＭＳ Ｐゴシック" pitchFamily="1" charset="-128"/>
                        </a:rPr>
                        <a:t>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pitchFamily="1" charset="0"/>
                          <a:ea typeface="ＭＳ Ｐゴシック" pitchFamily="1" charset="-128"/>
                        </a:rPr>
                        <a:t>T</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pitchFamily="1" charset="0"/>
                          <a:ea typeface="ＭＳ Ｐゴシック" pitchFamily="1" charset="-128"/>
                        </a:rPr>
                        <a:t>F</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11" name="TextBox 10"/>
          <p:cNvSpPr txBox="1"/>
          <p:nvPr/>
        </p:nvSpPr>
        <p:spPr>
          <a:xfrm>
            <a:off x="2209800" y="5181600"/>
            <a:ext cx="4419600" cy="461665"/>
          </a:xfrm>
          <a:prstGeom prst="rect">
            <a:avLst/>
          </a:prstGeom>
          <a:noFill/>
        </p:spPr>
        <p:txBody>
          <a:bodyPr wrap="square" rtlCol="0">
            <a:spAutoFit/>
          </a:bodyPr>
          <a:lstStyle/>
          <a:p>
            <a:r>
              <a:rPr lang="en-US" sz="2400" dirty="0"/>
              <a:t>Truth  Table  for  negation:</a:t>
            </a:r>
          </a:p>
        </p:txBody>
      </p:sp>
    </p:spTree>
    <p:extLst>
      <p:ext uri="{BB962C8B-B14F-4D97-AF65-F5344CB8AC3E}">
        <p14:creationId xmlns:p14="http://schemas.microsoft.com/office/powerpoint/2010/main" val="41377056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0"/>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1"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Conjunction &amp; Disjunction</a:t>
            </a:r>
            <a:endParaRPr lang="en-GB" dirty="0"/>
          </a:p>
        </p:txBody>
      </p:sp>
      <p:sp>
        <p:nvSpPr>
          <p:cNvPr id="4" name="Date Placeholder 3"/>
          <p:cNvSpPr>
            <a:spLocks noGrp="1"/>
          </p:cNvSpPr>
          <p:nvPr>
            <p:ph type="dt" sz="half" idx="10"/>
          </p:nvPr>
        </p:nvSpPr>
        <p:spPr/>
        <p:txBody>
          <a:bodyPr/>
          <a:lstStyle/>
          <a:p>
            <a:fld id="{D1967F4B-D49F-4406-88A7-CC3A0AE5D973}" type="datetime3">
              <a:rPr lang="en-US" smtClean="0"/>
              <a:t>27 April 2026</a:t>
            </a:fld>
            <a:endParaRPr lang="en-US"/>
          </a:p>
        </p:txBody>
      </p:sp>
      <p:sp>
        <p:nvSpPr>
          <p:cNvPr id="5" name="Footer Placeholder 4"/>
          <p:cNvSpPr>
            <a:spLocks noGrp="1"/>
          </p:cNvSpPr>
          <p:nvPr>
            <p:ph type="ftr" sz="quarter" idx="11"/>
          </p:nvPr>
        </p:nvSpPr>
        <p:spPr/>
        <p:txBody>
          <a:bodyPr/>
          <a:lstStyle/>
          <a:p>
            <a:r>
              <a:rPr lang="en-US"/>
              <a:t>SCS 1302   Discrete Mathematics 1       Prof. D D Karunaratna</a:t>
            </a:r>
          </a:p>
        </p:txBody>
      </p:sp>
      <p:sp>
        <p:nvSpPr>
          <p:cNvPr id="6" name="Slide Number Placeholder 5"/>
          <p:cNvSpPr>
            <a:spLocks noGrp="1"/>
          </p:cNvSpPr>
          <p:nvPr>
            <p:ph type="sldNum" sz="quarter" idx="12"/>
          </p:nvPr>
        </p:nvSpPr>
        <p:spPr/>
        <p:txBody>
          <a:bodyPr/>
          <a:lstStyle/>
          <a:p>
            <a:fld id="{0CA841A6-7C02-4C92-B6EE-5DBCC2AD53D0}" type="slidenum">
              <a:rPr lang="en-US" smtClean="0"/>
              <a:t>16</a:t>
            </a:fld>
            <a:endParaRPr lang="en-US"/>
          </a:p>
        </p:txBody>
      </p:sp>
      <p:sp>
        <p:nvSpPr>
          <p:cNvPr id="7" name="Rectangle 6"/>
          <p:cNvSpPr/>
          <p:nvPr/>
        </p:nvSpPr>
        <p:spPr>
          <a:xfrm>
            <a:off x="533400" y="1619071"/>
            <a:ext cx="8305800" cy="1015663"/>
          </a:xfrm>
          <a:prstGeom prst="rect">
            <a:avLst/>
          </a:prstGeom>
        </p:spPr>
        <p:txBody>
          <a:bodyPr wrap="square">
            <a:spAutoFit/>
          </a:bodyPr>
          <a:lstStyle/>
          <a:p>
            <a:pPr algn="just"/>
            <a:r>
              <a:rPr lang="en-US" sz="2000" dirty="0"/>
              <a:t>Let </a:t>
            </a:r>
            <a:r>
              <a:rPr lang="en-US" sz="2000" i="1" dirty="0"/>
              <a:t>p and q be propositions. The </a:t>
            </a:r>
            <a:r>
              <a:rPr lang="en-US" sz="2000" b="1" i="1" dirty="0"/>
              <a:t>conjunction(product) of p and q</a:t>
            </a:r>
            <a:r>
              <a:rPr lang="en-US" sz="2000" i="1" dirty="0"/>
              <a:t>, denoted by   </a:t>
            </a:r>
            <a:r>
              <a:rPr lang="en-US" sz="2000" b="1" i="1" dirty="0"/>
              <a:t>p ∧ q</a:t>
            </a:r>
            <a:r>
              <a:rPr lang="en-US" sz="2000" i="1" dirty="0"/>
              <a:t>, is the proposition </a:t>
            </a:r>
            <a:r>
              <a:rPr lang="en-US" sz="2000" dirty="0"/>
              <a:t>“</a:t>
            </a:r>
            <a:r>
              <a:rPr lang="en-US" sz="2000" i="1" dirty="0"/>
              <a:t>p and q.” The conjunction p ∧ q is true when both p and q are true and is false otherwise.</a:t>
            </a:r>
            <a:endParaRPr lang="en-US" sz="2000" dirty="0"/>
          </a:p>
        </p:txBody>
      </p:sp>
      <p:sp>
        <p:nvSpPr>
          <p:cNvPr id="8" name="Rectangle 7"/>
          <p:cNvSpPr/>
          <p:nvPr/>
        </p:nvSpPr>
        <p:spPr>
          <a:xfrm>
            <a:off x="457200" y="2794337"/>
            <a:ext cx="8458200" cy="1015663"/>
          </a:xfrm>
          <a:prstGeom prst="rect">
            <a:avLst/>
          </a:prstGeom>
        </p:spPr>
        <p:txBody>
          <a:bodyPr wrap="square">
            <a:spAutoFit/>
          </a:bodyPr>
          <a:lstStyle/>
          <a:p>
            <a:pPr algn="just"/>
            <a:r>
              <a:rPr lang="en-US" sz="2000" dirty="0"/>
              <a:t>Let </a:t>
            </a:r>
            <a:r>
              <a:rPr lang="en-US" sz="2000" i="1" dirty="0"/>
              <a:t>p and q be propositions. The </a:t>
            </a:r>
            <a:r>
              <a:rPr lang="en-US" sz="2000" b="1" i="1" dirty="0"/>
              <a:t>disjunction(sum) of p and q, </a:t>
            </a:r>
            <a:r>
              <a:rPr lang="en-US" sz="2000" i="1" dirty="0"/>
              <a:t>denoted by </a:t>
            </a:r>
            <a:r>
              <a:rPr lang="en-US" sz="2000" b="1" i="1" dirty="0"/>
              <a:t>p ∨ q</a:t>
            </a:r>
            <a:r>
              <a:rPr lang="en-US" sz="2000" i="1" dirty="0"/>
              <a:t>, is the proposition </a:t>
            </a:r>
            <a:r>
              <a:rPr lang="en-US" sz="2000" dirty="0"/>
              <a:t>“</a:t>
            </a:r>
            <a:r>
              <a:rPr lang="en-US" sz="2000" i="1" dirty="0"/>
              <a:t>p or q.” The disjunction p ∨ q is false when both p and q are false and is true otherwise.</a:t>
            </a:r>
            <a:endParaRPr lang="en-US" sz="2000" dirty="0"/>
          </a:p>
        </p:txBody>
      </p:sp>
      <p:graphicFrame>
        <p:nvGraphicFramePr>
          <p:cNvPr id="9" name="Group 18"/>
          <p:cNvGraphicFramePr>
            <a:graphicFrameLocks noGrp="1"/>
          </p:cNvGraphicFramePr>
          <p:nvPr>
            <p:extLst>
              <p:ext uri="{D42A27DB-BD31-4B8C-83A1-F6EECF244321}">
                <p14:modId xmlns:p14="http://schemas.microsoft.com/office/powerpoint/2010/main" val="3656721750"/>
              </p:ext>
            </p:extLst>
          </p:nvPr>
        </p:nvGraphicFramePr>
        <p:xfrm>
          <a:off x="990600" y="4343400"/>
          <a:ext cx="2438400" cy="1981200"/>
        </p:xfrm>
        <a:graphic>
          <a:graphicData uri="http://schemas.openxmlformats.org/drawingml/2006/table">
            <a:tbl>
              <a:tblPr/>
              <a:tblGrid>
                <a:gridCol w="762000">
                  <a:extLst>
                    <a:ext uri="{9D8B030D-6E8A-4147-A177-3AD203B41FA5}">
                      <a16:colId xmlns:a16="http://schemas.microsoft.com/office/drawing/2014/main" val="20000"/>
                    </a:ext>
                  </a:extLst>
                </a:gridCol>
                <a:gridCol w="685800">
                  <a:extLst>
                    <a:ext uri="{9D8B030D-6E8A-4147-A177-3AD203B41FA5}">
                      <a16:colId xmlns:a16="http://schemas.microsoft.com/office/drawing/2014/main" val="20001"/>
                    </a:ext>
                  </a:extLst>
                </a:gridCol>
                <a:gridCol w="990600">
                  <a:extLst>
                    <a:ext uri="{9D8B030D-6E8A-4147-A177-3AD203B41FA5}">
                      <a16:colId xmlns:a16="http://schemas.microsoft.com/office/drawing/2014/main" val="20002"/>
                    </a:ext>
                  </a:extLst>
                </a:gridCol>
              </a:tblGrid>
              <a:tr h="42672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FF0000"/>
                          </a:solidFill>
                          <a:effectLst/>
                          <a:latin typeface="Comic Sans MS" pitchFamily="1" charset="0"/>
                          <a:ea typeface="ＭＳ Ｐゴシック" pitchFamily="1" charset="-128"/>
                        </a:rPr>
                        <a:t>p</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FF0000"/>
                          </a:solidFill>
                          <a:effectLst/>
                          <a:latin typeface="Comic Sans MS" pitchFamily="1" charset="0"/>
                          <a:ea typeface="ＭＳ Ｐゴシック" pitchFamily="1" charset="-128"/>
                        </a:rPr>
                        <a:t>q</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1" u="none" strike="noStrike" cap="none" normalizeH="0" baseline="0" dirty="0">
                          <a:ln>
                            <a:noFill/>
                          </a:ln>
                          <a:solidFill>
                            <a:srgbClr val="FF0000"/>
                          </a:solidFill>
                          <a:effectLst/>
                          <a:latin typeface="Comic Sans MS" pitchFamily="1" charset="0"/>
                          <a:ea typeface="ＭＳ Ｐゴシック" pitchFamily="1" charset="-128"/>
                        </a:rPr>
                        <a:t>p </a:t>
                      </a:r>
                      <a:r>
                        <a:rPr kumimoji="0" lang="en-US" sz="2000" b="0" i="0" u="none" strike="noStrike" cap="none" normalizeH="0" baseline="0" dirty="0">
                          <a:ln>
                            <a:noFill/>
                          </a:ln>
                          <a:solidFill>
                            <a:srgbClr val="FF0000"/>
                          </a:solidFill>
                          <a:effectLst/>
                          <a:latin typeface="Arial" charset="0"/>
                          <a:ea typeface="ＭＳ Ｐゴシック" pitchFamily="1" charset="-128"/>
                          <a:sym typeface="Symbol" pitchFamily="1" charset="2"/>
                        </a:rPr>
                        <a:t></a:t>
                      </a:r>
                      <a:r>
                        <a:rPr kumimoji="0" lang="en-US" sz="2000" b="0" i="1" u="none" strike="noStrike" cap="none" normalizeH="0" baseline="0" dirty="0">
                          <a:ln>
                            <a:noFill/>
                          </a:ln>
                          <a:solidFill>
                            <a:srgbClr val="FF0000"/>
                          </a:solidFill>
                          <a:effectLst/>
                          <a:latin typeface="Comic Sans MS" pitchFamily="1" charset="0"/>
                          <a:ea typeface="ＭＳ Ｐゴシック" pitchFamily="1" charset="-128"/>
                        </a:rPr>
                        <a:t> q</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55448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pitchFamily="1" charset="0"/>
                          <a:ea typeface="ＭＳ Ｐゴシック" pitchFamily="1" charset="-128"/>
                        </a:rPr>
                        <a:t>F</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pitchFamily="1" charset="0"/>
                          <a:ea typeface="ＭＳ Ｐゴシック" pitchFamily="1" charset="-128"/>
                        </a:rPr>
                        <a:t>F</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pitchFamily="1" charset="0"/>
                          <a:ea typeface="ＭＳ Ｐゴシック" pitchFamily="1" charset="-128"/>
                        </a:rPr>
                        <a:t>T</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pitchFamily="1" charset="0"/>
                          <a:ea typeface="ＭＳ Ｐゴシック" pitchFamily="1" charset="-128"/>
                        </a:rPr>
                        <a:t>T</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pitchFamily="1" charset="0"/>
                          <a:ea typeface="ＭＳ Ｐゴシック" pitchFamily="1" charset="-128"/>
                        </a:rPr>
                        <a:t>F</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pitchFamily="1" charset="0"/>
                          <a:ea typeface="ＭＳ Ｐゴシック" pitchFamily="1" charset="-128"/>
                        </a:rPr>
                        <a:t>T</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pitchFamily="1" charset="0"/>
                          <a:ea typeface="ＭＳ Ｐゴシック" pitchFamily="1" charset="-128"/>
                        </a:rPr>
                        <a:t>F</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pitchFamily="1" charset="0"/>
                          <a:ea typeface="ＭＳ Ｐゴシック" pitchFamily="1" charset="-128"/>
                        </a:rPr>
                        <a:t>T</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pitchFamily="1" charset="0"/>
                          <a:ea typeface="ＭＳ Ｐゴシック" pitchFamily="1" charset="-128"/>
                        </a:rPr>
                        <a:t>F</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pitchFamily="1" charset="0"/>
                          <a:ea typeface="ＭＳ Ｐゴシック" pitchFamily="1" charset="-128"/>
                        </a:rPr>
                        <a:t>F</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pitchFamily="1" charset="0"/>
                          <a:ea typeface="ＭＳ Ｐゴシック" pitchFamily="1" charset="-128"/>
                        </a:rPr>
                        <a:t>F</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FF0000"/>
                          </a:solidFill>
                          <a:effectLst/>
                          <a:latin typeface="Comic Sans MS" pitchFamily="1" charset="0"/>
                          <a:ea typeface="ＭＳ Ｐゴシック" pitchFamily="1" charset="-128"/>
                        </a:rPr>
                        <a:t>T</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10" name="Rectangle 9"/>
          <p:cNvSpPr/>
          <p:nvPr/>
        </p:nvSpPr>
        <p:spPr>
          <a:xfrm>
            <a:off x="533400" y="3867090"/>
            <a:ext cx="3738972" cy="400110"/>
          </a:xfrm>
          <a:prstGeom prst="rect">
            <a:avLst/>
          </a:prstGeom>
        </p:spPr>
        <p:txBody>
          <a:bodyPr wrap="none">
            <a:spAutoFit/>
          </a:bodyPr>
          <a:lstStyle/>
          <a:p>
            <a:r>
              <a:rPr lang="en-US" sz="2000" b="1" dirty="0"/>
              <a:t>Truth  Table  for  Conjunction</a:t>
            </a:r>
          </a:p>
        </p:txBody>
      </p:sp>
      <p:graphicFrame>
        <p:nvGraphicFramePr>
          <p:cNvPr id="11" name="Group 5"/>
          <p:cNvGraphicFramePr>
            <a:graphicFrameLocks noGrp="1"/>
          </p:cNvGraphicFramePr>
          <p:nvPr>
            <p:extLst>
              <p:ext uri="{D42A27DB-BD31-4B8C-83A1-F6EECF244321}">
                <p14:modId xmlns:p14="http://schemas.microsoft.com/office/powerpoint/2010/main" val="2124415496"/>
              </p:ext>
            </p:extLst>
          </p:nvPr>
        </p:nvGraphicFramePr>
        <p:xfrm>
          <a:off x="5791200" y="4343400"/>
          <a:ext cx="2438400" cy="1905000"/>
        </p:xfrm>
        <a:graphic>
          <a:graphicData uri="http://schemas.openxmlformats.org/drawingml/2006/table">
            <a:tbl>
              <a:tblPr/>
              <a:tblGrid>
                <a:gridCol w="762000">
                  <a:extLst>
                    <a:ext uri="{9D8B030D-6E8A-4147-A177-3AD203B41FA5}">
                      <a16:colId xmlns:a16="http://schemas.microsoft.com/office/drawing/2014/main" val="20000"/>
                    </a:ext>
                  </a:extLst>
                </a:gridCol>
                <a:gridCol w="685800">
                  <a:extLst>
                    <a:ext uri="{9D8B030D-6E8A-4147-A177-3AD203B41FA5}">
                      <a16:colId xmlns:a16="http://schemas.microsoft.com/office/drawing/2014/main" val="20001"/>
                    </a:ext>
                  </a:extLst>
                </a:gridCol>
                <a:gridCol w="990600">
                  <a:extLst>
                    <a:ext uri="{9D8B030D-6E8A-4147-A177-3AD203B41FA5}">
                      <a16:colId xmlns:a16="http://schemas.microsoft.com/office/drawing/2014/main" val="20002"/>
                    </a:ext>
                  </a:extLst>
                </a:gridCol>
              </a:tblGrid>
              <a:tr h="3973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FF0000"/>
                          </a:solidFill>
                          <a:effectLst/>
                          <a:latin typeface="Comic Sans MS" pitchFamily="1" charset="0"/>
                          <a:ea typeface="ＭＳ Ｐゴシック" pitchFamily="1" charset="-128"/>
                        </a:rPr>
                        <a:t>p</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FF0000"/>
                          </a:solidFill>
                          <a:effectLst/>
                          <a:latin typeface="Comic Sans MS" pitchFamily="1" charset="0"/>
                          <a:ea typeface="ＭＳ Ｐゴシック" pitchFamily="1" charset="-128"/>
                        </a:rPr>
                        <a:t>q</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1" u="none" strike="noStrike" cap="none" normalizeH="0" baseline="0" dirty="0">
                          <a:ln>
                            <a:noFill/>
                          </a:ln>
                          <a:solidFill>
                            <a:srgbClr val="FF0000"/>
                          </a:solidFill>
                          <a:effectLst/>
                          <a:latin typeface="Comic Sans MS" pitchFamily="1" charset="0"/>
                          <a:ea typeface="ＭＳ Ｐゴシック" pitchFamily="1" charset="-128"/>
                        </a:rPr>
                        <a:t>p </a:t>
                      </a:r>
                      <a:r>
                        <a:rPr kumimoji="0" lang="en-US" sz="2000" b="0" i="0" u="none" strike="noStrike" cap="none" normalizeH="0" baseline="0" dirty="0">
                          <a:ln>
                            <a:noFill/>
                          </a:ln>
                          <a:solidFill>
                            <a:srgbClr val="FF0000"/>
                          </a:solidFill>
                          <a:effectLst/>
                          <a:latin typeface="Arial" charset="0"/>
                          <a:ea typeface="ＭＳ Ｐゴシック" pitchFamily="1" charset="-128"/>
                          <a:sym typeface="Symbol" pitchFamily="1" charset="2"/>
                        </a:rPr>
                        <a:t></a:t>
                      </a:r>
                      <a:r>
                        <a:rPr kumimoji="0" lang="en-US" sz="2000" b="0" i="1" u="none" strike="noStrike" cap="none" normalizeH="0" baseline="0" dirty="0">
                          <a:ln>
                            <a:noFill/>
                          </a:ln>
                          <a:solidFill>
                            <a:srgbClr val="FF0000"/>
                          </a:solidFill>
                          <a:effectLst/>
                          <a:latin typeface="Comic Sans MS" pitchFamily="1" charset="0"/>
                          <a:ea typeface="ＭＳ Ｐゴシック" pitchFamily="1" charset="-128"/>
                        </a:rPr>
                        <a:t> q</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50770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pitchFamily="1" charset="0"/>
                          <a:ea typeface="ＭＳ Ｐゴシック" pitchFamily="1" charset="-128"/>
                        </a:rPr>
                        <a:t>F</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pitchFamily="1" charset="0"/>
                          <a:ea typeface="ＭＳ Ｐゴシック" pitchFamily="1" charset="-128"/>
                        </a:rPr>
                        <a:t>F</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pitchFamily="1" charset="0"/>
                          <a:ea typeface="ＭＳ Ｐゴシック" pitchFamily="1" charset="-128"/>
                        </a:rPr>
                        <a:t>T</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pitchFamily="1" charset="0"/>
                          <a:ea typeface="ＭＳ Ｐゴシック" pitchFamily="1" charset="-128"/>
                        </a:rPr>
                        <a:t>T</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pitchFamily="1" charset="0"/>
                          <a:ea typeface="ＭＳ Ｐゴシック" pitchFamily="1" charset="-128"/>
                        </a:rPr>
                        <a:t>F</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pitchFamily="1" charset="0"/>
                          <a:ea typeface="ＭＳ Ｐゴシック" pitchFamily="1" charset="-128"/>
                        </a:rPr>
                        <a:t>T</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pitchFamily="1" charset="0"/>
                          <a:ea typeface="ＭＳ Ｐゴシック" pitchFamily="1" charset="-128"/>
                        </a:rPr>
                        <a:t>F</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pitchFamily="1" charset="0"/>
                          <a:ea typeface="ＭＳ Ｐゴシック" pitchFamily="1" charset="-128"/>
                        </a:rPr>
                        <a:t>T</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FF0000"/>
                          </a:solidFill>
                          <a:effectLst/>
                          <a:latin typeface="Comic Sans MS" pitchFamily="1" charset="0"/>
                          <a:ea typeface="ＭＳ Ｐゴシック" pitchFamily="1" charset="-128"/>
                        </a:rPr>
                        <a:t>F</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pitchFamily="1" charset="0"/>
                          <a:ea typeface="ＭＳ Ｐゴシック" pitchFamily="1" charset="-128"/>
                        </a:rPr>
                        <a:t>T</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pitchFamily="1" charset="0"/>
                          <a:ea typeface="ＭＳ Ｐゴシック" pitchFamily="1" charset="-128"/>
                        </a:rPr>
                        <a:t>T</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pitchFamily="1" charset="0"/>
                          <a:ea typeface="ＭＳ Ｐゴシック" pitchFamily="1" charset="-128"/>
                        </a:rPr>
                        <a:t>T</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12" name="Rectangle 11"/>
          <p:cNvSpPr/>
          <p:nvPr/>
        </p:nvSpPr>
        <p:spPr>
          <a:xfrm>
            <a:off x="5282062" y="3867090"/>
            <a:ext cx="3637984" cy="400110"/>
          </a:xfrm>
          <a:prstGeom prst="rect">
            <a:avLst/>
          </a:prstGeom>
        </p:spPr>
        <p:txBody>
          <a:bodyPr wrap="none">
            <a:spAutoFit/>
          </a:bodyPr>
          <a:lstStyle/>
          <a:p>
            <a:r>
              <a:rPr lang="en-US" sz="2000" b="1" dirty="0"/>
              <a:t>Truth  Table  for  Disjunction</a:t>
            </a:r>
          </a:p>
        </p:txBody>
      </p:sp>
    </p:spTree>
    <p:extLst>
      <p:ext uri="{BB962C8B-B14F-4D97-AF65-F5344CB8AC3E}">
        <p14:creationId xmlns:p14="http://schemas.microsoft.com/office/powerpoint/2010/main" val="7337000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10" grpId="0"/>
      <p:bldP spid="12"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F56D58-31EB-B293-B270-0EF8218955F1}"/>
              </a:ext>
            </a:extLst>
          </p:cNvPr>
          <p:cNvSpPr>
            <a:spLocks noGrp="1"/>
          </p:cNvSpPr>
          <p:nvPr>
            <p:ph type="title"/>
          </p:nvPr>
        </p:nvSpPr>
        <p:spPr/>
        <p:txBody>
          <a:bodyPr/>
          <a:lstStyle/>
          <a:p>
            <a:r>
              <a:rPr lang="en-US" b="1" dirty="0"/>
              <a:t>Conjunctions</a:t>
            </a:r>
            <a:endParaRPr lang="si-LK" dirty="0"/>
          </a:p>
        </p:txBody>
      </p:sp>
      <p:sp>
        <p:nvSpPr>
          <p:cNvPr id="3" name="Content Placeholder 2">
            <a:extLst>
              <a:ext uri="{FF2B5EF4-FFF2-40B4-BE49-F238E27FC236}">
                <a16:creationId xmlns:a16="http://schemas.microsoft.com/office/drawing/2014/main" id="{490B10FF-5A57-033D-09BF-98210133867A}"/>
              </a:ext>
            </a:extLst>
          </p:cNvPr>
          <p:cNvSpPr>
            <a:spLocks noGrp="1"/>
          </p:cNvSpPr>
          <p:nvPr>
            <p:ph idx="1"/>
          </p:nvPr>
        </p:nvSpPr>
        <p:spPr/>
        <p:txBody>
          <a:bodyPr/>
          <a:lstStyle/>
          <a:p>
            <a:r>
              <a:rPr lang="en-US" dirty="0"/>
              <a:t>Note that in logic the word “but” sometimes is used instead of “and” in a conjunction.</a:t>
            </a:r>
          </a:p>
          <a:p>
            <a:r>
              <a:rPr lang="en-US" dirty="0"/>
              <a:t>“The sun is shining, but it is raining” is another way of saying “</a:t>
            </a:r>
            <a:r>
              <a:rPr lang="en-US"/>
              <a:t>The sun is </a:t>
            </a:r>
            <a:r>
              <a:rPr lang="en-US" dirty="0"/>
              <a:t>shining and it is raining.”</a:t>
            </a:r>
            <a:endParaRPr lang="si-LK" dirty="0"/>
          </a:p>
        </p:txBody>
      </p:sp>
      <p:sp>
        <p:nvSpPr>
          <p:cNvPr id="4" name="Date Placeholder 3">
            <a:extLst>
              <a:ext uri="{FF2B5EF4-FFF2-40B4-BE49-F238E27FC236}">
                <a16:creationId xmlns:a16="http://schemas.microsoft.com/office/drawing/2014/main" id="{7B489DAE-66B5-232D-021D-C4C20F215C9C}"/>
              </a:ext>
            </a:extLst>
          </p:cNvPr>
          <p:cNvSpPr>
            <a:spLocks noGrp="1"/>
          </p:cNvSpPr>
          <p:nvPr>
            <p:ph type="dt" sz="half" idx="10"/>
          </p:nvPr>
        </p:nvSpPr>
        <p:spPr/>
        <p:txBody>
          <a:bodyPr/>
          <a:lstStyle/>
          <a:p>
            <a:fld id="{4833C929-C9DD-4C66-BDC9-0D85DE389F8F}" type="datetime3">
              <a:rPr lang="en-US" smtClean="0"/>
              <a:t>27 April 2026</a:t>
            </a:fld>
            <a:endParaRPr lang="en-US"/>
          </a:p>
        </p:txBody>
      </p:sp>
      <p:sp>
        <p:nvSpPr>
          <p:cNvPr id="5" name="Footer Placeholder 4">
            <a:extLst>
              <a:ext uri="{FF2B5EF4-FFF2-40B4-BE49-F238E27FC236}">
                <a16:creationId xmlns:a16="http://schemas.microsoft.com/office/drawing/2014/main" id="{99933DA7-21B9-433A-F999-1CAF119711EC}"/>
              </a:ext>
            </a:extLst>
          </p:cNvPr>
          <p:cNvSpPr>
            <a:spLocks noGrp="1"/>
          </p:cNvSpPr>
          <p:nvPr>
            <p:ph type="ftr" sz="quarter" idx="11"/>
          </p:nvPr>
        </p:nvSpPr>
        <p:spPr/>
        <p:txBody>
          <a:bodyPr/>
          <a:lstStyle/>
          <a:p>
            <a:r>
              <a:rPr lang="en-US"/>
              <a:t>SCS 1302   Discrete Mathematics 1       Prof. D D Karunaratna</a:t>
            </a:r>
          </a:p>
        </p:txBody>
      </p:sp>
      <p:sp>
        <p:nvSpPr>
          <p:cNvPr id="6" name="Slide Number Placeholder 5">
            <a:extLst>
              <a:ext uri="{FF2B5EF4-FFF2-40B4-BE49-F238E27FC236}">
                <a16:creationId xmlns:a16="http://schemas.microsoft.com/office/drawing/2014/main" id="{0263DA18-F0F7-AEC9-F32B-26C3FAAC5A86}"/>
              </a:ext>
            </a:extLst>
          </p:cNvPr>
          <p:cNvSpPr>
            <a:spLocks noGrp="1"/>
          </p:cNvSpPr>
          <p:nvPr>
            <p:ph type="sldNum" sz="quarter" idx="12"/>
          </p:nvPr>
        </p:nvSpPr>
        <p:spPr/>
        <p:txBody>
          <a:bodyPr/>
          <a:lstStyle/>
          <a:p>
            <a:fld id="{0CA841A6-7C02-4C92-B6EE-5DBCC2AD53D0}" type="slidenum">
              <a:rPr lang="en-US" smtClean="0"/>
              <a:t>17</a:t>
            </a:fld>
            <a:endParaRPr lang="en-US"/>
          </a:p>
        </p:txBody>
      </p:sp>
    </p:spTree>
    <p:extLst>
      <p:ext uri="{BB962C8B-B14F-4D97-AF65-F5344CB8AC3E}">
        <p14:creationId xmlns:p14="http://schemas.microsoft.com/office/powerpoint/2010/main" val="71047389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Examples</a:t>
            </a:r>
          </a:p>
        </p:txBody>
      </p:sp>
      <p:sp>
        <p:nvSpPr>
          <p:cNvPr id="4" name="Date Placeholder 3"/>
          <p:cNvSpPr>
            <a:spLocks noGrp="1"/>
          </p:cNvSpPr>
          <p:nvPr>
            <p:ph type="dt" sz="half" idx="10"/>
          </p:nvPr>
        </p:nvSpPr>
        <p:spPr/>
        <p:txBody>
          <a:bodyPr/>
          <a:lstStyle/>
          <a:p>
            <a:fld id="{A71F414D-05E1-426A-9E7C-F240155E0168}" type="datetime3">
              <a:rPr lang="en-US" smtClean="0"/>
              <a:t>27 April 2026</a:t>
            </a:fld>
            <a:endParaRPr lang="en-US"/>
          </a:p>
        </p:txBody>
      </p:sp>
      <p:sp>
        <p:nvSpPr>
          <p:cNvPr id="5" name="Footer Placeholder 4"/>
          <p:cNvSpPr>
            <a:spLocks noGrp="1"/>
          </p:cNvSpPr>
          <p:nvPr>
            <p:ph type="ftr" sz="quarter" idx="11"/>
          </p:nvPr>
        </p:nvSpPr>
        <p:spPr/>
        <p:txBody>
          <a:bodyPr/>
          <a:lstStyle/>
          <a:p>
            <a:r>
              <a:rPr lang="en-US"/>
              <a:t>SCS 1302   Discrete Mathematics 1       Prof. D D Karunaratna</a:t>
            </a:r>
          </a:p>
        </p:txBody>
      </p:sp>
      <p:sp>
        <p:nvSpPr>
          <p:cNvPr id="6" name="Slide Number Placeholder 5"/>
          <p:cNvSpPr>
            <a:spLocks noGrp="1"/>
          </p:cNvSpPr>
          <p:nvPr>
            <p:ph type="sldNum" sz="quarter" idx="12"/>
          </p:nvPr>
        </p:nvSpPr>
        <p:spPr/>
        <p:txBody>
          <a:bodyPr/>
          <a:lstStyle/>
          <a:p>
            <a:fld id="{0CA841A6-7C02-4C92-B6EE-5DBCC2AD53D0}" type="slidenum">
              <a:rPr lang="en-US" smtClean="0"/>
              <a:t>18</a:t>
            </a:fld>
            <a:endParaRPr lang="en-US"/>
          </a:p>
        </p:txBody>
      </p:sp>
      <p:sp>
        <p:nvSpPr>
          <p:cNvPr id="7" name="Rectangle 6"/>
          <p:cNvSpPr/>
          <p:nvPr/>
        </p:nvSpPr>
        <p:spPr>
          <a:xfrm>
            <a:off x="457200" y="1676400"/>
            <a:ext cx="8229600" cy="707886"/>
          </a:xfrm>
          <a:prstGeom prst="rect">
            <a:avLst/>
          </a:prstGeom>
        </p:spPr>
        <p:txBody>
          <a:bodyPr wrap="square">
            <a:spAutoFit/>
          </a:bodyPr>
          <a:lstStyle/>
          <a:p>
            <a:r>
              <a:rPr lang="en-GB" sz="2000" dirty="0"/>
              <a:t>Let p and q represent the propositions:</a:t>
            </a:r>
          </a:p>
          <a:p>
            <a:r>
              <a:rPr lang="en-GB" sz="2000" dirty="0"/>
              <a:t>p : It is below freezing.             q : It is snowing.</a:t>
            </a:r>
          </a:p>
        </p:txBody>
      </p:sp>
      <p:sp>
        <p:nvSpPr>
          <p:cNvPr id="8" name="Rectangle 7"/>
          <p:cNvSpPr/>
          <p:nvPr/>
        </p:nvSpPr>
        <p:spPr>
          <a:xfrm>
            <a:off x="457200" y="2514600"/>
            <a:ext cx="8229600" cy="707886"/>
          </a:xfrm>
          <a:prstGeom prst="rect">
            <a:avLst/>
          </a:prstGeom>
        </p:spPr>
        <p:txBody>
          <a:bodyPr wrap="square">
            <a:spAutoFit/>
          </a:bodyPr>
          <a:lstStyle/>
          <a:p>
            <a:r>
              <a:rPr lang="en-GB" sz="2000" dirty="0"/>
              <a:t>Write these propositions using p and q and logical connectives (including negations).</a:t>
            </a:r>
          </a:p>
        </p:txBody>
      </p:sp>
      <mc:AlternateContent xmlns:mc="http://schemas.openxmlformats.org/markup-compatibility/2006" xmlns:a14="http://schemas.microsoft.com/office/drawing/2010/main">
        <mc:Choice Requires="a14">
          <p:sp>
            <p:nvSpPr>
              <p:cNvPr id="9" name="Rectangle 8"/>
              <p:cNvSpPr/>
              <p:nvPr/>
            </p:nvSpPr>
            <p:spPr>
              <a:xfrm>
                <a:off x="457200" y="3244334"/>
                <a:ext cx="8229600" cy="2862322"/>
              </a:xfrm>
              <a:prstGeom prst="rect">
                <a:avLst/>
              </a:prstGeom>
            </p:spPr>
            <p:txBody>
              <a:bodyPr wrap="square">
                <a:spAutoFit/>
              </a:bodyPr>
              <a:lstStyle/>
              <a:p>
                <a:pPr marL="285750" indent="-285750">
                  <a:buFont typeface="Arial" panose="020B0604020202020204" pitchFamily="34" charset="0"/>
                  <a:buChar char="•"/>
                </a:pPr>
                <a:r>
                  <a:rPr lang="en-GB" sz="2000" dirty="0"/>
                  <a:t>It is below freezing and snowing.</a:t>
                </a:r>
              </a:p>
              <a:p>
                <a:r>
                  <a:rPr lang="en-US" sz="2000" dirty="0"/>
                  <a:t>     </a:t>
                </a:r>
                <a14:m>
                  <m:oMath xmlns:m="http://schemas.openxmlformats.org/officeDocument/2006/math">
                    <m:r>
                      <m:rPr>
                        <m:nor/>
                      </m:rPr>
                      <a:rPr lang="en-US" sz="2000" i="1" dirty="0"/>
                      <m:t>p</m:t>
                    </m:r>
                    <m:r>
                      <m:rPr>
                        <m:nor/>
                      </m:rPr>
                      <a:rPr lang="en-US" sz="2000" i="1" dirty="0"/>
                      <m:t> ∧ </m:t>
                    </m:r>
                    <m:r>
                      <m:rPr>
                        <m:nor/>
                      </m:rPr>
                      <a:rPr lang="en-US" sz="2000" i="1" dirty="0"/>
                      <m:t>q</m:t>
                    </m:r>
                  </m:oMath>
                </a14:m>
                <a:endParaRPr lang="en-GB" sz="2000" dirty="0"/>
              </a:p>
              <a:p>
                <a:pPr marL="285750" indent="-285750">
                  <a:buFont typeface="Arial" panose="020B0604020202020204" pitchFamily="34" charset="0"/>
                  <a:buChar char="•"/>
                </a:pPr>
                <a:r>
                  <a:rPr lang="en-GB" sz="2000" dirty="0"/>
                  <a:t>It is below freezing and not snowing.</a:t>
                </a:r>
              </a:p>
              <a:p>
                <a:r>
                  <a:rPr lang="en-US" sz="2000" dirty="0"/>
                  <a:t>     </a:t>
                </a:r>
                <a14:m>
                  <m:oMath xmlns:m="http://schemas.openxmlformats.org/officeDocument/2006/math">
                    <m:r>
                      <m:rPr>
                        <m:nor/>
                      </m:rPr>
                      <a:rPr lang="en-US" sz="2000" i="1" dirty="0"/>
                      <m:t>p</m:t>
                    </m:r>
                    <m:r>
                      <m:rPr>
                        <m:nor/>
                      </m:rPr>
                      <a:rPr lang="en-US" sz="2000" i="1" dirty="0"/>
                      <m:t> ∧</m:t>
                    </m:r>
                    <m:r>
                      <a:rPr lang="en-GB" sz="2000" b="0" i="1" dirty="0" smtClean="0">
                        <a:latin typeface="Cambria Math" panose="02040503050406030204" pitchFamily="18" charset="0"/>
                      </a:rPr>
                      <m:t> </m:t>
                    </m:r>
                    <m:r>
                      <a:rPr lang="en-US" sz="2000" i="1" dirty="0" smtClean="0">
                        <a:latin typeface="Cambria Math" panose="02040503050406030204" pitchFamily="18" charset="0"/>
                        <a:ea typeface="Cambria Math" panose="02040503050406030204" pitchFamily="18" charset="0"/>
                      </a:rPr>
                      <m:t>¬</m:t>
                    </m:r>
                    <m:r>
                      <m:rPr>
                        <m:nor/>
                      </m:rPr>
                      <a:rPr lang="en-US" sz="2000" i="1" dirty="0"/>
                      <m:t>q</m:t>
                    </m:r>
                  </m:oMath>
                </a14:m>
                <a:endParaRPr lang="en-GB" sz="2000" dirty="0"/>
              </a:p>
              <a:p>
                <a:pPr marL="285750" indent="-285750">
                  <a:buFont typeface="Arial" panose="020B0604020202020204" pitchFamily="34" charset="0"/>
                  <a:buChar char="•"/>
                </a:pPr>
                <a:r>
                  <a:rPr lang="en-GB" sz="2000" dirty="0"/>
                  <a:t>It is not below freezing, and it is not snowing.</a:t>
                </a:r>
              </a:p>
              <a:p>
                <a:r>
                  <a:rPr lang="en-US" sz="2000" dirty="0"/>
                  <a:t>    </a:t>
                </a:r>
                <a14:m>
                  <m:oMath xmlns:m="http://schemas.openxmlformats.org/officeDocument/2006/math">
                    <m:r>
                      <a:rPr lang="en-US" sz="2000" i="1" dirty="0" smtClean="0">
                        <a:latin typeface="Cambria Math" panose="02040503050406030204" pitchFamily="18" charset="0"/>
                        <a:ea typeface="Cambria Math" panose="02040503050406030204" pitchFamily="18" charset="0"/>
                      </a:rPr>
                      <m:t>¬</m:t>
                    </m:r>
                    <m:r>
                      <m:rPr>
                        <m:nor/>
                      </m:rPr>
                      <a:rPr lang="en-US" sz="2000" i="1" dirty="0"/>
                      <m:t>p</m:t>
                    </m:r>
                    <m:r>
                      <m:rPr>
                        <m:nor/>
                      </m:rPr>
                      <a:rPr lang="en-US" sz="2000" i="1" dirty="0"/>
                      <m:t> ∧ </m:t>
                    </m:r>
                    <m:r>
                      <m:rPr>
                        <m:nor/>
                      </m:rPr>
                      <a:rPr lang="en-GB" sz="2000" b="0" i="1" dirty="0" smtClean="0"/>
                      <m:t> </m:t>
                    </m:r>
                    <m:r>
                      <a:rPr lang="en-GB" sz="2000" b="0" i="1" dirty="0" smtClean="0">
                        <a:latin typeface="Cambria Math" panose="02040503050406030204" pitchFamily="18" charset="0"/>
                        <a:ea typeface="Cambria Math" panose="02040503050406030204" pitchFamily="18" charset="0"/>
                      </a:rPr>
                      <m:t>¬</m:t>
                    </m:r>
                    <m:r>
                      <m:rPr>
                        <m:nor/>
                      </m:rPr>
                      <a:rPr lang="en-US" sz="2000" i="1" dirty="0"/>
                      <m:t>q</m:t>
                    </m:r>
                  </m:oMath>
                </a14:m>
                <a:endParaRPr lang="en-GB" sz="2000" dirty="0"/>
              </a:p>
              <a:p>
                <a:pPr marL="285750" indent="-285750">
                  <a:buFont typeface="Arial" panose="020B0604020202020204" pitchFamily="34" charset="0"/>
                  <a:buChar char="•"/>
                </a:pPr>
                <a:r>
                  <a:rPr lang="en-GB" sz="2000" dirty="0"/>
                  <a:t>It is either snowing or below freezing (</a:t>
                </a:r>
                <a:r>
                  <a:rPr lang="en-GB" sz="2000" b="1" dirty="0"/>
                  <a:t>or both</a:t>
                </a:r>
                <a:r>
                  <a:rPr lang="en-GB" sz="2000" dirty="0"/>
                  <a:t>).</a:t>
                </a:r>
              </a:p>
              <a:p>
                <a:r>
                  <a:rPr lang="en-US" sz="2000" i="1" dirty="0"/>
                  <a:t>     p ∨  q</a:t>
                </a:r>
                <a:endParaRPr lang="en-GB" sz="2000" dirty="0"/>
              </a:p>
              <a:p>
                <a:pPr marL="285750" indent="-285750">
                  <a:buFont typeface="Arial" panose="020B0604020202020204" pitchFamily="34" charset="0"/>
                  <a:buChar char="•"/>
                </a:pPr>
                <a:endParaRPr lang="en-GB" sz="2000" dirty="0"/>
              </a:p>
            </p:txBody>
          </p:sp>
        </mc:Choice>
        <mc:Fallback xmlns="">
          <p:sp>
            <p:nvSpPr>
              <p:cNvPr id="9" name="Rectangle 8"/>
              <p:cNvSpPr>
                <a:spLocks noRot="1" noChangeAspect="1" noMove="1" noResize="1" noEditPoints="1" noAdjustHandles="1" noChangeArrowheads="1" noChangeShapeType="1" noTextEdit="1"/>
              </p:cNvSpPr>
              <p:nvPr/>
            </p:nvSpPr>
            <p:spPr>
              <a:xfrm>
                <a:off x="457200" y="3244334"/>
                <a:ext cx="8229600" cy="2862322"/>
              </a:xfrm>
              <a:prstGeom prst="rect">
                <a:avLst/>
              </a:prstGeom>
              <a:blipFill>
                <a:blip r:embed="rId2"/>
                <a:stretch>
                  <a:fillRect l="-667" t="-1064"/>
                </a:stretch>
              </a:blipFill>
            </p:spPr>
            <p:txBody>
              <a:bodyPr/>
              <a:lstStyle/>
              <a:p>
                <a:r>
                  <a:rPr lang="si-LK">
                    <a:noFill/>
                  </a:rPr>
                  <a:t> </a:t>
                </a:r>
              </a:p>
            </p:txBody>
          </p:sp>
        </mc:Fallback>
      </mc:AlternateContent>
    </p:spTree>
    <p:extLst>
      <p:ext uri="{BB962C8B-B14F-4D97-AF65-F5344CB8AC3E}">
        <p14:creationId xmlns:p14="http://schemas.microsoft.com/office/powerpoint/2010/main" val="7061652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xEl>
                                              <p:pRg st="0" end="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xEl>
                                              <p:pRg st="1" end="1"/>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9">
                                            <p:txEl>
                                              <p:pRg st="5" end="5"/>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9">
                                            <p:txEl>
                                              <p:pRg st="6" end="6"/>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9">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Exclusive Disjunction (exclusive or)</a:t>
            </a:r>
            <a:endParaRPr lang="en-GB" dirty="0"/>
          </a:p>
        </p:txBody>
      </p:sp>
      <p:sp>
        <p:nvSpPr>
          <p:cNvPr id="4" name="Date Placeholder 3"/>
          <p:cNvSpPr>
            <a:spLocks noGrp="1"/>
          </p:cNvSpPr>
          <p:nvPr>
            <p:ph type="dt" sz="half" idx="10"/>
          </p:nvPr>
        </p:nvSpPr>
        <p:spPr/>
        <p:txBody>
          <a:bodyPr/>
          <a:lstStyle/>
          <a:p>
            <a:fld id="{2BDDD7D2-A456-4552-9A7F-80E3FB7EEF12}" type="datetime3">
              <a:rPr lang="en-US" smtClean="0"/>
              <a:t>27 April 2026</a:t>
            </a:fld>
            <a:endParaRPr lang="en-US"/>
          </a:p>
        </p:txBody>
      </p:sp>
      <p:sp>
        <p:nvSpPr>
          <p:cNvPr id="5" name="Footer Placeholder 4"/>
          <p:cNvSpPr>
            <a:spLocks noGrp="1"/>
          </p:cNvSpPr>
          <p:nvPr>
            <p:ph type="ftr" sz="quarter" idx="11"/>
          </p:nvPr>
        </p:nvSpPr>
        <p:spPr/>
        <p:txBody>
          <a:bodyPr/>
          <a:lstStyle/>
          <a:p>
            <a:r>
              <a:rPr lang="en-US"/>
              <a:t>SCS 1302   Discrete Mathematics 1       Prof. D D Karunaratna</a:t>
            </a:r>
          </a:p>
        </p:txBody>
      </p:sp>
      <p:sp>
        <p:nvSpPr>
          <p:cNvPr id="6" name="Slide Number Placeholder 5"/>
          <p:cNvSpPr>
            <a:spLocks noGrp="1"/>
          </p:cNvSpPr>
          <p:nvPr>
            <p:ph type="sldNum" sz="quarter" idx="12"/>
          </p:nvPr>
        </p:nvSpPr>
        <p:spPr/>
        <p:txBody>
          <a:bodyPr/>
          <a:lstStyle/>
          <a:p>
            <a:fld id="{0CA841A6-7C02-4C92-B6EE-5DBCC2AD53D0}" type="slidenum">
              <a:rPr lang="en-US" smtClean="0"/>
              <a:t>19</a:t>
            </a:fld>
            <a:endParaRPr lang="en-US"/>
          </a:p>
        </p:txBody>
      </p:sp>
      <p:sp>
        <p:nvSpPr>
          <p:cNvPr id="7" name="Rectangle 6"/>
          <p:cNvSpPr/>
          <p:nvPr/>
        </p:nvSpPr>
        <p:spPr>
          <a:xfrm>
            <a:off x="381000" y="1727537"/>
            <a:ext cx="8382000" cy="1015663"/>
          </a:xfrm>
          <a:prstGeom prst="rect">
            <a:avLst/>
          </a:prstGeom>
        </p:spPr>
        <p:txBody>
          <a:bodyPr wrap="square">
            <a:spAutoFit/>
          </a:bodyPr>
          <a:lstStyle/>
          <a:p>
            <a:r>
              <a:rPr lang="en-US" sz="2000" dirty="0"/>
              <a:t>Let </a:t>
            </a:r>
            <a:r>
              <a:rPr lang="en-US" sz="2000" i="1" dirty="0"/>
              <a:t>p and q be propositions. The </a:t>
            </a:r>
            <a:r>
              <a:rPr lang="en-US" sz="2000" b="1" i="1" dirty="0"/>
              <a:t>exclusive or </a:t>
            </a:r>
            <a:r>
              <a:rPr lang="en-US" sz="2000" i="1" dirty="0"/>
              <a:t>of p and q, denoted by    </a:t>
            </a:r>
            <a:r>
              <a:rPr lang="en-US" sz="2000" b="1" i="1" dirty="0"/>
              <a:t>p </a:t>
            </a:r>
            <a:r>
              <a:rPr lang="en-US" sz="2000" b="1" dirty="0"/>
              <a:t>⊕ </a:t>
            </a:r>
            <a:r>
              <a:rPr lang="en-US" sz="2000" b="1" i="1" dirty="0"/>
              <a:t>q</a:t>
            </a:r>
            <a:r>
              <a:rPr lang="en-US" sz="2000" i="1" dirty="0"/>
              <a:t>, is the proposition </a:t>
            </a:r>
            <a:r>
              <a:rPr lang="en-US" sz="2000" dirty="0"/>
              <a:t>that is true when exactly one of </a:t>
            </a:r>
            <a:r>
              <a:rPr lang="en-US" sz="2000" i="1" dirty="0"/>
              <a:t>p and q is true and is false otherwise.</a:t>
            </a:r>
            <a:endParaRPr lang="en-US" sz="2000" dirty="0"/>
          </a:p>
        </p:txBody>
      </p:sp>
      <p:sp>
        <p:nvSpPr>
          <p:cNvPr id="8" name="Rectangle 7"/>
          <p:cNvSpPr/>
          <p:nvPr/>
        </p:nvSpPr>
        <p:spPr>
          <a:xfrm>
            <a:off x="609600" y="2876490"/>
            <a:ext cx="5942332" cy="400110"/>
          </a:xfrm>
          <a:prstGeom prst="rect">
            <a:avLst/>
          </a:prstGeom>
        </p:spPr>
        <p:txBody>
          <a:bodyPr wrap="none">
            <a:spAutoFit/>
          </a:bodyPr>
          <a:lstStyle/>
          <a:p>
            <a:r>
              <a:rPr lang="en-US" sz="2000" dirty="0"/>
              <a:t>Example:   “ Either soup or salad comes with the meal” </a:t>
            </a:r>
          </a:p>
        </p:txBody>
      </p:sp>
      <p:graphicFrame>
        <p:nvGraphicFramePr>
          <p:cNvPr id="9" name="Group 18"/>
          <p:cNvGraphicFramePr>
            <a:graphicFrameLocks noGrp="1"/>
          </p:cNvGraphicFramePr>
          <p:nvPr>
            <p:extLst>
              <p:ext uri="{D42A27DB-BD31-4B8C-83A1-F6EECF244321}">
                <p14:modId xmlns:p14="http://schemas.microsoft.com/office/powerpoint/2010/main" val="5618317"/>
              </p:ext>
            </p:extLst>
          </p:nvPr>
        </p:nvGraphicFramePr>
        <p:xfrm>
          <a:off x="3200400" y="4067890"/>
          <a:ext cx="2209800" cy="2155110"/>
        </p:xfrm>
        <a:graphic>
          <a:graphicData uri="http://schemas.openxmlformats.org/drawingml/2006/table">
            <a:tbl>
              <a:tblPr/>
              <a:tblGrid>
                <a:gridCol w="690563">
                  <a:extLst>
                    <a:ext uri="{9D8B030D-6E8A-4147-A177-3AD203B41FA5}">
                      <a16:colId xmlns:a16="http://schemas.microsoft.com/office/drawing/2014/main" val="20000"/>
                    </a:ext>
                  </a:extLst>
                </a:gridCol>
                <a:gridCol w="621506">
                  <a:extLst>
                    <a:ext uri="{9D8B030D-6E8A-4147-A177-3AD203B41FA5}">
                      <a16:colId xmlns:a16="http://schemas.microsoft.com/office/drawing/2014/main" val="20001"/>
                    </a:ext>
                  </a:extLst>
                </a:gridCol>
                <a:gridCol w="897731">
                  <a:extLst>
                    <a:ext uri="{9D8B030D-6E8A-4147-A177-3AD203B41FA5}">
                      <a16:colId xmlns:a16="http://schemas.microsoft.com/office/drawing/2014/main" val="20002"/>
                    </a:ext>
                  </a:extLst>
                </a:gridCol>
              </a:tblGrid>
              <a:tr h="43102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FF0000"/>
                          </a:solidFill>
                          <a:effectLst/>
                          <a:latin typeface="Comic Sans MS" pitchFamily="1" charset="0"/>
                          <a:ea typeface="ＭＳ Ｐゴシック" pitchFamily="1" charset="-128"/>
                        </a:rPr>
                        <a:t>p</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FF0000"/>
                          </a:solidFill>
                          <a:effectLst/>
                          <a:latin typeface="Comic Sans MS" pitchFamily="1" charset="0"/>
                          <a:ea typeface="ＭＳ Ｐゴシック" pitchFamily="1" charset="-128"/>
                        </a:rPr>
                        <a:t>q</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1" u="none" strike="noStrike" cap="none" normalizeH="0" baseline="0" dirty="0">
                          <a:ln>
                            <a:noFill/>
                          </a:ln>
                          <a:solidFill>
                            <a:srgbClr val="FF0000"/>
                          </a:solidFill>
                          <a:effectLst/>
                          <a:latin typeface="Comic Sans MS" pitchFamily="1" charset="0"/>
                          <a:ea typeface="ＭＳ Ｐゴシック" pitchFamily="1" charset="-128"/>
                        </a:rPr>
                        <a:t>p </a:t>
                      </a:r>
                      <a:r>
                        <a:rPr lang="en-US" sz="2000" dirty="0">
                          <a:solidFill>
                            <a:srgbClr val="FF0000"/>
                          </a:solidFill>
                        </a:rPr>
                        <a:t>⊕ </a:t>
                      </a:r>
                      <a:r>
                        <a:rPr kumimoji="0" lang="en-US" sz="2000" b="0" i="1" u="none" strike="noStrike" cap="none" normalizeH="0" baseline="0" dirty="0">
                          <a:ln>
                            <a:noFill/>
                          </a:ln>
                          <a:solidFill>
                            <a:srgbClr val="FF0000"/>
                          </a:solidFill>
                          <a:effectLst/>
                          <a:latin typeface="Comic Sans MS" pitchFamily="1" charset="0"/>
                          <a:ea typeface="ＭＳ Ｐゴシック" pitchFamily="1" charset="-128"/>
                        </a:rPr>
                        <a:t>q</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724088">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pitchFamily="1" charset="0"/>
                          <a:ea typeface="ＭＳ Ｐゴシック" pitchFamily="1" charset="-128"/>
                        </a:rPr>
                        <a:t>F</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pitchFamily="1" charset="0"/>
                          <a:ea typeface="ＭＳ Ｐゴシック" pitchFamily="1" charset="-128"/>
                        </a:rPr>
                        <a:t>F</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pitchFamily="1" charset="0"/>
                          <a:ea typeface="ＭＳ Ｐゴシック" pitchFamily="1" charset="-128"/>
                        </a:rPr>
                        <a:t>T</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pitchFamily="1" charset="0"/>
                          <a:ea typeface="ＭＳ Ｐゴシック" pitchFamily="1" charset="-128"/>
                        </a:rPr>
                        <a:t>T</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pitchFamily="1" charset="0"/>
                          <a:ea typeface="ＭＳ Ｐゴシック" pitchFamily="1" charset="-128"/>
                        </a:rPr>
                        <a:t>F</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pitchFamily="1" charset="0"/>
                          <a:ea typeface="ＭＳ Ｐゴシック" pitchFamily="1" charset="-128"/>
                        </a:rPr>
                        <a:t>T</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pitchFamily="1" charset="0"/>
                          <a:ea typeface="ＭＳ Ｐゴシック" pitchFamily="1" charset="-128"/>
                        </a:rPr>
                        <a:t>F</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pitchFamily="1" charset="0"/>
                          <a:ea typeface="ＭＳ Ｐゴシック" pitchFamily="1" charset="-128"/>
                        </a:rPr>
                        <a:t>T</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pitchFamily="1" charset="0"/>
                          <a:ea typeface="ＭＳ Ｐゴシック" pitchFamily="1" charset="-128"/>
                        </a:rPr>
                        <a:t>F</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pitchFamily="1" charset="0"/>
                          <a:ea typeface="ＭＳ Ｐゴシック" pitchFamily="1" charset="-128"/>
                        </a:rPr>
                        <a:t>T</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pitchFamily="1" charset="0"/>
                          <a:ea typeface="ＭＳ Ｐゴシック" pitchFamily="1" charset="-128"/>
                        </a:rPr>
                        <a:t>T</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pitchFamily="1" charset="0"/>
                          <a:ea typeface="ＭＳ Ｐゴシック" pitchFamily="1" charset="-128"/>
                        </a:rPr>
                        <a:t>F</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10" name="Rectangle 9"/>
          <p:cNvSpPr/>
          <p:nvPr/>
        </p:nvSpPr>
        <p:spPr>
          <a:xfrm>
            <a:off x="1828800" y="3562290"/>
            <a:ext cx="4382931" cy="400110"/>
          </a:xfrm>
          <a:prstGeom prst="rect">
            <a:avLst/>
          </a:prstGeom>
        </p:spPr>
        <p:txBody>
          <a:bodyPr wrap="none">
            <a:spAutoFit/>
          </a:bodyPr>
          <a:lstStyle/>
          <a:p>
            <a:r>
              <a:rPr lang="en-US" sz="2000" b="1" dirty="0"/>
              <a:t>The truth table for the exclusive or</a:t>
            </a:r>
          </a:p>
        </p:txBody>
      </p:sp>
    </p:spTree>
    <p:extLst>
      <p:ext uri="{BB962C8B-B14F-4D97-AF65-F5344CB8AC3E}">
        <p14:creationId xmlns:p14="http://schemas.microsoft.com/office/powerpoint/2010/main" val="5762765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10"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Conditional Statement or Implication</a:t>
            </a:r>
            <a:endParaRPr lang="en-GB" dirty="0"/>
          </a:p>
        </p:txBody>
      </p:sp>
      <p:sp>
        <p:nvSpPr>
          <p:cNvPr id="4" name="Date Placeholder 3"/>
          <p:cNvSpPr>
            <a:spLocks noGrp="1"/>
          </p:cNvSpPr>
          <p:nvPr>
            <p:ph type="dt" sz="half" idx="10"/>
          </p:nvPr>
        </p:nvSpPr>
        <p:spPr/>
        <p:txBody>
          <a:bodyPr/>
          <a:lstStyle/>
          <a:p>
            <a:fld id="{039F8BCA-FDEA-4926-9DEA-C5888C930A13}" type="datetime3">
              <a:rPr lang="en-US" smtClean="0"/>
              <a:t>27 April 2026</a:t>
            </a:fld>
            <a:endParaRPr lang="en-US"/>
          </a:p>
        </p:txBody>
      </p:sp>
      <p:sp>
        <p:nvSpPr>
          <p:cNvPr id="5" name="Footer Placeholder 4"/>
          <p:cNvSpPr>
            <a:spLocks noGrp="1"/>
          </p:cNvSpPr>
          <p:nvPr>
            <p:ph type="ftr" sz="quarter" idx="11"/>
          </p:nvPr>
        </p:nvSpPr>
        <p:spPr/>
        <p:txBody>
          <a:bodyPr/>
          <a:lstStyle/>
          <a:p>
            <a:r>
              <a:rPr lang="en-US"/>
              <a:t>SCS 1302   Discrete Mathematics 1       Prof. D D Karunaratna</a:t>
            </a:r>
          </a:p>
        </p:txBody>
      </p:sp>
      <p:sp>
        <p:nvSpPr>
          <p:cNvPr id="6" name="Slide Number Placeholder 5"/>
          <p:cNvSpPr>
            <a:spLocks noGrp="1"/>
          </p:cNvSpPr>
          <p:nvPr>
            <p:ph type="sldNum" sz="quarter" idx="12"/>
          </p:nvPr>
        </p:nvSpPr>
        <p:spPr/>
        <p:txBody>
          <a:bodyPr/>
          <a:lstStyle/>
          <a:p>
            <a:fld id="{0CA841A6-7C02-4C92-B6EE-5DBCC2AD53D0}" type="slidenum">
              <a:rPr lang="en-US" smtClean="0"/>
              <a:t>20</a:t>
            </a:fld>
            <a:endParaRPr lang="en-US"/>
          </a:p>
        </p:txBody>
      </p:sp>
      <p:sp>
        <p:nvSpPr>
          <p:cNvPr id="7" name="Rectangle 6"/>
          <p:cNvSpPr/>
          <p:nvPr/>
        </p:nvSpPr>
        <p:spPr>
          <a:xfrm>
            <a:off x="304800" y="1797784"/>
            <a:ext cx="8610600" cy="1631216"/>
          </a:xfrm>
          <a:prstGeom prst="rect">
            <a:avLst/>
          </a:prstGeom>
        </p:spPr>
        <p:txBody>
          <a:bodyPr wrap="square">
            <a:spAutoFit/>
          </a:bodyPr>
          <a:lstStyle/>
          <a:p>
            <a:r>
              <a:rPr lang="en-US" sz="2000" dirty="0"/>
              <a:t>Let </a:t>
            </a:r>
            <a:r>
              <a:rPr lang="en-US" sz="2000" i="1" dirty="0"/>
              <a:t>p and q be propositions. The </a:t>
            </a:r>
            <a:r>
              <a:rPr lang="en-US" sz="2000" b="1" i="1" dirty="0"/>
              <a:t>conditional statement p → q </a:t>
            </a:r>
            <a:r>
              <a:rPr lang="en-US" sz="2000" i="1" dirty="0"/>
              <a:t>is the proposition </a:t>
            </a:r>
            <a:r>
              <a:rPr lang="en-US" sz="2000" b="1" i="1" dirty="0"/>
              <a:t>“if p, then q.” </a:t>
            </a:r>
            <a:r>
              <a:rPr lang="en-US" sz="2000" i="1" dirty="0"/>
              <a:t>The conditional statement p → q is false when p is true and q is false, and true otherwise.</a:t>
            </a:r>
          </a:p>
          <a:p>
            <a:r>
              <a:rPr lang="en-US" sz="2000" i="1" dirty="0"/>
              <a:t> p is called the </a:t>
            </a:r>
            <a:r>
              <a:rPr lang="en-US" sz="2000" b="1" i="1" dirty="0"/>
              <a:t>hypothesis</a:t>
            </a:r>
            <a:r>
              <a:rPr lang="en-US" sz="2000" i="1" dirty="0"/>
              <a:t> (or antecedent or premise)</a:t>
            </a:r>
          </a:p>
          <a:p>
            <a:r>
              <a:rPr lang="en-US" sz="2000" dirty="0"/>
              <a:t>and </a:t>
            </a:r>
            <a:r>
              <a:rPr lang="en-US" sz="2000" i="1" dirty="0"/>
              <a:t>q is called the </a:t>
            </a:r>
            <a:r>
              <a:rPr lang="en-US" sz="2000" b="1" i="1" dirty="0"/>
              <a:t>conclusion</a:t>
            </a:r>
            <a:r>
              <a:rPr lang="en-US" sz="2000" i="1" dirty="0"/>
              <a:t> (or consequence).</a:t>
            </a:r>
            <a:endParaRPr lang="en-US" sz="2000" dirty="0"/>
          </a:p>
        </p:txBody>
      </p:sp>
      <p:sp>
        <p:nvSpPr>
          <p:cNvPr id="8" name="TextBox 7"/>
          <p:cNvSpPr txBox="1"/>
          <p:nvPr/>
        </p:nvSpPr>
        <p:spPr>
          <a:xfrm>
            <a:off x="304800" y="3617655"/>
            <a:ext cx="4343400" cy="2554545"/>
          </a:xfrm>
          <a:prstGeom prst="rect">
            <a:avLst/>
          </a:prstGeom>
          <a:noFill/>
        </p:spPr>
        <p:txBody>
          <a:bodyPr wrap="square" rtlCol="0">
            <a:spAutoFit/>
          </a:bodyPr>
          <a:lstStyle/>
          <a:p>
            <a:r>
              <a:rPr lang="en-US" sz="2000" dirty="0"/>
              <a:t>Various terminology used:</a:t>
            </a:r>
          </a:p>
          <a:p>
            <a:pPr>
              <a:buFont typeface="Arial" pitchFamily="34" charset="0"/>
              <a:buChar char="•"/>
            </a:pPr>
            <a:r>
              <a:rPr lang="en-US" sz="2000" dirty="0"/>
              <a:t> “</a:t>
            </a:r>
            <a:r>
              <a:rPr lang="en-US" sz="2000" i="1" dirty="0"/>
              <a:t>p is sufficient for q”</a:t>
            </a:r>
          </a:p>
          <a:p>
            <a:pPr>
              <a:buFont typeface="Arial" pitchFamily="34" charset="0"/>
              <a:buChar char="•"/>
            </a:pPr>
            <a:r>
              <a:rPr lang="en-US" sz="2000" i="1" dirty="0"/>
              <a:t> </a:t>
            </a:r>
            <a:r>
              <a:rPr lang="en-US" sz="2000" dirty="0"/>
              <a:t>“a sufficient condition for </a:t>
            </a:r>
            <a:r>
              <a:rPr lang="en-US" sz="2000" i="1" dirty="0"/>
              <a:t>q is p”</a:t>
            </a:r>
          </a:p>
          <a:p>
            <a:pPr>
              <a:buFont typeface="Arial" pitchFamily="34" charset="0"/>
              <a:buChar char="•"/>
            </a:pPr>
            <a:r>
              <a:rPr lang="en-US" sz="2000" i="1" dirty="0"/>
              <a:t> p only if q</a:t>
            </a:r>
          </a:p>
          <a:p>
            <a:pPr>
              <a:buFont typeface="Arial" pitchFamily="34" charset="0"/>
              <a:buChar char="•"/>
            </a:pPr>
            <a:r>
              <a:rPr lang="en-US" sz="2000" i="1" dirty="0"/>
              <a:t>  </a:t>
            </a:r>
            <a:r>
              <a:rPr lang="en-US" sz="2000" dirty="0"/>
              <a:t>“</a:t>
            </a:r>
            <a:r>
              <a:rPr lang="en-US" sz="2000" i="1" dirty="0"/>
              <a:t>p implies q”</a:t>
            </a:r>
          </a:p>
          <a:p>
            <a:pPr>
              <a:buFont typeface="Arial" pitchFamily="34" charset="0"/>
              <a:buChar char="•"/>
            </a:pPr>
            <a:r>
              <a:rPr lang="en-US" sz="2000" i="1" dirty="0"/>
              <a:t> </a:t>
            </a:r>
            <a:r>
              <a:rPr lang="en-US" sz="2000" dirty="0"/>
              <a:t>“</a:t>
            </a:r>
            <a:r>
              <a:rPr lang="en-US" sz="2000" i="1" dirty="0"/>
              <a:t>q whenever p” </a:t>
            </a:r>
          </a:p>
          <a:p>
            <a:endParaRPr lang="en-US" sz="2000" i="1" dirty="0"/>
          </a:p>
          <a:p>
            <a:pPr>
              <a:buFont typeface="Arial" pitchFamily="34" charset="0"/>
              <a:buChar char="•"/>
            </a:pPr>
            <a:endParaRPr lang="en-US" sz="2000" dirty="0"/>
          </a:p>
        </p:txBody>
      </p:sp>
      <p:graphicFrame>
        <p:nvGraphicFramePr>
          <p:cNvPr id="9" name="Group 5"/>
          <p:cNvGraphicFramePr>
            <a:graphicFrameLocks noGrp="1"/>
          </p:cNvGraphicFramePr>
          <p:nvPr>
            <p:extLst>
              <p:ext uri="{D42A27DB-BD31-4B8C-83A1-F6EECF244321}">
                <p14:modId xmlns:p14="http://schemas.microsoft.com/office/powerpoint/2010/main" val="1495844926"/>
              </p:ext>
            </p:extLst>
          </p:nvPr>
        </p:nvGraphicFramePr>
        <p:xfrm>
          <a:off x="6400800" y="4114800"/>
          <a:ext cx="2286001" cy="2133600"/>
        </p:xfrm>
        <a:graphic>
          <a:graphicData uri="http://schemas.openxmlformats.org/drawingml/2006/table">
            <a:tbl>
              <a:tblPr/>
              <a:tblGrid>
                <a:gridCol w="714375">
                  <a:extLst>
                    <a:ext uri="{9D8B030D-6E8A-4147-A177-3AD203B41FA5}">
                      <a16:colId xmlns:a16="http://schemas.microsoft.com/office/drawing/2014/main" val="20000"/>
                    </a:ext>
                  </a:extLst>
                </a:gridCol>
                <a:gridCol w="642938">
                  <a:extLst>
                    <a:ext uri="{9D8B030D-6E8A-4147-A177-3AD203B41FA5}">
                      <a16:colId xmlns:a16="http://schemas.microsoft.com/office/drawing/2014/main" val="20001"/>
                    </a:ext>
                  </a:extLst>
                </a:gridCol>
                <a:gridCol w="928688">
                  <a:extLst>
                    <a:ext uri="{9D8B030D-6E8A-4147-A177-3AD203B41FA5}">
                      <a16:colId xmlns:a16="http://schemas.microsoft.com/office/drawing/2014/main" val="20002"/>
                    </a:ext>
                  </a:extLst>
                </a:gridCol>
              </a:tblGrid>
              <a:tr h="42672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FF0000"/>
                          </a:solidFill>
                          <a:effectLst/>
                          <a:latin typeface="Comic Sans MS" pitchFamily="1" charset="0"/>
                          <a:ea typeface="ＭＳ Ｐゴシック" pitchFamily="1" charset="-128"/>
                        </a:rPr>
                        <a:t>p</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FF0000"/>
                          </a:solidFill>
                          <a:effectLst/>
                          <a:latin typeface="Comic Sans MS" pitchFamily="1" charset="0"/>
                          <a:ea typeface="ＭＳ Ｐゴシック" pitchFamily="1" charset="-128"/>
                        </a:rPr>
                        <a:t>q</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1" u="none" strike="noStrike" cap="none" normalizeH="0" baseline="0" dirty="0">
                          <a:ln>
                            <a:noFill/>
                          </a:ln>
                          <a:solidFill>
                            <a:srgbClr val="FF0000"/>
                          </a:solidFill>
                          <a:effectLst/>
                          <a:latin typeface="Comic Sans MS" pitchFamily="1" charset="0"/>
                          <a:ea typeface="ＭＳ Ｐゴシック" pitchFamily="1" charset="-128"/>
                        </a:rPr>
                        <a:t>p </a:t>
                      </a:r>
                      <a:r>
                        <a:rPr kumimoji="0" lang="en-US" sz="2000" b="0" i="0" u="none" strike="noStrike" cap="none" normalizeH="0" baseline="0" dirty="0">
                          <a:ln>
                            <a:noFill/>
                          </a:ln>
                          <a:solidFill>
                            <a:srgbClr val="FF0000"/>
                          </a:solidFill>
                          <a:effectLst/>
                          <a:latin typeface="Arial" charset="0"/>
                          <a:ea typeface="ＭＳ Ｐゴシック" pitchFamily="1" charset="-128"/>
                          <a:sym typeface="Symbol" pitchFamily="1" charset="2"/>
                        </a:rPr>
                        <a:t></a:t>
                      </a:r>
                      <a:r>
                        <a:rPr kumimoji="0" lang="en-US" sz="2000" b="0" i="1" u="none" strike="noStrike" cap="none" normalizeH="0" baseline="0" dirty="0">
                          <a:ln>
                            <a:noFill/>
                          </a:ln>
                          <a:solidFill>
                            <a:srgbClr val="FF0000"/>
                          </a:solidFill>
                          <a:effectLst/>
                          <a:latin typeface="Arial" charset="0"/>
                          <a:ea typeface="ＭＳ Ｐゴシック" pitchFamily="1" charset="-128"/>
                          <a:sym typeface="Symbol" pitchFamily="1" charset="2"/>
                        </a:rPr>
                        <a:t> </a:t>
                      </a:r>
                      <a:r>
                        <a:rPr kumimoji="0" lang="en-US" sz="2000" b="0" i="1" u="none" strike="noStrike" cap="none" normalizeH="0" baseline="0" dirty="0">
                          <a:ln>
                            <a:noFill/>
                          </a:ln>
                          <a:solidFill>
                            <a:srgbClr val="FF0000"/>
                          </a:solidFill>
                          <a:effectLst/>
                          <a:latin typeface="Comic Sans MS" pitchFamily="1" charset="0"/>
                          <a:ea typeface="ＭＳ Ｐゴシック" pitchFamily="1" charset="-128"/>
                        </a:rPr>
                        <a:t>q</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70688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pitchFamily="1" charset="0"/>
                          <a:ea typeface="ＭＳ Ｐゴシック" pitchFamily="1" charset="-128"/>
                        </a:rPr>
                        <a:t>F</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pitchFamily="1" charset="0"/>
                          <a:ea typeface="ＭＳ Ｐゴシック" pitchFamily="1" charset="-128"/>
                        </a:rPr>
                        <a:t>F</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pitchFamily="1" charset="0"/>
                          <a:ea typeface="ＭＳ Ｐゴシック" pitchFamily="1" charset="-128"/>
                        </a:rPr>
                        <a:t>T</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pitchFamily="1" charset="0"/>
                          <a:ea typeface="ＭＳ Ｐゴシック" pitchFamily="1" charset="-128"/>
                        </a:rPr>
                        <a:t>T</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pitchFamily="1" charset="0"/>
                          <a:ea typeface="ＭＳ Ｐゴシック" pitchFamily="1" charset="-128"/>
                        </a:rPr>
                        <a:t>F</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pitchFamily="1" charset="0"/>
                          <a:ea typeface="ＭＳ Ｐゴシック" pitchFamily="1" charset="-128"/>
                        </a:rPr>
                        <a:t>T</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pitchFamily="1" charset="0"/>
                          <a:ea typeface="ＭＳ Ｐゴシック" pitchFamily="1" charset="-128"/>
                        </a:rPr>
                        <a:t>F</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pitchFamily="1" charset="0"/>
                          <a:ea typeface="ＭＳ Ｐゴシック" pitchFamily="1" charset="-128"/>
                        </a:rPr>
                        <a:t>T</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pitchFamily="1" charset="0"/>
                          <a:ea typeface="ＭＳ Ｐゴシック" pitchFamily="1" charset="-128"/>
                        </a:rPr>
                        <a:t>T</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pitchFamily="1" charset="0"/>
                          <a:ea typeface="ＭＳ Ｐゴシック" pitchFamily="1" charset="-128"/>
                        </a:rPr>
                        <a:t>T</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pitchFamily="1" charset="0"/>
                          <a:ea typeface="ＭＳ Ｐゴシック" pitchFamily="1" charset="-128"/>
                        </a:rPr>
                        <a:t>F</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pitchFamily="1" charset="0"/>
                          <a:ea typeface="ＭＳ Ｐゴシック" pitchFamily="1" charset="-128"/>
                        </a:rPr>
                        <a:t>T</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10" name="TextBox 9"/>
          <p:cNvSpPr txBox="1"/>
          <p:nvPr/>
        </p:nvSpPr>
        <p:spPr>
          <a:xfrm>
            <a:off x="5562600" y="3638490"/>
            <a:ext cx="3429000" cy="461665"/>
          </a:xfrm>
          <a:prstGeom prst="rect">
            <a:avLst/>
          </a:prstGeom>
          <a:noFill/>
        </p:spPr>
        <p:txBody>
          <a:bodyPr wrap="square" rtlCol="0">
            <a:spAutoFit/>
          </a:bodyPr>
          <a:lstStyle/>
          <a:p>
            <a:pPr lvl="0" algn="ctr" fontAlgn="base">
              <a:spcBef>
                <a:spcPct val="20000"/>
              </a:spcBef>
              <a:spcAft>
                <a:spcPct val="0"/>
              </a:spcAft>
            </a:pPr>
            <a:r>
              <a:rPr lang="en-US" sz="2400" b="1" dirty="0"/>
              <a:t>Truth  Table for p </a:t>
            </a:r>
            <a:r>
              <a:rPr lang="en-US" sz="2400" b="1" dirty="0">
                <a:sym typeface="Symbol" pitchFamily="1" charset="2"/>
              </a:rPr>
              <a:t> </a:t>
            </a:r>
            <a:r>
              <a:rPr lang="en-US" sz="2400" b="1" dirty="0"/>
              <a:t>q</a:t>
            </a:r>
          </a:p>
        </p:txBody>
      </p:sp>
    </p:spTree>
    <p:extLst>
      <p:ext uri="{BB962C8B-B14F-4D97-AF65-F5344CB8AC3E}">
        <p14:creationId xmlns:p14="http://schemas.microsoft.com/office/powerpoint/2010/main" val="38077062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8">
                                            <p:txEl>
                                              <p:pRg st="1" end="1"/>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8">
                                            <p:txEl>
                                              <p:pRg st="2" end="2"/>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8">
                                            <p:txEl>
                                              <p:pRg st="5" end="5"/>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0"/>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3B462C-651F-E222-567B-A065CA9AF2F4}"/>
              </a:ext>
            </a:extLst>
          </p:cNvPr>
          <p:cNvSpPr>
            <a:spLocks noGrp="1"/>
          </p:cNvSpPr>
          <p:nvPr>
            <p:ph type="title"/>
          </p:nvPr>
        </p:nvSpPr>
        <p:spPr/>
        <p:txBody>
          <a:bodyPr/>
          <a:lstStyle/>
          <a:p>
            <a:r>
              <a:rPr lang="en-US" dirty="0"/>
              <a:t>Example</a:t>
            </a:r>
          </a:p>
        </p:txBody>
      </p:sp>
      <p:sp>
        <p:nvSpPr>
          <p:cNvPr id="3" name="Content Placeholder 2">
            <a:extLst>
              <a:ext uri="{FF2B5EF4-FFF2-40B4-BE49-F238E27FC236}">
                <a16:creationId xmlns:a16="http://schemas.microsoft.com/office/drawing/2014/main" id="{AEFA4AC4-A912-8114-9FAF-85306A3E6157}"/>
              </a:ext>
            </a:extLst>
          </p:cNvPr>
          <p:cNvSpPr>
            <a:spLocks noGrp="1"/>
          </p:cNvSpPr>
          <p:nvPr>
            <p:ph idx="1"/>
          </p:nvPr>
        </p:nvSpPr>
        <p:spPr/>
        <p:txBody>
          <a:bodyPr>
            <a:normAutofit fontScale="77500" lnSpcReduction="20000"/>
          </a:bodyPr>
          <a:lstStyle/>
          <a:p>
            <a:r>
              <a:rPr lang="en-US" dirty="0"/>
              <a:t>Consider the following statement:</a:t>
            </a:r>
          </a:p>
          <a:p>
            <a:pPr marL="0" indent="0">
              <a:buNone/>
            </a:pPr>
            <a:r>
              <a:rPr lang="en-US" dirty="0"/>
              <a:t>	If </a:t>
            </a:r>
            <a:r>
              <a:rPr lang="en-US" u="sng" dirty="0"/>
              <a:t>it rains</a:t>
            </a:r>
            <a:r>
              <a:rPr lang="en-US" dirty="0"/>
              <a:t>, </a:t>
            </a:r>
            <a:r>
              <a:rPr lang="en-US" u="sng" dirty="0"/>
              <a:t>It will be cloudy </a:t>
            </a:r>
          </a:p>
          <a:p>
            <a:pPr marL="0" indent="0">
              <a:buNone/>
            </a:pPr>
            <a:r>
              <a:rPr lang="en-US" dirty="0"/>
              <a:t>                    x                 y</a:t>
            </a:r>
          </a:p>
          <a:p>
            <a:pPr marL="0" indent="0">
              <a:buNone/>
            </a:pPr>
            <a:r>
              <a:rPr lang="en-US" dirty="0"/>
              <a:t>	       x -&gt; y</a:t>
            </a:r>
          </a:p>
          <a:p>
            <a:r>
              <a:rPr lang="en-US" dirty="0"/>
              <a:t>Case 1: It rained then we say, It should be cloudy.  So If x happened then y should happen. x -&gt; y</a:t>
            </a:r>
          </a:p>
          <a:p>
            <a:r>
              <a:rPr lang="en-US" dirty="0"/>
              <a:t>Case 2: There are no clouds, So there is no rain. ∼ y -&gt; ∼ x</a:t>
            </a:r>
          </a:p>
          <a:p>
            <a:r>
              <a:rPr lang="en-US" dirty="0"/>
              <a:t>Case 3: It is not raining.  Uncertain.  As there may be clouds or may not be.</a:t>
            </a:r>
          </a:p>
          <a:p>
            <a:r>
              <a:rPr lang="en-US" dirty="0"/>
              <a:t>Case 4: It is cloudy. Uncertain. As it may rain may not rain.</a:t>
            </a:r>
          </a:p>
          <a:p>
            <a:pPr marL="0" indent="0">
              <a:buNone/>
            </a:pPr>
            <a:endParaRPr lang="en-US" dirty="0"/>
          </a:p>
        </p:txBody>
      </p:sp>
      <p:sp>
        <p:nvSpPr>
          <p:cNvPr id="4" name="Date Placeholder 3">
            <a:extLst>
              <a:ext uri="{FF2B5EF4-FFF2-40B4-BE49-F238E27FC236}">
                <a16:creationId xmlns:a16="http://schemas.microsoft.com/office/drawing/2014/main" id="{32368372-BDF1-3C53-5809-92EDA65152CD}"/>
              </a:ext>
            </a:extLst>
          </p:cNvPr>
          <p:cNvSpPr>
            <a:spLocks noGrp="1"/>
          </p:cNvSpPr>
          <p:nvPr>
            <p:ph type="dt" sz="half" idx="10"/>
          </p:nvPr>
        </p:nvSpPr>
        <p:spPr/>
        <p:txBody>
          <a:bodyPr/>
          <a:lstStyle/>
          <a:p>
            <a:fld id="{4ECC1ECD-3D75-49D4-9573-54A7E71D3230}" type="datetime3">
              <a:rPr lang="en-US" smtClean="0"/>
              <a:t>27 April 2026</a:t>
            </a:fld>
            <a:endParaRPr lang="en-US"/>
          </a:p>
        </p:txBody>
      </p:sp>
      <p:sp>
        <p:nvSpPr>
          <p:cNvPr id="5" name="Footer Placeholder 4">
            <a:extLst>
              <a:ext uri="{FF2B5EF4-FFF2-40B4-BE49-F238E27FC236}">
                <a16:creationId xmlns:a16="http://schemas.microsoft.com/office/drawing/2014/main" id="{E92AFC34-7F1F-3051-03A2-A30961583F6E}"/>
              </a:ext>
            </a:extLst>
          </p:cNvPr>
          <p:cNvSpPr>
            <a:spLocks noGrp="1"/>
          </p:cNvSpPr>
          <p:nvPr>
            <p:ph type="ftr" sz="quarter" idx="11"/>
          </p:nvPr>
        </p:nvSpPr>
        <p:spPr/>
        <p:txBody>
          <a:bodyPr/>
          <a:lstStyle/>
          <a:p>
            <a:r>
              <a:rPr lang="en-US"/>
              <a:t>SCS 1302   Discrete Mathematics 1       Prof. D D Karunaratna</a:t>
            </a:r>
          </a:p>
        </p:txBody>
      </p:sp>
      <p:sp>
        <p:nvSpPr>
          <p:cNvPr id="6" name="Slide Number Placeholder 5">
            <a:extLst>
              <a:ext uri="{FF2B5EF4-FFF2-40B4-BE49-F238E27FC236}">
                <a16:creationId xmlns:a16="http://schemas.microsoft.com/office/drawing/2014/main" id="{C6E7B369-159D-F63A-3E48-9454632B78B9}"/>
              </a:ext>
            </a:extLst>
          </p:cNvPr>
          <p:cNvSpPr>
            <a:spLocks noGrp="1"/>
          </p:cNvSpPr>
          <p:nvPr>
            <p:ph type="sldNum" sz="quarter" idx="12"/>
          </p:nvPr>
        </p:nvSpPr>
        <p:spPr/>
        <p:txBody>
          <a:bodyPr/>
          <a:lstStyle/>
          <a:p>
            <a:fld id="{0CA841A6-7C02-4C92-B6EE-5DBCC2AD53D0}" type="slidenum">
              <a:rPr lang="en-US" smtClean="0"/>
              <a:t>21</a:t>
            </a:fld>
            <a:endParaRPr lang="en-US"/>
          </a:p>
        </p:txBody>
      </p:sp>
    </p:spTree>
    <p:extLst>
      <p:ext uri="{BB962C8B-B14F-4D97-AF65-F5344CB8AC3E}">
        <p14:creationId xmlns:p14="http://schemas.microsoft.com/office/powerpoint/2010/main" val="28669289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DE8F58-A394-0E72-B2E7-195A42DF40A9}"/>
              </a:ext>
            </a:extLst>
          </p:cNvPr>
          <p:cNvSpPr>
            <a:spLocks noGrp="1"/>
          </p:cNvSpPr>
          <p:nvPr>
            <p:ph type="title"/>
          </p:nvPr>
        </p:nvSpPr>
        <p:spPr/>
        <p:txBody>
          <a:bodyPr/>
          <a:lstStyle/>
          <a:p>
            <a:r>
              <a:rPr lang="en-US" dirty="0"/>
              <a:t>Example</a:t>
            </a:r>
          </a:p>
        </p:txBody>
      </p:sp>
      <p:sp>
        <p:nvSpPr>
          <p:cNvPr id="4" name="Date Placeholder 3">
            <a:extLst>
              <a:ext uri="{FF2B5EF4-FFF2-40B4-BE49-F238E27FC236}">
                <a16:creationId xmlns:a16="http://schemas.microsoft.com/office/drawing/2014/main" id="{A12ADD3A-7D2A-E6F8-82C5-2877DDB4C173}"/>
              </a:ext>
            </a:extLst>
          </p:cNvPr>
          <p:cNvSpPr>
            <a:spLocks noGrp="1"/>
          </p:cNvSpPr>
          <p:nvPr>
            <p:ph type="dt" sz="half" idx="10"/>
          </p:nvPr>
        </p:nvSpPr>
        <p:spPr/>
        <p:txBody>
          <a:bodyPr/>
          <a:lstStyle/>
          <a:p>
            <a:fld id="{48E89EB4-61DC-4696-8A71-E4AEF02974A7}" type="datetime3">
              <a:rPr lang="en-US" smtClean="0"/>
              <a:t>27 April 2026</a:t>
            </a:fld>
            <a:endParaRPr lang="en-US"/>
          </a:p>
        </p:txBody>
      </p:sp>
      <p:sp>
        <p:nvSpPr>
          <p:cNvPr id="5" name="Footer Placeholder 4">
            <a:extLst>
              <a:ext uri="{FF2B5EF4-FFF2-40B4-BE49-F238E27FC236}">
                <a16:creationId xmlns:a16="http://schemas.microsoft.com/office/drawing/2014/main" id="{9E408D94-6CFF-BD0D-712D-F4FBBB3C34AD}"/>
              </a:ext>
            </a:extLst>
          </p:cNvPr>
          <p:cNvSpPr>
            <a:spLocks noGrp="1"/>
          </p:cNvSpPr>
          <p:nvPr>
            <p:ph type="ftr" sz="quarter" idx="11"/>
          </p:nvPr>
        </p:nvSpPr>
        <p:spPr/>
        <p:txBody>
          <a:bodyPr/>
          <a:lstStyle/>
          <a:p>
            <a:r>
              <a:rPr lang="en-US"/>
              <a:t>SCS 1302   Discrete Mathematics 1       Prof. D D Karunaratna</a:t>
            </a:r>
          </a:p>
        </p:txBody>
      </p:sp>
      <p:sp>
        <p:nvSpPr>
          <p:cNvPr id="6" name="Slide Number Placeholder 5">
            <a:extLst>
              <a:ext uri="{FF2B5EF4-FFF2-40B4-BE49-F238E27FC236}">
                <a16:creationId xmlns:a16="http://schemas.microsoft.com/office/drawing/2014/main" id="{4C131730-A63D-CFA5-DB94-F0470687AAB2}"/>
              </a:ext>
            </a:extLst>
          </p:cNvPr>
          <p:cNvSpPr>
            <a:spLocks noGrp="1"/>
          </p:cNvSpPr>
          <p:nvPr>
            <p:ph type="sldNum" sz="quarter" idx="12"/>
          </p:nvPr>
        </p:nvSpPr>
        <p:spPr/>
        <p:txBody>
          <a:bodyPr/>
          <a:lstStyle/>
          <a:p>
            <a:fld id="{0CA841A6-7C02-4C92-B6EE-5DBCC2AD53D0}" type="slidenum">
              <a:rPr lang="en-US" smtClean="0"/>
              <a:t>22</a:t>
            </a:fld>
            <a:endParaRPr lang="en-US"/>
          </a:p>
        </p:txBody>
      </p:sp>
      <p:graphicFrame>
        <p:nvGraphicFramePr>
          <p:cNvPr id="13" name="Content Placeholder 12">
            <a:extLst>
              <a:ext uri="{FF2B5EF4-FFF2-40B4-BE49-F238E27FC236}">
                <a16:creationId xmlns:a16="http://schemas.microsoft.com/office/drawing/2014/main" id="{84BDBAF0-1381-D13E-96C5-3E7B69E0F818}"/>
              </a:ext>
            </a:extLst>
          </p:cNvPr>
          <p:cNvGraphicFramePr>
            <a:graphicFrameLocks noGrp="1"/>
          </p:cNvGraphicFramePr>
          <p:nvPr>
            <p:ph idx="1"/>
            <p:extLst>
              <p:ext uri="{D42A27DB-BD31-4B8C-83A1-F6EECF244321}">
                <p14:modId xmlns:p14="http://schemas.microsoft.com/office/powerpoint/2010/main" val="433997986"/>
              </p:ext>
            </p:extLst>
          </p:nvPr>
        </p:nvGraphicFramePr>
        <p:xfrm>
          <a:off x="457200" y="1676400"/>
          <a:ext cx="8229600" cy="1854200"/>
        </p:xfrm>
        <a:graphic>
          <a:graphicData uri="http://schemas.openxmlformats.org/drawingml/2006/table">
            <a:tbl>
              <a:tblPr firstRow="1" bandRow="1">
                <a:tableStyleId>{616DA210-FB5B-4158-B5E0-FEB733F419BA}</a:tableStyleId>
              </a:tblPr>
              <a:tblGrid>
                <a:gridCol w="2743200">
                  <a:extLst>
                    <a:ext uri="{9D8B030D-6E8A-4147-A177-3AD203B41FA5}">
                      <a16:colId xmlns:a16="http://schemas.microsoft.com/office/drawing/2014/main" val="4005263367"/>
                    </a:ext>
                  </a:extLst>
                </a:gridCol>
                <a:gridCol w="2743200">
                  <a:extLst>
                    <a:ext uri="{9D8B030D-6E8A-4147-A177-3AD203B41FA5}">
                      <a16:colId xmlns:a16="http://schemas.microsoft.com/office/drawing/2014/main" val="2537991759"/>
                    </a:ext>
                  </a:extLst>
                </a:gridCol>
                <a:gridCol w="2743200">
                  <a:extLst>
                    <a:ext uri="{9D8B030D-6E8A-4147-A177-3AD203B41FA5}">
                      <a16:colId xmlns:a16="http://schemas.microsoft.com/office/drawing/2014/main" val="3593297715"/>
                    </a:ext>
                  </a:extLst>
                </a:gridCol>
              </a:tblGrid>
              <a:tr h="370840">
                <a:tc>
                  <a:txBody>
                    <a:bodyPr/>
                    <a:lstStyle/>
                    <a:p>
                      <a:pPr algn="ctr"/>
                      <a:r>
                        <a:rPr lang="en-US" dirty="0"/>
                        <a:t>p</a:t>
                      </a:r>
                    </a:p>
                  </a:txBody>
                  <a:tcPr/>
                </a:tc>
                <a:tc>
                  <a:txBody>
                    <a:bodyPr/>
                    <a:lstStyle/>
                    <a:p>
                      <a:pPr algn="ctr"/>
                      <a:r>
                        <a:rPr lang="en-US" dirty="0"/>
                        <a:t>q</a:t>
                      </a:r>
                    </a:p>
                  </a:txBody>
                  <a:tcPr/>
                </a:tc>
                <a:tc>
                  <a:txBody>
                    <a:bodyPr/>
                    <a:lstStyle/>
                    <a:p>
                      <a:pPr algn="ctr"/>
                      <a:r>
                        <a:rPr lang="en-US" dirty="0"/>
                        <a:t>P -&gt; q</a:t>
                      </a:r>
                    </a:p>
                  </a:txBody>
                  <a:tcPr/>
                </a:tc>
                <a:extLst>
                  <a:ext uri="{0D108BD9-81ED-4DB2-BD59-A6C34878D82A}">
                    <a16:rowId xmlns:a16="http://schemas.microsoft.com/office/drawing/2014/main" val="477640343"/>
                  </a:ext>
                </a:extLst>
              </a:tr>
              <a:tr h="370840">
                <a:tc>
                  <a:txBody>
                    <a:bodyPr/>
                    <a:lstStyle/>
                    <a:p>
                      <a:pPr algn="ctr"/>
                      <a:r>
                        <a:rPr lang="en-US" dirty="0"/>
                        <a:t>F</a:t>
                      </a:r>
                    </a:p>
                  </a:txBody>
                  <a:tcPr/>
                </a:tc>
                <a:tc>
                  <a:txBody>
                    <a:bodyPr/>
                    <a:lstStyle/>
                    <a:p>
                      <a:pPr algn="ctr"/>
                      <a:r>
                        <a:rPr lang="en-US" dirty="0"/>
                        <a:t>F</a:t>
                      </a:r>
                    </a:p>
                  </a:txBody>
                  <a:tcPr/>
                </a:tc>
                <a:tc>
                  <a:txBody>
                    <a:bodyPr/>
                    <a:lstStyle/>
                    <a:p>
                      <a:pPr algn="ctr"/>
                      <a:r>
                        <a:rPr lang="en-US" dirty="0"/>
                        <a:t>T</a:t>
                      </a:r>
                    </a:p>
                  </a:txBody>
                  <a:tcPr/>
                </a:tc>
                <a:extLst>
                  <a:ext uri="{0D108BD9-81ED-4DB2-BD59-A6C34878D82A}">
                    <a16:rowId xmlns:a16="http://schemas.microsoft.com/office/drawing/2014/main" val="138052915"/>
                  </a:ext>
                </a:extLst>
              </a:tr>
              <a:tr h="370840">
                <a:tc>
                  <a:txBody>
                    <a:bodyPr/>
                    <a:lstStyle/>
                    <a:p>
                      <a:pPr algn="ctr"/>
                      <a:r>
                        <a:rPr lang="en-US" dirty="0"/>
                        <a:t>F</a:t>
                      </a:r>
                    </a:p>
                  </a:txBody>
                  <a:tcPr/>
                </a:tc>
                <a:tc>
                  <a:txBody>
                    <a:bodyPr/>
                    <a:lstStyle/>
                    <a:p>
                      <a:pPr algn="ctr"/>
                      <a:r>
                        <a:rPr lang="en-US" dirty="0"/>
                        <a:t>T</a:t>
                      </a:r>
                    </a:p>
                  </a:txBody>
                  <a:tcPr/>
                </a:tc>
                <a:tc>
                  <a:txBody>
                    <a:bodyPr/>
                    <a:lstStyle/>
                    <a:p>
                      <a:pPr algn="ctr"/>
                      <a:r>
                        <a:rPr lang="en-US" dirty="0"/>
                        <a:t>T</a:t>
                      </a:r>
                    </a:p>
                  </a:txBody>
                  <a:tcPr/>
                </a:tc>
                <a:extLst>
                  <a:ext uri="{0D108BD9-81ED-4DB2-BD59-A6C34878D82A}">
                    <a16:rowId xmlns:a16="http://schemas.microsoft.com/office/drawing/2014/main" val="809660189"/>
                  </a:ext>
                </a:extLst>
              </a:tr>
              <a:tr h="370840">
                <a:tc>
                  <a:txBody>
                    <a:bodyPr/>
                    <a:lstStyle/>
                    <a:p>
                      <a:pPr algn="ctr"/>
                      <a:r>
                        <a:rPr lang="en-US" dirty="0"/>
                        <a:t>T</a:t>
                      </a:r>
                    </a:p>
                  </a:txBody>
                  <a:tcPr/>
                </a:tc>
                <a:tc>
                  <a:txBody>
                    <a:bodyPr/>
                    <a:lstStyle/>
                    <a:p>
                      <a:pPr algn="ctr"/>
                      <a:r>
                        <a:rPr lang="en-US" dirty="0"/>
                        <a:t>F</a:t>
                      </a:r>
                    </a:p>
                  </a:txBody>
                  <a:tcPr/>
                </a:tc>
                <a:tc>
                  <a:txBody>
                    <a:bodyPr/>
                    <a:lstStyle/>
                    <a:p>
                      <a:pPr algn="ctr"/>
                      <a:r>
                        <a:rPr lang="en-US" dirty="0"/>
                        <a:t>F</a:t>
                      </a:r>
                    </a:p>
                  </a:txBody>
                  <a:tcPr/>
                </a:tc>
                <a:extLst>
                  <a:ext uri="{0D108BD9-81ED-4DB2-BD59-A6C34878D82A}">
                    <a16:rowId xmlns:a16="http://schemas.microsoft.com/office/drawing/2014/main" val="904629883"/>
                  </a:ext>
                </a:extLst>
              </a:tr>
              <a:tr h="370840">
                <a:tc>
                  <a:txBody>
                    <a:bodyPr/>
                    <a:lstStyle/>
                    <a:p>
                      <a:pPr algn="ctr"/>
                      <a:r>
                        <a:rPr lang="en-US" dirty="0">
                          <a:solidFill>
                            <a:srgbClr val="FF0000"/>
                          </a:solidFill>
                        </a:rPr>
                        <a:t>T</a:t>
                      </a:r>
                    </a:p>
                  </a:txBody>
                  <a:tcPr/>
                </a:tc>
                <a:tc>
                  <a:txBody>
                    <a:bodyPr/>
                    <a:lstStyle/>
                    <a:p>
                      <a:pPr algn="ctr"/>
                      <a:r>
                        <a:rPr lang="en-US" dirty="0">
                          <a:solidFill>
                            <a:srgbClr val="FF0000"/>
                          </a:solidFill>
                        </a:rPr>
                        <a:t>T</a:t>
                      </a:r>
                    </a:p>
                  </a:txBody>
                  <a:tcPr/>
                </a:tc>
                <a:tc>
                  <a:txBody>
                    <a:bodyPr/>
                    <a:lstStyle/>
                    <a:p>
                      <a:pPr algn="ctr"/>
                      <a:r>
                        <a:rPr lang="en-US" dirty="0">
                          <a:solidFill>
                            <a:srgbClr val="FF0000"/>
                          </a:solidFill>
                        </a:rPr>
                        <a:t>T</a:t>
                      </a:r>
                    </a:p>
                  </a:txBody>
                  <a:tcPr/>
                </a:tc>
                <a:extLst>
                  <a:ext uri="{0D108BD9-81ED-4DB2-BD59-A6C34878D82A}">
                    <a16:rowId xmlns:a16="http://schemas.microsoft.com/office/drawing/2014/main" val="4230806719"/>
                  </a:ext>
                </a:extLst>
              </a:tr>
            </a:tbl>
          </a:graphicData>
        </a:graphic>
      </p:graphicFrame>
      <p:sp>
        <p:nvSpPr>
          <p:cNvPr id="3" name="TextBox 2">
            <a:extLst>
              <a:ext uri="{FF2B5EF4-FFF2-40B4-BE49-F238E27FC236}">
                <a16:creationId xmlns:a16="http://schemas.microsoft.com/office/drawing/2014/main" id="{3C39347A-6CEC-410D-A515-5C960587E681}"/>
              </a:ext>
            </a:extLst>
          </p:cNvPr>
          <p:cNvSpPr txBox="1"/>
          <p:nvPr/>
        </p:nvSpPr>
        <p:spPr>
          <a:xfrm>
            <a:off x="609600" y="4038600"/>
            <a:ext cx="8077200" cy="461665"/>
          </a:xfrm>
          <a:prstGeom prst="rect">
            <a:avLst/>
          </a:prstGeom>
          <a:noFill/>
        </p:spPr>
        <p:txBody>
          <a:bodyPr wrap="square" rtlCol="0">
            <a:spAutoFit/>
          </a:bodyPr>
          <a:lstStyle/>
          <a:p>
            <a:r>
              <a:rPr lang="en-US" sz="2400" dirty="0"/>
              <a:t>If it rains, It will be cloudy</a:t>
            </a:r>
            <a:endParaRPr lang="si-LK" sz="2400" dirty="0"/>
          </a:p>
        </p:txBody>
      </p:sp>
    </p:spTree>
    <p:extLst>
      <p:ext uri="{BB962C8B-B14F-4D97-AF65-F5344CB8AC3E}">
        <p14:creationId xmlns:p14="http://schemas.microsoft.com/office/powerpoint/2010/main" val="36401153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F32BDB-DDA8-ADF5-4441-B573E590C1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0B0726-9BC5-3EC1-67F8-E3C997ECCB13}"/>
              </a:ext>
            </a:extLst>
          </p:cNvPr>
          <p:cNvSpPr>
            <a:spLocks noGrp="1"/>
          </p:cNvSpPr>
          <p:nvPr>
            <p:ph type="title"/>
          </p:nvPr>
        </p:nvSpPr>
        <p:spPr/>
        <p:txBody>
          <a:bodyPr/>
          <a:lstStyle/>
          <a:p>
            <a:r>
              <a:rPr lang="en-US" dirty="0"/>
              <a:t>Example</a:t>
            </a:r>
          </a:p>
        </p:txBody>
      </p:sp>
      <p:sp>
        <p:nvSpPr>
          <p:cNvPr id="4" name="Date Placeholder 3">
            <a:extLst>
              <a:ext uri="{FF2B5EF4-FFF2-40B4-BE49-F238E27FC236}">
                <a16:creationId xmlns:a16="http://schemas.microsoft.com/office/drawing/2014/main" id="{590BDA03-2FBE-4374-8DB3-14D9417EE9DC}"/>
              </a:ext>
            </a:extLst>
          </p:cNvPr>
          <p:cNvSpPr>
            <a:spLocks noGrp="1"/>
          </p:cNvSpPr>
          <p:nvPr>
            <p:ph type="dt" sz="half" idx="10"/>
          </p:nvPr>
        </p:nvSpPr>
        <p:spPr/>
        <p:txBody>
          <a:bodyPr/>
          <a:lstStyle/>
          <a:p>
            <a:fld id="{C3694338-A623-46A3-BEB1-FC50FCF3E4D0}" type="datetime3">
              <a:rPr lang="en-US" smtClean="0"/>
              <a:t>27 April 2026</a:t>
            </a:fld>
            <a:endParaRPr lang="en-US"/>
          </a:p>
        </p:txBody>
      </p:sp>
      <p:sp>
        <p:nvSpPr>
          <p:cNvPr id="5" name="Footer Placeholder 4">
            <a:extLst>
              <a:ext uri="{FF2B5EF4-FFF2-40B4-BE49-F238E27FC236}">
                <a16:creationId xmlns:a16="http://schemas.microsoft.com/office/drawing/2014/main" id="{47377D71-8608-3C6A-2545-7B67DCF4C97D}"/>
              </a:ext>
            </a:extLst>
          </p:cNvPr>
          <p:cNvSpPr>
            <a:spLocks noGrp="1"/>
          </p:cNvSpPr>
          <p:nvPr>
            <p:ph type="ftr" sz="quarter" idx="11"/>
          </p:nvPr>
        </p:nvSpPr>
        <p:spPr/>
        <p:txBody>
          <a:bodyPr/>
          <a:lstStyle/>
          <a:p>
            <a:r>
              <a:rPr lang="en-US"/>
              <a:t>SCS 1302   Discrete Mathematics 1       Prof. D D Karunaratna</a:t>
            </a:r>
          </a:p>
        </p:txBody>
      </p:sp>
      <p:sp>
        <p:nvSpPr>
          <p:cNvPr id="6" name="Slide Number Placeholder 5">
            <a:extLst>
              <a:ext uri="{FF2B5EF4-FFF2-40B4-BE49-F238E27FC236}">
                <a16:creationId xmlns:a16="http://schemas.microsoft.com/office/drawing/2014/main" id="{2FDCD6DC-DEF9-D097-EE2D-5B62BCB4C50A}"/>
              </a:ext>
            </a:extLst>
          </p:cNvPr>
          <p:cNvSpPr>
            <a:spLocks noGrp="1"/>
          </p:cNvSpPr>
          <p:nvPr>
            <p:ph type="sldNum" sz="quarter" idx="12"/>
          </p:nvPr>
        </p:nvSpPr>
        <p:spPr/>
        <p:txBody>
          <a:bodyPr/>
          <a:lstStyle/>
          <a:p>
            <a:fld id="{0CA841A6-7C02-4C92-B6EE-5DBCC2AD53D0}" type="slidenum">
              <a:rPr lang="en-US" smtClean="0"/>
              <a:t>23</a:t>
            </a:fld>
            <a:endParaRPr lang="en-US"/>
          </a:p>
        </p:txBody>
      </p:sp>
      <p:graphicFrame>
        <p:nvGraphicFramePr>
          <p:cNvPr id="13" name="Content Placeholder 12">
            <a:extLst>
              <a:ext uri="{FF2B5EF4-FFF2-40B4-BE49-F238E27FC236}">
                <a16:creationId xmlns:a16="http://schemas.microsoft.com/office/drawing/2014/main" id="{46C405B5-6715-F56A-09E8-CD03E156D2A2}"/>
              </a:ext>
            </a:extLst>
          </p:cNvPr>
          <p:cNvGraphicFramePr>
            <a:graphicFrameLocks noGrp="1"/>
          </p:cNvGraphicFramePr>
          <p:nvPr>
            <p:ph idx="1"/>
            <p:extLst>
              <p:ext uri="{D42A27DB-BD31-4B8C-83A1-F6EECF244321}">
                <p14:modId xmlns:p14="http://schemas.microsoft.com/office/powerpoint/2010/main" val="1237509382"/>
              </p:ext>
            </p:extLst>
          </p:nvPr>
        </p:nvGraphicFramePr>
        <p:xfrm>
          <a:off x="457200" y="1676400"/>
          <a:ext cx="8229600" cy="1854200"/>
        </p:xfrm>
        <a:graphic>
          <a:graphicData uri="http://schemas.openxmlformats.org/drawingml/2006/table">
            <a:tbl>
              <a:tblPr firstRow="1" bandRow="1">
                <a:tableStyleId>{616DA210-FB5B-4158-B5E0-FEB733F419BA}</a:tableStyleId>
              </a:tblPr>
              <a:tblGrid>
                <a:gridCol w="2743200">
                  <a:extLst>
                    <a:ext uri="{9D8B030D-6E8A-4147-A177-3AD203B41FA5}">
                      <a16:colId xmlns:a16="http://schemas.microsoft.com/office/drawing/2014/main" val="4005263367"/>
                    </a:ext>
                  </a:extLst>
                </a:gridCol>
                <a:gridCol w="2743200">
                  <a:extLst>
                    <a:ext uri="{9D8B030D-6E8A-4147-A177-3AD203B41FA5}">
                      <a16:colId xmlns:a16="http://schemas.microsoft.com/office/drawing/2014/main" val="2537991759"/>
                    </a:ext>
                  </a:extLst>
                </a:gridCol>
                <a:gridCol w="2743200">
                  <a:extLst>
                    <a:ext uri="{9D8B030D-6E8A-4147-A177-3AD203B41FA5}">
                      <a16:colId xmlns:a16="http://schemas.microsoft.com/office/drawing/2014/main" val="3593297715"/>
                    </a:ext>
                  </a:extLst>
                </a:gridCol>
              </a:tblGrid>
              <a:tr h="370840">
                <a:tc>
                  <a:txBody>
                    <a:bodyPr/>
                    <a:lstStyle/>
                    <a:p>
                      <a:pPr algn="ctr"/>
                      <a:r>
                        <a:rPr lang="en-US" dirty="0"/>
                        <a:t>p</a:t>
                      </a:r>
                    </a:p>
                  </a:txBody>
                  <a:tcPr/>
                </a:tc>
                <a:tc>
                  <a:txBody>
                    <a:bodyPr/>
                    <a:lstStyle/>
                    <a:p>
                      <a:pPr algn="ctr"/>
                      <a:r>
                        <a:rPr lang="en-US" dirty="0"/>
                        <a:t>q</a:t>
                      </a:r>
                    </a:p>
                  </a:txBody>
                  <a:tcPr/>
                </a:tc>
                <a:tc>
                  <a:txBody>
                    <a:bodyPr/>
                    <a:lstStyle/>
                    <a:p>
                      <a:pPr algn="ctr"/>
                      <a:r>
                        <a:rPr lang="en-US" dirty="0"/>
                        <a:t>P -&gt; q</a:t>
                      </a:r>
                    </a:p>
                  </a:txBody>
                  <a:tcPr/>
                </a:tc>
                <a:extLst>
                  <a:ext uri="{0D108BD9-81ED-4DB2-BD59-A6C34878D82A}">
                    <a16:rowId xmlns:a16="http://schemas.microsoft.com/office/drawing/2014/main" val="477640343"/>
                  </a:ext>
                </a:extLst>
              </a:tr>
              <a:tr h="370840">
                <a:tc>
                  <a:txBody>
                    <a:bodyPr/>
                    <a:lstStyle/>
                    <a:p>
                      <a:pPr algn="ctr"/>
                      <a:r>
                        <a:rPr lang="en-US" dirty="0">
                          <a:solidFill>
                            <a:srgbClr val="FF0000"/>
                          </a:solidFill>
                        </a:rPr>
                        <a:t>F</a:t>
                      </a:r>
                    </a:p>
                  </a:txBody>
                  <a:tcPr/>
                </a:tc>
                <a:tc>
                  <a:txBody>
                    <a:bodyPr/>
                    <a:lstStyle/>
                    <a:p>
                      <a:pPr algn="ctr"/>
                      <a:r>
                        <a:rPr lang="en-US" dirty="0">
                          <a:solidFill>
                            <a:srgbClr val="FF0000"/>
                          </a:solidFill>
                        </a:rPr>
                        <a:t>F</a:t>
                      </a:r>
                    </a:p>
                  </a:txBody>
                  <a:tcPr/>
                </a:tc>
                <a:tc>
                  <a:txBody>
                    <a:bodyPr/>
                    <a:lstStyle/>
                    <a:p>
                      <a:pPr algn="ctr"/>
                      <a:r>
                        <a:rPr lang="en-US" dirty="0">
                          <a:solidFill>
                            <a:srgbClr val="FF0000"/>
                          </a:solidFill>
                        </a:rPr>
                        <a:t>T</a:t>
                      </a:r>
                    </a:p>
                  </a:txBody>
                  <a:tcPr/>
                </a:tc>
                <a:extLst>
                  <a:ext uri="{0D108BD9-81ED-4DB2-BD59-A6C34878D82A}">
                    <a16:rowId xmlns:a16="http://schemas.microsoft.com/office/drawing/2014/main" val="138052915"/>
                  </a:ext>
                </a:extLst>
              </a:tr>
              <a:tr h="370840">
                <a:tc>
                  <a:txBody>
                    <a:bodyPr/>
                    <a:lstStyle/>
                    <a:p>
                      <a:pPr algn="ctr"/>
                      <a:r>
                        <a:rPr lang="en-US" dirty="0">
                          <a:solidFill>
                            <a:srgbClr val="FF0000"/>
                          </a:solidFill>
                        </a:rPr>
                        <a:t>F</a:t>
                      </a:r>
                    </a:p>
                  </a:txBody>
                  <a:tcPr/>
                </a:tc>
                <a:tc>
                  <a:txBody>
                    <a:bodyPr/>
                    <a:lstStyle/>
                    <a:p>
                      <a:pPr algn="ctr"/>
                      <a:r>
                        <a:rPr lang="en-US" dirty="0">
                          <a:solidFill>
                            <a:srgbClr val="FF0000"/>
                          </a:solidFill>
                        </a:rPr>
                        <a:t>T</a:t>
                      </a:r>
                    </a:p>
                  </a:txBody>
                  <a:tcPr/>
                </a:tc>
                <a:tc>
                  <a:txBody>
                    <a:bodyPr/>
                    <a:lstStyle/>
                    <a:p>
                      <a:pPr algn="ctr"/>
                      <a:r>
                        <a:rPr lang="en-US" dirty="0">
                          <a:solidFill>
                            <a:srgbClr val="FF0000"/>
                          </a:solidFill>
                        </a:rPr>
                        <a:t>T</a:t>
                      </a:r>
                    </a:p>
                  </a:txBody>
                  <a:tcPr/>
                </a:tc>
                <a:extLst>
                  <a:ext uri="{0D108BD9-81ED-4DB2-BD59-A6C34878D82A}">
                    <a16:rowId xmlns:a16="http://schemas.microsoft.com/office/drawing/2014/main" val="809660189"/>
                  </a:ext>
                </a:extLst>
              </a:tr>
              <a:tr h="370840">
                <a:tc>
                  <a:txBody>
                    <a:bodyPr/>
                    <a:lstStyle/>
                    <a:p>
                      <a:pPr algn="ctr"/>
                      <a:r>
                        <a:rPr lang="en-US" dirty="0"/>
                        <a:t>T</a:t>
                      </a:r>
                    </a:p>
                  </a:txBody>
                  <a:tcPr/>
                </a:tc>
                <a:tc>
                  <a:txBody>
                    <a:bodyPr/>
                    <a:lstStyle/>
                    <a:p>
                      <a:pPr algn="ctr"/>
                      <a:r>
                        <a:rPr lang="en-US" dirty="0"/>
                        <a:t>F</a:t>
                      </a:r>
                    </a:p>
                  </a:txBody>
                  <a:tcPr/>
                </a:tc>
                <a:tc>
                  <a:txBody>
                    <a:bodyPr/>
                    <a:lstStyle/>
                    <a:p>
                      <a:pPr algn="ctr"/>
                      <a:r>
                        <a:rPr lang="en-US" dirty="0"/>
                        <a:t>F</a:t>
                      </a:r>
                    </a:p>
                  </a:txBody>
                  <a:tcPr/>
                </a:tc>
                <a:extLst>
                  <a:ext uri="{0D108BD9-81ED-4DB2-BD59-A6C34878D82A}">
                    <a16:rowId xmlns:a16="http://schemas.microsoft.com/office/drawing/2014/main" val="904629883"/>
                  </a:ext>
                </a:extLst>
              </a:tr>
              <a:tr h="370840">
                <a:tc>
                  <a:txBody>
                    <a:bodyPr/>
                    <a:lstStyle/>
                    <a:p>
                      <a:pPr algn="ctr"/>
                      <a:r>
                        <a:rPr lang="en-US" dirty="0">
                          <a:solidFill>
                            <a:schemeClr val="tx1">
                              <a:lumMod val="95000"/>
                              <a:lumOff val="5000"/>
                            </a:schemeClr>
                          </a:solidFill>
                        </a:rPr>
                        <a:t>T</a:t>
                      </a:r>
                    </a:p>
                  </a:txBody>
                  <a:tcPr/>
                </a:tc>
                <a:tc>
                  <a:txBody>
                    <a:bodyPr/>
                    <a:lstStyle/>
                    <a:p>
                      <a:pPr algn="ctr"/>
                      <a:r>
                        <a:rPr lang="en-US" dirty="0">
                          <a:solidFill>
                            <a:schemeClr val="tx1">
                              <a:lumMod val="95000"/>
                              <a:lumOff val="5000"/>
                            </a:schemeClr>
                          </a:solidFill>
                        </a:rPr>
                        <a:t>T</a:t>
                      </a:r>
                    </a:p>
                  </a:txBody>
                  <a:tcPr/>
                </a:tc>
                <a:tc>
                  <a:txBody>
                    <a:bodyPr/>
                    <a:lstStyle/>
                    <a:p>
                      <a:pPr algn="ctr"/>
                      <a:r>
                        <a:rPr lang="en-US" dirty="0">
                          <a:solidFill>
                            <a:schemeClr val="tx1">
                              <a:lumMod val="95000"/>
                              <a:lumOff val="5000"/>
                            </a:schemeClr>
                          </a:solidFill>
                        </a:rPr>
                        <a:t>T</a:t>
                      </a:r>
                    </a:p>
                  </a:txBody>
                  <a:tcPr/>
                </a:tc>
                <a:extLst>
                  <a:ext uri="{0D108BD9-81ED-4DB2-BD59-A6C34878D82A}">
                    <a16:rowId xmlns:a16="http://schemas.microsoft.com/office/drawing/2014/main" val="4230806719"/>
                  </a:ext>
                </a:extLst>
              </a:tr>
            </a:tbl>
          </a:graphicData>
        </a:graphic>
      </p:graphicFrame>
      <p:sp>
        <p:nvSpPr>
          <p:cNvPr id="7" name="TextBox 6">
            <a:extLst>
              <a:ext uri="{FF2B5EF4-FFF2-40B4-BE49-F238E27FC236}">
                <a16:creationId xmlns:a16="http://schemas.microsoft.com/office/drawing/2014/main" id="{F6F59276-AE34-469F-8972-FE1163AAF094}"/>
              </a:ext>
            </a:extLst>
          </p:cNvPr>
          <p:cNvSpPr txBox="1"/>
          <p:nvPr/>
        </p:nvSpPr>
        <p:spPr>
          <a:xfrm>
            <a:off x="609600" y="4038600"/>
            <a:ext cx="8077200" cy="461665"/>
          </a:xfrm>
          <a:prstGeom prst="rect">
            <a:avLst/>
          </a:prstGeom>
          <a:noFill/>
        </p:spPr>
        <p:txBody>
          <a:bodyPr wrap="square" rtlCol="0">
            <a:spAutoFit/>
          </a:bodyPr>
          <a:lstStyle/>
          <a:p>
            <a:r>
              <a:rPr lang="en-US" sz="2400" dirty="0"/>
              <a:t>If it rains, It will be cloudy</a:t>
            </a:r>
            <a:endParaRPr lang="si-LK" sz="2400" dirty="0"/>
          </a:p>
        </p:txBody>
      </p:sp>
    </p:spTree>
    <p:extLst>
      <p:ext uri="{BB962C8B-B14F-4D97-AF65-F5344CB8AC3E}">
        <p14:creationId xmlns:p14="http://schemas.microsoft.com/office/powerpoint/2010/main" val="30488476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73D946-6987-7386-7B19-4BBE19F847A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7815D4-E5EB-59C4-073F-19347727BF37}"/>
              </a:ext>
            </a:extLst>
          </p:cNvPr>
          <p:cNvSpPr>
            <a:spLocks noGrp="1"/>
          </p:cNvSpPr>
          <p:nvPr>
            <p:ph type="title"/>
          </p:nvPr>
        </p:nvSpPr>
        <p:spPr/>
        <p:txBody>
          <a:bodyPr/>
          <a:lstStyle/>
          <a:p>
            <a:r>
              <a:rPr lang="en-US" dirty="0"/>
              <a:t>Example</a:t>
            </a:r>
          </a:p>
        </p:txBody>
      </p:sp>
      <p:sp>
        <p:nvSpPr>
          <p:cNvPr id="4" name="Date Placeholder 3">
            <a:extLst>
              <a:ext uri="{FF2B5EF4-FFF2-40B4-BE49-F238E27FC236}">
                <a16:creationId xmlns:a16="http://schemas.microsoft.com/office/drawing/2014/main" id="{5583011B-AFE0-7C43-5539-276C567D2018}"/>
              </a:ext>
            </a:extLst>
          </p:cNvPr>
          <p:cNvSpPr>
            <a:spLocks noGrp="1"/>
          </p:cNvSpPr>
          <p:nvPr>
            <p:ph type="dt" sz="half" idx="10"/>
          </p:nvPr>
        </p:nvSpPr>
        <p:spPr/>
        <p:txBody>
          <a:bodyPr/>
          <a:lstStyle/>
          <a:p>
            <a:fld id="{2503911D-0BC4-4A58-A6EB-5900CC62498F}" type="datetime3">
              <a:rPr lang="en-US" smtClean="0"/>
              <a:t>27 April 2026</a:t>
            </a:fld>
            <a:endParaRPr lang="en-US"/>
          </a:p>
        </p:txBody>
      </p:sp>
      <p:sp>
        <p:nvSpPr>
          <p:cNvPr id="5" name="Footer Placeholder 4">
            <a:extLst>
              <a:ext uri="{FF2B5EF4-FFF2-40B4-BE49-F238E27FC236}">
                <a16:creationId xmlns:a16="http://schemas.microsoft.com/office/drawing/2014/main" id="{FCA983B6-CF33-7ED7-80AA-E740059C5ECA}"/>
              </a:ext>
            </a:extLst>
          </p:cNvPr>
          <p:cNvSpPr>
            <a:spLocks noGrp="1"/>
          </p:cNvSpPr>
          <p:nvPr>
            <p:ph type="ftr" sz="quarter" idx="11"/>
          </p:nvPr>
        </p:nvSpPr>
        <p:spPr/>
        <p:txBody>
          <a:bodyPr/>
          <a:lstStyle/>
          <a:p>
            <a:r>
              <a:rPr lang="en-US"/>
              <a:t>SCS 1302   Discrete Mathematics 1       Prof. D D Karunaratna</a:t>
            </a:r>
          </a:p>
        </p:txBody>
      </p:sp>
      <p:sp>
        <p:nvSpPr>
          <p:cNvPr id="6" name="Slide Number Placeholder 5">
            <a:extLst>
              <a:ext uri="{FF2B5EF4-FFF2-40B4-BE49-F238E27FC236}">
                <a16:creationId xmlns:a16="http://schemas.microsoft.com/office/drawing/2014/main" id="{9771726A-3CDB-E6AE-4882-9DCE9E1B8725}"/>
              </a:ext>
            </a:extLst>
          </p:cNvPr>
          <p:cNvSpPr>
            <a:spLocks noGrp="1"/>
          </p:cNvSpPr>
          <p:nvPr>
            <p:ph type="sldNum" sz="quarter" idx="12"/>
          </p:nvPr>
        </p:nvSpPr>
        <p:spPr/>
        <p:txBody>
          <a:bodyPr/>
          <a:lstStyle/>
          <a:p>
            <a:fld id="{0CA841A6-7C02-4C92-B6EE-5DBCC2AD53D0}" type="slidenum">
              <a:rPr lang="en-US" smtClean="0"/>
              <a:t>24</a:t>
            </a:fld>
            <a:endParaRPr lang="en-US"/>
          </a:p>
        </p:txBody>
      </p:sp>
      <p:graphicFrame>
        <p:nvGraphicFramePr>
          <p:cNvPr id="13" name="Content Placeholder 12">
            <a:extLst>
              <a:ext uri="{FF2B5EF4-FFF2-40B4-BE49-F238E27FC236}">
                <a16:creationId xmlns:a16="http://schemas.microsoft.com/office/drawing/2014/main" id="{E1334813-E4DE-3328-8421-E0176CBCDA71}"/>
              </a:ext>
            </a:extLst>
          </p:cNvPr>
          <p:cNvGraphicFramePr>
            <a:graphicFrameLocks noGrp="1"/>
          </p:cNvGraphicFramePr>
          <p:nvPr>
            <p:ph idx="1"/>
            <p:extLst>
              <p:ext uri="{D42A27DB-BD31-4B8C-83A1-F6EECF244321}">
                <p14:modId xmlns:p14="http://schemas.microsoft.com/office/powerpoint/2010/main" val="664754781"/>
              </p:ext>
            </p:extLst>
          </p:nvPr>
        </p:nvGraphicFramePr>
        <p:xfrm>
          <a:off x="457200" y="1676400"/>
          <a:ext cx="8229600" cy="1854200"/>
        </p:xfrm>
        <a:graphic>
          <a:graphicData uri="http://schemas.openxmlformats.org/drawingml/2006/table">
            <a:tbl>
              <a:tblPr firstRow="1" bandRow="1">
                <a:tableStyleId>{616DA210-FB5B-4158-B5E0-FEB733F419BA}</a:tableStyleId>
              </a:tblPr>
              <a:tblGrid>
                <a:gridCol w="2743200">
                  <a:extLst>
                    <a:ext uri="{9D8B030D-6E8A-4147-A177-3AD203B41FA5}">
                      <a16:colId xmlns:a16="http://schemas.microsoft.com/office/drawing/2014/main" val="4005263367"/>
                    </a:ext>
                  </a:extLst>
                </a:gridCol>
                <a:gridCol w="2743200">
                  <a:extLst>
                    <a:ext uri="{9D8B030D-6E8A-4147-A177-3AD203B41FA5}">
                      <a16:colId xmlns:a16="http://schemas.microsoft.com/office/drawing/2014/main" val="2537991759"/>
                    </a:ext>
                  </a:extLst>
                </a:gridCol>
                <a:gridCol w="2743200">
                  <a:extLst>
                    <a:ext uri="{9D8B030D-6E8A-4147-A177-3AD203B41FA5}">
                      <a16:colId xmlns:a16="http://schemas.microsoft.com/office/drawing/2014/main" val="3593297715"/>
                    </a:ext>
                  </a:extLst>
                </a:gridCol>
              </a:tblGrid>
              <a:tr h="370840">
                <a:tc>
                  <a:txBody>
                    <a:bodyPr/>
                    <a:lstStyle/>
                    <a:p>
                      <a:pPr algn="ctr"/>
                      <a:r>
                        <a:rPr lang="en-US" dirty="0"/>
                        <a:t>p</a:t>
                      </a:r>
                    </a:p>
                  </a:txBody>
                  <a:tcPr/>
                </a:tc>
                <a:tc>
                  <a:txBody>
                    <a:bodyPr/>
                    <a:lstStyle/>
                    <a:p>
                      <a:pPr algn="ctr"/>
                      <a:r>
                        <a:rPr lang="en-US" dirty="0"/>
                        <a:t>q</a:t>
                      </a:r>
                    </a:p>
                  </a:txBody>
                  <a:tcPr/>
                </a:tc>
                <a:tc>
                  <a:txBody>
                    <a:bodyPr/>
                    <a:lstStyle/>
                    <a:p>
                      <a:pPr algn="ctr"/>
                      <a:r>
                        <a:rPr lang="en-US" dirty="0"/>
                        <a:t>P -&gt; q</a:t>
                      </a:r>
                    </a:p>
                  </a:txBody>
                  <a:tcPr/>
                </a:tc>
                <a:extLst>
                  <a:ext uri="{0D108BD9-81ED-4DB2-BD59-A6C34878D82A}">
                    <a16:rowId xmlns:a16="http://schemas.microsoft.com/office/drawing/2014/main" val="477640343"/>
                  </a:ext>
                </a:extLst>
              </a:tr>
              <a:tr h="370840">
                <a:tc>
                  <a:txBody>
                    <a:bodyPr/>
                    <a:lstStyle/>
                    <a:p>
                      <a:pPr algn="ctr"/>
                      <a:r>
                        <a:rPr lang="en-US" dirty="0">
                          <a:solidFill>
                            <a:schemeClr val="tx1"/>
                          </a:solidFill>
                        </a:rPr>
                        <a:t>F</a:t>
                      </a:r>
                    </a:p>
                  </a:txBody>
                  <a:tcPr/>
                </a:tc>
                <a:tc>
                  <a:txBody>
                    <a:bodyPr/>
                    <a:lstStyle/>
                    <a:p>
                      <a:pPr algn="ctr"/>
                      <a:r>
                        <a:rPr lang="en-US" dirty="0">
                          <a:solidFill>
                            <a:schemeClr val="tx1"/>
                          </a:solidFill>
                        </a:rPr>
                        <a:t>F</a:t>
                      </a:r>
                    </a:p>
                  </a:txBody>
                  <a:tcPr/>
                </a:tc>
                <a:tc>
                  <a:txBody>
                    <a:bodyPr/>
                    <a:lstStyle/>
                    <a:p>
                      <a:pPr algn="ctr"/>
                      <a:r>
                        <a:rPr lang="en-US" dirty="0">
                          <a:solidFill>
                            <a:schemeClr val="tx1"/>
                          </a:solidFill>
                        </a:rPr>
                        <a:t>T</a:t>
                      </a:r>
                    </a:p>
                  </a:txBody>
                  <a:tcPr/>
                </a:tc>
                <a:extLst>
                  <a:ext uri="{0D108BD9-81ED-4DB2-BD59-A6C34878D82A}">
                    <a16:rowId xmlns:a16="http://schemas.microsoft.com/office/drawing/2014/main" val="138052915"/>
                  </a:ext>
                </a:extLst>
              </a:tr>
              <a:tr h="370840">
                <a:tc>
                  <a:txBody>
                    <a:bodyPr/>
                    <a:lstStyle/>
                    <a:p>
                      <a:pPr algn="ctr"/>
                      <a:r>
                        <a:rPr lang="en-US" dirty="0">
                          <a:solidFill>
                            <a:srgbClr val="FF0000"/>
                          </a:solidFill>
                        </a:rPr>
                        <a:t>F</a:t>
                      </a:r>
                    </a:p>
                  </a:txBody>
                  <a:tcPr/>
                </a:tc>
                <a:tc>
                  <a:txBody>
                    <a:bodyPr/>
                    <a:lstStyle/>
                    <a:p>
                      <a:pPr algn="ctr"/>
                      <a:r>
                        <a:rPr lang="en-US" dirty="0">
                          <a:solidFill>
                            <a:srgbClr val="FF0000"/>
                          </a:solidFill>
                        </a:rPr>
                        <a:t>T</a:t>
                      </a:r>
                    </a:p>
                  </a:txBody>
                  <a:tcPr/>
                </a:tc>
                <a:tc>
                  <a:txBody>
                    <a:bodyPr/>
                    <a:lstStyle/>
                    <a:p>
                      <a:pPr algn="ctr"/>
                      <a:r>
                        <a:rPr lang="en-US" dirty="0">
                          <a:solidFill>
                            <a:srgbClr val="FF0000"/>
                          </a:solidFill>
                        </a:rPr>
                        <a:t>T</a:t>
                      </a:r>
                    </a:p>
                  </a:txBody>
                  <a:tcPr/>
                </a:tc>
                <a:extLst>
                  <a:ext uri="{0D108BD9-81ED-4DB2-BD59-A6C34878D82A}">
                    <a16:rowId xmlns:a16="http://schemas.microsoft.com/office/drawing/2014/main" val="809660189"/>
                  </a:ext>
                </a:extLst>
              </a:tr>
              <a:tr h="370840">
                <a:tc>
                  <a:txBody>
                    <a:bodyPr/>
                    <a:lstStyle/>
                    <a:p>
                      <a:pPr algn="ctr"/>
                      <a:r>
                        <a:rPr lang="en-US" dirty="0">
                          <a:solidFill>
                            <a:schemeClr val="tx1"/>
                          </a:solidFill>
                        </a:rPr>
                        <a:t>T</a:t>
                      </a:r>
                    </a:p>
                  </a:txBody>
                  <a:tcPr/>
                </a:tc>
                <a:tc>
                  <a:txBody>
                    <a:bodyPr/>
                    <a:lstStyle/>
                    <a:p>
                      <a:pPr algn="ctr"/>
                      <a:r>
                        <a:rPr lang="en-US" dirty="0">
                          <a:solidFill>
                            <a:schemeClr val="tx1"/>
                          </a:solidFill>
                        </a:rPr>
                        <a:t>F</a:t>
                      </a:r>
                    </a:p>
                  </a:txBody>
                  <a:tcPr/>
                </a:tc>
                <a:tc>
                  <a:txBody>
                    <a:bodyPr/>
                    <a:lstStyle/>
                    <a:p>
                      <a:pPr algn="ctr"/>
                      <a:r>
                        <a:rPr lang="en-US" dirty="0">
                          <a:solidFill>
                            <a:schemeClr val="tx1"/>
                          </a:solidFill>
                        </a:rPr>
                        <a:t>F</a:t>
                      </a:r>
                    </a:p>
                  </a:txBody>
                  <a:tcPr/>
                </a:tc>
                <a:extLst>
                  <a:ext uri="{0D108BD9-81ED-4DB2-BD59-A6C34878D82A}">
                    <a16:rowId xmlns:a16="http://schemas.microsoft.com/office/drawing/2014/main" val="904629883"/>
                  </a:ext>
                </a:extLst>
              </a:tr>
              <a:tr h="370840">
                <a:tc>
                  <a:txBody>
                    <a:bodyPr/>
                    <a:lstStyle/>
                    <a:p>
                      <a:pPr algn="ctr"/>
                      <a:r>
                        <a:rPr lang="en-US" dirty="0">
                          <a:solidFill>
                            <a:srgbClr val="FF0000"/>
                          </a:solidFill>
                        </a:rPr>
                        <a:t>T</a:t>
                      </a:r>
                    </a:p>
                  </a:txBody>
                  <a:tcPr/>
                </a:tc>
                <a:tc>
                  <a:txBody>
                    <a:bodyPr/>
                    <a:lstStyle/>
                    <a:p>
                      <a:pPr algn="ctr"/>
                      <a:r>
                        <a:rPr lang="en-US" dirty="0">
                          <a:solidFill>
                            <a:srgbClr val="FF0000"/>
                          </a:solidFill>
                        </a:rPr>
                        <a:t>T</a:t>
                      </a:r>
                    </a:p>
                  </a:txBody>
                  <a:tcPr/>
                </a:tc>
                <a:tc>
                  <a:txBody>
                    <a:bodyPr/>
                    <a:lstStyle/>
                    <a:p>
                      <a:pPr algn="ctr"/>
                      <a:r>
                        <a:rPr lang="en-US" dirty="0">
                          <a:solidFill>
                            <a:srgbClr val="FF0000"/>
                          </a:solidFill>
                        </a:rPr>
                        <a:t>T</a:t>
                      </a:r>
                    </a:p>
                  </a:txBody>
                  <a:tcPr/>
                </a:tc>
                <a:extLst>
                  <a:ext uri="{0D108BD9-81ED-4DB2-BD59-A6C34878D82A}">
                    <a16:rowId xmlns:a16="http://schemas.microsoft.com/office/drawing/2014/main" val="4230806719"/>
                  </a:ext>
                </a:extLst>
              </a:tr>
            </a:tbl>
          </a:graphicData>
        </a:graphic>
      </p:graphicFrame>
      <p:sp>
        <p:nvSpPr>
          <p:cNvPr id="7" name="TextBox 6">
            <a:extLst>
              <a:ext uri="{FF2B5EF4-FFF2-40B4-BE49-F238E27FC236}">
                <a16:creationId xmlns:a16="http://schemas.microsoft.com/office/drawing/2014/main" id="{22BDB145-DE19-4CB3-AB62-7924A94349FC}"/>
              </a:ext>
            </a:extLst>
          </p:cNvPr>
          <p:cNvSpPr txBox="1"/>
          <p:nvPr/>
        </p:nvSpPr>
        <p:spPr>
          <a:xfrm>
            <a:off x="609600" y="4038600"/>
            <a:ext cx="8077200" cy="461665"/>
          </a:xfrm>
          <a:prstGeom prst="rect">
            <a:avLst/>
          </a:prstGeom>
          <a:noFill/>
        </p:spPr>
        <p:txBody>
          <a:bodyPr wrap="square" rtlCol="0">
            <a:spAutoFit/>
          </a:bodyPr>
          <a:lstStyle/>
          <a:p>
            <a:r>
              <a:rPr lang="en-US" sz="2400" dirty="0"/>
              <a:t>If it rains, It will be cloudy</a:t>
            </a:r>
            <a:endParaRPr lang="si-LK" sz="2400" dirty="0"/>
          </a:p>
        </p:txBody>
      </p:sp>
    </p:spTree>
    <p:extLst>
      <p:ext uri="{BB962C8B-B14F-4D97-AF65-F5344CB8AC3E}">
        <p14:creationId xmlns:p14="http://schemas.microsoft.com/office/powerpoint/2010/main" val="246156760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Examples of a conditional statement</a:t>
            </a:r>
            <a:endParaRPr lang="en-GB" dirty="0"/>
          </a:p>
        </p:txBody>
      </p:sp>
      <p:sp>
        <p:nvSpPr>
          <p:cNvPr id="4" name="Date Placeholder 3"/>
          <p:cNvSpPr>
            <a:spLocks noGrp="1"/>
          </p:cNvSpPr>
          <p:nvPr>
            <p:ph type="dt" sz="half" idx="10"/>
          </p:nvPr>
        </p:nvSpPr>
        <p:spPr/>
        <p:txBody>
          <a:bodyPr/>
          <a:lstStyle/>
          <a:p>
            <a:fld id="{590F98D0-7D83-42AF-960E-13BB6A94C700}" type="datetime3">
              <a:rPr lang="en-US" smtClean="0"/>
              <a:t>27 April 2026</a:t>
            </a:fld>
            <a:endParaRPr lang="en-US"/>
          </a:p>
        </p:txBody>
      </p:sp>
      <p:sp>
        <p:nvSpPr>
          <p:cNvPr id="5" name="Footer Placeholder 4"/>
          <p:cNvSpPr>
            <a:spLocks noGrp="1"/>
          </p:cNvSpPr>
          <p:nvPr>
            <p:ph type="ftr" sz="quarter" idx="11"/>
          </p:nvPr>
        </p:nvSpPr>
        <p:spPr/>
        <p:txBody>
          <a:bodyPr/>
          <a:lstStyle/>
          <a:p>
            <a:r>
              <a:rPr lang="en-US"/>
              <a:t>SCS 1302   Discrete Mathematics 1       Prof. D D Karunaratna</a:t>
            </a:r>
          </a:p>
        </p:txBody>
      </p:sp>
      <p:sp>
        <p:nvSpPr>
          <p:cNvPr id="6" name="Slide Number Placeholder 5"/>
          <p:cNvSpPr>
            <a:spLocks noGrp="1"/>
          </p:cNvSpPr>
          <p:nvPr>
            <p:ph type="sldNum" sz="quarter" idx="12"/>
          </p:nvPr>
        </p:nvSpPr>
        <p:spPr/>
        <p:txBody>
          <a:bodyPr/>
          <a:lstStyle/>
          <a:p>
            <a:fld id="{0CA841A6-7C02-4C92-B6EE-5DBCC2AD53D0}" type="slidenum">
              <a:rPr lang="en-US" smtClean="0"/>
              <a:t>25</a:t>
            </a:fld>
            <a:endParaRPr lang="en-US"/>
          </a:p>
        </p:txBody>
      </p:sp>
      <p:sp>
        <p:nvSpPr>
          <p:cNvPr id="7" name="Rectangle 6"/>
          <p:cNvSpPr/>
          <p:nvPr/>
        </p:nvSpPr>
        <p:spPr>
          <a:xfrm>
            <a:off x="381000" y="1695271"/>
            <a:ext cx="8458200" cy="1015663"/>
          </a:xfrm>
          <a:prstGeom prst="rect">
            <a:avLst/>
          </a:prstGeom>
        </p:spPr>
        <p:txBody>
          <a:bodyPr wrap="square">
            <a:spAutoFit/>
          </a:bodyPr>
          <a:lstStyle/>
          <a:p>
            <a:r>
              <a:rPr lang="en-US" sz="2000" dirty="0"/>
              <a:t>Let </a:t>
            </a:r>
            <a:r>
              <a:rPr lang="en-US" sz="2000" b="1" i="1" dirty="0"/>
              <a:t>p</a:t>
            </a:r>
            <a:r>
              <a:rPr lang="en-US" sz="2000" i="1" dirty="0"/>
              <a:t> be “Kamal learns discrete mathematics” and</a:t>
            </a:r>
          </a:p>
          <a:p>
            <a:r>
              <a:rPr lang="en-US" sz="2000" i="1" dirty="0"/>
              <a:t>      </a:t>
            </a:r>
            <a:r>
              <a:rPr lang="en-US" sz="2000" b="1" i="1" dirty="0"/>
              <a:t>q</a:t>
            </a:r>
            <a:r>
              <a:rPr lang="en-US" sz="2000" i="1" dirty="0"/>
              <a:t> be “Kamal will </a:t>
            </a:r>
            <a:r>
              <a:rPr lang="en-US" sz="2000" dirty="0"/>
              <a:t>find a good job.” </a:t>
            </a:r>
          </a:p>
          <a:p>
            <a:r>
              <a:rPr lang="en-US" sz="2000" dirty="0"/>
              <a:t>Express the statement </a:t>
            </a:r>
            <a:r>
              <a:rPr lang="en-US" sz="2000" b="1" i="1" dirty="0"/>
              <a:t>p → q </a:t>
            </a:r>
            <a:r>
              <a:rPr lang="en-US" sz="2000" i="1" dirty="0"/>
              <a:t>as a statement in English.</a:t>
            </a:r>
            <a:endParaRPr lang="en-US" sz="2000" dirty="0"/>
          </a:p>
        </p:txBody>
      </p:sp>
      <p:sp>
        <p:nvSpPr>
          <p:cNvPr id="8" name="Rectangle 7"/>
          <p:cNvSpPr/>
          <p:nvPr/>
        </p:nvSpPr>
        <p:spPr>
          <a:xfrm>
            <a:off x="381000" y="2873514"/>
            <a:ext cx="8305800" cy="707886"/>
          </a:xfrm>
          <a:prstGeom prst="rect">
            <a:avLst/>
          </a:prstGeom>
        </p:spPr>
        <p:txBody>
          <a:bodyPr wrap="square">
            <a:spAutoFit/>
          </a:bodyPr>
          <a:lstStyle/>
          <a:p>
            <a:r>
              <a:rPr lang="en-US" sz="2000" b="1" dirty="0"/>
              <a:t>Solution:</a:t>
            </a:r>
            <a:r>
              <a:rPr lang="en-US" sz="2000" dirty="0"/>
              <a:t> </a:t>
            </a:r>
            <a:r>
              <a:rPr lang="en-US" sz="2000" i="1" dirty="0"/>
              <a:t>p → q  represents  the proposition  </a:t>
            </a:r>
            <a:r>
              <a:rPr lang="en-US" sz="2000" dirty="0"/>
              <a:t>“ If Kamal learns discrete mathematics, then he will find a good job.”</a:t>
            </a:r>
          </a:p>
        </p:txBody>
      </p:sp>
      <p:sp>
        <p:nvSpPr>
          <p:cNvPr id="9" name="TextBox 8"/>
          <p:cNvSpPr txBox="1"/>
          <p:nvPr/>
        </p:nvSpPr>
        <p:spPr>
          <a:xfrm>
            <a:off x="457200" y="4038600"/>
            <a:ext cx="8305800" cy="2246769"/>
          </a:xfrm>
          <a:prstGeom prst="rect">
            <a:avLst/>
          </a:prstGeom>
          <a:noFill/>
        </p:spPr>
        <p:txBody>
          <a:bodyPr wrap="square" rtlCol="0">
            <a:spAutoFit/>
          </a:bodyPr>
          <a:lstStyle/>
          <a:p>
            <a:r>
              <a:rPr lang="en-US" sz="2000" i="1" dirty="0"/>
              <a:t>p → q  </a:t>
            </a:r>
            <a:r>
              <a:rPr lang="en-US" sz="2000" dirty="0"/>
              <a:t>can also be expressed  as:</a:t>
            </a:r>
          </a:p>
          <a:p>
            <a:endParaRPr lang="en-US" sz="2000" dirty="0"/>
          </a:p>
          <a:p>
            <a:pPr>
              <a:buFont typeface="Arial" pitchFamily="34" charset="0"/>
              <a:buChar char="•"/>
            </a:pPr>
            <a:r>
              <a:rPr lang="en-US" sz="2000" dirty="0"/>
              <a:t> “Kamal will find a good job when he learns discrete mathematics.”</a:t>
            </a:r>
          </a:p>
          <a:p>
            <a:pPr>
              <a:buFont typeface="Arial" pitchFamily="34" charset="0"/>
              <a:buChar char="•"/>
            </a:pPr>
            <a:r>
              <a:rPr lang="en-US" sz="2000" dirty="0"/>
              <a:t> “For Kamal to get a good job, it is sufficient for him to learn discrete mathematics.”</a:t>
            </a:r>
          </a:p>
          <a:p>
            <a:pPr>
              <a:buFont typeface="Arial" pitchFamily="34" charset="0"/>
              <a:buChar char="•"/>
            </a:pPr>
            <a:r>
              <a:rPr lang="en-US" sz="2000" dirty="0"/>
              <a:t>“Kamal will find a  good job whenever he  learns discrete mathematics.”</a:t>
            </a:r>
          </a:p>
          <a:p>
            <a:endParaRPr lang="en-US" sz="2000" dirty="0"/>
          </a:p>
        </p:txBody>
      </p:sp>
    </p:spTree>
    <p:extLst>
      <p:ext uri="{BB962C8B-B14F-4D97-AF65-F5344CB8AC3E}">
        <p14:creationId xmlns:p14="http://schemas.microsoft.com/office/powerpoint/2010/main" val="41898725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xEl>
                                              <p:pRg st="0" end="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9">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596D0C-415E-2877-6A36-E67933E65C46}"/>
              </a:ext>
            </a:extLst>
          </p:cNvPr>
          <p:cNvSpPr>
            <a:spLocks noGrp="1"/>
          </p:cNvSpPr>
          <p:nvPr>
            <p:ph type="title"/>
          </p:nvPr>
        </p:nvSpPr>
        <p:spPr/>
        <p:txBody>
          <a:bodyPr/>
          <a:lstStyle/>
          <a:p>
            <a:r>
              <a:rPr lang="en-US" dirty="0"/>
              <a:t>Propositions Vs. Formula</a:t>
            </a:r>
            <a:endParaRPr lang="si-LK" dirty="0"/>
          </a:p>
        </p:txBody>
      </p:sp>
      <p:sp>
        <p:nvSpPr>
          <p:cNvPr id="3" name="Content Placeholder 2">
            <a:extLst>
              <a:ext uri="{FF2B5EF4-FFF2-40B4-BE49-F238E27FC236}">
                <a16:creationId xmlns:a16="http://schemas.microsoft.com/office/drawing/2014/main" id="{129431EB-E0A5-DAD8-3E6C-9D52A8A255F2}"/>
              </a:ext>
            </a:extLst>
          </p:cNvPr>
          <p:cNvSpPr>
            <a:spLocks noGrp="1"/>
          </p:cNvSpPr>
          <p:nvPr>
            <p:ph idx="1"/>
          </p:nvPr>
        </p:nvSpPr>
        <p:spPr/>
        <p:txBody>
          <a:bodyPr/>
          <a:lstStyle/>
          <a:p>
            <a:r>
              <a:rPr lang="en-US" dirty="0"/>
              <a:t>A formula is a preposition where all its propositions are replaced with propositional variables.</a:t>
            </a:r>
          </a:p>
          <a:p>
            <a:pPr marL="0" indent="0">
              <a:buNone/>
            </a:pPr>
            <a:r>
              <a:rPr lang="en-US" dirty="0"/>
              <a:t>	Example :</a:t>
            </a:r>
          </a:p>
          <a:p>
            <a:pPr marL="0" indent="0">
              <a:buNone/>
            </a:pPr>
            <a:r>
              <a:rPr lang="en-US" dirty="0"/>
              <a:t>	</a:t>
            </a:r>
            <a:r>
              <a:rPr lang="en-US" sz="3200" b="0" i="0" u="none" strike="noStrike" baseline="0" dirty="0">
                <a:solidFill>
                  <a:srgbClr val="000000"/>
                </a:solidFill>
                <a:latin typeface="CMSS10"/>
              </a:rPr>
              <a:t> p </a:t>
            </a:r>
            <a:r>
              <a:rPr kumimoji="0" lang="en-US" sz="3200" b="0" i="0" u="none" strike="noStrike" cap="none" normalizeH="0" baseline="0" dirty="0">
                <a:ln>
                  <a:noFill/>
                </a:ln>
                <a:effectLst/>
                <a:latin typeface="Arial" charset="0"/>
                <a:ea typeface="ＭＳ Ｐゴシック" pitchFamily="1" charset="-128"/>
                <a:sym typeface="Symbol" pitchFamily="1" charset="2"/>
              </a:rPr>
              <a:t></a:t>
            </a:r>
            <a:r>
              <a:rPr kumimoji="0" lang="en-US" sz="3200" b="0" i="0" u="none" strike="noStrike" cap="none" normalizeH="0" baseline="0" dirty="0">
                <a:ln>
                  <a:noFill/>
                </a:ln>
                <a:solidFill>
                  <a:srgbClr val="000000"/>
                </a:solidFill>
                <a:effectLst/>
                <a:latin typeface="CMSS10"/>
                <a:ea typeface="ＭＳ Ｐゴシック" pitchFamily="1" charset="-128"/>
                <a:sym typeface="Symbol" pitchFamily="1" charset="2"/>
              </a:rPr>
              <a:t> q</a:t>
            </a:r>
            <a:endParaRPr lang="si-LK" dirty="0"/>
          </a:p>
        </p:txBody>
      </p:sp>
      <p:sp>
        <p:nvSpPr>
          <p:cNvPr id="4" name="Date Placeholder 3">
            <a:extLst>
              <a:ext uri="{FF2B5EF4-FFF2-40B4-BE49-F238E27FC236}">
                <a16:creationId xmlns:a16="http://schemas.microsoft.com/office/drawing/2014/main" id="{2ED289F8-5908-2E1B-08D7-62D175F80AEA}"/>
              </a:ext>
            </a:extLst>
          </p:cNvPr>
          <p:cNvSpPr>
            <a:spLocks noGrp="1"/>
          </p:cNvSpPr>
          <p:nvPr>
            <p:ph type="dt" sz="half" idx="10"/>
          </p:nvPr>
        </p:nvSpPr>
        <p:spPr/>
        <p:txBody>
          <a:bodyPr/>
          <a:lstStyle/>
          <a:p>
            <a:fld id="{4833C929-C9DD-4C66-BDC9-0D85DE389F8F}" type="datetime3">
              <a:rPr lang="en-US" smtClean="0"/>
              <a:t>27 April 2026</a:t>
            </a:fld>
            <a:endParaRPr lang="en-US"/>
          </a:p>
        </p:txBody>
      </p:sp>
      <p:sp>
        <p:nvSpPr>
          <p:cNvPr id="5" name="Footer Placeholder 4">
            <a:extLst>
              <a:ext uri="{FF2B5EF4-FFF2-40B4-BE49-F238E27FC236}">
                <a16:creationId xmlns:a16="http://schemas.microsoft.com/office/drawing/2014/main" id="{EB8BEC0D-6AE2-C268-55D9-E79276529509}"/>
              </a:ext>
            </a:extLst>
          </p:cNvPr>
          <p:cNvSpPr>
            <a:spLocks noGrp="1"/>
          </p:cNvSpPr>
          <p:nvPr>
            <p:ph type="ftr" sz="quarter" idx="11"/>
          </p:nvPr>
        </p:nvSpPr>
        <p:spPr/>
        <p:txBody>
          <a:bodyPr/>
          <a:lstStyle/>
          <a:p>
            <a:r>
              <a:rPr lang="en-US"/>
              <a:t>SCS 1302   Discrete Mathematics 1       Prof. D D Karunaratna</a:t>
            </a:r>
          </a:p>
        </p:txBody>
      </p:sp>
      <p:sp>
        <p:nvSpPr>
          <p:cNvPr id="6" name="Slide Number Placeholder 5">
            <a:extLst>
              <a:ext uri="{FF2B5EF4-FFF2-40B4-BE49-F238E27FC236}">
                <a16:creationId xmlns:a16="http://schemas.microsoft.com/office/drawing/2014/main" id="{45E7A23F-758D-164C-9D2F-4DE0DBAD7A75}"/>
              </a:ext>
            </a:extLst>
          </p:cNvPr>
          <p:cNvSpPr>
            <a:spLocks noGrp="1"/>
          </p:cNvSpPr>
          <p:nvPr>
            <p:ph type="sldNum" sz="quarter" idx="12"/>
          </p:nvPr>
        </p:nvSpPr>
        <p:spPr/>
        <p:txBody>
          <a:bodyPr/>
          <a:lstStyle/>
          <a:p>
            <a:fld id="{0CA841A6-7C02-4C92-B6EE-5DBCC2AD53D0}" type="slidenum">
              <a:rPr lang="en-US" smtClean="0"/>
              <a:t>26</a:t>
            </a:fld>
            <a:endParaRPr lang="en-US"/>
          </a:p>
        </p:txBody>
      </p:sp>
    </p:spTree>
    <p:extLst>
      <p:ext uri="{BB962C8B-B14F-4D97-AF65-F5344CB8AC3E}">
        <p14:creationId xmlns:p14="http://schemas.microsoft.com/office/powerpoint/2010/main" val="397179605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62E6EF-4A77-3208-834C-C5A2A4504F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E33661-9496-B07B-2A2B-A053482A9CAD}"/>
              </a:ext>
            </a:extLst>
          </p:cNvPr>
          <p:cNvSpPr>
            <a:spLocks noGrp="1"/>
          </p:cNvSpPr>
          <p:nvPr>
            <p:ph type="title"/>
          </p:nvPr>
        </p:nvSpPr>
        <p:spPr/>
        <p:txBody>
          <a:bodyPr/>
          <a:lstStyle/>
          <a:p>
            <a:r>
              <a:rPr lang="en-US" b="1" dirty="0"/>
              <a:t>Equivalent propositions</a:t>
            </a:r>
            <a:endParaRPr lang="en-GB" dirty="0"/>
          </a:p>
        </p:txBody>
      </p:sp>
      <p:sp>
        <p:nvSpPr>
          <p:cNvPr id="4" name="Date Placeholder 3">
            <a:extLst>
              <a:ext uri="{FF2B5EF4-FFF2-40B4-BE49-F238E27FC236}">
                <a16:creationId xmlns:a16="http://schemas.microsoft.com/office/drawing/2014/main" id="{381349D6-9E40-3E2D-6C06-C0071250B48A}"/>
              </a:ext>
            </a:extLst>
          </p:cNvPr>
          <p:cNvSpPr>
            <a:spLocks noGrp="1"/>
          </p:cNvSpPr>
          <p:nvPr>
            <p:ph type="dt" sz="half" idx="10"/>
          </p:nvPr>
        </p:nvSpPr>
        <p:spPr/>
        <p:txBody>
          <a:bodyPr/>
          <a:lstStyle/>
          <a:p>
            <a:fld id="{8647CC00-0228-4EE9-971D-77F075DDC1D6}" type="datetime3">
              <a:rPr lang="en-US" smtClean="0"/>
              <a:t>27 April 2026</a:t>
            </a:fld>
            <a:endParaRPr lang="en-US"/>
          </a:p>
        </p:txBody>
      </p:sp>
      <p:sp>
        <p:nvSpPr>
          <p:cNvPr id="5" name="Footer Placeholder 4">
            <a:extLst>
              <a:ext uri="{FF2B5EF4-FFF2-40B4-BE49-F238E27FC236}">
                <a16:creationId xmlns:a16="http://schemas.microsoft.com/office/drawing/2014/main" id="{9ED668D8-8B8F-3899-6D81-259E6EDBE089}"/>
              </a:ext>
            </a:extLst>
          </p:cNvPr>
          <p:cNvSpPr>
            <a:spLocks noGrp="1"/>
          </p:cNvSpPr>
          <p:nvPr>
            <p:ph type="ftr" sz="quarter" idx="11"/>
          </p:nvPr>
        </p:nvSpPr>
        <p:spPr/>
        <p:txBody>
          <a:bodyPr/>
          <a:lstStyle/>
          <a:p>
            <a:r>
              <a:rPr lang="en-US"/>
              <a:t>SCS 1302   Discrete Mathematics 1       Prof. D D Karunaratna</a:t>
            </a:r>
          </a:p>
        </p:txBody>
      </p:sp>
      <p:sp>
        <p:nvSpPr>
          <p:cNvPr id="6" name="Slide Number Placeholder 5">
            <a:extLst>
              <a:ext uri="{FF2B5EF4-FFF2-40B4-BE49-F238E27FC236}">
                <a16:creationId xmlns:a16="http://schemas.microsoft.com/office/drawing/2014/main" id="{BDC97318-AC69-314A-B548-BB1C1951252D}"/>
              </a:ext>
            </a:extLst>
          </p:cNvPr>
          <p:cNvSpPr>
            <a:spLocks noGrp="1"/>
          </p:cNvSpPr>
          <p:nvPr>
            <p:ph type="sldNum" sz="quarter" idx="12"/>
          </p:nvPr>
        </p:nvSpPr>
        <p:spPr/>
        <p:txBody>
          <a:bodyPr/>
          <a:lstStyle/>
          <a:p>
            <a:fld id="{0CA841A6-7C02-4C92-B6EE-5DBCC2AD53D0}" type="slidenum">
              <a:rPr lang="en-US" smtClean="0"/>
              <a:t>27</a:t>
            </a:fld>
            <a:endParaRPr lang="en-US"/>
          </a:p>
        </p:txBody>
      </p:sp>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91D516DB-0348-6A81-FC74-9EA060EC07F1}"/>
                  </a:ext>
                </a:extLst>
              </p:cNvPr>
              <p:cNvSpPr/>
              <p:nvPr/>
            </p:nvSpPr>
            <p:spPr>
              <a:xfrm>
                <a:off x="152400" y="1981200"/>
                <a:ext cx="8534400" cy="4093428"/>
              </a:xfrm>
              <a:prstGeom prst="rect">
                <a:avLst/>
              </a:prstGeom>
            </p:spPr>
            <p:txBody>
              <a:bodyPr wrap="square">
                <a:spAutoFit/>
              </a:bodyPr>
              <a:lstStyle/>
              <a:p>
                <a:r>
                  <a:rPr lang="en-US" sz="2000" dirty="0"/>
                  <a:t>When two </a:t>
                </a:r>
                <a:r>
                  <a:rPr lang="en-US" sz="2000" b="1" dirty="0"/>
                  <a:t>compound propositions </a:t>
                </a:r>
                <a:r>
                  <a:rPr lang="en-US" sz="2000" dirty="0"/>
                  <a:t>always have the same truth values for all possible truth values for its primitive propositions, we call them </a:t>
                </a:r>
                <a:r>
                  <a:rPr lang="en-US" sz="2000" b="1" dirty="0"/>
                  <a:t>logically</a:t>
                </a:r>
                <a:r>
                  <a:rPr lang="en-US" sz="2000" dirty="0"/>
                  <a:t> </a:t>
                </a:r>
                <a:r>
                  <a:rPr lang="en-US" sz="2000" b="1" dirty="0"/>
                  <a:t>equivalent(</a:t>
                </a:r>
                <a14:m>
                  <m:oMath xmlns:m="http://schemas.openxmlformats.org/officeDocument/2006/math">
                    <m:r>
                      <a:rPr lang="en-GB" sz="2000" b="1" i="1">
                        <a:latin typeface="Cambria Math" panose="02040503050406030204" pitchFamily="18" charset="0"/>
                        <a:ea typeface="Cambria Math" panose="02040503050406030204" pitchFamily="18" charset="0"/>
                      </a:rPr>
                      <m:t>≡</m:t>
                    </m:r>
                  </m:oMath>
                </a14:m>
                <a:r>
                  <a:rPr lang="en-US" sz="2000" b="1" dirty="0"/>
                  <a:t>).</a:t>
                </a:r>
              </a:p>
              <a:p>
                <a:endParaRPr lang="en-US" sz="2000" b="1" dirty="0"/>
              </a:p>
              <a:p>
                <a:endParaRPr lang="en-US" sz="2000" dirty="0"/>
              </a:p>
              <a:p>
                <a:r>
                  <a:rPr lang="en-US" sz="2000" dirty="0"/>
                  <a:t>p </a:t>
                </a:r>
                <a:r>
                  <a:rPr lang="en-US" sz="2000" b="1" i="1" dirty="0"/>
                  <a:t>→ </a:t>
                </a:r>
                <a:r>
                  <a:rPr lang="en-US" sz="2000" dirty="0"/>
                  <a:t>q and ∼q </a:t>
                </a:r>
                <a:r>
                  <a:rPr lang="en-US" sz="2000" b="1" i="1" dirty="0"/>
                  <a:t>→  </a:t>
                </a:r>
                <a:r>
                  <a:rPr lang="en-US" sz="2000" dirty="0"/>
                  <a:t>∼p are equivalent (p </a:t>
                </a:r>
                <a:r>
                  <a:rPr lang="en-US" sz="2000" b="1" i="1" dirty="0"/>
                  <a:t>→ </a:t>
                </a:r>
                <a:r>
                  <a:rPr lang="en-US" sz="2000" dirty="0"/>
                  <a:t>q </a:t>
                </a:r>
                <a14:m>
                  <m:oMath xmlns:m="http://schemas.openxmlformats.org/officeDocument/2006/math">
                    <m:r>
                      <a:rPr lang="en-GB" sz="2000" b="1" i="1">
                        <a:latin typeface="Cambria Math" panose="02040503050406030204" pitchFamily="18" charset="0"/>
                        <a:ea typeface="Cambria Math" panose="02040503050406030204" pitchFamily="18" charset="0"/>
                      </a:rPr>
                      <m:t>≡</m:t>
                    </m:r>
                  </m:oMath>
                </a14:m>
                <a:r>
                  <a:rPr lang="en-US" sz="2000" dirty="0"/>
                  <a:t>  ∼q </a:t>
                </a:r>
                <a:r>
                  <a:rPr lang="en-US" sz="2000" b="1" i="1" dirty="0"/>
                  <a:t>→  </a:t>
                </a:r>
                <a:r>
                  <a:rPr lang="en-US" sz="2000" dirty="0"/>
                  <a:t>∼p )</a:t>
                </a:r>
              </a:p>
              <a:p>
                <a:endParaRPr lang="en-US" sz="2000" dirty="0"/>
              </a:p>
              <a:p>
                <a:r>
                  <a:rPr lang="en-US" sz="2000" dirty="0"/>
                  <a:t>If two propositions are equivalent one can be relaced with the other without changing the result.</a:t>
                </a:r>
              </a:p>
              <a:p>
                <a:endParaRPr lang="en-US" sz="2000" dirty="0"/>
              </a:p>
              <a:p>
                <a:r>
                  <a:rPr lang="en-US" sz="2000" dirty="0"/>
                  <a:t>Note: </a:t>
                </a:r>
                <a14:m>
                  <m:oMath xmlns:m="http://schemas.openxmlformats.org/officeDocument/2006/math">
                    <m:r>
                      <a:rPr lang="en-GB" sz="2000" b="1" i="1">
                        <a:latin typeface="Cambria Math" panose="02040503050406030204" pitchFamily="18" charset="0"/>
                        <a:ea typeface="Cambria Math" panose="02040503050406030204" pitchFamily="18" charset="0"/>
                      </a:rPr>
                      <m:t>≡</m:t>
                    </m:r>
                  </m:oMath>
                </a14:m>
                <a:r>
                  <a:rPr lang="en-US" sz="2000" dirty="0"/>
                  <a:t> is not a logical connective and </a:t>
                </a:r>
                <a14:m>
                  <m:oMath xmlns:m="http://schemas.openxmlformats.org/officeDocument/2006/math">
                    <m:r>
                      <a:rPr lang="en-US" sz="2000" b="0" i="0" smtClean="0">
                        <a:latin typeface="Cambria Math" panose="02040503050406030204" pitchFamily="18" charset="0"/>
                        <a:ea typeface="Cambria Math" panose="02040503050406030204" pitchFamily="18" charset="0"/>
                      </a:rPr>
                      <m:t> </m:t>
                    </m:r>
                    <m:r>
                      <m:rPr>
                        <m:sty m:val="p"/>
                      </m:rPr>
                      <a:rPr lang="en-US" sz="2000" b="0" i="0" smtClean="0">
                        <a:latin typeface="Cambria Math" panose="02040503050406030204" pitchFamily="18" charset="0"/>
                        <a:ea typeface="Cambria Math" panose="02040503050406030204" pitchFamily="18" charset="0"/>
                      </a:rPr>
                      <m:t>p</m:t>
                    </m:r>
                    <m:r>
                      <a:rPr lang="en-GB" sz="2000" b="1" i="1">
                        <a:latin typeface="Cambria Math" panose="02040503050406030204" pitchFamily="18" charset="0"/>
                        <a:ea typeface="Cambria Math" panose="02040503050406030204" pitchFamily="18" charset="0"/>
                      </a:rPr>
                      <m:t>≡</m:t>
                    </m:r>
                  </m:oMath>
                </a14:m>
                <a:r>
                  <a:rPr lang="en-US" sz="2000" dirty="0"/>
                  <a:t> q is not a compound proposition.</a:t>
                </a:r>
              </a:p>
              <a:p>
                <a:endParaRPr lang="en-US" sz="2000" dirty="0"/>
              </a:p>
              <a:p>
                <a:r>
                  <a:rPr lang="en-US" sz="2000" dirty="0"/>
                  <a:t>If </a:t>
                </a:r>
                <a14:m>
                  <m:oMath xmlns:m="http://schemas.openxmlformats.org/officeDocument/2006/math">
                    <m:r>
                      <m:rPr>
                        <m:sty m:val="p"/>
                      </m:rPr>
                      <a:rPr lang="en-US" sz="2000">
                        <a:latin typeface="Cambria Math" panose="02040503050406030204" pitchFamily="18" charset="0"/>
                        <a:ea typeface="Cambria Math" panose="02040503050406030204" pitchFamily="18" charset="0"/>
                      </a:rPr>
                      <m:t>p</m:t>
                    </m:r>
                    <m:r>
                      <a:rPr lang="en-GB" sz="2000" b="1" i="1">
                        <a:latin typeface="Cambria Math" panose="02040503050406030204" pitchFamily="18" charset="0"/>
                        <a:ea typeface="Cambria Math" panose="02040503050406030204" pitchFamily="18" charset="0"/>
                      </a:rPr>
                      <m:t>≡</m:t>
                    </m:r>
                  </m:oMath>
                </a14:m>
                <a:r>
                  <a:rPr lang="en-US" sz="2000" dirty="0"/>
                  <a:t> q  implies that p </a:t>
                </a:r>
                <a:r>
                  <a:rPr lang="en-US" sz="2000" i="1" dirty="0"/>
                  <a:t>↔</a:t>
                </a:r>
                <a:r>
                  <a:rPr lang="en-US" sz="2000" i="1" dirty="0">
                    <a:solidFill>
                      <a:srgbClr val="FF0000"/>
                    </a:solidFill>
                  </a:rPr>
                  <a:t> </a:t>
                </a:r>
                <a:r>
                  <a:rPr lang="en-US" sz="2000" dirty="0"/>
                  <a:t>q is a tautology</a:t>
                </a:r>
              </a:p>
            </p:txBody>
          </p:sp>
        </mc:Choice>
        <mc:Fallback xmlns="">
          <p:sp>
            <p:nvSpPr>
              <p:cNvPr id="8" name="Rectangle 7">
                <a:extLst>
                  <a:ext uri="{FF2B5EF4-FFF2-40B4-BE49-F238E27FC236}">
                    <a16:creationId xmlns:a16="http://schemas.microsoft.com/office/drawing/2014/main" id="{91D516DB-0348-6A81-FC74-9EA060EC07F1}"/>
                  </a:ext>
                </a:extLst>
              </p:cNvPr>
              <p:cNvSpPr>
                <a:spLocks noRot="1" noChangeAspect="1" noMove="1" noResize="1" noEditPoints="1" noAdjustHandles="1" noChangeArrowheads="1" noChangeShapeType="1" noTextEdit="1"/>
              </p:cNvSpPr>
              <p:nvPr/>
            </p:nvSpPr>
            <p:spPr>
              <a:xfrm>
                <a:off x="152400" y="1981200"/>
                <a:ext cx="8534400" cy="4093428"/>
              </a:xfrm>
              <a:prstGeom prst="rect">
                <a:avLst/>
              </a:prstGeom>
              <a:blipFill>
                <a:blip r:embed="rId2"/>
                <a:stretch>
                  <a:fillRect l="-714" t="-745" b="-1788"/>
                </a:stretch>
              </a:blipFill>
            </p:spPr>
            <p:txBody>
              <a:bodyPr/>
              <a:lstStyle/>
              <a:p>
                <a:r>
                  <a:rPr lang="si-LK">
                    <a:noFill/>
                  </a:rPr>
                  <a:t> </a:t>
                </a:r>
              </a:p>
            </p:txBody>
          </p:sp>
        </mc:Fallback>
      </mc:AlternateContent>
    </p:spTree>
    <p:extLst>
      <p:ext uri="{BB962C8B-B14F-4D97-AF65-F5344CB8AC3E}">
        <p14:creationId xmlns:p14="http://schemas.microsoft.com/office/powerpoint/2010/main" val="36804891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2A5B0B-1A2C-07B1-AD53-F65D28721D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C00A4E4-4B50-E69B-CBDF-5843DFFA0A64}"/>
              </a:ext>
            </a:extLst>
          </p:cNvPr>
          <p:cNvSpPr>
            <a:spLocks noGrp="1"/>
          </p:cNvSpPr>
          <p:nvPr>
            <p:ph type="title"/>
          </p:nvPr>
        </p:nvSpPr>
        <p:spPr/>
        <p:txBody>
          <a:bodyPr/>
          <a:lstStyle/>
          <a:p>
            <a:r>
              <a:rPr lang="en-US" b="1" dirty="0"/>
              <a:t>Equivalent propositions</a:t>
            </a:r>
            <a:endParaRPr lang="en-GB" dirty="0"/>
          </a:p>
        </p:txBody>
      </p:sp>
      <p:sp>
        <p:nvSpPr>
          <p:cNvPr id="4" name="Date Placeholder 3">
            <a:extLst>
              <a:ext uri="{FF2B5EF4-FFF2-40B4-BE49-F238E27FC236}">
                <a16:creationId xmlns:a16="http://schemas.microsoft.com/office/drawing/2014/main" id="{11628541-D56C-77F5-4515-E947CC3DD726}"/>
              </a:ext>
            </a:extLst>
          </p:cNvPr>
          <p:cNvSpPr>
            <a:spLocks noGrp="1"/>
          </p:cNvSpPr>
          <p:nvPr>
            <p:ph type="dt" sz="half" idx="10"/>
          </p:nvPr>
        </p:nvSpPr>
        <p:spPr/>
        <p:txBody>
          <a:bodyPr/>
          <a:lstStyle/>
          <a:p>
            <a:fld id="{8647CC00-0228-4EE9-971D-77F075DDC1D6}" type="datetime3">
              <a:rPr lang="en-US" smtClean="0"/>
              <a:t>27 April 2026</a:t>
            </a:fld>
            <a:endParaRPr lang="en-US"/>
          </a:p>
        </p:txBody>
      </p:sp>
      <p:sp>
        <p:nvSpPr>
          <p:cNvPr id="5" name="Footer Placeholder 4">
            <a:extLst>
              <a:ext uri="{FF2B5EF4-FFF2-40B4-BE49-F238E27FC236}">
                <a16:creationId xmlns:a16="http://schemas.microsoft.com/office/drawing/2014/main" id="{772434B3-6980-8117-2096-8AC85EB9325A}"/>
              </a:ext>
            </a:extLst>
          </p:cNvPr>
          <p:cNvSpPr>
            <a:spLocks noGrp="1"/>
          </p:cNvSpPr>
          <p:nvPr>
            <p:ph type="ftr" sz="quarter" idx="11"/>
          </p:nvPr>
        </p:nvSpPr>
        <p:spPr/>
        <p:txBody>
          <a:bodyPr/>
          <a:lstStyle/>
          <a:p>
            <a:r>
              <a:rPr lang="en-US"/>
              <a:t>SCS 1302   Discrete Mathematics 1       Prof. D D Karunaratna</a:t>
            </a:r>
          </a:p>
        </p:txBody>
      </p:sp>
      <p:sp>
        <p:nvSpPr>
          <p:cNvPr id="6" name="Slide Number Placeholder 5">
            <a:extLst>
              <a:ext uri="{FF2B5EF4-FFF2-40B4-BE49-F238E27FC236}">
                <a16:creationId xmlns:a16="http://schemas.microsoft.com/office/drawing/2014/main" id="{8353B399-B2C4-EF50-AD59-09DAFA0A8B49}"/>
              </a:ext>
            </a:extLst>
          </p:cNvPr>
          <p:cNvSpPr>
            <a:spLocks noGrp="1"/>
          </p:cNvSpPr>
          <p:nvPr>
            <p:ph type="sldNum" sz="quarter" idx="12"/>
          </p:nvPr>
        </p:nvSpPr>
        <p:spPr/>
        <p:txBody>
          <a:bodyPr/>
          <a:lstStyle/>
          <a:p>
            <a:fld id="{0CA841A6-7C02-4C92-B6EE-5DBCC2AD53D0}" type="slidenum">
              <a:rPr lang="en-US" smtClean="0"/>
              <a:t>28</a:t>
            </a:fld>
            <a:endParaRPr lang="en-US"/>
          </a:p>
        </p:txBody>
      </p:sp>
      <p:sp>
        <p:nvSpPr>
          <p:cNvPr id="8" name="Rectangle 7">
            <a:extLst>
              <a:ext uri="{FF2B5EF4-FFF2-40B4-BE49-F238E27FC236}">
                <a16:creationId xmlns:a16="http://schemas.microsoft.com/office/drawing/2014/main" id="{4501CCBB-AED2-DDE9-434A-FEA8C4E815DA}"/>
              </a:ext>
            </a:extLst>
          </p:cNvPr>
          <p:cNvSpPr/>
          <p:nvPr/>
        </p:nvSpPr>
        <p:spPr>
          <a:xfrm>
            <a:off x="152400" y="1981200"/>
            <a:ext cx="8534400" cy="923330"/>
          </a:xfrm>
          <a:prstGeom prst="rect">
            <a:avLst/>
          </a:prstGeom>
        </p:spPr>
        <p:txBody>
          <a:bodyPr wrap="square">
            <a:spAutoFit/>
          </a:bodyPr>
          <a:lstStyle/>
          <a:p>
            <a:r>
              <a:rPr lang="en-US" dirty="0"/>
              <a:t>Equivalent of propositions enables compound propositions  to be replaced by another compound propositions that are logically equivalent to them without changing the truth value of the original compound propositions.</a:t>
            </a:r>
            <a:endParaRPr lang="en-US" sz="2000" dirty="0"/>
          </a:p>
        </p:txBody>
      </p:sp>
    </p:spTree>
    <p:extLst>
      <p:ext uri="{BB962C8B-B14F-4D97-AF65-F5344CB8AC3E}">
        <p14:creationId xmlns:p14="http://schemas.microsoft.com/office/powerpoint/2010/main" val="8317462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Equivalence </a:t>
            </a:r>
          </a:p>
        </p:txBody>
      </p:sp>
      <p:sp>
        <p:nvSpPr>
          <p:cNvPr id="4" name="Date Placeholder 3"/>
          <p:cNvSpPr>
            <a:spLocks noGrp="1"/>
          </p:cNvSpPr>
          <p:nvPr>
            <p:ph type="dt" sz="half" idx="10"/>
          </p:nvPr>
        </p:nvSpPr>
        <p:spPr/>
        <p:txBody>
          <a:bodyPr/>
          <a:lstStyle/>
          <a:p>
            <a:fld id="{24BB871F-CD41-4998-A758-0403EDB00955}" type="datetime3">
              <a:rPr lang="en-US" smtClean="0"/>
              <a:t>27 April 2026</a:t>
            </a:fld>
            <a:endParaRPr lang="en-US"/>
          </a:p>
        </p:txBody>
      </p:sp>
      <p:sp>
        <p:nvSpPr>
          <p:cNvPr id="5" name="Footer Placeholder 4"/>
          <p:cNvSpPr>
            <a:spLocks noGrp="1"/>
          </p:cNvSpPr>
          <p:nvPr>
            <p:ph type="ftr" sz="quarter" idx="11"/>
          </p:nvPr>
        </p:nvSpPr>
        <p:spPr/>
        <p:txBody>
          <a:bodyPr/>
          <a:lstStyle/>
          <a:p>
            <a:r>
              <a:rPr lang="en-US"/>
              <a:t>SCS 1302   Discrete Mathematics 1       Prof. D D Karunaratna</a:t>
            </a:r>
          </a:p>
        </p:txBody>
      </p:sp>
      <p:sp>
        <p:nvSpPr>
          <p:cNvPr id="6" name="Slide Number Placeholder 5"/>
          <p:cNvSpPr>
            <a:spLocks noGrp="1"/>
          </p:cNvSpPr>
          <p:nvPr>
            <p:ph type="sldNum" sz="quarter" idx="12"/>
          </p:nvPr>
        </p:nvSpPr>
        <p:spPr/>
        <p:txBody>
          <a:bodyPr/>
          <a:lstStyle/>
          <a:p>
            <a:fld id="{0CA841A6-7C02-4C92-B6EE-5DBCC2AD53D0}" type="slidenum">
              <a:rPr lang="en-US" smtClean="0"/>
              <a:t>29</a:t>
            </a:fld>
            <a:endParaRPr lang="en-US"/>
          </a:p>
        </p:txBody>
      </p:sp>
      <mc:AlternateContent xmlns:mc="http://schemas.openxmlformats.org/markup-compatibility/2006" xmlns:a14="http://schemas.microsoft.com/office/drawing/2010/main">
        <mc:Choice Requires="a14">
          <p:graphicFrame>
            <p:nvGraphicFramePr>
              <p:cNvPr id="7" name="Table 6"/>
              <p:cNvGraphicFramePr>
                <a:graphicFrameLocks noGrp="1"/>
              </p:cNvGraphicFramePr>
              <p:nvPr>
                <p:extLst>
                  <p:ext uri="{D42A27DB-BD31-4B8C-83A1-F6EECF244321}">
                    <p14:modId xmlns:p14="http://schemas.microsoft.com/office/powerpoint/2010/main" val="131709511"/>
                  </p:ext>
                </p:extLst>
              </p:nvPr>
            </p:nvGraphicFramePr>
            <p:xfrm>
              <a:off x="304800" y="1752600"/>
              <a:ext cx="1905000" cy="3022600"/>
            </p:xfrm>
            <a:graphic>
              <a:graphicData uri="http://schemas.openxmlformats.org/drawingml/2006/table">
                <a:tbl>
                  <a:tblPr firstRow="1" bandRow="1">
                    <a:tableStyleId>{5C22544A-7EE6-4342-B048-85BDC9FD1C3A}</a:tableStyleId>
                  </a:tblPr>
                  <a:tblGrid>
                    <a:gridCol w="914400">
                      <a:extLst>
                        <a:ext uri="{9D8B030D-6E8A-4147-A177-3AD203B41FA5}">
                          <a16:colId xmlns:a16="http://schemas.microsoft.com/office/drawing/2014/main" val="20000"/>
                        </a:ext>
                      </a:extLst>
                    </a:gridCol>
                    <a:gridCol w="990600">
                      <a:extLst>
                        <a:ext uri="{9D8B030D-6E8A-4147-A177-3AD203B41FA5}">
                          <a16:colId xmlns:a16="http://schemas.microsoft.com/office/drawing/2014/main" val="20001"/>
                        </a:ext>
                      </a:extLst>
                    </a:gridCol>
                  </a:tblGrid>
                  <a:tr h="604520">
                    <a:tc>
                      <a:txBody>
                        <a:bodyPr/>
                        <a:lstStyle/>
                        <a:p>
                          <a:pPr algn="ctr"/>
                          <a14:m>
                            <m:oMathPara xmlns:m="http://schemas.openxmlformats.org/officeDocument/2006/math">
                              <m:oMathParaPr>
                                <m:jc m:val="centerGroup"/>
                              </m:oMathParaPr>
                              <m:oMath xmlns:m="http://schemas.openxmlformats.org/officeDocument/2006/math">
                                <m:r>
                                  <a:rPr lang="en-GB" sz="2400" b="1" i="1" smtClean="0">
                                    <a:latin typeface="Cambria Math" panose="02040503050406030204" pitchFamily="18" charset="0"/>
                                  </a:rPr>
                                  <m:t>𝒑</m:t>
                                </m:r>
                              </m:oMath>
                            </m:oMathPara>
                          </a14:m>
                          <a:endParaRPr lang="en-GB" sz="2400" dirty="0"/>
                        </a:p>
                      </a:txBody>
                      <a:tcPr/>
                    </a:tc>
                    <a:tc>
                      <a:txBody>
                        <a:bodyPr/>
                        <a:lstStyle/>
                        <a:p>
                          <a:pPr algn="ctr"/>
                          <a14:m>
                            <m:oMathPara xmlns:m="http://schemas.openxmlformats.org/officeDocument/2006/math">
                              <m:oMathParaPr>
                                <m:jc m:val="centerGroup"/>
                              </m:oMathParaPr>
                              <m:oMath xmlns:m="http://schemas.openxmlformats.org/officeDocument/2006/math">
                                <m:r>
                                  <a:rPr lang="en-GB" sz="2400" b="1" i="1" smtClean="0">
                                    <a:latin typeface="Cambria Math" panose="02040503050406030204" pitchFamily="18" charset="0"/>
                                  </a:rPr>
                                  <m:t>𝒒</m:t>
                                </m:r>
                              </m:oMath>
                            </m:oMathPara>
                          </a14:m>
                          <a:endParaRPr lang="en-GB" sz="2400" dirty="0"/>
                        </a:p>
                      </a:txBody>
                      <a:tcPr/>
                    </a:tc>
                    <a:extLst>
                      <a:ext uri="{0D108BD9-81ED-4DB2-BD59-A6C34878D82A}">
                        <a16:rowId xmlns:a16="http://schemas.microsoft.com/office/drawing/2014/main" val="10000"/>
                      </a:ext>
                    </a:extLst>
                  </a:tr>
                  <a:tr h="604520">
                    <a:tc>
                      <a:txBody>
                        <a:bodyPr/>
                        <a:lstStyle/>
                        <a:p>
                          <a:pPr algn="ctr"/>
                          <a:r>
                            <a:rPr lang="en-GB" sz="2400" dirty="0"/>
                            <a:t>0</a:t>
                          </a:r>
                        </a:p>
                      </a:txBody>
                      <a:tcPr/>
                    </a:tc>
                    <a:tc>
                      <a:txBody>
                        <a:bodyPr/>
                        <a:lstStyle/>
                        <a:p>
                          <a:pPr algn="ctr"/>
                          <a:r>
                            <a:rPr lang="en-GB" sz="2400" dirty="0"/>
                            <a:t>0</a:t>
                          </a:r>
                        </a:p>
                      </a:txBody>
                      <a:tcPr/>
                    </a:tc>
                    <a:extLst>
                      <a:ext uri="{0D108BD9-81ED-4DB2-BD59-A6C34878D82A}">
                        <a16:rowId xmlns:a16="http://schemas.microsoft.com/office/drawing/2014/main" val="10001"/>
                      </a:ext>
                    </a:extLst>
                  </a:tr>
                  <a:tr h="604520">
                    <a:tc>
                      <a:txBody>
                        <a:bodyPr/>
                        <a:lstStyle/>
                        <a:p>
                          <a:pPr algn="ctr"/>
                          <a:r>
                            <a:rPr lang="en-GB" sz="2400" dirty="0"/>
                            <a:t>0</a:t>
                          </a:r>
                        </a:p>
                      </a:txBody>
                      <a:tcPr/>
                    </a:tc>
                    <a:tc>
                      <a:txBody>
                        <a:bodyPr/>
                        <a:lstStyle/>
                        <a:p>
                          <a:pPr algn="ctr"/>
                          <a:r>
                            <a:rPr lang="en-GB" sz="2400" dirty="0"/>
                            <a:t>1</a:t>
                          </a:r>
                        </a:p>
                      </a:txBody>
                      <a:tcPr/>
                    </a:tc>
                    <a:extLst>
                      <a:ext uri="{0D108BD9-81ED-4DB2-BD59-A6C34878D82A}">
                        <a16:rowId xmlns:a16="http://schemas.microsoft.com/office/drawing/2014/main" val="10002"/>
                      </a:ext>
                    </a:extLst>
                  </a:tr>
                  <a:tr h="604520">
                    <a:tc>
                      <a:txBody>
                        <a:bodyPr/>
                        <a:lstStyle/>
                        <a:p>
                          <a:pPr algn="ctr"/>
                          <a:r>
                            <a:rPr lang="en-GB" sz="2400" dirty="0"/>
                            <a:t>1</a:t>
                          </a:r>
                        </a:p>
                      </a:txBody>
                      <a:tcPr/>
                    </a:tc>
                    <a:tc>
                      <a:txBody>
                        <a:bodyPr/>
                        <a:lstStyle/>
                        <a:p>
                          <a:pPr algn="ctr"/>
                          <a:r>
                            <a:rPr lang="en-GB" sz="2400" dirty="0"/>
                            <a:t>0</a:t>
                          </a:r>
                        </a:p>
                      </a:txBody>
                      <a:tcPr/>
                    </a:tc>
                    <a:extLst>
                      <a:ext uri="{0D108BD9-81ED-4DB2-BD59-A6C34878D82A}">
                        <a16:rowId xmlns:a16="http://schemas.microsoft.com/office/drawing/2014/main" val="10003"/>
                      </a:ext>
                    </a:extLst>
                  </a:tr>
                  <a:tr h="604520">
                    <a:tc>
                      <a:txBody>
                        <a:bodyPr/>
                        <a:lstStyle/>
                        <a:p>
                          <a:pPr algn="ctr"/>
                          <a:r>
                            <a:rPr lang="en-GB" sz="2400" dirty="0"/>
                            <a:t>1</a:t>
                          </a:r>
                        </a:p>
                      </a:txBody>
                      <a:tcPr/>
                    </a:tc>
                    <a:tc>
                      <a:txBody>
                        <a:bodyPr/>
                        <a:lstStyle/>
                        <a:p>
                          <a:pPr algn="ctr"/>
                          <a:r>
                            <a:rPr lang="en-GB" sz="2400" dirty="0" err="1"/>
                            <a:t>1</a:t>
                          </a:r>
                          <a:endParaRPr lang="en-GB" sz="2400" dirty="0"/>
                        </a:p>
                      </a:txBody>
                      <a:tcPr/>
                    </a:tc>
                    <a:extLst>
                      <a:ext uri="{0D108BD9-81ED-4DB2-BD59-A6C34878D82A}">
                        <a16:rowId xmlns:a16="http://schemas.microsoft.com/office/drawing/2014/main" val="10004"/>
                      </a:ext>
                    </a:extLst>
                  </a:tr>
                </a:tbl>
              </a:graphicData>
            </a:graphic>
          </p:graphicFrame>
        </mc:Choice>
        <mc:Fallback xmlns="">
          <p:graphicFrame>
            <p:nvGraphicFramePr>
              <p:cNvPr id="7" name="Table 6"/>
              <p:cNvGraphicFramePr>
                <a:graphicFrameLocks noGrp="1"/>
              </p:cNvGraphicFramePr>
              <p:nvPr>
                <p:extLst>
                  <p:ext uri="{D42A27DB-BD31-4B8C-83A1-F6EECF244321}">
                    <p14:modId xmlns:p14="http://schemas.microsoft.com/office/powerpoint/2010/main" val="131709511"/>
                  </p:ext>
                </p:extLst>
              </p:nvPr>
            </p:nvGraphicFramePr>
            <p:xfrm>
              <a:off x="304800" y="1752600"/>
              <a:ext cx="1905000" cy="3022600"/>
            </p:xfrm>
            <a:graphic>
              <a:graphicData uri="http://schemas.openxmlformats.org/drawingml/2006/table">
                <a:tbl>
                  <a:tblPr firstRow="1" bandRow="1">
                    <a:tableStyleId>{5C22544A-7EE6-4342-B048-85BDC9FD1C3A}</a:tableStyleId>
                  </a:tblPr>
                  <a:tblGrid>
                    <a:gridCol w="914400"/>
                    <a:gridCol w="990600"/>
                  </a:tblGrid>
                  <a:tr h="604520">
                    <a:tc>
                      <a:txBody>
                        <a:bodyPr/>
                        <a:lstStyle/>
                        <a:p>
                          <a:endParaRPr lang="en-US"/>
                        </a:p>
                      </a:txBody>
                      <a:tcPr>
                        <a:blipFill rotWithShape="0">
                          <a:blip r:embed="rId2"/>
                          <a:stretch>
                            <a:fillRect l="-1333" t="-1010" r="-111333" b="-404040"/>
                          </a:stretch>
                        </a:blipFill>
                      </a:tcPr>
                    </a:tc>
                    <a:tc>
                      <a:txBody>
                        <a:bodyPr/>
                        <a:lstStyle/>
                        <a:p>
                          <a:endParaRPr lang="en-US"/>
                        </a:p>
                      </a:txBody>
                      <a:tcPr>
                        <a:blipFill rotWithShape="0">
                          <a:blip r:embed="rId2"/>
                          <a:stretch>
                            <a:fillRect l="-93252" t="-1010" r="-2454" b="-404040"/>
                          </a:stretch>
                        </a:blipFill>
                      </a:tcPr>
                    </a:tc>
                  </a:tr>
                  <a:tr h="604520">
                    <a:tc>
                      <a:txBody>
                        <a:bodyPr/>
                        <a:lstStyle/>
                        <a:p>
                          <a:pPr algn="ctr"/>
                          <a:r>
                            <a:rPr lang="en-GB" sz="2400" dirty="0" smtClean="0"/>
                            <a:t>0</a:t>
                          </a:r>
                          <a:endParaRPr lang="en-GB" sz="2400" dirty="0"/>
                        </a:p>
                      </a:txBody>
                      <a:tcPr/>
                    </a:tc>
                    <a:tc>
                      <a:txBody>
                        <a:bodyPr/>
                        <a:lstStyle/>
                        <a:p>
                          <a:pPr algn="ctr"/>
                          <a:r>
                            <a:rPr lang="en-GB" sz="2400" dirty="0" smtClean="0"/>
                            <a:t>0</a:t>
                          </a:r>
                          <a:endParaRPr lang="en-GB" sz="2400" dirty="0"/>
                        </a:p>
                      </a:txBody>
                      <a:tcPr/>
                    </a:tc>
                  </a:tr>
                  <a:tr h="604520">
                    <a:tc>
                      <a:txBody>
                        <a:bodyPr/>
                        <a:lstStyle/>
                        <a:p>
                          <a:pPr algn="ctr"/>
                          <a:r>
                            <a:rPr lang="en-GB" sz="2400" dirty="0" smtClean="0"/>
                            <a:t>0</a:t>
                          </a:r>
                          <a:endParaRPr lang="en-GB" sz="2400" dirty="0"/>
                        </a:p>
                      </a:txBody>
                      <a:tcPr/>
                    </a:tc>
                    <a:tc>
                      <a:txBody>
                        <a:bodyPr/>
                        <a:lstStyle/>
                        <a:p>
                          <a:pPr algn="ctr"/>
                          <a:r>
                            <a:rPr lang="en-GB" sz="2400" dirty="0" smtClean="0"/>
                            <a:t>1</a:t>
                          </a:r>
                          <a:endParaRPr lang="en-GB" sz="2400" dirty="0"/>
                        </a:p>
                      </a:txBody>
                      <a:tcPr/>
                    </a:tc>
                  </a:tr>
                  <a:tr h="604520">
                    <a:tc>
                      <a:txBody>
                        <a:bodyPr/>
                        <a:lstStyle/>
                        <a:p>
                          <a:pPr algn="ctr"/>
                          <a:r>
                            <a:rPr lang="en-GB" sz="2400" dirty="0" smtClean="0"/>
                            <a:t>1</a:t>
                          </a:r>
                          <a:endParaRPr lang="en-GB" sz="2400" dirty="0"/>
                        </a:p>
                      </a:txBody>
                      <a:tcPr/>
                    </a:tc>
                    <a:tc>
                      <a:txBody>
                        <a:bodyPr/>
                        <a:lstStyle/>
                        <a:p>
                          <a:pPr algn="ctr"/>
                          <a:r>
                            <a:rPr lang="en-GB" sz="2400" dirty="0" smtClean="0"/>
                            <a:t>0</a:t>
                          </a:r>
                          <a:endParaRPr lang="en-GB" sz="2400" dirty="0"/>
                        </a:p>
                      </a:txBody>
                      <a:tcPr/>
                    </a:tc>
                  </a:tr>
                  <a:tr h="604520">
                    <a:tc>
                      <a:txBody>
                        <a:bodyPr/>
                        <a:lstStyle/>
                        <a:p>
                          <a:pPr algn="ctr"/>
                          <a:r>
                            <a:rPr lang="en-GB" sz="2400" dirty="0" smtClean="0"/>
                            <a:t>1</a:t>
                          </a:r>
                          <a:endParaRPr lang="en-GB" sz="2400" dirty="0"/>
                        </a:p>
                      </a:txBody>
                      <a:tcPr/>
                    </a:tc>
                    <a:tc>
                      <a:txBody>
                        <a:bodyPr/>
                        <a:lstStyle/>
                        <a:p>
                          <a:pPr algn="ctr"/>
                          <a:r>
                            <a:rPr lang="en-GB" sz="2400" dirty="0" err="1" smtClean="0"/>
                            <a:t>1</a:t>
                          </a:r>
                          <a:endParaRPr lang="en-GB" sz="2400" dirty="0"/>
                        </a:p>
                      </a:txBody>
                      <a:tcPr/>
                    </a:tc>
                  </a:tr>
                </a:tbl>
              </a:graphicData>
            </a:graphic>
          </p:graphicFrame>
        </mc:Fallback>
      </mc:AlternateContent>
      <mc:AlternateContent xmlns:mc="http://schemas.openxmlformats.org/markup-compatibility/2006" xmlns:a14="http://schemas.microsoft.com/office/drawing/2010/main">
        <mc:Choice Requires="a14">
          <p:graphicFrame>
            <p:nvGraphicFramePr>
              <p:cNvPr id="8" name="Table 7"/>
              <p:cNvGraphicFramePr>
                <a:graphicFrameLocks noGrp="1"/>
              </p:cNvGraphicFramePr>
              <p:nvPr>
                <p:extLst>
                  <p:ext uri="{D42A27DB-BD31-4B8C-83A1-F6EECF244321}">
                    <p14:modId xmlns:p14="http://schemas.microsoft.com/office/powerpoint/2010/main" val="2730101145"/>
                  </p:ext>
                </p:extLst>
              </p:nvPr>
            </p:nvGraphicFramePr>
            <p:xfrm>
              <a:off x="2238224" y="1766248"/>
              <a:ext cx="872328" cy="3034350"/>
            </p:xfrm>
            <a:graphic>
              <a:graphicData uri="http://schemas.openxmlformats.org/drawingml/2006/table">
                <a:tbl>
                  <a:tblPr firstRow="1" bandRow="1">
                    <a:tableStyleId>{5C22544A-7EE6-4342-B048-85BDC9FD1C3A}</a:tableStyleId>
                  </a:tblPr>
                  <a:tblGrid>
                    <a:gridCol w="872328">
                      <a:extLst>
                        <a:ext uri="{9D8B030D-6E8A-4147-A177-3AD203B41FA5}">
                          <a16:colId xmlns:a16="http://schemas.microsoft.com/office/drawing/2014/main" val="20000"/>
                        </a:ext>
                      </a:extLst>
                    </a:gridCol>
                  </a:tblGrid>
                  <a:tr h="606870">
                    <a:tc>
                      <a:txBody>
                        <a:bodyPr/>
                        <a:lstStyle/>
                        <a:p>
                          <a:pPr algn="ctr"/>
                          <a14:m>
                            <m:oMathPara xmlns:m="http://schemas.openxmlformats.org/officeDocument/2006/math">
                              <m:oMathParaPr>
                                <m:jc m:val="centerGroup"/>
                              </m:oMathParaPr>
                              <m:oMath xmlns:m="http://schemas.openxmlformats.org/officeDocument/2006/math">
                                <m:r>
                                  <a:rPr lang="en-GB" sz="2400" b="1" i="1" smtClean="0">
                                    <a:latin typeface="Cambria Math" panose="02040503050406030204" pitchFamily="18" charset="0"/>
                                    <a:ea typeface="Cambria Math" panose="02040503050406030204" pitchFamily="18" charset="0"/>
                                  </a:rPr>
                                  <m:t>¬</m:t>
                                </m:r>
                                <m:r>
                                  <a:rPr lang="en-GB" sz="2400" b="1" i="1" smtClean="0">
                                    <a:latin typeface="Cambria Math" panose="02040503050406030204" pitchFamily="18" charset="0"/>
                                  </a:rPr>
                                  <m:t>𝒑</m:t>
                                </m:r>
                              </m:oMath>
                            </m:oMathPara>
                          </a14:m>
                          <a:endParaRPr lang="en-GB" sz="2400" dirty="0"/>
                        </a:p>
                      </a:txBody>
                      <a:tcPr/>
                    </a:tc>
                    <a:extLst>
                      <a:ext uri="{0D108BD9-81ED-4DB2-BD59-A6C34878D82A}">
                        <a16:rowId xmlns:a16="http://schemas.microsoft.com/office/drawing/2014/main" val="10000"/>
                      </a:ext>
                    </a:extLst>
                  </a:tr>
                  <a:tr h="606870">
                    <a:tc>
                      <a:txBody>
                        <a:bodyPr/>
                        <a:lstStyle/>
                        <a:p>
                          <a:pPr algn="ctr"/>
                          <a:r>
                            <a:rPr lang="en-GB" sz="2400" dirty="0"/>
                            <a:t>1</a:t>
                          </a:r>
                        </a:p>
                      </a:txBody>
                      <a:tcPr/>
                    </a:tc>
                    <a:extLst>
                      <a:ext uri="{0D108BD9-81ED-4DB2-BD59-A6C34878D82A}">
                        <a16:rowId xmlns:a16="http://schemas.microsoft.com/office/drawing/2014/main" val="10001"/>
                      </a:ext>
                    </a:extLst>
                  </a:tr>
                  <a:tr h="606870">
                    <a:tc>
                      <a:txBody>
                        <a:bodyPr/>
                        <a:lstStyle/>
                        <a:p>
                          <a:pPr algn="ctr"/>
                          <a:r>
                            <a:rPr lang="en-GB" sz="2400" dirty="0"/>
                            <a:t>1</a:t>
                          </a:r>
                        </a:p>
                      </a:txBody>
                      <a:tcPr/>
                    </a:tc>
                    <a:extLst>
                      <a:ext uri="{0D108BD9-81ED-4DB2-BD59-A6C34878D82A}">
                        <a16:rowId xmlns:a16="http://schemas.microsoft.com/office/drawing/2014/main" val="10002"/>
                      </a:ext>
                    </a:extLst>
                  </a:tr>
                  <a:tr h="606870">
                    <a:tc>
                      <a:txBody>
                        <a:bodyPr/>
                        <a:lstStyle/>
                        <a:p>
                          <a:pPr algn="ctr"/>
                          <a:r>
                            <a:rPr lang="en-GB" sz="2400" dirty="0"/>
                            <a:t>0</a:t>
                          </a:r>
                        </a:p>
                      </a:txBody>
                      <a:tcPr/>
                    </a:tc>
                    <a:extLst>
                      <a:ext uri="{0D108BD9-81ED-4DB2-BD59-A6C34878D82A}">
                        <a16:rowId xmlns:a16="http://schemas.microsoft.com/office/drawing/2014/main" val="10003"/>
                      </a:ext>
                    </a:extLst>
                  </a:tr>
                  <a:tr h="606870">
                    <a:tc>
                      <a:txBody>
                        <a:bodyPr/>
                        <a:lstStyle/>
                        <a:p>
                          <a:pPr algn="ctr"/>
                          <a:r>
                            <a:rPr lang="en-GB" sz="2400" dirty="0"/>
                            <a:t>0</a:t>
                          </a:r>
                        </a:p>
                      </a:txBody>
                      <a:tcPr/>
                    </a:tc>
                    <a:extLst>
                      <a:ext uri="{0D108BD9-81ED-4DB2-BD59-A6C34878D82A}">
                        <a16:rowId xmlns:a16="http://schemas.microsoft.com/office/drawing/2014/main" val="10004"/>
                      </a:ext>
                    </a:extLst>
                  </a:tr>
                </a:tbl>
              </a:graphicData>
            </a:graphic>
          </p:graphicFrame>
        </mc:Choice>
        <mc:Fallback xmlns="">
          <p:graphicFrame>
            <p:nvGraphicFramePr>
              <p:cNvPr id="8" name="Table 7"/>
              <p:cNvGraphicFramePr>
                <a:graphicFrameLocks noGrp="1"/>
              </p:cNvGraphicFramePr>
              <p:nvPr>
                <p:extLst>
                  <p:ext uri="{D42A27DB-BD31-4B8C-83A1-F6EECF244321}">
                    <p14:modId xmlns:p14="http://schemas.microsoft.com/office/powerpoint/2010/main" val="2730101145"/>
                  </p:ext>
                </p:extLst>
              </p:nvPr>
            </p:nvGraphicFramePr>
            <p:xfrm>
              <a:off x="2238224" y="1766248"/>
              <a:ext cx="872328" cy="3034350"/>
            </p:xfrm>
            <a:graphic>
              <a:graphicData uri="http://schemas.openxmlformats.org/drawingml/2006/table">
                <a:tbl>
                  <a:tblPr firstRow="1" bandRow="1">
                    <a:tableStyleId>{5C22544A-7EE6-4342-B048-85BDC9FD1C3A}</a:tableStyleId>
                  </a:tblPr>
                  <a:tblGrid>
                    <a:gridCol w="872328"/>
                  </a:tblGrid>
                  <a:tr h="606870">
                    <a:tc>
                      <a:txBody>
                        <a:bodyPr/>
                        <a:lstStyle/>
                        <a:p>
                          <a:endParaRPr lang="en-US"/>
                        </a:p>
                      </a:txBody>
                      <a:tcPr>
                        <a:blipFill rotWithShape="0">
                          <a:blip r:embed="rId3"/>
                          <a:stretch>
                            <a:fillRect l="-694" t="-1000" r="-2778" b="-401000"/>
                          </a:stretch>
                        </a:blipFill>
                      </a:tcPr>
                    </a:tc>
                  </a:tr>
                  <a:tr h="606870">
                    <a:tc>
                      <a:txBody>
                        <a:bodyPr/>
                        <a:lstStyle/>
                        <a:p>
                          <a:pPr algn="ctr"/>
                          <a:r>
                            <a:rPr lang="en-GB" sz="2400" dirty="0" smtClean="0"/>
                            <a:t>1</a:t>
                          </a:r>
                          <a:endParaRPr lang="en-GB" sz="2400" dirty="0"/>
                        </a:p>
                      </a:txBody>
                      <a:tcPr/>
                    </a:tc>
                  </a:tr>
                  <a:tr h="606870">
                    <a:tc>
                      <a:txBody>
                        <a:bodyPr/>
                        <a:lstStyle/>
                        <a:p>
                          <a:pPr algn="ctr"/>
                          <a:r>
                            <a:rPr lang="en-GB" sz="2400" dirty="0" smtClean="0"/>
                            <a:t>1</a:t>
                          </a:r>
                          <a:endParaRPr lang="en-GB" sz="2400" dirty="0"/>
                        </a:p>
                      </a:txBody>
                      <a:tcPr/>
                    </a:tc>
                  </a:tr>
                  <a:tr h="606870">
                    <a:tc>
                      <a:txBody>
                        <a:bodyPr/>
                        <a:lstStyle/>
                        <a:p>
                          <a:pPr algn="ctr"/>
                          <a:r>
                            <a:rPr lang="en-GB" sz="2400" dirty="0" smtClean="0"/>
                            <a:t>0</a:t>
                          </a:r>
                          <a:endParaRPr lang="en-GB" sz="2400" dirty="0"/>
                        </a:p>
                      </a:txBody>
                      <a:tcPr/>
                    </a:tc>
                  </a:tr>
                  <a:tr h="606870">
                    <a:tc>
                      <a:txBody>
                        <a:bodyPr/>
                        <a:lstStyle/>
                        <a:p>
                          <a:pPr algn="ctr"/>
                          <a:r>
                            <a:rPr lang="en-GB" sz="2400" dirty="0" smtClean="0"/>
                            <a:t>0</a:t>
                          </a:r>
                          <a:endParaRPr lang="en-GB" sz="2400" dirty="0"/>
                        </a:p>
                      </a:txBody>
                      <a:tcPr/>
                    </a:tc>
                  </a:tr>
                </a:tbl>
              </a:graphicData>
            </a:graphic>
          </p:graphicFrame>
        </mc:Fallback>
      </mc:AlternateContent>
      <mc:AlternateContent xmlns:mc="http://schemas.openxmlformats.org/markup-compatibility/2006" xmlns:a14="http://schemas.microsoft.com/office/drawing/2010/main">
        <mc:Choice Requires="a14">
          <p:graphicFrame>
            <p:nvGraphicFramePr>
              <p:cNvPr id="9" name="Table 8"/>
              <p:cNvGraphicFramePr>
                <a:graphicFrameLocks noGrp="1"/>
              </p:cNvGraphicFramePr>
              <p:nvPr>
                <p:extLst>
                  <p:ext uri="{D42A27DB-BD31-4B8C-83A1-F6EECF244321}">
                    <p14:modId xmlns:p14="http://schemas.microsoft.com/office/powerpoint/2010/main" val="717202866"/>
                  </p:ext>
                </p:extLst>
              </p:nvPr>
            </p:nvGraphicFramePr>
            <p:xfrm>
              <a:off x="3124200" y="1778000"/>
              <a:ext cx="838200" cy="3022600"/>
            </p:xfrm>
            <a:graphic>
              <a:graphicData uri="http://schemas.openxmlformats.org/drawingml/2006/table">
                <a:tbl>
                  <a:tblPr firstRow="1" bandRow="1">
                    <a:tableStyleId>{5C22544A-7EE6-4342-B048-85BDC9FD1C3A}</a:tableStyleId>
                  </a:tblPr>
                  <a:tblGrid>
                    <a:gridCol w="838200">
                      <a:extLst>
                        <a:ext uri="{9D8B030D-6E8A-4147-A177-3AD203B41FA5}">
                          <a16:colId xmlns:a16="http://schemas.microsoft.com/office/drawing/2014/main" val="20000"/>
                        </a:ext>
                      </a:extLst>
                    </a:gridCol>
                  </a:tblGrid>
                  <a:tr h="604520">
                    <a:tc>
                      <a:txBody>
                        <a:bodyPr/>
                        <a:lstStyle/>
                        <a:p>
                          <a:pPr algn="ctr"/>
                          <a14:m>
                            <m:oMathPara xmlns:m="http://schemas.openxmlformats.org/officeDocument/2006/math">
                              <m:oMathParaPr>
                                <m:jc m:val="centerGroup"/>
                              </m:oMathParaPr>
                              <m:oMath xmlns:m="http://schemas.openxmlformats.org/officeDocument/2006/math">
                                <m:r>
                                  <a:rPr lang="en-GB" sz="2400" b="1" i="1" smtClean="0">
                                    <a:latin typeface="Cambria Math" panose="02040503050406030204" pitchFamily="18" charset="0"/>
                                    <a:ea typeface="Cambria Math" panose="02040503050406030204" pitchFamily="18" charset="0"/>
                                  </a:rPr>
                                  <m:t>¬</m:t>
                                </m:r>
                                <m:r>
                                  <a:rPr lang="en-GB" sz="2400" b="1" i="1" smtClean="0">
                                    <a:latin typeface="Cambria Math" panose="02040503050406030204" pitchFamily="18" charset="0"/>
                                  </a:rPr>
                                  <m:t>𝒒</m:t>
                                </m:r>
                              </m:oMath>
                            </m:oMathPara>
                          </a14:m>
                          <a:endParaRPr lang="en-GB" sz="2400" dirty="0"/>
                        </a:p>
                      </a:txBody>
                      <a:tcPr/>
                    </a:tc>
                    <a:extLst>
                      <a:ext uri="{0D108BD9-81ED-4DB2-BD59-A6C34878D82A}">
                        <a16:rowId xmlns:a16="http://schemas.microsoft.com/office/drawing/2014/main" val="10000"/>
                      </a:ext>
                    </a:extLst>
                  </a:tr>
                  <a:tr h="604520">
                    <a:tc>
                      <a:txBody>
                        <a:bodyPr/>
                        <a:lstStyle/>
                        <a:p>
                          <a:pPr algn="ctr"/>
                          <a:r>
                            <a:rPr lang="en-GB" sz="2400" dirty="0"/>
                            <a:t>1</a:t>
                          </a:r>
                        </a:p>
                      </a:txBody>
                      <a:tcPr/>
                    </a:tc>
                    <a:extLst>
                      <a:ext uri="{0D108BD9-81ED-4DB2-BD59-A6C34878D82A}">
                        <a16:rowId xmlns:a16="http://schemas.microsoft.com/office/drawing/2014/main" val="10001"/>
                      </a:ext>
                    </a:extLst>
                  </a:tr>
                  <a:tr h="604520">
                    <a:tc>
                      <a:txBody>
                        <a:bodyPr/>
                        <a:lstStyle/>
                        <a:p>
                          <a:pPr algn="ctr"/>
                          <a:r>
                            <a:rPr lang="en-GB" sz="2400" dirty="0"/>
                            <a:t>0</a:t>
                          </a:r>
                        </a:p>
                      </a:txBody>
                      <a:tcPr/>
                    </a:tc>
                    <a:extLst>
                      <a:ext uri="{0D108BD9-81ED-4DB2-BD59-A6C34878D82A}">
                        <a16:rowId xmlns:a16="http://schemas.microsoft.com/office/drawing/2014/main" val="10002"/>
                      </a:ext>
                    </a:extLst>
                  </a:tr>
                  <a:tr h="604520">
                    <a:tc>
                      <a:txBody>
                        <a:bodyPr/>
                        <a:lstStyle/>
                        <a:p>
                          <a:pPr algn="ctr"/>
                          <a:r>
                            <a:rPr lang="en-GB" sz="2400" dirty="0"/>
                            <a:t>1</a:t>
                          </a:r>
                        </a:p>
                      </a:txBody>
                      <a:tcPr/>
                    </a:tc>
                    <a:extLst>
                      <a:ext uri="{0D108BD9-81ED-4DB2-BD59-A6C34878D82A}">
                        <a16:rowId xmlns:a16="http://schemas.microsoft.com/office/drawing/2014/main" val="10003"/>
                      </a:ext>
                    </a:extLst>
                  </a:tr>
                  <a:tr h="604520">
                    <a:tc>
                      <a:txBody>
                        <a:bodyPr/>
                        <a:lstStyle/>
                        <a:p>
                          <a:pPr algn="ctr"/>
                          <a:r>
                            <a:rPr lang="en-GB" sz="2400" dirty="0" err="1"/>
                            <a:t>0</a:t>
                          </a:r>
                          <a:endParaRPr lang="en-GB" sz="2400" dirty="0"/>
                        </a:p>
                      </a:txBody>
                      <a:tcPr/>
                    </a:tc>
                    <a:extLst>
                      <a:ext uri="{0D108BD9-81ED-4DB2-BD59-A6C34878D82A}">
                        <a16:rowId xmlns:a16="http://schemas.microsoft.com/office/drawing/2014/main" val="10004"/>
                      </a:ext>
                    </a:extLst>
                  </a:tr>
                </a:tbl>
              </a:graphicData>
            </a:graphic>
          </p:graphicFrame>
        </mc:Choice>
        <mc:Fallback xmlns="">
          <p:graphicFrame>
            <p:nvGraphicFramePr>
              <p:cNvPr id="9" name="Table 8"/>
              <p:cNvGraphicFramePr>
                <a:graphicFrameLocks noGrp="1"/>
              </p:cNvGraphicFramePr>
              <p:nvPr>
                <p:extLst>
                  <p:ext uri="{D42A27DB-BD31-4B8C-83A1-F6EECF244321}">
                    <p14:modId xmlns:p14="http://schemas.microsoft.com/office/powerpoint/2010/main" val="717202866"/>
                  </p:ext>
                </p:extLst>
              </p:nvPr>
            </p:nvGraphicFramePr>
            <p:xfrm>
              <a:off x="3124200" y="1778000"/>
              <a:ext cx="838200" cy="3022600"/>
            </p:xfrm>
            <a:graphic>
              <a:graphicData uri="http://schemas.openxmlformats.org/drawingml/2006/table">
                <a:tbl>
                  <a:tblPr firstRow="1" bandRow="1">
                    <a:tableStyleId>{5C22544A-7EE6-4342-B048-85BDC9FD1C3A}</a:tableStyleId>
                  </a:tblPr>
                  <a:tblGrid>
                    <a:gridCol w="838200"/>
                  </a:tblGrid>
                  <a:tr h="604520">
                    <a:tc>
                      <a:txBody>
                        <a:bodyPr/>
                        <a:lstStyle/>
                        <a:p>
                          <a:endParaRPr lang="en-US"/>
                        </a:p>
                      </a:txBody>
                      <a:tcPr>
                        <a:blipFill rotWithShape="0">
                          <a:blip r:embed="rId4"/>
                          <a:stretch>
                            <a:fillRect l="-725" t="-1010" r="-3623" b="-404040"/>
                          </a:stretch>
                        </a:blipFill>
                      </a:tcPr>
                    </a:tc>
                  </a:tr>
                  <a:tr h="604520">
                    <a:tc>
                      <a:txBody>
                        <a:bodyPr/>
                        <a:lstStyle/>
                        <a:p>
                          <a:pPr algn="ctr"/>
                          <a:r>
                            <a:rPr lang="en-GB" sz="2400" dirty="0" smtClean="0"/>
                            <a:t>1</a:t>
                          </a:r>
                          <a:endParaRPr lang="en-GB" sz="2400" dirty="0"/>
                        </a:p>
                      </a:txBody>
                      <a:tcPr/>
                    </a:tc>
                  </a:tr>
                  <a:tr h="604520">
                    <a:tc>
                      <a:txBody>
                        <a:bodyPr/>
                        <a:lstStyle/>
                        <a:p>
                          <a:pPr algn="ctr"/>
                          <a:r>
                            <a:rPr lang="en-GB" sz="2400" dirty="0" smtClean="0"/>
                            <a:t>0</a:t>
                          </a:r>
                          <a:endParaRPr lang="en-GB" sz="2400" dirty="0"/>
                        </a:p>
                      </a:txBody>
                      <a:tcPr/>
                    </a:tc>
                  </a:tr>
                  <a:tr h="604520">
                    <a:tc>
                      <a:txBody>
                        <a:bodyPr/>
                        <a:lstStyle/>
                        <a:p>
                          <a:pPr algn="ctr"/>
                          <a:r>
                            <a:rPr lang="en-GB" sz="2400" dirty="0" smtClean="0"/>
                            <a:t>1</a:t>
                          </a:r>
                          <a:endParaRPr lang="en-GB" sz="2400" dirty="0"/>
                        </a:p>
                      </a:txBody>
                      <a:tcPr/>
                    </a:tc>
                  </a:tr>
                  <a:tr h="604520">
                    <a:tc>
                      <a:txBody>
                        <a:bodyPr/>
                        <a:lstStyle/>
                        <a:p>
                          <a:pPr algn="ctr"/>
                          <a:r>
                            <a:rPr lang="en-GB" sz="2400" dirty="0" err="1" smtClean="0"/>
                            <a:t>0</a:t>
                          </a:r>
                          <a:endParaRPr lang="en-GB" sz="2400" dirty="0"/>
                        </a:p>
                      </a:txBody>
                      <a:tcPr/>
                    </a:tc>
                  </a:tr>
                </a:tbl>
              </a:graphicData>
            </a:graphic>
          </p:graphicFrame>
        </mc:Fallback>
      </mc:AlternateContent>
      <mc:AlternateContent xmlns:mc="http://schemas.openxmlformats.org/markup-compatibility/2006" xmlns:a14="http://schemas.microsoft.com/office/drawing/2010/main">
        <mc:Choice Requires="a14">
          <p:graphicFrame>
            <p:nvGraphicFramePr>
              <p:cNvPr id="10" name="Table 9"/>
              <p:cNvGraphicFramePr>
                <a:graphicFrameLocks noGrp="1"/>
              </p:cNvGraphicFramePr>
              <p:nvPr>
                <p:extLst>
                  <p:ext uri="{D42A27DB-BD31-4B8C-83A1-F6EECF244321}">
                    <p14:modId xmlns:p14="http://schemas.microsoft.com/office/powerpoint/2010/main" val="3300023299"/>
                  </p:ext>
                </p:extLst>
              </p:nvPr>
            </p:nvGraphicFramePr>
            <p:xfrm>
              <a:off x="3962400" y="1779896"/>
              <a:ext cx="990600" cy="3022600"/>
            </p:xfrm>
            <a:graphic>
              <a:graphicData uri="http://schemas.openxmlformats.org/drawingml/2006/table">
                <a:tbl>
                  <a:tblPr firstRow="1" bandRow="1">
                    <a:tableStyleId>{5C22544A-7EE6-4342-B048-85BDC9FD1C3A}</a:tableStyleId>
                  </a:tblPr>
                  <a:tblGrid>
                    <a:gridCol w="990600">
                      <a:extLst>
                        <a:ext uri="{9D8B030D-6E8A-4147-A177-3AD203B41FA5}">
                          <a16:colId xmlns:a16="http://schemas.microsoft.com/office/drawing/2014/main" val="20000"/>
                        </a:ext>
                      </a:extLst>
                    </a:gridCol>
                  </a:tblGrid>
                  <a:tr h="604520">
                    <a:tc>
                      <a:txBody>
                        <a:bodyPr/>
                        <a:lstStyle/>
                        <a:p>
                          <a:pPr algn="ctr"/>
                          <a14:m>
                            <m:oMathPara xmlns:m="http://schemas.openxmlformats.org/officeDocument/2006/math">
                              <m:oMathParaPr>
                                <m:jc m:val="centerGroup"/>
                              </m:oMathParaPr>
                              <m:oMath xmlns:m="http://schemas.openxmlformats.org/officeDocument/2006/math">
                                <m:r>
                                  <a:rPr lang="en-GB" sz="2400" b="1" i="1" smtClean="0">
                                    <a:latin typeface="Cambria Math" panose="02040503050406030204" pitchFamily="18" charset="0"/>
                                  </a:rPr>
                                  <m:t>𝒑</m:t>
                                </m:r>
                                <m:r>
                                  <a:rPr lang="en-GB" sz="2400" b="1" i="1" smtClean="0">
                                    <a:latin typeface="Cambria Math" panose="02040503050406030204" pitchFamily="18" charset="0"/>
                                    <a:ea typeface="Cambria Math" panose="02040503050406030204" pitchFamily="18" charset="0"/>
                                  </a:rPr>
                                  <m:t>→</m:t>
                                </m:r>
                                <m:r>
                                  <a:rPr lang="en-GB" sz="2400" b="1" i="1" smtClean="0">
                                    <a:latin typeface="Cambria Math" panose="02040503050406030204" pitchFamily="18" charset="0"/>
                                  </a:rPr>
                                  <m:t>𝒒</m:t>
                                </m:r>
                              </m:oMath>
                            </m:oMathPara>
                          </a14:m>
                          <a:endParaRPr lang="en-GB" sz="2400" dirty="0"/>
                        </a:p>
                      </a:txBody>
                      <a:tcPr/>
                    </a:tc>
                    <a:extLst>
                      <a:ext uri="{0D108BD9-81ED-4DB2-BD59-A6C34878D82A}">
                        <a16:rowId xmlns:a16="http://schemas.microsoft.com/office/drawing/2014/main" val="10000"/>
                      </a:ext>
                    </a:extLst>
                  </a:tr>
                  <a:tr h="604520">
                    <a:tc>
                      <a:txBody>
                        <a:bodyPr/>
                        <a:lstStyle/>
                        <a:p>
                          <a:pPr algn="ctr"/>
                          <a:r>
                            <a:rPr lang="en-GB" sz="2400" dirty="0">
                              <a:solidFill>
                                <a:srgbClr val="FF0000"/>
                              </a:solidFill>
                            </a:rPr>
                            <a:t>1</a:t>
                          </a:r>
                        </a:p>
                      </a:txBody>
                      <a:tcPr/>
                    </a:tc>
                    <a:extLst>
                      <a:ext uri="{0D108BD9-81ED-4DB2-BD59-A6C34878D82A}">
                        <a16:rowId xmlns:a16="http://schemas.microsoft.com/office/drawing/2014/main" val="10001"/>
                      </a:ext>
                    </a:extLst>
                  </a:tr>
                  <a:tr h="604520">
                    <a:tc>
                      <a:txBody>
                        <a:bodyPr/>
                        <a:lstStyle/>
                        <a:p>
                          <a:pPr algn="ctr"/>
                          <a:r>
                            <a:rPr lang="en-GB" sz="2400" dirty="0">
                              <a:solidFill>
                                <a:srgbClr val="FF0000"/>
                              </a:solidFill>
                            </a:rPr>
                            <a:t>1</a:t>
                          </a:r>
                        </a:p>
                      </a:txBody>
                      <a:tcPr/>
                    </a:tc>
                    <a:extLst>
                      <a:ext uri="{0D108BD9-81ED-4DB2-BD59-A6C34878D82A}">
                        <a16:rowId xmlns:a16="http://schemas.microsoft.com/office/drawing/2014/main" val="10002"/>
                      </a:ext>
                    </a:extLst>
                  </a:tr>
                  <a:tr h="604520">
                    <a:tc>
                      <a:txBody>
                        <a:bodyPr/>
                        <a:lstStyle/>
                        <a:p>
                          <a:pPr algn="ctr"/>
                          <a:r>
                            <a:rPr lang="en-GB" sz="2400" dirty="0">
                              <a:solidFill>
                                <a:srgbClr val="FF0000"/>
                              </a:solidFill>
                            </a:rPr>
                            <a:t>0</a:t>
                          </a:r>
                        </a:p>
                      </a:txBody>
                      <a:tcPr/>
                    </a:tc>
                    <a:extLst>
                      <a:ext uri="{0D108BD9-81ED-4DB2-BD59-A6C34878D82A}">
                        <a16:rowId xmlns:a16="http://schemas.microsoft.com/office/drawing/2014/main" val="10003"/>
                      </a:ext>
                    </a:extLst>
                  </a:tr>
                  <a:tr h="604520">
                    <a:tc>
                      <a:txBody>
                        <a:bodyPr/>
                        <a:lstStyle/>
                        <a:p>
                          <a:pPr algn="ctr"/>
                          <a:r>
                            <a:rPr lang="en-GB" sz="2400" dirty="0" err="1">
                              <a:solidFill>
                                <a:srgbClr val="FF0000"/>
                              </a:solidFill>
                            </a:rPr>
                            <a:t>1</a:t>
                          </a:r>
                          <a:endParaRPr lang="en-GB" sz="2400" dirty="0">
                            <a:solidFill>
                              <a:srgbClr val="FF0000"/>
                            </a:solidFill>
                          </a:endParaRPr>
                        </a:p>
                      </a:txBody>
                      <a:tcPr/>
                    </a:tc>
                    <a:extLst>
                      <a:ext uri="{0D108BD9-81ED-4DB2-BD59-A6C34878D82A}">
                        <a16:rowId xmlns:a16="http://schemas.microsoft.com/office/drawing/2014/main" val="10004"/>
                      </a:ext>
                    </a:extLst>
                  </a:tr>
                </a:tbl>
              </a:graphicData>
            </a:graphic>
          </p:graphicFrame>
        </mc:Choice>
        <mc:Fallback xmlns="">
          <p:graphicFrame>
            <p:nvGraphicFramePr>
              <p:cNvPr id="10" name="Table 9"/>
              <p:cNvGraphicFramePr>
                <a:graphicFrameLocks noGrp="1"/>
              </p:cNvGraphicFramePr>
              <p:nvPr>
                <p:extLst>
                  <p:ext uri="{D42A27DB-BD31-4B8C-83A1-F6EECF244321}">
                    <p14:modId xmlns:p14="http://schemas.microsoft.com/office/powerpoint/2010/main" val="3300023299"/>
                  </p:ext>
                </p:extLst>
              </p:nvPr>
            </p:nvGraphicFramePr>
            <p:xfrm>
              <a:off x="3962400" y="1779896"/>
              <a:ext cx="990600" cy="3022600"/>
            </p:xfrm>
            <a:graphic>
              <a:graphicData uri="http://schemas.openxmlformats.org/drawingml/2006/table">
                <a:tbl>
                  <a:tblPr firstRow="1" bandRow="1">
                    <a:tableStyleId>{5C22544A-7EE6-4342-B048-85BDC9FD1C3A}</a:tableStyleId>
                  </a:tblPr>
                  <a:tblGrid>
                    <a:gridCol w="990600">
                      <a:extLst>
                        <a:ext uri="{9D8B030D-6E8A-4147-A177-3AD203B41FA5}">
                          <a16:colId xmlns:a16="http://schemas.microsoft.com/office/drawing/2014/main" val="20000"/>
                        </a:ext>
                      </a:extLst>
                    </a:gridCol>
                  </a:tblGrid>
                  <a:tr h="604520">
                    <a:tc>
                      <a:txBody>
                        <a:bodyPr/>
                        <a:lstStyle/>
                        <a:p>
                          <a:endParaRPr lang="si-LK"/>
                        </a:p>
                      </a:txBody>
                      <a:tcPr>
                        <a:blipFill>
                          <a:blip r:embed="rId5"/>
                          <a:stretch>
                            <a:fillRect l="-1227" t="-1010" r="-2454" b="-404040"/>
                          </a:stretch>
                        </a:blipFill>
                      </a:tcPr>
                    </a:tc>
                    <a:extLst>
                      <a:ext uri="{0D108BD9-81ED-4DB2-BD59-A6C34878D82A}">
                        <a16:rowId xmlns:a16="http://schemas.microsoft.com/office/drawing/2014/main" val="10000"/>
                      </a:ext>
                    </a:extLst>
                  </a:tr>
                  <a:tr h="604520">
                    <a:tc>
                      <a:txBody>
                        <a:bodyPr/>
                        <a:lstStyle/>
                        <a:p>
                          <a:pPr algn="ctr"/>
                          <a:r>
                            <a:rPr lang="en-GB" sz="2400" dirty="0">
                              <a:solidFill>
                                <a:srgbClr val="FF0000"/>
                              </a:solidFill>
                            </a:rPr>
                            <a:t>1</a:t>
                          </a:r>
                        </a:p>
                      </a:txBody>
                      <a:tcPr/>
                    </a:tc>
                    <a:extLst>
                      <a:ext uri="{0D108BD9-81ED-4DB2-BD59-A6C34878D82A}">
                        <a16:rowId xmlns:a16="http://schemas.microsoft.com/office/drawing/2014/main" val="10001"/>
                      </a:ext>
                    </a:extLst>
                  </a:tr>
                  <a:tr h="604520">
                    <a:tc>
                      <a:txBody>
                        <a:bodyPr/>
                        <a:lstStyle/>
                        <a:p>
                          <a:pPr algn="ctr"/>
                          <a:r>
                            <a:rPr lang="en-GB" sz="2400" dirty="0">
                              <a:solidFill>
                                <a:srgbClr val="FF0000"/>
                              </a:solidFill>
                            </a:rPr>
                            <a:t>1</a:t>
                          </a:r>
                        </a:p>
                      </a:txBody>
                      <a:tcPr/>
                    </a:tc>
                    <a:extLst>
                      <a:ext uri="{0D108BD9-81ED-4DB2-BD59-A6C34878D82A}">
                        <a16:rowId xmlns:a16="http://schemas.microsoft.com/office/drawing/2014/main" val="10002"/>
                      </a:ext>
                    </a:extLst>
                  </a:tr>
                  <a:tr h="604520">
                    <a:tc>
                      <a:txBody>
                        <a:bodyPr/>
                        <a:lstStyle/>
                        <a:p>
                          <a:pPr algn="ctr"/>
                          <a:r>
                            <a:rPr lang="en-GB" sz="2400" dirty="0">
                              <a:solidFill>
                                <a:srgbClr val="FF0000"/>
                              </a:solidFill>
                            </a:rPr>
                            <a:t>0</a:t>
                          </a:r>
                        </a:p>
                      </a:txBody>
                      <a:tcPr/>
                    </a:tc>
                    <a:extLst>
                      <a:ext uri="{0D108BD9-81ED-4DB2-BD59-A6C34878D82A}">
                        <a16:rowId xmlns:a16="http://schemas.microsoft.com/office/drawing/2014/main" val="10003"/>
                      </a:ext>
                    </a:extLst>
                  </a:tr>
                  <a:tr h="604520">
                    <a:tc>
                      <a:txBody>
                        <a:bodyPr/>
                        <a:lstStyle/>
                        <a:p>
                          <a:pPr algn="ctr"/>
                          <a:r>
                            <a:rPr lang="en-GB" sz="2400" dirty="0" err="1">
                              <a:solidFill>
                                <a:srgbClr val="FF0000"/>
                              </a:solidFill>
                            </a:rPr>
                            <a:t>1</a:t>
                          </a:r>
                          <a:endParaRPr lang="en-GB" sz="2400" dirty="0">
                            <a:solidFill>
                              <a:srgbClr val="FF0000"/>
                            </a:solidFill>
                          </a:endParaRPr>
                        </a:p>
                      </a:txBody>
                      <a:tcPr/>
                    </a:tc>
                    <a:extLst>
                      <a:ext uri="{0D108BD9-81ED-4DB2-BD59-A6C34878D82A}">
                        <a16:rowId xmlns:a16="http://schemas.microsoft.com/office/drawing/2014/main" val="10004"/>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11" name="Table 10"/>
              <p:cNvGraphicFramePr>
                <a:graphicFrameLocks noGrp="1"/>
              </p:cNvGraphicFramePr>
              <p:nvPr>
                <p:extLst>
                  <p:ext uri="{D42A27DB-BD31-4B8C-83A1-F6EECF244321}">
                    <p14:modId xmlns:p14="http://schemas.microsoft.com/office/powerpoint/2010/main" val="1546256849"/>
                  </p:ext>
                </p:extLst>
              </p:nvPr>
            </p:nvGraphicFramePr>
            <p:xfrm>
              <a:off x="4974608" y="1779896"/>
              <a:ext cx="990600" cy="3022600"/>
            </p:xfrm>
            <a:graphic>
              <a:graphicData uri="http://schemas.openxmlformats.org/drawingml/2006/table">
                <a:tbl>
                  <a:tblPr firstRow="1" bandRow="1">
                    <a:tableStyleId>{5C22544A-7EE6-4342-B048-85BDC9FD1C3A}</a:tableStyleId>
                  </a:tblPr>
                  <a:tblGrid>
                    <a:gridCol w="990600">
                      <a:extLst>
                        <a:ext uri="{9D8B030D-6E8A-4147-A177-3AD203B41FA5}">
                          <a16:colId xmlns:a16="http://schemas.microsoft.com/office/drawing/2014/main" val="20000"/>
                        </a:ext>
                      </a:extLst>
                    </a:gridCol>
                  </a:tblGrid>
                  <a:tr h="604520">
                    <a:tc>
                      <a:txBody>
                        <a:bodyPr/>
                        <a:lstStyle/>
                        <a:p>
                          <a:pPr algn="ctr"/>
                          <a14:m>
                            <m:oMathPara xmlns:m="http://schemas.openxmlformats.org/officeDocument/2006/math">
                              <m:oMathParaPr>
                                <m:jc m:val="centerGroup"/>
                              </m:oMathParaPr>
                              <m:oMath xmlns:m="http://schemas.openxmlformats.org/officeDocument/2006/math">
                                <m:r>
                                  <a:rPr lang="en-GB" sz="2400" b="1" i="1" smtClean="0">
                                    <a:latin typeface="Cambria Math" panose="02040503050406030204" pitchFamily="18" charset="0"/>
                                  </a:rPr>
                                  <m:t>𝒒</m:t>
                                </m:r>
                                <m:r>
                                  <a:rPr lang="en-GB" sz="2400" b="1" i="1" smtClean="0">
                                    <a:latin typeface="Cambria Math" panose="02040503050406030204" pitchFamily="18" charset="0"/>
                                    <a:ea typeface="Cambria Math" panose="02040503050406030204" pitchFamily="18" charset="0"/>
                                  </a:rPr>
                                  <m:t>→</m:t>
                                </m:r>
                                <m:r>
                                  <a:rPr lang="en-GB" sz="2400" b="1" i="1" smtClean="0">
                                    <a:latin typeface="Cambria Math" panose="02040503050406030204" pitchFamily="18" charset="0"/>
                                    <a:ea typeface="Cambria Math" panose="02040503050406030204" pitchFamily="18" charset="0"/>
                                  </a:rPr>
                                  <m:t>𝒑</m:t>
                                </m:r>
                              </m:oMath>
                            </m:oMathPara>
                          </a14:m>
                          <a:endParaRPr lang="en-GB" sz="2400" dirty="0"/>
                        </a:p>
                      </a:txBody>
                      <a:tcPr/>
                    </a:tc>
                    <a:extLst>
                      <a:ext uri="{0D108BD9-81ED-4DB2-BD59-A6C34878D82A}">
                        <a16:rowId xmlns:a16="http://schemas.microsoft.com/office/drawing/2014/main" val="10000"/>
                      </a:ext>
                    </a:extLst>
                  </a:tr>
                  <a:tr h="604520">
                    <a:tc>
                      <a:txBody>
                        <a:bodyPr/>
                        <a:lstStyle/>
                        <a:p>
                          <a:pPr algn="ctr"/>
                          <a:r>
                            <a:rPr lang="en-GB" sz="2400" dirty="0">
                              <a:solidFill>
                                <a:srgbClr val="00B0F0"/>
                              </a:solidFill>
                            </a:rPr>
                            <a:t>1</a:t>
                          </a:r>
                        </a:p>
                      </a:txBody>
                      <a:tcPr/>
                    </a:tc>
                    <a:extLst>
                      <a:ext uri="{0D108BD9-81ED-4DB2-BD59-A6C34878D82A}">
                        <a16:rowId xmlns:a16="http://schemas.microsoft.com/office/drawing/2014/main" val="10001"/>
                      </a:ext>
                    </a:extLst>
                  </a:tr>
                  <a:tr h="604520">
                    <a:tc>
                      <a:txBody>
                        <a:bodyPr/>
                        <a:lstStyle/>
                        <a:p>
                          <a:pPr algn="ctr"/>
                          <a:r>
                            <a:rPr lang="en-GB" sz="2400" dirty="0">
                              <a:solidFill>
                                <a:srgbClr val="00B0F0"/>
                              </a:solidFill>
                            </a:rPr>
                            <a:t>0</a:t>
                          </a:r>
                        </a:p>
                      </a:txBody>
                      <a:tcPr/>
                    </a:tc>
                    <a:extLst>
                      <a:ext uri="{0D108BD9-81ED-4DB2-BD59-A6C34878D82A}">
                        <a16:rowId xmlns:a16="http://schemas.microsoft.com/office/drawing/2014/main" val="10002"/>
                      </a:ext>
                    </a:extLst>
                  </a:tr>
                  <a:tr h="604520">
                    <a:tc>
                      <a:txBody>
                        <a:bodyPr/>
                        <a:lstStyle/>
                        <a:p>
                          <a:pPr algn="ctr"/>
                          <a:r>
                            <a:rPr lang="en-GB" sz="2400" dirty="0">
                              <a:solidFill>
                                <a:srgbClr val="00B0F0"/>
                              </a:solidFill>
                            </a:rPr>
                            <a:t>1</a:t>
                          </a:r>
                        </a:p>
                      </a:txBody>
                      <a:tcPr/>
                    </a:tc>
                    <a:extLst>
                      <a:ext uri="{0D108BD9-81ED-4DB2-BD59-A6C34878D82A}">
                        <a16:rowId xmlns:a16="http://schemas.microsoft.com/office/drawing/2014/main" val="10003"/>
                      </a:ext>
                    </a:extLst>
                  </a:tr>
                  <a:tr h="604520">
                    <a:tc>
                      <a:txBody>
                        <a:bodyPr/>
                        <a:lstStyle/>
                        <a:p>
                          <a:pPr algn="ctr"/>
                          <a:r>
                            <a:rPr lang="en-GB" sz="2400" dirty="0" err="1">
                              <a:solidFill>
                                <a:srgbClr val="00B0F0"/>
                              </a:solidFill>
                            </a:rPr>
                            <a:t>1</a:t>
                          </a:r>
                          <a:endParaRPr lang="en-GB" sz="2400" dirty="0">
                            <a:solidFill>
                              <a:srgbClr val="00B0F0"/>
                            </a:solidFill>
                          </a:endParaRPr>
                        </a:p>
                      </a:txBody>
                      <a:tcPr/>
                    </a:tc>
                    <a:extLst>
                      <a:ext uri="{0D108BD9-81ED-4DB2-BD59-A6C34878D82A}">
                        <a16:rowId xmlns:a16="http://schemas.microsoft.com/office/drawing/2014/main" val="10004"/>
                      </a:ext>
                    </a:extLst>
                  </a:tr>
                </a:tbl>
              </a:graphicData>
            </a:graphic>
          </p:graphicFrame>
        </mc:Choice>
        <mc:Fallback xmlns="">
          <p:graphicFrame>
            <p:nvGraphicFramePr>
              <p:cNvPr id="11" name="Table 10"/>
              <p:cNvGraphicFramePr>
                <a:graphicFrameLocks noGrp="1"/>
              </p:cNvGraphicFramePr>
              <p:nvPr>
                <p:extLst>
                  <p:ext uri="{D42A27DB-BD31-4B8C-83A1-F6EECF244321}">
                    <p14:modId xmlns:p14="http://schemas.microsoft.com/office/powerpoint/2010/main" val="1546256849"/>
                  </p:ext>
                </p:extLst>
              </p:nvPr>
            </p:nvGraphicFramePr>
            <p:xfrm>
              <a:off x="4974608" y="1779896"/>
              <a:ext cx="990600" cy="3022600"/>
            </p:xfrm>
            <a:graphic>
              <a:graphicData uri="http://schemas.openxmlformats.org/drawingml/2006/table">
                <a:tbl>
                  <a:tblPr firstRow="1" bandRow="1">
                    <a:tableStyleId>{5C22544A-7EE6-4342-B048-85BDC9FD1C3A}</a:tableStyleId>
                  </a:tblPr>
                  <a:tblGrid>
                    <a:gridCol w="990600">
                      <a:extLst>
                        <a:ext uri="{9D8B030D-6E8A-4147-A177-3AD203B41FA5}">
                          <a16:colId xmlns:a16="http://schemas.microsoft.com/office/drawing/2014/main" val="20000"/>
                        </a:ext>
                      </a:extLst>
                    </a:gridCol>
                  </a:tblGrid>
                  <a:tr h="604520">
                    <a:tc>
                      <a:txBody>
                        <a:bodyPr/>
                        <a:lstStyle/>
                        <a:p>
                          <a:endParaRPr lang="si-LK"/>
                        </a:p>
                      </a:txBody>
                      <a:tcPr>
                        <a:blipFill>
                          <a:blip r:embed="rId6"/>
                          <a:stretch>
                            <a:fillRect l="-613" t="-1010" r="-2454" b="-404040"/>
                          </a:stretch>
                        </a:blipFill>
                      </a:tcPr>
                    </a:tc>
                    <a:extLst>
                      <a:ext uri="{0D108BD9-81ED-4DB2-BD59-A6C34878D82A}">
                        <a16:rowId xmlns:a16="http://schemas.microsoft.com/office/drawing/2014/main" val="10000"/>
                      </a:ext>
                    </a:extLst>
                  </a:tr>
                  <a:tr h="604520">
                    <a:tc>
                      <a:txBody>
                        <a:bodyPr/>
                        <a:lstStyle/>
                        <a:p>
                          <a:pPr algn="ctr"/>
                          <a:r>
                            <a:rPr lang="en-GB" sz="2400" dirty="0">
                              <a:solidFill>
                                <a:srgbClr val="00B0F0"/>
                              </a:solidFill>
                            </a:rPr>
                            <a:t>1</a:t>
                          </a:r>
                        </a:p>
                      </a:txBody>
                      <a:tcPr/>
                    </a:tc>
                    <a:extLst>
                      <a:ext uri="{0D108BD9-81ED-4DB2-BD59-A6C34878D82A}">
                        <a16:rowId xmlns:a16="http://schemas.microsoft.com/office/drawing/2014/main" val="10001"/>
                      </a:ext>
                    </a:extLst>
                  </a:tr>
                  <a:tr h="604520">
                    <a:tc>
                      <a:txBody>
                        <a:bodyPr/>
                        <a:lstStyle/>
                        <a:p>
                          <a:pPr algn="ctr"/>
                          <a:r>
                            <a:rPr lang="en-GB" sz="2400" dirty="0">
                              <a:solidFill>
                                <a:srgbClr val="00B0F0"/>
                              </a:solidFill>
                            </a:rPr>
                            <a:t>0</a:t>
                          </a:r>
                        </a:p>
                      </a:txBody>
                      <a:tcPr/>
                    </a:tc>
                    <a:extLst>
                      <a:ext uri="{0D108BD9-81ED-4DB2-BD59-A6C34878D82A}">
                        <a16:rowId xmlns:a16="http://schemas.microsoft.com/office/drawing/2014/main" val="10002"/>
                      </a:ext>
                    </a:extLst>
                  </a:tr>
                  <a:tr h="604520">
                    <a:tc>
                      <a:txBody>
                        <a:bodyPr/>
                        <a:lstStyle/>
                        <a:p>
                          <a:pPr algn="ctr"/>
                          <a:r>
                            <a:rPr lang="en-GB" sz="2400" dirty="0">
                              <a:solidFill>
                                <a:srgbClr val="00B0F0"/>
                              </a:solidFill>
                            </a:rPr>
                            <a:t>1</a:t>
                          </a:r>
                        </a:p>
                      </a:txBody>
                      <a:tcPr/>
                    </a:tc>
                    <a:extLst>
                      <a:ext uri="{0D108BD9-81ED-4DB2-BD59-A6C34878D82A}">
                        <a16:rowId xmlns:a16="http://schemas.microsoft.com/office/drawing/2014/main" val="10003"/>
                      </a:ext>
                    </a:extLst>
                  </a:tr>
                  <a:tr h="604520">
                    <a:tc>
                      <a:txBody>
                        <a:bodyPr/>
                        <a:lstStyle/>
                        <a:p>
                          <a:pPr algn="ctr"/>
                          <a:r>
                            <a:rPr lang="en-GB" sz="2400" dirty="0" err="1">
                              <a:solidFill>
                                <a:srgbClr val="00B0F0"/>
                              </a:solidFill>
                            </a:rPr>
                            <a:t>1</a:t>
                          </a:r>
                          <a:endParaRPr lang="en-GB" sz="2400" dirty="0">
                            <a:solidFill>
                              <a:srgbClr val="00B0F0"/>
                            </a:solidFill>
                          </a:endParaRPr>
                        </a:p>
                      </a:txBody>
                      <a:tcPr/>
                    </a:tc>
                    <a:extLst>
                      <a:ext uri="{0D108BD9-81ED-4DB2-BD59-A6C34878D82A}">
                        <a16:rowId xmlns:a16="http://schemas.microsoft.com/office/drawing/2014/main" val="10004"/>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12" name="Table 11"/>
              <p:cNvGraphicFramePr>
                <a:graphicFrameLocks noGrp="1"/>
              </p:cNvGraphicFramePr>
              <p:nvPr>
                <p:extLst>
                  <p:ext uri="{D42A27DB-BD31-4B8C-83A1-F6EECF244321}">
                    <p14:modId xmlns:p14="http://schemas.microsoft.com/office/powerpoint/2010/main" val="2756287477"/>
                  </p:ext>
                </p:extLst>
              </p:nvPr>
            </p:nvGraphicFramePr>
            <p:xfrm>
              <a:off x="6014112" y="1785960"/>
              <a:ext cx="1475096" cy="3022600"/>
            </p:xfrm>
            <a:graphic>
              <a:graphicData uri="http://schemas.openxmlformats.org/drawingml/2006/table">
                <a:tbl>
                  <a:tblPr firstRow="1" bandRow="1">
                    <a:tableStyleId>{5C22544A-7EE6-4342-B048-85BDC9FD1C3A}</a:tableStyleId>
                  </a:tblPr>
                  <a:tblGrid>
                    <a:gridCol w="1475096">
                      <a:extLst>
                        <a:ext uri="{9D8B030D-6E8A-4147-A177-3AD203B41FA5}">
                          <a16:colId xmlns:a16="http://schemas.microsoft.com/office/drawing/2014/main" val="20000"/>
                        </a:ext>
                      </a:extLst>
                    </a:gridCol>
                  </a:tblGrid>
                  <a:tr h="604520">
                    <a:tc>
                      <a:txBody>
                        <a:bodyPr/>
                        <a:lstStyle/>
                        <a:p>
                          <a:pPr algn="ctr"/>
                          <a14:m>
                            <m:oMathPara xmlns:m="http://schemas.openxmlformats.org/officeDocument/2006/math">
                              <m:oMathParaPr>
                                <m:jc m:val="centerGroup"/>
                              </m:oMathParaPr>
                              <m:oMath xmlns:m="http://schemas.openxmlformats.org/officeDocument/2006/math">
                                <m:r>
                                  <a:rPr lang="en-GB" sz="2400" b="1" i="1" smtClean="0">
                                    <a:latin typeface="Cambria Math" panose="02040503050406030204" pitchFamily="18" charset="0"/>
                                    <a:ea typeface="Cambria Math" panose="02040503050406030204" pitchFamily="18" charset="0"/>
                                  </a:rPr>
                                  <m:t>¬</m:t>
                                </m:r>
                                <m:r>
                                  <a:rPr lang="en-GB" sz="2400" b="1" i="1" smtClean="0">
                                    <a:latin typeface="Cambria Math" panose="02040503050406030204" pitchFamily="18" charset="0"/>
                                  </a:rPr>
                                  <m:t>𝒒</m:t>
                                </m:r>
                                <m:r>
                                  <a:rPr lang="en-GB" sz="2400" b="1" i="1" smtClean="0">
                                    <a:latin typeface="Cambria Math" panose="02040503050406030204" pitchFamily="18" charset="0"/>
                                    <a:ea typeface="Cambria Math" panose="02040503050406030204" pitchFamily="18" charset="0"/>
                                  </a:rPr>
                                  <m:t>→¬</m:t>
                                </m:r>
                                <m:r>
                                  <a:rPr lang="en-GB" sz="2400" b="1" i="1" smtClean="0">
                                    <a:latin typeface="Cambria Math" panose="02040503050406030204" pitchFamily="18" charset="0"/>
                                    <a:ea typeface="Cambria Math" panose="02040503050406030204" pitchFamily="18" charset="0"/>
                                  </a:rPr>
                                  <m:t>𝒑</m:t>
                                </m:r>
                              </m:oMath>
                            </m:oMathPara>
                          </a14:m>
                          <a:endParaRPr lang="en-GB" sz="2400" dirty="0"/>
                        </a:p>
                      </a:txBody>
                      <a:tcPr/>
                    </a:tc>
                    <a:extLst>
                      <a:ext uri="{0D108BD9-81ED-4DB2-BD59-A6C34878D82A}">
                        <a16:rowId xmlns:a16="http://schemas.microsoft.com/office/drawing/2014/main" val="10000"/>
                      </a:ext>
                    </a:extLst>
                  </a:tr>
                  <a:tr h="604520">
                    <a:tc>
                      <a:txBody>
                        <a:bodyPr/>
                        <a:lstStyle/>
                        <a:p>
                          <a:pPr algn="ctr"/>
                          <a:r>
                            <a:rPr lang="en-GB" sz="2400" dirty="0">
                              <a:solidFill>
                                <a:srgbClr val="FF0000"/>
                              </a:solidFill>
                            </a:rPr>
                            <a:t>1</a:t>
                          </a:r>
                        </a:p>
                      </a:txBody>
                      <a:tcPr/>
                    </a:tc>
                    <a:extLst>
                      <a:ext uri="{0D108BD9-81ED-4DB2-BD59-A6C34878D82A}">
                        <a16:rowId xmlns:a16="http://schemas.microsoft.com/office/drawing/2014/main" val="10001"/>
                      </a:ext>
                    </a:extLst>
                  </a:tr>
                  <a:tr h="604520">
                    <a:tc>
                      <a:txBody>
                        <a:bodyPr/>
                        <a:lstStyle/>
                        <a:p>
                          <a:pPr algn="ctr"/>
                          <a:r>
                            <a:rPr lang="en-GB" sz="2400" dirty="0">
                              <a:solidFill>
                                <a:srgbClr val="FF0000"/>
                              </a:solidFill>
                            </a:rPr>
                            <a:t>1</a:t>
                          </a:r>
                        </a:p>
                      </a:txBody>
                      <a:tcPr/>
                    </a:tc>
                    <a:extLst>
                      <a:ext uri="{0D108BD9-81ED-4DB2-BD59-A6C34878D82A}">
                        <a16:rowId xmlns:a16="http://schemas.microsoft.com/office/drawing/2014/main" val="10002"/>
                      </a:ext>
                    </a:extLst>
                  </a:tr>
                  <a:tr h="604520">
                    <a:tc>
                      <a:txBody>
                        <a:bodyPr/>
                        <a:lstStyle/>
                        <a:p>
                          <a:pPr algn="ctr"/>
                          <a:r>
                            <a:rPr lang="en-GB" sz="2400" dirty="0">
                              <a:solidFill>
                                <a:srgbClr val="FF0000"/>
                              </a:solidFill>
                            </a:rPr>
                            <a:t>0</a:t>
                          </a:r>
                        </a:p>
                      </a:txBody>
                      <a:tcPr/>
                    </a:tc>
                    <a:extLst>
                      <a:ext uri="{0D108BD9-81ED-4DB2-BD59-A6C34878D82A}">
                        <a16:rowId xmlns:a16="http://schemas.microsoft.com/office/drawing/2014/main" val="10003"/>
                      </a:ext>
                    </a:extLst>
                  </a:tr>
                  <a:tr h="604520">
                    <a:tc>
                      <a:txBody>
                        <a:bodyPr/>
                        <a:lstStyle/>
                        <a:p>
                          <a:pPr algn="ctr"/>
                          <a:r>
                            <a:rPr lang="en-GB" sz="2400" dirty="0" err="1">
                              <a:solidFill>
                                <a:srgbClr val="FF0000"/>
                              </a:solidFill>
                            </a:rPr>
                            <a:t>1</a:t>
                          </a:r>
                          <a:endParaRPr lang="en-GB" sz="2400" dirty="0">
                            <a:solidFill>
                              <a:srgbClr val="FF0000"/>
                            </a:solidFill>
                          </a:endParaRPr>
                        </a:p>
                      </a:txBody>
                      <a:tcPr/>
                    </a:tc>
                    <a:extLst>
                      <a:ext uri="{0D108BD9-81ED-4DB2-BD59-A6C34878D82A}">
                        <a16:rowId xmlns:a16="http://schemas.microsoft.com/office/drawing/2014/main" val="10004"/>
                      </a:ext>
                    </a:extLst>
                  </a:tr>
                </a:tbl>
              </a:graphicData>
            </a:graphic>
          </p:graphicFrame>
        </mc:Choice>
        <mc:Fallback xmlns="">
          <p:graphicFrame>
            <p:nvGraphicFramePr>
              <p:cNvPr id="12" name="Table 11"/>
              <p:cNvGraphicFramePr>
                <a:graphicFrameLocks noGrp="1"/>
              </p:cNvGraphicFramePr>
              <p:nvPr>
                <p:extLst>
                  <p:ext uri="{D42A27DB-BD31-4B8C-83A1-F6EECF244321}">
                    <p14:modId xmlns:p14="http://schemas.microsoft.com/office/powerpoint/2010/main" val="2756287477"/>
                  </p:ext>
                </p:extLst>
              </p:nvPr>
            </p:nvGraphicFramePr>
            <p:xfrm>
              <a:off x="6014112" y="1785960"/>
              <a:ext cx="1475096" cy="3022600"/>
            </p:xfrm>
            <a:graphic>
              <a:graphicData uri="http://schemas.openxmlformats.org/drawingml/2006/table">
                <a:tbl>
                  <a:tblPr firstRow="1" bandRow="1">
                    <a:tableStyleId>{5C22544A-7EE6-4342-B048-85BDC9FD1C3A}</a:tableStyleId>
                  </a:tblPr>
                  <a:tblGrid>
                    <a:gridCol w="1475096">
                      <a:extLst>
                        <a:ext uri="{9D8B030D-6E8A-4147-A177-3AD203B41FA5}">
                          <a16:colId xmlns:a16="http://schemas.microsoft.com/office/drawing/2014/main" val="20000"/>
                        </a:ext>
                      </a:extLst>
                    </a:gridCol>
                  </a:tblGrid>
                  <a:tr h="604520">
                    <a:tc>
                      <a:txBody>
                        <a:bodyPr/>
                        <a:lstStyle/>
                        <a:p>
                          <a:endParaRPr lang="si-LK"/>
                        </a:p>
                      </a:txBody>
                      <a:tcPr>
                        <a:blipFill>
                          <a:blip r:embed="rId7"/>
                          <a:stretch>
                            <a:fillRect l="-412" t="-1010" r="-1646" b="-404040"/>
                          </a:stretch>
                        </a:blipFill>
                      </a:tcPr>
                    </a:tc>
                    <a:extLst>
                      <a:ext uri="{0D108BD9-81ED-4DB2-BD59-A6C34878D82A}">
                        <a16:rowId xmlns:a16="http://schemas.microsoft.com/office/drawing/2014/main" val="10000"/>
                      </a:ext>
                    </a:extLst>
                  </a:tr>
                  <a:tr h="604520">
                    <a:tc>
                      <a:txBody>
                        <a:bodyPr/>
                        <a:lstStyle/>
                        <a:p>
                          <a:pPr algn="ctr"/>
                          <a:r>
                            <a:rPr lang="en-GB" sz="2400" dirty="0">
                              <a:solidFill>
                                <a:srgbClr val="FF0000"/>
                              </a:solidFill>
                            </a:rPr>
                            <a:t>1</a:t>
                          </a:r>
                        </a:p>
                      </a:txBody>
                      <a:tcPr/>
                    </a:tc>
                    <a:extLst>
                      <a:ext uri="{0D108BD9-81ED-4DB2-BD59-A6C34878D82A}">
                        <a16:rowId xmlns:a16="http://schemas.microsoft.com/office/drawing/2014/main" val="10001"/>
                      </a:ext>
                    </a:extLst>
                  </a:tr>
                  <a:tr h="604520">
                    <a:tc>
                      <a:txBody>
                        <a:bodyPr/>
                        <a:lstStyle/>
                        <a:p>
                          <a:pPr algn="ctr"/>
                          <a:r>
                            <a:rPr lang="en-GB" sz="2400" dirty="0">
                              <a:solidFill>
                                <a:srgbClr val="FF0000"/>
                              </a:solidFill>
                            </a:rPr>
                            <a:t>1</a:t>
                          </a:r>
                        </a:p>
                      </a:txBody>
                      <a:tcPr/>
                    </a:tc>
                    <a:extLst>
                      <a:ext uri="{0D108BD9-81ED-4DB2-BD59-A6C34878D82A}">
                        <a16:rowId xmlns:a16="http://schemas.microsoft.com/office/drawing/2014/main" val="10002"/>
                      </a:ext>
                    </a:extLst>
                  </a:tr>
                  <a:tr h="604520">
                    <a:tc>
                      <a:txBody>
                        <a:bodyPr/>
                        <a:lstStyle/>
                        <a:p>
                          <a:pPr algn="ctr"/>
                          <a:r>
                            <a:rPr lang="en-GB" sz="2400" dirty="0">
                              <a:solidFill>
                                <a:srgbClr val="FF0000"/>
                              </a:solidFill>
                            </a:rPr>
                            <a:t>0</a:t>
                          </a:r>
                        </a:p>
                      </a:txBody>
                      <a:tcPr/>
                    </a:tc>
                    <a:extLst>
                      <a:ext uri="{0D108BD9-81ED-4DB2-BD59-A6C34878D82A}">
                        <a16:rowId xmlns:a16="http://schemas.microsoft.com/office/drawing/2014/main" val="10003"/>
                      </a:ext>
                    </a:extLst>
                  </a:tr>
                  <a:tr h="604520">
                    <a:tc>
                      <a:txBody>
                        <a:bodyPr/>
                        <a:lstStyle/>
                        <a:p>
                          <a:pPr algn="ctr"/>
                          <a:r>
                            <a:rPr lang="en-GB" sz="2400" dirty="0" err="1">
                              <a:solidFill>
                                <a:srgbClr val="FF0000"/>
                              </a:solidFill>
                            </a:rPr>
                            <a:t>1</a:t>
                          </a:r>
                          <a:endParaRPr lang="en-GB" sz="2400" dirty="0">
                            <a:solidFill>
                              <a:srgbClr val="FF0000"/>
                            </a:solidFill>
                          </a:endParaRPr>
                        </a:p>
                      </a:txBody>
                      <a:tcPr/>
                    </a:tc>
                    <a:extLst>
                      <a:ext uri="{0D108BD9-81ED-4DB2-BD59-A6C34878D82A}">
                        <a16:rowId xmlns:a16="http://schemas.microsoft.com/office/drawing/2014/main" val="10004"/>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13" name="Table 12"/>
              <p:cNvGraphicFramePr>
                <a:graphicFrameLocks noGrp="1"/>
              </p:cNvGraphicFramePr>
              <p:nvPr>
                <p:extLst>
                  <p:ext uri="{D42A27DB-BD31-4B8C-83A1-F6EECF244321}">
                    <p14:modId xmlns:p14="http://schemas.microsoft.com/office/powerpoint/2010/main" val="1734205986"/>
                  </p:ext>
                </p:extLst>
              </p:nvPr>
            </p:nvGraphicFramePr>
            <p:xfrm>
              <a:off x="7516504" y="1787856"/>
              <a:ext cx="1475096" cy="3022600"/>
            </p:xfrm>
            <a:graphic>
              <a:graphicData uri="http://schemas.openxmlformats.org/drawingml/2006/table">
                <a:tbl>
                  <a:tblPr firstRow="1" bandRow="1">
                    <a:tableStyleId>{5C22544A-7EE6-4342-B048-85BDC9FD1C3A}</a:tableStyleId>
                  </a:tblPr>
                  <a:tblGrid>
                    <a:gridCol w="1475096">
                      <a:extLst>
                        <a:ext uri="{9D8B030D-6E8A-4147-A177-3AD203B41FA5}">
                          <a16:colId xmlns:a16="http://schemas.microsoft.com/office/drawing/2014/main" val="20000"/>
                        </a:ext>
                      </a:extLst>
                    </a:gridCol>
                  </a:tblGrid>
                  <a:tr h="604520">
                    <a:tc>
                      <a:txBody>
                        <a:bodyPr/>
                        <a:lstStyle/>
                        <a:p>
                          <a:pPr algn="ctr"/>
                          <a14:m>
                            <m:oMathPara xmlns:m="http://schemas.openxmlformats.org/officeDocument/2006/math">
                              <m:oMathParaPr>
                                <m:jc m:val="centerGroup"/>
                              </m:oMathParaPr>
                              <m:oMath xmlns:m="http://schemas.openxmlformats.org/officeDocument/2006/math">
                                <m:r>
                                  <a:rPr lang="en-GB" sz="2400" b="1" i="1" smtClean="0">
                                    <a:latin typeface="Cambria Math" panose="02040503050406030204" pitchFamily="18" charset="0"/>
                                    <a:ea typeface="Cambria Math" panose="02040503050406030204" pitchFamily="18" charset="0"/>
                                  </a:rPr>
                                  <m:t>¬</m:t>
                                </m:r>
                                <m:r>
                                  <a:rPr lang="en-GB" sz="2400" b="1" i="1" smtClean="0">
                                    <a:latin typeface="Cambria Math" panose="02040503050406030204" pitchFamily="18" charset="0"/>
                                    <a:ea typeface="Cambria Math" panose="02040503050406030204" pitchFamily="18" charset="0"/>
                                  </a:rPr>
                                  <m:t>𝒑</m:t>
                                </m:r>
                                <m:r>
                                  <a:rPr lang="en-GB" sz="2400" b="1" i="1" smtClean="0">
                                    <a:latin typeface="Cambria Math" panose="02040503050406030204" pitchFamily="18" charset="0"/>
                                    <a:ea typeface="Cambria Math" panose="02040503050406030204" pitchFamily="18" charset="0"/>
                                  </a:rPr>
                                  <m:t>→¬</m:t>
                                </m:r>
                                <m:r>
                                  <a:rPr lang="en-GB" sz="2400" b="1" i="1" smtClean="0">
                                    <a:latin typeface="Cambria Math" panose="02040503050406030204" pitchFamily="18" charset="0"/>
                                    <a:ea typeface="Cambria Math" panose="02040503050406030204" pitchFamily="18" charset="0"/>
                                  </a:rPr>
                                  <m:t>𝒒</m:t>
                                </m:r>
                              </m:oMath>
                            </m:oMathPara>
                          </a14:m>
                          <a:endParaRPr lang="en-GB" sz="2400" dirty="0"/>
                        </a:p>
                      </a:txBody>
                      <a:tcPr/>
                    </a:tc>
                    <a:extLst>
                      <a:ext uri="{0D108BD9-81ED-4DB2-BD59-A6C34878D82A}">
                        <a16:rowId xmlns:a16="http://schemas.microsoft.com/office/drawing/2014/main" val="10000"/>
                      </a:ext>
                    </a:extLst>
                  </a:tr>
                  <a:tr h="604520">
                    <a:tc>
                      <a:txBody>
                        <a:bodyPr/>
                        <a:lstStyle/>
                        <a:p>
                          <a:pPr algn="ctr"/>
                          <a:r>
                            <a:rPr lang="en-GB" sz="2400" dirty="0">
                              <a:solidFill>
                                <a:srgbClr val="00B0F0"/>
                              </a:solidFill>
                            </a:rPr>
                            <a:t>1</a:t>
                          </a:r>
                        </a:p>
                      </a:txBody>
                      <a:tcPr/>
                    </a:tc>
                    <a:extLst>
                      <a:ext uri="{0D108BD9-81ED-4DB2-BD59-A6C34878D82A}">
                        <a16:rowId xmlns:a16="http://schemas.microsoft.com/office/drawing/2014/main" val="10001"/>
                      </a:ext>
                    </a:extLst>
                  </a:tr>
                  <a:tr h="604520">
                    <a:tc>
                      <a:txBody>
                        <a:bodyPr/>
                        <a:lstStyle/>
                        <a:p>
                          <a:pPr algn="ctr"/>
                          <a:r>
                            <a:rPr lang="en-GB" sz="2400" dirty="0">
                              <a:solidFill>
                                <a:srgbClr val="00B0F0"/>
                              </a:solidFill>
                            </a:rPr>
                            <a:t>0</a:t>
                          </a:r>
                        </a:p>
                      </a:txBody>
                      <a:tcPr/>
                    </a:tc>
                    <a:extLst>
                      <a:ext uri="{0D108BD9-81ED-4DB2-BD59-A6C34878D82A}">
                        <a16:rowId xmlns:a16="http://schemas.microsoft.com/office/drawing/2014/main" val="10002"/>
                      </a:ext>
                    </a:extLst>
                  </a:tr>
                  <a:tr h="604520">
                    <a:tc>
                      <a:txBody>
                        <a:bodyPr/>
                        <a:lstStyle/>
                        <a:p>
                          <a:pPr algn="ctr"/>
                          <a:r>
                            <a:rPr lang="en-GB" sz="2400" dirty="0">
                              <a:solidFill>
                                <a:srgbClr val="00B0F0"/>
                              </a:solidFill>
                            </a:rPr>
                            <a:t>1</a:t>
                          </a:r>
                        </a:p>
                      </a:txBody>
                      <a:tcPr/>
                    </a:tc>
                    <a:extLst>
                      <a:ext uri="{0D108BD9-81ED-4DB2-BD59-A6C34878D82A}">
                        <a16:rowId xmlns:a16="http://schemas.microsoft.com/office/drawing/2014/main" val="10003"/>
                      </a:ext>
                    </a:extLst>
                  </a:tr>
                  <a:tr h="604520">
                    <a:tc>
                      <a:txBody>
                        <a:bodyPr/>
                        <a:lstStyle/>
                        <a:p>
                          <a:pPr algn="ctr"/>
                          <a:r>
                            <a:rPr lang="en-GB" sz="2400" dirty="0" err="1">
                              <a:solidFill>
                                <a:srgbClr val="00B0F0"/>
                              </a:solidFill>
                            </a:rPr>
                            <a:t>1</a:t>
                          </a:r>
                          <a:endParaRPr lang="en-GB" sz="2400" dirty="0">
                            <a:solidFill>
                              <a:srgbClr val="00B0F0"/>
                            </a:solidFill>
                          </a:endParaRPr>
                        </a:p>
                      </a:txBody>
                      <a:tcPr/>
                    </a:tc>
                    <a:extLst>
                      <a:ext uri="{0D108BD9-81ED-4DB2-BD59-A6C34878D82A}">
                        <a16:rowId xmlns:a16="http://schemas.microsoft.com/office/drawing/2014/main" val="10004"/>
                      </a:ext>
                    </a:extLst>
                  </a:tr>
                </a:tbl>
              </a:graphicData>
            </a:graphic>
          </p:graphicFrame>
        </mc:Choice>
        <mc:Fallback xmlns="">
          <p:graphicFrame>
            <p:nvGraphicFramePr>
              <p:cNvPr id="13" name="Table 12"/>
              <p:cNvGraphicFramePr>
                <a:graphicFrameLocks noGrp="1"/>
              </p:cNvGraphicFramePr>
              <p:nvPr>
                <p:extLst>
                  <p:ext uri="{D42A27DB-BD31-4B8C-83A1-F6EECF244321}">
                    <p14:modId xmlns:p14="http://schemas.microsoft.com/office/powerpoint/2010/main" val="1734205986"/>
                  </p:ext>
                </p:extLst>
              </p:nvPr>
            </p:nvGraphicFramePr>
            <p:xfrm>
              <a:off x="7516504" y="1787856"/>
              <a:ext cx="1475096" cy="3022600"/>
            </p:xfrm>
            <a:graphic>
              <a:graphicData uri="http://schemas.openxmlformats.org/drawingml/2006/table">
                <a:tbl>
                  <a:tblPr firstRow="1" bandRow="1">
                    <a:tableStyleId>{5C22544A-7EE6-4342-B048-85BDC9FD1C3A}</a:tableStyleId>
                  </a:tblPr>
                  <a:tblGrid>
                    <a:gridCol w="1475096">
                      <a:extLst>
                        <a:ext uri="{9D8B030D-6E8A-4147-A177-3AD203B41FA5}">
                          <a16:colId xmlns:a16="http://schemas.microsoft.com/office/drawing/2014/main" val="20000"/>
                        </a:ext>
                      </a:extLst>
                    </a:gridCol>
                  </a:tblGrid>
                  <a:tr h="604520">
                    <a:tc>
                      <a:txBody>
                        <a:bodyPr/>
                        <a:lstStyle/>
                        <a:p>
                          <a:endParaRPr lang="si-LK"/>
                        </a:p>
                      </a:txBody>
                      <a:tcPr>
                        <a:blipFill>
                          <a:blip r:embed="rId8"/>
                          <a:stretch>
                            <a:fillRect l="-826" t="-1010" r="-2066" b="-404040"/>
                          </a:stretch>
                        </a:blipFill>
                      </a:tcPr>
                    </a:tc>
                    <a:extLst>
                      <a:ext uri="{0D108BD9-81ED-4DB2-BD59-A6C34878D82A}">
                        <a16:rowId xmlns:a16="http://schemas.microsoft.com/office/drawing/2014/main" val="10000"/>
                      </a:ext>
                    </a:extLst>
                  </a:tr>
                  <a:tr h="604520">
                    <a:tc>
                      <a:txBody>
                        <a:bodyPr/>
                        <a:lstStyle/>
                        <a:p>
                          <a:pPr algn="ctr"/>
                          <a:r>
                            <a:rPr lang="en-GB" sz="2400" dirty="0">
                              <a:solidFill>
                                <a:srgbClr val="00B0F0"/>
                              </a:solidFill>
                            </a:rPr>
                            <a:t>1</a:t>
                          </a:r>
                        </a:p>
                      </a:txBody>
                      <a:tcPr/>
                    </a:tc>
                    <a:extLst>
                      <a:ext uri="{0D108BD9-81ED-4DB2-BD59-A6C34878D82A}">
                        <a16:rowId xmlns:a16="http://schemas.microsoft.com/office/drawing/2014/main" val="10001"/>
                      </a:ext>
                    </a:extLst>
                  </a:tr>
                  <a:tr h="604520">
                    <a:tc>
                      <a:txBody>
                        <a:bodyPr/>
                        <a:lstStyle/>
                        <a:p>
                          <a:pPr algn="ctr"/>
                          <a:r>
                            <a:rPr lang="en-GB" sz="2400" dirty="0">
                              <a:solidFill>
                                <a:srgbClr val="00B0F0"/>
                              </a:solidFill>
                            </a:rPr>
                            <a:t>0</a:t>
                          </a:r>
                        </a:p>
                      </a:txBody>
                      <a:tcPr/>
                    </a:tc>
                    <a:extLst>
                      <a:ext uri="{0D108BD9-81ED-4DB2-BD59-A6C34878D82A}">
                        <a16:rowId xmlns:a16="http://schemas.microsoft.com/office/drawing/2014/main" val="10002"/>
                      </a:ext>
                    </a:extLst>
                  </a:tr>
                  <a:tr h="604520">
                    <a:tc>
                      <a:txBody>
                        <a:bodyPr/>
                        <a:lstStyle/>
                        <a:p>
                          <a:pPr algn="ctr"/>
                          <a:r>
                            <a:rPr lang="en-GB" sz="2400" dirty="0">
                              <a:solidFill>
                                <a:srgbClr val="00B0F0"/>
                              </a:solidFill>
                            </a:rPr>
                            <a:t>1</a:t>
                          </a:r>
                        </a:p>
                      </a:txBody>
                      <a:tcPr/>
                    </a:tc>
                    <a:extLst>
                      <a:ext uri="{0D108BD9-81ED-4DB2-BD59-A6C34878D82A}">
                        <a16:rowId xmlns:a16="http://schemas.microsoft.com/office/drawing/2014/main" val="10003"/>
                      </a:ext>
                    </a:extLst>
                  </a:tr>
                  <a:tr h="604520">
                    <a:tc>
                      <a:txBody>
                        <a:bodyPr/>
                        <a:lstStyle/>
                        <a:p>
                          <a:pPr algn="ctr"/>
                          <a:r>
                            <a:rPr lang="en-GB" sz="2400" dirty="0" err="1">
                              <a:solidFill>
                                <a:srgbClr val="00B0F0"/>
                              </a:solidFill>
                            </a:rPr>
                            <a:t>1</a:t>
                          </a:r>
                          <a:endParaRPr lang="en-GB" sz="2400" dirty="0">
                            <a:solidFill>
                              <a:srgbClr val="00B0F0"/>
                            </a:solidFill>
                          </a:endParaRPr>
                        </a:p>
                      </a:txBody>
                      <a:tcPr/>
                    </a:tc>
                    <a:extLst>
                      <a:ext uri="{0D108BD9-81ED-4DB2-BD59-A6C34878D82A}">
                        <a16:rowId xmlns:a16="http://schemas.microsoft.com/office/drawing/2014/main" val="10004"/>
                      </a:ext>
                    </a:extLst>
                  </a:tr>
                </a:tbl>
              </a:graphicData>
            </a:graphic>
          </p:graphicFrame>
        </mc:Fallback>
      </mc:AlternateContent>
      <mc:AlternateContent xmlns:mc="http://schemas.openxmlformats.org/markup-compatibility/2006" xmlns:a14="http://schemas.microsoft.com/office/drawing/2010/main">
        <mc:Choice Requires="a14">
          <p:sp>
            <p:nvSpPr>
              <p:cNvPr id="14" name="TextBox 13"/>
              <p:cNvSpPr txBox="1"/>
              <p:nvPr/>
            </p:nvSpPr>
            <p:spPr>
              <a:xfrm>
                <a:off x="797742" y="5438001"/>
                <a:ext cx="2555058" cy="92333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GB" sz="2400" b="1" i="1">
                          <a:latin typeface="Cambria Math" panose="02040503050406030204" pitchFamily="18" charset="0"/>
                        </a:rPr>
                        <m:t>𝒑</m:t>
                      </m:r>
                      <m:r>
                        <a:rPr lang="en-GB" sz="2400" b="1" i="1">
                          <a:latin typeface="Cambria Math" panose="02040503050406030204" pitchFamily="18" charset="0"/>
                          <a:ea typeface="Cambria Math" panose="02040503050406030204" pitchFamily="18" charset="0"/>
                        </a:rPr>
                        <m:t>→</m:t>
                      </m:r>
                      <m:r>
                        <a:rPr lang="en-GB" sz="2400" b="1" i="1">
                          <a:latin typeface="Cambria Math" panose="02040503050406030204" pitchFamily="18" charset="0"/>
                        </a:rPr>
                        <m:t>𝒒</m:t>
                      </m:r>
                      <m:r>
                        <a:rPr lang="en-GB" sz="2400" b="1" i="1" smtClean="0">
                          <a:latin typeface="Cambria Math" panose="02040503050406030204" pitchFamily="18" charset="0"/>
                          <a:ea typeface="Cambria Math" panose="02040503050406030204" pitchFamily="18" charset="0"/>
                        </a:rPr>
                        <m:t>≡</m:t>
                      </m:r>
                      <m:r>
                        <a:rPr lang="en-GB" sz="2400" b="1" i="1">
                          <a:latin typeface="Cambria Math" panose="02040503050406030204" pitchFamily="18" charset="0"/>
                          <a:ea typeface="Cambria Math" panose="02040503050406030204" pitchFamily="18" charset="0"/>
                        </a:rPr>
                        <m:t>¬</m:t>
                      </m:r>
                      <m:r>
                        <a:rPr lang="en-GB" sz="2400" b="1" i="1">
                          <a:latin typeface="Cambria Math" panose="02040503050406030204" pitchFamily="18" charset="0"/>
                        </a:rPr>
                        <m:t>𝒒</m:t>
                      </m:r>
                      <m:r>
                        <a:rPr lang="en-GB" sz="2400" b="1" i="1">
                          <a:latin typeface="Cambria Math" panose="02040503050406030204" pitchFamily="18" charset="0"/>
                          <a:ea typeface="Cambria Math" panose="02040503050406030204" pitchFamily="18" charset="0"/>
                        </a:rPr>
                        <m:t>→¬</m:t>
                      </m:r>
                      <m:r>
                        <a:rPr lang="en-GB" sz="2400" b="1" i="1">
                          <a:latin typeface="Cambria Math" panose="02040503050406030204" pitchFamily="18" charset="0"/>
                          <a:ea typeface="Cambria Math" panose="02040503050406030204" pitchFamily="18" charset="0"/>
                        </a:rPr>
                        <m:t>𝒑</m:t>
                      </m:r>
                    </m:oMath>
                  </m:oMathPara>
                </a14:m>
                <a:endParaRPr lang="en-GB" sz="2400" dirty="0"/>
              </a:p>
              <a:p>
                <a:r>
                  <a:rPr lang="en-GB" dirty="0"/>
                  <a:t> </a:t>
                </a:r>
              </a:p>
              <a:p>
                <a:endParaRPr lang="en-GB" dirty="0"/>
              </a:p>
            </p:txBody>
          </p:sp>
        </mc:Choice>
        <mc:Fallback xmlns="">
          <p:sp>
            <p:nvSpPr>
              <p:cNvPr id="14" name="TextBox 13"/>
              <p:cNvSpPr txBox="1">
                <a:spLocks noRot="1" noChangeAspect="1" noMove="1" noResize="1" noEditPoints="1" noAdjustHandles="1" noChangeArrowheads="1" noChangeShapeType="1" noTextEdit="1"/>
              </p:cNvSpPr>
              <p:nvPr/>
            </p:nvSpPr>
            <p:spPr>
              <a:xfrm>
                <a:off x="797742" y="5438001"/>
                <a:ext cx="2555058" cy="923330"/>
              </a:xfrm>
              <a:prstGeom prst="rect">
                <a:avLst/>
              </a:prstGeom>
              <a:blipFill rotWithShape="0">
                <a:blip r:embed="rId9"/>
                <a:stretch>
                  <a:fillRect l="-2387" r="-2148"/>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5" name="TextBox 14"/>
              <p:cNvSpPr txBox="1"/>
              <p:nvPr/>
            </p:nvSpPr>
            <p:spPr>
              <a:xfrm>
                <a:off x="4455342" y="5437496"/>
                <a:ext cx="2745816" cy="923330"/>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en-GB" sz="2400" b="1" i="0" smtClean="0">
                          <a:latin typeface="Cambria Math" panose="02040503050406030204" pitchFamily="18" charset="0"/>
                          <a:ea typeface="Cambria Math" panose="02040503050406030204" pitchFamily="18" charset="0"/>
                        </a:rPr>
                        <m:t>𝐪</m:t>
                      </m:r>
                      <m:r>
                        <a:rPr lang="en-GB" sz="2400" b="1" i="1">
                          <a:latin typeface="Cambria Math" panose="02040503050406030204" pitchFamily="18" charset="0"/>
                          <a:ea typeface="Cambria Math" panose="02040503050406030204" pitchFamily="18" charset="0"/>
                        </a:rPr>
                        <m:t>→</m:t>
                      </m:r>
                      <m:r>
                        <a:rPr lang="en-GB" sz="2400" b="1" i="1" smtClean="0">
                          <a:latin typeface="Cambria Math" panose="02040503050406030204" pitchFamily="18" charset="0"/>
                          <a:ea typeface="Cambria Math" panose="02040503050406030204" pitchFamily="18" charset="0"/>
                        </a:rPr>
                        <m:t>𝒑</m:t>
                      </m:r>
                      <m:r>
                        <a:rPr lang="en-GB" sz="2400" b="1" i="1" smtClean="0">
                          <a:latin typeface="Cambria Math" panose="02040503050406030204" pitchFamily="18" charset="0"/>
                          <a:ea typeface="Cambria Math" panose="02040503050406030204" pitchFamily="18" charset="0"/>
                        </a:rPr>
                        <m:t>≡¬</m:t>
                      </m:r>
                      <m:r>
                        <a:rPr lang="en-GB" sz="2400" b="1" i="1" smtClean="0">
                          <a:latin typeface="Cambria Math" panose="02040503050406030204" pitchFamily="18" charset="0"/>
                          <a:ea typeface="Cambria Math" panose="02040503050406030204" pitchFamily="18" charset="0"/>
                        </a:rPr>
                        <m:t>𝒑</m:t>
                      </m:r>
                      <m:r>
                        <a:rPr lang="en-GB" sz="2400" b="1" i="1">
                          <a:latin typeface="Cambria Math" panose="02040503050406030204" pitchFamily="18" charset="0"/>
                          <a:ea typeface="Cambria Math" panose="02040503050406030204" pitchFamily="18" charset="0"/>
                        </a:rPr>
                        <m:t>→¬</m:t>
                      </m:r>
                      <m:r>
                        <a:rPr lang="en-GB" sz="2400" b="1" i="1" smtClean="0">
                          <a:latin typeface="Cambria Math" panose="02040503050406030204" pitchFamily="18" charset="0"/>
                          <a:ea typeface="Cambria Math" panose="02040503050406030204" pitchFamily="18" charset="0"/>
                        </a:rPr>
                        <m:t>𝒒</m:t>
                      </m:r>
                    </m:oMath>
                  </m:oMathPara>
                </a14:m>
                <a:endParaRPr lang="en-GB" sz="2400" dirty="0"/>
              </a:p>
              <a:p>
                <a:r>
                  <a:rPr lang="en-GB" dirty="0"/>
                  <a:t> </a:t>
                </a:r>
              </a:p>
              <a:p>
                <a:endParaRPr lang="en-GB" dirty="0"/>
              </a:p>
            </p:txBody>
          </p:sp>
        </mc:Choice>
        <mc:Fallback xmlns="">
          <p:sp>
            <p:nvSpPr>
              <p:cNvPr id="15" name="TextBox 14"/>
              <p:cNvSpPr txBox="1">
                <a:spLocks noRot="1" noChangeAspect="1" noMove="1" noResize="1" noEditPoints="1" noAdjustHandles="1" noChangeArrowheads="1" noChangeShapeType="1" noTextEdit="1"/>
              </p:cNvSpPr>
              <p:nvPr/>
            </p:nvSpPr>
            <p:spPr>
              <a:xfrm>
                <a:off x="4455342" y="5437496"/>
                <a:ext cx="2745816" cy="923330"/>
              </a:xfrm>
              <a:prstGeom prst="rect">
                <a:avLst/>
              </a:prstGeom>
              <a:blipFill rotWithShape="0">
                <a:blip r:embed="rId10"/>
                <a:stretch>
                  <a:fillRect/>
                </a:stretch>
              </a:blipFill>
            </p:spPr>
            <p:txBody>
              <a:bodyPr/>
              <a:lstStyle/>
              <a:p>
                <a:r>
                  <a:rPr lang="en-GB">
                    <a:noFill/>
                  </a:rPr>
                  <a:t> </a:t>
                </a:r>
              </a:p>
            </p:txBody>
          </p:sp>
        </mc:Fallback>
      </mc:AlternateContent>
    </p:spTree>
    <p:extLst>
      <p:ext uri="{BB962C8B-B14F-4D97-AF65-F5344CB8AC3E}">
        <p14:creationId xmlns:p14="http://schemas.microsoft.com/office/powerpoint/2010/main" val="5414820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Bi-conditionals or Bi-implications</a:t>
            </a:r>
            <a:endParaRPr lang="en-GB" dirty="0"/>
          </a:p>
        </p:txBody>
      </p:sp>
      <p:sp>
        <p:nvSpPr>
          <p:cNvPr id="4" name="Date Placeholder 3"/>
          <p:cNvSpPr>
            <a:spLocks noGrp="1"/>
          </p:cNvSpPr>
          <p:nvPr>
            <p:ph type="dt" sz="half" idx="10"/>
          </p:nvPr>
        </p:nvSpPr>
        <p:spPr/>
        <p:txBody>
          <a:bodyPr/>
          <a:lstStyle/>
          <a:p>
            <a:fld id="{B8C692BC-3A03-403D-8857-5B943D34F336}" type="datetime3">
              <a:rPr lang="en-US" smtClean="0"/>
              <a:t>27 April 2026</a:t>
            </a:fld>
            <a:endParaRPr lang="en-US"/>
          </a:p>
        </p:txBody>
      </p:sp>
      <p:sp>
        <p:nvSpPr>
          <p:cNvPr id="5" name="Footer Placeholder 4"/>
          <p:cNvSpPr>
            <a:spLocks noGrp="1"/>
          </p:cNvSpPr>
          <p:nvPr>
            <p:ph type="ftr" sz="quarter" idx="11"/>
          </p:nvPr>
        </p:nvSpPr>
        <p:spPr/>
        <p:txBody>
          <a:bodyPr/>
          <a:lstStyle/>
          <a:p>
            <a:r>
              <a:rPr lang="en-US"/>
              <a:t>SCS 1302   Discrete Mathematics 1       Prof. D D Karunaratna</a:t>
            </a:r>
          </a:p>
        </p:txBody>
      </p:sp>
      <p:sp>
        <p:nvSpPr>
          <p:cNvPr id="6" name="Slide Number Placeholder 5"/>
          <p:cNvSpPr>
            <a:spLocks noGrp="1"/>
          </p:cNvSpPr>
          <p:nvPr>
            <p:ph type="sldNum" sz="quarter" idx="12"/>
          </p:nvPr>
        </p:nvSpPr>
        <p:spPr/>
        <p:txBody>
          <a:bodyPr/>
          <a:lstStyle/>
          <a:p>
            <a:fld id="{0CA841A6-7C02-4C92-B6EE-5DBCC2AD53D0}" type="slidenum">
              <a:rPr lang="en-US" smtClean="0"/>
              <a:t>30</a:t>
            </a:fld>
            <a:endParaRPr lang="en-US"/>
          </a:p>
        </p:txBody>
      </p:sp>
      <p:sp>
        <p:nvSpPr>
          <p:cNvPr id="7" name="Rectangle 6"/>
          <p:cNvSpPr/>
          <p:nvPr/>
        </p:nvSpPr>
        <p:spPr>
          <a:xfrm>
            <a:off x="457200" y="1706940"/>
            <a:ext cx="8305800" cy="1015663"/>
          </a:xfrm>
          <a:prstGeom prst="rect">
            <a:avLst/>
          </a:prstGeom>
        </p:spPr>
        <p:txBody>
          <a:bodyPr wrap="square">
            <a:spAutoFit/>
          </a:bodyPr>
          <a:lstStyle/>
          <a:p>
            <a:pPr algn="just"/>
            <a:r>
              <a:rPr lang="en-US" sz="2000" dirty="0"/>
              <a:t>Let </a:t>
            </a:r>
            <a:r>
              <a:rPr lang="en-US" sz="2000" i="1" dirty="0"/>
              <a:t>p and q be propositions. The </a:t>
            </a:r>
            <a:r>
              <a:rPr lang="en-US" sz="2000" b="1" i="1" dirty="0"/>
              <a:t>bi-conditional</a:t>
            </a:r>
            <a:r>
              <a:rPr lang="en-US" sz="2000" i="1" dirty="0"/>
              <a:t> statement </a:t>
            </a:r>
            <a:r>
              <a:rPr lang="en-US" sz="2000" b="1" i="1" dirty="0"/>
              <a:t>p ↔ q </a:t>
            </a:r>
            <a:r>
              <a:rPr lang="en-US" sz="2000" i="1" dirty="0"/>
              <a:t>is the proposition “p if </a:t>
            </a:r>
            <a:r>
              <a:rPr lang="en-US" sz="2000" dirty="0"/>
              <a:t>and only if </a:t>
            </a:r>
            <a:r>
              <a:rPr lang="en-US" sz="2000" i="1" dirty="0"/>
              <a:t>q.” The bi-conditional statement    p ↔ q is true when p and q have the same truth </a:t>
            </a:r>
            <a:r>
              <a:rPr lang="en-US" sz="2000" dirty="0"/>
              <a:t>values, and is false otherwise.</a:t>
            </a:r>
          </a:p>
        </p:txBody>
      </p:sp>
      <p:sp>
        <p:nvSpPr>
          <p:cNvPr id="8" name="TextBox 7"/>
          <p:cNvSpPr txBox="1"/>
          <p:nvPr/>
        </p:nvSpPr>
        <p:spPr>
          <a:xfrm>
            <a:off x="304800" y="3200400"/>
            <a:ext cx="4648200" cy="1938992"/>
          </a:xfrm>
          <a:prstGeom prst="rect">
            <a:avLst/>
          </a:prstGeom>
          <a:noFill/>
        </p:spPr>
        <p:txBody>
          <a:bodyPr wrap="square" rtlCol="0">
            <a:spAutoFit/>
          </a:bodyPr>
          <a:lstStyle/>
          <a:p>
            <a:pPr>
              <a:lnSpc>
                <a:spcPct val="150000"/>
              </a:lnSpc>
            </a:pPr>
            <a:r>
              <a:rPr lang="en-US" sz="2000" dirty="0"/>
              <a:t>Other ways  to express </a:t>
            </a:r>
            <a:r>
              <a:rPr lang="en-US" sz="2000" i="1" dirty="0"/>
              <a:t> p ↔ q:</a:t>
            </a:r>
          </a:p>
          <a:p>
            <a:pPr marL="342900" indent="-342900">
              <a:lnSpc>
                <a:spcPct val="150000"/>
              </a:lnSpc>
              <a:buFont typeface="Arial" panose="020B0604020202020204" pitchFamily="34" charset="0"/>
              <a:buChar char="•"/>
            </a:pPr>
            <a:r>
              <a:rPr lang="en-US" sz="2000" dirty="0"/>
              <a:t>“</a:t>
            </a:r>
            <a:r>
              <a:rPr lang="en-US" sz="2000" i="1" dirty="0"/>
              <a:t>p is necessary and sufficient for q”</a:t>
            </a:r>
          </a:p>
          <a:p>
            <a:pPr marL="342900" indent="-342900">
              <a:lnSpc>
                <a:spcPct val="150000"/>
              </a:lnSpc>
              <a:buFont typeface="Arial" panose="020B0604020202020204" pitchFamily="34" charset="0"/>
              <a:buChar char="•"/>
            </a:pPr>
            <a:r>
              <a:rPr lang="en-US" sz="2000" dirty="0"/>
              <a:t>“if </a:t>
            </a:r>
            <a:r>
              <a:rPr lang="en-US" sz="2000" i="1" dirty="0"/>
              <a:t>p then q, and if q then p”</a:t>
            </a:r>
          </a:p>
          <a:p>
            <a:pPr marL="342900" indent="-342900">
              <a:lnSpc>
                <a:spcPct val="150000"/>
              </a:lnSpc>
              <a:buFont typeface="Arial" panose="020B0604020202020204" pitchFamily="34" charset="0"/>
              <a:buChar char="•"/>
            </a:pPr>
            <a:r>
              <a:rPr lang="en-US" sz="2000" dirty="0"/>
              <a:t>“</a:t>
            </a:r>
            <a:r>
              <a:rPr lang="en-US" sz="2000" i="1" dirty="0"/>
              <a:t>p </a:t>
            </a:r>
            <a:r>
              <a:rPr lang="en-US" sz="2000" i="1" dirty="0" err="1"/>
              <a:t>iff</a:t>
            </a:r>
            <a:r>
              <a:rPr lang="en-US" sz="2000" i="1" dirty="0"/>
              <a:t> q.” </a:t>
            </a:r>
            <a:endParaRPr lang="en-US" sz="2000" dirty="0"/>
          </a:p>
        </p:txBody>
      </p:sp>
      <p:sp>
        <p:nvSpPr>
          <p:cNvPr id="9" name="Rectangle 8"/>
          <p:cNvSpPr/>
          <p:nvPr/>
        </p:nvSpPr>
        <p:spPr>
          <a:xfrm>
            <a:off x="381000" y="5467290"/>
            <a:ext cx="8305800" cy="400110"/>
          </a:xfrm>
          <a:prstGeom prst="rect">
            <a:avLst/>
          </a:prstGeom>
        </p:spPr>
        <p:txBody>
          <a:bodyPr wrap="square">
            <a:spAutoFit/>
          </a:bodyPr>
          <a:lstStyle/>
          <a:p>
            <a:r>
              <a:rPr lang="en-US" sz="2000" dirty="0"/>
              <a:t>Example: “You can have dessert if and only if you ﬁnish your meal.” </a:t>
            </a:r>
          </a:p>
        </p:txBody>
      </p:sp>
      <p:graphicFrame>
        <p:nvGraphicFramePr>
          <p:cNvPr id="10" name="Group 5"/>
          <p:cNvGraphicFramePr>
            <a:graphicFrameLocks noGrp="1"/>
          </p:cNvGraphicFramePr>
          <p:nvPr>
            <p:extLst>
              <p:ext uri="{D42A27DB-BD31-4B8C-83A1-F6EECF244321}">
                <p14:modId xmlns:p14="http://schemas.microsoft.com/office/powerpoint/2010/main" val="109144916"/>
              </p:ext>
            </p:extLst>
          </p:nvPr>
        </p:nvGraphicFramePr>
        <p:xfrm>
          <a:off x="6096000" y="3505200"/>
          <a:ext cx="2514600" cy="1889760"/>
        </p:xfrm>
        <a:graphic>
          <a:graphicData uri="http://schemas.openxmlformats.org/drawingml/2006/table">
            <a:tbl>
              <a:tblPr/>
              <a:tblGrid>
                <a:gridCol w="785813">
                  <a:extLst>
                    <a:ext uri="{9D8B030D-6E8A-4147-A177-3AD203B41FA5}">
                      <a16:colId xmlns:a16="http://schemas.microsoft.com/office/drawing/2014/main" val="20000"/>
                    </a:ext>
                  </a:extLst>
                </a:gridCol>
                <a:gridCol w="707231">
                  <a:extLst>
                    <a:ext uri="{9D8B030D-6E8A-4147-A177-3AD203B41FA5}">
                      <a16:colId xmlns:a16="http://schemas.microsoft.com/office/drawing/2014/main" val="20001"/>
                    </a:ext>
                  </a:extLst>
                </a:gridCol>
                <a:gridCol w="1021556">
                  <a:extLst>
                    <a:ext uri="{9D8B030D-6E8A-4147-A177-3AD203B41FA5}">
                      <a16:colId xmlns:a16="http://schemas.microsoft.com/office/drawing/2014/main" val="20002"/>
                    </a:ext>
                  </a:extLst>
                </a:gridCol>
              </a:tblGrid>
              <a:tr h="36576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FF0000"/>
                          </a:solidFill>
                          <a:effectLst/>
                          <a:latin typeface="Comic Sans MS" pitchFamily="1" charset="0"/>
                          <a:ea typeface="ＭＳ Ｐゴシック" pitchFamily="1" charset="-128"/>
                        </a:rPr>
                        <a:t>p</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FF0000"/>
                          </a:solidFill>
                          <a:effectLst/>
                          <a:latin typeface="Comic Sans MS" pitchFamily="1" charset="0"/>
                          <a:ea typeface="ＭＳ Ｐゴシック" pitchFamily="1" charset="-128"/>
                        </a:rPr>
                        <a:t>q</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1" u="none" strike="noStrike" cap="none" normalizeH="0" baseline="0" dirty="0">
                          <a:ln>
                            <a:noFill/>
                          </a:ln>
                          <a:solidFill>
                            <a:srgbClr val="FF0000"/>
                          </a:solidFill>
                          <a:effectLst/>
                          <a:latin typeface="Comic Sans MS" pitchFamily="1" charset="0"/>
                          <a:ea typeface="ＭＳ Ｐゴシック" pitchFamily="1" charset="-128"/>
                        </a:rPr>
                        <a:t>p </a:t>
                      </a:r>
                      <a:r>
                        <a:rPr lang="en-US" sz="2000" i="1" dirty="0">
                          <a:solidFill>
                            <a:srgbClr val="FF0000"/>
                          </a:solidFill>
                        </a:rPr>
                        <a:t>↔</a:t>
                      </a:r>
                      <a:r>
                        <a:rPr kumimoji="0" lang="en-US" sz="2000" b="0" i="1" u="none" strike="noStrike" cap="none" normalizeH="0" baseline="0" dirty="0">
                          <a:ln>
                            <a:noFill/>
                          </a:ln>
                          <a:solidFill>
                            <a:srgbClr val="FF0000"/>
                          </a:solidFill>
                          <a:effectLst/>
                          <a:latin typeface="Arial" charset="0"/>
                          <a:ea typeface="ＭＳ Ｐゴシック" pitchFamily="1" charset="-128"/>
                          <a:sym typeface="Symbol" pitchFamily="1" charset="2"/>
                        </a:rPr>
                        <a:t> </a:t>
                      </a:r>
                      <a:r>
                        <a:rPr kumimoji="0" lang="en-US" sz="2000" b="0" i="1" u="none" strike="noStrike" cap="none" normalizeH="0" baseline="0" dirty="0">
                          <a:ln>
                            <a:noFill/>
                          </a:ln>
                          <a:solidFill>
                            <a:srgbClr val="FF0000"/>
                          </a:solidFill>
                          <a:effectLst/>
                          <a:latin typeface="Comic Sans MS" pitchFamily="1" charset="0"/>
                          <a:ea typeface="ＭＳ Ｐゴシック" pitchFamily="1" charset="-128"/>
                        </a:rPr>
                        <a:t>q</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46304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pitchFamily="1" charset="0"/>
                          <a:ea typeface="ＭＳ Ｐゴシック" pitchFamily="1" charset="-128"/>
                        </a:rPr>
                        <a:t>F</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pitchFamily="1" charset="0"/>
                          <a:ea typeface="ＭＳ Ｐゴシック" pitchFamily="1" charset="-128"/>
                        </a:rPr>
                        <a:t>F</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pitchFamily="1" charset="0"/>
                          <a:ea typeface="ＭＳ Ｐゴシック" pitchFamily="1" charset="-128"/>
                        </a:rPr>
                        <a:t>T</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pitchFamily="1" charset="0"/>
                          <a:ea typeface="ＭＳ Ｐゴシック" pitchFamily="1" charset="-128"/>
                        </a:rPr>
                        <a:t>T</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pitchFamily="1" charset="0"/>
                          <a:ea typeface="ＭＳ Ｐゴシック" pitchFamily="1" charset="-128"/>
                        </a:rPr>
                        <a:t>F</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pitchFamily="1" charset="0"/>
                          <a:ea typeface="ＭＳ Ｐゴシック" pitchFamily="1" charset="-128"/>
                        </a:rPr>
                        <a:t>T</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pitchFamily="1" charset="0"/>
                          <a:ea typeface="ＭＳ Ｐゴシック" pitchFamily="1" charset="-128"/>
                        </a:rPr>
                        <a:t>F</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pitchFamily="1" charset="0"/>
                          <a:ea typeface="ＭＳ Ｐゴシック" pitchFamily="1" charset="-128"/>
                        </a:rPr>
                        <a:t>T</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pitchFamily="1" charset="0"/>
                          <a:ea typeface="ＭＳ Ｐゴシック" pitchFamily="1" charset="-128"/>
                        </a:rPr>
                        <a:t>T</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pitchFamily="1" charset="0"/>
                          <a:ea typeface="ＭＳ Ｐゴシック" pitchFamily="1" charset="-128"/>
                        </a:rPr>
                        <a:t>F</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pitchFamily="1" charset="0"/>
                          <a:ea typeface="ＭＳ Ｐゴシック" pitchFamily="1" charset="-128"/>
                        </a:rPr>
                        <a:t>F</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pitchFamily="1" charset="0"/>
                          <a:ea typeface="ＭＳ Ｐゴシック" pitchFamily="1" charset="-128"/>
                        </a:rPr>
                        <a:t>T</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mc:AlternateContent xmlns:mc="http://schemas.openxmlformats.org/markup-compatibility/2006" xmlns:a14="http://schemas.microsoft.com/office/drawing/2010/main">
        <mc:Choice Requires="a14">
          <p:sp>
            <p:nvSpPr>
              <p:cNvPr id="11" name="Rectangle 10"/>
              <p:cNvSpPr/>
              <p:nvPr/>
            </p:nvSpPr>
            <p:spPr>
              <a:xfrm>
                <a:off x="5562600" y="2952690"/>
                <a:ext cx="3403809" cy="461665"/>
              </a:xfrm>
              <a:prstGeom prst="rect">
                <a:avLst/>
              </a:prstGeom>
            </p:spPr>
            <p:txBody>
              <a:bodyPr wrap="square">
                <a:spAutoFit/>
              </a:bodyPr>
              <a:lstStyle/>
              <a:p>
                <a:pPr lvl="0" algn="ctr" fontAlgn="base">
                  <a:spcBef>
                    <a:spcPct val="20000"/>
                  </a:spcBef>
                  <a:spcAft>
                    <a:spcPct val="0"/>
                  </a:spcAft>
                </a:pPr>
                <a:r>
                  <a:rPr lang="en-US" sz="2400" b="1" dirty="0"/>
                  <a:t>Truth  Table for p </a:t>
                </a:r>
                <a14:m>
                  <m:oMath xmlns:m="http://schemas.openxmlformats.org/officeDocument/2006/math">
                    <m:r>
                      <a:rPr lang="en-US" sz="2400" b="1">
                        <a:latin typeface="Cambria Math" panose="02040503050406030204" pitchFamily="18" charset="0"/>
                      </a:rPr>
                      <m:t>↔</m:t>
                    </m:r>
                  </m:oMath>
                </a14:m>
                <a:r>
                  <a:rPr lang="en-US" sz="2400" b="1" dirty="0">
                    <a:sym typeface="Symbol" pitchFamily="1" charset="2"/>
                  </a:rPr>
                  <a:t> </a:t>
                </a:r>
                <a:r>
                  <a:rPr lang="en-US" sz="2400" b="1" dirty="0"/>
                  <a:t>q</a:t>
                </a:r>
              </a:p>
            </p:txBody>
          </p:sp>
        </mc:Choice>
        <mc:Fallback xmlns="">
          <p:sp>
            <p:nvSpPr>
              <p:cNvPr id="11" name="Rectangle 10"/>
              <p:cNvSpPr>
                <a:spLocks noRot="1" noChangeAspect="1" noMove="1" noResize="1" noEditPoints="1" noAdjustHandles="1" noChangeArrowheads="1" noChangeShapeType="1" noTextEdit="1"/>
              </p:cNvSpPr>
              <p:nvPr/>
            </p:nvSpPr>
            <p:spPr>
              <a:xfrm>
                <a:off x="5562600" y="2952690"/>
                <a:ext cx="3403809" cy="461665"/>
              </a:xfrm>
              <a:prstGeom prst="rect">
                <a:avLst/>
              </a:prstGeom>
              <a:blipFill rotWithShape="0">
                <a:blip r:embed="rId2"/>
                <a:stretch>
                  <a:fillRect l="-1254" t="-9211" r="-896" b="-30263"/>
                </a:stretch>
              </a:blipFill>
            </p:spPr>
            <p:txBody>
              <a:bodyPr/>
              <a:lstStyle/>
              <a:p>
                <a:r>
                  <a:rPr lang="en-GB">
                    <a:noFill/>
                  </a:rPr>
                  <a:t> </a:t>
                </a:r>
              </a:p>
            </p:txBody>
          </p:sp>
        </mc:Fallback>
      </mc:AlternateContent>
    </p:spTree>
    <p:extLst>
      <p:ext uri="{BB962C8B-B14F-4D97-AF65-F5344CB8AC3E}">
        <p14:creationId xmlns:p14="http://schemas.microsoft.com/office/powerpoint/2010/main" val="7373950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9"/>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1"/>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Precedence of Logical Operators</a:t>
            </a:r>
            <a:endParaRPr lang="en-GB" dirty="0"/>
          </a:p>
        </p:txBody>
      </p:sp>
      <p:sp>
        <p:nvSpPr>
          <p:cNvPr id="4" name="Date Placeholder 3"/>
          <p:cNvSpPr>
            <a:spLocks noGrp="1"/>
          </p:cNvSpPr>
          <p:nvPr>
            <p:ph type="dt" sz="half" idx="10"/>
          </p:nvPr>
        </p:nvSpPr>
        <p:spPr/>
        <p:txBody>
          <a:bodyPr/>
          <a:lstStyle/>
          <a:p>
            <a:fld id="{AE41DC55-8314-4C60-ACF6-54EC186B364F}" type="datetime3">
              <a:rPr lang="en-US" smtClean="0"/>
              <a:t>27 April 2026</a:t>
            </a:fld>
            <a:endParaRPr lang="en-US"/>
          </a:p>
        </p:txBody>
      </p:sp>
      <p:sp>
        <p:nvSpPr>
          <p:cNvPr id="5" name="Footer Placeholder 4"/>
          <p:cNvSpPr>
            <a:spLocks noGrp="1"/>
          </p:cNvSpPr>
          <p:nvPr>
            <p:ph type="ftr" sz="quarter" idx="11"/>
          </p:nvPr>
        </p:nvSpPr>
        <p:spPr/>
        <p:txBody>
          <a:bodyPr/>
          <a:lstStyle/>
          <a:p>
            <a:r>
              <a:rPr lang="en-US"/>
              <a:t>SCS 1302   Discrete Mathematics 1       Prof. D D Karunaratna</a:t>
            </a:r>
          </a:p>
        </p:txBody>
      </p:sp>
      <p:sp>
        <p:nvSpPr>
          <p:cNvPr id="6" name="Slide Number Placeholder 5"/>
          <p:cNvSpPr>
            <a:spLocks noGrp="1"/>
          </p:cNvSpPr>
          <p:nvPr>
            <p:ph type="sldNum" sz="quarter" idx="12"/>
          </p:nvPr>
        </p:nvSpPr>
        <p:spPr/>
        <p:txBody>
          <a:bodyPr/>
          <a:lstStyle/>
          <a:p>
            <a:fld id="{0CA841A6-7C02-4C92-B6EE-5DBCC2AD53D0}" type="slidenum">
              <a:rPr lang="en-US" smtClean="0"/>
              <a:t>31</a:t>
            </a:fld>
            <a:endParaRPr lang="en-US"/>
          </a:p>
        </p:txBody>
      </p:sp>
      <mc:AlternateContent xmlns:mc="http://schemas.openxmlformats.org/markup-compatibility/2006" xmlns:a14="http://schemas.microsoft.com/office/drawing/2010/main">
        <mc:Choice Requires="a14">
          <p:sp>
            <p:nvSpPr>
              <p:cNvPr id="8" name="Rectangle 7"/>
              <p:cNvSpPr/>
              <p:nvPr/>
            </p:nvSpPr>
            <p:spPr>
              <a:xfrm>
                <a:off x="1524000" y="1960225"/>
                <a:ext cx="5404232" cy="1938992"/>
              </a:xfrm>
              <a:prstGeom prst="rect">
                <a:avLst/>
              </a:prstGeom>
            </p:spPr>
            <p:txBody>
              <a:bodyPr wrap="square">
                <a:spAutoFit/>
              </a:bodyPr>
              <a:lstStyle/>
              <a:p>
                <a14:m>
                  <m:oMath xmlns:m="http://schemas.openxmlformats.org/officeDocument/2006/math">
                    <m:r>
                      <a:rPr lang="en-GB" sz="2400" i="0" smtClean="0">
                        <a:latin typeface="Cambria Math" panose="02040503050406030204" pitchFamily="18" charset="0"/>
                        <a:ea typeface="Cambria Math" panose="02040503050406030204" pitchFamily="18" charset="0"/>
                      </a:rPr>
                      <m:t>∨</m:t>
                    </m:r>
                  </m:oMath>
                </a14:m>
                <a:r>
                  <a:rPr lang="en-US" sz="2400" b="0" dirty="0">
                    <a:latin typeface="Cambria Math" panose="02040503050406030204" pitchFamily="18" charset="0"/>
                    <a:ea typeface="Cambria Math" panose="02040503050406030204" pitchFamily="18" charset="0"/>
                  </a:rPr>
                  <a:t> and </a:t>
                </a:r>
                <a14:m>
                  <m:oMath xmlns:m="http://schemas.openxmlformats.org/officeDocument/2006/math">
                    <m:r>
                      <a:rPr lang="en-GB" sz="2400" i="0">
                        <a:latin typeface="Cambria Math" panose="02040503050406030204" pitchFamily="18" charset="0"/>
                        <a:ea typeface="Cambria Math" panose="02040503050406030204" pitchFamily="18" charset="0"/>
                      </a:rPr>
                      <m:t>→</m:t>
                    </m:r>
                  </m:oMath>
                </a14:m>
                <a:r>
                  <a:rPr lang="en-US" sz="2400" b="0" dirty="0">
                    <a:latin typeface="Cambria Math" panose="02040503050406030204" pitchFamily="18" charset="0"/>
                    <a:ea typeface="Cambria Math" panose="02040503050406030204" pitchFamily="18" charset="0"/>
                  </a:rPr>
                  <a:t> are binary operators</a:t>
                </a:r>
              </a:p>
              <a:p>
                <a:r>
                  <a:rPr lang="en-US" sz="2400" dirty="0">
                    <a:latin typeface="Cambria Math" panose="02040503050406030204" pitchFamily="18" charset="0"/>
                    <a:ea typeface="Cambria Math" panose="02040503050406030204" pitchFamily="18" charset="0"/>
                  </a:rPr>
                  <a:t>Does </a:t>
                </a:r>
                <a14:m>
                  <m:oMath xmlns:m="http://schemas.openxmlformats.org/officeDocument/2006/math">
                    <m:r>
                      <a:rPr lang="en-GB" sz="2400" i="1">
                        <a:latin typeface="Cambria Math" panose="02040503050406030204" pitchFamily="18" charset="0"/>
                        <a:ea typeface="Cambria Math" panose="02040503050406030204" pitchFamily="18" charset="0"/>
                      </a:rPr>
                      <m:t>𝑝</m:t>
                    </m:r>
                    <m:r>
                      <a:rPr lang="en-GB" sz="2400" i="1">
                        <a:latin typeface="Cambria Math" panose="02040503050406030204" pitchFamily="18" charset="0"/>
                        <a:ea typeface="Cambria Math" panose="02040503050406030204" pitchFamily="18" charset="0"/>
                      </a:rPr>
                      <m:t>∨</m:t>
                    </m:r>
                    <m:r>
                      <a:rPr lang="en-GB" sz="2400" i="1">
                        <a:latin typeface="Cambria Math" panose="02040503050406030204" pitchFamily="18" charset="0"/>
                        <a:ea typeface="Cambria Math" panose="02040503050406030204" pitchFamily="18" charset="0"/>
                      </a:rPr>
                      <m:t>𝑞</m:t>
                    </m:r>
                    <m:r>
                      <a:rPr lang="en-GB" sz="2400" i="1">
                        <a:latin typeface="Cambria Math" panose="02040503050406030204" pitchFamily="18" charset="0"/>
                        <a:ea typeface="Cambria Math" panose="02040503050406030204" pitchFamily="18" charset="0"/>
                      </a:rPr>
                      <m:t>→</m:t>
                    </m:r>
                    <m:r>
                      <a:rPr lang="en-GB" sz="2400" i="1">
                        <a:latin typeface="Cambria Math" panose="02040503050406030204" pitchFamily="18" charset="0"/>
                        <a:ea typeface="Cambria Math" panose="02040503050406030204" pitchFamily="18" charset="0"/>
                      </a:rPr>
                      <m:t>𝑟</m:t>
                    </m:r>
                  </m:oMath>
                </a14:m>
                <a:r>
                  <a:rPr lang="en-US" sz="2400" i="1" dirty="0"/>
                  <a:t>  means</a:t>
                </a:r>
              </a:p>
              <a:p>
                <a:r>
                  <a:rPr lang="en-US" sz="2400" b="0" i="1" dirty="0">
                    <a:latin typeface="Cambria Math" panose="02040503050406030204" pitchFamily="18" charset="0"/>
                    <a:ea typeface="Cambria Math" panose="02040503050406030204" pitchFamily="18" charset="0"/>
                  </a:rPr>
                  <a:t>1) </a:t>
                </a:r>
                <a14:m>
                  <m:oMath xmlns:m="http://schemas.openxmlformats.org/officeDocument/2006/math">
                    <m:r>
                      <a:rPr lang="en-US" sz="2400" b="0" i="1" smtClean="0">
                        <a:latin typeface="Cambria Math" panose="02040503050406030204" pitchFamily="18" charset="0"/>
                        <a:ea typeface="Cambria Math" panose="02040503050406030204" pitchFamily="18" charset="0"/>
                      </a:rPr>
                      <m:t>(</m:t>
                    </m:r>
                    <m:r>
                      <a:rPr lang="en-GB" sz="2400" i="1">
                        <a:latin typeface="Cambria Math" panose="02040503050406030204" pitchFamily="18" charset="0"/>
                        <a:ea typeface="Cambria Math" panose="02040503050406030204" pitchFamily="18" charset="0"/>
                      </a:rPr>
                      <m:t>𝑝</m:t>
                    </m:r>
                    <m:r>
                      <a:rPr lang="en-GB" sz="2400" i="1">
                        <a:latin typeface="Cambria Math" panose="02040503050406030204" pitchFamily="18" charset="0"/>
                        <a:ea typeface="Cambria Math" panose="02040503050406030204" pitchFamily="18" charset="0"/>
                      </a:rPr>
                      <m:t>∨</m:t>
                    </m:r>
                    <m:r>
                      <a:rPr lang="en-GB" sz="2400" i="1">
                        <a:latin typeface="Cambria Math" panose="02040503050406030204" pitchFamily="18" charset="0"/>
                        <a:ea typeface="Cambria Math" panose="02040503050406030204" pitchFamily="18" charset="0"/>
                      </a:rPr>
                      <m:t>𝑞</m:t>
                    </m:r>
                    <m:r>
                      <a:rPr lang="en-US" sz="2400" b="0" i="1" smtClean="0">
                        <a:latin typeface="Cambria Math" panose="02040503050406030204" pitchFamily="18" charset="0"/>
                        <a:ea typeface="Cambria Math" panose="02040503050406030204" pitchFamily="18" charset="0"/>
                      </a:rPr>
                      <m:t>)</m:t>
                    </m:r>
                    <m:r>
                      <a:rPr lang="en-GB" sz="2400" i="1">
                        <a:latin typeface="Cambria Math" panose="02040503050406030204" pitchFamily="18" charset="0"/>
                        <a:ea typeface="Cambria Math" panose="02040503050406030204" pitchFamily="18" charset="0"/>
                      </a:rPr>
                      <m:t>→</m:t>
                    </m:r>
                    <m:r>
                      <a:rPr lang="en-GB" sz="2400" i="1">
                        <a:latin typeface="Cambria Math" panose="02040503050406030204" pitchFamily="18" charset="0"/>
                        <a:ea typeface="Cambria Math" panose="02040503050406030204" pitchFamily="18" charset="0"/>
                      </a:rPr>
                      <m:t>𝑟</m:t>
                    </m:r>
                  </m:oMath>
                </a14:m>
                <a:r>
                  <a:rPr lang="en-US" sz="2400" i="1" dirty="0"/>
                  <a:t>    or</a:t>
                </a:r>
              </a:p>
              <a:p>
                <a:r>
                  <a:rPr lang="en-US" sz="2400" b="0" i="1" dirty="0">
                    <a:latin typeface="Cambria Math" panose="02040503050406030204" pitchFamily="18" charset="0"/>
                    <a:ea typeface="Cambria Math" panose="02040503050406030204" pitchFamily="18" charset="0"/>
                  </a:rPr>
                  <a:t>2) </a:t>
                </a:r>
                <a14:m>
                  <m:oMath xmlns:m="http://schemas.openxmlformats.org/officeDocument/2006/math">
                    <m:r>
                      <a:rPr lang="en-GB" sz="2400" i="1">
                        <a:latin typeface="Cambria Math" panose="02040503050406030204" pitchFamily="18" charset="0"/>
                        <a:ea typeface="Cambria Math" panose="02040503050406030204" pitchFamily="18" charset="0"/>
                      </a:rPr>
                      <m:t>𝑝</m:t>
                    </m:r>
                    <m:r>
                      <a:rPr lang="en-GB" sz="2400" i="1">
                        <a:latin typeface="Cambria Math" panose="02040503050406030204" pitchFamily="18" charset="0"/>
                        <a:ea typeface="Cambria Math" panose="02040503050406030204" pitchFamily="18" charset="0"/>
                      </a:rPr>
                      <m:t>∨(</m:t>
                    </m:r>
                    <m:r>
                      <a:rPr lang="en-GB" sz="2400" i="1">
                        <a:latin typeface="Cambria Math" panose="02040503050406030204" pitchFamily="18" charset="0"/>
                        <a:ea typeface="Cambria Math" panose="02040503050406030204" pitchFamily="18" charset="0"/>
                      </a:rPr>
                      <m:t>𝑞</m:t>
                    </m:r>
                    <m:r>
                      <a:rPr lang="en-GB" sz="2400" i="1">
                        <a:latin typeface="Cambria Math" panose="02040503050406030204" pitchFamily="18" charset="0"/>
                        <a:ea typeface="Cambria Math" panose="02040503050406030204" pitchFamily="18" charset="0"/>
                      </a:rPr>
                      <m:t>→</m:t>
                    </m:r>
                    <m:r>
                      <a:rPr lang="en-GB" sz="2400" i="1">
                        <a:latin typeface="Cambria Math" panose="02040503050406030204" pitchFamily="18" charset="0"/>
                        <a:ea typeface="Cambria Math" panose="02040503050406030204" pitchFamily="18" charset="0"/>
                      </a:rPr>
                      <m:t>𝑟</m:t>
                    </m:r>
                    <m:r>
                      <a:rPr lang="en-US" sz="2400" b="0" i="1" smtClean="0">
                        <a:latin typeface="Cambria Math" panose="02040503050406030204" pitchFamily="18" charset="0"/>
                        <a:ea typeface="Cambria Math" panose="02040503050406030204" pitchFamily="18" charset="0"/>
                      </a:rPr>
                      <m:t>)</m:t>
                    </m:r>
                  </m:oMath>
                </a14:m>
                <a:r>
                  <a:rPr lang="en-US" sz="2400" i="1" dirty="0"/>
                  <a:t> </a:t>
                </a:r>
                <a:endParaRPr lang="en-US" sz="2400" b="0" dirty="0">
                  <a:latin typeface="Cambria Math" panose="02040503050406030204" pitchFamily="18" charset="0"/>
                  <a:ea typeface="Cambria Math" panose="02040503050406030204" pitchFamily="18" charset="0"/>
                </a:endParaRPr>
              </a:p>
              <a:p>
                <a:endParaRPr lang="en-US" sz="2400" b="0" dirty="0">
                  <a:latin typeface="Cambria Math" panose="02040503050406030204" pitchFamily="18" charset="0"/>
                  <a:ea typeface="Cambria Math" panose="02040503050406030204" pitchFamily="18" charset="0"/>
                </a:endParaRPr>
              </a:p>
            </p:txBody>
          </p:sp>
        </mc:Choice>
        <mc:Fallback xmlns="">
          <p:sp>
            <p:nvSpPr>
              <p:cNvPr id="8" name="Rectangle 7"/>
              <p:cNvSpPr>
                <a:spLocks noRot="1" noChangeAspect="1" noMove="1" noResize="1" noEditPoints="1" noAdjustHandles="1" noChangeArrowheads="1" noChangeShapeType="1" noTextEdit="1"/>
              </p:cNvSpPr>
              <p:nvPr/>
            </p:nvSpPr>
            <p:spPr>
              <a:xfrm>
                <a:off x="1524000" y="1960225"/>
                <a:ext cx="5404232" cy="1938992"/>
              </a:xfrm>
              <a:prstGeom prst="rect">
                <a:avLst/>
              </a:prstGeom>
              <a:blipFill>
                <a:blip r:embed="rId2"/>
                <a:stretch>
                  <a:fillRect l="-1691" t="-2516"/>
                </a:stretch>
              </a:blipFill>
            </p:spPr>
            <p:txBody>
              <a:bodyPr/>
              <a:lstStyle/>
              <a:p>
                <a:r>
                  <a:rPr lang="en-US">
                    <a:noFill/>
                  </a:rPr>
                  <a:t> </a:t>
                </a:r>
              </a:p>
            </p:txBody>
          </p:sp>
        </mc:Fallback>
      </mc:AlternateContent>
    </p:spTree>
    <p:extLst>
      <p:ext uri="{BB962C8B-B14F-4D97-AF65-F5344CB8AC3E}">
        <p14:creationId xmlns:p14="http://schemas.microsoft.com/office/powerpoint/2010/main" val="5391797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A26616-A788-E86D-DC32-B7D66E927A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479AB5-A56B-42A9-48E3-4B68628B535C}"/>
              </a:ext>
            </a:extLst>
          </p:cNvPr>
          <p:cNvSpPr>
            <a:spLocks noGrp="1"/>
          </p:cNvSpPr>
          <p:nvPr>
            <p:ph type="title"/>
          </p:nvPr>
        </p:nvSpPr>
        <p:spPr/>
        <p:txBody>
          <a:bodyPr/>
          <a:lstStyle/>
          <a:p>
            <a:r>
              <a:rPr lang="en-US" b="1" dirty="0"/>
              <a:t>Precedence of Logical Operators</a:t>
            </a:r>
            <a:endParaRPr lang="en-GB" dirty="0"/>
          </a:p>
        </p:txBody>
      </p:sp>
      <p:sp>
        <p:nvSpPr>
          <p:cNvPr id="4" name="Date Placeholder 3">
            <a:extLst>
              <a:ext uri="{FF2B5EF4-FFF2-40B4-BE49-F238E27FC236}">
                <a16:creationId xmlns:a16="http://schemas.microsoft.com/office/drawing/2014/main" id="{C2651798-6968-CA9C-9BB8-C8FADECDC8AE}"/>
              </a:ext>
            </a:extLst>
          </p:cNvPr>
          <p:cNvSpPr>
            <a:spLocks noGrp="1"/>
          </p:cNvSpPr>
          <p:nvPr>
            <p:ph type="dt" sz="half" idx="10"/>
          </p:nvPr>
        </p:nvSpPr>
        <p:spPr/>
        <p:txBody>
          <a:bodyPr/>
          <a:lstStyle/>
          <a:p>
            <a:fld id="{04CE82A6-B89F-4DB2-80AF-166585735915}" type="datetime3">
              <a:rPr lang="en-US" smtClean="0"/>
              <a:t>27 April 2026</a:t>
            </a:fld>
            <a:endParaRPr lang="en-US"/>
          </a:p>
        </p:txBody>
      </p:sp>
      <p:sp>
        <p:nvSpPr>
          <p:cNvPr id="5" name="Footer Placeholder 4">
            <a:extLst>
              <a:ext uri="{FF2B5EF4-FFF2-40B4-BE49-F238E27FC236}">
                <a16:creationId xmlns:a16="http://schemas.microsoft.com/office/drawing/2014/main" id="{878A32C7-C57B-B0A6-0115-C8EB10912C45}"/>
              </a:ext>
            </a:extLst>
          </p:cNvPr>
          <p:cNvSpPr>
            <a:spLocks noGrp="1"/>
          </p:cNvSpPr>
          <p:nvPr>
            <p:ph type="ftr" sz="quarter" idx="11"/>
          </p:nvPr>
        </p:nvSpPr>
        <p:spPr/>
        <p:txBody>
          <a:bodyPr/>
          <a:lstStyle/>
          <a:p>
            <a:r>
              <a:rPr lang="en-US"/>
              <a:t>SCS 1302   Discrete Mathematics 1       Prof. D D Karunaratna</a:t>
            </a:r>
          </a:p>
        </p:txBody>
      </p:sp>
      <p:sp>
        <p:nvSpPr>
          <p:cNvPr id="6" name="Slide Number Placeholder 5">
            <a:extLst>
              <a:ext uri="{FF2B5EF4-FFF2-40B4-BE49-F238E27FC236}">
                <a16:creationId xmlns:a16="http://schemas.microsoft.com/office/drawing/2014/main" id="{6BA574F3-CE40-582E-3C32-BDBAC81B9F51}"/>
              </a:ext>
            </a:extLst>
          </p:cNvPr>
          <p:cNvSpPr>
            <a:spLocks noGrp="1"/>
          </p:cNvSpPr>
          <p:nvPr>
            <p:ph type="sldNum" sz="quarter" idx="12"/>
          </p:nvPr>
        </p:nvSpPr>
        <p:spPr/>
        <p:txBody>
          <a:bodyPr/>
          <a:lstStyle/>
          <a:p>
            <a:fld id="{0CA841A6-7C02-4C92-B6EE-5DBCC2AD53D0}" type="slidenum">
              <a:rPr lang="en-US" smtClean="0"/>
              <a:t>32</a:t>
            </a:fld>
            <a:endParaRPr lang="en-US"/>
          </a:p>
        </p:txBody>
      </p:sp>
      <p:graphicFrame>
        <p:nvGraphicFramePr>
          <p:cNvPr id="7" name="Table 6">
            <a:extLst>
              <a:ext uri="{FF2B5EF4-FFF2-40B4-BE49-F238E27FC236}">
                <a16:creationId xmlns:a16="http://schemas.microsoft.com/office/drawing/2014/main" id="{FA5D7A4A-A2C4-1CBB-875A-9862C28273D2}"/>
              </a:ext>
            </a:extLst>
          </p:cNvPr>
          <p:cNvGraphicFramePr>
            <a:graphicFrameLocks noGrp="1"/>
          </p:cNvGraphicFramePr>
          <p:nvPr/>
        </p:nvGraphicFramePr>
        <p:xfrm>
          <a:off x="1482916" y="1676400"/>
          <a:ext cx="6096000" cy="3195320"/>
        </p:xfrm>
        <a:graphic>
          <a:graphicData uri="http://schemas.openxmlformats.org/drawingml/2006/table">
            <a:tbl>
              <a:tblPr firstRow="1" bandRow="1">
                <a:tableStyleId>{5C22544A-7EE6-4342-B048-85BDC9FD1C3A}</a:tableStyleId>
              </a:tblPr>
              <a:tblGrid>
                <a:gridCol w="3048000">
                  <a:extLst>
                    <a:ext uri="{9D8B030D-6E8A-4147-A177-3AD203B41FA5}">
                      <a16:colId xmlns:a16="http://schemas.microsoft.com/office/drawing/2014/main" val="20000"/>
                    </a:ext>
                  </a:extLst>
                </a:gridCol>
                <a:gridCol w="3048000">
                  <a:extLst>
                    <a:ext uri="{9D8B030D-6E8A-4147-A177-3AD203B41FA5}">
                      <a16:colId xmlns:a16="http://schemas.microsoft.com/office/drawing/2014/main" val="20001"/>
                    </a:ext>
                  </a:extLst>
                </a:gridCol>
              </a:tblGrid>
              <a:tr h="320040">
                <a:tc gridSpan="2">
                  <a:txBody>
                    <a:bodyPr/>
                    <a:lstStyle/>
                    <a:p>
                      <a:pPr algn="ctr"/>
                      <a:r>
                        <a:rPr lang="en-US" sz="2800" b="1" kern="1200" baseline="0" dirty="0">
                          <a:solidFill>
                            <a:schemeClr val="tx1"/>
                          </a:solidFill>
                          <a:latin typeface="+mn-lt"/>
                          <a:ea typeface="+mn-ea"/>
                          <a:cs typeface="+mn-cs"/>
                        </a:rPr>
                        <a:t>Precedence of  Logical Operators</a:t>
                      </a:r>
                      <a:endParaRPr lang="en-US" sz="2800" dirty="0">
                        <a:solidFill>
                          <a:schemeClr val="tx1"/>
                        </a:solidFill>
                      </a:endParaRPr>
                    </a:p>
                  </a:txBody>
                  <a:tcPr/>
                </a:tc>
                <a:tc hMerge="1">
                  <a:txBody>
                    <a:bodyPr/>
                    <a:lstStyle/>
                    <a:p>
                      <a:endParaRPr lang="en-US" dirty="0"/>
                    </a:p>
                  </a:txBody>
                  <a:tcPr/>
                </a:tc>
                <a:extLst>
                  <a:ext uri="{0D108BD9-81ED-4DB2-BD59-A6C34878D82A}">
                    <a16:rowId xmlns:a16="http://schemas.microsoft.com/office/drawing/2014/main" val="10000"/>
                  </a:ext>
                </a:extLst>
              </a:tr>
              <a:tr h="370840">
                <a:tc>
                  <a:txBody>
                    <a:bodyPr/>
                    <a:lstStyle/>
                    <a:p>
                      <a:pPr algn="ctr"/>
                      <a:r>
                        <a:rPr lang="en-US" sz="2400" b="1" dirty="0"/>
                        <a:t>Operator</a:t>
                      </a:r>
                    </a:p>
                  </a:txBody>
                  <a:tcPr/>
                </a:tc>
                <a:tc>
                  <a:txBody>
                    <a:bodyPr/>
                    <a:lstStyle/>
                    <a:p>
                      <a:pPr algn="ctr"/>
                      <a:r>
                        <a:rPr lang="en-US" sz="2400" b="1" dirty="0"/>
                        <a:t>Precedence</a:t>
                      </a:r>
                    </a:p>
                    <a:p>
                      <a:pPr algn="ctr"/>
                      <a:r>
                        <a:rPr lang="en-US" sz="2400" b="1" dirty="0"/>
                        <a:t>(Highest to lowest)</a:t>
                      </a:r>
                    </a:p>
                  </a:txBody>
                  <a:tcPr/>
                </a:tc>
                <a:extLst>
                  <a:ext uri="{0D108BD9-81ED-4DB2-BD59-A6C34878D82A}">
                    <a16:rowId xmlns:a16="http://schemas.microsoft.com/office/drawing/2014/main" val="10001"/>
                  </a:ext>
                </a:extLst>
              </a:tr>
              <a:tr h="370840">
                <a:tc>
                  <a:txBody>
                    <a:bodyPr/>
                    <a:lstStyle/>
                    <a:p>
                      <a:pPr algn="ctr"/>
                      <a:r>
                        <a:rPr lang="en-US" sz="1800" i="1" dirty="0"/>
                        <a:t>￢</a:t>
                      </a:r>
                      <a:endParaRPr lang="en-US" dirty="0"/>
                    </a:p>
                  </a:txBody>
                  <a:tcPr/>
                </a:tc>
                <a:tc>
                  <a:txBody>
                    <a:bodyPr/>
                    <a:lstStyle/>
                    <a:p>
                      <a:pPr algn="ctr"/>
                      <a:r>
                        <a:rPr lang="en-US" dirty="0"/>
                        <a:t>1</a:t>
                      </a:r>
                    </a:p>
                  </a:txBody>
                  <a:tcPr/>
                </a:tc>
                <a:extLst>
                  <a:ext uri="{0D108BD9-81ED-4DB2-BD59-A6C34878D82A}">
                    <a16:rowId xmlns:a16="http://schemas.microsoft.com/office/drawing/2014/main" val="10002"/>
                  </a:ext>
                </a:extLst>
              </a:tr>
              <a:tr h="370840">
                <a:tc>
                  <a:txBody>
                    <a:bodyPr/>
                    <a:lstStyle/>
                    <a:p>
                      <a:pPr algn="ctr"/>
                      <a:r>
                        <a:rPr lang="en-US" sz="1800" i="1" dirty="0"/>
                        <a:t>∧</a:t>
                      </a:r>
                      <a:endParaRPr lang="en-US" dirty="0"/>
                    </a:p>
                  </a:txBody>
                  <a:tcPr/>
                </a:tc>
                <a:tc>
                  <a:txBody>
                    <a:bodyPr/>
                    <a:lstStyle/>
                    <a:p>
                      <a:pPr algn="ctr"/>
                      <a:r>
                        <a:rPr lang="en-US" dirty="0"/>
                        <a:t>2</a:t>
                      </a:r>
                    </a:p>
                  </a:txBody>
                  <a:tcPr/>
                </a:tc>
                <a:extLst>
                  <a:ext uri="{0D108BD9-81ED-4DB2-BD59-A6C34878D82A}">
                    <a16:rowId xmlns:a16="http://schemas.microsoft.com/office/drawing/2014/main" val="10003"/>
                  </a:ext>
                </a:extLst>
              </a:tr>
              <a:tr h="370840">
                <a:tc>
                  <a:txBody>
                    <a:bodyPr/>
                    <a:lstStyle/>
                    <a:p>
                      <a:pPr algn="ctr"/>
                      <a:r>
                        <a:rPr lang="en-US" sz="1800" i="1" dirty="0"/>
                        <a:t>∨ </a:t>
                      </a:r>
                      <a:endParaRPr lang="en-US" dirty="0"/>
                    </a:p>
                  </a:txBody>
                  <a:tcPr/>
                </a:tc>
                <a:tc>
                  <a:txBody>
                    <a:bodyPr/>
                    <a:lstStyle/>
                    <a:p>
                      <a:pPr algn="ctr"/>
                      <a:r>
                        <a:rPr lang="en-US" dirty="0"/>
                        <a:t>3</a:t>
                      </a:r>
                    </a:p>
                  </a:txBody>
                  <a:tcPr/>
                </a:tc>
                <a:extLst>
                  <a:ext uri="{0D108BD9-81ED-4DB2-BD59-A6C34878D82A}">
                    <a16:rowId xmlns:a16="http://schemas.microsoft.com/office/drawing/2014/main" val="10004"/>
                  </a:ext>
                </a:extLst>
              </a:tr>
              <a:tr h="370840">
                <a:tc>
                  <a:txBody>
                    <a:bodyPr/>
                    <a:lstStyle/>
                    <a:p>
                      <a:pPr algn="ctr"/>
                      <a:r>
                        <a:rPr lang="en-US" sz="1800" b="0" i="1" dirty="0"/>
                        <a:t>→</a:t>
                      </a:r>
                      <a:endParaRPr lang="en-US" b="0" dirty="0"/>
                    </a:p>
                  </a:txBody>
                  <a:tcPr/>
                </a:tc>
                <a:tc>
                  <a:txBody>
                    <a:bodyPr/>
                    <a:lstStyle/>
                    <a:p>
                      <a:pPr algn="ctr"/>
                      <a:r>
                        <a:rPr lang="en-US" dirty="0"/>
                        <a:t>4</a:t>
                      </a:r>
                    </a:p>
                  </a:txBody>
                  <a:tcPr/>
                </a:tc>
                <a:extLst>
                  <a:ext uri="{0D108BD9-81ED-4DB2-BD59-A6C34878D82A}">
                    <a16:rowId xmlns:a16="http://schemas.microsoft.com/office/drawing/2014/main" val="10005"/>
                  </a:ext>
                </a:extLst>
              </a:tr>
              <a:tr h="370840">
                <a:tc>
                  <a:txBody>
                    <a:bodyPr/>
                    <a:lstStyle/>
                    <a:p>
                      <a:pPr algn="ctr"/>
                      <a:r>
                        <a:rPr lang="en-US" sz="1800" i="1" dirty="0"/>
                        <a:t>↔</a:t>
                      </a:r>
                      <a:r>
                        <a:rPr kumimoji="0" lang="en-US" sz="1800" b="0" i="1" u="none" strike="noStrike" cap="none" normalizeH="0" baseline="0" dirty="0">
                          <a:ln>
                            <a:noFill/>
                          </a:ln>
                          <a:solidFill>
                            <a:schemeClr val="tx1"/>
                          </a:solidFill>
                          <a:effectLst/>
                          <a:latin typeface="Arial" charset="0"/>
                          <a:ea typeface="ＭＳ Ｐゴシック" pitchFamily="1" charset="-128"/>
                          <a:sym typeface="Symbol" pitchFamily="1" charset="2"/>
                        </a:rPr>
                        <a:t> </a:t>
                      </a:r>
                      <a:endParaRPr lang="en-US" dirty="0"/>
                    </a:p>
                  </a:txBody>
                  <a:tcPr/>
                </a:tc>
                <a:tc>
                  <a:txBody>
                    <a:bodyPr/>
                    <a:lstStyle/>
                    <a:p>
                      <a:pPr algn="ctr"/>
                      <a:r>
                        <a:rPr lang="en-US" dirty="0"/>
                        <a:t>5</a:t>
                      </a:r>
                    </a:p>
                  </a:txBody>
                  <a:tcPr/>
                </a:tc>
                <a:extLst>
                  <a:ext uri="{0D108BD9-81ED-4DB2-BD59-A6C34878D82A}">
                    <a16:rowId xmlns:a16="http://schemas.microsoft.com/office/drawing/2014/main" val="10006"/>
                  </a:ext>
                </a:extLst>
              </a:tr>
            </a:tbl>
          </a:graphicData>
        </a:graphic>
      </p:graphicFrame>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387F1999-3A4B-45E9-CDB4-F611C8D104A0}"/>
                  </a:ext>
                </a:extLst>
              </p:cNvPr>
              <p:cNvSpPr/>
              <p:nvPr/>
            </p:nvSpPr>
            <p:spPr>
              <a:xfrm>
                <a:off x="1828800" y="4874567"/>
                <a:ext cx="5404232" cy="461665"/>
              </a:xfrm>
              <a:prstGeom prst="rect">
                <a:avLst/>
              </a:prstGeom>
            </p:spPr>
            <p:txBody>
              <a:bodyPr wrap="square">
                <a:spAutoFit/>
              </a:bodyPr>
              <a:lstStyle/>
              <a:p>
                <a14:m>
                  <m:oMath xmlns:m="http://schemas.openxmlformats.org/officeDocument/2006/math">
                    <m:r>
                      <a:rPr lang="en-GB" sz="2400" b="0" i="1" smtClean="0">
                        <a:latin typeface="Cambria Math" panose="02040503050406030204" pitchFamily="18" charset="0"/>
                        <a:ea typeface="Cambria Math" panose="02040503050406030204" pitchFamily="18" charset="0"/>
                      </a:rPr>
                      <m:t>𝑝</m:t>
                    </m:r>
                    <m:r>
                      <a:rPr lang="en-GB" sz="2400" i="1">
                        <a:latin typeface="Cambria Math" panose="02040503050406030204" pitchFamily="18" charset="0"/>
                        <a:ea typeface="Cambria Math" panose="02040503050406030204" pitchFamily="18" charset="0"/>
                      </a:rPr>
                      <m:t>∨</m:t>
                    </m:r>
                    <m:r>
                      <a:rPr lang="en-GB" sz="2400" b="0" i="1" smtClean="0">
                        <a:latin typeface="Cambria Math" panose="02040503050406030204" pitchFamily="18" charset="0"/>
                        <a:ea typeface="Cambria Math" panose="02040503050406030204" pitchFamily="18" charset="0"/>
                      </a:rPr>
                      <m:t>𝑞</m:t>
                    </m:r>
                    <m:r>
                      <a:rPr lang="en-GB" sz="2400" b="0" i="1" smtClean="0">
                        <a:latin typeface="Cambria Math" panose="02040503050406030204" pitchFamily="18" charset="0"/>
                        <a:ea typeface="Cambria Math" panose="02040503050406030204" pitchFamily="18" charset="0"/>
                      </a:rPr>
                      <m:t>→</m:t>
                    </m:r>
                    <m:r>
                      <a:rPr lang="en-GB" sz="2400" b="0" i="1" smtClean="0">
                        <a:latin typeface="Cambria Math" panose="02040503050406030204" pitchFamily="18" charset="0"/>
                        <a:ea typeface="Cambria Math" panose="02040503050406030204" pitchFamily="18" charset="0"/>
                      </a:rPr>
                      <m:t>𝑟</m:t>
                    </m:r>
                  </m:oMath>
                </a14:m>
                <a:r>
                  <a:rPr lang="en-US" sz="2400" i="1" dirty="0"/>
                  <a:t>  </a:t>
                </a:r>
                <a:r>
                  <a:rPr lang="en-US" sz="2400" dirty="0"/>
                  <a:t>is the same as </a:t>
                </a:r>
                <a14:m>
                  <m:oMath xmlns:m="http://schemas.openxmlformats.org/officeDocument/2006/math">
                    <m:d>
                      <m:dPr>
                        <m:ctrlPr>
                          <a:rPr lang="en-US" sz="2400" i="1" smtClean="0">
                            <a:latin typeface="Cambria Math" panose="02040503050406030204" pitchFamily="18" charset="0"/>
                          </a:rPr>
                        </m:ctrlPr>
                      </m:dPr>
                      <m:e>
                        <m:r>
                          <a:rPr lang="en-GB" sz="2400" i="1">
                            <a:latin typeface="Cambria Math" panose="02040503050406030204" pitchFamily="18" charset="0"/>
                            <a:ea typeface="Cambria Math" panose="02040503050406030204" pitchFamily="18" charset="0"/>
                          </a:rPr>
                          <m:t>𝑝</m:t>
                        </m:r>
                        <m:r>
                          <a:rPr lang="en-GB" sz="2400" i="1">
                            <a:latin typeface="Cambria Math" panose="02040503050406030204" pitchFamily="18" charset="0"/>
                            <a:ea typeface="Cambria Math" panose="02040503050406030204" pitchFamily="18" charset="0"/>
                          </a:rPr>
                          <m:t>∨</m:t>
                        </m:r>
                        <m:r>
                          <a:rPr lang="en-GB" sz="2400" i="1">
                            <a:latin typeface="Cambria Math" panose="02040503050406030204" pitchFamily="18" charset="0"/>
                            <a:ea typeface="Cambria Math" panose="02040503050406030204" pitchFamily="18" charset="0"/>
                          </a:rPr>
                          <m:t>𝑞</m:t>
                        </m:r>
                      </m:e>
                    </m:d>
                    <m:r>
                      <a:rPr lang="en-US" sz="2400" i="1" smtClean="0">
                        <a:latin typeface="Cambria Math" panose="02040503050406030204" pitchFamily="18" charset="0"/>
                        <a:ea typeface="Cambria Math" panose="02040503050406030204" pitchFamily="18" charset="0"/>
                      </a:rPr>
                      <m:t>→</m:t>
                    </m:r>
                    <m:r>
                      <a:rPr lang="en-GB" sz="2400" b="0" i="1" smtClean="0">
                        <a:latin typeface="Cambria Math" panose="02040503050406030204" pitchFamily="18" charset="0"/>
                        <a:ea typeface="Cambria Math" panose="02040503050406030204" pitchFamily="18" charset="0"/>
                      </a:rPr>
                      <m:t>𝑟</m:t>
                    </m:r>
                  </m:oMath>
                </a14:m>
                <a:r>
                  <a:rPr lang="en-US" sz="2400" dirty="0"/>
                  <a:t> </a:t>
                </a:r>
              </a:p>
            </p:txBody>
          </p:sp>
        </mc:Choice>
        <mc:Fallback xmlns="">
          <p:sp>
            <p:nvSpPr>
              <p:cNvPr id="8" name="Rectangle 7">
                <a:extLst>
                  <a:ext uri="{FF2B5EF4-FFF2-40B4-BE49-F238E27FC236}">
                    <a16:creationId xmlns:a16="http://schemas.microsoft.com/office/drawing/2014/main" id="{387F1999-3A4B-45E9-CDB4-F611C8D104A0}"/>
                  </a:ext>
                </a:extLst>
              </p:cNvPr>
              <p:cNvSpPr>
                <a:spLocks noRot="1" noChangeAspect="1" noMove="1" noResize="1" noEditPoints="1" noAdjustHandles="1" noChangeArrowheads="1" noChangeShapeType="1" noTextEdit="1"/>
              </p:cNvSpPr>
              <p:nvPr/>
            </p:nvSpPr>
            <p:spPr>
              <a:xfrm>
                <a:off x="1828800" y="4874567"/>
                <a:ext cx="5404232" cy="461665"/>
              </a:xfrm>
              <a:prstGeom prst="rect">
                <a:avLst/>
              </a:prstGeom>
              <a:blipFill>
                <a:blip r:embed="rId2"/>
                <a:stretch>
                  <a:fillRect l="-338" t="-10667" b="-30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571173E5-2799-250A-A3E4-D6B7BBF860F6}"/>
                  </a:ext>
                </a:extLst>
              </p:cNvPr>
              <p:cNvSpPr/>
              <p:nvPr/>
            </p:nvSpPr>
            <p:spPr>
              <a:xfrm>
                <a:off x="381000" y="5253335"/>
                <a:ext cx="3366755"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GB" sz="2400" i="1">
                          <a:latin typeface="Cambria Math" panose="02040503050406030204" pitchFamily="18" charset="0"/>
                          <a:ea typeface="Cambria Math" panose="02040503050406030204" pitchFamily="18" charset="0"/>
                        </a:rPr>
                        <m:t>¬</m:t>
                      </m:r>
                      <m:r>
                        <a:rPr lang="en-GB" sz="2400" i="1">
                          <a:latin typeface="Cambria Math" panose="02040503050406030204" pitchFamily="18" charset="0"/>
                          <a:ea typeface="Cambria Math" panose="02040503050406030204" pitchFamily="18" charset="0"/>
                        </a:rPr>
                        <m:t>𝑝</m:t>
                      </m:r>
                      <m:r>
                        <a:rPr lang="en-GB" sz="2400" i="1">
                          <a:latin typeface="Cambria Math" panose="02040503050406030204" pitchFamily="18" charset="0"/>
                          <a:ea typeface="Cambria Math" panose="02040503050406030204" pitchFamily="18" charset="0"/>
                        </a:rPr>
                        <m:t>→</m:t>
                      </m:r>
                      <m:r>
                        <a:rPr lang="en-GB" sz="2400" i="1">
                          <a:latin typeface="Cambria Math" panose="02040503050406030204" pitchFamily="18" charset="0"/>
                          <a:ea typeface="Cambria Math" panose="02040503050406030204" pitchFamily="18" charset="0"/>
                        </a:rPr>
                        <m:t>𝑞</m:t>
                      </m:r>
                      <m:r>
                        <a:rPr lang="en-GB" sz="2400" i="1">
                          <a:latin typeface="Cambria Math" panose="02040503050406030204" pitchFamily="18" charset="0"/>
                          <a:ea typeface="Cambria Math" panose="02040503050406030204" pitchFamily="18" charset="0"/>
                        </a:rPr>
                        <m:t>∨</m:t>
                      </m:r>
                      <m:r>
                        <a:rPr lang="en-GB" sz="2400" i="1">
                          <a:latin typeface="Cambria Math" panose="02040503050406030204" pitchFamily="18" charset="0"/>
                          <a:ea typeface="Cambria Math" panose="02040503050406030204" pitchFamily="18" charset="0"/>
                        </a:rPr>
                        <m:t>𝑟</m:t>
                      </m:r>
                      <m:r>
                        <a:rPr lang="en-GB" sz="2400" i="1">
                          <a:latin typeface="Cambria Math" panose="02040503050406030204" pitchFamily="18" charset="0"/>
                          <a:ea typeface="Cambria Math" panose="02040503050406030204" pitchFamily="18" charset="0"/>
                        </a:rPr>
                        <m:t>→</m:t>
                      </m:r>
                      <m:r>
                        <a:rPr lang="en-GB" sz="2400" i="1">
                          <a:latin typeface="Cambria Math" panose="02040503050406030204" pitchFamily="18" charset="0"/>
                          <a:ea typeface="Cambria Math" panose="02040503050406030204" pitchFamily="18" charset="0"/>
                        </a:rPr>
                        <m:t>𝑝</m:t>
                      </m:r>
                      <m:r>
                        <a:rPr lang="en-GB" sz="2400" i="1">
                          <a:latin typeface="Cambria Math" panose="02040503050406030204" pitchFamily="18" charset="0"/>
                          <a:ea typeface="Cambria Math" panose="02040503050406030204" pitchFamily="18" charset="0"/>
                        </a:rPr>
                        <m:t>∨</m:t>
                      </m:r>
                      <m:r>
                        <a:rPr lang="en-GB" sz="2400" i="1">
                          <a:latin typeface="Cambria Math" panose="02040503050406030204" pitchFamily="18" charset="0"/>
                          <a:ea typeface="Cambria Math" panose="02040503050406030204" pitchFamily="18" charset="0"/>
                        </a:rPr>
                        <m:t>𝑞</m:t>
                      </m:r>
                      <m:r>
                        <a:rPr lang="en-GB" sz="2400" i="1">
                          <a:latin typeface="Cambria Math" panose="02040503050406030204" pitchFamily="18" charset="0"/>
                          <a:ea typeface="Cambria Math" panose="02040503050406030204" pitchFamily="18" charset="0"/>
                        </a:rPr>
                        <m:t>∧</m:t>
                      </m:r>
                      <m:r>
                        <a:rPr lang="en-GB" sz="2400" i="1">
                          <a:latin typeface="Cambria Math" panose="02040503050406030204" pitchFamily="18" charset="0"/>
                          <a:ea typeface="Cambria Math" panose="02040503050406030204" pitchFamily="18" charset="0"/>
                        </a:rPr>
                        <m:t>𝑟</m:t>
                      </m:r>
                      <m:r>
                        <a:rPr lang="en-GB" sz="2400" i="1">
                          <a:latin typeface="Cambria Math" panose="02040503050406030204" pitchFamily="18" charset="0"/>
                          <a:ea typeface="Cambria Math" panose="02040503050406030204" pitchFamily="18" charset="0"/>
                        </a:rPr>
                        <m:t> </m:t>
                      </m:r>
                    </m:oMath>
                  </m:oMathPara>
                </a14:m>
                <a:endParaRPr lang="en-GB" sz="2400" dirty="0"/>
              </a:p>
            </p:txBody>
          </p:sp>
        </mc:Choice>
        <mc:Fallback xmlns="">
          <p:sp>
            <p:nvSpPr>
              <p:cNvPr id="9" name="Rectangle 8">
                <a:extLst>
                  <a:ext uri="{FF2B5EF4-FFF2-40B4-BE49-F238E27FC236}">
                    <a16:creationId xmlns:a16="http://schemas.microsoft.com/office/drawing/2014/main" id="{571173E5-2799-250A-A3E4-D6B7BBF860F6}"/>
                  </a:ext>
                </a:extLst>
              </p:cNvPr>
              <p:cNvSpPr>
                <a:spLocks noRot="1" noChangeAspect="1" noMove="1" noResize="1" noEditPoints="1" noAdjustHandles="1" noChangeArrowheads="1" noChangeShapeType="1" noTextEdit="1"/>
              </p:cNvSpPr>
              <p:nvPr/>
            </p:nvSpPr>
            <p:spPr>
              <a:xfrm>
                <a:off x="381000" y="5253335"/>
                <a:ext cx="3366755" cy="461665"/>
              </a:xfrm>
              <a:prstGeom prst="rect">
                <a:avLst/>
              </a:prstGeom>
              <a:blipFill>
                <a:blip r:embed="rId3"/>
                <a:stretch>
                  <a:fillRect b="-92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Rectangle 9">
                <a:extLst>
                  <a:ext uri="{FF2B5EF4-FFF2-40B4-BE49-F238E27FC236}">
                    <a16:creationId xmlns:a16="http://schemas.microsoft.com/office/drawing/2014/main" id="{A71187A5-607A-74FC-4DC4-1FBF26B3F4BE}"/>
                  </a:ext>
                </a:extLst>
              </p:cNvPr>
              <p:cNvSpPr/>
              <p:nvPr/>
            </p:nvSpPr>
            <p:spPr>
              <a:xfrm>
                <a:off x="3540456" y="5254726"/>
                <a:ext cx="5029200" cy="509178"/>
              </a:xfrm>
              <a:prstGeom prst="rect">
                <a:avLst/>
              </a:prstGeom>
            </p:spPr>
            <p:txBody>
              <a:bodyPr wrap="square">
                <a:spAutoFit/>
              </a:bodyPr>
              <a:lstStyle/>
              <a:p>
                <a:r>
                  <a:rPr lang="en-US" dirty="0"/>
                  <a:t>  </a:t>
                </a:r>
                <a14:m>
                  <m:oMath xmlns:m="http://schemas.openxmlformats.org/officeDocument/2006/math">
                    <m:r>
                      <a:rPr lang="en-GB" sz="2400" i="1" smtClean="0">
                        <a:latin typeface="Cambria Math" panose="02040503050406030204" pitchFamily="18" charset="0"/>
                        <a:ea typeface="Cambria Math" panose="02040503050406030204" pitchFamily="18" charset="0"/>
                      </a:rPr>
                      <m:t>≡</m:t>
                    </m:r>
                    <m:d>
                      <m:dPr>
                        <m:ctrlPr>
                          <a:rPr lang="en-GB" sz="2400" i="1">
                            <a:latin typeface="Cambria Math" panose="02040503050406030204" pitchFamily="18" charset="0"/>
                            <a:ea typeface="Cambria Math" panose="02040503050406030204" pitchFamily="18" charset="0"/>
                          </a:rPr>
                        </m:ctrlPr>
                      </m:dPr>
                      <m:e>
                        <m:r>
                          <a:rPr lang="en-GB" sz="2400" i="1">
                            <a:latin typeface="Cambria Math" panose="02040503050406030204" pitchFamily="18" charset="0"/>
                            <a:ea typeface="Cambria Math" panose="02040503050406030204" pitchFamily="18" charset="0"/>
                          </a:rPr>
                          <m:t>¬</m:t>
                        </m:r>
                        <m:r>
                          <a:rPr lang="en-GB" sz="2400" i="1">
                            <a:latin typeface="Cambria Math" panose="02040503050406030204" pitchFamily="18" charset="0"/>
                            <a:ea typeface="Cambria Math" panose="02040503050406030204" pitchFamily="18" charset="0"/>
                          </a:rPr>
                          <m:t>𝑝</m:t>
                        </m:r>
                      </m:e>
                    </m:d>
                    <m:r>
                      <a:rPr lang="en-GB" sz="2400" b="0" i="1">
                        <a:latin typeface="Cambria Math" panose="02040503050406030204" pitchFamily="18" charset="0"/>
                        <a:ea typeface="Cambria Math" panose="02040503050406030204" pitchFamily="18" charset="0"/>
                      </a:rPr>
                      <m:t> </m:t>
                    </m:r>
                    <m:r>
                      <a:rPr lang="en-GB" sz="2400" b="0" i="1" smtClean="0">
                        <a:latin typeface="Cambria Math" panose="02040503050406030204" pitchFamily="18" charset="0"/>
                        <a:ea typeface="Cambria Math" panose="02040503050406030204" pitchFamily="18" charset="0"/>
                      </a:rPr>
                      <m:t>→ </m:t>
                    </m:r>
                    <m:d>
                      <m:dPr>
                        <m:ctrlPr>
                          <a:rPr lang="en-GB" sz="2400" b="0" i="1" smtClean="0">
                            <a:latin typeface="Cambria Math" panose="02040503050406030204" pitchFamily="18" charset="0"/>
                            <a:ea typeface="Cambria Math" panose="02040503050406030204" pitchFamily="18" charset="0"/>
                          </a:rPr>
                        </m:ctrlPr>
                      </m:dPr>
                      <m:e>
                        <m:d>
                          <m:dPr>
                            <m:ctrlPr>
                              <a:rPr lang="en-GB" sz="2400" i="1">
                                <a:latin typeface="Cambria Math" panose="02040503050406030204" pitchFamily="18" charset="0"/>
                                <a:ea typeface="Cambria Math" panose="02040503050406030204" pitchFamily="18" charset="0"/>
                              </a:rPr>
                            </m:ctrlPr>
                          </m:dPr>
                          <m:e>
                            <m:r>
                              <a:rPr lang="en-GB" sz="2400" i="1">
                                <a:latin typeface="Cambria Math" panose="02040503050406030204" pitchFamily="18" charset="0"/>
                                <a:ea typeface="Cambria Math" panose="02040503050406030204" pitchFamily="18" charset="0"/>
                              </a:rPr>
                              <m:t>𝑞</m:t>
                            </m:r>
                            <m:r>
                              <a:rPr lang="en-GB" sz="2400" i="1">
                                <a:latin typeface="Cambria Math" panose="02040503050406030204" pitchFamily="18" charset="0"/>
                                <a:ea typeface="Cambria Math" panose="02040503050406030204" pitchFamily="18" charset="0"/>
                              </a:rPr>
                              <m:t>∨</m:t>
                            </m:r>
                            <m:r>
                              <a:rPr lang="en-GB" sz="2400" i="1">
                                <a:latin typeface="Cambria Math" panose="02040503050406030204" pitchFamily="18" charset="0"/>
                                <a:ea typeface="Cambria Math" panose="02040503050406030204" pitchFamily="18" charset="0"/>
                              </a:rPr>
                              <m:t>𝑟</m:t>
                            </m:r>
                          </m:e>
                        </m:d>
                        <m:r>
                          <a:rPr lang="en-GB" sz="2400" i="1" smtClean="0">
                            <a:latin typeface="Cambria Math" panose="02040503050406030204" pitchFamily="18" charset="0"/>
                            <a:ea typeface="Cambria Math" panose="02040503050406030204" pitchFamily="18" charset="0"/>
                          </a:rPr>
                          <m:t>→</m:t>
                        </m:r>
                        <m:d>
                          <m:dPr>
                            <m:begChr m:val="["/>
                            <m:endChr m:val="]"/>
                            <m:ctrlPr>
                              <a:rPr lang="en-GB" sz="2400" i="1">
                                <a:latin typeface="Cambria Math" panose="02040503050406030204" pitchFamily="18" charset="0"/>
                                <a:ea typeface="Cambria Math" panose="02040503050406030204" pitchFamily="18" charset="0"/>
                              </a:rPr>
                            </m:ctrlPr>
                          </m:dPr>
                          <m:e>
                            <m:r>
                              <a:rPr lang="en-GB" sz="2400" i="1">
                                <a:latin typeface="Cambria Math" panose="02040503050406030204" pitchFamily="18" charset="0"/>
                                <a:ea typeface="Cambria Math" panose="02040503050406030204" pitchFamily="18" charset="0"/>
                              </a:rPr>
                              <m:t>𝑝</m:t>
                            </m:r>
                            <m:r>
                              <a:rPr lang="en-GB" sz="2400" i="1">
                                <a:latin typeface="Cambria Math" panose="02040503050406030204" pitchFamily="18" charset="0"/>
                                <a:ea typeface="Cambria Math" panose="02040503050406030204" pitchFamily="18" charset="0"/>
                              </a:rPr>
                              <m:t>∨</m:t>
                            </m:r>
                            <m:d>
                              <m:dPr>
                                <m:ctrlPr>
                                  <a:rPr lang="en-GB" sz="2400" i="1">
                                    <a:latin typeface="Cambria Math" panose="02040503050406030204" pitchFamily="18" charset="0"/>
                                    <a:ea typeface="Cambria Math" panose="02040503050406030204" pitchFamily="18" charset="0"/>
                                  </a:rPr>
                                </m:ctrlPr>
                              </m:dPr>
                              <m:e>
                                <m:r>
                                  <a:rPr lang="en-GB" sz="2400" i="1">
                                    <a:latin typeface="Cambria Math" panose="02040503050406030204" pitchFamily="18" charset="0"/>
                                    <a:ea typeface="Cambria Math" panose="02040503050406030204" pitchFamily="18" charset="0"/>
                                  </a:rPr>
                                  <m:t>𝑞</m:t>
                                </m:r>
                                <m:r>
                                  <a:rPr lang="en-GB" sz="2400" i="1">
                                    <a:latin typeface="Cambria Math" panose="02040503050406030204" pitchFamily="18" charset="0"/>
                                    <a:ea typeface="Cambria Math" panose="02040503050406030204" pitchFamily="18" charset="0"/>
                                  </a:rPr>
                                  <m:t>∧</m:t>
                                </m:r>
                                <m:r>
                                  <a:rPr lang="en-GB" sz="2400" i="1">
                                    <a:latin typeface="Cambria Math" panose="02040503050406030204" pitchFamily="18" charset="0"/>
                                    <a:ea typeface="Cambria Math" panose="02040503050406030204" pitchFamily="18" charset="0"/>
                                  </a:rPr>
                                  <m:t>𝑟</m:t>
                                </m:r>
                              </m:e>
                            </m:d>
                          </m:e>
                        </m:d>
                      </m:e>
                    </m:d>
                  </m:oMath>
                </a14:m>
                <a:r>
                  <a:rPr lang="en-US" sz="2400" dirty="0"/>
                  <a:t>  </a:t>
                </a:r>
                <a:endParaRPr lang="en-GB" sz="2400" dirty="0"/>
              </a:p>
            </p:txBody>
          </p:sp>
        </mc:Choice>
        <mc:Fallback xmlns="">
          <p:sp>
            <p:nvSpPr>
              <p:cNvPr id="10" name="Rectangle 9">
                <a:extLst>
                  <a:ext uri="{FF2B5EF4-FFF2-40B4-BE49-F238E27FC236}">
                    <a16:creationId xmlns:a16="http://schemas.microsoft.com/office/drawing/2014/main" id="{A71187A5-607A-74FC-4DC4-1FBF26B3F4BE}"/>
                  </a:ext>
                </a:extLst>
              </p:cNvPr>
              <p:cNvSpPr>
                <a:spLocks noRot="1" noChangeAspect="1" noMove="1" noResize="1" noEditPoints="1" noAdjustHandles="1" noChangeArrowheads="1" noChangeShapeType="1" noTextEdit="1"/>
              </p:cNvSpPr>
              <p:nvPr/>
            </p:nvSpPr>
            <p:spPr>
              <a:xfrm>
                <a:off x="3540456" y="5254726"/>
                <a:ext cx="5029200" cy="509178"/>
              </a:xfrm>
              <a:prstGeom prst="rect">
                <a:avLst/>
              </a:prstGeom>
              <a:blipFill>
                <a:blip r:embed="rId4"/>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40741751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0"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FDAC9A-87E9-91C3-1A71-AE8E7C7C2E3E}"/>
              </a:ext>
            </a:extLst>
          </p:cNvPr>
          <p:cNvSpPr>
            <a:spLocks noGrp="1"/>
          </p:cNvSpPr>
          <p:nvPr>
            <p:ph type="title"/>
          </p:nvPr>
        </p:nvSpPr>
        <p:spPr/>
        <p:txBody>
          <a:bodyPr/>
          <a:lstStyle/>
          <a:p>
            <a:r>
              <a:rPr lang="en-US" b="1" dirty="0"/>
              <a:t>Precedence of Logical Operators</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507EBC4-F979-4349-AEE7-E2413647DBB8}"/>
                  </a:ext>
                </a:extLst>
              </p:cNvPr>
              <p:cNvSpPr>
                <a:spLocks noGrp="1"/>
              </p:cNvSpPr>
              <p:nvPr>
                <p:ph idx="1"/>
              </p:nvPr>
            </p:nvSpPr>
            <p:spPr/>
            <p:txBody>
              <a:bodyPr>
                <a:normAutofit lnSpcReduction="10000"/>
              </a:bodyPr>
              <a:lstStyle/>
              <a:p>
                <a:r>
                  <a:rPr lang="en-GB" sz="3200" dirty="0"/>
                  <a:t>All operators are right-associative</a:t>
                </a:r>
              </a:p>
              <a:p>
                <a:pPr marL="0" indent="0">
                  <a:buNone/>
                </a:pPr>
                <a:r>
                  <a:rPr lang="en-GB" dirty="0"/>
                  <a:t>	</a:t>
                </a:r>
                <a:r>
                  <a:rPr lang="en-GB" sz="3200" dirty="0">
                    <a:ea typeface="Cambria Math" panose="02040503050406030204" pitchFamily="18" charset="0"/>
                  </a:rPr>
                  <a:t> </a:t>
                </a:r>
                <a14:m>
                  <m:oMath xmlns:m="http://schemas.openxmlformats.org/officeDocument/2006/math">
                    <m:r>
                      <a:rPr lang="en-GB" sz="3200" i="1">
                        <a:latin typeface="Cambria Math" panose="02040503050406030204" pitchFamily="18" charset="0"/>
                        <a:ea typeface="Cambria Math" panose="02040503050406030204" pitchFamily="18" charset="0"/>
                      </a:rPr>
                      <m:t>𝑝</m:t>
                    </m:r>
                    <m:r>
                      <a:rPr lang="en-GB" sz="3200" i="1">
                        <a:latin typeface="Cambria Math" panose="02040503050406030204" pitchFamily="18" charset="0"/>
                        <a:ea typeface="Cambria Math" panose="02040503050406030204" pitchFamily="18" charset="0"/>
                      </a:rPr>
                      <m:t>∨</m:t>
                    </m:r>
                    <m:r>
                      <a:rPr lang="en-GB" sz="3200" i="1" smtClean="0">
                        <a:latin typeface="Cambria Math" panose="02040503050406030204" pitchFamily="18" charset="0"/>
                        <a:ea typeface="Cambria Math" panose="02040503050406030204" pitchFamily="18" charset="0"/>
                      </a:rPr>
                      <m:t>𝑞</m:t>
                    </m:r>
                  </m:oMath>
                </a14:m>
                <a:r>
                  <a:rPr lang="en-GB" sz="3200" dirty="0"/>
                  <a:t> </a:t>
                </a:r>
                <a14:m>
                  <m:oMath xmlns:m="http://schemas.openxmlformats.org/officeDocument/2006/math">
                    <m:r>
                      <a:rPr lang="en-GB"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𝑟</m:t>
                    </m:r>
                  </m:oMath>
                </a14:m>
                <a:endParaRPr lang="en-GB" sz="3200" dirty="0"/>
              </a:p>
              <a:p>
                <a:pPr marL="0" indent="0">
                  <a:buNone/>
                </a:pPr>
                <a:endParaRPr lang="en-GB" dirty="0"/>
              </a:p>
              <a:p>
                <a:pPr marL="0" indent="0">
                  <a:buNone/>
                </a:pPr>
                <a:r>
                  <a:rPr lang="en-GB" sz="3200" dirty="0"/>
                  <a:t>	</a:t>
                </a:r>
                <a14:m>
                  <m:oMath xmlns:m="http://schemas.openxmlformats.org/officeDocument/2006/math">
                    <m:r>
                      <a:rPr lang="en-US" sz="3200" b="0" i="0" smtClean="0">
                        <a:latin typeface="Cambria Math" panose="02040503050406030204" pitchFamily="18" charset="0"/>
                        <a:ea typeface="Cambria Math" panose="02040503050406030204" pitchFamily="18" charset="0"/>
                      </a:rPr>
                      <m:t>(</m:t>
                    </m:r>
                    <m:r>
                      <a:rPr lang="en-GB" sz="3200" i="1" smtClean="0">
                        <a:latin typeface="Cambria Math" panose="02040503050406030204" pitchFamily="18" charset="0"/>
                        <a:ea typeface="Cambria Math" panose="02040503050406030204" pitchFamily="18" charset="0"/>
                      </a:rPr>
                      <m:t>𝑝</m:t>
                    </m:r>
                    <m:r>
                      <a:rPr lang="en-GB" sz="3200" i="1" smtClean="0">
                        <a:latin typeface="Cambria Math" panose="02040503050406030204" pitchFamily="18" charset="0"/>
                        <a:ea typeface="Cambria Math" panose="02040503050406030204" pitchFamily="18" charset="0"/>
                      </a:rPr>
                      <m:t>∨(</m:t>
                    </m:r>
                    <m:r>
                      <a:rPr lang="en-GB" sz="3200" i="1" smtClean="0">
                        <a:latin typeface="Cambria Math" panose="02040503050406030204" pitchFamily="18" charset="0"/>
                        <a:ea typeface="Cambria Math" panose="02040503050406030204" pitchFamily="18" charset="0"/>
                      </a:rPr>
                      <m:t>𝑞</m:t>
                    </m:r>
                  </m:oMath>
                </a14:m>
                <a:r>
                  <a:rPr lang="en-GB" sz="3200" dirty="0"/>
                  <a:t> </a:t>
                </a:r>
                <a14:m>
                  <m:oMath xmlns:m="http://schemas.openxmlformats.org/officeDocument/2006/math">
                    <m:r>
                      <a:rPr lang="en-GB"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𝑟</m:t>
                    </m:r>
                  </m:oMath>
                </a14:m>
                <a:r>
                  <a:rPr lang="en-GB" sz="3200" dirty="0"/>
                  <a:t>))</a:t>
                </a:r>
              </a:p>
              <a:p>
                <a:pPr marL="0" indent="0">
                  <a:buNone/>
                </a:pPr>
                <a:endParaRPr lang="en-GB" dirty="0"/>
              </a:p>
              <a:p>
                <a:pPr marL="0" indent="0">
                  <a:buNone/>
                </a:pPr>
                <a:r>
                  <a:rPr lang="en-GB" sz="3200" dirty="0"/>
                  <a:t>	5 – 3 + 2</a:t>
                </a:r>
              </a:p>
              <a:p>
                <a:pPr marL="0" indent="0">
                  <a:buNone/>
                </a:pPr>
                <a:r>
                  <a:rPr lang="en-GB" dirty="0"/>
                  <a:t>	(5 – 3) + 2 = 4    </a:t>
                </a:r>
              </a:p>
              <a:p>
                <a:pPr marL="0" indent="0">
                  <a:buNone/>
                </a:pPr>
                <a:r>
                  <a:rPr lang="en-GB" sz="3200" dirty="0"/>
                  <a:t>	5 – (3+2) = 0</a:t>
                </a:r>
              </a:p>
              <a:p>
                <a:pPr marL="0" indent="0">
                  <a:buNone/>
                </a:pPr>
                <a:endParaRPr lang="en-GB" sz="3200" dirty="0"/>
              </a:p>
              <a:p>
                <a:pPr marL="0" indent="0">
                  <a:buNone/>
                </a:pPr>
                <a:endParaRPr lang="en-GB" sz="3200" dirty="0"/>
              </a:p>
              <a:p>
                <a:endParaRPr lang="en-US" dirty="0"/>
              </a:p>
            </p:txBody>
          </p:sp>
        </mc:Choice>
        <mc:Fallback xmlns="">
          <p:sp>
            <p:nvSpPr>
              <p:cNvPr id="3" name="Content Placeholder 2">
                <a:extLst>
                  <a:ext uri="{FF2B5EF4-FFF2-40B4-BE49-F238E27FC236}">
                    <a16:creationId xmlns:a16="http://schemas.microsoft.com/office/drawing/2014/main" id="{F507EBC4-F979-4349-AEE7-E2413647DBB8}"/>
                  </a:ext>
                </a:extLst>
              </p:cNvPr>
              <p:cNvSpPr>
                <a:spLocks noGrp="1" noRot="1" noChangeAspect="1" noMove="1" noResize="1" noEditPoints="1" noAdjustHandles="1" noChangeArrowheads="1" noChangeShapeType="1" noTextEdit="1"/>
              </p:cNvSpPr>
              <p:nvPr>
                <p:ph idx="1"/>
              </p:nvPr>
            </p:nvSpPr>
            <p:spPr>
              <a:blipFill>
                <a:blip r:embed="rId2"/>
                <a:stretch>
                  <a:fillRect l="-1704" t="-2877" b="-822"/>
                </a:stretch>
              </a:blipFill>
            </p:spPr>
            <p:txBody>
              <a:bodyPr/>
              <a:lstStyle/>
              <a:p>
                <a:r>
                  <a:rPr lang="en-US">
                    <a:noFill/>
                  </a:rPr>
                  <a:t> </a:t>
                </a:r>
              </a:p>
            </p:txBody>
          </p:sp>
        </mc:Fallback>
      </mc:AlternateContent>
      <p:sp>
        <p:nvSpPr>
          <p:cNvPr id="4" name="Date Placeholder 3">
            <a:extLst>
              <a:ext uri="{FF2B5EF4-FFF2-40B4-BE49-F238E27FC236}">
                <a16:creationId xmlns:a16="http://schemas.microsoft.com/office/drawing/2014/main" id="{1236313E-8C85-8DCC-2682-3CDCFB86E5B3}"/>
              </a:ext>
            </a:extLst>
          </p:cNvPr>
          <p:cNvSpPr>
            <a:spLocks noGrp="1"/>
          </p:cNvSpPr>
          <p:nvPr>
            <p:ph type="dt" sz="half" idx="10"/>
          </p:nvPr>
        </p:nvSpPr>
        <p:spPr/>
        <p:txBody>
          <a:bodyPr/>
          <a:lstStyle/>
          <a:p>
            <a:fld id="{8378FFDC-84B5-4999-A656-F1EED115F26E}" type="datetime3">
              <a:rPr lang="en-US" smtClean="0"/>
              <a:t>27 April 2026</a:t>
            </a:fld>
            <a:endParaRPr lang="en-US"/>
          </a:p>
        </p:txBody>
      </p:sp>
      <p:sp>
        <p:nvSpPr>
          <p:cNvPr id="5" name="Footer Placeholder 4">
            <a:extLst>
              <a:ext uri="{FF2B5EF4-FFF2-40B4-BE49-F238E27FC236}">
                <a16:creationId xmlns:a16="http://schemas.microsoft.com/office/drawing/2014/main" id="{5C7B18F4-5A64-74EC-355E-DFA974FB396E}"/>
              </a:ext>
            </a:extLst>
          </p:cNvPr>
          <p:cNvSpPr>
            <a:spLocks noGrp="1"/>
          </p:cNvSpPr>
          <p:nvPr>
            <p:ph type="ftr" sz="quarter" idx="11"/>
          </p:nvPr>
        </p:nvSpPr>
        <p:spPr/>
        <p:txBody>
          <a:bodyPr/>
          <a:lstStyle/>
          <a:p>
            <a:r>
              <a:rPr lang="en-US"/>
              <a:t>SCS 1302   Discrete Mathematics 1       Prof. D D Karunaratna</a:t>
            </a:r>
          </a:p>
        </p:txBody>
      </p:sp>
      <p:sp>
        <p:nvSpPr>
          <p:cNvPr id="6" name="Slide Number Placeholder 5">
            <a:extLst>
              <a:ext uri="{FF2B5EF4-FFF2-40B4-BE49-F238E27FC236}">
                <a16:creationId xmlns:a16="http://schemas.microsoft.com/office/drawing/2014/main" id="{7F514C10-E44C-F02E-F27F-8C5A40608832}"/>
              </a:ext>
            </a:extLst>
          </p:cNvPr>
          <p:cNvSpPr>
            <a:spLocks noGrp="1"/>
          </p:cNvSpPr>
          <p:nvPr>
            <p:ph type="sldNum" sz="quarter" idx="12"/>
          </p:nvPr>
        </p:nvSpPr>
        <p:spPr/>
        <p:txBody>
          <a:bodyPr/>
          <a:lstStyle/>
          <a:p>
            <a:fld id="{0CA841A6-7C02-4C92-B6EE-5DBCC2AD53D0}" type="slidenum">
              <a:rPr lang="en-US" smtClean="0"/>
              <a:t>33</a:t>
            </a:fld>
            <a:endParaRPr lang="en-US"/>
          </a:p>
        </p:txBody>
      </p:sp>
    </p:spTree>
    <p:extLst>
      <p:ext uri="{BB962C8B-B14F-4D97-AF65-F5344CB8AC3E}">
        <p14:creationId xmlns:p14="http://schemas.microsoft.com/office/powerpoint/2010/main" val="329596127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A1DBD2-3B5F-0ABE-8F93-1B1D84CFDD1D}"/>
              </a:ext>
            </a:extLst>
          </p:cNvPr>
          <p:cNvSpPr>
            <a:spLocks noGrp="1"/>
          </p:cNvSpPr>
          <p:nvPr>
            <p:ph type="title"/>
          </p:nvPr>
        </p:nvSpPr>
        <p:spPr/>
        <p:txBody>
          <a:bodyPr/>
          <a:lstStyle/>
          <a:p>
            <a:r>
              <a:rPr lang="en-US" dirty="0"/>
              <a:t>Construction of truth tables for compound propositions</a:t>
            </a:r>
            <a:endParaRPr lang="si-LK" dirty="0"/>
          </a:p>
        </p:txBody>
      </p:sp>
      <p:sp>
        <p:nvSpPr>
          <p:cNvPr id="3" name="Content Placeholder 2">
            <a:extLst>
              <a:ext uri="{FF2B5EF4-FFF2-40B4-BE49-F238E27FC236}">
                <a16:creationId xmlns:a16="http://schemas.microsoft.com/office/drawing/2014/main" id="{8C4D40B2-3648-D124-DD6C-43E970963C9B}"/>
              </a:ext>
            </a:extLst>
          </p:cNvPr>
          <p:cNvSpPr>
            <a:spLocks noGrp="1"/>
          </p:cNvSpPr>
          <p:nvPr>
            <p:ph idx="1"/>
          </p:nvPr>
        </p:nvSpPr>
        <p:spPr/>
        <p:txBody>
          <a:bodyPr>
            <a:noAutofit/>
          </a:bodyPr>
          <a:lstStyle/>
          <a:p>
            <a:pPr marL="0" indent="0" algn="l">
              <a:buNone/>
            </a:pPr>
            <a:r>
              <a:rPr lang="en-US" sz="2400" b="0" i="0" u="none" strike="noStrike" baseline="0" dirty="0">
                <a:solidFill>
                  <a:srgbClr val="000000"/>
                </a:solidFill>
                <a:latin typeface="CMSS10"/>
              </a:rPr>
              <a:t>Let a compound proposition C consist of the atomic propositions </a:t>
            </a:r>
            <a:r>
              <a:rPr lang="en-US" sz="2400" b="0" i="0" u="none" strike="noStrike" baseline="0" dirty="0">
                <a:solidFill>
                  <a:srgbClr val="000000"/>
                </a:solidFill>
                <a:latin typeface="CMSSI10"/>
              </a:rPr>
              <a:t>p</a:t>
            </a:r>
            <a:r>
              <a:rPr lang="en-US" sz="2400" b="0" i="0" u="none" strike="noStrike" baseline="0" dirty="0">
                <a:solidFill>
                  <a:srgbClr val="000000"/>
                </a:solidFill>
                <a:latin typeface="CMSS8"/>
              </a:rPr>
              <a:t>1</a:t>
            </a:r>
            <a:r>
              <a:rPr lang="en-US" sz="2400" b="0" i="0" u="none" strike="noStrike" baseline="0" dirty="0">
                <a:solidFill>
                  <a:srgbClr val="000000"/>
                </a:solidFill>
                <a:latin typeface="CMMI10"/>
              </a:rPr>
              <a:t>;</a:t>
            </a:r>
            <a:r>
              <a:rPr lang="en-US" sz="2400" b="0" i="0" u="none" strike="noStrike" baseline="0" dirty="0">
                <a:solidFill>
                  <a:srgbClr val="000000"/>
                </a:solidFill>
                <a:latin typeface="CMSSI10"/>
              </a:rPr>
              <a:t>p</a:t>
            </a:r>
            <a:r>
              <a:rPr lang="en-US" sz="2400" b="0" i="0" u="none" strike="noStrike" baseline="0" dirty="0">
                <a:solidFill>
                  <a:srgbClr val="000000"/>
                </a:solidFill>
                <a:latin typeface="CMSS8"/>
              </a:rPr>
              <a:t>2</a:t>
            </a:r>
            <a:r>
              <a:rPr lang="en-US" sz="2400" b="0" i="0" u="none" strike="noStrike" baseline="0" dirty="0">
                <a:solidFill>
                  <a:srgbClr val="000000"/>
                </a:solidFill>
                <a:latin typeface="CMMI10"/>
              </a:rPr>
              <a:t>; : : : ;</a:t>
            </a:r>
            <a:r>
              <a:rPr lang="en-US" sz="2400" b="0" i="0" u="none" strike="noStrike" baseline="0" dirty="0" err="1">
                <a:solidFill>
                  <a:srgbClr val="000000"/>
                </a:solidFill>
                <a:latin typeface="CMSSI10"/>
              </a:rPr>
              <a:t>p</a:t>
            </a:r>
            <a:r>
              <a:rPr lang="en-US" sz="2400" b="0" i="0" u="none" strike="noStrike" baseline="0" dirty="0" err="1">
                <a:solidFill>
                  <a:srgbClr val="000000"/>
                </a:solidFill>
                <a:latin typeface="CMSSI8"/>
              </a:rPr>
              <a:t>n</a:t>
            </a:r>
            <a:r>
              <a:rPr lang="en-US" sz="2400" b="0" i="0" u="none" strike="noStrike" baseline="0" dirty="0">
                <a:solidFill>
                  <a:srgbClr val="000000"/>
                </a:solidFill>
                <a:latin typeface="CMSS10"/>
              </a:rPr>
              <a:t>.</a:t>
            </a:r>
          </a:p>
          <a:p>
            <a:pPr algn="l"/>
            <a:r>
              <a:rPr lang="en-US" sz="2400" b="0" i="0" u="none" strike="noStrike" baseline="0" dirty="0">
                <a:solidFill>
                  <a:srgbClr val="000000"/>
                </a:solidFill>
                <a:latin typeface="CMSS10"/>
              </a:rPr>
              <a:t>To compute the truth table do the following:</a:t>
            </a:r>
          </a:p>
          <a:p>
            <a:pPr marL="457200" indent="-457200" algn="l">
              <a:buFont typeface="+mj-lt"/>
              <a:buAutoNum type="arabicPeriod"/>
            </a:pPr>
            <a:r>
              <a:rPr lang="en-US" sz="2400" b="0" i="0" u="none" strike="noStrike" baseline="0" dirty="0">
                <a:solidFill>
                  <a:srgbClr val="000000"/>
                </a:solidFill>
                <a:latin typeface="CMSS10"/>
              </a:rPr>
              <a:t>List its atomic propositions </a:t>
            </a:r>
            <a:r>
              <a:rPr lang="en-US" sz="2400" b="0" i="0" u="none" strike="noStrike" baseline="0" dirty="0">
                <a:solidFill>
                  <a:srgbClr val="000000"/>
                </a:solidFill>
                <a:latin typeface="CMSSI10"/>
              </a:rPr>
              <a:t>p</a:t>
            </a:r>
            <a:r>
              <a:rPr lang="en-US" sz="2400" b="0" i="0" u="none" strike="noStrike" baseline="0" dirty="0">
                <a:solidFill>
                  <a:srgbClr val="000000"/>
                </a:solidFill>
                <a:latin typeface="CMSS8"/>
              </a:rPr>
              <a:t>1</a:t>
            </a:r>
            <a:r>
              <a:rPr lang="en-US" sz="2400" b="0" i="0" u="none" strike="noStrike" baseline="0" dirty="0">
                <a:solidFill>
                  <a:srgbClr val="000000"/>
                </a:solidFill>
                <a:latin typeface="CMMI10"/>
              </a:rPr>
              <a:t>;</a:t>
            </a:r>
            <a:r>
              <a:rPr lang="en-US" sz="2400" b="0" i="0" u="none" strike="noStrike" baseline="0" dirty="0">
                <a:solidFill>
                  <a:srgbClr val="000000"/>
                </a:solidFill>
                <a:latin typeface="CMSSI10"/>
              </a:rPr>
              <a:t>p</a:t>
            </a:r>
            <a:r>
              <a:rPr lang="en-US" sz="2400" b="0" i="0" u="none" strike="noStrike" baseline="0" dirty="0">
                <a:solidFill>
                  <a:srgbClr val="000000"/>
                </a:solidFill>
                <a:latin typeface="CMSS8"/>
              </a:rPr>
              <a:t>2</a:t>
            </a:r>
            <a:r>
              <a:rPr lang="en-US" sz="2400" b="0" i="0" u="none" strike="noStrike" baseline="0" dirty="0">
                <a:solidFill>
                  <a:srgbClr val="000000"/>
                </a:solidFill>
                <a:latin typeface="CMMI10"/>
              </a:rPr>
              <a:t>; : : : ;</a:t>
            </a:r>
            <a:r>
              <a:rPr lang="en-US" sz="2400" b="0" i="0" u="none" strike="noStrike" baseline="0" dirty="0" err="1">
                <a:solidFill>
                  <a:srgbClr val="000000"/>
                </a:solidFill>
                <a:latin typeface="CMSSI10"/>
              </a:rPr>
              <a:t>p</a:t>
            </a:r>
            <a:r>
              <a:rPr lang="en-US" sz="2400" b="0" i="0" u="none" strike="noStrike" baseline="0" dirty="0" err="1">
                <a:solidFill>
                  <a:srgbClr val="000000"/>
                </a:solidFill>
                <a:latin typeface="CMSSI8"/>
              </a:rPr>
              <a:t>n</a:t>
            </a:r>
            <a:r>
              <a:rPr lang="en-US" sz="2400" b="0" i="0" u="none" strike="noStrike" baseline="0" dirty="0">
                <a:solidFill>
                  <a:srgbClr val="000000"/>
                </a:solidFill>
                <a:latin typeface="CMSSI8"/>
              </a:rPr>
              <a:t> </a:t>
            </a:r>
            <a:r>
              <a:rPr lang="en-US" sz="2400" b="0" i="0" u="none" strike="noStrike" baseline="0" dirty="0">
                <a:solidFill>
                  <a:srgbClr val="000000"/>
                </a:solidFill>
                <a:latin typeface="CMSS10"/>
              </a:rPr>
              <a:t>and count their number, </a:t>
            </a:r>
            <a:r>
              <a:rPr lang="en-US" sz="2400" b="0" i="0" u="none" strike="noStrike" baseline="0" dirty="0">
                <a:solidFill>
                  <a:srgbClr val="000000"/>
                </a:solidFill>
                <a:latin typeface="CMSSI10"/>
              </a:rPr>
              <a:t>n</a:t>
            </a:r>
            <a:r>
              <a:rPr lang="en-US" sz="2400" b="0" i="0" u="none" strike="noStrike" baseline="0" dirty="0">
                <a:solidFill>
                  <a:srgbClr val="000000"/>
                </a:solidFill>
                <a:latin typeface="CMSS10"/>
              </a:rPr>
              <a:t>.</a:t>
            </a:r>
          </a:p>
          <a:p>
            <a:pPr marL="457200" indent="-457200" algn="l">
              <a:buFont typeface="+mj-lt"/>
              <a:buAutoNum type="arabicPeriod"/>
            </a:pPr>
            <a:r>
              <a:rPr lang="en-US" sz="2400" b="0" i="0" u="none" strike="noStrike" baseline="0" dirty="0">
                <a:solidFill>
                  <a:srgbClr val="000000"/>
                </a:solidFill>
                <a:latin typeface="CMSS10"/>
              </a:rPr>
              <a:t>Form a table with </a:t>
            </a:r>
            <a:r>
              <a:rPr lang="en-US" sz="2400" b="0" i="0" u="none" strike="noStrike" baseline="0" dirty="0">
                <a:solidFill>
                  <a:srgbClr val="000000"/>
                </a:solidFill>
                <a:latin typeface="CMSSI10"/>
              </a:rPr>
              <a:t>m </a:t>
            </a:r>
            <a:r>
              <a:rPr lang="en-US" sz="2400" b="0" i="0" u="none" strike="noStrike" baseline="0" dirty="0">
                <a:solidFill>
                  <a:srgbClr val="000000"/>
                </a:solidFill>
                <a:latin typeface="CMSS10"/>
              </a:rPr>
              <a:t>= 2</a:t>
            </a:r>
            <a:r>
              <a:rPr lang="en-US" sz="2400" b="0" i="0" u="none" strike="noStrike" baseline="30000" dirty="0">
                <a:solidFill>
                  <a:srgbClr val="000000"/>
                </a:solidFill>
                <a:latin typeface="CMSSI8"/>
              </a:rPr>
              <a:t>n</a:t>
            </a:r>
            <a:r>
              <a:rPr lang="en-US" sz="2400" b="0" i="0" u="none" strike="noStrike" baseline="0" dirty="0">
                <a:solidFill>
                  <a:srgbClr val="000000"/>
                </a:solidFill>
                <a:latin typeface="CMSSI8"/>
              </a:rPr>
              <a:t> </a:t>
            </a:r>
            <a:r>
              <a:rPr lang="en-US" sz="2400" b="0" i="0" u="none" strike="noStrike" baseline="0" dirty="0">
                <a:solidFill>
                  <a:srgbClr val="000000"/>
                </a:solidFill>
                <a:latin typeface="CMSS10"/>
              </a:rPr>
              <a:t>rows.</a:t>
            </a:r>
          </a:p>
          <a:p>
            <a:pPr marL="457200" indent="-457200" algn="l">
              <a:buFont typeface="+mj-lt"/>
              <a:buAutoNum type="arabicPeriod"/>
            </a:pPr>
            <a:r>
              <a:rPr lang="en-US" sz="2400" b="0" i="0" u="none" strike="noStrike" baseline="0" dirty="0">
                <a:solidFill>
                  <a:srgbClr val="000000"/>
                </a:solidFill>
                <a:latin typeface="CMSS10"/>
              </a:rPr>
              <a:t>List all possible combinations of the truth values for </a:t>
            </a:r>
            <a:r>
              <a:rPr lang="en-US" sz="2400" b="0" i="0" u="none" strike="noStrike" baseline="0" dirty="0">
                <a:solidFill>
                  <a:srgbClr val="000000"/>
                </a:solidFill>
                <a:latin typeface="CMSSI10"/>
              </a:rPr>
              <a:t>p</a:t>
            </a:r>
            <a:r>
              <a:rPr lang="en-US" sz="2400" b="0" i="0" u="none" strike="noStrike" baseline="0" dirty="0">
                <a:solidFill>
                  <a:srgbClr val="000000"/>
                </a:solidFill>
                <a:latin typeface="CMSS8"/>
              </a:rPr>
              <a:t>1</a:t>
            </a:r>
            <a:r>
              <a:rPr lang="en-US" sz="2400" b="0" i="0" u="none" strike="noStrike" baseline="0" dirty="0">
                <a:solidFill>
                  <a:srgbClr val="000000"/>
                </a:solidFill>
                <a:latin typeface="CMMI10"/>
              </a:rPr>
              <a:t>;</a:t>
            </a:r>
            <a:r>
              <a:rPr lang="en-US" sz="2400" b="0" i="0" u="none" strike="noStrike" baseline="0" dirty="0">
                <a:solidFill>
                  <a:srgbClr val="000000"/>
                </a:solidFill>
                <a:latin typeface="CMSSI10"/>
              </a:rPr>
              <a:t>p</a:t>
            </a:r>
            <a:r>
              <a:rPr lang="en-US" sz="2400" b="0" i="0" u="none" strike="noStrike" baseline="0" dirty="0">
                <a:solidFill>
                  <a:srgbClr val="000000"/>
                </a:solidFill>
                <a:latin typeface="CMSS8"/>
              </a:rPr>
              <a:t>2</a:t>
            </a:r>
            <a:r>
              <a:rPr lang="en-US" sz="2400" b="0" i="0" u="none" strike="noStrike" baseline="0" dirty="0">
                <a:solidFill>
                  <a:srgbClr val="000000"/>
                </a:solidFill>
                <a:latin typeface="CMMI10"/>
              </a:rPr>
              <a:t>; : : : ;</a:t>
            </a:r>
            <a:r>
              <a:rPr lang="en-US" sz="2400" b="0" i="0" u="none" strike="noStrike" baseline="0" dirty="0" err="1">
                <a:solidFill>
                  <a:srgbClr val="000000"/>
                </a:solidFill>
                <a:latin typeface="CMSSI10"/>
              </a:rPr>
              <a:t>p</a:t>
            </a:r>
            <a:r>
              <a:rPr lang="en-US" sz="2400" b="0" i="0" u="none" strike="noStrike" baseline="0" dirty="0" err="1">
                <a:solidFill>
                  <a:srgbClr val="000000"/>
                </a:solidFill>
                <a:latin typeface="CMSSI8"/>
              </a:rPr>
              <a:t>n</a:t>
            </a:r>
            <a:r>
              <a:rPr lang="en-US" sz="2400" b="0" i="0" u="none" strike="noStrike" baseline="0" dirty="0">
                <a:solidFill>
                  <a:srgbClr val="000000"/>
                </a:solidFill>
                <a:latin typeface="CMSS10"/>
              </a:rPr>
              <a:t>.</a:t>
            </a:r>
          </a:p>
          <a:p>
            <a:pPr marL="457200" indent="-457200" algn="l">
              <a:buFont typeface="+mj-lt"/>
              <a:buAutoNum type="arabicPeriod"/>
            </a:pPr>
            <a:r>
              <a:rPr lang="en-US" sz="2400" b="0" i="0" u="none" strike="noStrike" baseline="0" dirty="0">
                <a:solidFill>
                  <a:srgbClr val="000000"/>
                </a:solidFill>
                <a:latin typeface="CMSS10"/>
              </a:rPr>
              <a:t>Prioritize the logical operations in C.</a:t>
            </a:r>
            <a:endParaRPr lang="en-US" sz="2400" dirty="0">
              <a:solidFill>
                <a:srgbClr val="FFFFFF"/>
              </a:solidFill>
              <a:latin typeface="CMSS8"/>
            </a:endParaRPr>
          </a:p>
          <a:p>
            <a:pPr marL="457200" indent="-457200" algn="l">
              <a:buFont typeface="+mj-lt"/>
              <a:buAutoNum type="arabicPeriod"/>
            </a:pPr>
            <a:r>
              <a:rPr lang="en-US" sz="2400" b="0" i="0" u="none" strike="noStrike" baseline="0" dirty="0">
                <a:solidFill>
                  <a:srgbClr val="000000"/>
                </a:solidFill>
                <a:latin typeface="CMSS10"/>
              </a:rPr>
              <a:t>Compute the truth values in order of the operators.</a:t>
            </a:r>
            <a:endParaRPr lang="si-LK" sz="2400" dirty="0"/>
          </a:p>
        </p:txBody>
      </p:sp>
      <p:sp>
        <p:nvSpPr>
          <p:cNvPr id="4" name="Date Placeholder 3">
            <a:extLst>
              <a:ext uri="{FF2B5EF4-FFF2-40B4-BE49-F238E27FC236}">
                <a16:creationId xmlns:a16="http://schemas.microsoft.com/office/drawing/2014/main" id="{0325629F-BEED-F815-7A20-4DC8133D3E26}"/>
              </a:ext>
            </a:extLst>
          </p:cNvPr>
          <p:cNvSpPr>
            <a:spLocks noGrp="1"/>
          </p:cNvSpPr>
          <p:nvPr>
            <p:ph type="dt" sz="half" idx="10"/>
          </p:nvPr>
        </p:nvSpPr>
        <p:spPr/>
        <p:txBody>
          <a:bodyPr/>
          <a:lstStyle/>
          <a:p>
            <a:fld id="{6A0C7532-52B6-4E45-8BD9-F2B569ACFA81}" type="datetime3">
              <a:rPr lang="en-US" smtClean="0"/>
              <a:t>27 April 2026</a:t>
            </a:fld>
            <a:endParaRPr lang="en-US"/>
          </a:p>
        </p:txBody>
      </p:sp>
      <p:sp>
        <p:nvSpPr>
          <p:cNvPr id="5" name="Footer Placeholder 4">
            <a:extLst>
              <a:ext uri="{FF2B5EF4-FFF2-40B4-BE49-F238E27FC236}">
                <a16:creationId xmlns:a16="http://schemas.microsoft.com/office/drawing/2014/main" id="{AE9BAB11-4F75-BE39-8677-81180CCBBFDF}"/>
              </a:ext>
            </a:extLst>
          </p:cNvPr>
          <p:cNvSpPr>
            <a:spLocks noGrp="1"/>
          </p:cNvSpPr>
          <p:nvPr>
            <p:ph type="ftr" sz="quarter" idx="11"/>
          </p:nvPr>
        </p:nvSpPr>
        <p:spPr/>
        <p:txBody>
          <a:bodyPr/>
          <a:lstStyle/>
          <a:p>
            <a:r>
              <a:rPr lang="en-US"/>
              <a:t>SCS 1302   Discrete Mathematics 1       Prof. D D Karunaratna</a:t>
            </a:r>
          </a:p>
        </p:txBody>
      </p:sp>
      <p:sp>
        <p:nvSpPr>
          <p:cNvPr id="6" name="Slide Number Placeholder 5">
            <a:extLst>
              <a:ext uri="{FF2B5EF4-FFF2-40B4-BE49-F238E27FC236}">
                <a16:creationId xmlns:a16="http://schemas.microsoft.com/office/drawing/2014/main" id="{E7C045BF-55D2-A672-F1DF-40527CDDFBC4}"/>
              </a:ext>
            </a:extLst>
          </p:cNvPr>
          <p:cNvSpPr>
            <a:spLocks noGrp="1"/>
          </p:cNvSpPr>
          <p:nvPr>
            <p:ph type="sldNum" sz="quarter" idx="12"/>
          </p:nvPr>
        </p:nvSpPr>
        <p:spPr/>
        <p:txBody>
          <a:bodyPr/>
          <a:lstStyle/>
          <a:p>
            <a:fld id="{0CA841A6-7C02-4C92-B6EE-5DBCC2AD53D0}" type="slidenum">
              <a:rPr lang="en-US" smtClean="0"/>
              <a:t>34</a:t>
            </a:fld>
            <a:endParaRPr lang="en-US"/>
          </a:p>
        </p:txBody>
      </p:sp>
    </p:spTree>
    <p:extLst>
      <p:ext uri="{BB962C8B-B14F-4D97-AF65-F5344CB8AC3E}">
        <p14:creationId xmlns:p14="http://schemas.microsoft.com/office/powerpoint/2010/main" val="174175030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F757A8-86E0-DDDC-D46B-FDA5A6045BA1}"/>
              </a:ext>
            </a:extLst>
          </p:cNvPr>
          <p:cNvSpPr>
            <a:spLocks noGrp="1"/>
          </p:cNvSpPr>
          <p:nvPr>
            <p:ph type="title"/>
          </p:nvPr>
        </p:nvSpPr>
        <p:spPr/>
        <p:txBody>
          <a:bodyPr/>
          <a:lstStyle/>
          <a:p>
            <a:r>
              <a:rPr lang="en-US" dirty="0"/>
              <a:t>Example</a:t>
            </a:r>
            <a:endParaRPr lang="si-LK"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A11CC8F-B5F4-CAB5-BC5C-B18945D526BB}"/>
                  </a:ext>
                </a:extLst>
              </p:cNvPr>
              <p:cNvSpPr>
                <a:spLocks noGrp="1"/>
              </p:cNvSpPr>
              <p:nvPr>
                <p:ph idx="1"/>
              </p:nvPr>
            </p:nvSpPr>
            <p:spPr/>
            <p:txBody>
              <a:bodyPr/>
              <a:lstStyle/>
              <a:p>
                <a:pPr algn="l"/>
                <a:r>
                  <a:rPr lang="en-US" sz="1800" dirty="0">
                    <a:solidFill>
                      <a:srgbClr val="000000"/>
                    </a:solidFill>
                    <a:latin typeface="CMSS10"/>
                  </a:rPr>
                  <a:t>Let the compound proposition </a:t>
                </a:r>
                <a:r>
                  <a:rPr lang="en-US" sz="1800" b="0" i="0" u="none" strike="noStrike" baseline="0" dirty="0">
                    <a:solidFill>
                      <a:srgbClr val="000000"/>
                    </a:solidFill>
                    <a:latin typeface="CMSS10"/>
                  </a:rPr>
                  <a:t>C</a:t>
                </a:r>
                <a:r>
                  <a:rPr lang="en-US" sz="1800" dirty="0">
                    <a:solidFill>
                      <a:srgbClr val="000000"/>
                    </a:solidFill>
                    <a:latin typeface="CMSS10"/>
                  </a:rPr>
                  <a:t> be </a:t>
                </a:r>
                <a:r>
                  <a:rPr lang="en-US" sz="1800" b="0" i="0" u="none" strike="noStrike" baseline="0" dirty="0">
                    <a:solidFill>
                      <a:srgbClr val="000000"/>
                    </a:solidFill>
                    <a:latin typeface="CMSS10"/>
                  </a:rPr>
                  <a:t> (</a:t>
                </a:r>
                <a:r>
                  <a:rPr lang="en-US" sz="1800" b="0" i="0" u="none" strike="noStrike" baseline="0" dirty="0">
                    <a:solidFill>
                      <a:srgbClr val="000000"/>
                    </a:solidFill>
                    <a:latin typeface="CMSSI10"/>
                  </a:rPr>
                  <a:t>p </a:t>
                </a:r>
                <a:r>
                  <a:rPr lang="en-US" sz="1800" b="0" i="0" u="none" strike="noStrike" baseline="0" dirty="0">
                    <a:solidFill>
                      <a:srgbClr val="000000"/>
                    </a:solidFill>
                    <a:latin typeface="CMSY10"/>
                  </a:rPr>
                  <a:t>^</a:t>
                </a:r>
                <a:r>
                  <a:rPr lang="en-US" sz="1800" b="0" i="0" u="none" strike="noStrike" baseline="0" dirty="0">
                    <a:solidFill>
                      <a:srgbClr val="000000"/>
                    </a:solidFill>
                    <a:latin typeface="CMSSI10"/>
                  </a:rPr>
                  <a:t>q</a:t>
                </a:r>
                <a:r>
                  <a:rPr lang="en-US" sz="1800" b="0" i="0" u="none" strike="noStrike" baseline="0" dirty="0">
                    <a:solidFill>
                      <a:srgbClr val="000000"/>
                    </a:solidFill>
                    <a:latin typeface="CMSS10"/>
                  </a:rPr>
                  <a:t>)</a:t>
                </a:r>
                <a:r>
                  <a:rPr lang="en-US" sz="1800" dirty="0">
                    <a:solidFill>
                      <a:srgbClr val="000000"/>
                    </a:solidFill>
                    <a:latin typeface="CMSY10"/>
                  </a:rPr>
                  <a:t> </a:t>
                </a:r>
                <a14:m>
                  <m:oMath xmlns:m="http://schemas.openxmlformats.org/officeDocument/2006/math">
                    <m:r>
                      <a:rPr lang="en-GB" sz="1800" b="1" i="1" smtClean="0">
                        <a:latin typeface="Cambria Math" panose="02040503050406030204" pitchFamily="18" charset="0"/>
                        <a:ea typeface="Cambria Math" panose="02040503050406030204" pitchFamily="18" charset="0"/>
                      </a:rPr>
                      <m:t>→</m:t>
                    </m:r>
                  </m:oMath>
                </a14:m>
                <a:r>
                  <a:rPr lang="en-US" sz="1800" dirty="0">
                    <a:solidFill>
                      <a:srgbClr val="000000"/>
                    </a:solidFill>
                    <a:latin typeface="CMSY10"/>
                  </a:rPr>
                  <a:t> </a:t>
                </a:r>
                <a:r>
                  <a:rPr lang="en-US" sz="1800" b="0" i="0" u="none" strike="noStrike" baseline="0" dirty="0">
                    <a:solidFill>
                      <a:srgbClr val="000000"/>
                    </a:solidFill>
                    <a:latin typeface="CMSSI10"/>
                  </a:rPr>
                  <a:t>p</a:t>
                </a:r>
                <a:r>
                  <a:rPr lang="en-US" sz="1800" b="0" i="0" u="none" strike="noStrike" baseline="0" dirty="0">
                    <a:solidFill>
                      <a:srgbClr val="000000"/>
                    </a:solidFill>
                    <a:latin typeface="CMSS10"/>
                  </a:rPr>
                  <a:t>.</a:t>
                </a:r>
              </a:p>
              <a:p>
                <a:pPr algn="l"/>
                <a:r>
                  <a:rPr lang="en-US" sz="1800" b="0" i="0" u="none" strike="noStrike" baseline="0" dirty="0">
                    <a:solidFill>
                      <a:srgbClr val="FFFFFF"/>
                    </a:solidFill>
                    <a:latin typeface="CMSS8"/>
                  </a:rPr>
                  <a:t>1 </a:t>
                </a:r>
                <a:r>
                  <a:rPr lang="en-US" sz="1800" b="0" i="0" u="none" strike="noStrike" baseline="0" dirty="0">
                    <a:solidFill>
                      <a:srgbClr val="000000"/>
                    </a:solidFill>
                    <a:latin typeface="CMSS10"/>
                  </a:rPr>
                  <a:t>Count the number of atomic propositions, </a:t>
                </a:r>
                <a:r>
                  <a:rPr lang="en-US" sz="1800" b="0" i="0" u="none" strike="noStrike" baseline="0" dirty="0">
                    <a:solidFill>
                      <a:srgbClr val="000000"/>
                    </a:solidFill>
                    <a:latin typeface="CMSSI10"/>
                  </a:rPr>
                  <a:t>n </a:t>
                </a:r>
                <a:r>
                  <a:rPr lang="en-US" sz="1800" b="0" i="0" u="none" strike="noStrike" baseline="0" dirty="0">
                    <a:solidFill>
                      <a:srgbClr val="000000"/>
                    </a:solidFill>
                    <a:latin typeface="CMSS10"/>
                  </a:rPr>
                  <a:t>= 2.</a:t>
                </a:r>
              </a:p>
              <a:p>
                <a:pPr algn="l"/>
                <a:r>
                  <a:rPr lang="en-US" sz="1800" b="0" i="0" u="none" strike="noStrike" baseline="0" dirty="0">
                    <a:solidFill>
                      <a:srgbClr val="FFFFFF"/>
                    </a:solidFill>
                    <a:latin typeface="CMSS8"/>
                  </a:rPr>
                  <a:t>2 </a:t>
                </a:r>
                <a:r>
                  <a:rPr lang="en-US" sz="1800" b="0" i="0" u="none" strike="noStrike" baseline="0" dirty="0">
                    <a:solidFill>
                      <a:srgbClr val="000000"/>
                    </a:solidFill>
                    <a:latin typeface="CMSS10"/>
                  </a:rPr>
                  <a:t>Form a table with </a:t>
                </a:r>
                <a:r>
                  <a:rPr lang="en-US" sz="1800" b="0" i="0" u="none" strike="noStrike" baseline="0" dirty="0">
                    <a:solidFill>
                      <a:srgbClr val="000000"/>
                    </a:solidFill>
                    <a:latin typeface="CMSSI10"/>
                  </a:rPr>
                  <a:t>m </a:t>
                </a:r>
                <a:r>
                  <a:rPr lang="en-US" sz="1800" b="0" i="0" u="none" strike="noStrike" baseline="0" dirty="0">
                    <a:solidFill>
                      <a:srgbClr val="000000"/>
                    </a:solidFill>
                    <a:latin typeface="CMSS10"/>
                  </a:rPr>
                  <a:t>= 2</a:t>
                </a:r>
                <a:r>
                  <a:rPr lang="en-US" sz="1800" b="0" i="0" u="none" strike="noStrike" baseline="30000" dirty="0">
                    <a:solidFill>
                      <a:srgbClr val="000000"/>
                    </a:solidFill>
                    <a:latin typeface="CMSS8"/>
                  </a:rPr>
                  <a:t>2</a:t>
                </a:r>
                <a:r>
                  <a:rPr lang="en-US" sz="1800" b="0" i="0" u="none" strike="noStrike" baseline="0" dirty="0">
                    <a:solidFill>
                      <a:srgbClr val="000000"/>
                    </a:solidFill>
                    <a:latin typeface="CMSS8"/>
                  </a:rPr>
                  <a:t> </a:t>
                </a:r>
                <a:r>
                  <a:rPr lang="en-US" sz="1800" b="0" i="0" u="none" strike="noStrike" baseline="0" dirty="0">
                    <a:solidFill>
                      <a:srgbClr val="000000"/>
                    </a:solidFill>
                    <a:latin typeface="CMSS10"/>
                  </a:rPr>
                  <a:t>= 4 rows.</a:t>
                </a:r>
              </a:p>
              <a:p>
                <a:pPr algn="l"/>
                <a:r>
                  <a:rPr lang="en-US" sz="1800" b="0" i="0" u="none" strike="noStrike" baseline="0" dirty="0">
                    <a:solidFill>
                      <a:srgbClr val="FFFFFF"/>
                    </a:solidFill>
                    <a:latin typeface="CMSS8"/>
                  </a:rPr>
                  <a:t>3 </a:t>
                </a:r>
                <a:r>
                  <a:rPr lang="en-US" sz="1800" b="0" i="0" u="none" strike="noStrike" baseline="0" dirty="0">
                    <a:solidFill>
                      <a:srgbClr val="000000"/>
                    </a:solidFill>
                    <a:latin typeface="CMSS10"/>
                  </a:rPr>
                  <a:t>List all possible combinations of the truth values for </a:t>
                </a:r>
                <a:r>
                  <a:rPr lang="en-US" sz="1800" b="0" i="0" u="none" strike="noStrike" baseline="0" dirty="0">
                    <a:solidFill>
                      <a:srgbClr val="000000"/>
                    </a:solidFill>
                    <a:latin typeface="CMSSI10"/>
                  </a:rPr>
                  <a:t>p and q</a:t>
                </a:r>
                <a:r>
                  <a:rPr lang="en-US" sz="1800" b="0" i="0" u="none" strike="noStrike" baseline="0" dirty="0">
                    <a:solidFill>
                      <a:srgbClr val="000000"/>
                    </a:solidFill>
                    <a:latin typeface="CMSS10"/>
                  </a:rPr>
                  <a:t>.</a:t>
                </a:r>
              </a:p>
              <a:p>
                <a:pPr algn="l"/>
                <a:r>
                  <a:rPr lang="en-US" sz="1800" b="0" i="0" u="none" strike="noStrike" baseline="0" dirty="0">
                    <a:solidFill>
                      <a:srgbClr val="FFFFFF"/>
                    </a:solidFill>
                    <a:latin typeface="CMSS8"/>
                  </a:rPr>
                  <a:t>4 </a:t>
                </a:r>
                <a:r>
                  <a:rPr lang="en-US" sz="1800" b="0" i="0" u="none" strike="noStrike" baseline="0" dirty="0">
                    <a:latin typeface="CMSS10"/>
                  </a:rPr>
                  <a:t>Prioritize the logical operations in the proposition</a:t>
                </a:r>
                <a:endParaRPr lang="en-US" sz="1800" b="0" i="0" u="none" strike="noStrike" baseline="0" dirty="0">
                  <a:solidFill>
                    <a:srgbClr val="000000"/>
                  </a:solidFill>
                  <a:latin typeface="CMSS10"/>
                </a:endParaRPr>
              </a:p>
              <a:p>
                <a:pPr algn="l"/>
                <a:r>
                  <a:rPr lang="en-US" sz="1800" b="0" i="0" u="none" strike="noStrike" baseline="0" dirty="0">
                    <a:latin typeface="CMSS10"/>
                  </a:rPr>
                  <a:t>Compute first 1 and then 2 </a:t>
                </a:r>
                <a:endParaRPr lang="si-LK" sz="1800" b="0" i="0" u="none" strike="noStrike" baseline="0" dirty="0">
                  <a:solidFill>
                    <a:srgbClr val="000000"/>
                  </a:solidFill>
                  <a:latin typeface="CMSY10"/>
                </a:endParaRPr>
              </a:p>
            </p:txBody>
          </p:sp>
        </mc:Choice>
        <mc:Fallback xmlns="">
          <p:sp>
            <p:nvSpPr>
              <p:cNvPr id="3" name="Content Placeholder 2">
                <a:extLst>
                  <a:ext uri="{FF2B5EF4-FFF2-40B4-BE49-F238E27FC236}">
                    <a16:creationId xmlns:a16="http://schemas.microsoft.com/office/drawing/2014/main" id="{BA11CC8F-B5F4-CAB5-BC5C-B18945D526BB}"/>
                  </a:ext>
                </a:extLst>
              </p:cNvPr>
              <p:cNvSpPr>
                <a:spLocks noGrp="1" noRot="1" noChangeAspect="1" noMove="1" noResize="1" noEditPoints="1" noAdjustHandles="1" noChangeArrowheads="1" noChangeShapeType="1" noTextEdit="1"/>
              </p:cNvSpPr>
              <p:nvPr>
                <p:ph idx="1"/>
              </p:nvPr>
            </p:nvSpPr>
            <p:spPr>
              <a:blipFill>
                <a:blip r:embed="rId2"/>
                <a:stretch>
                  <a:fillRect l="-444" t="-685"/>
                </a:stretch>
              </a:blipFill>
            </p:spPr>
            <p:txBody>
              <a:bodyPr/>
              <a:lstStyle/>
              <a:p>
                <a:r>
                  <a:rPr lang="si-LK">
                    <a:noFill/>
                  </a:rPr>
                  <a:t> </a:t>
                </a:r>
              </a:p>
            </p:txBody>
          </p:sp>
        </mc:Fallback>
      </mc:AlternateContent>
      <p:sp>
        <p:nvSpPr>
          <p:cNvPr id="4" name="Date Placeholder 3">
            <a:extLst>
              <a:ext uri="{FF2B5EF4-FFF2-40B4-BE49-F238E27FC236}">
                <a16:creationId xmlns:a16="http://schemas.microsoft.com/office/drawing/2014/main" id="{30D961FE-386E-D3DF-0B7F-9EB3B671C58D}"/>
              </a:ext>
            </a:extLst>
          </p:cNvPr>
          <p:cNvSpPr>
            <a:spLocks noGrp="1"/>
          </p:cNvSpPr>
          <p:nvPr>
            <p:ph type="dt" sz="half" idx="10"/>
          </p:nvPr>
        </p:nvSpPr>
        <p:spPr/>
        <p:txBody>
          <a:bodyPr/>
          <a:lstStyle/>
          <a:p>
            <a:fld id="{C81CE06C-86C5-4522-AAE6-C974A24F2D38}" type="datetime3">
              <a:rPr lang="en-US" smtClean="0"/>
              <a:t>27 April 2026</a:t>
            </a:fld>
            <a:endParaRPr lang="en-US"/>
          </a:p>
        </p:txBody>
      </p:sp>
      <p:sp>
        <p:nvSpPr>
          <p:cNvPr id="5" name="Footer Placeholder 4">
            <a:extLst>
              <a:ext uri="{FF2B5EF4-FFF2-40B4-BE49-F238E27FC236}">
                <a16:creationId xmlns:a16="http://schemas.microsoft.com/office/drawing/2014/main" id="{44B8D3EC-E617-4109-B7DD-AC6337E584CB}"/>
              </a:ext>
            </a:extLst>
          </p:cNvPr>
          <p:cNvSpPr>
            <a:spLocks noGrp="1"/>
          </p:cNvSpPr>
          <p:nvPr>
            <p:ph type="ftr" sz="quarter" idx="11"/>
          </p:nvPr>
        </p:nvSpPr>
        <p:spPr/>
        <p:txBody>
          <a:bodyPr/>
          <a:lstStyle/>
          <a:p>
            <a:r>
              <a:rPr lang="en-US"/>
              <a:t>SCS 1302   Discrete Mathematics 1       Prof. D D Karunaratna</a:t>
            </a:r>
          </a:p>
        </p:txBody>
      </p:sp>
      <p:sp>
        <p:nvSpPr>
          <p:cNvPr id="6" name="Slide Number Placeholder 5">
            <a:extLst>
              <a:ext uri="{FF2B5EF4-FFF2-40B4-BE49-F238E27FC236}">
                <a16:creationId xmlns:a16="http://schemas.microsoft.com/office/drawing/2014/main" id="{966170C7-A7C4-3ED1-97F4-F4108EB7724B}"/>
              </a:ext>
            </a:extLst>
          </p:cNvPr>
          <p:cNvSpPr>
            <a:spLocks noGrp="1"/>
          </p:cNvSpPr>
          <p:nvPr>
            <p:ph type="sldNum" sz="quarter" idx="12"/>
          </p:nvPr>
        </p:nvSpPr>
        <p:spPr/>
        <p:txBody>
          <a:bodyPr/>
          <a:lstStyle/>
          <a:p>
            <a:fld id="{0CA841A6-7C02-4C92-B6EE-5DBCC2AD53D0}" type="slidenum">
              <a:rPr lang="en-US" smtClean="0"/>
              <a:t>35</a:t>
            </a:fld>
            <a:endParaRPr lang="en-US"/>
          </a:p>
        </p:txBody>
      </p:sp>
      <p:pic>
        <p:nvPicPr>
          <p:cNvPr id="8" name="Picture 7">
            <a:extLst>
              <a:ext uri="{FF2B5EF4-FFF2-40B4-BE49-F238E27FC236}">
                <a16:creationId xmlns:a16="http://schemas.microsoft.com/office/drawing/2014/main" id="{4081F552-85B1-5E73-93E8-01391D231388}"/>
              </a:ext>
            </a:extLst>
          </p:cNvPr>
          <p:cNvPicPr>
            <a:picLocks noChangeAspect="1"/>
          </p:cNvPicPr>
          <p:nvPr/>
        </p:nvPicPr>
        <p:blipFill>
          <a:blip r:embed="rId3"/>
          <a:stretch>
            <a:fillRect/>
          </a:stretch>
        </p:blipFill>
        <p:spPr>
          <a:xfrm>
            <a:off x="5758336" y="3019425"/>
            <a:ext cx="1073785" cy="361950"/>
          </a:xfrm>
          <a:prstGeom prst="rect">
            <a:avLst/>
          </a:prstGeom>
        </p:spPr>
      </p:pic>
    </p:spTree>
    <p:extLst>
      <p:ext uri="{BB962C8B-B14F-4D97-AF65-F5344CB8AC3E}">
        <p14:creationId xmlns:p14="http://schemas.microsoft.com/office/powerpoint/2010/main" val="63784129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3E829-7BD5-9604-E0B6-9474E6EF9433}"/>
              </a:ext>
            </a:extLst>
          </p:cNvPr>
          <p:cNvSpPr>
            <a:spLocks noGrp="1"/>
          </p:cNvSpPr>
          <p:nvPr>
            <p:ph type="title"/>
          </p:nvPr>
        </p:nvSpPr>
        <p:spPr/>
        <p:txBody>
          <a:bodyPr/>
          <a:lstStyle/>
          <a:p>
            <a:r>
              <a:rPr lang="en-US" dirty="0"/>
              <a:t>Example</a:t>
            </a:r>
            <a:endParaRPr lang="si-LK" dirty="0"/>
          </a:p>
        </p:txBody>
      </p:sp>
      <mc:AlternateContent xmlns:mc="http://schemas.openxmlformats.org/markup-compatibility/2006" xmlns:a14="http://schemas.microsoft.com/office/drawing/2010/main">
        <mc:Choice Requires="a14">
          <p:graphicFrame>
            <p:nvGraphicFramePr>
              <p:cNvPr id="7" name="Content Placeholder 6">
                <a:extLst>
                  <a:ext uri="{FF2B5EF4-FFF2-40B4-BE49-F238E27FC236}">
                    <a16:creationId xmlns:a16="http://schemas.microsoft.com/office/drawing/2014/main" id="{D79F2AD3-FD1B-A13B-8192-A86DD35E8BBA}"/>
                  </a:ext>
                </a:extLst>
              </p:cNvPr>
              <p:cNvGraphicFramePr>
                <a:graphicFrameLocks noGrp="1"/>
              </p:cNvGraphicFramePr>
              <p:nvPr>
                <p:ph idx="1"/>
                <p:extLst>
                  <p:ext uri="{D42A27DB-BD31-4B8C-83A1-F6EECF244321}">
                    <p14:modId xmlns:p14="http://schemas.microsoft.com/office/powerpoint/2010/main" val="894482900"/>
                  </p:ext>
                </p:extLst>
              </p:nvPr>
            </p:nvGraphicFramePr>
            <p:xfrm>
              <a:off x="457200" y="1676400"/>
              <a:ext cx="2971800" cy="1854200"/>
            </p:xfrm>
            <a:graphic>
              <a:graphicData uri="http://schemas.openxmlformats.org/drawingml/2006/table">
                <a:tbl>
                  <a:tblPr firstRow="1" bandRow="1">
                    <a:tableStyleId>{616DA210-FB5B-4158-B5E0-FEB733F419BA}</a:tableStyleId>
                  </a:tblPr>
                  <a:tblGrid>
                    <a:gridCol w="457200">
                      <a:extLst>
                        <a:ext uri="{9D8B030D-6E8A-4147-A177-3AD203B41FA5}">
                          <a16:colId xmlns:a16="http://schemas.microsoft.com/office/drawing/2014/main" val="222132253"/>
                        </a:ext>
                      </a:extLst>
                    </a:gridCol>
                    <a:gridCol w="457200">
                      <a:extLst>
                        <a:ext uri="{9D8B030D-6E8A-4147-A177-3AD203B41FA5}">
                          <a16:colId xmlns:a16="http://schemas.microsoft.com/office/drawing/2014/main" val="3117264722"/>
                        </a:ext>
                      </a:extLst>
                    </a:gridCol>
                    <a:gridCol w="609600">
                      <a:extLst>
                        <a:ext uri="{9D8B030D-6E8A-4147-A177-3AD203B41FA5}">
                          <a16:colId xmlns:a16="http://schemas.microsoft.com/office/drawing/2014/main" val="461210644"/>
                        </a:ext>
                      </a:extLst>
                    </a:gridCol>
                    <a:gridCol w="1447800">
                      <a:extLst>
                        <a:ext uri="{9D8B030D-6E8A-4147-A177-3AD203B41FA5}">
                          <a16:colId xmlns:a16="http://schemas.microsoft.com/office/drawing/2014/main" val="1463218978"/>
                        </a:ext>
                      </a:extLst>
                    </a:gridCol>
                  </a:tblGrid>
                  <a:tr h="370840">
                    <a:tc>
                      <a:txBody>
                        <a:bodyPr/>
                        <a:lstStyle/>
                        <a:p>
                          <a:r>
                            <a:rPr lang="en-US" dirty="0"/>
                            <a:t>p</a:t>
                          </a:r>
                          <a:endParaRPr lang="si-LK" dirty="0"/>
                        </a:p>
                      </a:txBody>
                      <a:tcPr/>
                    </a:tc>
                    <a:tc>
                      <a:txBody>
                        <a:bodyPr/>
                        <a:lstStyle/>
                        <a:p>
                          <a:r>
                            <a:rPr lang="en-US" dirty="0"/>
                            <a:t>q</a:t>
                          </a:r>
                          <a:endParaRPr lang="si-LK" dirty="0"/>
                        </a:p>
                      </a:txBody>
                      <a:tcPr/>
                    </a:tc>
                    <a:tc>
                      <a:txBody>
                        <a:bodyPr/>
                        <a:lstStyle/>
                        <a:p>
                          <a:r>
                            <a:rPr lang="en-US" sz="1800" b="0" i="0" u="none" strike="noStrike" baseline="0" dirty="0">
                              <a:solidFill>
                                <a:srgbClr val="000000"/>
                              </a:solidFill>
                              <a:latin typeface="CMSSI10"/>
                            </a:rPr>
                            <a:t>p </a:t>
                          </a:r>
                          <a:r>
                            <a:rPr lang="en-US" sz="1800" b="0" i="0" u="none" strike="noStrike" baseline="0" dirty="0">
                              <a:solidFill>
                                <a:srgbClr val="000000"/>
                              </a:solidFill>
                              <a:latin typeface="CMSY10"/>
                            </a:rPr>
                            <a:t>^</a:t>
                          </a:r>
                          <a:r>
                            <a:rPr lang="en-US" sz="1800" b="0" i="0" u="none" strike="noStrike" baseline="0" dirty="0">
                              <a:solidFill>
                                <a:srgbClr val="000000"/>
                              </a:solidFill>
                              <a:latin typeface="CMSSI10"/>
                            </a:rPr>
                            <a:t>q</a:t>
                          </a:r>
                          <a:endParaRPr lang="si-LK"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u="none" strike="noStrike" baseline="0" dirty="0">
                              <a:solidFill>
                                <a:srgbClr val="000000"/>
                              </a:solidFill>
                              <a:latin typeface="CMSS10"/>
                            </a:rPr>
                            <a:t>(</a:t>
                          </a:r>
                          <a:r>
                            <a:rPr lang="en-US" sz="1800" b="0" i="0" u="none" strike="noStrike" baseline="0" dirty="0">
                              <a:solidFill>
                                <a:srgbClr val="000000"/>
                              </a:solidFill>
                              <a:latin typeface="CMSSI10"/>
                            </a:rPr>
                            <a:t>p </a:t>
                          </a:r>
                          <a:r>
                            <a:rPr lang="en-US" sz="1800" b="0" i="0" u="none" strike="noStrike" baseline="0" dirty="0">
                              <a:solidFill>
                                <a:srgbClr val="000000"/>
                              </a:solidFill>
                              <a:latin typeface="CMSY10"/>
                            </a:rPr>
                            <a:t>^</a:t>
                          </a:r>
                          <a:r>
                            <a:rPr lang="en-US" sz="1800" b="0" i="0" u="none" strike="noStrike" baseline="0" dirty="0">
                              <a:solidFill>
                                <a:srgbClr val="000000"/>
                              </a:solidFill>
                              <a:latin typeface="CMSSI10"/>
                            </a:rPr>
                            <a:t>q</a:t>
                          </a:r>
                          <a:r>
                            <a:rPr lang="en-US" sz="1800" b="0" i="0" u="none" strike="noStrike" baseline="0" dirty="0">
                              <a:solidFill>
                                <a:srgbClr val="000000"/>
                              </a:solidFill>
                              <a:latin typeface="CMSS10"/>
                            </a:rPr>
                            <a:t>)</a:t>
                          </a:r>
                          <a:r>
                            <a:rPr lang="en-US" sz="1800" dirty="0">
                              <a:solidFill>
                                <a:srgbClr val="000000"/>
                              </a:solidFill>
                              <a:latin typeface="CMSY10"/>
                            </a:rPr>
                            <a:t> </a:t>
                          </a:r>
                          <a14:m>
                            <m:oMath xmlns:m="http://schemas.openxmlformats.org/officeDocument/2006/math">
                              <m:r>
                                <a:rPr lang="en-GB" sz="1800" b="1" i="1" smtClean="0">
                                  <a:latin typeface="Cambria Math" panose="02040503050406030204" pitchFamily="18" charset="0"/>
                                  <a:ea typeface="Cambria Math" panose="02040503050406030204" pitchFamily="18" charset="0"/>
                                </a:rPr>
                                <m:t>→</m:t>
                              </m:r>
                            </m:oMath>
                          </a14:m>
                          <a:r>
                            <a:rPr lang="en-US" sz="1800" dirty="0">
                              <a:solidFill>
                                <a:srgbClr val="000000"/>
                              </a:solidFill>
                              <a:latin typeface="CMSY10"/>
                            </a:rPr>
                            <a:t> </a:t>
                          </a:r>
                          <a:r>
                            <a:rPr lang="en-US" sz="1800" b="0" i="0" u="none" strike="noStrike" baseline="0" dirty="0">
                              <a:solidFill>
                                <a:srgbClr val="000000"/>
                              </a:solidFill>
                              <a:latin typeface="CMSSI10"/>
                            </a:rPr>
                            <a:t>p</a:t>
                          </a:r>
                          <a:r>
                            <a:rPr lang="en-US" sz="1800" b="0" i="0" u="none" strike="noStrike" baseline="0" dirty="0">
                              <a:solidFill>
                                <a:srgbClr val="000000"/>
                              </a:solidFill>
                              <a:latin typeface="CMSS10"/>
                            </a:rPr>
                            <a:t>.</a:t>
                          </a:r>
                        </a:p>
                      </a:txBody>
                      <a:tcPr/>
                    </a:tc>
                    <a:extLst>
                      <a:ext uri="{0D108BD9-81ED-4DB2-BD59-A6C34878D82A}">
                        <a16:rowId xmlns:a16="http://schemas.microsoft.com/office/drawing/2014/main" val="24150986"/>
                      </a:ext>
                    </a:extLst>
                  </a:tr>
                  <a:tr h="370840">
                    <a:tc>
                      <a:txBody>
                        <a:bodyPr/>
                        <a:lstStyle/>
                        <a:p>
                          <a:r>
                            <a:rPr lang="en-US" dirty="0"/>
                            <a:t>T</a:t>
                          </a:r>
                          <a:endParaRPr lang="si-LK" dirty="0"/>
                        </a:p>
                      </a:txBody>
                      <a:tcPr/>
                    </a:tc>
                    <a:tc>
                      <a:txBody>
                        <a:bodyPr/>
                        <a:lstStyle/>
                        <a:p>
                          <a:r>
                            <a:rPr lang="en-US" dirty="0"/>
                            <a:t>T</a:t>
                          </a:r>
                          <a:endParaRPr lang="si-LK" dirty="0"/>
                        </a:p>
                      </a:txBody>
                      <a:tcPr/>
                    </a:tc>
                    <a:tc>
                      <a:txBody>
                        <a:bodyPr/>
                        <a:lstStyle/>
                        <a:p>
                          <a:endParaRPr lang="si-LK"/>
                        </a:p>
                      </a:txBody>
                      <a:tcPr/>
                    </a:tc>
                    <a:tc>
                      <a:txBody>
                        <a:bodyPr/>
                        <a:lstStyle/>
                        <a:p>
                          <a:endParaRPr lang="si-LK" dirty="0"/>
                        </a:p>
                      </a:txBody>
                      <a:tcPr/>
                    </a:tc>
                    <a:extLst>
                      <a:ext uri="{0D108BD9-81ED-4DB2-BD59-A6C34878D82A}">
                        <a16:rowId xmlns:a16="http://schemas.microsoft.com/office/drawing/2014/main" val="1439750254"/>
                      </a:ext>
                    </a:extLst>
                  </a:tr>
                  <a:tr h="370840">
                    <a:tc>
                      <a:txBody>
                        <a:bodyPr/>
                        <a:lstStyle/>
                        <a:p>
                          <a:r>
                            <a:rPr lang="en-US" dirty="0"/>
                            <a:t>T</a:t>
                          </a:r>
                          <a:endParaRPr lang="si-LK" dirty="0"/>
                        </a:p>
                      </a:txBody>
                      <a:tcPr/>
                    </a:tc>
                    <a:tc>
                      <a:txBody>
                        <a:bodyPr/>
                        <a:lstStyle/>
                        <a:p>
                          <a:r>
                            <a:rPr lang="en-US" dirty="0"/>
                            <a:t>F</a:t>
                          </a:r>
                          <a:endParaRPr lang="si-LK" dirty="0"/>
                        </a:p>
                      </a:txBody>
                      <a:tcPr/>
                    </a:tc>
                    <a:tc>
                      <a:txBody>
                        <a:bodyPr/>
                        <a:lstStyle/>
                        <a:p>
                          <a:endParaRPr lang="si-LK"/>
                        </a:p>
                      </a:txBody>
                      <a:tcPr/>
                    </a:tc>
                    <a:tc>
                      <a:txBody>
                        <a:bodyPr/>
                        <a:lstStyle/>
                        <a:p>
                          <a:endParaRPr lang="si-LK"/>
                        </a:p>
                      </a:txBody>
                      <a:tcPr/>
                    </a:tc>
                    <a:extLst>
                      <a:ext uri="{0D108BD9-81ED-4DB2-BD59-A6C34878D82A}">
                        <a16:rowId xmlns:a16="http://schemas.microsoft.com/office/drawing/2014/main" val="1399743854"/>
                      </a:ext>
                    </a:extLst>
                  </a:tr>
                  <a:tr h="370840">
                    <a:tc>
                      <a:txBody>
                        <a:bodyPr/>
                        <a:lstStyle/>
                        <a:p>
                          <a:r>
                            <a:rPr lang="en-US" dirty="0"/>
                            <a:t>F</a:t>
                          </a:r>
                          <a:endParaRPr lang="si-LK" dirty="0"/>
                        </a:p>
                      </a:txBody>
                      <a:tcPr/>
                    </a:tc>
                    <a:tc>
                      <a:txBody>
                        <a:bodyPr/>
                        <a:lstStyle/>
                        <a:p>
                          <a:r>
                            <a:rPr lang="en-US" dirty="0"/>
                            <a:t>T</a:t>
                          </a:r>
                          <a:endParaRPr lang="si-LK" dirty="0"/>
                        </a:p>
                      </a:txBody>
                      <a:tcPr/>
                    </a:tc>
                    <a:tc>
                      <a:txBody>
                        <a:bodyPr/>
                        <a:lstStyle/>
                        <a:p>
                          <a:endParaRPr lang="si-LK"/>
                        </a:p>
                      </a:txBody>
                      <a:tcPr/>
                    </a:tc>
                    <a:tc>
                      <a:txBody>
                        <a:bodyPr/>
                        <a:lstStyle/>
                        <a:p>
                          <a:endParaRPr lang="si-LK"/>
                        </a:p>
                      </a:txBody>
                      <a:tcPr/>
                    </a:tc>
                    <a:extLst>
                      <a:ext uri="{0D108BD9-81ED-4DB2-BD59-A6C34878D82A}">
                        <a16:rowId xmlns:a16="http://schemas.microsoft.com/office/drawing/2014/main" val="2032375431"/>
                      </a:ext>
                    </a:extLst>
                  </a:tr>
                  <a:tr h="370840">
                    <a:tc>
                      <a:txBody>
                        <a:bodyPr/>
                        <a:lstStyle/>
                        <a:p>
                          <a:r>
                            <a:rPr lang="en-US" dirty="0"/>
                            <a:t>F</a:t>
                          </a:r>
                          <a:endParaRPr lang="si-LK" dirty="0"/>
                        </a:p>
                      </a:txBody>
                      <a:tcPr/>
                    </a:tc>
                    <a:tc>
                      <a:txBody>
                        <a:bodyPr/>
                        <a:lstStyle/>
                        <a:p>
                          <a:r>
                            <a:rPr lang="en-US" dirty="0"/>
                            <a:t>F</a:t>
                          </a:r>
                          <a:endParaRPr lang="si-LK" dirty="0"/>
                        </a:p>
                      </a:txBody>
                      <a:tcPr/>
                    </a:tc>
                    <a:tc>
                      <a:txBody>
                        <a:bodyPr/>
                        <a:lstStyle/>
                        <a:p>
                          <a:endParaRPr lang="si-LK"/>
                        </a:p>
                      </a:txBody>
                      <a:tcPr/>
                    </a:tc>
                    <a:tc>
                      <a:txBody>
                        <a:bodyPr/>
                        <a:lstStyle/>
                        <a:p>
                          <a:endParaRPr lang="si-LK" dirty="0"/>
                        </a:p>
                      </a:txBody>
                      <a:tcPr/>
                    </a:tc>
                    <a:extLst>
                      <a:ext uri="{0D108BD9-81ED-4DB2-BD59-A6C34878D82A}">
                        <a16:rowId xmlns:a16="http://schemas.microsoft.com/office/drawing/2014/main" val="3760792583"/>
                      </a:ext>
                    </a:extLst>
                  </a:tr>
                </a:tbl>
              </a:graphicData>
            </a:graphic>
          </p:graphicFrame>
        </mc:Choice>
        <mc:Fallback xmlns="">
          <p:graphicFrame>
            <p:nvGraphicFramePr>
              <p:cNvPr id="7" name="Content Placeholder 6">
                <a:extLst>
                  <a:ext uri="{FF2B5EF4-FFF2-40B4-BE49-F238E27FC236}">
                    <a16:creationId xmlns:a16="http://schemas.microsoft.com/office/drawing/2014/main" id="{D79F2AD3-FD1B-A13B-8192-A86DD35E8BBA}"/>
                  </a:ext>
                </a:extLst>
              </p:cNvPr>
              <p:cNvGraphicFramePr>
                <a:graphicFrameLocks noGrp="1"/>
              </p:cNvGraphicFramePr>
              <p:nvPr>
                <p:ph idx="1"/>
                <p:extLst>
                  <p:ext uri="{D42A27DB-BD31-4B8C-83A1-F6EECF244321}">
                    <p14:modId xmlns:p14="http://schemas.microsoft.com/office/powerpoint/2010/main" val="894482900"/>
                  </p:ext>
                </p:extLst>
              </p:nvPr>
            </p:nvGraphicFramePr>
            <p:xfrm>
              <a:off x="457200" y="1676400"/>
              <a:ext cx="2971800" cy="1854200"/>
            </p:xfrm>
            <a:graphic>
              <a:graphicData uri="http://schemas.openxmlformats.org/drawingml/2006/table">
                <a:tbl>
                  <a:tblPr firstRow="1" bandRow="1">
                    <a:tableStyleId>{616DA210-FB5B-4158-B5E0-FEB733F419BA}</a:tableStyleId>
                  </a:tblPr>
                  <a:tblGrid>
                    <a:gridCol w="457200">
                      <a:extLst>
                        <a:ext uri="{9D8B030D-6E8A-4147-A177-3AD203B41FA5}">
                          <a16:colId xmlns:a16="http://schemas.microsoft.com/office/drawing/2014/main" val="222132253"/>
                        </a:ext>
                      </a:extLst>
                    </a:gridCol>
                    <a:gridCol w="457200">
                      <a:extLst>
                        <a:ext uri="{9D8B030D-6E8A-4147-A177-3AD203B41FA5}">
                          <a16:colId xmlns:a16="http://schemas.microsoft.com/office/drawing/2014/main" val="3117264722"/>
                        </a:ext>
                      </a:extLst>
                    </a:gridCol>
                    <a:gridCol w="609600">
                      <a:extLst>
                        <a:ext uri="{9D8B030D-6E8A-4147-A177-3AD203B41FA5}">
                          <a16:colId xmlns:a16="http://schemas.microsoft.com/office/drawing/2014/main" val="461210644"/>
                        </a:ext>
                      </a:extLst>
                    </a:gridCol>
                    <a:gridCol w="1447800">
                      <a:extLst>
                        <a:ext uri="{9D8B030D-6E8A-4147-A177-3AD203B41FA5}">
                          <a16:colId xmlns:a16="http://schemas.microsoft.com/office/drawing/2014/main" val="1463218978"/>
                        </a:ext>
                      </a:extLst>
                    </a:gridCol>
                  </a:tblGrid>
                  <a:tr h="370840">
                    <a:tc>
                      <a:txBody>
                        <a:bodyPr/>
                        <a:lstStyle/>
                        <a:p>
                          <a:r>
                            <a:rPr lang="en-US" dirty="0"/>
                            <a:t>p</a:t>
                          </a:r>
                          <a:endParaRPr lang="si-LK" dirty="0"/>
                        </a:p>
                      </a:txBody>
                      <a:tcPr/>
                    </a:tc>
                    <a:tc>
                      <a:txBody>
                        <a:bodyPr/>
                        <a:lstStyle/>
                        <a:p>
                          <a:r>
                            <a:rPr lang="en-US" dirty="0"/>
                            <a:t>q</a:t>
                          </a:r>
                          <a:endParaRPr lang="si-LK" dirty="0"/>
                        </a:p>
                      </a:txBody>
                      <a:tcPr/>
                    </a:tc>
                    <a:tc>
                      <a:txBody>
                        <a:bodyPr/>
                        <a:lstStyle/>
                        <a:p>
                          <a:r>
                            <a:rPr lang="en-US" sz="1800" b="0" i="0" u="none" strike="noStrike" baseline="0" dirty="0">
                              <a:solidFill>
                                <a:srgbClr val="000000"/>
                              </a:solidFill>
                              <a:latin typeface="CMSSI10"/>
                            </a:rPr>
                            <a:t>p </a:t>
                          </a:r>
                          <a:r>
                            <a:rPr lang="en-US" sz="1800" b="0" i="0" u="none" strike="noStrike" baseline="0" dirty="0">
                              <a:solidFill>
                                <a:srgbClr val="000000"/>
                              </a:solidFill>
                              <a:latin typeface="CMSY10"/>
                            </a:rPr>
                            <a:t>^</a:t>
                          </a:r>
                          <a:r>
                            <a:rPr lang="en-US" sz="1800" b="0" i="0" u="none" strike="noStrike" baseline="0" dirty="0">
                              <a:solidFill>
                                <a:srgbClr val="000000"/>
                              </a:solidFill>
                              <a:latin typeface="CMSSI10"/>
                            </a:rPr>
                            <a:t>q</a:t>
                          </a:r>
                          <a:endParaRPr lang="si-LK" dirty="0"/>
                        </a:p>
                      </a:txBody>
                      <a:tcPr/>
                    </a:tc>
                    <a:tc>
                      <a:txBody>
                        <a:bodyPr/>
                        <a:lstStyle/>
                        <a:p>
                          <a:endParaRPr lang="si-LK"/>
                        </a:p>
                      </a:txBody>
                      <a:tcPr>
                        <a:blipFill>
                          <a:blip r:embed="rId2"/>
                          <a:stretch>
                            <a:fillRect l="-105882" t="-8197" r="-1261" b="-422951"/>
                          </a:stretch>
                        </a:blipFill>
                      </a:tcPr>
                    </a:tc>
                    <a:extLst>
                      <a:ext uri="{0D108BD9-81ED-4DB2-BD59-A6C34878D82A}">
                        <a16:rowId xmlns:a16="http://schemas.microsoft.com/office/drawing/2014/main" val="24150986"/>
                      </a:ext>
                    </a:extLst>
                  </a:tr>
                  <a:tr h="370840">
                    <a:tc>
                      <a:txBody>
                        <a:bodyPr/>
                        <a:lstStyle/>
                        <a:p>
                          <a:r>
                            <a:rPr lang="en-US" dirty="0"/>
                            <a:t>T</a:t>
                          </a:r>
                          <a:endParaRPr lang="si-LK" dirty="0"/>
                        </a:p>
                      </a:txBody>
                      <a:tcPr/>
                    </a:tc>
                    <a:tc>
                      <a:txBody>
                        <a:bodyPr/>
                        <a:lstStyle/>
                        <a:p>
                          <a:r>
                            <a:rPr lang="en-US" dirty="0"/>
                            <a:t>T</a:t>
                          </a:r>
                          <a:endParaRPr lang="si-LK" dirty="0"/>
                        </a:p>
                      </a:txBody>
                      <a:tcPr/>
                    </a:tc>
                    <a:tc>
                      <a:txBody>
                        <a:bodyPr/>
                        <a:lstStyle/>
                        <a:p>
                          <a:endParaRPr lang="si-LK"/>
                        </a:p>
                      </a:txBody>
                      <a:tcPr/>
                    </a:tc>
                    <a:tc>
                      <a:txBody>
                        <a:bodyPr/>
                        <a:lstStyle/>
                        <a:p>
                          <a:endParaRPr lang="si-LK" dirty="0"/>
                        </a:p>
                      </a:txBody>
                      <a:tcPr/>
                    </a:tc>
                    <a:extLst>
                      <a:ext uri="{0D108BD9-81ED-4DB2-BD59-A6C34878D82A}">
                        <a16:rowId xmlns:a16="http://schemas.microsoft.com/office/drawing/2014/main" val="1439750254"/>
                      </a:ext>
                    </a:extLst>
                  </a:tr>
                  <a:tr h="370840">
                    <a:tc>
                      <a:txBody>
                        <a:bodyPr/>
                        <a:lstStyle/>
                        <a:p>
                          <a:r>
                            <a:rPr lang="en-US" dirty="0"/>
                            <a:t>T</a:t>
                          </a:r>
                          <a:endParaRPr lang="si-LK" dirty="0"/>
                        </a:p>
                      </a:txBody>
                      <a:tcPr/>
                    </a:tc>
                    <a:tc>
                      <a:txBody>
                        <a:bodyPr/>
                        <a:lstStyle/>
                        <a:p>
                          <a:r>
                            <a:rPr lang="en-US" dirty="0"/>
                            <a:t>F</a:t>
                          </a:r>
                          <a:endParaRPr lang="si-LK" dirty="0"/>
                        </a:p>
                      </a:txBody>
                      <a:tcPr/>
                    </a:tc>
                    <a:tc>
                      <a:txBody>
                        <a:bodyPr/>
                        <a:lstStyle/>
                        <a:p>
                          <a:endParaRPr lang="si-LK"/>
                        </a:p>
                      </a:txBody>
                      <a:tcPr/>
                    </a:tc>
                    <a:tc>
                      <a:txBody>
                        <a:bodyPr/>
                        <a:lstStyle/>
                        <a:p>
                          <a:endParaRPr lang="si-LK"/>
                        </a:p>
                      </a:txBody>
                      <a:tcPr/>
                    </a:tc>
                    <a:extLst>
                      <a:ext uri="{0D108BD9-81ED-4DB2-BD59-A6C34878D82A}">
                        <a16:rowId xmlns:a16="http://schemas.microsoft.com/office/drawing/2014/main" val="1399743854"/>
                      </a:ext>
                    </a:extLst>
                  </a:tr>
                  <a:tr h="370840">
                    <a:tc>
                      <a:txBody>
                        <a:bodyPr/>
                        <a:lstStyle/>
                        <a:p>
                          <a:r>
                            <a:rPr lang="en-US" dirty="0"/>
                            <a:t>F</a:t>
                          </a:r>
                          <a:endParaRPr lang="si-LK" dirty="0"/>
                        </a:p>
                      </a:txBody>
                      <a:tcPr/>
                    </a:tc>
                    <a:tc>
                      <a:txBody>
                        <a:bodyPr/>
                        <a:lstStyle/>
                        <a:p>
                          <a:r>
                            <a:rPr lang="en-US" dirty="0"/>
                            <a:t>T</a:t>
                          </a:r>
                          <a:endParaRPr lang="si-LK" dirty="0"/>
                        </a:p>
                      </a:txBody>
                      <a:tcPr/>
                    </a:tc>
                    <a:tc>
                      <a:txBody>
                        <a:bodyPr/>
                        <a:lstStyle/>
                        <a:p>
                          <a:endParaRPr lang="si-LK"/>
                        </a:p>
                      </a:txBody>
                      <a:tcPr/>
                    </a:tc>
                    <a:tc>
                      <a:txBody>
                        <a:bodyPr/>
                        <a:lstStyle/>
                        <a:p>
                          <a:endParaRPr lang="si-LK"/>
                        </a:p>
                      </a:txBody>
                      <a:tcPr/>
                    </a:tc>
                    <a:extLst>
                      <a:ext uri="{0D108BD9-81ED-4DB2-BD59-A6C34878D82A}">
                        <a16:rowId xmlns:a16="http://schemas.microsoft.com/office/drawing/2014/main" val="2032375431"/>
                      </a:ext>
                    </a:extLst>
                  </a:tr>
                  <a:tr h="370840">
                    <a:tc>
                      <a:txBody>
                        <a:bodyPr/>
                        <a:lstStyle/>
                        <a:p>
                          <a:r>
                            <a:rPr lang="en-US" dirty="0"/>
                            <a:t>F</a:t>
                          </a:r>
                          <a:endParaRPr lang="si-LK" dirty="0"/>
                        </a:p>
                      </a:txBody>
                      <a:tcPr/>
                    </a:tc>
                    <a:tc>
                      <a:txBody>
                        <a:bodyPr/>
                        <a:lstStyle/>
                        <a:p>
                          <a:r>
                            <a:rPr lang="en-US" dirty="0"/>
                            <a:t>F</a:t>
                          </a:r>
                          <a:endParaRPr lang="si-LK" dirty="0"/>
                        </a:p>
                      </a:txBody>
                      <a:tcPr/>
                    </a:tc>
                    <a:tc>
                      <a:txBody>
                        <a:bodyPr/>
                        <a:lstStyle/>
                        <a:p>
                          <a:endParaRPr lang="si-LK"/>
                        </a:p>
                      </a:txBody>
                      <a:tcPr/>
                    </a:tc>
                    <a:tc>
                      <a:txBody>
                        <a:bodyPr/>
                        <a:lstStyle/>
                        <a:p>
                          <a:endParaRPr lang="si-LK" dirty="0"/>
                        </a:p>
                      </a:txBody>
                      <a:tcPr/>
                    </a:tc>
                    <a:extLst>
                      <a:ext uri="{0D108BD9-81ED-4DB2-BD59-A6C34878D82A}">
                        <a16:rowId xmlns:a16="http://schemas.microsoft.com/office/drawing/2014/main" val="3760792583"/>
                      </a:ext>
                    </a:extLst>
                  </a:tr>
                </a:tbl>
              </a:graphicData>
            </a:graphic>
          </p:graphicFrame>
        </mc:Fallback>
      </mc:AlternateContent>
      <p:sp>
        <p:nvSpPr>
          <p:cNvPr id="4" name="Date Placeholder 3">
            <a:extLst>
              <a:ext uri="{FF2B5EF4-FFF2-40B4-BE49-F238E27FC236}">
                <a16:creationId xmlns:a16="http://schemas.microsoft.com/office/drawing/2014/main" id="{9DAFA8E5-5ABD-3CA5-D552-CA293651C1F1}"/>
              </a:ext>
            </a:extLst>
          </p:cNvPr>
          <p:cNvSpPr>
            <a:spLocks noGrp="1"/>
          </p:cNvSpPr>
          <p:nvPr>
            <p:ph type="dt" sz="half" idx="10"/>
          </p:nvPr>
        </p:nvSpPr>
        <p:spPr/>
        <p:txBody>
          <a:bodyPr/>
          <a:lstStyle/>
          <a:p>
            <a:fld id="{03AD4007-1DF4-40CE-8653-A98407A21EA8}" type="datetime3">
              <a:rPr lang="en-US" smtClean="0"/>
              <a:t>27 April 2026</a:t>
            </a:fld>
            <a:endParaRPr lang="en-US"/>
          </a:p>
        </p:txBody>
      </p:sp>
      <p:sp>
        <p:nvSpPr>
          <p:cNvPr id="5" name="Footer Placeholder 4">
            <a:extLst>
              <a:ext uri="{FF2B5EF4-FFF2-40B4-BE49-F238E27FC236}">
                <a16:creationId xmlns:a16="http://schemas.microsoft.com/office/drawing/2014/main" id="{DE4FD9DA-BD11-3D2D-0E98-40083F366D81}"/>
              </a:ext>
            </a:extLst>
          </p:cNvPr>
          <p:cNvSpPr>
            <a:spLocks noGrp="1"/>
          </p:cNvSpPr>
          <p:nvPr>
            <p:ph type="ftr" sz="quarter" idx="11"/>
          </p:nvPr>
        </p:nvSpPr>
        <p:spPr/>
        <p:txBody>
          <a:bodyPr/>
          <a:lstStyle/>
          <a:p>
            <a:r>
              <a:rPr lang="en-US"/>
              <a:t>SCS 1302   Discrete Mathematics 1       Prof. D D Karunaratna</a:t>
            </a:r>
          </a:p>
        </p:txBody>
      </p:sp>
      <p:sp>
        <p:nvSpPr>
          <p:cNvPr id="6" name="Slide Number Placeholder 5">
            <a:extLst>
              <a:ext uri="{FF2B5EF4-FFF2-40B4-BE49-F238E27FC236}">
                <a16:creationId xmlns:a16="http://schemas.microsoft.com/office/drawing/2014/main" id="{62E3EFCA-65DE-81C9-44BC-AEB32E92CBEE}"/>
              </a:ext>
            </a:extLst>
          </p:cNvPr>
          <p:cNvSpPr>
            <a:spLocks noGrp="1"/>
          </p:cNvSpPr>
          <p:nvPr>
            <p:ph type="sldNum" sz="quarter" idx="12"/>
          </p:nvPr>
        </p:nvSpPr>
        <p:spPr/>
        <p:txBody>
          <a:bodyPr/>
          <a:lstStyle/>
          <a:p>
            <a:fld id="{0CA841A6-7C02-4C92-B6EE-5DBCC2AD53D0}" type="slidenum">
              <a:rPr lang="en-US" smtClean="0"/>
              <a:t>36</a:t>
            </a:fld>
            <a:endParaRPr lang="en-US"/>
          </a:p>
        </p:txBody>
      </p:sp>
    </p:spTree>
    <p:extLst>
      <p:ext uri="{BB962C8B-B14F-4D97-AF65-F5344CB8AC3E}">
        <p14:creationId xmlns:p14="http://schemas.microsoft.com/office/powerpoint/2010/main" val="30715128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529615-D13A-DB30-33DD-F1E3D593B6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9D8541-F2B0-110D-DB32-94914AE52D6A}"/>
              </a:ext>
            </a:extLst>
          </p:cNvPr>
          <p:cNvSpPr>
            <a:spLocks noGrp="1"/>
          </p:cNvSpPr>
          <p:nvPr>
            <p:ph type="title"/>
          </p:nvPr>
        </p:nvSpPr>
        <p:spPr/>
        <p:txBody>
          <a:bodyPr/>
          <a:lstStyle/>
          <a:p>
            <a:r>
              <a:rPr lang="en-US" dirty="0"/>
              <a:t>Example</a:t>
            </a:r>
            <a:endParaRPr lang="si-LK" dirty="0"/>
          </a:p>
        </p:txBody>
      </p:sp>
      <mc:AlternateContent xmlns:mc="http://schemas.openxmlformats.org/markup-compatibility/2006" xmlns:a14="http://schemas.microsoft.com/office/drawing/2010/main">
        <mc:Choice Requires="a14">
          <p:graphicFrame>
            <p:nvGraphicFramePr>
              <p:cNvPr id="7" name="Content Placeholder 6">
                <a:extLst>
                  <a:ext uri="{FF2B5EF4-FFF2-40B4-BE49-F238E27FC236}">
                    <a16:creationId xmlns:a16="http://schemas.microsoft.com/office/drawing/2014/main" id="{71B30AC2-858D-9913-01AF-1BE9299ED805}"/>
                  </a:ext>
                </a:extLst>
              </p:cNvPr>
              <p:cNvGraphicFramePr>
                <a:graphicFrameLocks noGrp="1"/>
              </p:cNvGraphicFramePr>
              <p:nvPr>
                <p:ph idx="1"/>
                <p:extLst>
                  <p:ext uri="{D42A27DB-BD31-4B8C-83A1-F6EECF244321}">
                    <p14:modId xmlns:p14="http://schemas.microsoft.com/office/powerpoint/2010/main" val="3915495909"/>
                  </p:ext>
                </p:extLst>
              </p:nvPr>
            </p:nvGraphicFramePr>
            <p:xfrm>
              <a:off x="457200" y="1676400"/>
              <a:ext cx="2971800" cy="1854200"/>
            </p:xfrm>
            <a:graphic>
              <a:graphicData uri="http://schemas.openxmlformats.org/drawingml/2006/table">
                <a:tbl>
                  <a:tblPr firstRow="1" bandRow="1">
                    <a:tableStyleId>{616DA210-FB5B-4158-B5E0-FEB733F419BA}</a:tableStyleId>
                  </a:tblPr>
                  <a:tblGrid>
                    <a:gridCol w="457200">
                      <a:extLst>
                        <a:ext uri="{9D8B030D-6E8A-4147-A177-3AD203B41FA5}">
                          <a16:colId xmlns:a16="http://schemas.microsoft.com/office/drawing/2014/main" val="222132253"/>
                        </a:ext>
                      </a:extLst>
                    </a:gridCol>
                    <a:gridCol w="457200">
                      <a:extLst>
                        <a:ext uri="{9D8B030D-6E8A-4147-A177-3AD203B41FA5}">
                          <a16:colId xmlns:a16="http://schemas.microsoft.com/office/drawing/2014/main" val="3117264722"/>
                        </a:ext>
                      </a:extLst>
                    </a:gridCol>
                    <a:gridCol w="609600">
                      <a:extLst>
                        <a:ext uri="{9D8B030D-6E8A-4147-A177-3AD203B41FA5}">
                          <a16:colId xmlns:a16="http://schemas.microsoft.com/office/drawing/2014/main" val="461210644"/>
                        </a:ext>
                      </a:extLst>
                    </a:gridCol>
                    <a:gridCol w="1447800">
                      <a:extLst>
                        <a:ext uri="{9D8B030D-6E8A-4147-A177-3AD203B41FA5}">
                          <a16:colId xmlns:a16="http://schemas.microsoft.com/office/drawing/2014/main" val="1463218978"/>
                        </a:ext>
                      </a:extLst>
                    </a:gridCol>
                  </a:tblGrid>
                  <a:tr h="370840">
                    <a:tc>
                      <a:txBody>
                        <a:bodyPr/>
                        <a:lstStyle/>
                        <a:p>
                          <a:r>
                            <a:rPr lang="en-US" dirty="0"/>
                            <a:t>p</a:t>
                          </a:r>
                          <a:endParaRPr lang="si-LK" dirty="0"/>
                        </a:p>
                      </a:txBody>
                      <a:tcPr/>
                    </a:tc>
                    <a:tc>
                      <a:txBody>
                        <a:bodyPr/>
                        <a:lstStyle/>
                        <a:p>
                          <a:r>
                            <a:rPr lang="en-US" dirty="0"/>
                            <a:t>q</a:t>
                          </a:r>
                          <a:endParaRPr lang="si-LK" dirty="0"/>
                        </a:p>
                      </a:txBody>
                      <a:tcPr/>
                    </a:tc>
                    <a:tc>
                      <a:txBody>
                        <a:bodyPr/>
                        <a:lstStyle/>
                        <a:p>
                          <a:r>
                            <a:rPr lang="en-US" sz="1800" b="0" i="0" u="none" strike="noStrike" baseline="0" dirty="0">
                              <a:solidFill>
                                <a:srgbClr val="000000"/>
                              </a:solidFill>
                              <a:latin typeface="CMSSI10"/>
                            </a:rPr>
                            <a:t>p </a:t>
                          </a:r>
                          <a:r>
                            <a:rPr lang="en-US" sz="1800" b="0" i="0" u="none" strike="noStrike" baseline="0" dirty="0">
                              <a:solidFill>
                                <a:srgbClr val="000000"/>
                              </a:solidFill>
                              <a:latin typeface="CMSY10"/>
                            </a:rPr>
                            <a:t>^</a:t>
                          </a:r>
                          <a:r>
                            <a:rPr lang="en-US" sz="1800" b="0" i="0" u="none" strike="noStrike" baseline="0" dirty="0">
                              <a:solidFill>
                                <a:srgbClr val="000000"/>
                              </a:solidFill>
                              <a:latin typeface="CMSSI10"/>
                            </a:rPr>
                            <a:t>q</a:t>
                          </a:r>
                          <a:endParaRPr lang="si-LK"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u="none" strike="noStrike" baseline="0" dirty="0">
                              <a:solidFill>
                                <a:srgbClr val="000000"/>
                              </a:solidFill>
                              <a:latin typeface="CMSS10"/>
                            </a:rPr>
                            <a:t>(</a:t>
                          </a:r>
                          <a:r>
                            <a:rPr lang="en-US" sz="1800" b="0" i="0" u="none" strike="noStrike" baseline="0" dirty="0">
                              <a:solidFill>
                                <a:srgbClr val="000000"/>
                              </a:solidFill>
                              <a:latin typeface="CMSSI10"/>
                            </a:rPr>
                            <a:t>p </a:t>
                          </a:r>
                          <a:r>
                            <a:rPr lang="en-US" sz="1800" b="0" i="0" u="none" strike="noStrike" baseline="0" dirty="0">
                              <a:solidFill>
                                <a:srgbClr val="000000"/>
                              </a:solidFill>
                              <a:latin typeface="CMSY10"/>
                            </a:rPr>
                            <a:t>^</a:t>
                          </a:r>
                          <a:r>
                            <a:rPr lang="en-US" sz="1800" b="0" i="0" u="none" strike="noStrike" baseline="0" dirty="0">
                              <a:solidFill>
                                <a:srgbClr val="000000"/>
                              </a:solidFill>
                              <a:latin typeface="CMSSI10"/>
                            </a:rPr>
                            <a:t>q</a:t>
                          </a:r>
                          <a:r>
                            <a:rPr lang="en-US" sz="1800" b="0" i="0" u="none" strike="noStrike" baseline="0" dirty="0">
                              <a:solidFill>
                                <a:srgbClr val="000000"/>
                              </a:solidFill>
                              <a:latin typeface="CMSS10"/>
                            </a:rPr>
                            <a:t>)</a:t>
                          </a:r>
                          <a:r>
                            <a:rPr lang="en-US" sz="1800" dirty="0">
                              <a:solidFill>
                                <a:srgbClr val="000000"/>
                              </a:solidFill>
                              <a:latin typeface="CMSY10"/>
                            </a:rPr>
                            <a:t> </a:t>
                          </a:r>
                          <a14:m>
                            <m:oMath xmlns:m="http://schemas.openxmlformats.org/officeDocument/2006/math">
                              <m:r>
                                <a:rPr lang="en-GB" sz="1800" b="1" i="1" smtClean="0">
                                  <a:latin typeface="Cambria Math" panose="02040503050406030204" pitchFamily="18" charset="0"/>
                                  <a:ea typeface="Cambria Math" panose="02040503050406030204" pitchFamily="18" charset="0"/>
                                </a:rPr>
                                <m:t>→</m:t>
                              </m:r>
                            </m:oMath>
                          </a14:m>
                          <a:r>
                            <a:rPr lang="en-US" sz="1800" dirty="0">
                              <a:solidFill>
                                <a:srgbClr val="000000"/>
                              </a:solidFill>
                              <a:latin typeface="CMSY10"/>
                            </a:rPr>
                            <a:t> </a:t>
                          </a:r>
                          <a:r>
                            <a:rPr lang="en-US" sz="1800" b="0" i="0" u="none" strike="noStrike" baseline="0" dirty="0">
                              <a:solidFill>
                                <a:srgbClr val="000000"/>
                              </a:solidFill>
                              <a:latin typeface="CMSSI10"/>
                            </a:rPr>
                            <a:t>p</a:t>
                          </a:r>
                          <a:r>
                            <a:rPr lang="en-US" sz="1800" b="0" i="0" u="none" strike="noStrike" baseline="0" dirty="0">
                              <a:solidFill>
                                <a:srgbClr val="000000"/>
                              </a:solidFill>
                              <a:latin typeface="CMSS10"/>
                            </a:rPr>
                            <a:t>.</a:t>
                          </a:r>
                        </a:p>
                      </a:txBody>
                      <a:tcPr/>
                    </a:tc>
                    <a:extLst>
                      <a:ext uri="{0D108BD9-81ED-4DB2-BD59-A6C34878D82A}">
                        <a16:rowId xmlns:a16="http://schemas.microsoft.com/office/drawing/2014/main" val="24150986"/>
                      </a:ext>
                    </a:extLst>
                  </a:tr>
                  <a:tr h="370840">
                    <a:tc>
                      <a:txBody>
                        <a:bodyPr/>
                        <a:lstStyle/>
                        <a:p>
                          <a:r>
                            <a:rPr lang="en-US" dirty="0"/>
                            <a:t>T</a:t>
                          </a:r>
                          <a:endParaRPr lang="si-LK" dirty="0"/>
                        </a:p>
                      </a:txBody>
                      <a:tcPr/>
                    </a:tc>
                    <a:tc>
                      <a:txBody>
                        <a:bodyPr/>
                        <a:lstStyle/>
                        <a:p>
                          <a:r>
                            <a:rPr lang="en-US" dirty="0"/>
                            <a:t>T</a:t>
                          </a:r>
                          <a:endParaRPr lang="si-LK" dirty="0"/>
                        </a:p>
                      </a:txBody>
                      <a:tcPr/>
                    </a:tc>
                    <a:tc>
                      <a:txBody>
                        <a:bodyPr/>
                        <a:lstStyle/>
                        <a:p>
                          <a:r>
                            <a:rPr lang="en-US" dirty="0"/>
                            <a:t>T</a:t>
                          </a:r>
                          <a:endParaRPr lang="si-LK" dirty="0"/>
                        </a:p>
                      </a:txBody>
                      <a:tcPr/>
                    </a:tc>
                    <a:tc>
                      <a:txBody>
                        <a:bodyPr/>
                        <a:lstStyle/>
                        <a:p>
                          <a:endParaRPr lang="si-LK" dirty="0"/>
                        </a:p>
                      </a:txBody>
                      <a:tcPr/>
                    </a:tc>
                    <a:extLst>
                      <a:ext uri="{0D108BD9-81ED-4DB2-BD59-A6C34878D82A}">
                        <a16:rowId xmlns:a16="http://schemas.microsoft.com/office/drawing/2014/main" val="1439750254"/>
                      </a:ext>
                    </a:extLst>
                  </a:tr>
                  <a:tr h="370840">
                    <a:tc>
                      <a:txBody>
                        <a:bodyPr/>
                        <a:lstStyle/>
                        <a:p>
                          <a:r>
                            <a:rPr lang="en-US" dirty="0"/>
                            <a:t>T</a:t>
                          </a:r>
                          <a:endParaRPr lang="si-LK" dirty="0"/>
                        </a:p>
                      </a:txBody>
                      <a:tcPr/>
                    </a:tc>
                    <a:tc>
                      <a:txBody>
                        <a:bodyPr/>
                        <a:lstStyle/>
                        <a:p>
                          <a:r>
                            <a:rPr lang="en-US" dirty="0"/>
                            <a:t>F</a:t>
                          </a:r>
                          <a:endParaRPr lang="si-LK" dirty="0"/>
                        </a:p>
                      </a:txBody>
                      <a:tcPr/>
                    </a:tc>
                    <a:tc>
                      <a:txBody>
                        <a:bodyPr/>
                        <a:lstStyle/>
                        <a:p>
                          <a:r>
                            <a:rPr lang="en-US" dirty="0"/>
                            <a:t>F</a:t>
                          </a:r>
                          <a:endParaRPr lang="si-LK" dirty="0"/>
                        </a:p>
                      </a:txBody>
                      <a:tcPr/>
                    </a:tc>
                    <a:tc>
                      <a:txBody>
                        <a:bodyPr/>
                        <a:lstStyle/>
                        <a:p>
                          <a:endParaRPr lang="si-LK"/>
                        </a:p>
                      </a:txBody>
                      <a:tcPr/>
                    </a:tc>
                    <a:extLst>
                      <a:ext uri="{0D108BD9-81ED-4DB2-BD59-A6C34878D82A}">
                        <a16:rowId xmlns:a16="http://schemas.microsoft.com/office/drawing/2014/main" val="1399743854"/>
                      </a:ext>
                    </a:extLst>
                  </a:tr>
                  <a:tr h="370840">
                    <a:tc>
                      <a:txBody>
                        <a:bodyPr/>
                        <a:lstStyle/>
                        <a:p>
                          <a:r>
                            <a:rPr lang="en-US" dirty="0"/>
                            <a:t>F</a:t>
                          </a:r>
                          <a:endParaRPr lang="si-LK" dirty="0"/>
                        </a:p>
                      </a:txBody>
                      <a:tcPr/>
                    </a:tc>
                    <a:tc>
                      <a:txBody>
                        <a:bodyPr/>
                        <a:lstStyle/>
                        <a:p>
                          <a:r>
                            <a:rPr lang="en-US" dirty="0"/>
                            <a:t>T</a:t>
                          </a:r>
                          <a:endParaRPr lang="si-LK" dirty="0"/>
                        </a:p>
                      </a:txBody>
                      <a:tcPr/>
                    </a:tc>
                    <a:tc>
                      <a:txBody>
                        <a:bodyPr/>
                        <a:lstStyle/>
                        <a:p>
                          <a:r>
                            <a:rPr lang="en-US" dirty="0"/>
                            <a:t>F</a:t>
                          </a:r>
                          <a:endParaRPr lang="si-LK" dirty="0"/>
                        </a:p>
                      </a:txBody>
                      <a:tcPr/>
                    </a:tc>
                    <a:tc>
                      <a:txBody>
                        <a:bodyPr/>
                        <a:lstStyle/>
                        <a:p>
                          <a:endParaRPr lang="si-LK"/>
                        </a:p>
                      </a:txBody>
                      <a:tcPr/>
                    </a:tc>
                    <a:extLst>
                      <a:ext uri="{0D108BD9-81ED-4DB2-BD59-A6C34878D82A}">
                        <a16:rowId xmlns:a16="http://schemas.microsoft.com/office/drawing/2014/main" val="2032375431"/>
                      </a:ext>
                    </a:extLst>
                  </a:tr>
                  <a:tr h="370840">
                    <a:tc>
                      <a:txBody>
                        <a:bodyPr/>
                        <a:lstStyle/>
                        <a:p>
                          <a:r>
                            <a:rPr lang="en-US" dirty="0"/>
                            <a:t>F</a:t>
                          </a:r>
                          <a:endParaRPr lang="si-LK" dirty="0"/>
                        </a:p>
                      </a:txBody>
                      <a:tcPr/>
                    </a:tc>
                    <a:tc>
                      <a:txBody>
                        <a:bodyPr/>
                        <a:lstStyle/>
                        <a:p>
                          <a:r>
                            <a:rPr lang="en-US" dirty="0"/>
                            <a:t>F</a:t>
                          </a:r>
                          <a:endParaRPr lang="si-LK" dirty="0"/>
                        </a:p>
                      </a:txBody>
                      <a:tcPr/>
                    </a:tc>
                    <a:tc>
                      <a:txBody>
                        <a:bodyPr/>
                        <a:lstStyle/>
                        <a:p>
                          <a:r>
                            <a:rPr lang="en-US" dirty="0"/>
                            <a:t>F</a:t>
                          </a:r>
                          <a:endParaRPr lang="si-LK" dirty="0"/>
                        </a:p>
                      </a:txBody>
                      <a:tcPr/>
                    </a:tc>
                    <a:tc>
                      <a:txBody>
                        <a:bodyPr/>
                        <a:lstStyle/>
                        <a:p>
                          <a:endParaRPr lang="si-LK" dirty="0"/>
                        </a:p>
                      </a:txBody>
                      <a:tcPr/>
                    </a:tc>
                    <a:extLst>
                      <a:ext uri="{0D108BD9-81ED-4DB2-BD59-A6C34878D82A}">
                        <a16:rowId xmlns:a16="http://schemas.microsoft.com/office/drawing/2014/main" val="3760792583"/>
                      </a:ext>
                    </a:extLst>
                  </a:tr>
                </a:tbl>
              </a:graphicData>
            </a:graphic>
          </p:graphicFrame>
        </mc:Choice>
        <mc:Fallback xmlns="">
          <p:graphicFrame>
            <p:nvGraphicFramePr>
              <p:cNvPr id="7" name="Content Placeholder 6">
                <a:extLst>
                  <a:ext uri="{FF2B5EF4-FFF2-40B4-BE49-F238E27FC236}">
                    <a16:creationId xmlns:a16="http://schemas.microsoft.com/office/drawing/2014/main" id="{71B30AC2-858D-9913-01AF-1BE9299ED805}"/>
                  </a:ext>
                </a:extLst>
              </p:cNvPr>
              <p:cNvGraphicFramePr>
                <a:graphicFrameLocks noGrp="1"/>
              </p:cNvGraphicFramePr>
              <p:nvPr>
                <p:ph idx="1"/>
                <p:extLst>
                  <p:ext uri="{D42A27DB-BD31-4B8C-83A1-F6EECF244321}">
                    <p14:modId xmlns:p14="http://schemas.microsoft.com/office/powerpoint/2010/main" val="3915495909"/>
                  </p:ext>
                </p:extLst>
              </p:nvPr>
            </p:nvGraphicFramePr>
            <p:xfrm>
              <a:off x="457200" y="1676400"/>
              <a:ext cx="2971800" cy="1854200"/>
            </p:xfrm>
            <a:graphic>
              <a:graphicData uri="http://schemas.openxmlformats.org/drawingml/2006/table">
                <a:tbl>
                  <a:tblPr firstRow="1" bandRow="1">
                    <a:tableStyleId>{616DA210-FB5B-4158-B5E0-FEB733F419BA}</a:tableStyleId>
                  </a:tblPr>
                  <a:tblGrid>
                    <a:gridCol w="457200">
                      <a:extLst>
                        <a:ext uri="{9D8B030D-6E8A-4147-A177-3AD203B41FA5}">
                          <a16:colId xmlns:a16="http://schemas.microsoft.com/office/drawing/2014/main" val="222132253"/>
                        </a:ext>
                      </a:extLst>
                    </a:gridCol>
                    <a:gridCol w="457200">
                      <a:extLst>
                        <a:ext uri="{9D8B030D-6E8A-4147-A177-3AD203B41FA5}">
                          <a16:colId xmlns:a16="http://schemas.microsoft.com/office/drawing/2014/main" val="3117264722"/>
                        </a:ext>
                      </a:extLst>
                    </a:gridCol>
                    <a:gridCol w="609600">
                      <a:extLst>
                        <a:ext uri="{9D8B030D-6E8A-4147-A177-3AD203B41FA5}">
                          <a16:colId xmlns:a16="http://schemas.microsoft.com/office/drawing/2014/main" val="461210644"/>
                        </a:ext>
                      </a:extLst>
                    </a:gridCol>
                    <a:gridCol w="1447800">
                      <a:extLst>
                        <a:ext uri="{9D8B030D-6E8A-4147-A177-3AD203B41FA5}">
                          <a16:colId xmlns:a16="http://schemas.microsoft.com/office/drawing/2014/main" val="1463218978"/>
                        </a:ext>
                      </a:extLst>
                    </a:gridCol>
                  </a:tblGrid>
                  <a:tr h="370840">
                    <a:tc>
                      <a:txBody>
                        <a:bodyPr/>
                        <a:lstStyle/>
                        <a:p>
                          <a:r>
                            <a:rPr lang="en-US" dirty="0"/>
                            <a:t>p</a:t>
                          </a:r>
                          <a:endParaRPr lang="si-LK" dirty="0"/>
                        </a:p>
                      </a:txBody>
                      <a:tcPr/>
                    </a:tc>
                    <a:tc>
                      <a:txBody>
                        <a:bodyPr/>
                        <a:lstStyle/>
                        <a:p>
                          <a:r>
                            <a:rPr lang="en-US" dirty="0"/>
                            <a:t>q</a:t>
                          </a:r>
                          <a:endParaRPr lang="si-LK" dirty="0"/>
                        </a:p>
                      </a:txBody>
                      <a:tcPr/>
                    </a:tc>
                    <a:tc>
                      <a:txBody>
                        <a:bodyPr/>
                        <a:lstStyle/>
                        <a:p>
                          <a:r>
                            <a:rPr lang="en-US" sz="1800" b="0" i="0" u="none" strike="noStrike" baseline="0" dirty="0">
                              <a:solidFill>
                                <a:srgbClr val="000000"/>
                              </a:solidFill>
                              <a:latin typeface="CMSSI10"/>
                            </a:rPr>
                            <a:t>p </a:t>
                          </a:r>
                          <a:r>
                            <a:rPr lang="en-US" sz="1800" b="0" i="0" u="none" strike="noStrike" baseline="0" dirty="0">
                              <a:solidFill>
                                <a:srgbClr val="000000"/>
                              </a:solidFill>
                              <a:latin typeface="CMSY10"/>
                            </a:rPr>
                            <a:t>^</a:t>
                          </a:r>
                          <a:r>
                            <a:rPr lang="en-US" sz="1800" b="0" i="0" u="none" strike="noStrike" baseline="0" dirty="0">
                              <a:solidFill>
                                <a:srgbClr val="000000"/>
                              </a:solidFill>
                              <a:latin typeface="CMSSI10"/>
                            </a:rPr>
                            <a:t>q</a:t>
                          </a:r>
                          <a:endParaRPr lang="si-LK" dirty="0"/>
                        </a:p>
                      </a:txBody>
                      <a:tcPr/>
                    </a:tc>
                    <a:tc>
                      <a:txBody>
                        <a:bodyPr/>
                        <a:lstStyle/>
                        <a:p>
                          <a:endParaRPr lang="si-LK"/>
                        </a:p>
                      </a:txBody>
                      <a:tcPr>
                        <a:blipFill>
                          <a:blip r:embed="rId2"/>
                          <a:stretch>
                            <a:fillRect l="-105882" t="-8197" r="-1261" b="-422951"/>
                          </a:stretch>
                        </a:blipFill>
                      </a:tcPr>
                    </a:tc>
                    <a:extLst>
                      <a:ext uri="{0D108BD9-81ED-4DB2-BD59-A6C34878D82A}">
                        <a16:rowId xmlns:a16="http://schemas.microsoft.com/office/drawing/2014/main" val="24150986"/>
                      </a:ext>
                    </a:extLst>
                  </a:tr>
                  <a:tr h="370840">
                    <a:tc>
                      <a:txBody>
                        <a:bodyPr/>
                        <a:lstStyle/>
                        <a:p>
                          <a:r>
                            <a:rPr lang="en-US" dirty="0"/>
                            <a:t>T</a:t>
                          </a:r>
                          <a:endParaRPr lang="si-LK" dirty="0"/>
                        </a:p>
                      </a:txBody>
                      <a:tcPr/>
                    </a:tc>
                    <a:tc>
                      <a:txBody>
                        <a:bodyPr/>
                        <a:lstStyle/>
                        <a:p>
                          <a:r>
                            <a:rPr lang="en-US" dirty="0"/>
                            <a:t>T</a:t>
                          </a:r>
                          <a:endParaRPr lang="si-LK" dirty="0"/>
                        </a:p>
                      </a:txBody>
                      <a:tcPr/>
                    </a:tc>
                    <a:tc>
                      <a:txBody>
                        <a:bodyPr/>
                        <a:lstStyle/>
                        <a:p>
                          <a:r>
                            <a:rPr lang="en-US" dirty="0"/>
                            <a:t>T</a:t>
                          </a:r>
                          <a:endParaRPr lang="si-LK" dirty="0"/>
                        </a:p>
                      </a:txBody>
                      <a:tcPr/>
                    </a:tc>
                    <a:tc>
                      <a:txBody>
                        <a:bodyPr/>
                        <a:lstStyle/>
                        <a:p>
                          <a:endParaRPr lang="si-LK" dirty="0"/>
                        </a:p>
                      </a:txBody>
                      <a:tcPr/>
                    </a:tc>
                    <a:extLst>
                      <a:ext uri="{0D108BD9-81ED-4DB2-BD59-A6C34878D82A}">
                        <a16:rowId xmlns:a16="http://schemas.microsoft.com/office/drawing/2014/main" val="1439750254"/>
                      </a:ext>
                    </a:extLst>
                  </a:tr>
                  <a:tr h="370840">
                    <a:tc>
                      <a:txBody>
                        <a:bodyPr/>
                        <a:lstStyle/>
                        <a:p>
                          <a:r>
                            <a:rPr lang="en-US" dirty="0"/>
                            <a:t>T</a:t>
                          </a:r>
                          <a:endParaRPr lang="si-LK" dirty="0"/>
                        </a:p>
                      </a:txBody>
                      <a:tcPr/>
                    </a:tc>
                    <a:tc>
                      <a:txBody>
                        <a:bodyPr/>
                        <a:lstStyle/>
                        <a:p>
                          <a:r>
                            <a:rPr lang="en-US" dirty="0"/>
                            <a:t>F</a:t>
                          </a:r>
                          <a:endParaRPr lang="si-LK" dirty="0"/>
                        </a:p>
                      </a:txBody>
                      <a:tcPr/>
                    </a:tc>
                    <a:tc>
                      <a:txBody>
                        <a:bodyPr/>
                        <a:lstStyle/>
                        <a:p>
                          <a:r>
                            <a:rPr lang="en-US" dirty="0"/>
                            <a:t>F</a:t>
                          </a:r>
                          <a:endParaRPr lang="si-LK" dirty="0"/>
                        </a:p>
                      </a:txBody>
                      <a:tcPr/>
                    </a:tc>
                    <a:tc>
                      <a:txBody>
                        <a:bodyPr/>
                        <a:lstStyle/>
                        <a:p>
                          <a:endParaRPr lang="si-LK"/>
                        </a:p>
                      </a:txBody>
                      <a:tcPr/>
                    </a:tc>
                    <a:extLst>
                      <a:ext uri="{0D108BD9-81ED-4DB2-BD59-A6C34878D82A}">
                        <a16:rowId xmlns:a16="http://schemas.microsoft.com/office/drawing/2014/main" val="1399743854"/>
                      </a:ext>
                    </a:extLst>
                  </a:tr>
                  <a:tr h="370840">
                    <a:tc>
                      <a:txBody>
                        <a:bodyPr/>
                        <a:lstStyle/>
                        <a:p>
                          <a:r>
                            <a:rPr lang="en-US" dirty="0"/>
                            <a:t>F</a:t>
                          </a:r>
                          <a:endParaRPr lang="si-LK" dirty="0"/>
                        </a:p>
                      </a:txBody>
                      <a:tcPr/>
                    </a:tc>
                    <a:tc>
                      <a:txBody>
                        <a:bodyPr/>
                        <a:lstStyle/>
                        <a:p>
                          <a:r>
                            <a:rPr lang="en-US" dirty="0"/>
                            <a:t>T</a:t>
                          </a:r>
                          <a:endParaRPr lang="si-LK" dirty="0"/>
                        </a:p>
                      </a:txBody>
                      <a:tcPr/>
                    </a:tc>
                    <a:tc>
                      <a:txBody>
                        <a:bodyPr/>
                        <a:lstStyle/>
                        <a:p>
                          <a:r>
                            <a:rPr lang="en-US" dirty="0"/>
                            <a:t>F</a:t>
                          </a:r>
                          <a:endParaRPr lang="si-LK" dirty="0"/>
                        </a:p>
                      </a:txBody>
                      <a:tcPr/>
                    </a:tc>
                    <a:tc>
                      <a:txBody>
                        <a:bodyPr/>
                        <a:lstStyle/>
                        <a:p>
                          <a:endParaRPr lang="si-LK"/>
                        </a:p>
                      </a:txBody>
                      <a:tcPr/>
                    </a:tc>
                    <a:extLst>
                      <a:ext uri="{0D108BD9-81ED-4DB2-BD59-A6C34878D82A}">
                        <a16:rowId xmlns:a16="http://schemas.microsoft.com/office/drawing/2014/main" val="2032375431"/>
                      </a:ext>
                    </a:extLst>
                  </a:tr>
                  <a:tr h="370840">
                    <a:tc>
                      <a:txBody>
                        <a:bodyPr/>
                        <a:lstStyle/>
                        <a:p>
                          <a:r>
                            <a:rPr lang="en-US" dirty="0"/>
                            <a:t>F</a:t>
                          </a:r>
                          <a:endParaRPr lang="si-LK" dirty="0"/>
                        </a:p>
                      </a:txBody>
                      <a:tcPr/>
                    </a:tc>
                    <a:tc>
                      <a:txBody>
                        <a:bodyPr/>
                        <a:lstStyle/>
                        <a:p>
                          <a:r>
                            <a:rPr lang="en-US" dirty="0"/>
                            <a:t>F</a:t>
                          </a:r>
                          <a:endParaRPr lang="si-LK" dirty="0"/>
                        </a:p>
                      </a:txBody>
                      <a:tcPr/>
                    </a:tc>
                    <a:tc>
                      <a:txBody>
                        <a:bodyPr/>
                        <a:lstStyle/>
                        <a:p>
                          <a:r>
                            <a:rPr lang="en-US" dirty="0"/>
                            <a:t>F</a:t>
                          </a:r>
                          <a:endParaRPr lang="si-LK" dirty="0"/>
                        </a:p>
                      </a:txBody>
                      <a:tcPr/>
                    </a:tc>
                    <a:tc>
                      <a:txBody>
                        <a:bodyPr/>
                        <a:lstStyle/>
                        <a:p>
                          <a:endParaRPr lang="si-LK" dirty="0"/>
                        </a:p>
                      </a:txBody>
                      <a:tcPr/>
                    </a:tc>
                    <a:extLst>
                      <a:ext uri="{0D108BD9-81ED-4DB2-BD59-A6C34878D82A}">
                        <a16:rowId xmlns:a16="http://schemas.microsoft.com/office/drawing/2014/main" val="3760792583"/>
                      </a:ext>
                    </a:extLst>
                  </a:tr>
                </a:tbl>
              </a:graphicData>
            </a:graphic>
          </p:graphicFrame>
        </mc:Fallback>
      </mc:AlternateContent>
      <p:sp>
        <p:nvSpPr>
          <p:cNvPr id="4" name="Date Placeholder 3">
            <a:extLst>
              <a:ext uri="{FF2B5EF4-FFF2-40B4-BE49-F238E27FC236}">
                <a16:creationId xmlns:a16="http://schemas.microsoft.com/office/drawing/2014/main" id="{BB3CE301-2115-2E69-0EEF-555F27DB9BBA}"/>
              </a:ext>
            </a:extLst>
          </p:cNvPr>
          <p:cNvSpPr>
            <a:spLocks noGrp="1"/>
          </p:cNvSpPr>
          <p:nvPr>
            <p:ph type="dt" sz="half" idx="10"/>
          </p:nvPr>
        </p:nvSpPr>
        <p:spPr/>
        <p:txBody>
          <a:bodyPr/>
          <a:lstStyle/>
          <a:p>
            <a:fld id="{E98CA108-D513-4AB1-80C6-53EE16580D49}" type="datetime3">
              <a:rPr lang="en-US" smtClean="0"/>
              <a:t>27 April 2026</a:t>
            </a:fld>
            <a:endParaRPr lang="en-US"/>
          </a:p>
        </p:txBody>
      </p:sp>
      <p:sp>
        <p:nvSpPr>
          <p:cNvPr id="5" name="Footer Placeholder 4">
            <a:extLst>
              <a:ext uri="{FF2B5EF4-FFF2-40B4-BE49-F238E27FC236}">
                <a16:creationId xmlns:a16="http://schemas.microsoft.com/office/drawing/2014/main" id="{D6D365BB-EBB1-F270-78E6-F7542410585D}"/>
              </a:ext>
            </a:extLst>
          </p:cNvPr>
          <p:cNvSpPr>
            <a:spLocks noGrp="1"/>
          </p:cNvSpPr>
          <p:nvPr>
            <p:ph type="ftr" sz="quarter" idx="11"/>
          </p:nvPr>
        </p:nvSpPr>
        <p:spPr/>
        <p:txBody>
          <a:bodyPr/>
          <a:lstStyle/>
          <a:p>
            <a:r>
              <a:rPr lang="en-US"/>
              <a:t>SCS 1302   Discrete Mathematics 1       Prof. D D Karunaratna</a:t>
            </a:r>
          </a:p>
        </p:txBody>
      </p:sp>
      <p:sp>
        <p:nvSpPr>
          <p:cNvPr id="6" name="Slide Number Placeholder 5">
            <a:extLst>
              <a:ext uri="{FF2B5EF4-FFF2-40B4-BE49-F238E27FC236}">
                <a16:creationId xmlns:a16="http://schemas.microsoft.com/office/drawing/2014/main" id="{EA45740F-2037-CE77-689A-92F301CF8476}"/>
              </a:ext>
            </a:extLst>
          </p:cNvPr>
          <p:cNvSpPr>
            <a:spLocks noGrp="1"/>
          </p:cNvSpPr>
          <p:nvPr>
            <p:ph type="sldNum" sz="quarter" idx="12"/>
          </p:nvPr>
        </p:nvSpPr>
        <p:spPr/>
        <p:txBody>
          <a:bodyPr/>
          <a:lstStyle/>
          <a:p>
            <a:fld id="{0CA841A6-7C02-4C92-B6EE-5DBCC2AD53D0}" type="slidenum">
              <a:rPr lang="en-US" smtClean="0"/>
              <a:t>37</a:t>
            </a:fld>
            <a:endParaRPr lang="en-US"/>
          </a:p>
        </p:txBody>
      </p:sp>
    </p:spTree>
    <p:extLst>
      <p:ext uri="{BB962C8B-B14F-4D97-AF65-F5344CB8AC3E}">
        <p14:creationId xmlns:p14="http://schemas.microsoft.com/office/powerpoint/2010/main" val="148758617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F629B9-49E5-DAFA-7B9D-D2FF195F08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E77D6B-99BB-EB2F-E440-733278F2A35B}"/>
              </a:ext>
            </a:extLst>
          </p:cNvPr>
          <p:cNvSpPr>
            <a:spLocks noGrp="1"/>
          </p:cNvSpPr>
          <p:nvPr>
            <p:ph type="title"/>
          </p:nvPr>
        </p:nvSpPr>
        <p:spPr/>
        <p:txBody>
          <a:bodyPr/>
          <a:lstStyle/>
          <a:p>
            <a:r>
              <a:rPr lang="en-US" dirty="0"/>
              <a:t>Example</a:t>
            </a:r>
            <a:endParaRPr lang="si-LK" dirty="0"/>
          </a:p>
        </p:txBody>
      </p:sp>
      <mc:AlternateContent xmlns:mc="http://schemas.openxmlformats.org/markup-compatibility/2006" xmlns:a14="http://schemas.microsoft.com/office/drawing/2010/main">
        <mc:Choice Requires="a14">
          <p:graphicFrame>
            <p:nvGraphicFramePr>
              <p:cNvPr id="7" name="Content Placeholder 6">
                <a:extLst>
                  <a:ext uri="{FF2B5EF4-FFF2-40B4-BE49-F238E27FC236}">
                    <a16:creationId xmlns:a16="http://schemas.microsoft.com/office/drawing/2014/main" id="{A5802E33-725F-02D4-0E19-563E29CBA5F3}"/>
                  </a:ext>
                </a:extLst>
              </p:cNvPr>
              <p:cNvGraphicFramePr>
                <a:graphicFrameLocks noGrp="1"/>
              </p:cNvGraphicFramePr>
              <p:nvPr>
                <p:ph idx="1"/>
                <p:extLst>
                  <p:ext uri="{D42A27DB-BD31-4B8C-83A1-F6EECF244321}">
                    <p14:modId xmlns:p14="http://schemas.microsoft.com/office/powerpoint/2010/main" val="3010554468"/>
                  </p:ext>
                </p:extLst>
              </p:nvPr>
            </p:nvGraphicFramePr>
            <p:xfrm>
              <a:off x="457200" y="1676400"/>
              <a:ext cx="2971800" cy="1854200"/>
            </p:xfrm>
            <a:graphic>
              <a:graphicData uri="http://schemas.openxmlformats.org/drawingml/2006/table">
                <a:tbl>
                  <a:tblPr firstRow="1" bandRow="1">
                    <a:tableStyleId>{616DA210-FB5B-4158-B5E0-FEB733F419BA}</a:tableStyleId>
                  </a:tblPr>
                  <a:tblGrid>
                    <a:gridCol w="457200">
                      <a:extLst>
                        <a:ext uri="{9D8B030D-6E8A-4147-A177-3AD203B41FA5}">
                          <a16:colId xmlns:a16="http://schemas.microsoft.com/office/drawing/2014/main" val="222132253"/>
                        </a:ext>
                      </a:extLst>
                    </a:gridCol>
                    <a:gridCol w="457200">
                      <a:extLst>
                        <a:ext uri="{9D8B030D-6E8A-4147-A177-3AD203B41FA5}">
                          <a16:colId xmlns:a16="http://schemas.microsoft.com/office/drawing/2014/main" val="3117264722"/>
                        </a:ext>
                      </a:extLst>
                    </a:gridCol>
                    <a:gridCol w="609600">
                      <a:extLst>
                        <a:ext uri="{9D8B030D-6E8A-4147-A177-3AD203B41FA5}">
                          <a16:colId xmlns:a16="http://schemas.microsoft.com/office/drawing/2014/main" val="461210644"/>
                        </a:ext>
                      </a:extLst>
                    </a:gridCol>
                    <a:gridCol w="1447800">
                      <a:extLst>
                        <a:ext uri="{9D8B030D-6E8A-4147-A177-3AD203B41FA5}">
                          <a16:colId xmlns:a16="http://schemas.microsoft.com/office/drawing/2014/main" val="1463218978"/>
                        </a:ext>
                      </a:extLst>
                    </a:gridCol>
                  </a:tblGrid>
                  <a:tr h="370840">
                    <a:tc>
                      <a:txBody>
                        <a:bodyPr/>
                        <a:lstStyle/>
                        <a:p>
                          <a:r>
                            <a:rPr lang="en-US" dirty="0">
                              <a:highlight>
                                <a:srgbClr val="FF0000"/>
                              </a:highlight>
                            </a:rPr>
                            <a:t>p</a:t>
                          </a:r>
                          <a:endParaRPr lang="si-LK" dirty="0">
                            <a:highlight>
                              <a:srgbClr val="FF0000"/>
                            </a:highlight>
                          </a:endParaRPr>
                        </a:p>
                      </a:txBody>
                      <a:tcPr/>
                    </a:tc>
                    <a:tc>
                      <a:txBody>
                        <a:bodyPr/>
                        <a:lstStyle/>
                        <a:p>
                          <a:r>
                            <a:rPr lang="en-US" dirty="0"/>
                            <a:t>q</a:t>
                          </a:r>
                          <a:endParaRPr lang="si-LK" dirty="0"/>
                        </a:p>
                      </a:txBody>
                      <a:tcPr/>
                    </a:tc>
                    <a:tc>
                      <a:txBody>
                        <a:bodyPr/>
                        <a:lstStyle/>
                        <a:p>
                          <a:r>
                            <a:rPr lang="en-US" sz="1800" b="0" i="0" u="none" strike="noStrike" baseline="0" dirty="0">
                              <a:solidFill>
                                <a:srgbClr val="000000"/>
                              </a:solidFill>
                              <a:highlight>
                                <a:srgbClr val="FF0000"/>
                              </a:highlight>
                              <a:latin typeface="CMSSI10"/>
                            </a:rPr>
                            <a:t>p </a:t>
                          </a:r>
                          <a:r>
                            <a:rPr lang="en-US" sz="1800" b="0" i="0" u="none" strike="noStrike" baseline="0" dirty="0">
                              <a:solidFill>
                                <a:srgbClr val="000000"/>
                              </a:solidFill>
                              <a:highlight>
                                <a:srgbClr val="FF0000"/>
                              </a:highlight>
                              <a:latin typeface="CMSY10"/>
                            </a:rPr>
                            <a:t>^</a:t>
                          </a:r>
                          <a:r>
                            <a:rPr lang="en-US" sz="1800" b="0" i="0" u="none" strike="noStrike" baseline="0" dirty="0">
                              <a:solidFill>
                                <a:srgbClr val="000000"/>
                              </a:solidFill>
                              <a:highlight>
                                <a:srgbClr val="FF0000"/>
                              </a:highlight>
                              <a:latin typeface="CMSSI10"/>
                            </a:rPr>
                            <a:t>q</a:t>
                          </a:r>
                          <a:endParaRPr lang="si-LK" dirty="0">
                            <a:highlight>
                              <a:srgbClr val="FF0000"/>
                            </a:highlight>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u="none" strike="noStrike" baseline="0" dirty="0">
                              <a:solidFill>
                                <a:srgbClr val="000000"/>
                              </a:solidFill>
                              <a:latin typeface="CMSS10"/>
                            </a:rPr>
                            <a:t>(</a:t>
                          </a:r>
                          <a:r>
                            <a:rPr lang="en-US" sz="1800" b="0" i="0" u="none" strike="noStrike" baseline="0" dirty="0">
                              <a:solidFill>
                                <a:srgbClr val="000000"/>
                              </a:solidFill>
                              <a:latin typeface="CMSSI10"/>
                            </a:rPr>
                            <a:t>p </a:t>
                          </a:r>
                          <a:r>
                            <a:rPr lang="en-US" sz="1800" b="0" i="0" u="none" strike="noStrike" baseline="0" dirty="0">
                              <a:solidFill>
                                <a:srgbClr val="000000"/>
                              </a:solidFill>
                              <a:latin typeface="CMSY10"/>
                            </a:rPr>
                            <a:t>^</a:t>
                          </a:r>
                          <a:r>
                            <a:rPr lang="en-US" sz="1800" b="0" i="0" u="none" strike="noStrike" baseline="0" dirty="0">
                              <a:solidFill>
                                <a:srgbClr val="000000"/>
                              </a:solidFill>
                              <a:latin typeface="CMSSI10"/>
                            </a:rPr>
                            <a:t>q</a:t>
                          </a:r>
                          <a:r>
                            <a:rPr lang="en-US" sz="1800" b="0" i="0" u="none" strike="noStrike" baseline="0" dirty="0">
                              <a:solidFill>
                                <a:srgbClr val="000000"/>
                              </a:solidFill>
                              <a:latin typeface="CMSS10"/>
                            </a:rPr>
                            <a:t>)</a:t>
                          </a:r>
                          <a:r>
                            <a:rPr lang="en-US" sz="1800" dirty="0">
                              <a:solidFill>
                                <a:srgbClr val="000000"/>
                              </a:solidFill>
                              <a:latin typeface="CMSY10"/>
                            </a:rPr>
                            <a:t> </a:t>
                          </a:r>
                          <a14:m>
                            <m:oMath xmlns:m="http://schemas.openxmlformats.org/officeDocument/2006/math">
                              <m:r>
                                <a:rPr lang="en-GB" sz="1800" b="1" i="1" smtClean="0">
                                  <a:latin typeface="Cambria Math" panose="02040503050406030204" pitchFamily="18" charset="0"/>
                                  <a:ea typeface="Cambria Math" panose="02040503050406030204" pitchFamily="18" charset="0"/>
                                </a:rPr>
                                <m:t>→</m:t>
                              </m:r>
                            </m:oMath>
                          </a14:m>
                          <a:r>
                            <a:rPr lang="en-US" sz="1800" dirty="0">
                              <a:solidFill>
                                <a:srgbClr val="000000"/>
                              </a:solidFill>
                              <a:latin typeface="CMSY10"/>
                            </a:rPr>
                            <a:t> </a:t>
                          </a:r>
                          <a:r>
                            <a:rPr lang="en-US" sz="1800" b="0" i="0" u="none" strike="noStrike" baseline="0" dirty="0">
                              <a:solidFill>
                                <a:srgbClr val="000000"/>
                              </a:solidFill>
                              <a:latin typeface="CMSSI10"/>
                            </a:rPr>
                            <a:t>p</a:t>
                          </a:r>
                          <a:r>
                            <a:rPr lang="en-US" sz="1800" b="0" i="0" u="none" strike="noStrike" baseline="0" dirty="0">
                              <a:solidFill>
                                <a:srgbClr val="000000"/>
                              </a:solidFill>
                              <a:latin typeface="CMSS10"/>
                            </a:rPr>
                            <a:t>.</a:t>
                          </a:r>
                        </a:p>
                      </a:txBody>
                      <a:tcPr/>
                    </a:tc>
                    <a:extLst>
                      <a:ext uri="{0D108BD9-81ED-4DB2-BD59-A6C34878D82A}">
                        <a16:rowId xmlns:a16="http://schemas.microsoft.com/office/drawing/2014/main" val="24150986"/>
                      </a:ext>
                    </a:extLst>
                  </a:tr>
                  <a:tr h="370840">
                    <a:tc>
                      <a:txBody>
                        <a:bodyPr/>
                        <a:lstStyle/>
                        <a:p>
                          <a:r>
                            <a:rPr lang="en-US" dirty="0">
                              <a:highlight>
                                <a:srgbClr val="FF0000"/>
                              </a:highlight>
                            </a:rPr>
                            <a:t>T</a:t>
                          </a:r>
                          <a:endParaRPr lang="si-LK" dirty="0">
                            <a:highlight>
                              <a:srgbClr val="FF0000"/>
                            </a:highlight>
                          </a:endParaRPr>
                        </a:p>
                      </a:txBody>
                      <a:tcPr/>
                    </a:tc>
                    <a:tc>
                      <a:txBody>
                        <a:bodyPr/>
                        <a:lstStyle/>
                        <a:p>
                          <a:r>
                            <a:rPr lang="en-US" dirty="0"/>
                            <a:t>T</a:t>
                          </a:r>
                          <a:endParaRPr lang="si-LK" dirty="0"/>
                        </a:p>
                      </a:txBody>
                      <a:tcPr/>
                    </a:tc>
                    <a:tc>
                      <a:txBody>
                        <a:bodyPr/>
                        <a:lstStyle/>
                        <a:p>
                          <a:r>
                            <a:rPr lang="en-US" dirty="0">
                              <a:highlight>
                                <a:srgbClr val="FF0000"/>
                              </a:highlight>
                            </a:rPr>
                            <a:t>T</a:t>
                          </a:r>
                          <a:endParaRPr lang="si-LK" dirty="0">
                            <a:highlight>
                              <a:srgbClr val="FF0000"/>
                            </a:highlight>
                          </a:endParaRPr>
                        </a:p>
                      </a:txBody>
                      <a:tcPr/>
                    </a:tc>
                    <a:tc>
                      <a:txBody>
                        <a:bodyPr/>
                        <a:lstStyle/>
                        <a:p>
                          <a:r>
                            <a:rPr lang="en-US" dirty="0"/>
                            <a:t>T</a:t>
                          </a:r>
                          <a:endParaRPr lang="si-LK" dirty="0"/>
                        </a:p>
                      </a:txBody>
                      <a:tcPr/>
                    </a:tc>
                    <a:extLst>
                      <a:ext uri="{0D108BD9-81ED-4DB2-BD59-A6C34878D82A}">
                        <a16:rowId xmlns:a16="http://schemas.microsoft.com/office/drawing/2014/main" val="1439750254"/>
                      </a:ext>
                    </a:extLst>
                  </a:tr>
                  <a:tr h="370840">
                    <a:tc>
                      <a:txBody>
                        <a:bodyPr/>
                        <a:lstStyle/>
                        <a:p>
                          <a:r>
                            <a:rPr lang="en-US" dirty="0">
                              <a:highlight>
                                <a:srgbClr val="FF0000"/>
                              </a:highlight>
                            </a:rPr>
                            <a:t>T</a:t>
                          </a:r>
                          <a:endParaRPr lang="si-LK" dirty="0">
                            <a:highlight>
                              <a:srgbClr val="FF0000"/>
                            </a:highlight>
                          </a:endParaRPr>
                        </a:p>
                      </a:txBody>
                      <a:tcPr/>
                    </a:tc>
                    <a:tc>
                      <a:txBody>
                        <a:bodyPr/>
                        <a:lstStyle/>
                        <a:p>
                          <a:r>
                            <a:rPr lang="en-US" dirty="0"/>
                            <a:t>F</a:t>
                          </a:r>
                          <a:endParaRPr lang="si-LK" dirty="0"/>
                        </a:p>
                      </a:txBody>
                      <a:tcPr/>
                    </a:tc>
                    <a:tc>
                      <a:txBody>
                        <a:bodyPr/>
                        <a:lstStyle/>
                        <a:p>
                          <a:r>
                            <a:rPr lang="en-US" dirty="0">
                              <a:highlight>
                                <a:srgbClr val="FF0000"/>
                              </a:highlight>
                            </a:rPr>
                            <a:t>F</a:t>
                          </a:r>
                          <a:endParaRPr lang="si-LK" dirty="0">
                            <a:highlight>
                              <a:srgbClr val="FF0000"/>
                            </a:highlight>
                          </a:endParaRPr>
                        </a:p>
                      </a:txBody>
                      <a:tcPr/>
                    </a:tc>
                    <a:tc>
                      <a:txBody>
                        <a:bodyPr/>
                        <a:lstStyle/>
                        <a:p>
                          <a:r>
                            <a:rPr lang="en-US" dirty="0"/>
                            <a:t>T</a:t>
                          </a:r>
                          <a:endParaRPr lang="si-LK" dirty="0"/>
                        </a:p>
                      </a:txBody>
                      <a:tcPr/>
                    </a:tc>
                    <a:extLst>
                      <a:ext uri="{0D108BD9-81ED-4DB2-BD59-A6C34878D82A}">
                        <a16:rowId xmlns:a16="http://schemas.microsoft.com/office/drawing/2014/main" val="1399743854"/>
                      </a:ext>
                    </a:extLst>
                  </a:tr>
                  <a:tr h="370840">
                    <a:tc>
                      <a:txBody>
                        <a:bodyPr/>
                        <a:lstStyle/>
                        <a:p>
                          <a:r>
                            <a:rPr lang="en-US" dirty="0">
                              <a:highlight>
                                <a:srgbClr val="FF0000"/>
                              </a:highlight>
                            </a:rPr>
                            <a:t>F</a:t>
                          </a:r>
                          <a:endParaRPr lang="si-LK" dirty="0">
                            <a:highlight>
                              <a:srgbClr val="FF0000"/>
                            </a:highlight>
                          </a:endParaRPr>
                        </a:p>
                      </a:txBody>
                      <a:tcPr/>
                    </a:tc>
                    <a:tc>
                      <a:txBody>
                        <a:bodyPr/>
                        <a:lstStyle/>
                        <a:p>
                          <a:r>
                            <a:rPr lang="en-US" dirty="0"/>
                            <a:t>T</a:t>
                          </a:r>
                          <a:endParaRPr lang="si-LK" dirty="0"/>
                        </a:p>
                      </a:txBody>
                      <a:tcPr/>
                    </a:tc>
                    <a:tc>
                      <a:txBody>
                        <a:bodyPr/>
                        <a:lstStyle/>
                        <a:p>
                          <a:r>
                            <a:rPr lang="en-US" dirty="0">
                              <a:highlight>
                                <a:srgbClr val="FF0000"/>
                              </a:highlight>
                            </a:rPr>
                            <a:t>F</a:t>
                          </a:r>
                          <a:endParaRPr lang="si-LK" dirty="0">
                            <a:highlight>
                              <a:srgbClr val="FF0000"/>
                            </a:highlight>
                          </a:endParaRPr>
                        </a:p>
                      </a:txBody>
                      <a:tcPr/>
                    </a:tc>
                    <a:tc>
                      <a:txBody>
                        <a:bodyPr/>
                        <a:lstStyle/>
                        <a:p>
                          <a:r>
                            <a:rPr lang="en-US" dirty="0"/>
                            <a:t>T</a:t>
                          </a:r>
                          <a:endParaRPr lang="si-LK" dirty="0"/>
                        </a:p>
                      </a:txBody>
                      <a:tcPr/>
                    </a:tc>
                    <a:extLst>
                      <a:ext uri="{0D108BD9-81ED-4DB2-BD59-A6C34878D82A}">
                        <a16:rowId xmlns:a16="http://schemas.microsoft.com/office/drawing/2014/main" val="2032375431"/>
                      </a:ext>
                    </a:extLst>
                  </a:tr>
                  <a:tr h="370840">
                    <a:tc>
                      <a:txBody>
                        <a:bodyPr/>
                        <a:lstStyle/>
                        <a:p>
                          <a:r>
                            <a:rPr lang="en-US" dirty="0">
                              <a:highlight>
                                <a:srgbClr val="FF0000"/>
                              </a:highlight>
                            </a:rPr>
                            <a:t>F</a:t>
                          </a:r>
                          <a:endParaRPr lang="si-LK" dirty="0">
                            <a:highlight>
                              <a:srgbClr val="FF0000"/>
                            </a:highlight>
                          </a:endParaRPr>
                        </a:p>
                      </a:txBody>
                      <a:tcPr/>
                    </a:tc>
                    <a:tc>
                      <a:txBody>
                        <a:bodyPr/>
                        <a:lstStyle/>
                        <a:p>
                          <a:r>
                            <a:rPr lang="en-US" dirty="0"/>
                            <a:t>F</a:t>
                          </a:r>
                          <a:endParaRPr lang="si-LK" dirty="0"/>
                        </a:p>
                      </a:txBody>
                      <a:tcPr/>
                    </a:tc>
                    <a:tc>
                      <a:txBody>
                        <a:bodyPr/>
                        <a:lstStyle/>
                        <a:p>
                          <a:r>
                            <a:rPr lang="en-US" dirty="0">
                              <a:highlight>
                                <a:srgbClr val="FF0000"/>
                              </a:highlight>
                            </a:rPr>
                            <a:t>F</a:t>
                          </a:r>
                          <a:endParaRPr lang="si-LK" dirty="0">
                            <a:highlight>
                              <a:srgbClr val="FF0000"/>
                            </a:highlight>
                          </a:endParaRPr>
                        </a:p>
                      </a:txBody>
                      <a:tcPr/>
                    </a:tc>
                    <a:tc>
                      <a:txBody>
                        <a:bodyPr/>
                        <a:lstStyle/>
                        <a:p>
                          <a:r>
                            <a:rPr lang="en-US" dirty="0"/>
                            <a:t>T</a:t>
                          </a:r>
                          <a:endParaRPr lang="si-LK" dirty="0"/>
                        </a:p>
                      </a:txBody>
                      <a:tcPr/>
                    </a:tc>
                    <a:extLst>
                      <a:ext uri="{0D108BD9-81ED-4DB2-BD59-A6C34878D82A}">
                        <a16:rowId xmlns:a16="http://schemas.microsoft.com/office/drawing/2014/main" val="3760792583"/>
                      </a:ext>
                    </a:extLst>
                  </a:tr>
                </a:tbl>
              </a:graphicData>
            </a:graphic>
          </p:graphicFrame>
        </mc:Choice>
        <mc:Fallback xmlns="">
          <p:graphicFrame>
            <p:nvGraphicFramePr>
              <p:cNvPr id="7" name="Content Placeholder 6">
                <a:extLst>
                  <a:ext uri="{FF2B5EF4-FFF2-40B4-BE49-F238E27FC236}">
                    <a16:creationId xmlns:a16="http://schemas.microsoft.com/office/drawing/2014/main" id="{A5802E33-725F-02D4-0E19-563E29CBA5F3}"/>
                  </a:ext>
                </a:extLst>
              </p:cNvPr>
              <p:cNvGraphicFramePr>
                <a:graphicFrameLocks noGrp="1"/>
              </p:cNvGraphicFramePr>
              <p:nvPr>
                <p:ph idx="1"/>
                <p:extLst>
                  <p:ext uri="{D42A27DB-BD31-4B8C-83A1-F6EECF244321}">
                    <p14:modId xmlns:p14="http://schemas.microsoft.com/office/powerpoint/2010/main" val="3010554468"/>
                  </p:ext>
                </p:extLst>
              </p:nvPr>
            </p:nvGraphicFramePr>
            <p:xfrm>
              <a:off x="457200" y="1676400"/>
              <a:ext cx="2971800" cy="1854200"/>
            </p:xfrm>
            <a:graphic>
              <a:graphicData uri="http://schemas.openxmlformats.org/drawingml/2006/table">
                <a:tbl>
                  <a:tblPr firstRow="1" bandRow="1">
                    <a:tableStyleId>{616DA210-FB5B-4158-B5E0-FEB733F419BA}</a:tableStyleId>
                  </a:tblPr>
                  <a:tblGrid>
                    <a:gridCol w="457200">
                      <a:extLst>
                        <a:ext uri="{9D8B030D-6E8A-4147-A177-3AD203B41FA5}">
                          <a16:colId xmlns:a16="http://schemas.microsoft.com/office/drawing/2014/main" val="222132253"/>
                        </a:ext>
                      </a:extLst>
                    </a:gridCol>
                    <a:gridCol w="457200">
                      <a:extLst>
                        <a:ext uri="{9D8B030D-6E8A-4147-A177-3AD203B41FA5}">
                          <a16:colId xmlns:a16="http://schemas.microsoft.com/office/drawing/2014/main" val="3117264722"/>
                        </a:ext>
                      </a:extLst>
                    </a:gridCol>
                    <a:gridCol w="609600">
                      <a:extLst>
                        <a:ext uri="{9D8B030D-6E8A-4147-A177-3AD203B41FA5}">
                          <a16:colId xmlns:a16="http://schemas.microsoft.com/office/drawing/2014/main" val="461210644"/>
                        </a:ext>
                      </a:extLst>
                    </a:gridCol>
                    <a:gridCol w="1447800">
                      <a:extLst>
                        <a:ext uri="{9D8B030D-6E8A-4147-A177-3AD203B41FA5}">
                          <a16:colId xmlns:a16="http://schemas.microsoft.com/office/drawing/2014/main" val="1463218978"/>
                        </a:ext>
                      </a:extLst>
                    </a:gridCol>
                  </a:tblGrid>
                  <a:tr h="370840">
                    <a:tc>
                      <a:txBody>
                        <a:bodyPr/>
                        <a:lstStyle/>
                        <a:p>
                          <a:r>
                            <a:rPr lang="en-US" dirty="0">
                              <a:highlight>
                                <a:srgbClr val="FF0000"/>
                              </a:highlight>
                            </a:rPr>
                            <a:t>p</a:t>
                          </a:r>
                          <a:endParaRPr lang="si-LK" dirty="0">
                            <a:highlight>
                              <a:srgbClr val="FF0000"/>
                            </a:highlight>
                          </a:endParaRPr>
                        </a:p>
                      </a:txBody>
                      <a:tcPr/>
                    </a:tc>
                    <a:tc>
                      <a:txBody>
                        <a:bodyPr/>
                        <a:lstStyle/>
                        <a:p>
                          <a:r>
                            <a:rPr lang="en-US" dirty="0"/>
                            <a:t>q</a:t>
                          </a:r>
                          <a:endParaRPr lang="si-LK" dirty="0"/>
                        </a:p>
                      </a:txBody>
                      <a:tcPr/>
                    </a:tc>
                    <a:tc>
                      <a:txBody>
                        <a:bodyPr/>
                        <a:lstStyle/>
                        <a:p>
                          <a:r>
                            <a:rPr lang="en-US" sz="1800" b="0" i="0" u="none" strike="noStrike" baseline="0" dirty="0">
                              <a:solidFill>
                                <a:srgbClr val="000000"/>
                              </a:solidFill>
                              <a:highlight>
                                <a:srgbClr val="FF0000"/>
                              </a:highlight>
                              <a:latin typeface="CMSSI10"/>
                            </a:rPr>
                            <a:t>p </a:t>
                          </a:r>
                          <a:r>
                            <a:rPr lang="en-US" sz="1800" b="0" i="0" u="none" strike="noStrike" baseline="0" dirty="0">
                              <a:solidFill>
                                <a:srgbClr val="000000"/>
                              </a:solidFill>
                              <a:highlight>
                                <a:srgbClr val="FF0000"/>
                              </a:highlight>
                              <a:latin typeface="CMSY10"/>
                            </a:rPr>
                            <a:t>^</a:t>
                          </a:r>
                          <a:r>
                            <a:rPr lang="en-US" sz="1800" b="0" i="0" u="none" strike="noStrike" baseline="0" dirty="0">
                              <a:solidFill>
                                <a:srgbClr val="000000"/>
                              </a:solidFill>
                              <a:highlight>
                                <a:srgbClr val="FF0000"/>
                              </a:highlight>
                              <a:latin typeface="CMSSI10"/>
                            </a:rPr>
                            <a:t>q</a:t>
                          </a:r>
                          <a:endParaRPr lang="si-LK" dirty="0">
                            <a:highlight>
                              <a:srgbClr val="FF0000"/>
                            </a:highlight>
                          </a:endParaRPr>
                        </a:p>
                      </a:txBody>
                      <a:tcPr/>
                    </a:tc>
                    <a:tc>
                      <a:txBody>
                        <a:bodyPr/>
                        <a:lstStyle/>
                        <a:p>
                          <a:endParaRPr lang="si-LK"/>
                        </a:p>
                      </a:txBody>
                      <a:tcPr>
                        <a:blipFill>
                          <a:blip r:embed="rId2"/>
                          <a:stretch>
                            <a:fillRect l="-105882" t="-8197" r="-1261" b="-422951"/>
                          </a:stretch>
                        </a:blipFill>
                      </a:tcPr>
                    </a:tc>
                    <a:extLst>
                      <a:ext uri="{0D108BD9-81ED-4DB2-BD59-A6C34878D82A}">
                        <a16:rowId xmlns:a16="http://schemas.microsoft.com/office/drawing/2014/main" val="24150986"/>
                      </a:ext>
                    </a:extLst>
                  </a:tr>
                  <a:tr h="370840">
                    <a:tc>
                      <a:txBody>
                        <a:bodyPr/>
                        <a:lstStyle/>
                        <a:p>
                          <a:r>
                            <a:rPr lang="en-US" dirty="0">
                              <a:highlight>
                                <a:srgbClr val="FF0000"/>
                              </a:highlight>
                            </a:rPr>
                            <a:t>T</a:t>
                          </a:r>
                          <a:endParaRPr lang="si-LK" dirty="0">
                            <a:highlight>
                              <a:srgbClr val="FF0000"/>
                            </a:highlight>
                          </a:endParaRPr>
                        </a:p>
                      </a:txBody>
                      <a:tcPr/>
                    </a:tc>
                    <a:tc>
                      <a:txBody>
                        <a:bodyPr/>
                        <a:lstStyle/>
                        <a:p>
                          <a:r>
                            <a:rPr lang="en-US" dirty="0"/>
                            <a:t>T</a:t>
                          </a:r>
                          <a:endParaRPr lang="si-LK" dirty="0"/>
                        </a:p>
                      </a:txBody>
                      <a:tcPr/>
                    </a:tc>
                    <a:tc>
                      <a:txBody>
                        <a:bodyPr/>
                        <a:lstStyle/>
                        <a:p>
                          <a:r>
                            <a:rPr lang="en-US" dirty="0">
                              <a:highlight>
                                <a:srgbClr val="FF0000"/>
                              </a:highlight>
                            </a:rPr>
                            <a:t>T</a:t>
                          </a:r>
                          <a:endParaRPr lang="si-LK" dirty="0">
                            <a:highlight>
                              <a:srgbClr val="FF0000"/>
                            </a:highlight>
                          </a:endParaRPr>
                        </a:p>
                      </a:txBody>
                      <a:tcPr/>
                    </a:tc>
                    <a:tc>
                      <a:txBody>
                        <a:bodyPr/>
                        <a:lstStyle/>
                        <a:p>
                          <a:r>
                            <a:rPr lang="en-US" dirty="0"/>
                            <a:t>T</a:t>
                          </a:r>
                          <a:endParaRPr lang="si-LK" dirty="0"/>
                        </a:p>
                      </a:txBody>
                      <a:tcPr/>
                    </a:tc>
                    <a:extLst>
                      <a:ext uri="{0D108BD9-81ED-4DB2-BD59-A6C34878D82A}">
                        <a16:rowId xmlns:a16="http://schemas.microsoft.com/office/drawing/2014/main" val="1439750254"/>
                      </a:ext>
                    </a:extLst>
                  </a:tr>
                  <a:tr h="370840">
                    <a:tc>
                      <a:txBody>
                        <a:bodyPr/>
                        <a:lstStyle/>
                        <a:p>
                          <a:r>
                            <a:rPr lang="en-US" dirty="0">
                              <a:highlight>
                                <a:srgbClr val="FF0000"/>
                              </a:highlight>
                            </a:rPr>
                            <a:t>T</a:t>
                          </a:r>
                          <a:endParaRPr lang="si-LK" dirty="0">
                            <a:highlight>
                              <a:srgbClr val="FF0000"/>
                            </a:highlight>
                          </a:endParaRPr>
                        </a:p>
                      </a:txBody>
                      <a:tcPr/>
                    </a:tc>
                    <a:tc>
                      <a:txBody>
                        <a:bodyPr/>
                        <a:lstStyle/>
                        <a:p>
                          <a:r>
                            <a:rPr lang="en-US" dirty="0"/>
                            <a:t>F</a:t>
                          </a:r>
                          <a:endParaRPr lang="si-LK" dirty="0"/>
                        </a:p>
                      </a:txBody>
                      <a:tcPr/>
                    </a:tc>
                    <a:tc>
                      <a:txBody>
                        <a:bodyPr/>
                        <a:lstStyle/>
                        <a:p>
                          <a:r>
                            <a:rPr lang="en-US" dirty="0">
                              <a:highlight>
                                <a:srgbClr val="FF0000"/>
                              </a:highlight>
                            </a:rPr>
                            <a:t>F</a:t>
                          </a:r>
                          <a:endParaRPr lang="si-LK" dirty="0">
                            <a:highlight>
                              <a:srgbClr val="FF0000"/>
                            </a:highlight>
                          </a:endParaRPr>
                        </a:p>
                      </a:txBody>
                      <a:tcPr/>
                    </a:tc>
                    <a:tc>
                      <a:txBody>
                        <a:bodyPr/>
                        <a:lstStyle/>
                        <a:p>
                          <a:r>
                            <a:rPr lang="en-US" dirty="0"/>
                            <a:t>T</a:t>
                          </a:r>
                          <a:endParaRPr lang="si-LK" dirty="0"/>
                        </a:p>
                      </a:txBody>
                      <a:tcPr/>
                    </a:tc>
                    <a:extLst>
                      <a:ext uri="{0D108BD9-81ED-4DB2-BD59-A6C34878D82A}">
                        <a16:rowId xmlns:a16="http://schemas.microsoft.com/office/drawing/2014/main" val="1399743854"/>
                      </a:ext>
                    </a:extLst>
                  </a:tr>
                  <a:tr h="370840">
                    <a:tc>
                      <a:txBody>
                        <a:bodyPr/>
                        <a:lstStyle/>
                        <a:p>
                          <a:r>
                            <a:rPr lang="en-US" dirty="0">
                              <a:highlight>
                                <a:srgbClr val="FF0000"/>
                              </a:highlight>
                            </a:rPr>
                            <a:t>F</a:t>
                          </a:r>
                          <a:endParaRPr lang="si-LK" dirty="0">
                            <a:highlight>
                              <a:srgbClr val="FF0000"/>
                            </a:highlight>
                          </a:endParaRPr>
                        </a:p>
                      </a:txBody>
                      <a:tcPr/>
                    </a:tc>
                    <a:tc>
                      <a:txBody>
                        <a:bodyPr/>
                        <a:lstStyle/>
                        <a:p>
                          <a:r>
                            <a:rPr lang="en-US" dirty="0"/>
                            <a:t>T</a:t>
                          </a:r>
                          <a:endParaRPr lang="si-LK" dirty="0"/>
                        </a:p>
                      </a:txBody>
                      <a:tcPr/>
                    </a:tc>
                    <a:tc>
                      <a:txBody>
                        <a:bodyPr/>
                        <a:lstStyle/>
                        <a:p>
                          <a:r>
                            <a:rPr lang="en-US" dirty="0">
                              <a:highlight>
                                <a:srgbClr val="FF0000"/>
                              </a:highlight>
                            </a:rPr>
                            <a:t>F</a:t>
                          </a:r>
                          <a:endParaRPr lang="si-LK" dirty="0">
                            <a:highlight>
                              <a:srgbClr val="FF0000"/>
                            </a:highlight>
                          </a:endParaRPr>
                        </a:p>
                      </a:txBody>
                      <a:tcPr/>
                    </a:tc>
                    <a:tc>
                      <a:txBody>
                        <a:bodyPr/>
                        <a:lstStyle/>
                        <a:p>
                          <a:r>
                            <a:rPr lang="en-US" dirty="0"/>
                            <a:t>T</a:t>
                          </a:r>
                          <a:endParaRPr lang="si-LK" dirty="0"/>
                        </a:p>
                      </a:txBody>
                      <a:tcPr/>
                    </a:tc>
                    <a:extLst>
                      <a:ext uri="{0D108BD9-81ED-4DB2-BD59-A6C34878D82A}">
                        <a16:rowId xmlns:a16="http://schemas.microsoft.com/office/drawing/2014/main" val="2032375431"/>
                      </a:ext>
                    </a:extLst>
                  </a:tr>
                  <a:tr h="370840">
                    <a:tc>
                      <a:txBody>
                        <a:bodyPr/>
                        <a:lstStyle/>
                        <a:p>
                          <a:r>
                            <a:rPr lang="en-US" dirty="0">
                              <a:highlight>
                                <a:srgbClr val="FF0000"/>
                              </a:highlight>
                            </a:rPr>
                            <a:t>F</a:t>
                          </a:r>
                          <a:endParaRPr lang="si-LK" dirty="0">
                            <a:highlight>
                              <a:srgbClr val="FF0000"/>
                            </a:highlight>
                          </a:endParaRPr>
                        </a:p>
                      </a:txBody>
                      <a:tcPr/>
                    </a:tc>
                    <a:tc>
                      <a:txBody>
                        <a:bodyPr/>
                        <a:lstStyle/>
                        <a:p>
                          <a:r>
                            <a:rPr lang="en-US" dirty="0"/>
                            <a:t>F</a:t>
                          </a:r>
                          <a:endParaRPr lang="si-LK" dirty="0"/>
                        </a:p>
                      </a:txBody>
                      <a:tcPr/>
                    </a:tc>
                    <a:tc>
                      <a:txBody>
                        <a:bodyPr/>
                        <a:lstStyle/>
                        <a:p>
                          <a:r>
                            <a:rPr lang="en-US" dirty="0">
                              <a:highlight>
                                <a:srgbClr val="FF0000"/>
                              </a:highlight>
                            </a:rPr>
                            <a:t>F</a:t>
                          </a:r>
                          <a:endParaRPr lang="si-LK" dirty="0">
                            <a:highlight>
                              <a:srgbClr val="FF0000"/>
                            </a:highlight>
                          </a:endParaRPr>
                        </a:p>
                      </a:txBody>
                      <a:tcPr/>
                    </a:tc>
                    <a:tc>
                      <a:txBody>
                        <a:bodyPr/>
                        <a:lstStyle/>
                        <a:p>
                          <a:r>
                            <a:rPr lang="en-US" dirty="0"/>
                            <a:t>T</a:t>
                          </a:r>
                          <a:endParaRPr lang="si-LK" dirty="0"/>
                        </a:p>
                      </a:txBody>
                      <a:tcPr/>
                    </a:tc>
                    <a:extLst>
                      <a:ext uri="{0D108BD9-81ED-4DB2-BD59-A6C34878D82A}">
                        <a16:rowId xmlns:a16="http://schemas.microsoft.com/office/drawing/2014/main" val="3760792583"/>
                      </a:ext>
                    </a:extLst>
                  </a:tr>
                </a:tbl>
              </a:graphicData>
            </a:graphic>
          </p:graphicFrame>
        </mc:Fallback>
      </mc:AlternateContent>
      <p:sp>
        <p:nvSpPr>
          <p:cNvPr id="4" name="Date Placeholder 3">
            <a:extLst>
              <a:ext uri="{FF2B5EF4-FFF2-40B4-BE49-F238E27FC236}">
                <a16:creationId xmlns:a16="http://schemas.microsoft.com/office/drawing/2014/main" id="{512713D0-AFA0-210D-3F16-CD6BBD4CE26B}"/>
              </a:ext>
            </a:extLst>
          </p:cNvPr>
          <p:cNvSpPr>
            <a:spLocks noGrp="1"/>
          </p:cNvSpPr>
          <p:nvPr>
            <p:ph type="dt" sz="half" idx="10"/>
          </p:nvPr>
        </p:nvSpPr>
        <p:spPr/>
        <p:txBody>
          <a:bodyPr/>
          <a:lstStyle/>
          <a:p>
            <a:fld id="{C834B5D5-22AE-4886-A7C0-CA1C605126EE}" type="datetime3">
              <a:rPr lang="en-US" smtClean="0"/>
              <a:t>27 April 2026</a:t>
            </a:fld>
            <a:endParaRPr lang="en-US"/>
          </a:p>
        </p:txBody>
      </p:sp>
      <p:sp>
        <p:nvSpPr>
          <p:cNvPr id="5" name="Footer Placeholder 4">
            <a:extLst>
              <a:ext uri="{FF2B5EF4-FFF2-40B4-BE49-F238E27FC236}">
                <a16:creationId xmlns:a16="http://schemas.microsoft.com/office/drawing/2014/main" id="{10F81CAC-6BA3-2775-D5D6-4EBA68D58E28}"/>
              </a:ext>
            </a:extLst>
          </p:cNvPr>
          <p:cNvSpPr>
            <a:spLocks noGrp="1"/>
          </p:cNvSpPr>
          <p:nvPr>
            <p:ph type="ftr" sz="quarter" idx="11"/>
          </p:nvPr>
        </p:nvSpPr>
        <p:spPr/>
        <p:txBody>
          <a:bodyPr/>
          <a:lstStyle/>
          <a:p>
            <a:r>
              <a:rPr lang="en-US"/>
              <a:t>SCS 1302   Discrete Mathematics 1       Prof. D D Karunaratna</a:t>
            </a:r>
          </a:p>
        </p:txBody>
      </p:sp>
      <p:sp>
        <p:nvSpPr>
          <p:cNvPr id="6" name="Slide Number Placeholder 5">
            <a:extLst>
              <a:ext uri="{FF2B5EF4-FFF2-40B4-BE49-F238E27FC236}">
                <a16:creationId xmlns:a16="http://schemas.microsoft.com/office/drawing/2014/main" id="{7525D545-2F83-A0D4-E69C-1C80F7E03B80}"/>
              </a:ext>
            </a:extLst>
          </p:cNvPr>
          <p:cNvSpPr>
            <a:spLocks noGrp="1"/>
          </p:cNvSpPr>
          <p:nvPr>
            <p:ph type="sldNum" sz="quarter" idx="12"/>
          </p:nvPr>
        </p:nvSpPr>
        <p:spPr/>
        <p:txBody>
          <a:bodyPr/>
          <a:lstStyle/>
          <a:p>
            <a:fld id="{0CA841A6-7C02-4C92-B6EE-5DBCC2AD53D0}" type="slidenum">
              <a:rPr lang="en-US" smtClean="0"/>
              <a:t>38</a:t>
            </a:fld>
            <a:endParaRPr lang="en-US"/>
          </a:p>
        </p:txBody>
      </p:sp>
      <p:graphicFrame>
        <p:nvGraphicFramePr>
          <p:cNvPr id="9" name="Group 5">
            <a:extLst>
              <a:ext uri="{FF2B5EF4-FFF2-40B4-BE49-F238E27FC236}">
                <a16:creationId xmlns:a16="http://schemas.microsoft.com/office/drawing/2014/main" id="{02FD8D43-336C-7D27-4B6B-9EB294E14B78}"/>
              </a:ext>
            </a:extLst>
          </p:cNvPr>
          <p:cNvGraphicFramePr>
            <a:graphicFrameLocks noGrp="1"/>
          </p:cNvGraphicFramePr>
          <p:nvPr>
            <p:extLst>
              <p:ext uri="{D42A27DB-BD31-4B8C-83A1-F6EECF244321}">
                <p14:modId xmlns:p14="http://schemas.microsoft.com/office/powerpoint/2010/main" val="169739073"/>
              </p:ext>
            </p:extLst>
          </p:nvPr>
        </p:nvGraphicFramePr>
        <p:xfrm>
          <a:off x="5334000" y="1843881"/>
          <a:ext cx="2286001" cy="2133600"/>
        </p:xfrm>
        <a:graphic>
          <a:graphicData uri="http://schemas.openxmlformats.org/drawingml/2006/table">
            <a:tbl>
              <a:tblPr/>
              <a:tblGrid>
                <a:gridCol w="714375">
                  <a:extLst>
                    <a:ext uri="{9D8B030D-6E8A-4147-A177-3AD203B41FA5}">
                      <a16:colId xmlns:a16="http://schemas.microsoft.com/office/drawing/2014/main" val="20000"/>
                    </a:ext>
                  </a:extLst>
                </a:gridCol>
                <a:gridCol w="642938">
                  <a:extLst>
                    <a:ext uri="{9D8B030D-6E8A-4147-A177-3AD203B41FA5}">
                      <a16:colId xmlns:a16="http://schemas.microsoft.com/office/drawing/2014/main" val="20001"/>
                    </a:ext>
                  </a:extLst>
                </a:gridCol>
                <a:gridCol w="928688">
                  <a:extLst>
                    <a:ext uri="{9D8B030D-6E8A-4147-A177-3AD203B41FA5}">
                      <a16:colId xmlns:a16="http://schemas.microsoft.com/office/drawing/2014/main" val="20002"/>
                    </a:ext>
                  </a:extLst>
                </a:gridCol>
              </a:tblGrid>
              <a:tr h="42672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FF0000"/>
                          </a:solidFill>
                          <a:effectLst/>
                          <a:latin typeface="Comic Sans MS" pitchFamily="1" charset="0"/>
                          <a:ea typeface="ＭＳ Ｐゴシック" pitchFamily="1" charset="-128"/>
                        </a:rPr>
                        <a:t>p</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rgbClr val="FF0000"/>
                          </a:solidFill>
                          <a:effectLst/>
                          <a:latin typeface="Comic Sans MS" pitchFamily="1" charset="0"/>
                          <a:ea typeface="ＭＳ Ｐゴシック" pitchFamily="1" charset="-128"/>
                        </a:rPr>
                        <a:t>q</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1" u="none" strike="noStrike" cap="none" normalizeH="0" baseline="0" dirty="0">
                          <a:ln>
                            <a:noFill/>
                          </a:ln>
                          <a:solidFill>
                            <a:srgbClr val="FF0000"/>
                          </a:solidFill>
                          <a:effectLst/>
                          <a:latin typeface="Comic Sans MS" pitchFamily="1" charset="0"/>
                          <a:ea typeface="ＭＳ Ｐゴシック" pitchFamily="1" charset="-128"/>
                        </a:rPr>
                        <a:t>p </a:t>
                      </a:r>
                      <a:r>
                        <a:rPr kumimoji="0" lang="en-US" sz="2000" b="0" i="0" u="none" strike="noStrike" cap="none" normalizeH="0" baseline="0" dirty="0">
                          <a:ln>
                            <a:noFill/>
                          </a:ln>
                          <a:solidFill>
                            <a:srgbClr val="FF0000"/>
                          </a:solidFill>
                          <a:effectLst/>
                          <a:latin typeface="Arial" charset="0"/>
                          <a:ea typeface="ＭＳ Ｐゴシック" pitchFamily="1" charset="-128"/>
                          <a:sym typeface="Symbol" pitchFamily="1" charset="2"/>
                        </a:rPr>
                        <a:t></a:t>
                      </a:r>
                      <a:r>
                        <a:rPr kumimoji="0" lang="en-US" sz="2000" b="0" i="1" u="none" strike="noStrike" cap="none" normalizeH="0" baseline="0" dirty="0">
                          <a:ln>
                            <a:noFill/>
                          </a:ln>
                          <a:solidFill>
                            <a:srgbClr val="FF0000"/>
                          </a:solidFill>
                          <a:effectLst/>
                          <a:latin typeface="Arial" charset="0"/>
                          <a:ea typeface="ＭＳ Ｐゴシック" pitchFamily="1" charset="-128"/>
                          <a:sym typeface="Symbol" pitchFamily="1" charset="2"/>
                        </a:rPr>
                        <a:t> </a:t>
                      </a:r>
                      <a:r>
                        <a:rPr kumimoji="0" lang="en-US" sz="2000" b="0" i="1" u="none" strike="noStrike" cap="none" normalizeH="0" baseline="0" dirty="0">
                          <a:ln>
                            <a:noFill/>
                          </a:ln>
                          <a:solidFill>
                            <a:srgbClr val="FF0000"/>
                          </a:solidFill>
                          <a:effectLst/>
                          <a:latin typeface="Comic Sans MS" pitchFamily="1" charset="0"/>
                          <a:ea typeface="ＭＳ Ｐゴシック" pitchFamily="1" charset="-128"/>
                        </a:rPr>
                        <a:t>q</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70688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pitchFamily="1" charset="0"/>
                          <a:ea typeface="ＭＳ Ｐゴシック" pitchFamily="1" charset="-128"/>
                        </a:rPr>
                        <a:t>F</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pitchFamily="1" charset="0"/>
                          <a:ea typeface="ＭＳ Ｐゴシック" pitchFamily="1" charset="-128"/>
                        </a:rPr>
                        <a:t>F</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pitchFamily="1" charset="0"/>
                          <a:ea typeface="ＭＳ Ｐゴシック" pitchFamily="1" charset="-128"/>
                        </a:rPr>
                        <a:t>T</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pitchFamily="1" charset="0"/>
                          <a:ea typeface="ＭＳ Ｐゴシック" pitchFamily="1" charset="-128"/>
                        </a:rPr>
                        <a:t>T</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pitchFamily="1" charset="0"/>
                          <a:ea typeface="ＭＳ Ｐゴシック" pitchFamily="1" charset="-128"/>
                        </a:rPr>
                        <a:t>F</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pitchFamily="1" charset="0"/>
                          <a:ea typeface="ＭＳ Ｐゴシック" pitchFamily="1" charset="-128"/>
                        </a:rPr>
                        <a:t>T</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pitchFamily="1" charset="0"/>
                          <a:ea typeface="ＭＳ Ｐゴシック" pitchFamily="1" charset="-128"/>
                        </a:rPr>
                        <a:t>F</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pitchFamily="1" charset="0"/>
                          <a:ea typeface="ＭＳ Ｐゴシック" pitchFamily="1" charset="-128"/>
                        </a:rPr>
                        <a:t>T</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pitchFamily="1" charset="0"/>
                          <a:ea typeface="ＭＳ Ｐゴシック" pitchFamily="1" charset="-128"/>
                        </a:rPr>
                        <a:t>T</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pitchFamily="1" charset="0"/>
                          <a:ea typeface="ＭＳ Ｐゴシック" pitchFamily="1" charset="-128"/>
                        </a:rPr>
                        <a:t>T</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pitchFamily="1" charset="0"/>
                          <a:ea typeface="ＭＳ Ｐゴシック" pitchFamily="1" charset="-128"/>
                        </a:rPr>
                        <a:t>F</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pitchFamily="1" charset="0"/>
                          <a:ea typeface="ＭＳ Ｐゴシック" pitchFamily="1" charset="-128"/>
                        </a:rPr>
                        <a:t>T</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6568396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Truth Tables of Compound Propositions</a:t>
            </a:r>
            <a:endParaRPr lang="en-GB" dirty="0"/>
          </a:p>
        </p:txBody>
      </p:sp>
      <p:sp>
        <p:nvSpPr>
          <p:cNvPr id="4" name="Date Placeholder 3"/>
          <p:cNvSpPr>
            <a:spLocks noGrp="1"/>
          </p:cNvSpPr>
          <p:nvPr>
            <p:ph type="dt" sz="half" idx="10"/>
          </p:nvPr>
        </p:nvSpPr>
        <p:spPr/>
        <p:txBody>
          <a:bodyPr/>
          <a:lstStyle/>
          <a:p>
            <a:fld id="{0E8CBD02-DF51-4376-BC7D-7214BC02511F}" type="datetime3">
              <a:rPr lang="en-US" smtClean="0"/>
              <a:t>27 April 2026</a:t>
            </a:fld>
            <a:endParaRPr lang="en-US"/>
          </a:p>
        </p:txBody>
      </p:sp>
      <p:sp>
        <p:nvSpPr>
          <p:cNvPr id="5" name="Footer Placeholder 4"/>
          <p:cNvSpPr>
            <a:spLocks noGrp="1"/>
          </p:cNvSpPr>
          <p:nvPr>
            <p:ph type="ftr" sz="quarter" idx="11"/>
          </p:nvPr>
        </p:nvSpPr>
        <p:spPr/>
        <p:txBody>
          <a:bodyPr/>
          <a:lstStyle/>
          <a:p>
            <a:r>
              <a:rPr lang="en-US"/>
              <a:t>SCS 1302   Discrete Mathematics 1       Prof. D D Karunaratna</a:t>
            </a:r>
          </a:p>
        </p:txBody>
      </p:sp>
      <p:sp>
        <p:nvSpPr>
          <p:cNvPr id="6" name="Slide Number Placeholder 5"/>
          <p:cNvSpPr>
            <a:spLocks noGrp="1"/>
          </p:cNvSpPr>
          <p:nvPr>
            <p:ph type="sldNum" sz="quarter" idx="12"/>
          </p:nvPr>
        </p:nvSpPr>
        <p:spPr/>
        <p:txBody>
          <a:bodyPr/>
          <a:lstStyle/>
          <a:p>
            <a:fld id="{0CA841A6-7C02-4C92-B6EE-5DBCC2AD53D0}" type="slidenum">
              <a:rPr lang="en-US" smtClean="0"/>
              <a:t>39</a:t>
            </a:fld>
            <a:endParaRPr lang="en-US"/>
          </a:p>
        </p:txBody>
      </p:sp>
      <mc:AlternateContent xmlns:mc="http://schemas.openxmlformats.org/markup-compatibility/2006" xmlns:a14="http://schemas.microsoft.com/office/drawing/2010/main">
        <mc:Choice Requires="a14">
          <p:sp>
            <p:nvSpPr>
              <p:cNvPr id="7" name="Rectangle 6"/>
              <p:cNvSpPr/>
              <p:nvPr/>
            </p:nvSpPr>
            <p:spPr>
              <a:xfrm>
                <a:off x="457200" y="1748135"/>
                <a:ext cx="8305800" cy="1200329"/>
              </a:xfrm>
              <a:prstGeom prst="rect">
                <a:avLst/>
              </a:prstGeom>
            </p:spPr>
            <p:txBody>
              <a:bodyPr wrap="square">
                <a:spAutoFit/>
              </a:bodyPr>
              <a:lstStyle/>
              <a:p>
                <a:r>
                  <a:rPr lang="en-US" sz="2400" dirty="0"/>
                  <a:t>Construct the truth table of the compound proposition</a:t>
                </a:r>
              </a:p>
              <a:p>
                <a:pPr/>
                <a14:m>
                  <m:oMathPara xmlns:m="http://schemas.openxmlformats.org/officeDocument/2006/math">
                    <m:oMathParaPr>
                      <m:jc m:val="centerGroup"/>
                    </m:oMathParaPr>
                    <m:oMath xmlns:m="http://schemas.openxmlformats.org/officeDocument/2006/math">
                      <m:d>
                        <m:dPr>
                          <m:ctrlPr>
                            <a:rPr lang="en-US" sz="2400" i="1" dirty="0" smtClean="0">
                              <a:latin typeface="Cambria Math" panose="02040503050406030204" pitchFamily="18" charset="0"/>
                            </a:rPr>
                          </m:ctrlPr>
                        </m:dPr>
                        <m:e>
                          <m:r>
                            <a:rPr lang="en-GB" sz="2400" b="0" i="1" dirty="0" smtClean="0">
                              <a:latin typeface="Cambria Math" panose="02040503050406030204" pitchFamily="18" charset="0"/>
                            </a:rPr>
                            <m:t>𝑝</m:t>
                          </m:r>
                          <m:r>
                            <a:rPr lang="en-GB" sz="2400" b="0" i="1" dirty="0" smtClean="0">
                              <a:latin typeface="Cambria Math" panose="02040503050406030204" pitchFamily="18" charset="0"/>
                              <a:ea typeface="Cambria Math" panose="02040503050406030204" pitchFamily="18" charset="0"/>
                            </a:rPr>
                            <m:t>∨¬</m:t>
                          </m:r>
                          <m:r>
                            <a:rPr lang="en-GB" sz="2400" b="0" i="1" dirty="0" smtClean="0">
                              <a:latin typeface="Cambria Math" panose="02040503050406030204" pitchFamily="18" charset="0"/>
                              <a:ea typeface="Cambria Math" panose="02040503050406030204" pitchFamily="18" charset="0"/>
                            </a:rPr>
                            <m:t>𝑞</m:t>
                          </m:r>
                        </m:e>
                      </m:d>
                      <m:r>
                        <a:rPr lang="en-US" sz="2400" i="1" dirty="0" smtClean="0">
                          <a:latin typeface="Cambria Math" panose="02040503050406030204" pitchFamily="18" charset="0"/>
                          <a:ea typeface="Cambria Math" panose="02040503050406030204" pitchFamily="18" charset="0"/>
                        </a:rPr>
                        <m:t>⟶</m:t>
                      </m:r>
                      <m:d>
                        <m:dPr>
                          <m:ctrlPr>
                            <a:rPr lang="en-US" sz="2400" i="1" dirty="0" smtClean="0">
                              <a:latin typeface="Cambria Math" panose="02040503050406030204" pitchFamily="18" charset="0"/>
                              <a:ea typeface="Cambria Math" panose="02040503050406030204" pitchFamily="18" charset="0"/>
                            </a:rPr>
                          </m:ctrlPr>
                        </m:dPr>
                        <m:e>
                          <m:r>
                            <a:rPr lang="en-GB" sz="2400" b="0" i="1" dirty="0" smtClean="0">
                              <a:latin typeface="Cambria Math" panose="02040503050406030204" pitchFamily="18" charset="0"/>
                              <a:ea typeface="Cambria Math" panose="02040503050406030204" pitchFamily="18" charset="0"/>
                            </a:rPr>
                            <m:t>𝑝</m:t>
                          </m:r>
                          <m:r>
                            <a:rPr lang="en-GB" sz="2400" b="0" i="1" dirty="0" smtClean="0">
                              <a:latin typeface="Cambria Math" panose="02040503050406030204" pitchFamily="18" charset="0"/>
                              <a:ea typeface="Cambria Math" panose="02040503050406030204" pitchFamily="18" charset="0"/>
                            </a:rPr>
                            <m:t>∧</m:t>
                          </m:r>
                          <m:r>
                            <a:rPr lang="en-GB" sz="2400" b="0" i="1" dirty="0" smtClean="0">
                              <a:latin typeface="Cambria Math" panose="02040503050406030204" pitchFamily="18" charset="0"/>
                              <a:ea typeface="Cambria Math" panose="02040503050406030204" pitchFamily="18" charset="0"/>
                            </a:rPr>
                            <m:t>𝑞</m:t>
                          </m:r>
                        </m:e>
                      </m:d>
                      <m:r>
                        <m:rPr>
                          <m:nor/>
                        </m:rPr>
                        <a:rPr lang="en-US" sz="2400" i="1" dirty="0"/>
                        <m:t>.</m:t>
                      </m:r>
                    </m:oMath>
                  </m:oMathPara>
                </a14:m>
                <a:endParaRPr lang="en-US" sz="2400" dirty="0"/>
              </a:p>
              <a:p>
                <a:endParaRPr lang="en-US" sz="2400" dirty="0"/>
              </a:p>
            </p:txBody>
          </p:sp>
        </mc:Choice>
        <mc:Fallback xmlns="">
          <p:sp>
            <p:nvSpPr>
              <p:cNvPr id="7" name="Rectangle 6"/>
              <p:cNvSpPr>
                <a:spLocks noRot="1" noChangeAspect="1" noMove="1" noResize="1" noEditPoints="1" noAdjustHandles="1" noChangeArrowheads="1" noChangeShapeType="1" noTextEdit="1"/>
              </p:cNvSpPr>
              <p:nvPr/>
            </p:nvSpPr>
            <p:spPr>
              <a:xfrm>
                <a:off x="457200" y="1748135"/>
                <a:ext cx="8305800" cy="1200329"/>
              </a:xfrm>
              <a:prstGeom prst="rect">
                <a:avLst/>
              </a:prstGeom>
              <a:blipFill rotWithShape="0">
                <a:blip r:embed="rId2"/>
                <a:stretch>
                  <a:fillRect l="-1101" t="-3553"/>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graphicFrame>
            <p:nvGraphicFramePr>
              <p:cNvPr id="9" name="Table 8"/>
              <p:cNvGraphicFramePr>
                <a:graphicFrameLocks noGrp="1"/>
              </p:cNvGraphicFramePr>
              <p:nvPr>
                <p:extLst>
                  <p:ext uri="{D42A27DB-BD31-4B8C-83A1-F6EECF244321}">
                    <p14:modId xmlns:p14="http://schemas.microsoft.com/office/powerpoint/2010/main" val="2086073031"/>
                  </p:ext>
                </p:extLst>
              </p:nvPr>
            </p:nvGraphicFramePr>
            <p:xfrm>
              <a:off x="762000" y="2768600"/>
              <a:ext cx="1905000" cy="3022600"/>
            </p:xfrm>
            <a:graphic>
              <a:graphicData uri="http://schemas.openxmlformats.org/drawingml/2006/table">
                <a:tbl>
                  <a:tblPr firstRow="1" bandRow="1">
                    <a:tableStyleId>{5C22544A-7EE6-4342-B048-85BDC9FD1C3A}</a:tableStyleId>
                  </a:tblPr>
                  <a:tblGrid>
                    <a:gridCol w="914400">
                      <a:extLst>
                        <a:ext uri="{9D8B030D-6E8A-4147-A177-3AD203B41FA5}">
                          <a16:colId xmlns:a16="http://schemas.microsoft.com/office/drawing/2014/main" val="20000"/>
                        </a:ext>
                      </a:extLst>
                    </a:gridCol>
                    <a:gridCol w="990600">
                      <a:extLst>
                        <a:ext uri="{9D8B030D-6E8A-4147-A177-3AD203B41FA5}">
                          <a16:colId xmlns:a16="http://schemas.microsoft.com/office/drawing/2014/main" val="20001"/>
                        </a:ext>
                      </a:extLst>
                    </a:gridCol>
                  </a:tblGrid>
                  <a:tr h="604520">
                    <a:tc>
                      <a:txBody>
                        <a:bodyPr/>
                        <a:lstStyle/>
                        <a:p>
                          <a:pPr algn="ctr"/>
                          <a14:m>
                            <m:oMathPara xmlns:m="http://schemas.openxmlformats.org/officeDocument/2006/math">
                              <m:oMathParaPr>
                                <m:jc m:val="centerGroup"/>
                              </m:oMathParaPr>
                              <m:oMath xmlns:m="http://schemas.openxmlformats.org/officeDocument/2006/math">
                                <m:r>
                                  <a:rPr lang="en-GB" sz="2200" b="1" i="1" smtClean="0">
                                    <a:latin typeface="Cambria Math" panose="02040503050406030204" pitchFamily="18" charset="0"/>
                                  </a:rPr>
                                  <m:t>𝒑</m:t>
                                </m:r>
                              </m:oMath>
                            </m:oMathPara>
                          </a14:m>
                          <a:endParaRPr lang="en-GB" sz="2200" dirty="0"/>
                        </a:p>
                      </a:txBody>
                      <a:tcPr/>
                    </a:tc>
                    <a:tc>
                      <a:txBody>
                        <a:bodyPr/>
                        <a:lstStyle/>
                        <a:p>
                          <a:pPr algn="ctr"/>
                          <a14:m>
                            <m:oMathPara xmlns:m="http://schemas.openxmlformats.org/officeDocument/2006/math">
                              <m:oMathParaPr>
                                <m:jc m:val="centerGroup"/>
                              </m:oMathParaPr>
                              <m:oMath xmlns:m="http://schemas.openxmlformats.org/officeDocument/2006/math">
                                <m:r>
                                  <a:rPr lang="en-GB" sz="2200" b="1" i="1" smtClean="0">
                                    <a:latin typeface="Cambria Math" panose="02040503050406030204" pitchFamily="18" charset="0"/>
                                  </a:rPr>
                                  <m:t>𝒒</m:t>
                                </m:r>
                              </m:oMath>
                            </m:oMathPara>
                          </a14:m>
                          <a:endParaRPr lang="en-GB" sz="2200" dirty="0"/>
                        </a:p>
                      </a:txBody>
                      <a:tcPr/>
                    </a:tc>
                    <a:extLst>
                      <a:ext uri="{0D108BD9-81ED-4DB2-BD59-A6C34878D82A}">
                        <a16:rowId xmlns:a16="http://schemas.microsoft.com/office/drawing/2014/main" val="10000"/>
                      </a:ext>
                    </a:extLst>
                  </a:tr>
                  <a:tr h="604520">
                    <a:tc>
                      <a:txBody>
                        <a:bodyPr/>
                        <a:lstStyle/>
                        <a:p>
                          <a:pPr algn="ctr"/>
                          <a:r>
                            <a:rPr lang="en-GB" sz="2400" dirty="0"/>
                            <a:t>0</a:t>
                          </a:r>
                        </a:p>
                      </a:txBody>
                      <a:tcPr/>
                    </a:tc>
                    <a:tc>
                      <a:txBody>
                        <a:bodyPr/>
                        <a:lstStyle/>
                        <a:p>
                          <a:pPr algn="ctr"/>
                          <a:r>
                            <a:rPr lang="en-GB" sz="2400" dirty="0"/>
                            <a:t>0</a:t>
                          </a:r>
                        </a:p>
                      </a:txBody>
                      <a:tcPr/>
                    </a:tc>
                    <a:extLst>
                      <a:ext uri="{0D108BD9-81ED-4DB2-BD59-A6C34878D82A}">
                        <a16:rowId xmlns:a16="http://schemas.microsoft.com/office/drawing/2014/main" val="10001"/>
                      </a:ext>
                    </a:extLst>
                  </a:tr>
                  <a:tr h="604520">
                    <a:tc>
                      <a:txBody>
                        <a:bodyPr/>
                        <a:lstStyle/>
                        <a:p>
                          <a:pPr algn="ctr"/>
                          <a:r>
                            <a:rPr lang="en-GB" sz="2400" dirty="0"/>
                            <a:t>0</a:t>
                          </a:r>
                        </a:p>
                      </a:txBody>
                      <a:tcPr/>
                    </a:tc>
                    <a:tc>
                      <a:txBody>
                        <a:bodyPr/>
                        <a:lstStyle/>
                        <a:p>
                          <a:pPr algn="ctr"/>
                          <a:r>
                            <a:rPr lang="en-GB" sz="2400" dirty="0"/>
                            <a:t>1</a:t>
                          </a:r>
                        </a:p>
                      </a:txBody>
                      <a:tcPr/>
                    </a:tc>
                    <a:extLst>
                      <a:ext uri="{0D108BD9-81ED-4DB2-BD59-A6C34878D82A}">
                        <a16:rowId xmlns:a16="http://schemas.microsoft.com/office/drawing/2014/main" val="10002"/>
                      </a:ext>
                    </a:extLst>
                  </a:tr>
                  <a:tr h="604520">
                    <a:tc>
                      <a:txBody>
                        <a:bodyPr/>
                        <a:lstStyle/>
                        <a:p>
                          <a:pPr algn="ctr"/>
                          <a:r>
                            <a:rPr lang="en-GB" sz="2400" dirty="0"/>
                            <a:t>1</a:t>
                          </a:r>
                        </a:p>
                      </a:txBody>
                      <a:tcPr/>
                    </a:tc>
                    <a:tc>
                      <a:txBody>
                        <a:bodyPr/>
                        <a:lstStyle/>
                        <a:p>
                          <a:pPr algn="ctr"/>
                          <a:r>
                            <a:rPr lang="en-GB" sz="2400" dirty="0"/>
                            <a:t>0</a:t>
                          </a:r>
                        </a:p>
                      </a:txBody>
                      <a:tcPr/>
                    </a:tc>
                    <a:extLst>
                      <a:ext uri="{0D108BD9-81ED-4DB2-BD59-A6C34878D82A}">
                        <a16:rowId xmlns:a16="http://schemas.microsoft.com/office/drawing/2014/main" val="10003"/>
                      </a:ext>
                    </a:extLst>
                  </a:tr>
                  <a:tr h="604520">
                    <a:tc>
                      <a:txBody>
                        <a:bodyPr/>
                        <a:lstStyle/>
                        <a:p>
                          <a:pPr algn="ctr"/>
                          <a:r>
                            <a:rPr lang="en-GB" sz="2400" dirty="0"/>
                            <a:t>1</a:t>
                          </a:r>
                        </a:p>
                      </a:txBody>
                      <a:tcPr/>
                    </a:tc>
                    <a:tc>
                      <a:txBody>
                        <a:bodyPr/>
                        <a:lstStyle/>
                        <a:p>
                          <a:pPr algn="ctr"/>
                          <a:r>
                            <a:rPr lang="en-GB" sz="2400" dirty="0" err="1"/>
                            <a:t>1</a:t>
                          </a:r>
                          <a:endParaRPr lang="en-GB" sz="2400" dirty="0"/>
                        </a:p>
                      </a:txBody>
                      <a:tcPr/>
                    </a:tc>
                    <a:extLst>
                      <a:ext uri="{0D108BD9-81ED-4DB2-BD59-A6C34878D82A}">
                        <a16:rowId xmlns:a16="http://schemas.microsoft.com/office/drawing/2014/main" val="10004"/>
                      </a:ext>
                    </a:extLst>
                  </a:tr>
                </a:tbl>
              </a:graphicData>
            </a:graphic>
          </p:graphicFrame>
        </mc:Choice>
        <mc:Fallback xmlns="">
          <p:graphicFrame>
            <p:nvGraphicFramePr>
              <p:cNvPr id="9" name="Table 8"/>
              <p:cNvGraphicFramePr>
                <a:graphicFrameLocks noGrp="1"/>
              </p:cNvGraphicFramePr>
              <p:nvPr>
                <p:extLst>
                  <p:ext uri="{D42A27DB-BD31-4B8C-83A1-F6EECF244321}">
                    <p14:modId xmlns:p14="http://schemas.microsoft.com/office/powerpoint/2010/main" val="2086073031"/>
                  </p:ext>
                </p:extLst>
              </p:nvPr>
            </p:nvGraphicFramePr>
            <p:xfrm>
              <a:off x="762000" y="2768600"/>
              <a:ext cx="1905000" cy="3022600"/>
            </p:xfrm>
            <a:graphic>
              <a:graphicData uri="http://schemas.openxmlformats.org/drawingml/2006/table">
                <a:tbl>
                  <a:tblPr firstRow="1" bandRow="1">
                    <a:tableStyleId>{5C22544A-7EE6-4342-B048-85BDC9FD1C3A}</a:tableStyleId>
                  </a:tblPr>
                  <a:tblGrid>
                    <a:gridCol w="914400"/>
                    <a:gridCol w="990600"/>
                  </a:tblGrid>
                  <a:tr h="604520">
                    <a:tc>
                      <a:txBody>
                        <a:bodyPr/>
                        <a:lstStyle/>
                        <a:p>
                          <a:endParaRPr lang="en-US"/>
                        </a:p>
                      </a:txBody>
                      <a:tcPr>
                        <a:blipFill rotWithShape="0">
                          <a:blip r:embed="rId3"/>
                          <a:stretch>
                            <a:fillRect l="-1333" t="-1010" r="-111333" b="-404040"/>
                          </a:stretch>
                        </a:blipFill>
                      </a:tcPr>
                    </a:tc>
                    <a:tc>
                      <a:txBody>
                        <a:bodyPr/>
                        <a:lstStyle/>
                        <a:p>
                          <a:endParaRPr lang="en-US"/>
                        </a:p>
                      </a:txBody>
                      <a:tcPr>
                        <a:blipFill rotWithShape="0">
                          <a:blip r:embed="rId3"/>
                          <a:stretch>
                            <a:fillRect l="-93252" t="-1010" r="-2454" b="-404040"/>
                          </a:stretch>
                        </a:blipFill>
                      </a:tcPr>
                    </a:tc>
                  </a:tr>
                  <a:tr h="604520">
                    <a:tc>
                      <a:txBody>
                        <a:bodyPr/>
                        <a:lstStyle/>
                        <a:p>
                          <a:pPr algn="ctr"/>
                          <a:r>
                            <a:rPr lang="en-GB" sz="2400" dirty="0" smtClean="0"/>
                            <a:t>0</a:t>
                          </a:r>
                          <a:endParaRPr lang="en-GB" sz="2400" dirty="0"/>
                        </a:p>
                      </a:txBody>
                      <a:tcPr/>
                    </a:tc>
                    <a:tc>
                      <a:txBody>
                        <a:bodyPr/>
                        <a:lstStyle/>
                        <a:p>
                          <a:pPr algn="ctr"/>
                          <a:r>
                            <a:rPr lang="en-GB" sz="2400" dirty="0" smtClean="0"/>
                            <a:t>0</a:t>
                          </a:r>
                          <a:endParaRPr lang="en-GB" sz="2400" dirty="0"/>
                        </a:p>
                      </a:txBody>
                      <a:tcPr/>
                    </a:tc>
                  </a:tr>
                  <a:tr h="604520">
                    <a:tc>
                      <a:txBody>
                        <a:bodyPr/>
                        <a:lstStyle/>
                        <a:p>
                          <a:pPr algn="ctr"/>
                          <a:r>
                            <a:rPr lang="en-GB" sz="2400" dirty="0" smtClean="0"/>
                            <a:t>0</a:t>
                          </a:r>
                          <a:endParaRPr lang="en-GB" sz="2400" dirty="0"/>
                        </a:p>
                      </a:txBody>
                      <a:tcPr/>
                    </a:tc>
                    <a:tc>
                      <a:txBody>
                        <a:bodyPr/>
                        <a:lstStyle/>
                        <a:p>
                          <a:pPr algn="ctr"/>
                          <a:r>
                            <a:rPr lang="en-GB" sz="2400" dirty="0" smtClean="0"/>
                            <a:t>1</a:t>
                          </a:r>
                          <a:endParaRPr lang="en-GB" sz="2400" dirty="0"/>
                        </a:p>
                      </a:txBody>
                      <a:tcPr/>
                    </a:tc>
                  </a:tr>
                  <a:tr h="604520">
                    <a:tc>
                      <a:txBody>
                        <a:bodyPr/>
                        <a:lstStyle/>
                        <a:p>
                          <a:pPr algn="ctr"/>
                          <a:r>
                            <a:rPr lang="en-GB" sz="2400" dirty="0" smtClean="0"/>
                            <a:t>1</a:t>
                          </a:r>
                          <a:endParaRPr lang="en-GB" sz="2400" dirty="0"/>
                        </a:p>
                      </a:txBody>
                      <a:tcPr/>
                    </a:tc>
                    <a:tc>
                      <a:txBody>
                        <a:bodyPr/>
                        <a:lstStyle/>
                        <a:p>
                          <a:pPr algn="ctr"/>
                          <a:r>
                            <a:rPr lang="en-GB" sz="2400" dirty="0" smtClean="0"/>
                            <a:t>0</a:t>
                          </a:r>
                          <a:endParaRPr lang="en-GB" sz="2400" dirty="0"/>
                        </a:p>
                      </a:txBody>
                      <a:tcPr/>
                    </a:tc>
                  </a:tr>
                  <a:tr h="604520">
                    <a:tc>
                      <a:txBody>
                        <a:bodyPr/>
                        <a:lstStyle/>
                        <a:p>
                          <a:pPr algn="ctr"/>
                          <a:r>
                            <a:rPr lang="en-GB" sz="2400" dirty="0" smtClean="0"/>
                            <a:t>1</a:t>
                          </a:r>
                          <a:endParaRPr lang="en-GB" sz="2400" dirty="0"/>
                        </a:p>
                      </a:txBody>
                      <a:tcPr/>
                    </a:tc>
                    <a:tc>
                      <a:txBody>
                        <a:bodyPr/>
                        <a:lstStyle/>
                        <a:p>
                          <a:pPr algn="ctr"/>
                          <a:r>
                            <a:rPr lang="en-GB" sz="2400" dirty="0" err="1" smtClean="0"/>
                            <a:t>1</a:t>
                          </a:r>
                          <a:endParaRPr lang="en-GB" sz="2400" dirty="0"/>
                        </a:p>
                      </a:txBody>
                      <a:tcPr/>
                    </a:tc>
                  </a:tr>
                </a:tbl>
              </a:graphicData>
            </a:graphic>
          </p:graphicFrame>
        </mc:Fallback>
      </mc:AlternateContent>
      <mc:AlternateContent xmlns:mc="http://schemas.openxmlformats.org/markup-compatibility/2006" xmlns:a14="http://schemas.microsoft.com/office/drawing/2010/main">
        <mc:Choice Requires="a14">
          <p:graphicFrame>
            <p:nvGraphicFramePr>
              <p:cNvPr id="10" name="Table 9"/>
              <p:cNvGraphicFramePr>
                <a:graphicFrameLocks noGrp="1"/>
              </p:cNvGraphicFramePr>
              <p:nvPr>
                <p:extLst>
                  <p:ext uri="{D42A27DB-BD31-4B8C-83A1-F6EECF244321}">
                    <p14:modId xmlns:p14="http://schemas.microsoft.com/office/powerpoint/2010/main" val="2811337199"/>
                  </p:ext>
                </p:extLst>
              </p:nvPr>
            </p:nvGraphicFramePr>
            <p:xfrm>
              <a:off x="2667000" y="2774288"/>
              <a:ext cx="838200" cy="3022600"/>
            </p:xfrm>
            <a:graphic>
              <a:graphicData uri="http://schemas.openxmlformats.org/drawingml/2006/table">
                <a:tbl>
                  <a:tblPr firstRow="1" bandRow="1">
                    <a:tableStyleId>{5C22544A-7EE6-4342-B048-85BDC9FD1C3A}</a:tableStyleId>
                  </a:tblPr>
                  <a:tblGrid>
                    <a:gridCol w="838200">
                      <a:extLst>
                        <a:ext uri="{9D8B030D-6E8A-4147-A177-3AD203B41FA5}">
                          <a16:colId xmlns:a16="http://schemas.microsoft.com/office/drawing/2014/main" val="20000"/>
                        </a:ext>
                      </a:extLst>
                    </a:gridCol>
                  </a:tblGrid>
                  <a:tr h="604520">
                    <a:tc>
                      <a:txBody>
                        <a:bodyPr/>
                        <a:lstStyle/>
                        <a:p>
                          <a:pPr algn="ctr"/>
                          <a14:m>
                            <m:oMathPara xmlns:m="http://schemas.openxmlformats.org/officeDocument/2006/math">
                              <m:oMathParaPr>
                                <m:jc m:val="centerGroup"/>
                              </m:oMathParaPr>
                              <m:oMath xmlns:m="http://schemas.openxmlformats.org/officeDocument/2006/math">
                                <m:r>
                                  <a:rPr lang="en-GB" sz="2400" b="1" i="1" smtClean="0">
                                    <a:latin typeface="Cambria Math" panose="02040503050406030204" pitchFamily="18" charset="0"/>
                                    <a:ea typeface="Cambria Math" panose="02040503050406030204" pitchFamily="18" charset="0"/>
                                  </a:rPr>
                                  <m:t>¬</m:t>
                                </m:r>
                                <m:r>
                                  <a:rPr lang="en-GB" sz="2400" b="1" i="1" smtClean="0">
                                    <a:latin typeface="Cambria Math" panose="02040503050406030204" pitchFamily="18" charset="0"/>
                                  </a:rPr>
                                  <m:t>𝒒</m:t>
                                </m:r>
                              </m:oMath>
                            </m:oMathPara>
                          </a14:m>
                          <a:endParaRPr lang="en-GB" sz="2400" dirty="0"/>
                        </a:p>
                      </a:txBody>
                      <a:tcPr/>
                    </a:tc>
                    <a:extLst>
                      <a:ext uri="{0D108BD9-81ED-4DB2-BD59-A6C34878D82A}">
                        <a16:rowId xmlns:a16="http://schemas.microsoft.com/office/drawing/2014/main" val="10000"/>
                      </a:ext>
                    </a:extLst>
                  </a:tr>
                  <a:tr h="604520">
                    <a:tc>
                      <a:txBody>
                        <a:bodyPr/>
                        <a:lstStyle/>
                        <a:p>
                          <a:pPr algn="ctr"/>
                          <a:r>
                            <a:rPr lang="en-GB" sz="2400" dirty="0"/>
                            <a:t>1</a:t>
                          </a:r>
                        </a:p>
                      </a:txBody>
                      <a:tcPr/>
                    </a:tc>
                    <a:extLst>
                      <a:ext uri="{0D108BD9-81ED-4DB2-BD59-A6C34878D82A}">
                        <a16:rowId xmlns:a16="http://schemas.microsoft.com/office/drawing/2014/main" val="10001"/>
                      </a:ext>
                    </a:extLst>
                  </a:tr>
                  <a:tr h="604520">
                    <a:tc>
                      <a:txBody>
                        <a:bodyPr/>
                        <a:lstStyle/>
                        <a:p>
                          <a:pPr algn="ctr"/>
                          <a:r>
                            <a:rPr lang="en-GB" sz="2400" dirty="0"/>
                            <a:t>0</a:t>
                          </a:r>
                        </a:p>
                      </a:txBody>
                      <a:tcPr/>
                    </a:tc>
                    <a:extLst>
                      <a:ext uri="{0D108BD9-81ED-4DB2-BD59-A6C34878D82A}">
                        <a16:rowId xmlns:a16="http://schemas.microsoft.com/office/drawing/2014/main" val="10002"/>
                      </a:ext>
                    </a:extLst>
                  </a:tr>
                  <a:tr h="604520">
                    <a:tc>
                      <a:txBody>
                        <a:bodyPr/>
                        <a:lstStyle/>
                        <a:p>
                          <a:pPr algn="ctr"/>
                          <a:r>
                            <a:rPr lang="en-GB" sz="2400" dirty="0"/>
                            <a:t>1</a:t>
                          </a:r>
                        </a:p>
                      </a:txBody>
                      <a:tcPr/>
                    </a:tc>
                    <a:extLst>
                      <a:ext uri="{0D108BD9-81ED-4DB2-BD59-A6C34878D82A}">
                        <a16:rowId xmlns:a16="http://schemas.microsoft.com/office/drawing/2014/main" val="10003"/>
                      </a:ext>
                    </a:extLst>
                  </a:tr>
                  <a:tr h="604520">
                    <a:tc>
                      <a:txBody>
                        <a:bodyPr/>
                        <a:lstStyle/>
                        <a:p>
                          <a:pPr algn="ctr"/>
                          <a:r>
                            <a:rPr lang="en-GB" sz="2400" dirty="0" err="1"/>
                            <a:t>0</a:t>
                          </a:r>
                          <a:endParaRPr lang="en-GB" sz="2400" dirty="0"/>
                        </a:p>
                      </a:txBody>
                      <a:tcPr/>
                    </a:tc>
                    <a:extLst>
                      <a:ext uri="{0D108BD9-81ED-4DB2-BD59-A6C34878D82A}">
                        <a16:rowId xmlns:a16="http://schemas.microsoft.com/office/drawing/2014/main" val="10004"/>
                      </a:ext>
                    </a:extLst>
                  </a:tr>
                </a:tbl>
              </a:graphicData>
            </a:graphic>
          </p:graphicFrame>
        </mc:Choice>
        <mc:Fallback xmlns="">
          <p:graphicFrame>
            <p:nvGraphicFramePr>
              <p:cNvPr id="10" name="Table 9"/>
              <p:cNvGraphicFramePr>
                <a:graphicFrameLocks noGrp="1"/>
              </p:cNvGraphicFramePr>
              <p:nvPr>
                <p:extLst>
                  <p:ext uri="{D42A27DB-BD31-4B8C-83A1-F6EECF244321}">
                    <p14:modId xmlns:p14="http://schemas.microsoft.com/office/powerpoint/2010/main" val="2811337199"/>
                  </p:ext>
                </p:extLst>
              </p:nvPr>
            </p:nvGraphicFramePr>
            <p:xfrm>
              <a:off x="2667000" y="2774288"/>
              <a:ext cx="838200" cy="3022600"/>
            </p:xfrm>
            <a:graphic>
              <a:graphicData uri="http://schemas.openxmlformats.org/drawingml/2006/table">
                <a:tbl>
                  <a:tblPr firstRow="1" bandRow="1">
                    <a:tableStyleId>{5C22544A-7EE6-4342-B048-85BDC9FD1C3A}</a:tableStyleId>
                  </a:tblPr>
                  <a:tblGrid>
                    <a:gridCol w="838200"/>
                  </a:tblGrid>
                  <a:tr h="604520">
                    <a:tc>
                      <a:txBody>
                        <a:bodyPr/>
                        <a:lstStyle/>
                        <a:p>
                          <a:endParaRPr lang="en-US"/>
                        </a:p>
                      </a:txBody>
                      <a:tcPr>
                        <a:blipFill rotWithShape="0">
                          <a:blip r:embed="rId4"/>
                          <a:stretch>
                            <a:fillRect l="-725" t="-1010" r="-3623" b="-404040"/>
                          </a:stretch>
                        </a:blipFill>
                      </a:tcPr>
                    </a:tc>
                  </a:tr>
                  <a:tr h="604520">
                    <a:tc>
                      <a:txBody>
                        <a:bodyPr/>
                        <a:lstStyle/>
                        <a:p>
                          <a:pPr algn="ctr"/>
                          <a:r>
                            <a:rPr lang="en-GB" sz="2400" dirty="0" smtClean="0"/>
                            <a:t>1</a:t>
                          </a:r>
                          <a:endParaRPr lang="en-GB" sz="2400" dirty="0"/>
                        </a:p>
                      </a:txBody>
                      <a:tcPr/>
                    </a:tc>
                  </a:tr>
                  <a:tr h="604520">
                    <a:tc>
                      <a:txBody>
                        <a:bodyPr/>
                        <a:lstStyle/>
                        <a:p>
                          <a:pPr algn="ctr"/>
                          <a:r>
                            <a:rPr lang="en-GB" sz="2400" dirty="0" smtClean="0"/>
                            <a:t>0</a:t>
                          </a:r>
                          <a:endParaRPr lang="en-GB" sz="2400" dirty="0"/>
                        </a:p>
                      </a:txBody>
                      <a:tcPr/>
                    </a:tc>
                  </a:tr>
                  <a:tr h="604520">
                    <a:tc>
                      <a:txBody>
                        <a:bodyPr/>
                        <a:lstStyle/>
                        <a:p>
                          <a:pPr algn="ctr"/>
                          <a:r>
                            <a:rPr lang="en-GB" sz="2400" dirty="0" smtClean="0"/>
                            <a:t>1</a:t>
                          </a:r>
                          <a:endParaRPr lang="en-GB" sz="2400" dirty="0"/>
                        </a:p>
                      </a:txBody>
                      <a:tcPr/>
                    </a:tc>
                  </a:tr>
                  <a:tr h="604520">
                    <a:tc>
                      <a:txBody>
                        <a:bodyPr/>
                        <a:lstStyle/>
                        <a:p>
                          <a:pPr algn="ctr"/>
                          <a:r>
                            <a:rPr lang="en-GB" sz="2400" dirty="0" err="1" smtClean="0"/>
                            <a:t>0</a:t>
                          </a:r>
                          <a:endParaRPr lang="en-GB" sz="2400" dirty="0"/>
                        </a:p>
                      </a:txBody>
                      <a:tcPr/>
                    </a:tc>
                  </a:tr>
                </a:tbl>
              </a:graphicData>
            </a:graphic>
          </p:graphicFrame>
        </mc:Fallback>
      </mc:AlternateContent>
      <mc:AlternateContent xmlns:mc="http://schemas.openxmlformats.org/markup-compatibility/2006" xmlns:a14="http://schemas.microsoft.com/office/drawing/2010/main">
        <mc:Choice Requires="a14">
          <p:graphicFrame>
            <p:nvGraphicFramePr>
              <p:cNvPr id="11" name="Table 10"/>
              <p:cNvGraphicFramePr>
                <a:graphicFrameLocks noGrp="1"/>
              </p:cNvGraphicFramePr>
              <p:nvPr>
                <p:extLst>
                  <p:ext uri="{D42A27DB-BD31-4B8C-83A1-F6EECF244321}">
                    <p14:modId xmlns:p14="http://schemas.microsoft.com/office/powerpoint/2010/main" val="1558077601"/>
                  </p:ext>
                </p:extLst>
              </p:nvPr>
            </p:nvGraphicFramePr>
            <p:xfrm>
              <a:off x="3505200" y="2774288"/>
              <a:ext cx="1371600" cy="3022600"/>
            </p:xfrm>
            <a:graphic>
              <a:graphicData uri="http://schemas.openxmlformats.org/drawingml/2006/table">
                <a:tbl>
                  <a:tblPr firstRow="1" bandRow="1">
                    <a:tableStyleId>{5C22544A-7EE6-4342-B048-85BDC9FD1C3A}</a:tableStyleId>
                  </a:tblPr>
                  <a:tblGrid>
                    <a:gridCol w="1371600">
                      <a:extLst>
                        <a:ext uri="{9D8B030D-6E8A-4147-A177-3AD203B41FA5}">
                          <a16:colId xmlns:a16="http://schemas.microsoft.com/office/drawing/2014/main" val="20000"/>
                        </a:ext>
                      </a:extLst>
                    </a:gridCol>
                  </a:tblGrid>
                  <a:tr h="604520">
                    <a:tc>
                      <a:txBody>
                        <a:bodyPr/>
                        <a:lstStyle/>
                        <a:p>
                          <a:pPr algn="ctr"/>
                          <a14:m>
                            <m:oMathPara xmlns:m="http://schemas.openxmlformats.org/officeDocument/2006/math">
                              <m:oMathParaPr>
                                <m:jc m:val="centerGroup"/>
                              </m:oMathParaPr>
                              <m:oMath xmlns:m="http://schemas.openxmlformats.org/officeDocument/2006/math">
                                <m:r>
                                  <a:rPr lang="en-GB" sz="2800" b="1" i="1" kern="1200" dirty="0" smtClean="0">
                                    <a:solidFill>
                                      <a:schemeClr val="lt1"/>
                                    </a:solidFill>
                                    <a:latin typeface="Cambria Math" panose="02040503050406030204" pitchFamily="18" charset="0"/>
                                    <a:ea typeface="Cambria Math" panose="02040503050406030204" pitchFamily="18" charset="0"/>
                                    <a:cs typeface="+mn-cs"/>
                                  </a:rPr>
                                  <m:t>𝑝</m:t>
                                </m:r>
                                <m:r>
                                  <a:rPr lang="en-GB" sz="2800" b="1" i="1" kern="1200" dirty="0" smtClean="0">
                                    <a:solidFill>
                                      <a:schemeClr val="lt1"/>
                                    </a:solidFill>
                                    <a:latin typeface="Cambria Math" panose="02040503050406030204" pitchFamily="18" charset="0"/>
                                    <a:ea typeface="Cambria Math" panose="02040503050406030204" pitchFamily="18" charset="0"/>
                                    <a:cs typeface="+mn-cs"/>
                                  </a:rPr>
                                  <m:t>∨¬</m:t>
                                </m:r>
                                <m:r>
                                  <a:rPr lang="en-GB" sz="2800" b="1" i="1" kern="1200" smtClean="0">
                                    <a:solidFill>
                                      <a:schemeClr val="lt1"/>
                                    </a:solidFill>
                                    <a:latin typeface="Cambria Math" panose="02040503050406030204" pitchFamily="18" charset="0"/>
                                    <a:ea typeface="Cambria Math" panose="02040503050406030204" pitchFamily="18" charset="0"/>
                                    <a:cs typeface="+mn-cs"/>
                                  </a:rPr>
                                  <m:t>𝒒</m:t>
                                </m:r>
                              </m:oMath>
                            </m:oMathPara>
                          </a14:m>
                          <a:endParaRPr lang="en-GB" sz="2800" b="1" i="1" kern="1200" dirty="0">
                            <a:solidFill>
                              <a:schemeClr val="lt1"/>
                            </a:solidFill>
                            <a:latin typeface="Cambria Math" panose="02040503050406030204" pitchFamily="18" charset="0"/>
                            <a:ea typeface="Cambria Math" panose="02040503050406030204" pitchFamily="18" charset="0"/>
                            <a:cs typeface="+mn-cs"/>
                          </a:endParaRPr>
                        </a:p>
                      </a:txBody>
                      <a:tcPr/>
                    </a:tc>
                    <a:extLst>
                      <a:ext uri="{0D108BD9-81ED-4DB2-BD59-A6C34878D82A}">
                        <a16:rowId xmlns:a16="http://schemas.microsoft.com/office/drawing/2014/main" val="10000"/>
                      </a:ext>
                    </a:extLst>
                  </a:tr>
                  <a:tr h="604520">
                    <a:tc>
                      <a:txBody>
                        <a:bodyPr/>
                        <a:lstStyle/>
                        <a:p>
                          <a:pPr algn="ctr"/>
                          <a:r>
                            <a:rPr lang="en-GB" sz="2400" dirty="0"/>
                            <a:t>1</a:t>
                          </a:r>
                        </a:p>
                      </a:txBody>
                      <a:tcPr/>
                    </a:tc>
                    <a:extLst>
                      <a:ext uri="{0D108BD9-81ED-4DB2-BD59-A6C34878D82A}">
                        <a16:rowId xmlns:a16="http://schemas.microsoft.com/office/drawing/2014/main" val="10001"/>
                      </a:ext>
                    </a:extLst>
                  </a:tr>
                  <a:tr h="604520">
                    <a:tc>
                      <a:txBody>
                        <a:bodyPr/>
                        <a:lstStyle/>
                        <a:p>
                          <a:pPr algn="ctr"/>
                          <a:r>
                            <a:rPr lang="en-GB" sz="2400" dirty="0"/>
                            <a:t>0</a:t>
                          </a:r>
                        </a:p>
                      </a:txBody>
                      <a:tcPr/>
                    </a:tc>
                    <a:extLst>
                      <a:ext uri="{0D108BD9-81ED-4DB2-BD59-A6C34878D82A}">
                        <a16:rowId xmlns:a16="http://schemas.microsoft.com/office/drawing/2014/main" val="10002"/>
                      </a:ext>
                    </a:extLst>
                  </a:tr>
                  <a:tr h="604520">
                    <a:tc>
                      <a:txBody>
                        <a:bodyPr/>
                        <a:lstStyle/>
                        <a:p>
                          <a:pPr algn="ctr"/>
                          <a:r>
                            <a:rPr lang="en-GB" sz="2400" dirty="0"/>
                            <a:t>1</a:t>
                          </a:r>
                        </a:p>
                      </a:txBody>
                      <a:tcPr/>
                    </a:tc>
                    <a:extLst>
                      <a:ext uri="{0D108BD9-81ED-4DB2-BD59-A6C34878D82A}">
                        <a16:rowId xmlns:a16="http://schemas.microsoft.com/office/drawing/2014/main" val="10003"/>
                      </a:ext>
                    </a:extLst>
                  </a:tr>
                  <a:tr h="604520">
                    <a:tc>
                      <a:txBody>
                        <a:bodyPr/>
                        <a:lstStyle/>
                        <a:p>
                          <a:pPr algn="ctr"/>
                          <a:r>
                            <a:rPr lang="en-GB" sz="2400" dirty="0" err="1"/>
                            <a:t>1</a:t>
                          </a:r>
                          <a:endParaRPr lang="en-GB" sz="2400" dirty="0"/>
                        </a:p>
                      </a:txBody>
                      <a:tcPr/>
                    </a:tc>
                    <a:extLst>
                      <a:ext uri="{0D108BD9-81ED-4DB2-BD59-A6C34878D82A}">
                        <a16:rowId xmlns:a16="http://schemas.microsoft.com/office/drawing/2014/main" val="10004"/>
                      </a:ext>
                    </a:extLst>
                  </a:tr>
                </a:tbl>
              </a:graphicData>
            </a:graphic>
          </p:graphicFrame>
        </mc:Choice>
        <mc:Fallback xmlns="">
          <p:graphicFrame>
            <p:nvGraphicFramePr>
              <p:cNvPr id="11" name="Table 10"/>
              <p:cNvGraphicFramePr>
                <a:graphicFrameLocks noGrp="1"/>
              </p:cNvGraphicFramePr>
              <p:nvPr>
                <p:extLst>
                  <p:ext uri="{D42A27DB-BD31-4B8C-83A1-F6EECF244321}">
                    <p14:modId xmlns:p14="http://schemas.microsoft.com/office/powerpoint/2010/main" val="1558077601"/>
                  </p:ext>
                </p:extLst>
              </p:nvPr>
            </p:nvGraphicFramePr>
            <p:xfrm>
              <a:off x="3505200" y="2774288"/>
              <a:ext cx="1371600" cy="3022600"/>
            </p:xfrm>
            <a:graphic>
              <a:graphicData uri="http://schemas.openxmlformats.org/drawingml/2006/table">
                <a:tbl>
                  <a:tblPr firstRow="1" bandRow="1">
                    <a:tableStyleId>{5C22544A-7EE6-4342-B048-85BDC9FD1C3A}</a:tableStyleId>
                  </a:tblPr>
                  <a:tblGrid>
                    <a:gridCol w="1371600"/>
                  </a:tblGrid>
                  <a:tr h="604520">
                    <a:tc>
                      <a:txBody>
                        <a:bodyPr/>
                        <a:lstStyle/>
                        <a:p>
                          <a:endParaRPr lang="en-US"/>
                        </a:p>
                      </a:txBody>
                      <a:tcPr>
                        <a:blipFill rotWithShape="0">
                          <a:blip r:embed="rId5"/>
                          <a:stretch>
                            <a:fillRect l="-889" t="-1010" r="-2222" b="-404040"/>
                          </a:stretch>
                        </a:blipFill>
                      </a:tcPr>
                    </a:tc>
                  </a:tr>
                  <a:tr h="604520">
                    <a:tc>
                      <a:txBody>
                        <a:bodyPr/>
                        <a:lstStyle/>
                        <a:p>
                          <a:pPr algn="ctr"/>
                          <a:r>
                            <a:rPr lang="en-GB" sz="2400" dirty="0" smtClean="0"/>
                            <a:t>1</a:t>
                          </a:r>
                          <a:endParaRPr lang="en-GB" sz="2400" dirty="0"/>
                        </a:p>
                      </a:txBody>
                      <a:tcPr/>
                    </a:tc>
                  </a:tr>
                  <a:tr h="604520">
                    <a:tc>
                      <a:txBody>
                        <a:bodyPr/>
                        <a:lstStyle/>
                        <a:p>
                          <a:pPr algn="ctr"/>
                          <a:r>
                            <a:rPr lang="en-GB" sz="2400" dirty="0" smtClean="0"/>
                            <a:t>0</a:t>
                          </a:r>
                          <a:endParaRPr lang="en-GB" sz="2400" dirty="0"/>
                        </a:p>
                      </a:txBody>
                      <a:tcPr/>
                    </a:tc>
                  </a:tr>
                  <a:tr h="604520">
                    <a:tc>
                      <a:txBody>
                        <a:bodyPr/>
                        <a:lstStyle/>
                        <a:p>
                          <a:pPr algn="ctr"/>
                          <a:r>
                            <a:rPr lang="en-GB" sz="2400" dirty="0" smtClean="0"/>
                            <a:t>1</a:t>
                          </a:r>
                          <a:endParaRPr lang="en-GB" sz="2400" dirty="0"/>
                        </a:p>
                      </a:txBody>
                      <a:tcPr/>
                    </a:tc>
                  </a:tr>
                  <a:tr h="604520">
                    <a:tc>
                      <a:txBody>
                        <a:bodyPr/>
                        <a:lstStyle/>
                        <a:p>
                          <a:pPr algn="ctr"/>
                          <a:r>
                            <a:rPr lang="en-GB" sz="2400" dirty="0" err="1" smtClean="0"/>
                            <a:t>1</a:t>
                          </a:r>
                          <a:endParaRPr lang="en-GB" sz="2400" dirty="0"/>
                        </a:p>
                      </a:txBody>
                      <a:tcPr/>
                    </a:tc>
                  </a:tr>
                </a:tbl>
              </a:graphicData>
            </a:graphic>
          </p:graphicFrame>
        </mc:Fallback>
      </mc:AlternateContent>
      <mc:AlternateContent xmlns:mc="http://schemas.openxmlformats.org/markup-compatibility/2006" xmlns:a14="http://schemas.microsoft.com/office/drawing/2010/main">
        <mc:Choice Requires="a14">
          <p:graphicFrame>
            <p:nvGraphicFramePr>
              <p:cNvPr id="12" name="Table 11"/>
              <p:cNvGraphicFramePr>
                <a:graphicFrameLocks noGrp="1"/>
              </p:cNvGraphicFramePr>
              <p:nvPr>
                <p:extLst>
                  <p:ext uri="{D42A27DB-BD31-4B8C-83A1-F6EECF244321}">
                    <p14:modId xmlns:p14="http://schemas.microsoft.com/office/powerpoint/2010/main" val="387232922"/>
                  </p:ext>
                </p:extLst>
              </p:nvPr>
            </p:nvGraphicFramePr>
            <p:xfrm>
              <a:off x="4890448" y="2770496"/>
              <a:ext cx="1053152" cy="3022600"/>
            </p:xfrm>
            <a:graphic>
              <a:graphicData uri="http://schemas.openxmlformats.org/drawingml/2006/table">
                <a:tbl>
                  <a:tblPr firstRow="1" bandRow="1">
                    <a:tableStyleId>{5C22544A-7EE6-4342-B048-85BDC9FD1C3A}</a:tableStyleId>
                  </a:tblPr>
                  <a:tblGrid>
                    <a:gridCol w="1053152">
                      <a:extLst>
                        <a:ext uri="{9D8B030D-6E8A-4147-A177-3AD203B41FA5}">
                          <a16:colId xmlns:a16="http://schemas.microsoft.com/office/drawing/2014/main" val="20000"/>
                        </a:ext>
                      </a:extLst>
                    </a:gridCol>
                  </a:tblGrid>
                  <a:tr h="604520">
                    <a:tc>
                      <a:txBody>
                        <a:bodyPr/>
                        <a:lstStyle/>
                        <a:p>
                          <a:pPr algn="ctr"/>
                          <a14:m>
                            <m:oMathPara xmlns:m="http://schemas.openxmlformats.org/officeDocument/2006/math">
                              <m:oMathParaPr>
                                <m:jc m:val="centerGroup"/>
                              </m:oMathParaPr>
                              <m:oMath xmlns:m="http://schemas.openxmlformats.org/officeDocument/2006/math">
                                <m:r>
                                  <a:rPr lang="en-GB" sz="2800" b="1" i="1" kern="1200" dirty="0" smtClean="0">
                                    <a:solidFill>
                                      <a:schemeClr val="lt1"/>
                                    </a:solidFill>
                                    <a:latin typeface="Cambria Math" panose="02040503050406030204" pitchFamily="18" charset="0"/>
                                    <a:ea typeface="Cambria Math" panose="02040503050406030204" pitchFamily="18" charset="0"/>
                                    <a:cs typeface="+mn-cs"/>
                                  </a:rPr>
                                  <m:t>𝒑</m:t>
                                </m:r>
                                <m:r>
                                  <a:rPr lang="en-GB" sz="2800" b="1" i="1" kern="1200" dirty="0" smtClean="0">
                                    <a:solidFill>
                                      <a:schemeClr val="lt1"/>
                                    </a:solidFill>
                                    <a:latin typeface="Cambria Math" panose="02040503050406030204" pitchFamily="18" charset="0"/>
                                    <a:ea typeface="Cambria Math" panose="02040503050406030204" pitchFamily="18" charset="0"/>
                                    <a:cs typeface="+mn-cs"/>
                                  </a:rPr>
                                  <m:t>∧</m:t>
                                </m:r>
                                <m:r>
                                  <a:rPr lang="en-GB" sz="2800" b="1" i="1" kern="1200" dirty="0" smtClean="0">
                                    <a:solidFill>
                                      <a:schemeClr val="lt1"/>
                                    </a:solidFill>
                                    <a:latin typeface="Cambria Math" panose="02040503050406030204" pitchFamily="18" charset="0"/>
                                    <a:ea typeface="Cambria Math" panose="02040503050406030204" pitchFamily="18" charset="0"/>
                                    <a:cs typeface="+mn-cs"/>
                                  </a:rPr>
                                  <m:t>𝒒</m:t>
                                </m:r>
                              </m:oMath>
                            </m:oMathPara>
                          </a14:m>
                          <a:endParaRPr lang="en-GB" sz="2800" b="1" i="1" kern="1200" dirty="0">
                            <a:solidFill>
                              <a:schemeClr val="lt1"/>
                            </a:solidFill>
                            <a:latin typeface="Cambria Math" panose="02040503050406030204" pitchFamily="18" charset="0"/>
                            <a:ea typeface="Cambria Math" panose="02040503050406030204" pitchFamily="18" charset="0"/>
                            <a:cs typeface="+mn-cs"/>
                          </a:endParaRPr>
                        </a:p>
                      </a:txBody>
                      <a:tcPr/>
                    </a:tc>
                    <a:extLst>
                      <a:ext uri="{0D108BD9-81ED-4DB2-BD59-A6C34878D82A}">
                        <a16:rowId xmlns:a16="http://schemas.microsoft.com/office/drawing/2014/main" val="10000"/>
                      </a:ext>
                    </a:extLst>
                  </a:tr>
                  <a:tr h="604520">
                    <a:tc>
                      <a:txBody>
                        <a:bodyPr/>
                        <a:lstStyle/>
                        <a:p>
                          <a:pPr algn="ctr"/>
                          <a:r>
                            <a:rPr lang="en-GB" sz="2400" dirty="0"/>
                            <a:t>0</a:t>
                          </a:r>
                        </a:p>
                      </a:txBody>
                      <a:tcPr/>
                    </a:tc>
                    <a:extLst>
                      <a:ext uri="{0D108BD9-81ED-4DB2-BD59-A6C34878D82A}">
                        <a16:rowId xmlns:a16="http://schemas.microsoft.com/office/drawing/2014/main" val="10001"/>
                      </a:ext>
                    </a:extLst>
                  </a:tr>
                  <a:tr h="604520">
                    <a:tc>
                      <a:txBody>
                        <a:bodyPr/>
                        <a:lstStyle/>
                        <a:p>
                          <a:pPr algn="ctr"/>
                          <a:r>
                            <a:rPr lang="en-GB" sz="2400" dirty="0"/>
                            <a:t>0</a:t>
                          </a:r>
                        </a:p>
                      </a:txBody>
                      <a:tcPr/>
                    </a:tc>
                    <a:extLst>
                      <a:ext uri="{0D108BD9-81ED-4DB2-BD59-A6C34878D82A}">
                        <a16:rowId xmlns:a16="http://schemas.microsoft.com/office/drawing/2014/main" val="10002"/>
                      </a:ext>
                    </a:extLst>
                  </a:tr>
                  <a:tr h="604520">
                    <a:tc>
                      <a:txBody>
                        <a:bodyPr/>
                        <a:lstStyle/>
                        <a:p>
                          <a:pPr algn="ctr"/>
                          <a:r>
                            <a:rPr lang="en-GB" sz="2400" dirty="0"/>
                            <a:t>0</a:t>
                          </a:r>
                        </a:p>
                      </a:txBody>
                      <a:tcPr/>
                    </a:tc>
                    <a:extLst>
                      <a:ext uri="{0D108BD9-81ED-4DB2-BD59-A6C34878D82A}">
                        <a16:rowId xmlns:a16="http://schemas.microsoft.com/office/drawing/2014/main" val="10003"/>
                      </a:ext>
                    </a:extLst>
                  </a:tr>
                  <a:tr h="604520">
                    <a:tc>
                      <a:txBody>
                        <a:bodyPr/>
                        <a:lstStyle/>
                        <a:p>
                          <a:pPr algn="ctr"/>
                          <a:r>
                            <a:rPr lang="en-GB" sz="2400" dirty="0" err="1"/>
                            <a:t>1</a:t>
                          </a:r>
                          <a:endParaRPr lang="en-GB" sz="2400" dirty="0"/>
                        </a:p>
                      </a:txBody>
                      <a:tcPr/>
                    </a:tc>
                    <a:extLst>
                      <a:ext uri="{0D108BD9-81ED-4DB2-BD59-A6C34878D82A}">
                        <a16:rowId xmlns:a16="http://schemas.microsoft.com/office/drawing/2014/main" val="10004"/>
                      </a:ext>
                    </a:extLst>
                  </a:tr>
                </a:tbl>
              </a:graphicData>
            </a:graphic>
          </p:graphicFrame>
        </mc:Choice>
        <mc:Fallback xmlns="">
          <p:graphicFrame>
            <p:nvGraphicFramePr>
              <p:cNvPr id="12" name="Table 11"/>
              <p:cNvGraphicFramePr>
                <a:graphicFrameLocks noGrp="1"/>
              </p:cNvGraphicFramePr>
              <p:nvPr>
                <p:extLst>
                  <p:ext uri="{D42A27DB-BD31-4B8C-83A1-F6EECF244321}">
                    <p14:modId xmlns:p14="http://schemas.microsoft.com/office/powerpoint/2010/main" val="387232922"/>
                  </p:ext>
                </p:extLst>
              </p:nvPr>
            </p:nvGraphicFramePr>
            <p:xfrm>
              <a:off x="4890448" y="2770496"/>
              <a:ext cx="1053152" cy="3022600"/>
            </p:xfrm>
            <a:graphic>
              <a:graphicData uri="http://schemas.openxmlformats.org/drawingml/2006/table">
                <a:tbl>
                  <a:tblPr firstRow="1" bandRow="1">
                    <a:tableStyleId>{5C22544A-7EE6-4342-B048-85BDC9FD1C3A}</a:tableStyleId>
                  </a:tblPr>
                  <a:tblGrid>
                    <a:gridCol w="1053152"/>
                  </a:tblGrid>
                  <a:tr h="604520">
                    <a:tc>
                      <a:txBody>
                        <a:bodyPr/>
                        <a:lstStyle/>
                        <a:p>
                          <a:endParaRPr lang="en-US"/>
                        </a:p>
                      </a:txBody>
                      <a:tcPr>
                        <a:blipFill rotWithShape="0">
                          <a:blip r:embed="rId6"/>
                          <a:stretch>
                            <a:fillRect l="-578" t="-1010" r="-2890" b="-404040"/>
                          </a:stretch>
                        </a:blipFill>
                      </a:tcPr>
                    </a:tc>
                  </a:tr>
                  <a:tr h="604520">
                    <a:tc>
                      <a:txBody>
                        <a:bodyPr/>
                        <a:lstStyle/>
                        <a:p>
                          <a:pPr algn="ctr"/>
                          <a:r>
                            <a:rPr lang="en-GB" sz="2400" dirty="0" smtClean="0"/>
                            <a:t>0</a:t>
                          </a:r>
                          <a:endParaRPr lang="en-GB" sz="2400" dirty="0"/>
                        </a:p>
                      </a:txBody>
                      <a:tcPr/>
                    </a:tc>
                  </a:tr>
                  <a:tr h="604520">
                    <a:tc>
                      <a:txBody>
                        <a:bodyPr/>
                        <a:lstStyle/>
                        <a:p>
                          <a:pPr algn="ctr"/>
                          <a:r>
                            <a:rPr lang="en-GB" sz="2400" dirty="0" smtClean="0"/>
                            <a:t>0</a:t>
                          </a:r>
                          <a:endParaRPr lang="en-GB" sz="2400" dirty="0"/>
                        </a:p>
                      </a:txBody>
                      <a:tcPr/>
                    </a:tc>
                  </a:tr>
                  <a:tr h="604520">
                    <a:tc>
                      <a:txBody>
                        <a:bodyPr/>
                        <a:lstStyle/>
                        <a:p>
                          <a:pPr algn="ctr"/>
                          <a:r>
                            <a:rPr lang="en-GB" sz="2400" dirty="0" smtClean="0"/>
                            <a:t>0</a:t>
                          </a:r>
                          <a:endParaRPr lang="en-GB" sz="2400" dirty="0"/>
                        </a:p>
                      </a:txBody>
                      <a:tcPr/>
                    </a:tc>
                  </a:tr>
                  <a:tr h="604520">
                    <a:tc>
                      <a:txBody>
                        <a:bodyPr/>
                        <a:lstStyle/>
                        <a:p>
                          <a:pPr algn="ctr"/>
                          <a:r>
                            <a:rPr lang="en-GB" sz="2400" dirty="0" err="1" smtClean="0"/>
                            <a:t>1</a:t>
                          </a:r>
                          <a:endParaRPr lang="en-GB" sz="2400" dirty="0"/>
                        </a:p>
                      </a:txBody>
                      <a:tcPr/>
                    </a:tc>
                  </a:tr>
                </a:tbl>
              </a:graphicData>
            </a:graphic>
          </p:graphicFrame>
        </mc:Fallback>
      </mc:AlternateContent>
      <mc:AlternateContent xmlns:mc="http://schemas.openxmlformats.org/markup-compatibility/2006" xmlns:a14="http://schemas.microsoft.com/office/drawing/2010/main">
        <mc:Choice Requires="a14">
          <p:graphicFrame>
            <p:nvGraphicFramePr>
              <p:cNvPr id="14" name="Table 13"/>
              <p:cNvGraphicFramePr>
                <a:graphicFrameLocks noGrp="1"/>
              </p:cNvGraphicFramePr>
              <p:nvPr>
                <p:extLst>
                  <p:ext uri="{D42A27DB-BD31-4B8C-83A1-F6EECF244321}">
                    <p14:modId xmlns:p14="http://schemas.microsoft.com/office/powerpoint/2010/main" val="3993590428"/>
                  </p:ext>
                </p:extLst>
              </p:nvPr>
            </p:nvGraphicFramePr>
            <p:xfrm>
              <a:off x="5943600" y="2764808"/>
              <a:ext cx="2971800" cy="3022600"/>
            </p:xfrm>
            <a:graphic>
              <a:graphicData uri="http://schemas.openxmlformats.org/drawingml/2006/table">
                <a:tbl>
                  <a:tblPr firstRow="1" bandRow="1">
                    <a:tableStyleId>{5C22544A-7EE6-4342-B048-85BDC9FD1C3A}</a:tableStyleId>
                  </a:tblPr>
                  <a:tblGrid>
                    <a:gridCol w="2971800">
                      <a:extLst>
                        <a:ext uri="{9D8B030D-6E8A-4147-A177-3AD203B41FA5}">
                          <a16:colId xmlns:a16="http://schemas.microsoft.com/office/drawing/2014/main" val="20000"/>
                        </a:ext>
                      </a:extLst>
                    </a:gridCol>
                  </a:tblGrid>
                  <a:tr h="604520">
                    <a:tc>
                      <a:txBody>
                        <a:bodyPr/>
                        <a:lstStyle/>
                        <a:p>
                          <a:pPr algn="ctr"/>
                          <a14:m>
                            <m:oMathPara xmlns:m="http://schemas.openxmlformats.org/officeDocument/2006/math">
                              <m:oMathParaPr>
                                <m:jc m:val="centerGroup"/>
                              </m:oMathParaPr>
                              <m:oMath xmlns:m="http://schemas.openxmlformats.org/officeDocument/2006/math">
                                <m:r>
                                  <a:rPr lang="en-GB" sz="2400" b="1" i="1" kern="1200" dirty="0" smtClean="0">
                                    <a:solidFill>
                                      <a:schemeClr val="lt1"/>
                                    </a:solidFill>
                                    <a:latin typeface="Cambria Math" panose="02040503050406030204" pitchFamily="18" charset="0"/>
                                    <a:ea typeface="Cambria Math" panose="02040503050406030204" pitchFamily="18" charset="0"/>
                                    <a:cs typeface="+mn-cs"/>
                                  </a:rPr>
                                  <m:t>(</m:t>
                                </m:r>
                                <m:r>
                                  <a:rPr lang="en-GB" sz="2400" b="1" i="1" kern="1200" dirty="0" smtClean="0">
                                    <a:solidFill>
                                      <a:schemeClr val="lt1"/>
                                    </a:solidFill>
                                    <a:latin typeface="Cambria Math" panose="02040503050406030204" pitchFamily="18" charset="0"/>
                                    <a:ea typeface="Cambria Math" panose="02040503050406030204" pitchFamily="18" charset="0"/>
                                    <a:cs typeface="+mn-cs"/>
                                  </a:rPr>
                                  <m:t>𝒑</m:t>
                                </m:r>
                                <m:r>
                                  <a:rPr lang="en-GB" sz="2400" b="1" i="1" kern="1200" dirty="0" smtClean="0">
                                    <a:solidFill>
                                      <a:schemeClr val="lt1"/>
                                    </a:solidFill>
                                    <a:latin typeface="Cambria Math" panose="02040503050406030204" pitchFamily="18" charset="0"/>
                                    <a:ea typeface="Cambria Math" panose="02040503050406030204" pitchFamily="18" charset="0"/>
                                    <a:cs typeface="+mn-cs"/>
                                  </a:rPr>
                                  <m:t>∨¬</m:t>
                                </m:r>
                                <m:r>
                                  <a:rPr lang="en-GB" sz="2400" b="1" i="1" kern="1200" dirty="0" smtClean="0">
                                    <a:solidFill>
                                      <a:schemeClr val="lt1"/>
                                    </a:solidFill>
                                    <a:latin typeface="Cambria Math" panose="02040503050406030204" pitchFamily="18" charset="0"/>
                                    <a:ea typeface="Cambria Math" panose="02040503050406030204" pitchFamily="18" charset="0"/>
                                    <a:cs typeface="+mn-cs"/>
                                  </a:rPr>
                                  <m:t>𝒒</m:t>
                                </m:r>
                                <m:r>
                                  <a:rPr lang="en-GB" sz="2400" b="1" i="1" kern="1200" dirty="0" smtClean="0">
                                    <a:solidFill>
                                      <a:schemeClr val="lt1"/>
                                    </a:solidFill>
                                    <a:latin typeface="Cambria Math" panose="02040503050406030204" pitchFamily="18" charset="0"/>
                                    <a:ea typeface="Cambria Math" panose="02040503050406030204" pitchFamily="18" charset="0"/>
                                    <a:cs typeface="+mn-cs"/>
                                  </a:rPr>
                                  <m:t>)⟶(</m:t>
                                </m:r>
                                <m:r>
                                  <a:rPr lang="en-GB" sz="2400" b="1" i="1" kern="1200" dirty="0" smtClean="0">
                                    <a:solidFill>
                                      <a:schemeClr val="lt1"/>
                                    </a:solidFill>
                                    <a:latin typeface="Cambria Math" panose="02040503050406030204" pitchFamily="18" charset="0"/>
                                    <a:ea typeface="Cambria Math" panose="02040503050406030204" pitchFamily="18" charset="0"/>
                                    <a:cs typeface="+mn-cs"/>
                                  </a:rPr>
                                  <m:t>𝒑</m:t>
                                </m:r>
                                <m:r>
                                  <a:rPr lang="en-GB" sz="2400" b="1" i="1" kern="1200" dirty="0" smtClean="0">
                                    <a:solidFill>
                                      <a:schemeClr val="lt1"/>
                                    </a:solidFill>
                                    <a:latin typeface="Cambria Math" panose="02040503050406030204" pitchFamily="18" charset="0"/>
                                    <a:ea typeface="Cambria Math" panose="02040503050406030204" pitchFamily="18" charset="0"/>
                                    <a:cs typeface="+mn-cs"/>
                                  </a:rPr>
                                  <m:t>∧</m:t>
                                </m:r>
                                <m:r>
                                  <a:rPr lang="en-GB" sz="2400" b="1" i="1" kern="1200" dirty="0" smtClean="0">
                                    <a:solidFill>
                                      <a:schemeClr val="lt1"/>
                                    </a:solidFill>
                                    <a:latin typeface="Cambria Math" panose="02040503050406030204" pitchFamily="18" charset="0"/>
                                    <a:ea typeface="Cambria Math" panose="02040503050406030204" pitchFamily="18" charset="0"/>
                                    <a:cs typeface="+mn-cs"/>
                                  </a:rPr>
                                  <m:t>𝒒</m:t>
                                </m:r>
                                <m:r>
                                  <a:rPr lang="en-GB" sz="2400" b="1" i="1" kern="1200" dirty="0" smtClean="0">
                                    <a:solidFill>
                                      <a:schemeClr val="lt1"/>
                                    </a:solidFill>
                                    <a:latin typeface="Cambria Math" panose="02040503050406030204" pitchFamily="18" charset="0"/>
                                    <a:ea typeface="Cambria Math" panose="02040503050406030204" pitchFamily="18" charset="0"/>
                                    <a:cs typeface="+mn-cs"/>
                                  </a:rPr>
                                  <m:t>)</m:t>
                                </m:r>
                              </m:oMath>
                            </m:oMathPara>
                          </a14:m>
                          <a:endParaRPr lang="en-GB" sz="2400" b="1" i="1" kern="1200" dirty="0">
                            <a:solidFill>
                              <a:schemeClr val="lt1"/>
                            </a:solidFill>
                            <a:latin typeface="Cambria Math" panose="02040503050406030204" pitchFamily="18" charset="0"/>
                            <a:ea typeface="Cambria Math" panose="02040503050406030204" pitchFamily="18" charset="0"/>
                            <a:cs typeface="+mn-cs"/>
                          </a:endParaRPr>
                        </a:p>
                      </a:txBody>
                      <a:tcPr/>
                    </a:tc>
                    <a:extLst>
                      <a:ext uri="{0D108BD9-81ED-4DB2-BD59-A6C34878D82A}">
                        <a16:rowId xmlns:a16="http://schemas.microsoft.com/office/drawing/2014/main" val="10000"/>
                      </a:ext>
                    </a:extLst>
                  </a:tr>
                  <a:tr h="604520">
                    <a:tc>
                      <a:txBody>
                        <a:bodyPr/>
                        <a:lstStyle/>
                        <a:p>
                          <a:pPr algn="ctr"/>
                          <a:r>
                            <a:rPr lang="en-GB" sz="2400" dirty="0"/>
                            <a:t>0</a:t>
                          </a:r>
                        </a:p>
                      </a:txBody>
                      <a:tcPr/>
                    </a:tc>
                    <a:extLst>
                      <a:ext uri="{0D108BD9-81ED-4DB2-BD59-A6C34878D82A}">
                        <a16:rowId xmlns:a16="http://schemas.microsoft.com/office/drawing/2014/main" val="10001"/>
                      </a:ext>
                    </a:extLst>
                  </a:tr>
                  <a:tr h="604520">
                    <a:tc>
                      <a:txBody>
                        <a:bodyPr/>
                        <a:lstStyle/>
                        <a:p>
                          <a:pPr algn="ctr"/>
                          <a:r>
                            <a:rPr lang="en-GB" sz="2400" dirty="0"/>
                            <a:t>1</a:t>
                          </a:r>
                        </a:p>
                      </a:txBody>
                      <a:tcPr/>
                    </a:tc>
                    <a:extLst>
                      <a:ext uri="{0D108BD9-81ED-4DB2-BD59-A6C34878D82A}">
                        <a16:rowId xmlns:a16="http://schemas.microsoft.com/office/drawing/2014/main" val="10002"/>
                      </a:ext>
                    </a:extLst>
                  </a:tr>
                  <a:tr h="604520">
                    <a:tc>
                      <a:txBody>
                        <a:bodyPr/>
                        <a:lstStyle/>
                        <a:p>
                          <a:pPr algn="ctr"/>
                          <a:r>
                            <a:rPr lang="en-GB" sz="2400" dirty="0"/>
                            <a:t>0</a:t>
                          </a:r>
                        </a:p>
                      </a:txBody>
                      <a:tcPr/>
                    </a:tc>
                    <a:extLst>
                      <a:ext uri="{0D108BD9-81ED-4DB2-BD59-A6C34878D82A}">
                        <a16:rowId xmlns:a16="http://schemas.microsoft.com/office/drawing/2014/main" val="10003"/>
                      </a:ext>
                    </a:extLst>
                  </a:tr>
                  <a:tr h="604520">
                    <a:tc>
                      <a:txBody>
                        <a:bodyPr/>
                        <a:lstStyle/>
                        <a:p>
                          <a:pPr algn="ctr"/>
                          <a:r>
                            <a:rPr lang="en-GB" sz="2400" dirty="0" err="1"/>
                            <a:t>1</a:t>
                          </a:r>
                          <a:endParaRPr lang="en-GB" sz="2400" dirty="0"/>
                        </a:p>
                      </a:txBody>
                      <a:tcPr/>
                    </a:tc>
                    <a:extLst>
                      <a:ext uri="{0D108BD9-81ED-4DB2-BD59-A6C34878D82A}">
                        <a16:rowId xmlns:a16="http://schemas.microsoft.com/office/drawing/2014/main" val="10004"/>
                      </a:ext>
                    </a:extLst>
                  </a:tr>
                </a:tbl>
              </a:graphicData>
            </a:graphic>
          </p:graphicFrame>
        </mc:Choice>
        <mc:Fallback xmlns="">
          <p:graphicFrame>
            <p:nvGraphicFramePr>
              <p:cNvPr id="14" name="Table 13"/>
              <p:cNvGraphicFramePr>
                <a:graphicFrameLocks noGrp="1"/>
              </p:cNvGraphicFramePr>
              <p:nvPr>
                <p:extLst>
                  <p:ext uri="{D42A27DB-BD31-4B8C-83A1-F6EECF244321}">
                    <p14:modId xmlns:p14="http://schemas.microsoft.com/office/powerpoint/2010/main" val="3993590428"/>
                  </p:ext>
                </p:extLst>
              </p:nvPr>
            </p:nvGraphicFramePr>
            <p:xfrm>
              <a:off x="5943600" y="2764808"/>
              <a:ext cx="2971800" cy="3022600"/>
            </p:xfrm>
            <a:graphic>
              <a:graphicData uri="http://schemas.openxmlformats.org/drawingml/2006/table">
                <a:tbl>
                  <a:tblPr firstRow="1" bandRow="1">
                    <a:tableStyleId>{5C22544A-7EE6-4342-B048-85BDC9FD1C3A}</a:tableStyleId>
                  </a:tblPr>
                  <a:tblGrid>
                    <a:gridCol w="2971800"/>
                  </a:tblGrid>
                  <a:tr h="604520">
                    <a:tc>
                      <a:txBody>
                        <a:bodyPr/>
                        <a:lstStyle/>
                        <a:p>
                          <a:endParaRPr lang="en-US"/>
                        </a:p>
                      </a:txBody>
                      <a:tcPr>
                        <a:blipFill rotWithShape="0">
                          <a:blip r:embed="rId7"/>
                          <a:stretch>
                            <a:fillRect l="-410" t="-1010" r="-820" b="-404040"/>
                          </a:stretch>
                        </a:blipFill>
                      </a:tcPr>
                    </a:tc>
                  </a:tr>
                  <a:tr h="604520">
                    <a:tc>
                      <a:txBody>
                        <a:bodyPr/>
                        <a:lstStyle/>
                        <a:p>
                          <a:pPr algn="ctr"/>
                          <a:r>
                            <a:rPr lang="en-GB" sz="2400" dirty="0" smtClean="0"/>
                            <a:t>0</a:t>
                          </a:r>
                          <a:endParaRPr lang="en-GB" sz="2400" dirty="0"/>
                        </a:p>
                      </a:txBody>
                      <a:tcPr/>
                    </a:tc>
                  </a:tr>
                  <a:tr h="604520">
                    <a:tc>
                      <a:txBody>
                        <a:bodyPr/>
                        <a:lstStyle/>
                        <a:p>
                          <a:pPr algn="ctr"/>
                          <a:r>
                            <a:rPr lang="en-GB" sz="2400" dirty="0" smtClean="0"/>
                            <a:t>1</a:t>
                          </a:r>
                          <a:endParaRPr lang="en-GB" sz="2400" dirty="0"/>
                        </a:p>
                      </a:txBody>
                      <a:tcPr/>
                    </a:tc>
                  </a:tr>
                  <a:tr h="604520">
                    <a:tc>
                      <a:txBody>
                        <a:bodyPr/>
                        <a:lstStyle/>
                        <a:p>
                          <a:pPr algn="ctr"/>
                          <a:r>
                            <a:rPr lang="en-GB" sz="2400" dirty="0" smtClean="0"/>
                            <a:t>0</a:t>
                          </a:r>
                          <a:endParaRPr lang="en-GB" sz="2400" dirty="0"/>
                        </a:p>
                      </a:txBody>
                      <a:tcPr/>
                    </a:tc>
                  </a:tr>
                  <a:tr h="604520">
                    <a:tc>
                      <a:txBody>
                        <a:bodyPr/>
                        <a:lstStyle/>
                        <a:p>
                          <a:pPr algn="ctr"/>
                          <a:r>
                            <a:rPr lang="en-GB" sz="2400" dirty="0" err="1" smtClean="0"/>
                            <a:t>1</a:t>
                          </a:r>
                          <a:endParaRPr lang="en-GB" sz="2400" dirty="0"/>
                        </a:p>
                      </a:txBody>
                      <a:tcPr/>
                    </a:tc>
                  </a:tr>
                </a:tbl>
              </a:graphicData>
            </a:graphic>
          </p:graphicFrame>
        </mc:Fallback>
      </mc:AlternateContent>
    </p:spTree>
    <p:extLst>
      <p:ext uri="{BB962C8B-B14F-4D97-AF65-F5344CB8AC3E}">
        <p14:creationId xmlns:p14="http://schemas.microsoft.com/office/powerpoint/2010/main" val="38061817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256D87-66A3-0C32-DE6E-5C10F6A276D2}"/>
              </a:ext>
            </a:extLst>
          </p:cNvPr>
          <p:cNvSpPr>
            <a:spLocks noGrp="1"/>
          </p:cNvSpPr>
          <p:nvPr>
            <p:ph type="title"/>
          </p:nvPr>
        </p:nvSpPr>
        <p:spPr/>
        <p:txBody>
          <a:bodyPr/>
          <a:lstStyle/>
          <a:p>
            <a:r>
              <a:rPr lang="en-US" dirty="0"/>
              <a:t>Construction of truth tables</a:t>
            </a:r>
          </a:p>
        </p:txBody>
      </p:sp>
      <p:graphicFrame>
        <p:nvGraphicFramePr>
          <p:cNvPr id="7" name="Content Placeholder 6">
            <a:extLst>
              <a:ext uri="{FF2B5EF4-FFF2-40B4-BE49-F238E27FC236}">
                <a16:creationId xmlns:a16="http://schemas.microsoft.com/office/drawing/2014/main" id="{F28CF8CB-3841-4AC0-CD4E-0693F69D8155}"/>
              </a:ext>
            </a:extLst>
          </p:cNvPr>
          <p:cNvGraphicFramePr>
            <a:graphicFrameLocks noGrp="1"/>
          </p:cNvGraphicFramePr>
          <p:nvPr>
            <p:ph idx="1"/>
            <p:extLst>
              <p:ext uri="{D42A27DB-BD31-4B8C-83A1-F6EECF244321}">
                <p14:modId xmlns:p14="http://schemas.microsoft.com/office/powerpoint/2010/main" val="1480367811"/>
              </p:ext>
            </p:extLst>
          </p:nvPr>
        </p:nvGraphicFramePr>
        <p:xfrm>
          <a:off x="457200" y="1676400"/>
          <a:ext cx="5867400" cy="3291840"/>
        </p:xfrm>
        <a:graphic>
          <a:graphicData uri="http://schemas.openxmlformats.org/drawingml/2006/table">
            <a:tbl>
              <a:tblPr firstRow="1" bandRow="1">
                <a:tableStyleId>{5940675A-B579-460E-94D1-54222C63F5DA}</a:tableStyleId>
              </a:tblPr>
              <a:tblGrid>
                <a:gridCol w="1955800">
                  <a:extLst>
                    <a:ext uri="{9D8B030D-6E8A-4147-A177-3AD203B41FA5}">
                      <a16:colId xmlns:a16="http://schemas.microsoft.com/office/drawing/2014/main" val="930886191"/>
                    </a:ext>
                  </a:extLst>
                </a:gridCol>
                <a:gridCol w="1955800">
                  <a:extLst>
                    <a:ext uri="{9D8B030D-6E8A-4147-A177-3AD203B41FA5}">
                      <a16:colId xmlns:a16="http://schemas.microsoft.com/office/drawing/2014/main" val="3961510441"/>
                    </a:ext>
                  </a:extLst>
                </a:gridCol>
                <a:gridCol w="1955800">
                  <a:extLst>
                    <a:ext uri="{9D8B030D-6E8A-4147-A177-3AD203B41FA5}">
                      <a16:colId xmlns:a16="http://schemas.microsoft.com/office/drawing/2014/main" val="418236309"/>
                    </a:ext>
                  </a:extLst>
                </a:gridCol>
              </a:tblGrid>
              <a:tr h="347133">
                <a:tc>
                  <a:txBody>
                    <a:bodyPr/>
                    <a:lstStyle/>
                    <a:p>
                      <a:r>
                        <a:rPr lang="en-US" dirty="0"/>
                        <a:t>p</a:t>
                      </a:r>
                    </a:p>
                  </a:txBody>
                  <a:tcPr/>
                </a:tc>
                <a:tc>
                  <a:txBody>
                    <a:bodyPr/>
                    <a:lstStyle/>
                    <a:p>
                      <a:r>
                        <a:rPr lang="en-US" dirty="0"/>
                        <a:t>q</a:t>
                      </a:r>
                    </a:p>
                  </a:txBody>
                  <a:tcPr/>
                </a:tc>
                <a:tc>
                  <a:txBody>
                    <a:bodyPr/>
                    <a:lstStyle/>
                    <a:p>
                      <a:r>
                        <a:rPr lang="en-US" dirty="0"/>
                        <a:t>r</a:t>
                      </a:r>
                    </a:p>
                  </a:txBody>
                  <a:tcPr/>
                </a:tc>
                <a:extLst>
                  <a:ext uri="{0D108BD9-81ED-4DB2-BD59-A6C34878D82A}">
                    <a16:rowId xmlns:a16="http://schemas.microsoft.com/office/drawing/2014/main" val="1260006642"/>
                  </a:ext>
                </a:extLst>
              </a:tr>
              <a:tr h="347133">
                <a:tc>
                  <a:txBody>
                    <a:bodyPr/>
                    <a:lstStyle/>
                    <a:p>
                      <a:r>
                        <a:rPr lang="en-US" dirty="0"/>
                        <a:t>T</a:t>
                      </a:r>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588445051"/>
                  </a:ext>
                </a:extLst>
              </a:tr>
              <a:tr h="347133">
                <a:tc>
                  <a:txBody>
                    <a:bodyPr/>
                    <a:lstStyle/>
                    <a:p>
                      <a:r>
                        <a:rPr lang="en-US" dirty="0"/>
                        <a:t>T</a:t>
                      </a:r>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49796284"/>
                  </a:ext>
                </a:extLst>
              </a:tr>
              <a:tr h="347133">
                <a:tc>
                  <a:txBody>
                    <a:bodyPr/>
                    <a:lstStyle/>
                    <a:p>
                      <a:r>
                        <a:rPr lang="en-US" dirty="0"/>
                        <a:t>T</a:t>
                      </a:r>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3634053623"/>
                  </a:ext>
                </a:extLst>
              </a:tr>
              <a:tr h="347133">
                <a:tc>
                  <a:txBody>
                    <a:bodyPr/>
                    <a:lstStyle/>
                    <a:p>
                      <a:r>
                        <a:rPr lang="en-US" dirty="0"/>
                        <a:t>T</a:t>
                      </a:r>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83228027"/>
                  </a:ext>
                </a:extLst>
              </a:tr>
              <a:tr h="347133">
                <a:tc>
                  <a:txBody>
                    <a:bodyPr/>
                    <a:lstStyle/>
                    <a:p>
                      <a:r>
                        <a:rPr lang="en-US" dirty="0"/>
                        <a:t>F</a:t>
                      </a:r>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1034469931"/>
                  </a:ext>
                </a:extLst>
              </a:tr>
              <a:tr h="347133">
                <a:tc>
                  <a:txBody>
                    <a:bodyPr/>
                    <a:lstStyle/>
                    <a:p>
                      <a:r>
                        <a:rPr lang="en-US" dirty="0"/>
                        <a:t>F</a:t>
                      </a:r>
                    </a:p>
                  </a:txBody>
                  <a:tcPr/>
                </a:tc>
                <a:tc>
                  <a:txBody>
                    <a:bodyPr/>
                    <a:lstStyle/>
                    <a:p>
                      <a:endParaRPr lang="en-US"/>
                    </a:p>
                  </a:txBody>
                  <a:tcPr/>
                </a:tc>
                <a:tc>
                  <a:txBody>
                    <a:bodyPr/>
                    <a:lstStyle/>
                    <a:p>
                      <a:endParaRPr lang="en-US"/>
                    </a:p>
                  </a:txBody>
                  <a:tcPr/>
                </a:tc>
                <a:extLst>
                  <a:ext uri="{0D108BD9-81ED-4DB2-BD59-A6C34878D82A}">
                    <a16:rowId xmlns:a16="http://schemas.microsoft.com/office/drawing/2014/main" val="2929684473"/>
                  </a:ext>
                </a:extLst>
              </a:tr>
              <a:tr h="347133">
                <a:tc>
                  <a:txBody>
                    <a:bodyPr/>
                    <a:lstStyle/>
                    <a:p>
                      <a:r>
                        <a:rPr lang="en-US" dirty="0"/>
                        <a:t>F</a:t>
                      </a:r>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3903519885"/>
                  </a:ext>
                </a:extLst>
              </a:tr>
              <a:tr h="347133">
                <a:tc>
                  <a:txBody>
                    <a:bodyPr/>
                    <a:lstStyle/>
                    <a:p>
                      <a:r>
                        <a:rPr lang="en-US" dirty="0"/>
                        <a:t>F</a:t>
                      </a:r>
                    </a:p>
                  </a:txBody>
                  <a:tcPr/>
                </a:tc>
                <a:tc>
                  <a:txBody>
                    <a:bodyPr/>
                    <a:lstStyle/>
                    <a:p>
                      <a:endParaRPr lang="en-US" dirty="0"/>
                    </a:p>
                  </a:txBody>
                  <a:tcPr/>
                </a:tc>
                <a:tc>
                  <a:txBody>
                    <a:bodyPr/>
                    <a:lstStyle/>
                    <a:p>
                      <a:endParaRPr lang="en-US" dirty="0"/>
                    </a:p>
                  </a:txBody>
                  <a:tcPr/>
                </a:tc>
                <a:extLst>
                  <a:ext uri="{0D108BD9-81ED-4DB2-BD59-A6C34878D82A}">
                    <a16:rowId xmlns:a16="http://schemas.microsoft.com/office/drawing/2014/main" val="433788430"/>
                  </a:ext>
                </a:extLst>
              </a:tr>
            </a:tbl>
          </a:graphicData>
        </a:graphic>
      </p:graphicFrame>
      <p:sp>
        <p:nvSpPr>
          <p:cNvPr id="4" name="Date Placeholder 3">
            <a:extLst>
              <a:ext uri="{FF2B5EF4-FFF2-40B4-BE49-F238E27FC236}">
                <a16:creationId xmlns:a16="http://schemas.microsoft.com/office/drawing/2014/main" id="{739B0765-C3EE-D239-3C2D-4433AE024460}"/>
              </a:ext>
            </a:extLst>
          </p:cNvPr>
          <p:cNvSpPr>
            <a:spLocks noGrp="1"/>
          </p:cNvSpPr>
          <p:nvPr>
            <p:ph type="dt" sz="half" idx="10"/>
          </p:nvPr>
        </p:nvSpPr>
        <p:spPr/>
        <p:txBody>
          <a:bodyPr/>
          <a:lstStyle/>
          <a:p>
            <a:fld id="{898CF358-C4AB-44F6-8855-2B951DF3C2FB}" type="datetime3">
              <a:rPr lang="en-US" smtClean="0"/>
              <a:t>27 April 2026</a:t>
            </a:fld>
            <a:endParaRPr lang="en-US"/>
          </a:p>
        </p:txBody>
      </p:sp>
      <p:sp>
        <p:nvSpPr>
          <p:cNvPr id="5" name="Footer Placeholder 4">
            <a:extLst>
              <a:ext uri="{FF2B5EF4-FFF2-40B4-BE49-F238E27FC236}">
                <a16:creationId xmlns:a16="http://schemas.microsoft.com/office/drawing/2014/main" id="{D2AB1C9C-5052-2DF4-B0F1-7324F6D50856}"/>
              </a:ext>
            </a:extLst>
          </p:cNvPr>
          <p:cNvSpPr>
            <a:spLocks noGrp="1"/>
          </p:cNvSpPr>
          <p:nvPr>
            <p:ph type="ftr" sz="quarter" idx="11"/>
          </p:nvPr>
        </p:nvSpPr>
        <p:spPr/>
        <p:txBody>
          <a:bodyPr/>
          <a:lstStyle/>
          <a:p>
            <a:r>
              <a:rPr lang="en-US"/>
              <a:t>SCS 1302   Discrete Mathematics 1       Prof. D D Karunaratna</a:t>
            </a:r>
          </a:p>
        </p:txBody>
      </p:sp>
      <p:sp>
        <p:nvSpPr>
          <p:cNvPr id="6" name="Slide Number Placeholder 5">
            <a:extLst>
              <a:ext uri="{FF2B5EF4-FFF2-40B4-BE49-F238E27FC236}">
                <a16:creationId xmlns:a16="http://schemas.microsoft.com/office/drawing/2014/main" id="{F2DDDDB8-C7E8-C12F-7C65-0EBB6D531627}"/>
              </a:ext>
            </a:extLst>
          </p:cNvPr>
          <p:cNvSpPr>
            <a:spLocks noGrp="1"/>
          </p:cNvSpPr>
          <p:nvPr>
            <p:ph type="sldNum" sz="quarter" idx="12"/>
          </p:nvPr>
        </p:nvSpPr>
        <p:spPr/>
        <p:txBody>
          <a:bodyPr/>
          <a:lstStyle/>
          <a:p>
            <a:fld id="{0CA841A6-7C02-4C92-B6EE-5DBCC2AD53D0}" type="slidenum">
              <a:rPr lang="en-US" smtClean="0"/>
              <a:t>40</a:t>
            </a:fld>
            <a:endParaRPr lang="en-US"/>
          </a:p>
        </p:txBody>
      </p:sp>
    </p:spTree>
    <p:extLst>
      <p:ext uri="{BB962C8B-B14F-4D97-AF65-F5344CB8AC3E}">
        <p14:creationId xmlns:p14="http://schemas.microsoft.com/office/powerpoint/2010/main" val="140521038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A39DAC-B7C1-6541-9487-4867492EAB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EDF172B-28B5-C1FD-CCA2-4C76B7D5F488}"/>
              </a:ext>
            </a:extLst>
          </p:cNvPr>
          <p:cNvSpPr>
            <a:spLocks noGrp="1"/>
          </p:cNvSpPr>
          <p:nvPr>
            <p:ph type="title"/>
          </p:nvPr>
        </p:nvSpPr>
        <p:spPr/>
        <p:txBody>
          <a:bodyPr/>
          <a:lstStyle/>
          <a:p>
            <a:r>
              <a:rPr lang="en-US" dirty="0"/>
              <a:t>Construction of truth tables</a:t>
            </a:r>
          </a:p>
        </p:txBody>
      </p:sp>
      <p:graphicFrame>
        <p:nvGraphicFramePr>
          <p:cNvPr id="7" name="Content Placeholder 6">
            <a:extLst>
              <a:ext uri="{FF2B5EF4-FFF2-40B4-BE49-F238E27FC236}">
                <a16:creationId xmlns:a16="http://schemas.microsoft.com/office/drawing/2014/main" id="{0066E09E-9280-1A3A-FC32-77C39A64F777}"/>
              </a:ext>
            </a:extLst>
          </p:cNvPr>
          <p:cNvGraphicFramePr>
            <a:graphicFrameLocks noGrp="1"/>
          </p:cNvGraphicFramePr>
          <p:nvPr>
            <p:ph idx="1"/>
            <p:extLst>
              <p:ext uri="{D42A27DB-BD31-4B8C-83A1-F6EECF244321}">
                <p14:modId xmlns:p14="http://schemas.microsoft.com/office/powerpoint/2010/main" val="332985101"/>
              </p:ext>
            </p:extLst>
          </p:nvPr>
        </p:nvGraphicFramePr>
        <p:xfrm>
          <a:off x="457200" y="1676400"/>
          <a:ext cx="5867400" cy="3291840"/>
        </p:xfrm>
        <a:graphic>
          <a:graphicData uri="http://schemas.openxmlformats.org/drawingml/2006/table">
            <a:tbl>
              <a:tblPr firstRow="1" bandRow="1">
                <a:tableStyleId>{5940675A-B579-460E-94D1-54222C63F5DA}</a:tableStyleId>
              </a:tblPr>
              <a:tblGrid>
                <a:gridCol w="1955800">
                  <a:extLst>
                    <a:ext uri="{9D8B030D-6E8A-4147-A177-3AD203B41FA5}">
                      <a16:colId xmlns:a16="http://schemas.microsoft.com/office/drawing/2014/main" val="930886191"/>
                    </a:ext>
                  </a:extLst>
                </a:gridCol>
                <a:gridCol w="1955800">
                  <a:extLst>
                    <a:ext uri="{9D8B030D-6E8A-4147-A177-3AD203B41FA5}">
                      <a16:colId xmlns:a16="http://schemas.microsoft.com/office/drawing/2014/main" val="3961510441"/>
                    </a:ext>
                  </a:extLst>
                </a:gridCol>
                <a:gridCol w="1955800">
                  <a:extLst>
                    <a:ext uri="{9D8B030D-6E8A-4147-A177-3AD203B41FA5}">
                      <a16:colId xmlns:a16="http://schemas.microsoft.com/office/drawing/2014/main" val="418236309"/>
                    </a:ext>
                  </a:extLst>
                </a:gridCol>
              </a:tblGrid>
              <a:tr h="347133">
                <a:tc>
                  <a:txBody>
                    <a:bodyPr/>
                    <a:lstStyle/>
                    <a:p>
                      <a:r>
                        <a:rPr lang="en-US" dirty="0"/>
                        <a:t>p</a:t>
                      </a:r>
                    </a:p>
                  </a:txBody>
                  <a:tcPr/>
                </a:tc>
                <a:tc>
                  <a:txBody>
                    <a:bodyPr/>
                    <a:lstStyle/>
                    <a:p>
                      <a:r>
                        <a:rPr lang="en-US" dirty="0"/>
                        <a:t>q</a:t>
                      </a:r>
                    </a:p>
                  </a:txBody>
                  <a:tcPr/>
                </a:tc>
                <a:tc>
                  <a:txBody>
                    <a:bodyPr/>
                    <a:lstStyle/>
                    <a:p>
                      <a:r>
                        <a:rPr lang="en-US" dirty="0"/>
                        <a:t>r</a:t>
                      </a:r>
                    </a:p>
                  </a:txBody>
                  <a:tcPr/>
                </a:tc>
                <a:extLst>
                  <a:ext uri="{0D108BD9-81ED-4DB2-BD59-A6C34878D82A}">
                    <a16:rowId xmlns:a16="http://schemas.microsoft.com/office/drawing/2014/main" val="1260006642"/>
                  </a:ext>
                </a:extLst>
              </a:tr>
              <a:tr h="347133">
                <a:tc>
                  <a:txBody>
                    <a:bodyPr/>
                    <a:lstStyle/>
                    <a:p>
                      <a:r>
                        <a:rPr lang="en-US" dirty="0"/>
                        <a:t>T</a:t>
                      </a:r>
                    </a:p>
                  </a:txBody>
                  <a:tcPr/>
                </a:tc>
                <a:tc>
                  <a:txBody>
                    <a:bodyPr/>
                    <a:lstStyle/>
                    <a:p>
                      <a:r>
                        <a:rPr lang="en-US" dirty="0"/>
                        <a:t>T</a:t>
                      </a:r>
                    </a:p>
                  </a:txBody>
                  <a:tcPr/>
                </a:tc>
                <a:tc>
                  <a:txBody>
                    <a:bodyPr/>
                    <a:lstStyle/>
                    <a:p>
                      <a:endParaRPr lang="en-US" dirty="0"/>
                    </a:p>
                  </a:txBody>
                  <a:tcPr/>
                </a:tc>
                <a:extLst>
                  <a:ext uri="{0D108BD9-81ED-4DB2-BD59-A6C34878D82A}">
                    <a16:rowId xmlns:a16="http://schemas.microsoft.com/office/drawing/2014/main" val="588445051"/>
                  </a:ext>
                </a:extLst>
              </a:tr>
              <a:tr h="347133">
                <a:tc>
                  <a:txBody>
                    <a:bodyPr/>
                    <a:lstStyle/>
                    <a:p>
                      <a:r>
                        <a:rPr lang="en-US" dirty="0"/>
                        <a:t>T</a:t>
                      </a:r>
                    </a:p>
                  </a:txBody>
                  <a:tcPr/>
                </a:tc>
                <a:tc>
                  <a:txBody>
                    <a:bodyPr/>
                    <a:lstStyle/>
                    <a:p>
                      <a:r>
                        <a:rPr lang="en-US" dirty="0"/>
                        <a:t>T</a:t>
                      </a:r>
                    </a:p>
                  </a:txBody>
                  <a:tcPr/>
                </a:tc>
                <a:tc>
                  <a:txBody>
                    <a:bodyPr/>
                    <a:lstStyle/>
                    <a:p>
                      <a:endParaRPr lang="en-US" dirty="0"/>
                    </a:p>
                  </a:txBody>
                  <a:tcPr/>
                </a:tc>
                <a:extLst>
                  <a:ext uri="{0D108BD9-81ED-4DB2-BD59-A6C34878D82A}">
                    <a16:rowId xmlns:a16="http://schemas.microsoft.com/office/drawing/2014/main" val="49796284"/>
                  </a:ext>
                </a:extLst>
              </a:tr>
              <a:tr h="347133">
                <a:tc>
                  <a:txBody>
                    <a:bodyPr/>
                    <a:lstStyle/>
                    <a:p>
                      <a:r>
                        <a:rPr lang="en-US" dirty="0"/>
                        <a:t>T</a:t>
                      </a:r>
                    </a:p>
                  </a:txBody>
                  <a:tcPr/>
                </a:tc>
                <a:tc>
                  <a:txBody>
                    <a:bodyPr/>
                    <a:lstStyle/>
                    <a:p>
                      <a:r>
                        <a:rPr lang="en-US" dirty="0"/>
                        <a:t>F</a:t>
                      </a:r>
                    </a:p>
                  </a:txBody>
                  <a:tcPr/>
                </a:tc>
                <a:tc>
                  <a:txBody>
                    <a:bodyPr/>
                    <a:lstStyle/>
                    <a:p>
                      <a:endParaRPr lang="en-US" dirty="0"/>
                    </a:p>
                  </a:txBody>
                  <a:tcPr/>
                </a:tc>
                <a:extLst>
                  <a:ext uri="{0D108BD9-81ED-4DB2-BD59-A6C34878D82A}">
                    <a16:rowId xmlns:a16="http://schemas.microsoft.com/office/drawing/2014/main" val="3634053623"/>
                  </a:ext>
                </a:extLst>
              </a:tr>
              <a:tr h="347133">
                <a:tc>
                  <a:txBody>
                    <a:bodyPr/>
                    <a:lstStyle/>
                    <a:p>
                      <a:r>
                        <a:rPr lang="en-US" dirty="0"/>
                        <a:t>T</a:t>
                      </a:r>
                    </a:p>
                  </a:txBody>
                  <a:tcPr/>
                </a:tc>
                <a:tc>
                  <a:txBody>
                    <a:bodyPr/>
                    <a:lstStyle/>
                    <a:p>
                      <a:r>
                        <a:rPr lang="en-US" dirty="0"/>
                        <a:t>F</a:t>
                      </a:r>
                    </a:p>
                  </a:txBody>
                  <a:tcPr/>
                </a:tc>
                <a:tc>
                  <a:txBody>
                    <a:bodyPr/>
                    <a:lstStyle/>
                    <a:p>
                      <a:endParaRPr lang="en-US" dirty="0"/>
                    </a:p>
                  </a:txBody>
                  <a:tcPr/>
                </a:tc>
                <a:extLst>
                  <a:ext uri="{0D108BD9-81ED-4DB2-BD59-A6C34878D82A}">
                    <a16:rowId xmlns:a16="http://schemas.microsoft.com/office/drawing/2014/main" val="283228027"/>
                  </a:ext>
                </a:extLst>
              </a:tr>
              <a:tr h="347133">
                <a:tc>
                  <a:txBody>
                    <a:bodyPr/>
                    <a:lstStyle/>
                    <a:p>
                      <a:r>
                        <a:rPr lang="en-US" dirty="0"/>
                        <a:t>F</a:t>
                      </a:r>
                    </a:p>
                  </a:txBody>
                  <a:tcPr/>
                </a:tc>
                <a:tc>
                  <a:txBody>
                    <a:bodyPr/>
                    <a:lstStyle/>
                    <a:p>
                      <a:r>
                        <a:rPr lang="en-US" dirty="0"/>
                        <a:t>T</a:t>
                      </a:r>
                    </a:p>
                  </a:txBody>
                  <a:tcPr/>
                </a:tc>
                <a:tc>
                  <a:txBody>
                    <a:bodyPr/>
                    <a:lstStyle/>
                    <a:p>
                      <a:endParaRPr lang="en-US" dirty="0"/>
                    </a:p>
                  </a:txBody>
                  <a:tcPr/>
                </a:tc>
                <a:extLst>
                  <a:ext uri="{0D108BD9-81ED-4DB2-BD59-A6C34878D82A}">
                    <a16:rowId xmlns:a16="http://schemas.microsoft.com/office/drawing/2014/main" val="1034469931"/>
                  </a:ext>
                </a:extLst>
              </a:tr>
              <a:tr h="347133">
                <a:tc>
                  <a:txBody>
                    <a:bodyPr/>
                    <a:lstStyle/>
                    <a:p>
                      <a:r>
                        <a:rPr lang="en-US" dirty="0"/>
                        <a:t>F</a:t>
                      </a:r>
                    </a:p>
                  </a:txBody>
                  <a:tcPr/>
                </a:tc>
                <a:tc>
                  <a:txBody>
                    <a:bodyPr/>
                    <a:lstStyle/>
                    <a:p>
                      <a:r>
                        <a:rPr lang="en-US" dirty="0"/>
                        <a:t>T</a:t>
                      </a:r>
                    </a:p>
                  </a:txBody>
                  <a:tcPr/>
                </a:tc>
                <a:tc>
                  <a:txBody>
                    <a:bodyPr/>
                    <a:lstStyle/>
                    <a:p>
                      <a:endParaRPr lang="en-US" dirty="0"/>
                    </a:p>
                  </a:txBody>
                  <a:tcPr/>
                </a:tc>
                <a:extLst>
                  <a:ext uri="{0D108BD9-81ED-4DB2-BD59-A6C34878D82A}">
                    <a16:rowId xmlns:a16="http://schemas.microsoft.com/office/drawing/2014/main" val="2929684473"/>
                  </a:ext>
                </a:extLst>
              </a:tr>
              <a:tr h="347133">
                <a:tc>
                  <a:txBody>
                    <a:bodyPr/>
                    <a:lstStyle/>
                    <a:p>
                      <a:r>
                        <a:rPr lang="en-US" dirty="0"/>
                        <a:t>F</a:t>
                      </a:r>
                    </a:p>
                  </a:txBody>
                  <a:tcPr/>
                </a:tc>
                <a:tc>
                  <a:txBody>
                    <a:bodyPr/>
                    <a:lstStyle/>
                    <a:p>
                      <a:r>
                        <a:rPr lang="en-US" dirty="0"/>
                        <a:t>F</a:t>
                      </a:r>
                    </a:p>
                  </a:txBody>
                  <a:tcPr/>
                </a:tc>
                <a:tc>
                  <a:txBody>
                    <a:bodyPr/>
                    <a:lstStyle/>
                    <a:p>
                      <a:endParaRPr lang="en-US" dirty="0"/>
                    </a:p>
                  </a:txBody>
                  <a:tcPr/>
                </a:tc>
                <a:extLst>
                  <a:ext uri="{0D108BD9-81ED-4DB2-BD59-A6C34878D82A}">
                    <a16:rowId xmlns:a16="http://schemas.microsoft.com/office/drawing/2014/main" val="3903519885"/>
                  </a:ext>
                </a:extLst>
              </a:tr>
              <a:tr h="347133">
                <a:tc>
                  <a:txBody>
                    <a:bodyPr/>
                    <a:lstStyle/>
                    <a:p>
                      <a:r>
                        <a:rPr lang="en-US" dirty="0"/>
                        <a:t>F</a:t>
                      </a:r>
                    </a:p>
                  </a:txBody>
                  <a:tcPr/>
                </a:tc>
                <a:tc>
                  <a:txBody>
                    <a:bodyPr/>
                    <a:lstStyle/>
                    <a:p>
                      <a:r>
                        <a:rPr lang="en-US" dirty="0"/>
                        <a:t>F</a:t>
                      </a:r>
                    </a:p>
                  </a:txBody>
                  <a:tcPr/>
                </a:tc>
                <a:tc>
                  <a:txBody>
                    <a:bodyPr/>
                    <a:lstStyle/>
                    <a:p>
                      <a:endParaRPr lang="en-US" dirty="0"/>
                    </a:p>
                  </a:txBody>
                  <a:tcPr/>
                </a:tc>
                <a:extLst>
                  <a:ext uri="{0D108BD9-81ED-4DB2-BD59-A6C34878D82A}">
                    <a16:rowId xmlns:a16="http://schemas.microsoft.com/office/drawing/2014/main" val="433788430"/>
                  </a:ext>
                </a:extLst>
              </a:tr>
            </a:tbl>
          </a:graphicData>
        </a:graphic>
      </p:graphicFrame>
      <p:sp>
        <p:nvSpPr>
          <p:cNvPr id="4" name="Date Placeholder 3">
            <a:extLst>
              <a:ext uri="{FF2B5EF4-FFF2-40B4-BE49-F238E27FC236}">
                <a16:creationId xmlns:a16="http://schemas.microsoft.com/office/drawing/2014/main" id="{485F8241-55D1-1FFE-1D59-F63509CA0535}"/>
              </a:ext>
            </a:extLst>
          </p:cNvPr>
          <p:cNvSpPr>
            <a:spLocks noGrp="1"/>
          </p:cNvSpPr>
          <p:nvPr>
            <p:ph type="dt" sz="half" idx="10"/>
          </p:nvPr>
        </p:nvSpPr>
        <p:spPr/>
        <p:txBody>
          <a:bodyPr/>
          <a:lstStyle/>
          <a:p>
            <a:fld id="{CD84DE72-2DC9-435B-BD04-782020101E3E}" type="datetime3">
              <a:rPr lang="en-US" smtClean="0"/>
              <a:t>27 April 2026</a:t>
            </a:fld>
            <a:endParaRPr lang="en-US"/>
          </a:p>
        </p:txBody>
      </p:sp>
      <p:sp>
        <p:nvSpPr>
          <p:cNvPr id="5" name="Footer Placeholder 4">
            <a:extLst>
              <a:ext uri="{FF2B5EF4-FFF2-40B4-BE49-F238E27FC236}">
                <a16:creationId xmlns:a16="http://schemas.microsoft.com/office/drawing/2014/main" id="{7EA6AA0A-DB92-E6C1-CEBF-120FA56AC1F6}"/>
              </a:ext>
            </a:extLst>
          </p:cNvPr>
          <p:cNvSpPr>
            <a:spLocks noGrp="1"/>
          </p:cNvSpPr>
          <p:nvPr>
            <p:ph type="ftr" sz="quarter" idx="11"/>
          </p:nvPr>
        </p:nvSpPr>
        <p:spPr/>
        <p:txBody>
          <a:bodyPr/>
          <a:lstStyle/>
          <a:p>
            <a:r>
              <a:rPr lang="en-US"/>
              <a:t>SCS 1302   Discrete Mathematics 1       Prof. D D Karunaratna</a:t>
            </a:r>
          </a:p>
        </p:txBody>
      </p:sp>
      <p:sp>
        <p:nvSpPr>
          <p:cNvPr id="6" name="Slide Number Placeholder 5">
            <a:extLst>
              <a:ext uri="{FF2B5EF4-FFF2-40B4-BE49-F238E27FC236}">
                <a16:creationId xmlns:a16="http://schemas.microsoft.com/office/drawing/2014/main" id="{0E2C2271-DDC5-0AD9-FACD-09AA3701F4CB}"/>
              </a:ext>
            </a:extLst>
          </p:cNvPr>
          <p:cNvSpPr>
            <a:spLocks noGrp="1"/>
          </p:cNvSpPr>
          <p:nvPr>
            <p:ph type="sldNum" sz="quarter" idx="12"/>
          </p:nvPr>
        </p:nvSpPr>
        <p:spPr/>
        <p:txBody>
          <a:bodyPr/>
          <a:lstStyle/>
          <a:p>
            <a:fld id="{0CA841A6-7C02-4C92-B6EE-5DBCC2AD53D0}" type="slidenum">
              <a:rPr lang="en-US" smtClean="0"/>
              <a:t>41</a:t>
            </a:fld>
            <a:endParaRPr lang="en-US"/>
          </a:p>
        </p:txBody>
      </p:sp>
    </p:spTree>
    <p:extLst>
      <p:ext uri="{BB962C8B-B14F-4D97-AF65-F5344CB8AC3E}">
        <p14:creationId xmlns:p14="http://schemas.microsoft.com/office/powerpoint/2010/main" val="7186521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067892-55BA-034A-A537-0395F31017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4CA6BB-8CBC-F691-1AFF-3D68913DAA63}"/>
              </a:ext>
            </a:extLst>
          </p:cNvPr>
          <p:cNvSpPr>
            <a:spLocks noGrp="1"/>
          </p:cNvSpPr>
          <p:nvPr>
            <p:ph type="title"/>
          </p:nvPr>
        </p:nvSpPr>
        <p:spPr/>
        <p:txBody>
          <a:bodyPr/>
          <a:lstStyle/>
          <a:p>
            <a:r>
              <a:rPr lang="en-US" dirty="0"/>
              <a:t>Construction of truth tables</a:t>
            </a:r>
          </a:p>
        </p:txBody>
      </p:sp>
      <p:graphicFrame>
        <p:nvGraphicFramePr>
          <p:cNvPr id="7" name="Content Placeholder 6">
            <a:extLst>
              <a:ext uri="{FF2B5EF4-FFF2-40B4-BE49-F238E27FC236}">
                <a16:creationId xmlns:a16="http://schemas.microsoft.com/office/drawing/2014/main" id="{DAA92B98-8A64-9B04-AAE2-D9DB9E0389E7}"/>
              </a:ext>
            </a:extLst>
          </p:cNvPr>
          <p:cNvGraphicFramePr>
            <a:graphicFrameLocks noGrp="1"/>
          </p:cNvGraphicFramePr>
          <p:nvPr>
            <p:ph idx="1"/>
            <p:extLst>
              <p:ext uri="{D42A27DB-BD31-4B8C-83A1-F6EECF244321}">
                <p14:modId xmlns:p14="http://schemas.microsoft.com/office/powerpoint/2010/main" val="1309592554"/>
              </p:ext>
            </p:extLst>
          </p:nvPr>
        </p:nvGraphicFramePr>
        <p:xfrm>
          <a:off x="457200" y="1676400"/>
          <a:ext cx="5867400" cy="3291840"/>
        </p:xfrm>
        <a:graphic>
          <a:graphicData uri="http://schemas.openxmlformats.org/drawingml/2006/table">
            <a:tbl>
              <a:tblPr firstRow="1" bandRow="1">
                <a:tableStyleId>{5940675A-B579-460E-94D1-54222C63F5DA}</a:tableStyleId>
              </a:tblPr>
              <a:tblGrid>
                <a:gridCol w="1955800">
                  <a:extLst>
                    <a:ext uri="{9D8B030D-6E8A-4147-A177-3AD203B41FA5}">
                      <a16:colId xmlns:a16="http://schemas.microsoft.com/office/drawing/2014/main" val="930886191"/>
                    </a:ext>
                  </a:extLst>
                </a:gridCol>
                <a:gridCol w="1955800">
                  <a:extLst>
                    <a:ext uri="{9D8B030D-6E8A-4147-A177-3AD203B41FA5}">
                      <a16:colId xmlns:a16="http://schemas.microsoft.com/office/drawing/2014/main" val="3961510441"/>
                    </a:ext>
                  </a:extLst>
                </a:gridCol>
                <a:gridCol w="1955800">
                  <a:extLst>
                    <a:ext uri="{9D8B030D-6E8A-4147-A177-3AD203B41FA5}">
                      <a16:colId xmlns:a16="http://schemas.microsoft.com/office/drawing/2014/main" val="418236309"/>
                    </a:ext>
                  </a:extLst>
                </a:gridCol>
              </a:tblGrid>
              <a:tr h="347133">
                <a:tc>
                  <a:txBody>
                    <a:bodyPr/>
                    <a:lstStyle/>
                    <a:p>
                      <a:r>
                        <a:rPr lang="en-US" dirty="0"/>
                        <a:t>p</a:t>
                      </a:r>
                    </a:p>
                  </a:txBody>
                  <a:tcPr/>
                </a:tc>
                <a:tc>
                  <a:txBody>
                    <a:bodyPr/>
                    <a:lstStyle/>
                    <a:p>
                      <a:r>
                        <a:rPr lang="en-US" dirty="0"/>
                        <a:t>q</a:t>
                      </a:r>
                    </a:p>
                  </a:txBody>
                  <a:tcPr/>
                </a:tc>
                <a:tc>
                  <a:txBody>
                    <a:bodyPr/>
                    <a:lstStyle/>
                    <a:p>
                      <a:r>
                        <a:rPr lang="en-US" dirty="0"/>
                        <a:t>r</a:t>
                      </a:r>
                    </a:p>
                  </a:txBody>
                  <a:tcPr/>
                </a:tc>
                <a:extLst>
                  <a:ext uri="{0D108BD9-81ED-4DB2-BD59-A6C34878D82A}">
                    <a16:rowId xmlns:a16="http://schemas.microsoft.com/office/drawing/2014/main" val="1260006642"/>
                  </a:ext>
                </a:extLst>
              </a:tr>
              <a:tr h="347133">
                <a:tc>
                  <a:txBody>
                    <a:bodyPr/>
                    <a:lstStyle/>
                    <a:p>
                      <a:r>
                        <a:rPr lang="en-US" dirty="0"/>
                        <a:t>T</a:t>
                      </a:r>
                    </a:p>
                  </a:txBody>
                  <a:tcPr/>
                </a:tc>
                <a:tc>
                  <a:txBody>
                    <a:bodyPr/>
                    <a:lstStyle/>
                    <a:p>
                      <a:r>
                        <a:rPr lang="en-US" dirty="0"/>
                        <a:t>T</a:t>
                      </a:r>
                    </a:p>
                  </a:txBody>
                  <a:tcPr/>
                </a:tc>
                <a:tc>
                  <a:txBody>
                    <a:bodyPr/>
                    <a:lstStyle/>
                    <a:p>
                      <a:r>
                        <a:rPr lang="en-US" dirty="0"/>
                        <a:t>T</a:t>
                      </a:r>
                    </a:p>
                  </a:txBody>
                  <a:tcPr/>
                </a:tc>
                <a:extLst>
                  <a:ext uri="{0D108BD9-81ED-4DB2-BD59-A6C34878D82A}">
                    <a16:rowId xmlns:a16="http://schemas.microsoft.com/office/drawing/2014/main" val="588445051"/>
                  </a:ext>
                </a:extLst>
              </a:tr>
              <a:tr h="347133">
                <a:tc>
                  <a:txBody>
                    <a:bodyPr/>
                    <a:lstStyle/>
                    <a:p>
                      <a:r>
                        <a:rPr lang="en-US" dirty="0"/>
                        <a:t>T</a:t>
                      </a:r>
                    </a:p>
                  </a:txBody>
                  <a:tcPr/>
                </a:tc>
                <a:tc>
                  <a:txBody>
                    <a:bodyPr/>
                    <a:lstStyle/>
                    <a:p>
                      <a:r>
                        <a:rPr lang="en-US" dirty="0"/>
                        <a:t>T</a:t>
                      </a:r>
                    </a:p>
                  </a:txBody>
                  <a:tcPr/>
                </a:tc>
                <a:tc>
                  <a:txBody>
                    <a:bodyPr/>
                    <a:lstStyle/>
                    <a:p>
                      <a:r>
                        <a:rPr lang="en-US" dirty="0"/>
                        <a:t>F</a:t>
                      </a:r>
                    </a:p>
                  </a:txBody>
                  <a:tcPr/>
                </a:tc>
                <a:extLst>
                  <a:ext uri="{0D108BD9-81ED-4DB2-BD59-A6C34878D82A}">
                    <a16:rowId xmlns:a16="http://schemas.microsoft.com/office/drawing/2014/main" val="49796284"/>
                  </a:ext>
                </a:extLst>
              </a:tr>
              <a:tr h="347133">
                <a:tc>
                  <a:txBody>
                    <a:bodyPr/>
                    <a:lstStyle/>
                    <a:p>
                      <a:r>
                        <a:rPr lang="en-US" dirty="0"/>
                        <a:t>T</a:t>
                      </a:r>
                    </a:p>
                  </a:txBody>
                  <a:tcPr/>
                </a:tc>
                <a:tc>
                  <a:txBody>
                    <a:bodyPr/>
                    <a:lstStyle/>
                    <a:p>
                      <a:r>
                        <a:rPr lang="en-US" dirty="0"/>
                        <a:t>F</a:t>
                      </a:r>
                    </a:p>
                  </a:txBody>
                  <a:tcPr/>
                </a:tc>
                <a:tc>
                  <a:txBody>
                    <a:bodyPr/>
                    <a:lstStyle/>
                    <a:p>
                      <a:r>
                        <a:rPr lang="en-US" dirty="0"/>
                        <a:t>T</a:t>
                      </a:r>
                    </a:p>
                  </a:txBody>
                  <a:tcPr/>
                </a:tc>
                <a:extLst>
                  <a:ext uri="{0D108BD9-81ED-4DB2-BD59-A6C34878D82A}">
                    <a16:rowId xmlns:a16="http://schemas.microsoft.com/office/drawing/2014/main" val="3634053623"/>
                  </a:ext>
                </a:extLst>
              </a:tr>
              <a:tr h="347133">
                <a:tc>
                  <a:txBody>
                    <a:bodyPr/>
                    <a:lstStyle/>
                    <a:p>
                      <a:r>
                        <a:rPr lang="en-US" dirty="0"/>
                        <a:t>T</a:t>
                      </a:r>
                    </a:p>
                  </a:txBody>
                  <a:tcPr/>
                </a:tc>
                <a:tc>
                  <a:txBody>
                    <a:bodyPr/>
                    <a:lstStyle/>
                    <a:p>
                      <a:r>
                        <a:rPr lang="en-US" dirty="0"/>
                        <a:t>F</a:t>
                      </a:r>
                    </a:p>
                  </a:txBody>
                  <a:tcPr/>
                </a:tc>
                <a:tc>
                  <a:txBody>
                    <a:bodyPr/>
                    <a:lstStyle/>
                    <a:p>
                      <a:r>
                        <a:rPr lang="en-US" dirty="0"/>
                        <a:t>F</a:t>
                      </a:r>
                    </a:p>
                  </a:txBody>
                  <a:tcPr/>
                </a:tc>
                <a:extLst>
                  <a:ext uri="{0D108BD9-81ED-4DB2-BD59-A6C34878D82A}">
                    <a16:rowId xmlns:a16="http://schemas.microsoft.com/office/drawing/2014/main" val="283228027"/>
                  </a:ext>
                </a:extLst>
              </a:tr>
              <a:tr h="347133">
                <a:tc>
                  <a:txBody>
                    <a:bodyPr/>
                    <a:lstStyle/>
                    <a:p>
                      <a:r>
                        <a:rPr lang="en-US" dirty="0"/>
                        <a:t>F</a:t>
                      </a:r>
                    </a:p>
                  </a:txBody>
                  <a:tcPr/>
                </a:tc>
                <a:tc>
                  <a:txBody>
                    <a:bodyPr/>
                    <a:lstStyle/>
                    <a:p>
                      <a:r>
                        <a:rPr lang="en-US" dirty="0"/>
                        <a:t>T</a:t>
                      </a:r>
                    </a:p>
                  </a:txBody>
                  <a:tcPr/>
                </a:tc>
                <a:tc>
                  <a:txBody>
                    <a:bodyPr/>
                    <a:lstStyle/>
                    <a:p>
                      <a:r>
                        <a:rPr lang="en-US" dirty="0"/>
                        <a:t>T</a:t>
                      </a:r>
                    </a:p>
                  </a:txBody>
                  <a:tcPr/>
                </a:tc>
                <a:extLst>
                  <a:ext uri="{0D108BD9-81ED-4DB2-BD59-A6C34878D82A}">
                    <a16:rowId xmlns:a16="http://schemas.microsoft.com/office/drawing/2014/main" val="1034469931"/>
                  </a:ext>
                </a:extLst>
              </a:tr>
              <a:tr h="347133">
                <a:tc>
                  <a:txBody>
                    <a:bodyPr/>
                    <a:lstStyle/>
                    <a:p>
                      <a:r>
                        <a:rPr lang="en-US" dirty="0"/>
                        <a:t>F</a:t>
                      </a:r>
                    </a:p>
                  </a:txBody>
                  <a:tcPr/>
                </a:tc>
                <a:tc>
                  <a:txBody>
                    <a:bodyPr/>
                    <a:lstStyle/>
                    <a:p>
                      <a:r>
                        <a:rPr lang="en-US" dirty="0"/>
                        <a:t>T</a:t>
                      </a:r>
                    </a:p>
                  </a:txBody>
                  <a:tcPr/>
                </a:tc>
                <a:tc>
                  <a:txBody>
                    <a:bodyPr/>
                    <a:lstStyle/>
                    <a:p>
                      <a:r>
                        <a:rPr lang="en-US" dirty="0"/>
                        <a:t>F</a:t>
                      </a:r>
                    </a:p>
                  </a:txBody>
                  <a:tcPr/>
                </a:tc>
                <a:extLst>
                  <a:ext uri="{0D108BD9-81ED-4DB2-BD59-A6C34878D82A}">
                    <a16:rowId xmlns:a16="http://schemas.microsoft.com/office/drawing/2014/main" val="2929684473"/>
                  </a:ext>
                </a:extLst>
              </a:tr>
              <a:tr h="347133">
                <a:tc>
                  <a:txBody>
                    <a:bodyPr/>
                    <a:lstStyle/>
                    <a:p>
                      <a:r>
                        <a:rPr lang="en-US" dirty="0"/>
                        <a:t>F</a:t>
                      </a:r>
                    </a:p>
                  </a:txBody>
                  <a:tcPr/>
                </a:tc>
                <a:tc>
                  <a:txBody>
                    <a:bodyPr/>
                    <a:lstStyle/>
                    <a:p>
                      <a:r>
                        <a:rPr lang="en-US" dirty="0"/>
                        <a:t>F</a:t>
                      </a:r>
                    </a:p>
                  </a:txBody>
                  <a:tcPr/>
                </a:tc>
                <a:tc>
                  <a:txBody>
                    <a:bodyPr/>
                    <a:lstStyle/>
                    <a:p>
                      <a:r>
                        <a:rPr lang="en-US" dirty="0"/>
                        <a:t>T</a:t>
                      </a:r>
                    </a:p>
                  </a:txBody>
                  <a:tcPr/>
                </a:tc>
                <a:extLst>
                  <a:ext uri="{0D108BD9-81ED-4DB2-BD59-A6C34878D82A}">
                    <a16:rowId xmlns:a16="http://schemas.microsoft.com/office/drawing/2014/main" val="3903519885"/>
                  </a:ext>
                </a:extLst>
              </a:tr>
              <a:tr h="347133">
                <a:tc>
                  <a:txBody>
                    <a:bodyPr/>
                    <a:lstStyle/>
                    <a:p>
                      <a:r>
                        <a:rPr lang="en-US" dirty="0"/>
                        <a:t>F</a:t>
                      </a:r>
                    </a:p>
                  </a:txBody>
                  <a:tcPr/>
                </a:tc>
                <a:tc>
                  <a:txBody>
                    <a:bodyPr/>
                    <a:lstStyle/>
                    <a:p>
                      <a:r>
                        <a:rPr lang="en-US" dirty="0"/>
                        <a:t>F</a:t>
                      </a:r>
                    </a:p>
                  </a:txBody>
                  <a:tcPr/>
                </a:tc>
                <a:tc>
                  <a:txBody>
                    <a:bodyPr/>
                    <a:lstStyle/>
                    <a:p>
                      <a:r>
                        <a:rPr lang="en-US"/>
                        <a:t>F</a:t>
                      </a:r>
                      <a:endParaRPr lang="en-US" dirty="0"/>
                    </a:p>
                  </a:txBody>
                  <a:tcPr/>
                </a:tc>
                <a:extLst>
                  <a:ext uri="{0D108BD9-81ED-4DB2-BD59-A6C34878D82A}">
                    <a16:rowId xmlns:a16="http://schemas.microsoft.com/office/drawing/2014/main" val="433788430"/>
                  </a:ext>
                </a:extLst>
              </a:tr>
            </a:tbl>
          </a:graphicData>
        </a:graphic>
      </p:graphicFrame>
      <p:sp>
        <p:nvSpPr>
          <p:cNvPr id="4" name="Date Placeholder 3">
            <a:extLst>
              <a:ext uri="{FF2B5EF4-FFF2-40B4-BE49-F238E27FC236}">
                <a16:creationId xmlns:a16="http://schemas.microsoft.com/office/drawing/2014/main" id="{2C7BF011-EFA1-7264-7163-427C0F62F71F}"/>
              </a:ext>
            </a:extLst>
          </p:cNvPr>
          <p:cNvSpPr>
            <a:spLocks noGrp="1"/>
          </p:cNvSpPr>
          <p:nvPr>
            <p:ph type="dt" sz="half" idx="10"/>
          </p:nvPr>
        </p:nvSpPr>
        <p:spPr/>
        <p:txBody>
          <a:bodyPr/>
          <a:lstStyle/>
          <a:p>
            <a:fld id="{82004A6E-B4E9-4B48-8090-56A3865E2790}" type="datetime3">
              <a:rPr lang="en-US" smtClean="0"/>
              <a:t>27 April 2026</a:t>
            </a:fld>
            <a:endParaRPr lang="en-US"/>
          </a:p>
        </p:txBody>
      </p:sp>
      <p:sp>
        <p:nvSpPr>
          <p:cNvPr id="5" name="Footer Placeholder 4">
            <a:extLst>
              <a:ext uri="{FF2B5EF4-FFF2-40B4-BE49-F238E27FC236}">
                <a16:creationId xmlns:a16="http://schemas.microsoft.com/office/drawing/2014/main" id="{8EFDCF33-6442-40EE-3D9E-6C7165C826A3}"/>
              </a:ext>
            </a:extLst>
          </p:cNvPr>
          <p:cNvSpPr>
            <a:spLocks noGrp="1"/>
          </p:cNvSpPr>
          <p:nvPr>
            <p:ph type="ftr" sz="quarter" idx="11"/>
          </p:nvPr>
        </p:nvSpPr>
        <p:spPr/>
        <p:txBody>
          <a:bodyPr/>
          <a:lstStyle/>
          <a:p>
            <a:r>
              <a:rPr lang="en-US"/>
              <a:t>SCS 1302   Discrete Mathematics 1       Prof. D D Karunaratna</a:t>
            </a:r>
          </a:p>
        </p:txBody>
      </p:sp>
      <p:sp>
        <p:nvSpPr>
          <p:cNvPr id="6" name="Slide Number Placeholder 5">
            <a:extLst>
              <a:ext uri="{FF2B5EF4-FFF2-40B4-BE49-F238E27FC236}">
                <a16:creationId xmlns:a16="http://schemas.microsoft.com/office/drawing/2014/main" id="{06256207-723C-5C48-FB20-4DD4531B8594}"/>
              </a:ext>
            </a:extLst>
          </p:cNvPr>
          <p:cNvSpPr>
            <a:spLocks noGrp="1"/>
          </p:cNvSpPr>
          <p:nvPr>
            <p:ph type="sldNum" sz="quarter" idx="12"/>
          </p:nvPr>
        </p:nvSpPr>
        <p:spPr/>
        <p:txBody>
          <a:bodyPr/>
          <a:lstStyle/>
          <a:p>
            <a:fld id="{0CA841A6-7C02-4C92-B6EE-5DBCC2AD53D0}" type="slidenum">
              <a:rPr lang="en-US" smtClean="0"/>
              <a:t>42</a:t>
            </a:fld>
            <a:endParaRPr lang="en-US"/>
          </a:p>
        </p:txBody>
      </p:sp>
    </p:spTree>
    <p:extLst>
      <p:ext uri="{BB962C8B-B14F-4D97-AF65-F5344CB8AC3E}">
        <p14:creationId xmlns:p14="http://schemas.microsoft.com/office/powerpoint/2010/main" val="374267083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Tautology and Contradiction</a:t>
            </a:r>
            <a:endParaRPr lang="en-GB" dirty="0"/>
          </a:p>
        </p:txBody>
      </p:sp>
      <p:sp>
        <p:nvSpPr>
          <p:cNvPr id="4" name="Date Placeholder 3"/>
          <p:cNvSpPr>
            <a:spLocks noGrp="1"/>
          </p:cNvSpPr>
          <p:nvPr>
            <p:ph type="dt" sz="half" idx="10"/>
          </p:nvPr>
        </p:nvSpPr>
        <p:spPr/>
        <p:txBody>
          <a:bodyPr/>
          <a:lstStyle/>
          <a:p>
            <a:fld id="{F006C793-94E3-4E80-80C5-84B727E00D88}" type="datetime3">
              <a:rPr lang="en-US" smtClean="0"/>
              <a:t>27 April 2026</a:t>
            </a:fld>
            <a:endParaRPr lang="en-US"/>
          </a:p>
        </p:txBody>
      </p:sp>
      <p:sp>
        <p:nvSpPr>
          <p:cNvPr id="5" name="Footer Placeholder 4"/>
          <p:cNvSpPr>
            <a:spLocks noGrp="1"/>
          </p:cNvSpPr>
          <p:nvPr>
            <p:ph type="ftr" sz="quarter" idx="11"/>
          </p:nvPr>
        </p:nvSpPr>
        <p:spPr/>
        <p:txBody>
          <a:bodyPr/>
          <a:lstStyle/>
          <a:p>
            <a:r>
              <a:rPr lang="en-US"/>
              <a:t>SCS 1302   Discrete Mathematics 1       Prof. D D Karunaratna</a:t>
            </a:r>
          </a:p>
        </p:txBody>
      </p:sp>
      <p:sp>
        <p:nvSpPr>
          <p:cNvPr id="6" name="Slide Number Placeholder 5"/>
          <p:cNvSpPr>
            <a:spLocks noGrp="1"/>
          </p:cNvSpPr>
          <p:nvPr>
            <p:ph type="sldNum" sz="quarter" idx="12"/>
          </p:nvPr>
        </p:nvSpPr>
        <p:spPr/>
        <p:txBody>
          <a:bodyPr/>
          <a:lstStyle/>
          <a:p>
            <a:fld id="{0CA841A6-7C02-4C92-B6EE-5DBCC2AD53D0}" type="slidenum">
              <a:rPr lang="en-US" smtClean="0"/>
              <a:t>43</a:t>
            </a:fld>
            <a:endParaRPr lang="en-US"/>
          </a:p>
        </p:txBody>
      </p:sp>
      <p:sp>
        <p:nvSpPr>
          <p:cNvPr id="7" name="Rectangle 6"/>
          <p:cNvSpPr/>
          <p:nvPr/>
        </p:nvSpPr>
        <p:spPr>
          <a:xfrm>
            <a:off x="381000" y="1718608"/>
            <a:ext cx="8458200" cy="1785104"/>
          </a:xfrm>
          <a:prstGeom prst="rect">
            <a:avLst/>
          </a:prstGeom>
        </p:spPr>
        <p:txBody>
          <a:bodyPr wrap="square">
            <a:spAutoFit/>
          </a:bodyPr>
          <a:lstStyle/>
          <a:p>
            <a:pPr algn="just"/>
            <a:r>
              <a:rPr lang="en-US" sz="2200" dirty="0"/>
              <a:t>A compound proposition that is always true, no matter what the truth values of the propositional variables that occur in it, is called a </a:t>
            </a:r>
            <a:r>
              <a:rPr lang="en-US" sz="2200" b="1" i="1" dirty="0"/>
              <a:t>tautology</a:t>
            </a:r>
            <a:r>
              <a:rPr lang="en-US" sz="2200" i="1" dirty="0"/>
              <a:t>. A compound proposition that is always </a:t>
            </a:r>
            <a:r>
              <a:rPr lang="en-US" sz="2200" dirty="0"/>
              <a:t>false is called a </a:t>
            </a:r>
            <a:r>
              <a:rPr lang="en-US" sz="2200" b="1" i="1" dirty="0"/>
              <a:t>contradiction</a:t>
            </a:r>
            <a:r>
              <a:rPr lang="en-US" sz="2200" i="1" dirty="0"/>
              <a:t>. A compound proposition that is neither a tautology nor a </a:t>
            </a:r>
            <a:r>
              <a:rPr lang="en-US" sz="2200" dirty="0"/>
              <a:t>contradiction is called a </a:t>
            </a:r>
            <a:r>
              <a:rPr lang="en-US" sz="2200" b="1" i="1" dirty="0"/>
              <a:t>contingency</a:t>
            </a:r>
            <a:r>
              <a:rPr lang="en-US" sz="2200" i="1" dirty="0"/>
              <a:t>.</a:t>
            </a:r>
            <a:endParaRPr lang="en-US" sz="2200" dirty="0"/>
          </a:p>
        </p:txBody>
      </p:sp>
      <p:graphicFrame>
        <p:nvGraphicFramePr>
          <p:cNvPr id="8" name="Group 40"/>
          <p:cNvGraphicFramePr>
            <a:graphicFrameLocks noGrp="1"/>
          </p:cNvGraphicFramePr>
          <p:nvPr>
            <p:extLst>
              <p:ext uri="{D42A27DB-BD31-4B8C-83A1-F6EECF244321}">
                <p14:modId xmlns:p14="http://schemas.microsoft.com/office/powerpoint/2010/main" val="2869972828"/>
              </p:ext>
            </p:extLst>
          </p:nvPr>
        </p:nvGraphicFramePr>
        <p:xfrm>
          <a:off x="609601" y="3962400"/>
          <a:ext cx="2514600" cy="1944642"/>
        </p:xfrm>
        <a:graphic>
          <a:graphicData uri="http://schemas.openxmlformats.org/drawingml/2006/table">
            <a:tbl>
              <a:tblPr/>
              <a:tblGrid>
                <a:gridCol w="543697">
                  <a:extLst>
                    <a:ext uri="{9D8B030D-6E8A-4147-A177-3AD203B41FA5}">
                      <a16:colId xmlns:a16="http://schemas.microsoft.com/office/drawing/2014/main" val="20000"/>
                    </a:ext>
                  </a:extLst>
                </a:gridCol>
                <a:gridCol w="675502">
                  <a:extLst>
                    <a:ext uri="{9D8B030D-6E8A-4147-A177-3AD203B41FA5}">
                      <a16:colId xmlns:a16="http://schemas.microsoft.com/office/drawing/2014/main" val="20001"/>
                    </a:ext>
                  </a:extLst>
                </a:gridCol>
                <a:gridCol w="1295401">
                  <a:extLst>
                    <a:ext uri="{9D8B030D-6E8A-4147-A177-3AD203B41FA5}">
                      <a16:colId xmlns:a16="http://schemas.microsoft.com/office/drawing/2014/main" val="20002"/>
                    </a:ext>
                  </a:extLst>
                </a:gridCol>
              </a:tblGrid>
              <a:tr h="419320">
                <a:tc gridSpan="3">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lang="en-US" sz="2800" b="1" kern="1200" dirty="0">
                          <a:solidFill>
                            <a:schemeClr val="tx1"/>
                          </a:solidFill>
                          <a:latin typeface="+mn-lt"/>
                          <a:ea typeface="+mn-ea"/>
                          <a:cs typeface="+mn-cs"/>
                          <a:sym typeface="Symbol" pitchFamily="1" charset="2"/>
                        </a:rPr>
                        <a:t>Tautology</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dirty="0">
                        <a:ln>
                          <a:noFill/>
                        </a:ln>
                        <a:solidFill>
                          <a:schemeClr val="tx1"/>
                        </a:solidFill>
                        <a:effectLst/>
                        <a:latin typeface="Comic Sans MS" pitchFamily="1" charset="0"/>
                        <a:ea typeface="ＭＳ Ｐゴシック" pitchFamily="1" charset="-128"/>
                        <a:sym typeface="Symbol" pitchFamily="1" charset="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w="38100" cap="flat" cmpd="sng" algn="ctr">
                      <a:solidFill>
                        <a:schemeClr val="tx1"/>
                      </a:solidFill>
                      <a:prstDash val="solid"/>
                      <a:round/>
                      <a:headEnd type="none" w="med" len="med"/>
                      <a:tailEnd type="none" w="med" len="med"/>
                    </a:lnB>
                    <a:lnTlToBr>
                      <a:noFill/>
                    </a:lnTlToBr>
                    <a:lnBlToTr>
                      <a:noFill/>
                    </a:lnBlToTr>
                    <a:noFill/>
                  </a:tcPr>
                </a:tc>
                <a:tc hMerge="1">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dirty="0">
                        <a:ln>
                          <a:noFill/>
                        </a:ln>
                        <a:solidFill>
                          <a:schemeClr val="tx1"/>
                        </a:solidFill>
                        <a:effectLst/>
                        <a:latin typeface="Comic Sans MS" pitchFamily="1" charset="0"/>
                        <a:ea typeface="ＭＳ Ｐゴシック" pitchFamily="1" charset="-128"/>
                        <a:sym typeface="Symbol" pitchFamily="1" charset="2"/>
                      </a:endParaRPr>
                    </a:p>
                  </a:txBody>
                  <a:tcPr horzOverflow="overflow">
                    <a:lnL w="12700" cap="flat" cmpd="sng" algn="ctr">
                      <a:solidFill>
                        <a:schemeClr val="tx1"/>
                      </a:solidFill>
                      <a:prstDash val="solid"/>
                      <a:round/>
                      <a:headEnd type="none" w="med" len="med"/>
                      <a:tailEnd type="none" w="med" len="med"/>
                    </a:lnL>
                    <a:lnR cap="flat">
                      <a:noFill/>
                    </a:lnR>
                    <a:lnT cap="flat">
                      <a:noFill/>
                    </a:lnT>
                    <a:lnB w="381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2484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1" u="none" strike="noStrike" cap="none" normalizeH="0" baseline="0" dirty="0">
                          <a:ln>
                            <a:noFill/>
                          </a:ln>
                          <a:solidFill>
                            <a:schemeClr val="tx1"/>
                          </a:solidFill>
                          <a:effectLst/>
                          <a:latin typeface="Comic Sans MS" pitchFamily="1" charset="0"/>
                          <a:ea typeface="ＭＳ Ｐゴシック" pitchFamily="1" charset="-128"/>
                        </a:rPr>
                        <a:t>P</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1" u="none" strike="noStrike" cap="none" normalizeH="0" baseline="0" dirty="0">
                          <a:ln>
                            <a:noFill/>
                          </a:ln>
                          <a:solidFill>
                            <a:schemeClr val="tx1"/>
                          </a:solidFill>
                          <a:effectLst/>
                          <a:latin typeface="Comic Sans MS" pitchFamily="1" charset="0"/>
                          <a:ea typeface="ＭＳ Ｐゴシック" pitchFamily="1" charset="-128"/>
                          <a:sym typeface="Symbol" pitchFamily="1" charset="2"/>
                        </a:rPr>
                        <a:t> p</a:t>
                      </a:r>
                      <a:endParaRPr kumimoji="0" lang="en-US" sz="2000" b="0" i="0" u="none" strike="noStrike" cap="none" normalizeH="0" baseline="0" dirty="0">
                        <a:ln>
                          <a:noFill/>
                        </a:ln>
                        <a:solidFill>
                          <a:schemeClr val="tx1"/>
                        </a:solidFill>
                        <a:effectLst/>
                        <a:latin typeface="Comic Sans MS" pitchFamily="1" charset="0"/>
                        <a:ea typeface="ＭＳ Ｐゴシック" pitchFamily="1" charset="-128"/>
                        <a:sym typeface="Symbol" pitchFamily="1" charset="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0" lang="en-US" sz="2000" b="0" i="1" u="none" strike="noStrike" cap="none" normalizeH="0" baseline="0" dirty="0">
                          <a:ln>
                            <a:noFill/>
                          </a:ln>
                          <a:solidFill>
                            <a:schemeClr val="tx1"/>
                          </a:solidFill>
                          <a:effectLst/>
                          <a:latin typeface="Comic Sans MS" pitchFamily="1" charset="0"/>
                          <a:ea typeface="ＭＳ Ｐゴシック" pitchFamily="1" charset="-128"/>
                        </a:rPr>
                        <a:t>p </a:t>
                      </a:r>
                      <a:r>
                        <a:rPr kumimoji="0" lang="en-US" sz="2000" b="0" i="0" u="none" strike="noStrike" cap="none" normalizeH="0" baseline="0" dirty="0">
                          <a:ln>
                            <a:noFill/>
                          </a:ln>
                          <a:solidFill>
                            <a:schemeClr val="tx1"/>
                          </a:solidFill>
                          <a:effectLst/>
                          <a:latin typeface="Arial" charset="0"/>
                          <a:ea typeface="ＭＳ Ｐゴシック" pitchFamily="1" charset="-128"/>
                          <a:sym typeface="Symbol" pitchFamily="1" charset="2"/>
                        </a:rPr>
                        <a:t></a:t>
                      </a:r>
                      <a:r>
                        <a:rPr kumimoji="0" lang="en-US" sz="2000" b="0" i="1" u="none" strike="noStrike" cap="none" normalizeH="0" baseline="0" dirty="0">
                          <a:ln>
                            <a:noFill/>
                          </a:ln>
                          <a:solidFill>
                            <a:schemeClr val="tx1"/>
                          </a:solidFill>
                          <a:effectLst/>
                          <a:latin typeface="Comic Sans MS" pitchFamily="1" charset="0"/>
                          <a:ea typeface="ＭＳ Ｐゴシック" pitchFamily="1" charset="-128"/>
                        </a:rPr>
                        <a:t> </a:t>
                      </a:r>
                      <a:r>
                        <a:rPr kumimoji="0" lang="en-US" sz="2000" b="0" i="1" u="none" strike="noStrike" cap="none" normalizeH="0" baseline="0" dirty="0">
                          <a:ln>
                            <a:noFill/>
                          </a:ln>
                          <a:solidFill>
                            <a:schemeClr val="tx1"/>
                          </a:solidFill>
                          <a:effectLst/>
                          <a:latin typeface="Comic Sans MS" pitchFamily="1" charset="0"/>
                          <a:ea typeface="ＭＳ Ｐゴシック" pitchFamily="1" charset="-128"/>
                          <a:sym typeface="Symbol" pitchFamily="1" charset="2"/>
                        </a:rPr>
                        <a:t> p</a:t>
                      </a:r>
                      <a:endParaRPr kumimoji="0" lang="en-US" sz="2000" b="0" i="0" u="none" strike="noStrike" cap="none" normalizeH="0" baseline="0" dirty="0">
                        <a:ln>
                          <a:noFill/>
                        </a:ln>
                        <a:solidFill>
                          <a:schemeClr val="tx1"/>
                        </a:solidFill>
                        <a:effectLst/>
                        <a:latin typeface="Comic Sans MS" pitchFamily="1" charset="0"/>
                        <a:ea typeface="ＭＳ Ｐゴシック" pitchFamily="1" charset="-128"/>
                        <a:sym typeface="Symbol" pitchFamily="1" charset="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80164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pitchFamily="1" charset="0"/>
                          <a:ea typeface="ＭＳ Ｐゴシック" pitchFamily="1" charset="-128"/>
                        </a:rPr>
                        <a:t>T</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pitchFamily="1" charset="0"/>
                          <a:ea typeface="ＭＳ Ｐゴシック" pitchFamily="1" charset="-128"/>
                        </a:rPr>
                        <a:t>F</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pitchFamily="1" charset="0"/>
                          <a:ea typeface="ＭＳ Ｐゴシック" pitchFamily="1" charset="-128"/>
                        </a:rPr>
                        <a:t>F</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pitchFamily="1" charset="0"/>
                          <a:ea typeface="ＭＳ Ｐゴシック" pitchFamily="1" charset="-128"/>
                        </a:rPr>
                        <a:t>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pitchFamily="1" charset="0"/>
                          <a:ea typeface="ＭＳ Ｐゴシック" pitchFamily="1" charset="-128"/>
                        </a:rPr>
                        <a:t>T</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pitchFamily="1" charset="0"/>
                          <a:ea typeface="ＭＳ Ｐゴシック" pitchFamily="1" charset="-128"/>
                        </a:rPr>
                        <a:t>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p:graphicFrame>
        <p:nvGraphicFramePr>
          <p:cNvPr id="9" name="Table 8"/>
          <p:cNvGraphicFramePr>
            <a:graphicFrameLocks noGrp="1"/>
          </p:cNvGraphicFramePr>
          <p:nvPr>
            <p:extLst>
              <p:ext uri="{D42A27DB-BD31-4B8C-83A1-F6EECF244321}">
                <p14:modId xmlns:p14="http://schemas.microsoft.com/office/powerpoint/2010/main" val="1866723754"/>
              </p:ext>
            </p:extLst>
          </p:nvPr>
        </p:nvGraphicFramePr>
        <p:xfrm>
          <a:off x="5943600" y="3962400"/>
          <a:ext cx="2514600" cy="1944642"/>
        </p:xfrm>
        <a:graphic>
          <a:graphicData uri="http://schemas.openxmlformats.org/drawingml/2006/table">
            <a:tbl>
              <a:tblPr/>
              <a:tblGrid>
                <a:gridCol w="543697">
                  <a:extLst>
                    <a:ext uri="{9D8B030D-6E8A-4147-A177-3AD203B41FA5}">
                      <a16:colId xmlns:a16="http://schemas.microsoft.com/office/drawing/2014/main" val="20000"/>
                    </a:ext>
                  </a:extLst>
                </a:gridCol>
                <a:gridCol w="675502">
                  <a:extLst>
                    <a:ext uri="{9D8B030D-6E8A-4147-A177-3AD203B41FA5}">
                      <a16:colId xmlns:a16="http://schemas.microsoft.com/office/drawing/2014/main" val="20001"/>
                    </a:ext>
                  </a:extLst>
                </a:gridCol>
                <a:gridCol w="1295401">
                  <a:extLst>
                    <a:ext uri="{9D8B030D-6E8A-4147-A177-3AD203B41FA5}">
                      <a16:colId xmlns:a16="http://schemas.microsoft.com/office/drawing/2014/main" val="20002"/>
                    </a:ext>
                  </a:extLst>
                </a:gridCol>
              </a:tblGrid>
              <a:tr h="419320">
                <a:tc gridSpan="3">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lang="en-US" sz="2800" b="1" kern="1200" dirty="0">
                          <a:solidFill>
                            <a:schemeClr val="tx1"/>
                          </a:solidFill>
                          <a:latin typeface="+mn-lt"/>
                          <a:ea typeface="+mn-ea"/>
                          <a:cs typeface="+mn-cs"/>
                          <a:sym typeface="Symbol" pitchFamily="1" charset="2"/>
                        </a:rPr>
                        <a:t>Contradiction</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hMerge="1">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dirty="0">
                        <a:ln>
                          <a:noFill/>
                        </a:ln>
                        <a:solidFill>
                          <a:schemeClr val="tx1"/>
                        </a:solidFill>
                        <a:effectLst/>
                        <a:latin typeface="Comic Sans MS" pitchFamily="1" charset="0"/>
                        <a:ea typeface="ＭＳ Ｐゴシック" pitchFamily="1" charset="-128"/>
                        <a:sym typeface="Symbol" pitchFamily="1" charset="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cap="flat">
                      <a:noFill/>
                    </a:lnT>
                    <a:lnB w="38100" cap="flat" cmpd="sng" algn="ctr">
                      <a:solidFill>
                        <a:schemeClr val="tx1"/>
                      </a:solidFill>
                      <a:prstDash val="solid"/>
                      <a:round/>
                      <a:headEnd type="none" w="med" len="med"/>
                      <a:tailEnd type="none" w="med" len="med"/>
                    </a:lnB>
                    <a:lnTlToBr>
                      <a:noFill/>
                    </a:lnTlToBr>
                    <a:lnBlToTr>
                      <a:noFill/>
                    </a:lnBlToTr>
                    <a:noFill/>
                  </a:tcPr>
                </a:tc>
                <a:tc hMerge="1">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2000" b="0" i="0" u="none" strike="noStrike" cap="none" normalizeH="0" baseline="0" dirty="0">
                        <a:ln>
                          <a:noFill/>
                        </a:ln>
                        <a:solidFill>
                          <a:schemeClr val="tx1"/>
                        </a:solidFill>
                        <a:effectLst/>
                        <a:latin typeface="Comic Sans MS" pitchFamily="1" charset="0"/>
                        <a:ea typeface="ＭＳ Ｐゴシック" pitchFamily="1" charset="-128"/>
                        <a:sym typeface="Symbol" pitchFamily="1" charset="2"/>
                      </a:endParaRPr>
                    </a:p>
                  </a:txBody>
                  <a:tcPr horzOverflow="overflow">
                    <a:lnL w="12700" cap="flat" cmpd="sng" algn="ctr">
                      <a:solidFill>
                        <a:schemeClr val="tx1"/>
                      </a:solidFill>
                      <a:prstDash val="solid"/>
                      <a:round/>
                      <a:headEnd type="none" w="med" len="med"/>
                      <a:tailEnd type="none" w="med" len="med"/>
                    </a:lnL>
                    <a:lnR cap="flat">
                      <a:noFill/>
                    </a:lnR>
                    <a:lnT cap="flat">
                      <a:noFill/>
                    </a:lnT>
                    <a:lnB w="381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2484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1" u="none" strike="noStrike" cap="none" normalizeH="0" baseline="0" dirty="0">
                          <a:ln>
                            <a:noFill/>
                          </a:ln>
                          <a:solidFill>
                            <a:schemeClr val="tx1"/>
                          </a:solidFill>
                          <a:effectLst/>
                          <a:latin typeface="Comic Sans MS" pitchFamily="1" charset="0"/>
                          <a:ea typeface="ＭＳ Ｐゴシック" pitchFamily="1" charset="-128"/>
                        </a:rPr>
                        <a:t>P</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1" u="none" strike="noStrike" cap="none" normalizeH="0" baseline="0" dirty="0">
                          <a:ln>
                            <a:noFill/>
                          </a:ln>
                          <a:solidFill>
                            <a:schemeClr val="tx1"/>
                          </a:solidFill>
                          <a:effectLst/>
                          <a:latin typeface="Comic Sans MS" pitchFamily="1" charset="0"/>
                          <a:ea typeface="ＭＳ Ｐゴシック" pitchFamily="1" charset="-128"/>
                          <a:sym typeface="Symbol" pitchFamily="1" charset="2"/>
                        </a:rPr>
                        <a:t> p</a:t>
                      </a:r>
                      <a:endParaRPr kumimoji="0" lang="en-US" sz="2000" b="0" i="0" u="none" strike="noStrike" cap="none" normalizeH="0" baseline="0" dirty="0">
                        <a:ln>
                          <a:noFill/>
                        </a:ln>
                        <a:solidFill>
                          <a:schemeClr val="tx1"/>
                        </a:solidFill>
                        <a:effectLst/>
                        <a:latin typeface="Comic Sans MS" pitchFamily="1" charset="0"/>
                        <a:ea typeface="ＭＳ Ｐゴシック" pitchFamily="1" charset="-128"/>
                        <a:sym typeface="Symbol" pitchFamily="1" charset="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0" lang="en-US" sz="2000" b="0" i="1" u="none" strike="noStrike" cap="none" normalizeH="0" baseline="0" dirty="0">
                          <a:ln>
                            <a:noFill/>
                          </a:ln>
                          <a:solidFill>
                            <a:schemeClr val="tx1"/>
                          </a:solidFill>
                          <a:effectLst/>
                          <a:latin typeface="Comic Sans MS" pitchFamily="1" charset="0"/>
                          <a:ea typeface="ＭＳ Ｐゴシック" pitchFamily="1" charset="-128"/>
                        </a:rPr>
                        <a:t>p </a:t>
                      </a:r>
                      <a:r>
                        <a:rPr lang="en-US" sz="2000" i="1" dirty="0"/>
                        <a:t>∧</a:t>
                      </a:r>
                      <a:r>
                        <a:rPr kumimoji="0" lang="en-US" sz="2000" b="0" i="1" u="none" strike="noStrike" cap="none" normalizeH="0" baseline="0" dirty="0">
                          <a:ln>
                            <a:noFill/>
                          </a:ln>
                          <a:solidFill>
                            <a:schemeClr val="tx1"/>
                          </a:solidFill>
                          <a:effectLst/>
                          <a:latin typeface="Comic Sans MS" pitchFamily="1" charset="0"/>
                          <a:ea typeface="ＭＳ Ｐゴシック" pitchFamily="1" charset="-128"/>
                        </a:rPr>
                        <a:t> </a:t>
                      </a:r>
                      <a:r>
                        <a:rPr kumimoji="0" lang="en-US" sz="2000" b="0" i="1" u="none" strike="noStrike" cap="none" normalizeH="0" baseline="0" dirty="0">
                          <a:ln>
                            <a:noFill/>
                          </a:ln>
                          <a:solidFill>
                            <a:schemeClr val="tx1"/>
                          </a:solidFill>
                          <a:effectLst/>
                          <a:latin typeface="Comic Sans MS" pitchFamily="1" charset="0"/>
                          <a:ea typeface="ＭＳ Ｐゴシック" pitchFamily="1" charset="-128"/>
                          <a:sym typeface="Symbol" pitchFamily="1" charset="2"/>
                        </a:rPr>
                        <a:t> p</a:t>
                      </a:r>
                      <a:endParaRPr kumimoji="0" lang="en-US" sz="2000" b="0" i="0" u="none" strike="noStrike" cap="none" normalizeH="0" baseline="0" dirty="0">
                        <a:ln>
                          <a:noFill/>
                        </a:ln>
                        <a:solidFill>
                          <a:schemeClr val="tx1"/>
                        </a:solidFill>
                        <a:effectLst/>
                        <a:latin typeface="Comic Sans MS" pitchFamily="1" charset="0"/>
                        <a:ea typeface="ＭＳ Ｐゴシック" pitchFamily="1" charset="-128"/>
                        <a:sym typeface="Symbol" pitchFamily="1" charset="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801642">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pitchFamily="1" charset="0"/>
                          <a:ea typeface="ＭＳ Ｐゴシック" pitchFamily="1" charset="-128"/>
                        </a:rPr>
                        <a:t>T</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pitchFamily="1" charset="0"/>
                          <a:ea typeface="ＭＳ Ｐゴシック" pitchFamily="1" charset="-128"/>
                        </a:rPr>
                        <a:t>F</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pitchFamily="1" charset="0"/>
                          <a:ea typeface="ＭＳ Ｐゴシック" pitchFamily="1" charset="-128"/>
                        </a:rPr>
                        <a:t>F</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pitchFamily="1" charset="0"/>
                          <a:ea typeface="ＭＳ Ｐゴシック" pitchFamily="1" charset="-128"/>
                        </a:rPr>
                        <a:t>T</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pitchFamily="1" charset="0"/>
                          <a:ea typeface="ＭＳ Ｐゴシック" pitchFamily="1" charset="-128"/>
                        </a:rPr>
                        <a:t>F</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2000" b="0" i="0" u="none" strike="noStrike" cap="none" normalizeH="0" baseline="0" dirty="0">
                          <a:ln>
                            <a:noFill/>
                          </a:ln>
                          <a:solidFill>
                            <a:schemeClr val="tx1"/>
                          </a:solidFill>
                          <a:effectLst/>
                          <a:latin typeface="Comic Sans MS" pitchFamily="1" charset="0"/>
                          <a:ea typeface="ＭＳ Ｐゴシック" pitchFamily="1" charset="-128"/>
                        </a:rPr>
                        <a:t>F</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bl>
          </a:graphicData>
        </a:graphic>
      </p:graphicFrame>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4612B0BE-2322-4839-915E-0FB6A527E7FA}"/>
                  </a:ext>
                </a:extLst>
              </p:cNvPr>
              <p:cNvSpPr txBox="1"/>
              <p:nvPr/>
            </p:nvSpPr>
            <p:spPr>
              <a:xfrm>
                <a:off x="999932" y="5995597"/>
                <a:ext cx="7391400" cy="646331"/>
              </a:xfrm>
              <a:prstGeom prst="rect">
                <a:avLst/>
              </a:prstGeom>
              <a:noFill/>
            </p:spPr>
            <p:txBody>
              <a:bodyPr wrap="square" rtlCol="0">
                <a:spAutoFit/>
              </a:bodyPr>
              <a:lstStyle/>
              <a:p>
                <a:r>
                  <a:rPr lang="en-US" dirty="0"/>
                  <a:t>If </a:t>
                </a:r>
                <a14:m>
                  <m:oMath xmlns:m="http://schemas.openxmlformats.org/officeDocument/2006/math">
                    <m:r>
                      <m:rPr>
                        <m:sty m:val="p"/>
                      </m:rPr>
                      <a:rPr lang="en-US">
                        <a:latin typeface="Cambria Math" panose="02040503050406030204" pitchFamily="18" charset="0"/>
                        <a:ea typeface="Cambria Math" panose="02040503050406030204" pitchFamily="18" charset="0"/>
                      </a:rPr>
                      <m:t>p</m:t>
                    </m:r>
                    <m:r>
                      <a:rPr lang="en-GB" b="1" i="1">
                        <a:latin typeface="Cambria Math" panose="02040503050406030204" pitchFamily="18" charset="0"/>
                        <a:ea typeface="Cambria Math" panose="02040503050406030204" pitchFamily="18" charset="0"/>
                      </a:rPr>
                      <m:t>≡</m:t>
                    </m:r>
                  </m:oMath>
                </a14:m>
                <a:r>
                  <a:rPr lang="en-US" dirty="0"/>
                  <a:t> q  implies that p </a:t>
                </a:r>
                <a:r>
                  <a:rPr lang="en-US" i="1" dirty="0"/>
                  <a:t>↔</a:t>
                </a:r>
                <a:r>
                  <a:rPr lang="en-US" i="1" dirty="0">
                    <a:solidFill>
                      <a:srgbClr val="FF0000"/>
                    </a:solidFill>
                  </a:rPr>
                  <a:t> </a:t>
                </a:r>
                <a:r>
                  <a:rPr lang="en-US" dirty="0"/>
                  <a:t>q is a tautology</a:t>
                </a:r>
              </a:p>
              <a:p>
                <a:endParaRPr lang="si-LK" dirty="0"/>
              </a:p>
            </p:txBody>
          </p:sp>
        </mc:Choice>
        <mc:Fallback>
          <p:sp>
            <p:nvSpPr>
              <p:cNvPr id="3" name="TextBox 2">
                <a:extLst>
                  <a:ext uri="{FF2B5EF4-FFF2-40B4-BE49-F238E27FC236}">
                    <a16:creationId xmlns:a16="http://schemas.microsoft.com/office/drawing/2014/main" id="{4612B0BE-2322-4839-915E-0FB6A527E7FA}"/>
                  </a:ext>
                </a:extLst>
              </p:cNvPr>
              <p:cNvSpPr txBox="1">
                <a:spLocks noRot="1" noChangeAspect="1" noMove="1" noResize="1" noEditPoints="1" noAdjustHandles="1" noChangeArrowheads="1" noChangeShapeType="1" noTextEdit="1"/>
              </p:cNvSpPr>
              <p:nvPr/>
            </p:nvSpPr>
            <p:spPr>
              <a:xfrm>
                <a:off x="999932" y="5995597"/>
                <a:ext cx="7391400" cy="646331"/>
              </a:xfrm>
              <a:prstGeom prst="rect">
                <a:avLst/>
              </a:prstGeom>
              <a:blipFill>
                <a:blip r:embed="rId2"/>
                <a:stretch>
                  <a:fillRect l="-660" t="-5660"/>
                </a:stretch>
              </a:blipFill>
            </p:spPr>
            <p:txBody>
              <a:bodyPr/>
              <a:lstStyle/>
              <a:p>
                <a:r>
                  <a:rPr lang="si-LK">
                    <a:noFill/>
                  </a:rPr>
                  <a:t> </a:t>
                </a:r>
              </a:p>
            </p:txBody>
          </p:sp>
        </mc:Fallback>
      </mc:AlternateContent>
    </p:spTree>
    <p:extLst>
      <p:ext uri="{BB962C8B-B14F-4D97-AF65-F5344CB8AC3E}">
        <p14:creationId xmlns:p14="http://schemas.microsoft.com/office/powerpoint/2010/main" val="23123949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p:cNvSpPr>
                <a:spLocks noGrp="1"/>
              </p:cNvSpPr>
              <p:nvPr>
                <p:ph type="title"/>
              </p:nvPr>
            </p:nvSpPr>
            <p:spPr/>
            <p:txBody>
              <a:bodyPr/>
              <a:lstStyle/>
              <a:p>
                <a:pPr/>
                <a14:m>
                  <m:oMathPara xmlns:m="http://schemas.openxmlformats.org/officeDocument/2006/math">
                    <m:oMathParaPr>
                      <m:jc m:val="left"/>
                    </m:oMathParaPr>
                    <m:oMath xmlns:m="http://schemas.openxmlformats.org/officeDocument/2006/math">
                      <m:r>
                        <a:rPr lang="en-GB" b="1" i="1" dirty="0" smtClean="0">
                          <a:latin typeface="Cambria Math" panose="02040503050406030204" pitchFamily="18" charset="0"/>
                        </a:rPr>
                        <m:t>𝒑</m:t>
                      </m:r>
                      <m:r>
                        <a:rPr lang="en-GB" b="1" i="1" dirty="0" smtClean="0">
                          <a:latin typeface="Cambria Math" panose="02040503050406030204" pitchFamily="18" charset="0"/>
                        </a:rPr>
                        <m:t> → </m:t>
                      </m:r>
                      <m:r>
                        <a:rPr lang="en-GB" b="1" i="1" dirty="0" smtClean="0">
                          <a:latin typeface="Cambria Math" panose="02040503050406030204" pitchFamily="18" charset="0"/>
                        </a:rPr>
                        <m:t>𝒒</m:t>
                      </m:r>
                      <m:r>
                        <a:rPr lang="en-GB" b="1" i="1" dirty="0" smtClean="0">
                          <a:latin typeface="Cambria Math" panose="02040503050406030204" pitchFamily="18" charset="0"/>
                        </a:rPr>
                        <m:t> ≡¬</m:t>
                      </m:r>
                      <m:r>
                        <a:rPr lang="en-GB" b="1" i="1" dirty="0" smtClean="0">
                          <a:latin typeface="Cambria Math" panose="02040503050406030204" pitchFamily="18" charset="0"/>
                        </a:rPr>
                        <m:t>𝒑</m:t>
                      </m:r>
                      <m:r>
                        <a:rPr lang="en-GB" b="1" i="1" dirty="0" smtClean="0">
                          <a:latin typeface="Cambria Math" panose="02040503050406030204" pitchFamily="18" charset="0"/>
                        </a:rPr>
                        <m:t> ∨ </m:t>
                      </m:r>
                      <m:r>
                        <a:rPr lang="en-GB" b="1" i="1" dirty="0">
                          <a:latin typeface="Cambria Math" panose="02040503050406030204" pitchFamily="18" charset="0"/>
                        </a:rPr>
                        <m:t>𝒒</m:t>
                      </m:r>
                      <m:r>
                        <a:rPr lang="en-GB" b="1" i="1" dirty="0">
                          <a:latin typeface="Cambria Math" panose="02040503050406030204" pitchFamily="18" charset="0"/>
                        </a:rPr>
                        <m:t> </m:t>
                      </m:r>
                    </m:oMath>
                  </m:oMathPara>
                </a14:m>
                <a:endParaRPr lang="en-GB" b="1" dirty="0"/>
              </a:p>
            </p:txBody>
          </p:sp>
        </mc:Choice>
        <mc:Fallback xmlns="">
          <p:sp>
            <p:nvSpPr>
              <p:cNvPr id="2" name="Title 1"/>
              <p:cNvSpPr>
                <a:spLocks noGrp="1" noRot="1" noChangeAspect="1" noMove="1" noResize="1" noEditPoints="1" noAdjustHandles="1" noChangeArrowheads="1" noChangeShapeType="1" noTextEdit="1"/>
              </p:cNvSpPr>
              <p:nvPr>
                <p:ph type="title"/>
              </p:nvPr>
            </p:nvSpPr>
            <p:spPr>
              <a:blipFill rotWithShape="0">
                <a:blip r:embed="rId2"/>
                <a:stretch>
                  <a:fillRect/>
                </a:stretch>
              </a:blipFill>
            </p:spPr>
            <p:txBody>
              <a:bodyPr/>
              <a:lstStyle/>
              <a:p>
                <a:r>
                  <a:rPr lang="en-GB">
                    <a:noFill/>
                  </a:rPr>
                  <a:t> </a:t>
                </a:r>
              </a:p>
            </p:txBody>
          </p:sp>
        </mc:Fallback>
      </mc:AlternateContent>
      <p:sp>
        <p:nvSpPr>
          <p:cNvPr id="4" name="Date Placeholder 3"/>
          <p:cNvSpPr>
            <a:spLocks noGrp="1"/>
          </p:cNvSpPr>
          <p:nvPr>
            <p:ph type="dt" sz="half" idx="10"/>
          </p:nvPr>
        </p:nvSpPr>
        <p:spPr/>
        <p:txBody>
          <a:bodyPr/>
          <a:lstStyle/>
          <a:p>
            <a:fld id="{55CD031B-E851-497B-8247-6AF3B3BC89AA}" type="datetime3">
              <a:rPr lang="en-US" smtClean="0"/>
              <a:t>27 April 2026</a:t>
            </a:fld>
            <a:endParaRPr lang="en-US"/>
          </a:p>
        </p:txBody>
      </p:sp>
      <p:sp>
        <p:nvSpPr>
          <p:cNvPr id="5" name="Footer Placeholder 4"/>
          <p:cNvSpPr>
            <a:spLocks noGrp="1"/>
          </p:cNvSpPr>
          <p:nvPr>
            <p:ph type="ftr" sz="quarter" idx="11"/>
          </p:nvPr>
        </p:nvSpPr>
        <p:spPr/>
        <p:txBody>
          <a:bodyPr/>
          <a:lstStyle/>
          <a:p>
            <a:r>
              <a:rPr lang="en-US"/>
              <a:t>SCS 1302   Discrete Mathematics 1       Prof. D D Karunaratna</a:t>
            </a:r>
          </a:p>
        </p:txBody>
      </p:sp>
      <p:sp>
        <p:nvSpPr>
          <p:cNvPr id="6" name="Slide Number Placeholder 5"/>
          <p:cNvSpPr>
            <a:spLocks noGrp="1"/>
          </p:cNvSpPr>
          <p:nvPr>
            <p:ph type="sldNum" sz="quarter" idx="12"/>
          </p:nvPr>
        </p:nvSpPr>
        <p:spPr/>
        <p:txBody>
          <a:bodyPr/>
          <a:lstStyle/>
          <a:p>
            <a:fld id="{0CA841A6-7C02-4C92-B6EE-5DBCC2AD53D0}" type="slidenum">
              <a:rPr lang="en-US" smtClean="0"/>
              <a:t>44</a:t>
            </a:fld>
            <a:endParaRPr lang="en-US"/>
          </a:p>
        </p:txBody>
      </p:sp>
      <mc:AlternateContent xmlns:mc="http://schemas.openxmlformats.org/markup-compatibility/2006" xmlns:a14="http://schemas.microsoft.com/office/drawing/2010/main">
        <mc:Choice Requires="a14">
          <p:graphicFrame>
            <p:nvGraphicFramePr>
              <p:cNvPr id="7" name="Table 6"/>
              <p:cNvGraphicFramePr>
                <a:graphicFrameLocks noGrp="1"/>
              </p:cNvGraphicFramePr>
              <p:nvPr>
                <p:extLst>
                  <p:ext uri="{D42A27DB-BD31-4B8C-83A1-F6EECF244321}">
                    <p14:modId xmlns:p14="http://schemas.microsoft.com/office/powerpoint/2010/main" val="3742357874"/>
                  </p:ext>
                </p:extLst>
              </p:nvPr>
            </p:nvGraphicFramePr>
            <p:xfrm>
              <a:off x="762000" y="2438400"/>
              <a:ext cx="1524000" cy="2623980"/>
            </p:xfrm>
            <a:graphic>
              <a:graphicData uri="http://schemas.openxmlformats.org/drawingml/2006/table">
                <a:tbl>
                  <a:tblPr firstRow="1" bandRow="1">
                    <a:tableStyleId>{5C22544A-7EE6-4342-B048-85BDC9FD1C3A}</a:tableStyleId>
                  </a:tblPr>
                  <a:tblGrid>
                    <a:gridCol w="731520">
                      <a:extLst>
                        <a:ext uri="{9D8B030D-6E8A-4147-A177-3AD203B41FA5}">
                          <a16:colId xmlns:a16="http://schemas.microsoft.com/office/drawing/2014/main" val="20000"/>
                        </a:ext>
                      </a:extLst>
                    </a:gridCol>
                    <a:gridCol w="792480">
                      <a:extLst>
                        <a:ext uri="{9D8B030D-6E8A-4147-A177-3AD203B41FA5}">
                          <a16:colId xmlns:a16="http://schemas.microsoft.com/office/drawing/2014/main" val="20001"/>
                        </a:ext>
                      </a:extLst>
                    </a:gridCol>
                  </a:tblGrid>
                  <a:tr h="496428">
                    <a:tc>
                      <a:txBody>
                        <a:bodyPr/>
                        <a:lstStyle/>
                        <a:p>
                          <a:pPr algn="ctr"/>
                          <a14:m>
                            <m:oMathPara xmlns:m="http://schemas.openxmlformats.org/officeDocument/2006/math">
                              <m:oMathParaPr>
                                <m:jc m:val="centerGroup"/>
                              </m:oMathParaPr>
                              <m:oMath xmlns:m="http://schemas.openxmlformats.org/officeDocument/2006/math">
                                <m:r>
                                  <a:rPr lang="en-GB" sz="2200" b="1" i="1" smtClean="0">
                                    <a:solidFill>
                                      <a:schemeClr val="tx1"/>
                                    </a:solidFill>
                                    <a:latin typeface="Cambria Math" panose="02040503050406030204" pitchFamily="18" charset="0"/>
                                  </a:rPr>
                                  <m:t>𝒑</m:t>
                                </m:r>
                              </m:oMath>
                            </m:oMathPara>
                          </a14:m>
                          <a:endParaRPr lang="en-GB" sz="2200" dirty="0">
                            <a:solidFill>
                              <a:schemeClr val="tx1"/>
                            </a:solidFill>
                          </a:endParaRPr>
                        </a:p>
                      </a:txBody>
                      <a:tcPr/>
                    </a:tc>
                    <a:tc>
                      <a:txBody>
                        <a:bodyPr/>
                        <a:lstStyle/>
                        <a:p>
                          <a:pPr algn="ctr"/>
                          <a14:m>
                            <m:oMathPara xmlns:m="http://schemas.openxmlformats.org/officeDocument/2006/math">
                              <m:oMathParaPr>
                                <m:jc m:val="centerGroup"/>
                              </m:oMathParaPr>
                              <m:oMath xmlns:m="http://schemas.openxmlformats.org/officeDocument/2006/math">
                                <m:r>
                                  <a:rPr lang="en-GB" sz="2200" b="1" i="1" smtClean="0">
                                    <a:solidFill>
                                      <a:schemeClr val="tx1"/>
                                    </a:solidFill>
                                    <a:latin typeface="Cambria Math" panose="02040503050406030204" pitchFamily="18" charset="0"/>
                                  </a:rPr>
                                  <m:t>𝒒</m:t>
                                </m:r>
                              </m:oMath>
                            </m:oMathPara>
                          </a14:m>
                          <a:endParaRPr lang="en-GB" sz="2200" dirty="0">
                            <a:solidFill>
                              <a:schemeClr val="tx1"/>
                            </a:solidFill>
                          </a:endParaRPr>
                        </a:p>
                      </a:txBody>
                      <a:tcPr/>
                    </a:tc>
                    <a:extLst>
                      <a:ext uri="{0D108BD9-81ED-4DB2-BD59-A6C34878D82A}">
                        <a16:rowId xmlns:a16="http://schemas.microsoft.com/office/drawing/2014/main" val="10000"/>
                      </a:ext>
                    </a:extLst>
                  </a:tr>
                  <a:tr h="531888">
                    <a:tc>
                      <a:txBody>
                        <a:bodyPr/>
                        <a:lstStyle/>
                        <a:p>
                          <a:pPr algn="ctr"/>
                          <a:r>
                            <a:rPr lang="en-GB" sz="2400" dirty="0"/>
                            <a:t>0</a:t>
                          </a:r>
                        </a:p>
                      </a:txBody>
                      <a:tcPr/>
                    </a:tc>
                    <a:tc>
                      <a:txBody>
                        <a:bodyPr/>
                        <a:lstStyle/>
                        <a:p>
                          <a:pPr algn="ctr"/>
                          <a:r>
                            <a:rPr lang="en-GB" sz="2400" dirty="0"/>
                            <a:t>0</a:t>
                          </a:r>
                        </a:p>
                      </a:txBody>
                      <a:tcPr/>
                    </a:tc>
                    <a:extLst>
                      <a:ext uri="{0D108BD9-81ED-4DB2-BD59-A6C34878D82A}">
                        <a16:rowId xmlns:a16="http://schemas.microsoft.com/office/drawing/2014/main" val="10001"/>
                      </a:ext>
                    </a:extLst>
                  </a:tr>
                  <a:tr h="531888">
                    <a:tc>
                      <a:txBody>
                        <a:bodyPr/>
                        <a:lstStyle/>
                        <a:p>
                          <a:pPr algn="ctr"/>
                          <a:r>
                            <a:rPr lang="en-GB" sz="2400" dirty="0"/>
                            <a:t>0</a:t>
                          </a:r>
                        </a:p>
                      </a:txBody>
                      <a:tcPr/>
                    </a:tc>
                    <a:tc>
                      <a:txBody>
                        <a:bodyPr/>
                        <a:lstStyle/>
                        <a:p>
                          <a:pPr algn="ctr"/>
                          <a:r>
                            <a:rPr lang="en-GB" sz="2400" dirty="0"/>
                            <a:t>1</a:t>
                          </a:r>
                        </a:p>
                      </a:txBody>
                      <a:tcPr/>
                    </a:tc>
                    <a:extLst>
                      <a:ext uri="{0D108BD9-81ED-4DB2-BD59-A6C34878D82A}">
                        <a16:rowId xmlns:a16="http://schemas.microsoft.com/office/drawing/2014/main" val="10002"/>
                      </a:ext>
                    </a:extLst>
                  </a:tr>
                  <a:tr h="531888">
                    <a:tc>
                      <a:txBody>
                        <a:bodyPr/>
                        <a:lstStyle/>
                        <a:p>
                          <a:pPr algn="ctr"/>
                          <a:r>
                            <a:rPr lang="en-GB" sz="2400" dirty="0"/>
                            <a:t>1</a:t>
                          </a:r>
                        </a:p>
                      </a:txBody>
                      <a:tcPr/>
                    </a:tc>
                    <a:tc>
                      <a:txBody>
                        <a:bodyPr/>
                        <a:lstStyle/>
                        <a:p>
                          <a:pPr algn="ctr"/>
                          <a:r>
                            <a:rPr lang="en-GB" sz="2400" dirty="0"/>
                            <a:t>0</a:t>
                          </a:r>
                        </a:p>
                      </a:txBody>
                      <a:tcPr/>
                    </a:tc>
                    <a:extLst>
                      <a:ext uri="{0D108BD9-81ED-4DB2-BD59-A6C34878D82A}">
                        <a16:rowId xmlns:a16="http://schemas.microsoft.com/office/drawing/2014/main" val="10003"/>
                      </a:ext>
                    </a:extLst>
                  </a:tr>
                  <a:tr h="531888">
                    <a:tc>
                      <a:txBody>
                        <a:bodyPr/>
                        <a:lstStyle/>
                        <a:p>
                          <a:pPr algn="ctr"/>
                          <a:r>
                            <a:rPr lang="en-GB" sz="2400" dirty="0"/>
                            <a:t>1</a:t>
                          </a:r>
                        </a:p>
                      </a:txBody>
                      <a:tcPr/>
                    </a:tc>
                    <a:tc>
                      <a:txBody>
                        <a:bodyPr/>
                        <a:lstStyle/>
                        <a:p>
                          <a:pPr algn="ctr"/>
                          <a:r>
                            <a:rPr lang="en-GB" sz="2400" dirty="0" err="1"/>
                            <a:t>1</a:t>
                          </a:r>
                          <a:endParaRPr lang="en-GB" sz="2400" dirty="0"/>
                        </a:p>
                      </a:txBody>
                      <a:tcPr/>
                    </a:tc>
                    <a:extLst>
                      <a:ext uri="{0D108BD9-81ED-4DB2-BD59-A6C34878D82A}">
                        <a16:rowId xmlns:a16="http://schemas.microsoft.com/office/drawing/2014/main" val="10004"/>
                      </a:ext>
                    </a:extLst>
                  </a:tr>
                </a:tbl>
              </a:graphicData>
            </a:graphic>
          </p:graphicFrame>
        </mc:Choice>
        <mc:Fallback xmlns="">
          <p:graphicFrame>
            <p:nvGraphicFramePr>
              <p:cNvPr id="7" name="Table 6"/>
              <p:cNvGraphicFramePr>
                <a:graphicFrameLocks noGrp="1"/>
              </p:cNvGraphicFramePr>
              <p:nvPr>
                <p:extLst>
                  <p:ext uri="{D42A27DB-BD31-4B8C-83A1-F6EECF244321}">
                    <p14:modId xmlns:p14="http://schemas.microsoft.com/office/powerpoint/2010/main" val="3742357874"/>
                  </p:ext>
                </p:extLst>
              </p:nvPr>
            </p:nvGraphicFramePr>
            <p:xfrm>
              <a:off x="762000" y="2438400"/>
              <a:ext cx="1524000" cy="2623980"/>
            </p:xfrm>
            <a:graphic>
              <a:graphicData uri="http://schemas.openxmlformats.org/drawingml/2006/table">
                <a:tbl>
                  <a:tblPr firstRow="1" bandRow="1">
                    <a:tableStyleId>{5C22544A-7EE6-4342-B048-85BDC9FD1C3A}</a:tableStyleId>
                  </a:tblPr>
                  <a:tblGrid>
                    <a:gridCol w="731520"/>
                    <a:gridCol w="792480"/>
                  </a:tblGrid>
                  <a:tr h="496428">
                    <a:tc>
                      <a:txBody>
                        <a:bodyPr/>
                        <a:lstStyle/>
                        <a:p>
                          <a:endParaRPr lang="en-US"/>
                        </a:p>
                      </a:txBody>
                      <a:tcPr>
                        <a:blipFill rotWithShape="0">
                          <a:blip r:embed="rId3"/>
                          <a:stretch>
                            <a:fillRect l="-1667" t="-2439" r="-112500" b="-439024"/>
                          </a:stretch>
                        </a:blipFill>
                      </a:tcPr>
                    </a:tc>
                    <a:tc>
                      <a:txBody>
                        <a:bodyPr/>
                        <a:lstStyle/>
                        <a:p>
                          <a:endParaRPr lang="en-US"/>
                        </a:p>
                      </a:txBody>
                      <a:tcPr>
                        <a:blipFill rotWithShape="0">
                          <a:blip r:embed="rId3"/>
                          <a:stretch>
                            <a:fillRect l="-93846" t="-2439" r="-3846" b="-439024"/>
                          </a:stretch>
                        </a:blipFill>
                      </a:tcPr>
                    </a:tc>
                  </a:tr>
                  <a:tr h="531888">
                    <a:tc>
                      <a:txBody>
                        <a:bodyPr/>
                        <a:lstStyle/>
                        <a:p>
                          <a:pPr algn="ctr"/>
                          <a:r>
                            <a:rPr lang="en-GB" sz="2400" dirty="0" smtClean="0"/>
                            <a:t>0</a:t>
                          </a:r>
                          <a:endParaRPr lang="en-GB" sz="2400" dirty="0"/>
                        </a:p>
                      </a:txBody>
                      <a:tcPr/>
                    </a:tc>
                    <a:tc>
                      <a:txBody>
                        <a:bodyPr/>
                        <a:lstStyle/>
                        <a:p>
                          <a:pPr algn="ctr"/>
                          <a:r>
                            <a:rPr lang="en-GB" sz="2400" dirty="0" smtClean="0"/>
                            <a:t>0</a:t>
                          </a:r>
                          <a:endParaRPr lang="en-GB" sz="2400" dirty="0"/>
                        </a:p>
                      </a:txBody>
                      <a:tcPr/>
                    </a:tc>
                  </a:tr>
                  <a:tr h="531888">
                    <a:tc>
                      <a:txBody>
                        <a:bodyPr/>
                        <a:lstStyle/>
                        <a:p>
                          <a:pPr algn="ctr"/>
                          <a:r>
                            <a:rPr lang="en-GB" sz="2400" dirty="0" smtClean="0"/>
                            <a:t>0</a:t>
                          </a:r>
                          <a:endParaRPr lang="en-GB" sz="2400" dirty="0"/>
                        </a:p>
                      </a:txBody>
                      <a:tcPr/>
                    </a:tc>
                    <a:tc>
                      <a:txBody>
                        <a:bodyPr/>
                        <a:lstStyle/>
                        <a:p>
                          <a:pPr algn="ctr"/>
                          <a:r>
                            <a:rPr lang="en-GB" sz="2400" dirty="0" smtClean="0"/>
                            <a:t>1</a:t>
                          </a:r>
                          <a:endParaRPr lang="en-GB" sz="2400" dirty="0"/>
                        </a:p>
                      </a:txBody>
                      <a:tcPr/>
                    </a:tc>
                  </a:tr>
                  <a:tr h="531888">
                    <a:tc>
                      <a:txBody>
                        <a:bodyPr/>
                        <a:lstStyle/>
                        <a:p>
                          <a:pPr algn="ctr"/>
                          <a:r>
                            <a:rPr lang="en-GB" sz="2400" dirty="0" smtClean="0"/>
                            <a:t>1</a:t>
                          </a:r>
                          <a:endParaRPr lang="en-GB" sz="2400" dirty="0"/>
                        </a:p>
                      </a:txBody>
                      <a:tcPr/>
                    </a:tc>
                    <a:tc>
                      <a:txBody>
                        <a:bodyPr/>
                        <a:lstStyle/>
                        <a:p>
                          <a:pPr algn="ctr"/>
                          <a:r>
                            <a:rPr lang="en-GB" sz="2400" dirty="0" smtClean="0"/>
                            <a:t>0</a:t>
                          </a:r>
                          <a:endParaRPr lang="en-GB" sz="2400" dirty="0"/>
                        </a:p>
                      </a:txBody>
                      <a:tcPr/>
                    </a:tc>
                  </a:tr>
                  <a:tr h="531888">
                    <a:tc>
                      <a:txBody>
                        <a:bodyPr/>
                        <a:lstStyle/>
                        <a:p>
                          <a:pPr algn="ctr"/>
                          <a:r>
                            <a:rPr lang="en-GB" sz="2400" dirty="0" smtClean="0"/>
                            <a:t>1</a:t>
                          </a:r>
                          <a:endParaRPr lang="en-GB" sz="2400" dirty="0"/>
                        </a:p>
                      </a:txBody>
                      <a:tcPr/>
                    </a:tc>
                    <a:tc>
                      <a:txBody>
                        <a:bodyPr/>
                        <a:lstStyle/>
                        <a:p>
                          <a:pPr algn="ctr"/>
                          <a:r>
                            <a:rPr lang="en-GB" sz="2400" dirty="0" err="1" smtClean="0"/>
                            <a:t>1</a:t>
                          </a:r>
                          <a:endParaRPr lang="en-GB" sz="2400" dirty="0"/>
                        </a:p>
                      </a:txBody>
                      <a:tcPr/>
                    </a:tc>
                  </a:tr>
                </a:tbl>
              </a:graphicData>
            </a:graphic>
          </p:graphicFrame>
        </mc:Fallback>
      </mc:AlternateContent>
      <mc:AlternateContent xmlns:mc="http://schemas.openxmlformats.org/markup-compatibility/2006" xmlns:a14="http://schemas.microsoft.com/office/drawing/2010/main">
        <mc:Choice Requires="a14">
          <p:graphicFrame>
            <p:nvGraphicFramePr>
              <p:cNvPr id="8" name="Table 7"/>
              <p:cNvGraphicFramePr>
                <a:graphicFrameLocks noGrp="1"/>
              </p:cNvGraphicFramePr>
              <p:nvPr>
                <p:extLst>
                  <p:ext uri="{D42A27DB-BD31-4B8C-83A1-F6EECF244321}">
                    <p14:modId xmlns:p14="http://schemas.microsoft.com/office/powerpoint/2010/main" val="1962318267"/>
                  </p:ext>
                </p:extLst>
              </p:nvPr>
            </p:nvGraphicFramePr>
            <p:xfrm>
              <a:off x="2286000" y="2432516"/>
              <a:ext cx="1219200" cy="2623980"/>
            </p:xfrm>
            <a:graphic>
              <a:graphicData uri="http://schemas.openxmlformats.org/drawingml/2006/table">
                <a:tbl>
                  <a:tblPr firstRow="1" bandRow="1">
                    <a:tableStyleId>{5C22544A-7EE6-4342-B048-85BDC9FD1C3A}</a:tableStyleId>
                  </a:tblPr>
                  <a:tblGrid>
                    <a:gridCol w="1219200">
                      <a:extLst>
                        <a:ext uri="{9D8B030D-6E8A-4147-A177-3AD203B41FA5}">
                          <a16:colId xmlns:a16="http://schemas.microsoft.com/office/drawing/2014/main" val="20000"/>
                        </a:ext>
                      </a:extLst>
                    </a:gridCol>
                  </a:tblGrid>
                  <a:tr h="496428">
                    <a:tc>
                      <a:txBody>
                        <a:bodyPr/>
                        <a:lstStyle/>
                        <a:p>
                          <a:pPr algn="ctr"/>
                          <a14:m>
                            <m:oMathPara xmlns:m="http://schemas.openxmlformats.org/officeDocument/2006/math">
                              <m:oMathParaPr>
                                <m:jc m:val="centerGroup"/>
                              </m:oMathParaPr>
                              <m:oMath xmlns:m="http://schemas.openxmlformats.org/officeDocument/2006/math">
                                <m:r>
                                  <a:rPr lang="en-GB" sz="2200" b="1" i="1" smtClean="0">
                                    <a:solidFill>
                                      <a:schemeClr val="tx1"/>
                                    </a:solidFill>
                                    <a:latin typeface="Cambria Math" panose="02040503050406030204" pitchFamily="18" charset="0"/>
                                  </a:rPr>
                                  <m:t>𝒑</m:t>
                                </m:r>
                                <m:r>
                                  <a:rPr lang="en-GB" sz="2200" b="1" i="1" smtClean="0">
                                    <a:solidFill>
                                      <a:schemeClr val="tx1"/>
                                    </a:solidFill>
                                    <a:latin typeface="Cambria Math" panose="02040503050406030204" pitchFamily="18" charset="0"/>
                                    <a:ea typeface="Cambria Math" panose="02040503050406030204" pitchFamily="18" charset="0"/>
                                  </a:rPr>
                                  <m:t>→</m:t>
                                </m:r>
                                <m:r>
                                  <a:rPr lang="en-GB" sz="2200" b="1" i="1" smtClean="0">
                                    <a:solidFill>
                                      <a:schemeClr val="tx1"/>
                                    </a:solidFill>
                                    <a:latin typeface="Cambria Math" panose="02040503050406030204" pitchFamily="18" charset="0"/>
                                    <a:ea typeface="Cambria Math" panose="02040503050406030204" pitchFamily="18" charset="0"/>
                                  </a:rPr>
                                  <m:t>𝒒</m:t>
                                </m:r>
                              </m:oMath>
                            </m:oMathPara>
                          </a14:m>
                          <a:endParaRPr lang="en-GB" sz="2200" dirty="0">
                            <a:solidFill>
                              <a:schemeClr val="tx1"/>
                            </a:solidFill>
                          </a:endParaRPr>
                        </a:p>
                      </a:txBody>
                      <a:tcPr/>
                    </a:tc>
                    <a:extLst>
                      <a:ext uri="{0D108BD9-81ED-4DB2-BD59-A6C34878D82A}">
                        <a16:rowId xmlns:a16="http://schemas.microsoft.com/office/drawing/2014/main" val="10000"/>
                      </a:ext>
                    </a:extLst>
                  </a:tr>
                  <a:tr h="531888">
                    <a:tc>
                      <a:txBody>
                        <a:bodyPr/>
                        <a:lstStyle/>
                        <a:p>
                          <a:pPr algn="ctr"/>
                          <a:r>
                            <a:rPr lang="en-GB" sz="2400" dirty="0"/>
                            <a:t>1</a:t>
                          </a:r>
                        </a:p>
                      </a:txBody>
                      <a:tcPr>
                        <a:solidFill>
                          <a:srgbClr val="FFFF00"/>
                        </a:solidFill>
                      </a:tcPr>
                    </a:tc>
                    <a:extLst>
                      <a:ext uri="{0D108BD9-81ED-4DB2-BD59-A6C34878D82A}">
                        <a16:rowId xmlns:a16="http://schemas.microsoft.com/office/drawing/2014/main" val="10001"/>
                      </a:ext>
                    </a:extLst>
                  </a:tr>
                  <a:tr h="531888">
                    <a:tc>
                      <a:txBody>
                        <a:bodyPr/>
                        <a:lstStyle/>
                        <a:p>
                          <a:pPr algn="ctr"/>
                          <a:r>
                            <a:rPr lang="en-GB" sz="2400" dirty="0"/>
                            <a:t>1</a:t>
                          </a:r>
                        </a:p>
                      </a:txBody>
                      <a:tcPr>
                        <a:solidFill>
                          <a:srgbClr val="FFFF00"/>
                        </a:solidFill>
                      </a:tcPr>
                    </a:tc>
                    <a:extLst>
                      <a:ext uri="{0D108BD9-81ED-4DB2-BD59-A6C34878D82A}">
                        <a16:rowId xmlns:a16="http://schemas.microsoft.com/office/drawing/2014/main" val="10002"/>
                      </a:ext>
                    </a:extLst>
                  </a:tr>
                  <a:tr h="531888">
                    <a:tc>
                      <a:txBody>
                        <a:bodyPr/>
                        <a:lstStyle/>
                        <a:p>
                          <a:pPr algn="ctr"/>
                          <a:r>
                            <a:rPr lang="en-GB" sz="2400" dirty="0"/>
                            <a:t>0</a:t>
                          </a:r>
                        </a:p>
                      </a:txBody>
                      <a:tcPr>
                        <a:solidFill>
                          <a:srgbClr val="FFFF00"/>
                        </a:solidFill>
                      </a:tcPr>
                    </a:tc>
                    <a:extLst>
                      <a:ext uri="{0D108BD9-81ED-4DB2-BD59-A6C34878D82A}">
                        <a16:rowId xmlns:a16="http://schemas.microsoft.com/office/drawing/2014/main" val="10003"/>
                      </a:ext>
                    </a:extLst>
                  </a:tr>
                  <a:tr h="531888">
                    <a:tc>
                      <a:txBody>
                        <a:bodyPr/>
                        <a:lstStyle/>
                        <a:p>
                          <a:pPr algn="ctr"/>
                          <a:r>
                            <a:rPr lang="en-GB" sz="2400" dirty="0"/>
                            <a:t>1</a:t>
                          </a:r>
                        </a:p>
                      </a:txBody>
                      <a:tcPr>
                        <a:solidFill>
                          <a:srgbClr val="FFFF00"/>
                        </a:solidFill>
                      </a:tcPr>
                    </a:tc>
                    <a:extLst>
                      <a:ext uri="{0D108BD9-81ED-4DB2-BD59-A6C34878D82A}">
                        <a16:rowId xmlns:a16="http://schemas.microsoft.com/office/drawing/2014/main" val="10004"/>
                      </a:ext>
                    </a:extLst>
                  </a:tr>
                </a:tbl>
              </a:graphicData>
            </a:graphic>
          </p:graphicFrame>
        </mc:Choice>
        <mc:Fallback xmlns="">
          <p:graphicFrame>
            <p:nvGraphicFramePr>
              <p:cNvPr id="8" name="Table 7"/>
              <p:cNvGraphicFramePr>
                <a:graphicFrameLocks noGrp="1"/>
              </p:cNvGraphicFramePr>
              <p:nvPr>
                <p:extLst>
                  <p:ext uri="{D42A27DB-BD31-4B8C-83A1-F6EECF244321}">
                    <p14:modId xmlns:p14="http://schemas.microsoft.com/office/powerpoint/2010/main" val="1962318267"/>
                  </p:ext>
                </p:extLst>
              </p:nvPr>
            </p:nvGraphicFramePr>
            <p:xfrm>
              <a:off x="2286000" y="2432516"/>
              <a:ext cx="1219200" cy="2623980"/>
            </p:xfrm>
            <a:graphic>
              <a:graphicData uri="http://schemas.openxmlformats.org/drawingml/2006/table">
                <a:tbl>
                  <a:tblPr firstRow="1" bandRow="1">
                    <a:tableStyleId>{5C22544A-7EE6-4342-B048-85BDC9FD1C3A}</a:tableStyleId>
                  </a:tblPr>
                  <a:tblGrid>
                    <a:gridCol w="1219200">
                      <a:extLst>
                        <a:ext uri="{9D8B030D-6E8A-4147-A177-3AD203B41FA5}">
                          <a16:colId xmlns:a16="http://schemas.microsoft.com/office/drawing/2014/main" val="20000"/>
                        </a:ext>
                      </a:extLst>
                    </a:gridCol>
                  </a:tblGrid>
                  <a:tr h="496428">
                    <a:tc>
                      <a:txBody>
                        <a:bodyPr/>
                        <a:lstStyle/>
                        <a:p>
                          <a:endParaRPr lang="en-US"/>
                        </a:p>
                      </a:txBody>
                      <a:tcPr>
                        <a:blipFill>
                          <a:blip r:embed="rId4"/>
                          <a:stretch>
                            <a:fillRect l="-1000" t="-2439" r="-2500" b="-437805"/>
                          </a:stretch>
                        </a:blipFill>
                      </a:tcPr>
                    </a:tc>
                    <a:extLst>
                      <a:ext uri="{0D108BD9-81ED-4DB2-BD59-A6C34878D82A}">
                        <a16:rowId xmlns:a16="http://schemas.microsoft.com/office/drawing/2014/main" val="10000"/>
                      </a:ext>
                    </a:extLst>
                  </a:tr>
                  <a:tr h="531888">
                    <a:tc>
                      <a:txBody>
                        <a:bodyPr/>
                        <a:lstStyle/>
                        <a:p>
                          <a:pPr algn="ctr"/>
                          <a:r>
                            <a:rPr lang="en-GB" sz="2400" dirty="0"/>
                            <a:t>1</a:t>
                          </a:r>
                        </a:p>
                      </a:txBody>
                      <a:tcPr>
                        <a:solidFill>
                          <a:srgbClr val="FFFF00"/>
                        </a:solidFill>
                      </a:tcPr>
                    </a:tc>
                    <a:extLst>
                      <a:ext uri="{0D108BD9-81ED-4DB2-BD59-A6C34878D82A}">
                        <a16:rowId xmlns:a16="http://schemas.microsoft.com/office/drawing/2014/main" val="10001"/>
                      </a:ext>
                    </a:extLst>
                  </a:tr>
                  <a:tr h="531888">
                    <a:tc>
                      <a:txBody>
                        <a:bodyPr/>
                        <a:lstStyle/>
                        <a:p>
                          <a:pPr algn="ctr"/>
                          <a:r>
                            <a:rPr lang="en-GB" sz="2400" dirty="0"/>
                            <a:t>1</a:t>
                          </a:r>
                        </a:p>
                      </a:txBody>
                      <a:tcPr>
                        <a:solidFill>
                          <a:srgbClr val="FFFF00"/>
                        </a:solidFill>
                      </a:tcPr>
                    </a:tc>
                    <a:extLst>
                      <a:ext uri="{0D108BD9-81ED-4DB2-BD59-A6C34878D82A}">
                        <a16:rowId xmlns:a16="http://schemas.microsoft.com/office/drawing/2014/main" val="10002"/>
                      </a:ext>
                    </a:extLst>
                  </a:tr>
                  <a:tr h="531888">
                    <a:tc>
                      <a:txBody>
                        <a:bodyPr/>
                        <a:lstStyle/>
                        <a:p>
                          <a:pPr algn="ctr"/>
                          <a:r>
                            <a:rPr lang="en-GB" sz="2400" dirty="0"/>
                            <a:t>0</a:t>
                          </a:r>
                        </a:p>
                      </a:txBody>
                      <a:tcPr>
                        <a:solidFill>
                          <a:srgbClr val="FFFF00"/>
                        </a:solidFill>
                      </a:tcPr>
                    </a:tc>
                    <a:extLst>
                      <a:ext uri="{0D108BD9-81ED-4DB2-BD59-A6C34878D82A}">
                        <a16:rowId xmlns:a16="http://schemas.microsoft.com/office/drawing/2014/main" val="10003"/>
                      </a:ext>
                    </a:extLst>
                  </a:tr>
                  <a:tr h="531888">
                    <a:tc>
                      <a:txBody>
                        <a:bodyPr/>
                        <a:lstStyle/>
                        <a:p>
                          <a:pPr algn="ctr"/>
                          <a:r>
                            <a:rPr lang="en-GB" sz="2400" dirty="0"/>
                            <a:t>1</a:t>
                          </a:r>
                        </a:p>
                      </a:txBody>
                      <a:tcPr>
                        <a:solidFill>
                          <a:srgbClr val="FFFF00"/>
                        </a:solidFill>
                      </a:tcPr>
                    </a:tc>
                    <a:extLst>
                      <a:ext uri="{0D108BD9-81ED-4DB2-BD59-A6C34878D82A}">
                        <a16:rowId xmlns:a16="http://schemas.microsoft.com/office/drawing/2014/main" val="10004"/>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9" name="Table 8"/>
              <p:cNvGraphicFramePr>
                <a:graphicFrameLocks noGrp="1"/>
              </p:cNvGraphicFramePr>
              <p:nvPr>
                <p:extLst>
                  <p:ext uri="{D42A27DB-BD31-4B8C-83A1-F6EECF244321}">
                    <p14:modId xmlns:p14="http://schemas.microsoft.com/office/powerpoint/2010/main" val="2007988498"/>
                  </p:ext>
                </p:extLst>
              </p:nvPr>
            </p:nvGraphicFramePr>
            <p:xfrm>
              <a:off x="3535680" y="2432516"/>
              <a:ext cx="731520" cy="2623980"/>
            </p:xfrm>
            <a:graphic>
              <a:graphicData uri="http://schemas.openxmlformats.org/drawingml/2006/table">
                <a:tbl>
                  <a:tblPr firstRow="1" bandRow="1">
                    <a:tableStyleId>{5C22544A-7EE6-4342-B048-85BDC9FD1C3A}</a:tableStyleId>
                  </a:tblPr>
                  <a:tblGrid>
                    <a:gridCol w="731520">
                      <a:extLst>
                        <a:ext uri="{9D8B030D-6E8A-4147-A177-3AD203B41FA5}">
                          <a16:colId xmlns:a16="http://schemas.microsoft.com/office/drawing/2014/main" val="20000"/>
                        </a:ext>
                      </a:extLst>
                    </a:gridCol>
                  </a:tblGrid>
                  <a:tr h="496428">
                    <a:tc>
                      <a:txBody>
                        <a:bodyPr/>
                        <a:lstStyle/>
                        <a:p>
                          <a:pPr algn="ctr"/>
                          <a14:m>
                            <m:oMathPara xmlns:m="http://schemas.openxmlformats.org/officeDocument/2006/math">
                              <m:oMathParaPr>
                                <m:jc m:val="centerGroup"/>
                              </m:oMathParaPr>
                              <m:oMath xmlns:m="http://schemas.openxmlformats.org/officeDocument/2006/math">
                                <m:r>
                                  <a:rPr lang="en-GB" sz="2200" b="1" i="1" smtClean="0">
                                    <a:solidFill>
                                      <a:schemeClr val="tx1"/>
                                    </a:solidFill>
                                    <a:latin typeface="Cambria Math" panose="02040503050406030204" pitchFamily="18" charset="0"/>
                                    <a:ea typeface="Cambria Math" panose="02040503050406030204" pitchFamily="18" charset="0"/>
                                  </a:rPr>
                                  <m:t>¬</m:t>
                                </m:r>
                                <m:r>
                                  <a:rPr lang="en-GB" sz="2200" b="1" i="1" smtClean="0">
                                    <a:solidFill>
                                      <a:schemeClr val="tx1"/>
                                    </a:solidFill>
                                    <a:latin typeface="Cambria Math" panose="02040503050406030204" pitchFamily="18" charset="0"/>
                                  </a:rPr>
                                  <m:t>𝒑</m:t>
                                </m:r>
                              </m:oMath>
                            </m:oMathPara>
                          </a14:m>
                          <a:endParaRPr lang="en-GB" sz="2200" dirty="0">
                            <a:solidFill>
                              <a:schemeClr val="tx1"/>
                            </a:solidFill>
                          </a:endParaRPr>
                        </a:p>
                      </a:txBody>
                      <a:tcPr/>
                    </a:tc>
                    <a:extLst>
                      <a:ext uri="{0D108BD9-81ED-4DB2-BD59-A6C34878D82A}">
                        <a16:rowId xmlns:a16="http://schemas.microsoft.com/office/drawing/2014/main" val="10000"/>
                      </a:ext>
                    </a:extLst>
                  </a:tr>
                  <a:tr h="531888">
                    <a:tc>
                      <a:txBody>
                        <a:bodyPr/>
                        <a:lstStyle/>
                        <a:p>
                          <a:pPr algn="ctr"/>
                          <a:r>
                            <a:rPr lang="en-GB" sz="2400" dirty="0"/>
                            <a:t>1</a:t>
                          </a:r>
                        </a:p>
                      </a:txBody>
                      <a:tcPr/>
                    </a:tc>
                    <a:extLst>
                      <a:ext uri="{0D108BD9-81ED-4DB2-BD59-A6C34878D82A}">
                        <a16:rowId xmlns:a16="http://schemas.microsoft.com/office/drawing/2014/main" val="10001"/>
                      </a:ext>
                    </a:extLst>
                  </a:tr>
                  <a:tr h="531888">
                    <a:tc>
                      <a:txBody>
                        <a:bodyPr/>
                        <a:lstStyle/>
                        <a:p>
                          <a:pPr algn="ctr"/>
                          <a:r>
                            <a:rPr lang="en-GB" sz="2400" dirty="0"/>
                            <a:t>1</a:t>
                          </a:r>
                        </a:p>
                      </a:txBody>
                      <a:tcPr/>
                    </a:tc>
                    <a:extLst>
                      <a:ext uri="{0D108BD9-81ED-4DB2-BD59-A6C34878D82A}">
                        <a16:rowId xmlns:a16="http://schemas.microsoft.com/office/drawing/2014/main" val="10002"/>
                      </a:ext>
                    </a:extLst>
                  </a:tr>
                  <a:tr h="531888">
                    <a:tc>
                      <a:txBody>
                        <a:bodyPr/>
                        <a:lstStyle/>
                        <a:p>
                          <a:pPr algn="ctr"/>
                          <a:r>
                            <a:rPr lang="en-GB" sz="2400" dirty="0"/>
                            <a:t>0</a:t>
                          </a:r>
                        </a:p>
                      </a:txBody>
                      <a:tcPr/>
                    </a:tc>
                    <a:extLst>
                      <a:ext uri="{0D108BD9-81ED-4DB2-BD59-A6C34878D82A}">
                        <a16:rowId xmlns:a16="http://schemas.microsoft.com/office/drawing/2014/main" val="10003"/>
                      </a:ext>
                    </a:extLst>
                  </a:tr>
                  <a:tr h="531888">
                    <a:tc>
                      <a:txBody>
                        <a:bodyPr/>
                        <a:lstStyle/>
                        <a:p>
                          <a:pPr algn="ctr"/>
                          <a:r>
                            <a:rPr lang="en-GB" sz="2400" dirty="0"/>
                            <a:t>0</a:t>
                          </a:r>
                        </a:p>
                      </a:txBody>
                      <a:tcPr/>
                    </a:tc>
                    <a:extLst>
                      <a:ext uri="{0D108BD9-81ED-4DB2-BD59-A6C34878D82A}">
                        <a16:rowId xmlns:a16="http://schemas.microsoft.com/office/drawing/2014/main" val="10004"/>
                      </a:ext>
                    </a:extLst>
                  </a:tr>
                </a:tbl>
              </a:graphicData>
            </a:graphic>
          </p:graphicFrame>
        </mc:Choice>
        <mc:Fallback xmlns="">
          <p:graphicFrame>
            <p:nvGraphicFramePr>
              <p:cNvPr id="9" name="Table 8"/>
              <p:cNvGraphicFramePr>
                <a:graphicFrameLocks noGrp="1"/>
              </p:cNvGraphicFramePr>
              <p:nvPr>
                <p:extLst>
                  <p:ext uri="{D42A27DB-BD31-4B8C-83A1-F6EECF244321}">
                    <p14:modId xmlns:p14="http://schemas.microsoft.com/office/powerpoint/2010/main" val="2007988498"/>
                  </p:ext>
                </p:extLst>
              </p:nvPr>
            </p:nvGraphicFramePr>
            <p:xfrm>
              <a:off x="3535680" y="2432516"/>
              <a:ext cx="731520" cy="2623980"/>
            </p:xfrm>
            <a:graphic>
              <a:graphicData uri="http://schemas.openxmlformats.org/drawingml/2006/table">
                <a:tbl>
                  <a:tblPr firstRow="1" bandRow="1">
                    <a:tableStyleId>{5C22544A-7EE6-4342-B048-85BDC9FD1C3A}</a:tableStyleId>
                  </a:tblPr>
                  <a:tblGrid>
                    <a:gridCol w="731520"/>
                  </a:tblGrid>
                  <a:tr h="496428">
                    <a:tc>
                      <a:txBody>
                        <a:bodyPr/>
                        <a:lstStyle/>
                        <a:p>
                          <a:endParaRPr lang="en-US"/>
                        </a:p>
                      </a:txBody>
                      <a:tcPr>
                        <a:blipFill rotWithShape="0">
                          <a:blip r:embed="rId5"/>
                          <a:stretch>
                            <a:fillRect l="-1667" t="-2439" r="-4167" b="-439024"/>
                          </a:stretch>
                        </a:blipFill>
                      </a:tcPr>
                    </a:tc>
                  </a:tr>
                  <a:tr h="531888">
                    <a:tc>
                      <a:txBody>
                        <a:bodyPr/>
                        <a:lstStyle/>
                        <a:p>
                          <a:pPr algn="ctr"/>
                          <a:r>
                            <a:rPr lang="en-GB" sz="2400" dirty="0" smtClean="0"/>
                            <a:t>1</a:t>
                          </a:r>
                          <a:endParaRPr lang="en-GB" sz="2400" dirty="0"/>
                        </a:p>
                      </a:txBody>
                      <a:tcPr/>
                    </a:tc>
                  </a:tr>
                  <a:tr h="531888">
                    <a:tc>
                      <a:txBody>
                        <a:bodyPr/>
                        <a:lstStyle/>
                        <a:p>
                          <a:pPr algn="ctr"/>
                          <a:r>
                            <a:rPr lang="en-GB" sz="2400" dirty="0" smtClean="0"/>
                            <a:t>1</a:t>
                          </a:r>
                          <a:endParaRPr lang="en-GB" sz="2400" dirty="0"/>
                        </a:p>
                      </a:txBody>
                      <a:tcPr/>
                    </a:tc>
                  </a:tr>
                  <a:tr h="531888">
                    <a:tc>
                      <a:txBody>
                        <a:bodyPr/>
                        <a:lstStyle/>
                        <a:p>
                          <a:pPr algn="ctr"/>
                          <a:r>
                            <a:rPr lang="en-GB" sz="2400" dirty="0" smtClean="0"/>
                            <a:t>0</a:t>
                          </a:r>
                          <a:endParaRPr lang="en-GB" sz="2400" dirty="0"/>
                        </a:p>
                      </a:txBody>
                      <a:tcPr/>
                    </a:tc>
                  </a:tr>
                  <a:tr h="531888">
                    <a:tc>
                      <a:txBody>
                        <a:bodyPr/>
                        <a:lstStyle/>
                        <a:p>
                          <a:pPr algn="ctr"/>
                          <a:r>
                            <a:rPr lang="en-GB" sz="2400" dirty="0" smtClean="0"/>
                            <a:t>0</a:t>
                          </a:r>
                          <a:endParaRPr lang="en-GB" sz="2400" dirty="0"/>
                        </a:p>
                      </a:txBody>
                      <a:tcPr/>
                    </a:tc>
                  </a:tr>
                </a:tbl>
              </a:graphicData>
            </a:graphic>
          </p:graphicFrame>
        </mc:Fallback>
      </mc:AlternateContent>
      <mc:AlternateContent xmlns:mc="http://schemas.openxmlformats.org/markup-compatibility/2006" xmlns:a14="http://schemas.microsoft.com/office/drawing/2010/main">
        <mc:Choice Requires="a14">
          <p:graphicFrame>
            <p:nvGraphicFramePr>
              <p:cNvPr id="10" name="Table 9"/>
              <p:cNvGraphicFramePr>
                <a:graphicFrameLocks noGrp="1"/>
              </p:cNvGraphicFramePr>
              <p:nvPr>
                <p:extLst>
                  <p:ext uri="{D42A27DB-BD31-4B8C-83A1-F6EECF244321}">
                    <p14:modId xmlns:p14="http://schemas.microsoft.com/office/powerpoint/2010/main" val="2489439822"/>
                  </p:ext>
                </p:extLst>
              </p:nvPr>
            </p:nvGraphicFramePr>
            <p:xfrm>
              <a:off x="4286304" y="2438400"/>
              <a:ext cx="1428696" cy="2623980"/>
            </p:xfrm>
            <a:graphic>
              <a:graphicData uri="http://schemas.openxmlformats.org/drawingml/2006/table">
                <a:tbl>
                  <a:tblPr firstRow="1" bandRow="1">
                    <a:tableStyleId>{5C22544A-7EE6-4342-B048-85BDC9FD1C3A}</a:tableStyleId>
                  </a:tblPr>
                  <a:tblGrid>
                    <a:gridCol w="1428696">
                      <a:extLst>
                        <a:ext uri="{9D8B030D-6E8A-4147-A177-3AD203B41FA5}">
                          <a16:colId xmlns:a16="http://schemas.microsoft.com/office/drawing/2014/main" val="20000"/>
                        </a:ext>
                      </a:extLst>
                    </a:gridCol>
                  </a:tblGrid>
                  <a:tr h="496428">
                    <a:tc>
                      <a:txBody>
                        <a:bodyPr/>
                        <a:lstStyle/>
                        <a:p>
                          <a:pPr algn="ctr"/>
                          <a14:m>
                            <m:oMathPara xmlns:m="http://schemas.openxmlformats.org/officeDocument/2006/math">
                              <m:oMathParaPr>
                                <m:jc m:val="centerGroup"/>
                              </m:oMathParaPr>
                              <m:oMath xmlns:m="http://schemas.openxmlformats.org/officeDocument/2006/math">
                                <m:r>
                                  <a:rPr lang="en-GB" sz="2200" b="1" i="1" smtClean="0">
                                    <a:solidFill>
                                      <a:schemeClr val="tx1"/>
                                    </a:solidFill>
                                    <a:latin typeface="Cambria Math" panose="02040503050406030204" pitchFamily="18" charset="0"/>
                                  </a:rPr>
                                  <m:t>¬</m:t>
                                </m:r>
                                <m:r>
                                  <a:rPr lang="en-GB" sz="2200" b="1" i="1" smtClean="0">
                                    <a:solidFill>
                                      <a:schemeClr val="tx1"/>
                                    </a:solidFill>
                                    <a:latin typeface="Cambria Math" panose="02040503050406030204" pitchFamily="18" charset="0"/>
                                  </a:rPr>
                                  <m:t>𝒑</m:t>
                                </m:r>
                                <m:r>
                                  <a:rPr lang="en-GB" sz="2200" b="1" i="1" smtClean="0">
                                    <a:solidFill>
                                      <a:schemeClr val="tx1"/>
                                    </a:solidFill>
                                    <a:latin typeface="Cambria Math" panose="02040503050406030204" pitchFamily="18" charset="0"/>
                                  </a:rPr>
                                  <m:t> ∨ </m:t>
                                </m:r>
                                <m:r>
                                  <a:rPr lang="en-GB" sz="2200" b="1" i="1" smtClean="0">
                                    <a:solidFill>
                                      <a:schemeClr val="tx1"/>
                                    </a:solidFill>
                                    <a:latin typeface="Cambria Math" panose="02040503050406030204" pitchFamily="18" charset="0"/>
                                  </a:rPr>
                                  <m:t>𝒒</m:t>
                                </m:r>
                              </m:oMath>
                            </m:oMathPara>
                          </a14:m>
                          <a:endParaRPr lang="en-GB" sz="2200" dirty="0">
                            <a:solidFill>
                              <a:schemeClr val="tx1"/>
                            </a:solidFill>
                          </a:endParaRPr>
                        </a:p>
                      </a:txBody>
                      <a:tcPr/>
                    </a:tc>
                    <a:extLst>
                      <a:ext uri="{0D108BD9-81ED-4DB2-BD59-A6C34878D82A}">
                        <a16:rowId xmlns:a16="http://schemas.microsoft.com/office/drawing/2014/main" val="10000"/>
                      </a:ext>
                    </a:extLst>
                  </a:tr>
                  <a:tr h="531888">
                    <a:tc>
                      <a:txBody>
                        <a:bodyPr/>
                        <a:lstStyle/>
                        <a:p>
                          <a:pPr algn="ctr"/>
                          <a:r>
                            <a:rPr lang="en-GB" sz="2400" dirty="0"/>
                            <a:t>1</a:t>
                          </a:r>
                        </a:p>
                      </a:txBody>
                      <a:tcPr>
                        <a:solidFill>
                          <a:srgbClr val="FFFF00"/>
                        </a:solidFill>
                      </a:tcPr>
                    </a:tc>
                    <a:extLst>
                      <a:ext uri="{0D108BD9-81ED-4DB2-BD59-A6C34878D82A}">
                        <a16:rowId xmlns:a16="http://schemas.microsoft.com/office/drawing/2014/main" val="10001"/>
                      </a:ext>
                    </a:extLst>
                  </a:tr>
                  <a:tr h="531888">
                    <a:tc>
                      <a:txBody>
                        <a:bodyPr/>
                        <a:lstStyle/>
                        <a:p>
                          <a:pPr algn="ctr"/>
                          <a:r>
                            <a:rPr lang="en-GB" sz="2400" dirty="0"/>
                            <a:t>1</a:t>
                          </a:r>
                        </a:p>
                      </a:txBody>
                      <a:tcPr>
                        <a:solidFill>
                          <a:srgbClr val="FFFF00"/>
                        </a:solidFill>
                      </a:tcPr>
                    </a:tc>
                    <a:extLst>
                      <a:ext uri="{0D108BD9-81ED-4DB2-BD59-A6C34878D82A}">
                        <a16:rowId xmlns:a16="http://schemas.microsoft.com/office/drawing/2014/main" val="10002"/>
                      </a:ext>
                    </a:extLst>
                  </a:tr>
                  <a:tr h="531888">
                    <a:tc>
                      <a:txBody>
                        <a:bodyPr/>
                        <a:lstStyle/>
                        <a:p>
                          <a:pPr algn="ctr"/>
                          <a:r>
                            <a:rPr lang="en-GB" sz="2400" dirty="0"/>
                            <a:t>0</a:t>
                          </a:r>
                        </a:p>
                      </a:txBody>
                      <a:tcPr>
                        <a:solidFill>
                          <a:srgbClr val="FFFF00"/>
                        </a:solidFill>
                      </a:tcPr>
                    </a:tc>
                    <a:extLst>
                      <a:ext uri="{0D108BD9-81ED-4DB2-BD59-A6C34878D82A}">
                        <a16:rowId xmlns:a16="http://schemas.microsoft.com/office/drawing/2014/main" val="10003"/>
                      </a:ext>
                    </a:extLst>
                  </a:tr>
                  <a:tr h="531888">
                    <a:tc>
                      <a:txBody>
                        <a:bodyPr/>
                        <a:lstStyle/>
                        <a:p>
                          <a:pPr algn="ctr"/>
                          <a:r>
                            <a:rPr lang="en-GB" sz="2400" dirty="0"/>
                            <a:t>1</a:t>
                          </a:r>
                        </a:p>
                      </a:txBody>
                      <a:tcPr>
                        <a:solidFill>
                          <a:srgbClr val="FFFF00"/>
                        </a:solidFill>
                      </a:tcPr>
                    </a:tc>
                    <a:extLst>
                      <a:ext uri="{0D108BD9-81ED-4DB2-BD59-A6C34878D82A}">
                        <a16:rowId xmlns:a16="http://schemas.microsoft.com/office/drawing/2014/main" val="10004"/>
                      </a:ext>
                    </a:extLst>
                  </a:tr>
                </a:tbl>
              </a:graphicData>
            </a:graphic>
          </p:graphicFrame>
        </mc:Choice>
        <mc:Fallback xmlns="">
          <p:graphicFrame>
            <p:nvGraphicFramePr>
              <p:cNvPr id="10" name="Table 9"/>
              <p:cNvGraphicFramePr>
                <a:graphicFrameLocks noGrp="1"/>
              </p:cNvGraphicFramePr>
              <p:nvPr>
                <p:extLst>
                  <p:ext uri="{D42A27DB-BD31-4B8C-83A1-F6EECF244321}">
                    <p14:modId xmlns:p14="http://schemas.microsoft.com/office/powerpoint/2010/main" val="2489439822"/>
                  </p:ext>
                </p:extLst>
              </p:nvPr>
            </p:nvGraphicFramePr>
            <p:xfrm>
              <a:off x="4286304" y="2438400"/>
              <a:ext cx="1428696" cy="2623980"/>
            </p:xfrm>
            <a:graphic>
              <a:graphicData uri="http://schemas.openxmlformats.org/drawingml/2006/table">
                <a:tbl>
                  <a:tblPr firstRow="1" bandRow="1">
                    <a:tableStyleId>{5C22544A-7EE6-4342-B048-85BDC9FD1C3A}</a:tableStyleId>
                  </a:tblPr>
                  <a:tblGrid>
                    <a:gridCol w="1428696"/>
                  </a:tblGrid>
                  <a:tr h="496428">
                    <a:tc>
                      <a:txBody>
                        <a:bodyPr/>
                        <a:lstStyle/>
                        <a:p>
                          <a:endParaRPr lang="en-US"/>
                        </a:p>
                      </a:txBody>
                      <a:tcPr>
                        <a:blipFill rotWithShape="0">
                          <a:blip r:embed="rId6"/>
                          <a:stretch>
                            <a:fillRect l="-426" t="-2439" r="-1702" b="-439024"/>
                          </a:stretch>
                        </a:blipFill>
                      </a:tcPr>
                    </a:tc>
                  </a:tr>
                  <a:tr h="531888">
                    <a:tc>
                      <a:txBody>
                        <a:bodyPr/>
                        <a:lstStyle/>
                        <a:p>
                          <a:pPr algn="ctr"/>
                          <a:r>
                            <a:rPr lang="en-GB" sz="2400" dirty="0" smtClean="0"/>
                            <a:t>1</a:t>
                          </a:r>
                          <a:endParaRPr lang="en-GB" sz="2400" dirty="0"/>
                        </a:p>
                      </a:txBody>
                      <a:tcPr>
                        <a:solidFill>
                          <a:srgbClr val="FFFF00"/>
                        </a:solidFill>
                      </a:tcPr>
                    </a:tc>
                  </a:tr>
                  <a:tr h="531888">
                    <a:tc>
                      <a:txBody>
                        <a:bodyPr/>
                        <a:lstStyle/>
                        <a:p>
                          <a:pPr algn="ctr"/>
                          <a:r>
                            <a:rPr lang="en-GB" sz="2400" dirty="0" smtClean="0"/>
                            <a:t>1</a:t>
                          </a:r>
                          <a:endParaRPr lang="en-GB" sz="2400" dirty="0"/>
                        </a:p>
                      </a:txBody>
                      <a:tcPr>
                        <a:solidFill>
                          <a:srgbClr val="FFFF00"/>
                        </a:solidFill>
                      </a:tcPr>
                    </a:tc>
                  </a:tr>
                  <a:tr h="531888">
                    <a:tc>
                      <a:txBody>
                        <a:bodyPr/>
                        <a:lstStyle/>
                        <a:p>
                          <a:pPr algn="ctr"/>
                          <a:r>
                            <a:rPr lang="en-GB" sz="2400" dirty="0" smtClean="0"/>
                            <a:t>0</a:t>
                          </a:r>
                          <a:endParaRPr lang="en-GB" sz="2400" dirty="0"/>
                        </a:p>
                      </a:txBody>
                      <a:tcPr>
                        <a:solidFill>
                          <a:srgbClr val="FFFF00"/>
                        </a:solidFill>
                      </a:tcPr>
                    </a:tc>
                  </a:tr>
                  <a:tr h="531888">
                    <a:tc>
                      <a:txBody>
                        <a:bodyPr/>
                        <a:lstStyle/>
                        <a:p>
                          <a:pPr algn="ctr"/>
                          <a:r>
                            <a:rPr lang="en-GB" sz="2400" dirty="0" smtClean="0"/>
                            <a:t>1</a:t>
                          </a:r>
                          <a:endParaRPr lang="en-GB" sz="2400" dirty="0"/>
                        </a:p>
                      </a:txBody>
                      <a:tcPr>
                        <a:solidFill>
                          <a:srgbClr val="FFFF00"/>
                        </a:solidFill>
                      </a:tcPr>
                    </a:tc>
                  </a:tr>
                </a:tbl>
              </a:graphicData>
            </a:graphic>
          </p:graphicFrame>
        </mc:Fallback>
      </mc:AlternateContent>
      <mc:AlternateContent xmlns:mc="http://schemas.openxmlformats.org/markup-compatibility/2006" xmlns:a14="http://schemas.microsoft.com/office/drawing/2010/main">
        <mc:Choice Requires="a14">
          <p:graphicFrame>
            <p:nvGraphicFramePr>
              <p:cNvPr id="11" name="Table 10">
                <a:extLst>
                  <a:ext uri="{FF2B5EF4-FFF2-40B4-BE49-F238E27FC236}">
                    <a16:creationId xmlns:a16="http://schemas.microsoft.com/office/drawing/2014/main" id="{46F66F03-6314-414E-9EAA-3D5AFA8BDB55}"/>
                  </a:ext>
                </a:extLst>
              </p:cNvPr>
              <p:cNvGraphicFramePr>
                <a:graphicFrameLocks noGrp="1"/>
              </p:cNvGraphicFramePr>
              <p:nvPr>
                <p:extLst>
                  <p:ext uri="{D42A27DB-BD31-4B8C-83A1-F6EECF244321}">
                    <p14:modId xmlns:p14="http://schemas.microsoft.com/office/powerpoint/2010/main" val="3311804339"/>
                  </p:ext>
                </p:extLst>
              </p:nvPr>
            </p:nvGraphicFramePr>
            <p:xfrm>
              <a:off x="5791200" y="2438400"/>
              <a:ext cx="3124200" cy="2623980"/>
            </p:xfrm>
            <a:graphic>
              <a:graphicData uri="http://schemas.openxmlformats.org/drawingml/2006/table">
                <a:tbl>
                  <a:tblPr firstRow="1" bandRow="1">
                    <a:tableStyleId>{5C22544A-7EE6-4342-B048-85BDC9FD1C3A}</a:tableStyleId>
                  </a:tblPr>
                  <a:tblGrid>
                    <a:gridCol w="3124200">
                      <a:extLst>
                        <a:ext uri="{9D8B030D-6E8A-4147-A177-3AD203B41FA5}">
                          <a16:colId xmlns:a16="http://schemas.microsoft.com/office/drawing/2014/main" val="20000"/>
                        </a:ext>
                      </a:extLst>
                    </a:gridCol>
                  </a:tblGrid>
                  <a:tr h="49642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d>
                                  <m:dPr>
                                    <m:ctrlPr>
                                      <a:rPr kumimoji="0" lang="en-GB" sz="2200" b="1"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ctrlPr>
                                  </m:dPr>
                                  <m:e>
                                    <m:r>
                                      <a:rPr kumimoji="0" lang="en-US" sz="2200" b="1"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𝒑</m:t>
                                    </m:r>
                                    <m:r>
                                      <a:rPr kumimoji="0" lang="en-US" sz="2200" b="1"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r>
                                      <a:rPr kumimoji="0" lang="en-US" sz="2200" b="1"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𝒒</m:t>
                                    </m:r>
                                  </m:e>
                                </m:d>
                                <m:r>
                                  <a:rPr kumimoji="0" lang="en-GB" sz="2200" b="1"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d>
                                  <m:dPr>
                                    <m:ctrlPr>
                                      <a:rPr kumimoji="0" lang="en-GB" sz="22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dPr>
                                  <m:e>
                                    <m:r>
                                      <a:rPr kumimoji="0" lang="en-GB" sz="22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r>
                                      <a:rPr kumimoji="0" lang="en-GB" sz="22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𝒑</m:t>
                                    </m:r>
                                    <m:r>
                                      <a:rPr kumimoji="0" lang="en-GB" sz="22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 ∨ </m:t>
                                    </m:r>
                                    <m:r>
                                      <a:rPr kumimoji="0" lang="en-GB" sz="2200" b="1"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𝒒</m:t>
                                    </m:r>
                                    <m:r>
                                      <m:rPr>
                                        <m:nor/>
                                      </m:rPr>
                                      <a:rPr kumimoji="0" lang="en-GB" sz="2200" b="1" i="0" u="none" strike="noStrike" kern="1200" cap="none" spc="0" normalizeH="0" baseline="0" noProof="0" dirty="0">
                                        <a:ln>
                                          <a:noFill/>
                                        </a:ln>
                                        <a:solidFill>
                                          <a:prstClr val="black"/>
                                        </a:solidFill>
                                        <a:effectLst/>
                                        <a:uLnTx/>
                                        <a:uFillTx/>
                                        <a:latin typeface="+mn-lt"/>
                                        <a:ea typeface="+mn-ea"/>
                                        <a:cs typeface="+mn-cs"/>
                                      </a:rPr>
                                      <m:t> </m:t>
                                    </m:r>
                                  </m:e>
                                </m:d>
                              </m:oMath>
                            </m:oMathPara>
                          </a14:m>
                          <a:endParaRPr kumimoji="0" lang="en-GB" sz="2200" b="1" i="0" u="none" strike="noStrike" kern="1200" cap="none" spc="0" normalizeH="0" baseline="0" noProof="0" dirty="0">
                            <a:ln>
                              <a:noFill/>
                            </a:ln>
                            <a:solidFill>
                              <a:prstClr val="black"/>
                            </a:solidFill>
                            <a:effectLst/>
                            <a:uLnTx/>
                            <a:uFillTx/>
                            <a:latin typeface="+mn-lt"/>
                            <a:ea typeface="+mn-ea"/>
                            <a:cs typeface="+mn-cs"/>
                          </a:endParaRPr>
                        </a:p>
                      </a:txBody>
                      <a:tcPr/>
                    </a:tc>
                    <a:extLst>
                      <a:ext uri="{0D108BD9-81ED-4DB2-BD59-A6C34878D82A}">
                        <a16:rowId xmlns:a16="http://schemas.microsoft.com/office/drawing/2014/main" val="10000"/>
                      </a:ext>
                    </a:extLst>
                  </a:tr>
                  <a:tr h="531888">
                    <a:tc>
                      <a:txBody>
                        <a:bodyPr/>
                        <a:lstStyle/>
                        <a:p>
                          <a:pPr algn="ctr"/>
                          <a:r>
                            <a:rPr lang="en-GB" sz="2400" dirty="0"/>
                            <a:t>1</a:t>
                          </a:r>
                        </a:p>
                      </a:txBody>
                      <a:tcPr>
                        <a:solidFill>
                          <a:srgbClr val="00B0F0"/>
                        </a:solidFill>
                      </a:tcPr>
                    </a:tc>
                    <a:extLst>
                      <a:ext uri="{0D108BD9-81ED-4DB2-BD59-A6C34878D82A}">
                        <a16:rowId xmlns:a16="http://schemas.microsoft.com/office/drawing/2014/main" val="10001"/>
                      </a:ext>
                    </a:extLst>
                  </a:tr>
                  <a:tr h="531888">
                    <a:tc>
                      <a:txBody>
                        <a:bodyPr/>
                        <a:lstStyle/>
                        <a:p>
                          <a:pPr algn="ctr"/>
                          <a:r>
                            <a:rPr lang="en-GB" sz="2400" dirty="0"/>
                            <a:t>1</a:t>
                          </a:r>
                        </a:p>
                      </a:txBody>
                      <a:tcPr>
                        <a:solidFill>
                          <a:srgbClr val="00B0F0"/>
                        </a:solidFill>
                      </a:tcPr>
                    </a:tc>
                    <a:extLst>
                      <a:ext uri="{0D108BD9-81ED-4DB2-BD59-A6C34878D82A}">
                        <a16:rowId xmlns:a16="http://schemas.microsoft.com/office/drawing/2014/main" val="10002"/>
                      </a:ext>
                    </a:extLst>
                  </a:tr>
                  <a:tr h="531888">
                    <a:tc>
                      <a:txBody>
                        <a:bodyPr/>
                        <a:lstStyle/>
                        <a:p>
                          <a:pPr algn="ctr"/>
                          <a:r>
                            <a:rPr lang="en-GB" sz="2400" dirty="0"/>
                            <a:t>1</a:t>
                          </a:r>
                        </a:p>
                      </a:txBody>
                      <a:tcPr>
                        <a:solidFill>
                          <a:srgbClr val="00B0F0"/>
                        </a:solidFill>
                      </a:tcPr>
                    </a:tc>
                    <a:extLst>
                      <a:ext uri="{0D108BD9-81ED-4DB2-BD59-A6C34878D82A}">
                        <a16:rowId xmlns:a16="http://schemas.microsoft.com/office/drawing/2014/main" val="10003"/>
                      </a:ext>
                    </a:extLst>
                  </a:tr>
                  <a:tr h="531888">
                    <a:tc>
                      <a:txBody>
                        <a:bodyPr/>
                        <a:lstStyle/>
                        <a:p>
                          <a:pPr algn="ctr"/>
                          <a:r>
                            <a:rPr lang="en-GB" sz="2400" dirty="0"/>
                            <a:t>1</a:t>
                          </a:r>
                        </a:p>
                      </a:txBody>
                      <a:tcPr>
                        <a:solidFill>
                          <a:srgbClr val="00B0F0"/>
                        </a:solidFill>
                      </a:tcPr>
                    </a:tc>
                    <a:extLst>
                      <a:ext uri="{0D108BD9-81ED-4DB2-BD59-A6C34878D82A}">
                        <a16:rowId xmlns:a16="http://schemas.microsoft.com/office/drawing/2014/main" val="10004"/>
                      </a:ext>
                    </a:extLst>
                  </a:tr>
                </a:tbl>
              </a:graphicData>
            </a:graphic>
          </p:graphicFrame>
        </mc:Choice>
        <mc:Fallback xmlns="">
          <p:graphicFrame>
            <p:nvGraphicFramePr>
              <p:cNvPr id="11" name="Table 10">
                <a:extLst>
                  <a:ext uri="{FF2B5EF4-FFF2-40B4-BE49-F238E27FC236}">
                    <a16:creationId xmlns:a16="http://schemas.microsoft.com/office/drawing/2014/main" id="{46F66F03-6314-414E-9EAA-3D5AFA8BDB55}"/>
                  </a:ext>
                </a:extLst>
              </p:cNvPr>
              <p:cNvGraphicFramePr>
                <a:graphicFrameLocks noGrp="1"/>
              </p:cNvGraphicFramePr>
              <p:nvPr>
                <p:extLst>
                  <p:ext uri="{D42A27DB-BD31-4B8C-83A1-F6EECF244321}">
                    <p14:modId xmlns:p14="http://schemas.microsoft.com/office/powerpoint/2010/main" val="3311804339"/>
                  </p:ext>
                </p:extLst>
              </p:nvPr>
            </p:nvGraphicFramePr>
            <p:xfrm>
              <a:off x="5791200" y="2438400"/>
              <a:ext cx="3124200" cy="2623980"/>
            </p:xfrm>
            <a:graphic>
              <a:graphicData uri="http://schemas.openxmlformats.org/drawingml/2006/table">
                <a:tbl>
                  <a:tblPr firstRow="1" bandRow="1">
                    <a:tableStyleId>{5C22544A-7EE6-4342-B048-85BDC9FD1C3A}</a:tableStyleId>
                  </a:tblPr>
                  <a:tblGrid>
                    <a:gridCol w="3124200">
                      <a:extLst>
                        <a:ext uri="{9D8B030D-6E8A-4147-A177-3AD203B41FA5}">
                          <a16:colId xmlns:a16="http://schemas.microsoft.com/office/drawing/2014/main" val="20000"/>
                        </a:ext>
                      </a:extLst>
                    </a:gridCol>
                  </a:tblGrid>
                  <a:tr h="496428">
                    <a:tc>
                      <a:txBody>
                        <a:bodyPr/>
                        <a:lstStyle/>
                        <a:p>
                          <a:endParaRPr lang="en-US"/>
                        </a:p>
                      </a:txBody>
                      <a:tcPr>
                        <a:blipFill>
                          <a:blip r:embed="rId7"/>
                          <a:stretch>
                            <a:fillRect l="-390" t="-2439" r="-780" b="-437805"/>
                          </a:stretch>
                        </a:blipFill>
                      </a:tcPr>
                    </a:tc>
                    <a:extLst>
                      <a:ext uri="{0D108BD9-81ED-4DB2-BD59-A6C34878D82A}">
                        <a16:rowId xmlns:a16="http://schemas.microsoft.com/office/drawing/2014/main" val="10000"/>
                      </a:ext>
                    </a:extLst>
                  </a:tr>
                  <a:tr h="531888">
                    <a:tc>
                      <a:txBody>
                        <a:bodyPr/>
                        <a:lstStyle/>
                        <a:p>
                          <a:pPr algn="ctr"/>
                          <a:r>
                            <a:rPr lang="en-GB" sz="2400" dirty="0"/>
                            <a:t>1</a:t>
                          </a:r>
                        </a:p>
                      </a:txBody>
                      <a:tcPr>
                        <a:solidFill>
                          <a:srgbClr val="00B0F0"/>
                        </a:solidFill>
                      </a:tcPr>
                    </a:tc>
                    <a:extLst>
                      <a:ext uri="{0D108BD9-81ED-4DB2-BD59-A6C34878D82A}">
                        <a16:rowId xmlns:a16="http://schemas.microsoft.com/office/drawing/2014/main" val="10001"/>
                      </a:ext>
                    </a:extLst>
                  </a:tr>
                  <a:tr h="531888">
                    <a:tc>
                      <a:txBody>
                        <a:bodyPr/>
                        <a:lstStyle/>
                        <a:p>
                          <a:pPr algn="ctr"/>
                          <a:r>
                            <a:rPr lang="en-GB" sz="2400" dirty="0"/>
                            <a:t>1</a:t>
                          </a:r>
                        </a:p>
                      </a:txBody>
                      <a:tcPr>
                        <a:solidFill>
                          <a:srgbClr val="00B0F0"/>
                        </a:solidFill>
                      </a:tcPr>
                    </a:tc>
                    <a:extLst>
                      <a:ext uri="{0D108BD9-81ED-4DB2-BD59-A6C34878D82A}">
                        <a16:rowId xmlns:a16="http://schemas.microsoft.com/office/drawing/2014/main" val="10002"/>
                      </a:ext>
                    </a:extLst>
                  </a:tr>
                  <a:tr h="531888">
                    <a:tc>
                      <a:txBody>
                        <a:bodyPr/>
                        <a:lstStyle/>
                        <a:p>
                          <a:pPr algn="ctr"/>
                          <a:r>
                            <a:rPr lang="en-GB" sz="2400" dirty="0"/>
                            <a:t>1</a:t>
                          </a:r>
                        </a:p>
                      </a:txBody>
                      <a:tcPr>
                        <a:solidFill>
                          <a:srgbClr val="00B0F0"/>
                        </a:solidFill>
                      </a:tcPr>
                    </a:tc>
                    <a:extLst>
                      <a:ext uri="{0D108BD9-81ED-4DB2-BD59-A6C34878D82A}">
                        <a16:rowId xmlns:a16="http://schemas.microsoft.com/office/drawing/2014/main" val="10003"/>
                      </a:ext>
                    </a:extLst>
                  </a:tr>
                  <a:tr h="531888">
                    <a:tc>
                      <a:txBody>
                        <a:bodyPr/>
                        <a:lstStyle/>
                        <a:p>
                          <a:pPr algn="ctr"/>
                          <a:r>
                            <a:rPr lang="en-GB" sz="2400" dirty="0"/>
                            <a:t>1</a:t>
                          </a:r>
                        </a:p>
                      </a:txBody>
                      <a:tcPr>
                        <a:solidFill>
                          <a:srgbClr val="00B0F0"/>
                        </a:solidFill>
                      </a:tcPr>
                    </a:tc>
                    <a:extLst>
                      <a:ext uri="{0D108BD9-81ED-4DB2-BD59-A6C34878D82A}">
                        <a16:rowId xmlns:a16="http://schemas.microsoft.com/office/drawing/2014/main" val="10004"/>
                      </a:ext>
                    </a:extLst>
                  </a:tr>
                </a:tbl>
              </a:graphicData>
            </a:graphic>
          </p:graphicFrame>
        </mc:Fallback>
      </mc:AlternateContent>
    </p:spTree>
    <p:extLst>
      <p:ext uri="{BB962C8B-B14F-4D97-AF65-F5344CB8AC3E}">
        <p14:creationId xmlns:p14="http://schemas.microsoft.com/office/powerpoint/2010/main" val="16067727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Logical Equivalences</a:t>
            </a:r>
            <a:br>
              <a:rPr lang="en-US" b="1" dirty="0"/>
            </a:br>
            <a:endParaRPr lang="en-GB" dirty="0"/>
          </a:p>
        </p:txBody>
      </p:sp>
      <p:sp>
        <p:nvSpPr>
          <p:cNvPr id="4" name="Date Placeholder 3"/>
          <p:cNvSpPr>
            <a:spLocks noGrp="1"/>
          </p:cNvSpPr>
          <p:nvPr>
            <p:ph type="dt" sz="half" idx="10"/>
          </p:nvPr>
        </p:nvSpPr>
        <p:spPr/>
        <p:txBody>
          <a:bodyPr/>
          <a:lstStyle/>
          <a:p>
            <a:fld id="{BA8750B6-B11A-4624-9A34-729AD282F670}" type="datetime3">
              <a:rPr lang="en-US" smtClean="0"/>
              <a:t>27 April 2026</a:t>
            </a:fld>
            <a:endParaRPr lang="en-US"/>
          </a:p>
        </p:txBody>
      </p:sp>
      <p:sp>
        <p:nvSpPr>
          <p:cNvPr id="5" name="Footer Placeholder 4"/>
          <p:cNvSpPr>
            <a:spLocks noGrp="1"/>
          </p:cNvSpPr>
          <p:nvPr>
            <p:ph type="ftr" sz="quarter" idx="11"/>
          </p:nvPr>
        </p:nvSpPr>
        <p:spPr/>
        <p:txBody>
          <a:bodyPr/>
          <a:lstStyle/>
          <a:p>
            <a:r>
              <a:rPr lang="en-US"/>
              <a:t>SCS 1302   Discrete Mathematics 1       Prof. D D Karunaratna</a:t>
            </a:r>
          </a:p>
        </p:txBody>
      </p:sp>
      <p:sp>
        <p:nvSpPr>
          <p:cNvPr id="6" name="Slide Number Placeholder 5"/>
          <p:cNvSpPr>
            <a:spLocks noGrp="1"/>
          </p:cNvSpPr>
          <p:nvPr>
            <p:ph type="sldNum" sz="quarter" idx="12"/>
          </p:nvPr>
        </p:nvSpPr>
        <p:spPr/>
        <p:txBody>
          <a:bodyPr/>
          <a:lstStyle/>
          <a:p>
            <a:fld id="{0CA841A6-7C02-4C92-B6EE-5DBCC2AD53D0}" type="slidenum">
              <a:rPr lang="en-US" smtClean="0"/>
              <a:t>45</a:t>
            </a:fld>
            <a:endParaRPr lang="en-US"/>
          </a:p>
        </p:txBody>
      </p:sp>
      <mc:AlternateContent xmlns:mc="http://schemas.openxmlformats.org/markup-compatibility/2006" xmlns:a14="http://schemas.microsoft.com/office/drawing/2010/main">
        <mc:Choice Requires="a14">
          <p:sp>
            <p:nvSpPr>
              <p:cNvPr id="3" name="Rectangle 2">
                <a:extLst>
                  <a:ext uri="{FF2B5EF4-FFF2-40B4-BE49-F238E27FC236}">
                    <a16:creationId xmlns:a16="http://schemas.microsoft.com/office/drawing/2014/main" id="{872153CA-0946-4848-97EF-2C376A630317}"/>
                  </a:ext>
                </a:extLst>
              </p:cNvPr>
              <p:cNvSpPr/>
              <p:nvPr/>
            </p:nvSpPr>
            <p:spPr>
              <a:xfrm>
                <a:off x="457200" y="1676400"/>
                <a:ext cx="2362200" cy="1015663"/>
              </a:xfrm>
              <a:prstGeom prst="rect">
                <a:avLst/>
              </a:prstGeom>
              <a:solidFill>
                <a:schemeClr val="bg2"/>
              </a:solidFill>
              <a:ln>
                <a:solidFill>
                  <a:schemeClr val="tx1"/>
                </a:solidFill>
              </a:ln>
            </p:spPr>
            <p:txBody>
              <a:bodyPr wrap="square">
                <a:spAutoFit/>
              </a:bodyPr>
              <a:lstStyle/>
              <a:p>
                <a:pPr algn="ctr"/>
                <a:r>
                  <a:rPr lang="en-US" sz="2000" b="1" dirty="0">
                    <a:solidFill>
                      <a:schemeClr val="dk1"/>
                    </a:solidFill>
                  </a:rPr>
                  <a:t>Identity laws:</a:t>
                </a:r>
              </a:p>
              <a:p>
                <a:pPr lvl="0" algn="ctr"/>
                <a:r>
                  <a:rPr lang="en-US" sz="2000" dirty="0">
                    <a:solidFill>
                      <a:schemeClr val="dk1"/>
                    </a:solidFill>
                  </a:rPr>
                  <a:t> </a:t>
                </a:r>
                <a14:m>
                  <m:oMath xmlns:m="http://schemas.openxmlformats.org/officeDocument/2006/math">
                    <m:r>
                      <a:rPr lang="en-US" sz="2000" b="0" i="1" smtClean="0">
                        <a:solidFill>
                          <a:schemeClr val="dk1"/>
                        </a:solidFill>
                        <a:latin typeface="Cambria Math" panose="02040503050406030204" pitchFamily="18" charset="0"/>
                      </a:rPr>
                      <m:t>𝑝</m:t>
                    </m:r>
                    <m:r>
                      <a:rPr lang="en-US" sz="2000" b="0" i="1" smtClean="0">
                        <a:solidFill>
                          <a:schemeClr val="dk1"/>
                        </a:solidFill>
                        <a:latin typeface="Cambria Math" panose="02040503050406030204" pitchFamily="18" charset="0"/>
                      </a:rPr>
                      <m:t> ∧</m:t>
                    </m:r>
                    <m:r>
                      <a:rPr lang="en-US" sz="2000" b="0" i="1" smtClean="0">
                        <a:solidFill>
                          <a:schemeClr val="dk1"/>
                        </a:solidFill>
                        <a:latin typeface="Cambria Math" panose="02040503050406030204" pitchFamily="18" charset="0"/>
                        <a:ea typeface="Cambria Math" panose="02040503050406030204" pitchFamily="18" charset="0"/>
                      </a:rPr>
                      <m:t>𝑇</m:t>
                    </m:r>
                    <m:r>
                      <a:rPr lang="en-US" sz="2000" b="0" i="1" smtClean="0">
                        <a:solidFill>
                          <a:schemeClr val="dk1"/>
                        </a:solidFill>
                        <a:latin typeface="Cambria Math" panose="02040503050406030204" pitchFamily="18" charset="0"/>
                        <a:ea typeface="Cambria Math" panose="02040503050406030204" pitchFamily="18" charset="0"/>
                      </a:rPr>
                      <m:t>≡</m:t>
                    </m:r>
                    <m:r>
                      <a:rPr lang="en-US" sz="2000" b="0" i="1" smtClean="0">
                        <a:solidFill>
                          <a:schemeClr val="dk1"/>
                        </a:solidFill>
                        <a:latin typeface="Cambria Math" panose="02040503050406030204" pitchFamily="18" charset="0"/>
                        <a:ea typeface="Cambria Math" panose="02040503050406030204" pitchFamily="18" charset="0"/>
                      </a:rPr>
                      <m:t>𝑝</m:t>
                    </m:r>
                  </m:oMath>
                </a14:m>
                <a:endParaRPr lang="en-US" sz="2000" b="1" i="1" dirty="0">
                  <a:solidFill>
                    <a:prstClr val="black"/>
                  </a:solidFill>
                </a:endParaRPr>
              </a:p>
              <a:p>
                <a:pPr lvl="0" algn="ctr"/>
                <a14:m>
                  <m:oMath xmlns:m="http://schemas.openxmlformats.org/officeDocument/2006/math">
                    <m:r>
                      <a:rPr lang="en-US" sz="2000" b="0" i="1" smtClean="0">
                        <a:solidFill>
                          <a:prstClr val="black"/>
                        </a:solidFill>
                        <a:latin typeface="Cambria Math" panose="02040503050406030204" pitchFamily="18" charset="0"/>
                      </a:rPr>
                      <m:t>𝑝</m:t>
                    </m:r>
                    <m:r>
                      <a:rPr lang="en-US" sz="2000" b="0" i="1" smtClean="0">
                        <a:solidFill>
                          <a:prstClr val="black"/>
                        </a:solidFill>
                        <a:latin typeface="Cambria Math" panose="02040503050406030204" pitchFamily="18" charset="0"/>
                      </a:rPr>
                      <m:t> ∨</m:t>
                    </m:r>
                    <m:r>
                      <a:rPr lang="en-US" sz="2000" b="0" i="1" smtClean="0">
                        <a:solidFill>
                          <a:prstClr val="black"/>
                        </a:solidFill>
                        <a:latin typeface="Cambria Math" panose="02040503050406030204" pitchFamily="18" charset="0"/>
                        <a:ea typeface="Cambria Math" panose="02040503050406030204" pitchFamily="18" charset="0"/>
                      </a:rPr>
                      <m:t>𝐹</m:t>
                    </m:r>
                    <m:r>
                      <a:rPr lang="en-US" sz="2000" b="0" i="1" smtClean="0">
                        <a:solidFill>
                          <a:prstClr val="black"/>
                        </a:solidFill>
                        <a:latin typeface="Cambria Math" panose="02040503050406030204" pitchFamily="18" charset="0"/>
                        <a:ea typeface="Cambria Math" panose="02040503050406030204" pitchFamily="18" charset="0"/>
                      </a:rPr>
                      <m:t>≡</m:t>
                    </m:r>
                    <m:r>
                      <a:rPr lang="en-US" sz="2000" b="0" i="1" smtClean="0">
                        <a:solidFill>
                          <a:prstClr val="black"/>
                        </a:solidFill>
                        <a:latin typeface="Cambria Math" panose="02040503050406030204" pitchFamily="18" charset="0"/>
                        <a:ea typeface="Cambria Math" panose="02040503050406030204" pitchFamily="18" charset="0"/>
                      </a:rPr>
                      <m:t>𝑝</m:t>
                    </m:r>
                  </m:oMath>
                </a14:m>
                <a:r>
                  <a:rPr lang="en-US" sz="2000" i="1" dirty="0">
                    <a:solidFill>
                      <a:prstClr val="black"/>
                    </a:solidFill>
                  </a:rPr>
                  <a:t>  </a:t>
                </a:r>
              </a:p>
            </p:txBody>
          </p:sp>
        </mc:Choice>
        <mc:Fallback xmlns="">
          <p:sp>
            <p:nvSpPr>
              <p:cNvPr id="3" name="Rectangle 2">
                <a:extLst>
                  <a:ext uri="{FF2B5EF4-FFF2-40B4-BE49-F238E27FC236}">
                    <a16:creationId xmlns:a16="http://schemas.microsoft.com/office/drawing/2014/main" id="{872153CA-0946-4848-97EF-2C376A630317}"/>
                  </a:ext>
                </a:extLst>
              </p:cNvPr>
              <p:cNvSpPr>
                <a:spLocks noRot="1" noChangeAspect="1" noMove="1" noResize="1" noEditPoints="1" noAdjustHandles="1" noChangeArrowheads="1" noChangeShapeType="1" noTextEdit="1"/>
              </p:cNvSpPr>
              <p:nvPr/>
            </p:nvSpPr>
            <p:spPr>
              <a:xfrm>
                <a:off x="457200" y="1676400"/>
                <a:ext cx="2362200" cy="1015663"/>
              </a:xfrm>
              <a:prstGeom prst="rect">
                <a:avLst/>
              </a:prstGeom>
              <a:blipFill>
                <a:blip r:embed="rId2"/>
                <a:stretch>
                  <a:fillRect t="-2367" b="-1183"/>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E66C6EF7-D0B6-4214-AD21-46EF3A56C9DC}"/>
                  </a:ext>
                </a:extLst>
              </p:cNvPr>
              <p:cNvSpPr/>
              <p:nvPr/>
            </p:nvSpPr>
            <p:spPr>
              <a:xfrm>
                <a:off x="3429000" y="1676400"/>
                <a:ext cx="2362200" cy="1015663"/>
              </a:xfrm>
              <a:prstGeom prst="rect">
                <a:avLst/>
              </a:prstGeom>
              <a:solidFill>
                <a:schemeClr val="bg2"/>
              </a:solidFill>
              <a:ln>
                <a:solidFill>
                  <a:schemeClr val="tx1"/>
                </a:solidFill>
              </a:ln>
            </p:spPr>
            <p:txBody>
              <a:bodyPr wrap="square">
                <a:spAutoFit/>
              </a:bodyPr>
              <a:lstStyle/>
              <a:p>
                <a:pPr algn="ctr"/>
                <a:r>
                  <a:rPr lang="en-US" sz="2000" b="1" dirty="0">
                    <a:solidFill>
                      <a:schemeClr val="dk1"/>
                    </a:solidFill>
                  </a:rPr>
                  <a:t>Domination laws:</a:t>
                </a:r>
              </a:p>
              <a:p>
                <a:pPr lvl="0" algn="ctr"/>
                <a:r>
                  <a:rPr lang="en-US" sz="2000" dirty="0">
                    <a:solidFill>
                      <a:schemeClr val="dk1"/>
                    </a:solidFill>
                  </a:rPr>
                  <a:t> </a:t>
                </a:r>
                <a14:m>
                  <m:oMath xmlns:m="http://schemas.openxmlformats.org/officeDocument/2006/math">
                    <m:r>
                      <a:rPr lang="en-US" sz="2000" b="0" i="1" smtClean="0">
                        <a:solidFill>
                          <a:schemeClr val="dk1"/>
                        </a:solidFill>
                        <a:latin typeface="Cambria Math" panose="02040503050406030204" pitchFamily="18" charset="0"/>
                      </a:rPr>
                      <m:t>𝑝</m:t>
                    </m:r>
                    <m:r>
                      <a:rPr lang="en-US" sz="2000" i="1">
                        <a:solidFill>
                          <a:prstClr val="black"/>
                        </a:solidFill>
                        <a:latin typeface="Cambria Math" panose="02040503050406030204" pitchFamily="18" charset="0"/>
                        <a:ea typeface="Cambria Math" panose="02040503050406030204" pitchFamily="18" charset="0"/>
                      </a:rPr>
                      <m:t>∨</m:t>
                    </m:r>
                    <m:r>
                      <a:rPr lang="en-US" sz="2000" b="0" i="1" smtClean="0">
                        <a:solidFill>
                          <a:schemeClr val="dk1"/>
                        </a:solidFill>
                        <a:latin typeface="Cambria Math" panose="02040503050406030204" pitchFamily="18" charset="0"/>
                        <a:ea typeface="Cambria Math" panose="02040503050406030204" pitchFamily="18" charset="0"/>
                      </a:rPr>
                      <m:t>𝑇</m:t>
                    </m:r>
                    <m:r>
                      <a:rPr lang="en-US" sz="2000" b="0" i="1" smtClean="0">
                        <a:solidFill>
                          <a:schemeClr val="dk1"/>
                        </a:solidFill>
                        <a:latin typeface="Cambria Math" panose="02040503050406030204" pitchFamily="18" charset="0"/>
                        <a:ea typeface="Cambria Math" panose="02040503050406030204" pitchFamily="18" charset="0"/>
                      </a:rPr>
                      <m:t>≡</m:t>
                    </m:r>
                    <m:r>
                      <a:rPr lang="en-US" sz="2000" b="0" i="1" smtClean="0">
                        <a:solidFill>
                          <a:schemeClr val="dk1"/>
                        </a:solidFill>
                        <a:latin typeface="Cambria Math" panose="02040503050406030204" pitchFamily="18" charset="0"/>
                        <a:ea typeface="Cambria Math" panose="02040503050406030204" pitchFamily="18" charset="0"/>
                      </a:rPr>
                      <m:t>𝑇</m:t>
                    </m:r>
                  </m:oMath>
                </a14:m>
                <a:endParaRPr lang="en-US" sz="2000" b="1" i="1" dirty="0">
                  <a:solidFill>
                    <a:prstClr val="black"/>
                  </a:solidFill>
                </a:endParaRPr>
              </a:p>
              <a:p>
                <a:pPr lvl="0" algn="ctr"/>
                <a14:m>
                  <m:oMath xmlns:m="http://schemas.openxmlformats.org/officeDocument/2006/math">
                    <m:r>
                      <a:rPr lang="en-US" sz="2000" b="0" i="1" smtClean="0">
                        <a:solidFill>
                          <a:prstClr val="black"/>
                        </a:solidFill>
                        <a:latin typeface="Cambria Math" panose="02040503050406030204" pitchFamily="18" charset="0"/>
                      </a:rPr>
                      <m:t>𝑝</m:t>
                    </m:r>
                    <m:r>
                      <a:rPr lang="en-US" sz="2000" b="0" i="1" smtClean="0">
                        <a:solidFill>
                          <a:prstClr val="black"/>
                        </a:solidFill>
                        <a:latin typeface="Cambria Math" panose="02040503050406030204" pitchFamily="18" charset="0"/>
                      </a:rPr>
                      <m:t> ∧</m:t>
                    </m:r>
                    <m:r>
                      <a:rPr lang="en-US" sz="2000" b="0" i="1" smtClean="0">
                        <a:solidFill>
                          <a:prstClr val="black"/>
                        </a:solidFill>
                        <a:latin typeface="Cambria Math" panose="02040503050406030204" pitchFamily="18" charset="0"/>
                        <a:ea typeface="Cambria Math" panose="02040503050406030204" pitchFamily="18" charset="0"/>
                      </a:rPr>
                      <m:t>𝐹</m:t>
                    </m:r>
                    <m:r>
                      <a:rPr lang="en-US" sz="2000" b="0" i="1" smtClean="0">
                        <a:solidFill>
                          <a:prstClr val="black"/>
                        </a:solidFill>
                        <a:latin typeface="Cambria Math" panose="02040503050406030204" pitchFamily="18" charset="0"/>
                        <a:ea typeface="Cambria Math" panose="02040503050406030204" pitchFamily="18" charset="0"/>
                      </a:rPr>
                      <m:t>≡</m:t>
                    </m:r>
                    <m:r>
                      <a:rPr lang="en-US" sz="2000" b="0" i="1" smtClean="0">
                        <a:solidFill>
                          <a:prstClr val="black"/>
                        </a:solidFill>
                        <a:latin typeface="Cambria Math" panose="02040503050406030204" pitchFamily="18" charset="0"/>
                        <a:ea typeface="Cambria Math" panose="02040503050406030204" pitchFamily="18" charset="0"/>
                      </a:rPr>
                      <m:t>𝐹</m:t>
                    </m:r>
                  </m:oMath>
                </a14:m>
                <a:r>
                  <a:rPr lang="en-US" sz="2000" i="1" dirty="0">
                    <a:solidFill>
                      <a:prstClr val="black"/>
                    </a:solidFill>
                  </a:rPr>
                  <a:t>  </a:t>
                </a:r>
              </a:p>
            </p:txBody>
          </p:sp>
        </mc:Choice>
        <mc:Fallback xmlns="">
          <p:sp>
            <p:nvSpPr>
              <p:cNvPr id="8" name="Rectangle 7">
                <a:extLst>
                  <a:ext uri="{FF2B5EF4-FFF2-40B4-BE49-F238E27FC236}">
                    <a16:creationId xmlns:a16="http://schemas.microsoft.com/office/drawing/2014/main" id="{E66C6EF7-D0B6-4214-AD21-46EF3A56C9DC}"/>
                  </a:ext>
                </a:extLst>
              </p:cNvPr>
              <p:cNvSpPr>
                <a:spLocks noRot="1" noChangeAspect="1" noMove="1" noResize="1" noEditPoints="1" noAdjustHandles="1" noChangeArrowheads="1" noChangeShapeType="1" noTextEdit="1"/>
              </p:cNvSpPr>
              <p:nvPr/>
            </p:nvSpPr>
            <p:spPr>
              <a:xfrm>
                <a:off x="3429000" y="1676400"/>
                <a:ext cx="2362200" cy="1015663"/>
              </a:xfrm>
              <a:prstGeom prst="rect">
                <a:avLst/>
              </a:prstGeom>
              <a:blipFill>
                <a:blip r:embed="rId3"/>
                <a:stretch>
                  <a:fillRect t="-2367" b="-1183"/>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4DCC1423-9528-4181-953B-6D2304FD5236}"/>
                  </a:ext>
                </a:extLst>
              </p:cNvPr>
              <p:cNvSpPr/>
              <p:nvPr/>
            </p:nvSpPr>
            <p:spPr>
              <a:xfrm>
                <a:off x="6477000" y="1676400"/>
                <a:ext cx="2362200" cy="1015663"/>
              </a:xfrm>
              <a:prstGeom prst="rect">
                <a:avLst/>
              </a:prstGeom>
              <a:solidFill>
                <a:schemeClr val="bg2"/>
              </a:solidFill>
              <a:ln>
                <a:solidFill>
                  <a:schemeClr val="tx1"/>
                </a:solidFill>
              </a:ln>
            </p:spPr>
            <p:txBody>
              <a:bodyPr wrap="square">
                <a:spAutoFit/>
              </a:bodyPr>
              <a:lstStyle/>
              <a:p>
                <a:pPr algn="ctr"/>
                <a:r>
                  <a:rPr lang="en-US" sz="2000" b="1" dirty="0">
                    <a:solidFill>
                      <a:schemeClr val="dk1"/>
                    </a:solidFill>
                  </a:rPr>
                  <a:t>Idempotent laws:</a:t>
                </a:r>
              </a:p>
              <a:p>
                <a:pPr lvl="0" algn="ctr"/>
                <a:r>
                  <a:rPr lang="en-US" sz="2000" dirty="0">
                    <a:solidFill>
                      <a:schemeClr val="dk1"/>
                    </a:solidFill>
                  </a:rPr>
                  <a:t> </a:t>
                </a:r>
                <a14:m>
                  <m:oMath xmlns:m="http://schemas.openxmlformats.org/officeDocument/2006/math">
                    <m:r>
                      <a:rPr lang="en-US" sz="2000" b="0" i="1" smtClean="0">
                        <a:solidFill>
                          <a:schemeClr val="dk1"/>
                        </a:solidFill>
                        <a:latin typeface="Cambria Math" panose="02040503050406030204" pitchFamily="18" charset="0"/>
                      </a:rPr>
                      <m:t>𝑝</m:t>
                    </m:r>
                    <m:r>
                      <a:rPr lang="en-US" sz="2000" b="0" i="1" smtClean="0">
                        <a:solidFill>
                          <a:schemeClr val="dk1"/>
                        </a:solidFill>
                        <a:latin typeface="Cambria Math" panose="02040503050406030204" pitchFamily="18" charset="0"/>
                      </a:rPr>
                      <m:t> ∨</m:t>
                    </m:r>
                    <m:r>
                      <a:rPr lang="en-US" sz="2000" b="0" i="1" smtClean="0">
                        <a:solidFill>
                          <a:schemeClr val="dk1"/>
                        </a:solidFill>
                        <a:latin typeface="Cambria Math" panose="02040503050406030204" pitchFamily="18" charset="0"/>
                        <a:ea typeface="Cambria Math" panose="02040503050406030204" pitchFamily="18" charset="0"/>
                      </a:rPr>
                      <m:t>𝑝</m:t>
                    </m:r>
                    <m:r>
                      <a:rPr lang="en-US" sz="2000" b="0" i="1" smtClean="0">
                        <a:solidFill>
                          <a:schemeClr val="dk1"/>
                        </a:solidFill>
                        <a:latin typeface="Cambria Math" panose="02040503050406030204" pitchFamily="18" charset="0"/>
                        <a:ea typeface="Cambria Math" panose="02040503050406030204" pitchFamily="18" charset="0"/>
                      </a:rPr>
                      <m:t>≡</m:t>
                    </m:r>
                    <m:r>
                      <a:rPr lang="en-US" sz="2000" b="0" i="1" smtClean="0">
                        <a:solidFill>
                          <a:schemeClr val="dk1"/>
                        </a:solidFill>
                        <a:latin typeface="Cambria Math" panose="02040503050406030204" pitchFamily="18" charset="0"/>
                        <a:ea typeface="Cambria Math" panose="02040503050406030204" pitchFamily="18" charset="0"/>
                      </a:rPr>
                      <m:t>𝑝</m:t>
                    </m:r>
                  </m:oMath>
                </a14:m>
                <a:endParaRPr lang="en-US" sz="2000" b="1" i="1" dirty="0">
                  <a:solidFill>
                    <a:prstClr val="black"/>
                  </a:solidFill>
                </a:endParaRPr>
              </a:p>
              <a:p>
                <a:pPr lvl="0" algn="ctr"/>
                <a14:m>
                  <m:oMath xmlns:m="http://schemas.openxmlformats.org/officeDocument/2006/math">
                    <m:r>
                      <a:rPr lang="en-US" sz="2000" b="0" i="1" smtClean="0">
                        <a:solidFill>
                          <a:prstClr val="black"/>
                        </a:solidFill>
                        <a:latin typeface="Cambria Math" panose="02040503050406030204" pitchFamily="18" charset="0"/>
                      </a:rPr>
                      <m:t>𝑝</m:t>
                    </m:r>
                    <m:r>
                      <a:rPr lang="en-US" sz="2000" b="0" i="1" smtClean="0">
                        <a:solidFill>
                          <a:prstClr val="black"/>
                        </a:solidFill>
                        <a:latin typeface="Cambria Math" panose="02040503050406030204" pitchFamily="18" charset="0"/>
                      </a:rPr>
                      <m:t> ∧</m:t>
                    </m:r>
                    <m:r>
                      <a:rPr lang="en-US" sz="2000" b="0" i="1" smtClean="0">
                        <a:solidFill>
                          <a:prstClr val="black"/>
                        </a:solidFill>
                        <a:latin typeface="Cambria Math" panose="02040503050406030204" pitchFamily="18" charset="0"/>
                        <a:ea typeface="Cambria Math" panose="02040503050406030204" pitchFamily="18" charset="0"/>
                      </a:rPr>
                      <m:t>𝑝</m:t>
                    </m:r>
                    <m:r>
                      <a:rPr lang="en-US" sz="2000" b="0" i="1" smtClean="0">
                        <a:solidFill>
                          <a:prstClr val="black"/>
                        </a:solidFill>
                        <a:latin typeface="Cambria Math" panose="02040503050406030204" pitchFamily="18" charset="0"/>
                        <a:ea typeface="Cambria Math" panose="02040503050406030204" pitchFamily="18" charset="0"/>
                      </a:rPr>
                      <m:t>≡</m:t>
                    </m:r>
                    <m:r>
                      <a:rPr lang="en-US" sz="2000" b="0" i="1" smtClean="0">
                        <a:solidFill>
                          <a:prstClr val="black"/>
                        </a:solidFill>
                        <a:latin typeface="Cambria Math" panose="02040503050406030204" pitchFamily="18" charset="0"/>
                        <a:ea typeface="Cambria Math" panose="02040503050406030204" pitchFamily="18" charset="0"/>
                      </a:rPr>
                      <m:t>𝑝</m:t>
                    </m:r>
                  </m:oMath>
                </a14:m>
                <a:r>
                  <a:rPr lang="en-US" sz="2000" i="1" dirty="0">
                    <a:solidFill>
                      <a:prstClr val="black"/>
                    </a:solidFill>
                  </a:rPr>
                  <a:t>  </a:t>
                </a:r>
              </a:p>
            </p:txBody>
          </p:sp>
        </mc:Choice>
        <mc:Fallback xmlns="">
          <p:sp>
            <p:nvSpPr>
              <p:cNvPr id="9" name="Rectangle 8">
                <a:extLst>
                  <a:ext uri="{FF2B5EF4-FFF2-40B4-BE49-F238E27FC236}">
                    <a16:creationId xmlns:a16="http://schemas.microsoft.com/office/drawing/2014/main" id="{4DCC1423-9528-4181-953B-6D2304FD5236}"/>
                  </a:ext>
                </a:extLst>
              </p:cNvPr>
              <p:cNvSpPr>
                <a:spLocks noRot="1" noChangeAspect="1" noMove="1" noResize="1" noEditPoints="1" noAdjustHandles="1" noChangeArrowheads="1" noChangeShapeType="1" noTextEdit="1"/>
              </p:cNvSpPr>
              <p:nvPr/>
            </p:nvSpPr>
            <p:spPr>
              <a:xfrm>
                <a:off x="6477000" y="1676400"/>
                <a:ext cx="2362200" cy="1015663"/>
              </a:xfrm>
              <a:prstGeom prst="rect">
                <a:avLst/>
              </a:prstGeom>
              <a:blipFill>
                <a:blip r:embed="rId4"/>
                <a:stretch>
                  <a:fillRect t="-2367" b="-1183"/>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Rectangle 9">
                <a:extLst>
                  <a:ext uri="{FF2B5EF4-FFF2-40B4-BE49-F238E27FC236}">
                    <a16:creationId xmlns:a16="http://schemas.microsoft.com/office/drawing/2014/main" id="{F7061489-6E3F-4C10-AF4C-0C922FE9E6CC}"/>
                  </a:ext>
                </a:extLst>
              </p:cNvPr>
              <p:cNvSpPr/>
              <p:nvPr/>
            </p:nvSpPr>
            <p:spPr>
              <a:xfrm>
                <a:off x="457200" y="2798852"/>
                <a:ext cx="4038600" cy="1015663"/>
              </a:xfrm>
              <a:prstGeom prst="rect">
                <a:avLst/>
              </a:prstGeom>
              <a:solidFill>
                <a:schemeClr val="bg2"/>
              </a:solidFill>
              <a:ln>
                <a:solidFill>
                  <a:schemeClr val="tx1"/>
                </a:solidFill>
              </a:ln>
            </p:spPr>
            <p:txBody>
              <a:bodyPr wrap="square">
                <a:spAutoFit/>
              </a:bodyPr>
              <a:lstStyle/>
              <a:p>
                <a:pPr algn="ctr"/>
                <a:r>
                  <a:rPr lang="en-US" sz="2000" b="1" dirty="0">
                    <a:solidFill>
                      <a:schemeClr val="dk1"/>
                    </a:solidFill>
                  </a:rPr>
                  <a:t>Comutativ</a:t>
                </a:r>
                <a:r>
                  <a:rPr lang="en-US" sz="2000" b="1" dirty="0" err="1">
                    <a:solidFill>
                      <a:schemeClr val="dk1"/>
                    </a:solidFill>
                  </a:rPr>
                  <a:t>e</a:t>
                </a:r>
                <a:r>
                  <a:rPr lang="en-US" sz="2000" b="1" dirty="0">
                    <a:solidFill>
                      <a:schemeClr val="dk1"/>
                    </a:solidFill>
                  </a:rPr>
                  <a:t> laws:</a:t>
                </a:r>
              </a:p>
              <a:p>
                <a:pPr lvl="0" algn="ctr"/>
                <a:r>
                  <a:rPr lang="en-US" sz="2000" dirty="0">
                    <a:solidFill>
                      <a:schemeClr val="dk1"/>
                    </a:solidFill>
                  </a:rPr>
                  <a:t> </a:t>
                </a:r>
                <a14:m>
                  <m:oMath xmlns:m="http://schemas.openxmlformats.org/officeDocument/2006/math">
                    <m:r>
                      <a:rPr lang="en-US" sz="2000" b="0" i="1" smtClean="0">
                        <a:solidFill>
                          <a:schemeClr val="dk1"/>
                        </a:solidFill>
                        <a:latin typeface="Cambria Math" panose="02040503050406030204" pitchFamily="18" charset="0"/>
                      </a:rPr>
                      <m:t>𝑝</m:t>
                    </m:r>
                    <m:r>
                      <a:rPr lang="en-US" sz="2000" b="0" i="1" smtClean="0">
                        <a:solidFill>
                          <a:schemeClr val="dk1"/>
                        </a:solidFill>
                        <a:latin typeface="Cambria Math" panose="02040503050406030204" pitchFamily="18" charset="0"/>
                      </a:rPr>
                      <m:t> ∨</m:t>
                    </m:r>
                    <m:r>
                      <a:rPr lang="en-US" sz="2000" b="0" i="1" smtClean="0">
                        <a:solidFill>
                          <a:schemeClr val="dk1"/>
                        </a:solidFill>
                        <a:latin typeface="Cambria Math" panose="02040503050406030204" pitchFamily="18" charset="0"/>
                        <a:ea typeface="Cambria Math" panose="02040503050406030204" pitchFamily="18" charset="0"/>
                      </a:rPr>
                      <m:t>𝑞</m:t>
                    </m:r>
                    <m:r>
                      <a:rPr lang="en-US" sz="2000" b="0" i="1" smtClean="0">
                        <a:solidFill>
                          <a:schemeClr val="dk1"/>
                        </a:solidFill>
                        <a:latin typeface="Cambria Math" panose="02040503050406030204" pitchFamily="18" charset="0"/>
                        <a:ea typeface="Cambria Math" panose="02040503050406030204" pitchFamily="18" charset="0"/>
                      </a:rPr>
                      <m:t>≡</m:t>
                    </m:r>
                    <m:r>
                      <a:rPr lang="en-US" sz="2000" b="0" i="1" smtClean="0">
                        <a:solidFill>
                          <a:schemeClr val="dk1"/>
                        </a:solidFill>
                        <a:latin typeface="Cambria Math" panose="02040503050406030204" pitchFamily="18" charset="0"/>
                        <a:ea typeface="Cambria Math" panose="02040503050406030204" pitchFamily="18" charset="0"/>
                      </a:rPr>
                      <m:t>𝑞</m:t>
                    </m:r>
                    <m:r>
                      <a:rPr lang="en-US" sz="2000" b="0" i="1" smtClean="0">
                        <a:solidFill>
                          <a:schemeClr val="dk1"/>
                        </a:solidFill>
                        <a:latin typeface="Cambria Math" panose="02040503050406030204" pitchFamily="18" charset="0"/>
                        <a:ea typeface="Cambria Math" panose="02040503050406030204" pitchFamily="18" charset="0"/>
                      </a:rPr>
                      <m:t> ∨</m:t>
                    </m:r>
                    <m:r>
                      <a:rPr lang="en-US" sz="2000" b="0" i="1" smtClean="0">
                        <a:solidFill>
                          <a:schemeClr val="dk1"/>
                        </a:solidFill>
                        <a:latin typeface="Cambria Math" panose="02040503050406030204" pitchFamily="18" charset="0"/>
                        <a:ea typeface="Cambria Math" panose="02040503050406030204" pitchFamily="18" charset="0"/>
                      </a:rPr>
                      <m:t>𝑝</m:t>
                    </m:r>
                  </m:oMath>
                </a14:m>
                <a:endParaRPr lang="en-US" sz="2000" b="1" i="1" dirty="0">
                  <a:solidFill>
                    <a:prstClr val="black"/>
                  </a:solidFill>
                </a:endParaRPr>
              </a:p>
              <a:p>
                <a:pPr lvl="0" algn="ctr"/>
                <a14:m>
                  <m:oMath xmlns:m="http://schemas.openxmlformats.org/officeDocument/2006/math">
                    <m:r>
                      <a:rPr lang="en-US" sz="2000" b="0" i="1" smtClean="0">
                        <a:solidFill>
                          <a:prstClr val="black"/>
                        </a:solidFill>
                        <a:latin typeface="Cambria Math" panose="02040503050406030204" pitchFamily="18" charset="0"/>
                      </a:rPr>
                      <m:t>𝑝</m:t>
                    </m:r>
                    <m:r>
                      <a:rPr lang="en-US" sz="2000" b="0" i="1" smtClean="0">
                        <a:solidFill>
                          <a:prstClr val="black"/>
                        </a:solidFill>
                        <a:latin typeface="Cambria Math" panose="02040503050406030204" pitchFamily="18" charset="0"/>
                      </a:rPr>
                      <m:t> ∧</m:t>
                    </m:r>
                    <m:r>
                      <a:rPr lang="en-US" sz="2000" b="0" i="1" smtClean="0">
                        <a:solidFill>
                          <a:prstClr val="black"/>
                        </a:solidFill>
                        <a:latin typeface="Cambria Math" panose="02040503050406030204" pitchFamily="18" charset="0"/>
                        <a:ea typeface="Cambria Math" panose="02040503050406030204" pitchFamily="18" charset="0"/>
                      </a:rPr>
                      <m:t>𝑞</m:t>
                    </m:r>
                    <m:r>
                      <a:rPr lang="en-US" sz="2000" b="0" i="1" smtClean="0">
                        <a:solidFill>
                          <a:prstClr val="black"/>
                        </a:solidFill>
                        <a:latin typeface="Cambria Math" panose="02040503050406030204" pitchFamily="18" charset="0"/>
                        <a:ea typeface="Cambria Math" panose="02040503050406030204" pitchFamily="18" charset="0"/>
                      </a:rPr>
                      <m:t>≡</m:t>
                    </m:r>
                    <m:r>
                      <a:rPr lang="en-US" sz="2000" b="0" i="1" smtClean="0">
                        <a:solidFill>
                          <a:prstClr val="black"/>
                        </a:solidFill>
                        <a:latin typeface="Cambria Math" panose="02040503050406030204" pitchFamily="18" charset="0"/>
                        <a:ea typeface="Cambria Math" panose="02040503050406030204" pitchFamily="18" charset="0"/>
                      </a:rPr>
                      <m:t>𝑞</m:t>
                    </m:r>
                    <m:r>
                      <a:rPr lang="en-US" sz="2000" b="0" i="1" smtClean="0">
                        <a:solidFill>
                          <a:prstClr val="black"/>
                        </a:solidFill>
                        <a:latin typeface="Cambria Math" panose="02040503050406030204" pitchFamily="18" charset="0"/>
                        <a:ea typeface="Cambria Math" panose="02040503050406030204" pitchFamily="18" charset="0"/>
                      </a:rPr>
                      <m:t> ∧</m:t>
                    </m:r>
                    <m:r>
                      <a:rPr lang="en-US" sz="2000" b="0" i="1" smtClean="0">
                        <a:solidFill>
                          <a:prstClr val="black"/>
                        </a:solidFill>
                        <a:latin typeface="Cambria Math" panose="02040503050406030204" pitchFamily="18" charset="0"/>
                        <a:ea typeface="Cambria Math" panose="02040503050406030204" pitchFamily="18" charset="0"/>
                      </a:rPr>
                      <m:t>𝑝</m:t>
                    </m:r>
                  </m:oMath>
                </a14:m>
                <a:r>
                  <a:rPr lang="en-US" sz="2000" i="1" dirty="0">
                    <a:solidFill>
                      <a:prstClr val="black"/>
                    </a:solidFill>
                  </a:rPr>
                  <a:t>  </a:t>
                </a:r>
              </a:p>
            </p:txBody>
          </p:sp>
        </mc:Choice>
        <mc:Fallback xmlns="">
          <p:sp>
            <p:nvSpPr>
              <p:cNvPr id="10" name="Rectangle 9">
                <a:extLst>
                  <a:ext uri="{FF2B5EF4-FFF2-40B4-BE49-F238E27FC236}">
                    <a16:creationId xmlns:a16="http://schemas.microsoft.com/office/drawing/2014/main" id="{F7061489-6E3F-4C10-AF4C-0C922FE9E6CC}"/>
                  </a:ext>
                </a:extLst>
              </p:cNvPr>
              <p:cNvSpPr>
                <a:spLocks noRot="1" noChangeAspect="1" noMove="1" noResize="1" noEditPoints="1" noAdjustHandles="1" noChangeArrowheads="1" noChangeShapeType="1" noTextEdit="1"/>
              </p:cNvSpPr>
              <p:nvPr/>
            </p:nvSpPr>
            <p:spPr>
              <a:xfrm>
                <a:off x="457200" y="2798852"/>
                <a:ext cx="4038600" cy="1015663"/>
              </a:xfrm>
              <a:prstGeom prst="rect">
                <a:avLst/>
              </a:prstGeom>
              <a:blipFill>
                <a:blip r:embed="rId5"/>
                <a:stretch>
                  <a:fillRect t="-2367" b="-1775"/>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C07DBA89-60C4-48BA-B769-10D46B9FA858}"/>
                  </a:ext>
                </a:extLst>
              </p:cNvPr>
              <p:cNvSpPr/>
              <p:nvPr/>
            </p:nvSpPr>
            <p:spPr>
              <a:xfrm>
                <a:off x="4800600" y="2819400"/>
                <a:ext cx="4038600" cy="1015663"/>
              </a:xfrm>
              <a:prstGeom prst="rect">
                <a:avLst/>
              </a:prstGeom>
              <a:solidFill>
                <a:schemeClr val="bg2"/>
              </a:solidFill>
              <a:ln>
                <a:solidFill>
                  <a:schemeClr val="tx1"/>
                </a:solidFill>
              </a:ln>
            </p:spPr>
            <p:txBody>
              <a:bodyPr wrap="square">
                <a:spAutoFit/>
              </a:bodyPr>
              <a:lstStyle/>
              <a:p>
                <a:pPr algn="ctr"/>
                <a:r>
                  <a:rPr lang="en-US" sz="2000" b="1" dirty="0">
                    <a:solidFill>
                      <a:schemeClr val="dk1"/>
                    </a:solidFill>
                  </a:rPr>
                  <a:t>Associative laws:</a:t>
                </a:r>
              </a:p>
              <a:p>
                <a:pPr lvl="0" algn="ctr"/>
                <a14:m>
                  <m:oMath xmlns:m="http://schemas.openxmlformats.org/officeDocument/2006/math">
                    <m:r>
                      <a:rPr lang="en-US" sz="2000">
                        <a:solidFill>
                          <a:prstClr val="black"/>
                        </a:solidFill>
                        <a:latin typeface="Cambria Math" panose="02040503050406030204" pitchFamily="18" charset="0"/>
                      </a:rPr>
                      <m:t>(</m:t>
                    </m:r>
                    <m:r>
                      <a:rPr lang="en-US" sz="2000" i="1">
                        <a:solidFill>
                          <a:prstClr val="black"/>
                        </a:solidFill>
                        <a:latin typeface="Cambria Math" panose="02040503050406030204" pitchFamily="18" charset="0"/>
                      </a:rPr>
                      <m:t>𝑝</m:t>
                    </m:r>
                    <m:r>
                      <a:rPr lang="en-US" sz="2000" i="1">
                        <a:solidFill>
                          <a:prstClr val="black"/>
                        </a:solidFill>
                        <a:latin typeface="Cambria Math" panose="02040503050406030204" pitchFamily="18" charset="0"/>
                      </a:rPr>
                      <m:t> ∨</m:t>
                    </m:r>
                    <m:r>
                      <a:rPr lang="en-US" sz="2000" i="1">
                        <a:solidFill>
                          <a:prstClr val="black"/>
                        </a:solidFill>
                        <a:latin typeface="Cambria Math" panose="02040503050406030204" pitchFamily="18" charset="0"/>
                        <a:ea typeface="Cambria Math" panose="02040503050406030204" pitchFamily="18" charset="0"/>
                      </a:rPr>
                      <m:t>𝑞</m:t>
                    </m:r>
                    <m:r>
                      <a:rPr lang="en-US" sz="2000" i="1">
                        <a:solidFill>
                          <a:prstClr val="black"/>
                        </a:solidFill>
                        <a:latin typeface="Cambria Math" panose="02040503050406030204" pitchFamily="18" charset="0"/>
                        <a:ea typeface="Cambria Math" panose="02040503050406030204" pitchFamily="18" charset="0"/>
                      </a:rPr>
                      <m:t>)∨</m:t>
                    </m:r>
                    <m:r>
                      <a:rPr lang="en-US" sz="2000" i="1">
                        <a:solidFill>
                          <a:prstClr val="black"/>
                        </a:solidFill>
                        <a:latin typeface="Cambria Math" panose="02040503050406030204" pitchFamily="18" charset="0"/>
                        <a:ea typeface="Cambria Math" panose="02040503050406030204" pitchFamily="18" charset="0"/>
                      </a:rPr>
                      <m:t>𝑟</m:t>
                    </m:r>
                    <m:r>
                      <a:rPr lang="en-US" sz="2000" i="1">
                        <a:solidFill>
                          <a:prstClr val="black"/>
                        </a:solidFill>
                        <a:latin typeface="Cambria Math" panose="02040503050406030204" pitchFamily="18" charset="0"/>
                        <a:ea typeface="Cambria Math" panose="02040503050406030204" pitchFamily="18" charset="0"/>
                      </a:rPr>
                      <m:t>≡</m:t>
                    </m:r>
                    <m:r>
                      <a:rPr lang="en-US" sz="2000" i="1">
                        <a:solidFill>
                          <a:prstClr val="black"/>
                        </a:solidFill>
                        <a:latin typeface="Cambria Math" panose="02040503050406030204" pitchFamily="18" charset="0"/>
                        <a:ea typeface="Cambria Math" panose="02040503050406030204" pitchFamily="18" charset="0"/>
                      </a:rPr>
                      <m:t>𝑝</m:t>
                    </m:r>
                    <m:r>
                      <a:rPr lang="en-US" sz="2000" i="1">
                        <a:solidFill>
                          <a:prstClr val="black"/>
                        </a:solidFill>
                        <a:latin typeface="Cambria Math" panose="02040503050406030204" pitchFamily="18" charset="0"/>
                        <a:ea typeface="Cambria Math" panose="02040503050406030204" pitchFamily="18" charset="0"/>
                      </a:rPr>
                      <m:t>∨(</m:t>
                    </m:r>
                    <m:r>
                      <a:rPr lang="en-US" sz="2000" i="1">
                        <a:solidFill>
                          <a:prstClr val="black"/>
                        </a:solidFill>
                        <a:latin typeface="Cambria Math" panose="02040503050406030204" pitchFamily="18" charset="0"/>
                        <a:ea typeface="Cambria Math" panose="02040503050406030204" pitchFamily="18" charset="0"/>
                      </a:rPr>
                      <m:t>𝑞</m:t>
                    </m:r>
                    <m:r>
                      <a:rPr lang="en-US" sz="2000" i="1">
                        <a:solidFill>
                          <a:prstClr val="black"/>
                        </a:solidFill>
                        <a:latin typeface="Cambria Math" panose="02040503050406030204" pitchFamily="18" charset="0"/>
                        <a:ea typeface="Cambria Math" panose="02040503050406030204" pitchFamily="18" charset="0"/>
                      </a:rPr>
                      <m:t>∨</m:t>
                    </m:r>
                    <m:r>
                      <a:rPr lang="en-US" sz="2000" i="1">
                        <a:solidFill>
                          <a:prstClr val="black"/>
                        </a:solidFill>
                        <a:latin typeface="Cambria Math" panose="02040503050406030204" pitchFamily="18" charset="0"/>
                        <a:ea typeface="Cambria Math" panose="02040503050406030204" pitchFamily="18" charset="0"/>
                      </a:rPr>
                      <m:t>𝑟</m:t>
                    </m:r>
                    <m:r>
                      <a:rPr lang="en-US" sz="2000" i="1">
                        <a:solidFill>
                          <a:prstClr val="black"/>
                        </a:solidFill>
                        <a:latin typeface="Cambria Math" panose="02040503050406030204" pitchFamily="18" charset="0"/>
                        <a:ea typeface="Cambria Math" panose="02040503050406030204" pitchFamily="18" charset="0"/>
                      </a:rPr>
                      <m:t>)</m:t>
                    </m:r>
                  </m:oMath>
                </a14:m>
                <a:r>
                  <a:rPr lang="en-US" sz="2000" b="1" i="1" dirty="0">
                    <a:solidFill>
                      <a:prstClr val="black"/>
                    </a:solidFill>
                  </a:rPr>
                  <a:t> </a:t>
                </a:r>
              </a:p>
              <a:p>
                <a:pPr lvl="0" algn="ctr"/>
                <a14:m>
                  <m:oMath xmlns:m="http://schemas.openxmlformats.org/officeDocument/2006/math">
                    <m:r>
                      <a:rPr lang="en-US" sz="2000" b="0" i="1" smtClean="0">
                        <a:solidFill>
                          <a:prstClr val="black"/>
                        </a:solidFill>
                        <a:latin typeface="Cambria Math" panose="02040503050406030204" pitchFamily="18" charset="0"/>
                      </a:rPr>
                      <m:t>(</m:t>
                    </m:r>
                    <m:r>
                      <a:rPr lang="en-US" sz="2000" b="0" i="1" smtClean="0">
                        <a:solidFill>
                          <a:prstClr val="black"/>
                        </a:solidFill>
                        <a:latin typeface="Cambria Math" panose="02040503050406030204" pitchFamily="18" charset="0"/>
                      </a:rPr>
                      <m:t>𝑝</m:t>
                    </m:r>
                    <m:r>
                      <a:rPr lang="en-US" sz="2000" b="0" i="1" smtClean="0">
                        <a:solidFill>
                          <a:prstClr val="black"/>
                        </a:solidFill>
                        <a:latin typeface="Cambria Math" panose="02040503050406030204" pitchFamily="18" charset="0"/>
                      </a:rPr>
                      <m:t> ∧</m:t>
                    </m:r>
                    <m:r>
                      <a:rPr lang="en-US" sz="2000" b="0" i="1" smtClean="0">
                        <a:solidFill>
                          <a:prstClr val="black"/>
                        </a:solidFill>
                        <a:latin typeface="Cambria Math" panose="02040503050406030204" pitchFamily="18" charset="0"/>
                        <a:ea typeface="Cambria Math" panose="02040503050406030204" pitchFamily="18" charset="0"/>
                      </a:rPr>
                      <m:t>𝑞</m:t>
                    </m:r>
                    <m:r>
                      <a:rPr lang="en-US" sz="2000" b="0" i="1" smtClean="0">
                        <a:solidFill>
                          <a:prstClr val="black"/>
                        </a:solidFill>
                        <a:latin typeface="Cambria Math" panose="02040503050406030204" pitchFamily="18" charset="0"/>
                        <a:ea typeface="Cambria Math" panose="02040503050406030204" pitchFamily="18" charset="0"/>
                      </a:rPr>
                      <m:t>)∧</m:t>
                    </m:r>
                    <m:r>
                      <a:rPr lang="en-US" sz="2000" b="0" i="1" smtClean="0">
                        <a:solidFill>
                          <a:prstClr val="black"/>
                        </a:solidFill>
                        <a:latin typeface="Cambria Math" panose="02040503050406030204" pitchFamily="18" charset="0"/>
                        <a:ea typeface="Cambria Math" panose="02040503050406030204" pitchFamily="18" charset="0"/>
                      </a:rPr>
                      <m:t>𝑟</m:t>
                    </m:r>
                    <m:r>
                      <a:rPr lang="en-US" sz="2000" b="0" i="1" smtClean="0">
                        <a:solidFill>
                          <a:prstClr val="black"/>
                        </a:solidFill>
                        <a:latin typeface="Cambria Math" panose="02040503050406030204" pitchFamily="18" charset="0"/>
                        <a:ea typeface="Cambria Math" panose="02040503050406030204" pitchFamily="18" charset="0"/>
                      </a:rPr>
                      <m:t>≡</m:t>
                    </m:r>
                    <m:r>
                      <a:rPr lang="en-US" sz="2000" b="0" i="1" smtClean="0">
                        <a:solidFill>
                          <a:prstClr val="black"/>
                        </a:solidFill>
                        <a:latin typeface="Cambria Math" panose="02040503050406030204" pitchFamily="18" charset="0"/>
                        <a:ea typeface="Cambria Math" panose="02040503050406030204" pitchFamily="18" charset="0"/>
                      </a:rPr>
                      <m:t>𝑝</m:t>
                    </m:r>
                    <m:r>
                      <a:rPr lang="en-US" sz="2000" b="0" i="1" smtClean="0">
                        <a:solidFill>
                          <a:prstClr val="black"/>
                        </a:solidFill>
                        <a:latin typeface="Cambria Math" panose="02040503050406030204" pitchFamily="18" charset="0"/>
                        <a:ea typeface="Cambria Math" panose="02040503050406030204" pitchFamily="18" charset="0"/>
                      </a:rPr>
                      <m:t>∧(</m:t>
                    </m:r>
                    <m:r>
                      <a:rPr lang="en-US" sz="2000" b="0" i="1" smtClean="0">
                        <a:solidFill>
                          <a:prstClr val="black"/>
                        </a:solidFill>
                        <a:latin typeface="Cambria Math" panose="02040503050406030204" pitchFamily="18" charset="0"/>
                        <a:ea typeface="Cambria Math" panose="02040503050406030204" pitchFamily="18" charset="0"/>
                      </a:rPr>
                      <m:t>𝑞</m:t>
                    </m:r>
                    <m:r>
                      <a:rPr lang="en-US" sz="2000" b="0" i="1" smtClean="0">
                        <a:solidFill>
                          <a:prstClr val="black"/>
                        </a:solidFill>
                        <a:latin typeface="Cambria Math" panose="02040503050406030204" pitchFamily="18" charset="0"/>
                        <a:ea typeface="Cambria Math" panose="02040503050406030204" pitchFamily="18" charset="0"/>
                      </a:rPr>
                      <m:t>∧</m:t>
                    </m:r>
                    <m:r>
                      <a:rPr lang="en-US" sz="2000" b="0" i="1" smtClean="0">
                        <a:solidFill>
                          <a:prstClr val="black"/>
                        </a:solidFill>
                        <a:latin typeface="Cambria Math" panose="02040503050406030204" pitchFamily="18" charset="0"/>
                        <a:ea typeface="Cambria Math" panose="02040503050406030204" pitchFamily="18" charset="0"/>
                      </a:rPr>
                      <m:t>𝑟</m:t>
                    </m:r>
                    <m:r>
                      <a:rPr lang="en-US" sz="2000" b="0" i="1" smtClean="0">
                        <a:solidFill>
                          <a:prstClr val="black"/>
                        </a:solidFill>
                        <a:latin typeface="Cambria Math" panose="02040503050406030204" pitchFamily="18" charset="0"/>
                        <a:ea typeface="Cambria Math" panose="02040503050406030204" pitchFamily="18" charset="0"/>
                      </a:rPr>
                      <m:t>)</m:t>
                    </m:r>
                  </m:oMath>
                </a14:m>
                <a:r>
                  <a:rPr lang="en-US" sz="2000" i="1" dirty="0">
                    <a:solidFill>
                      <a:prstClr val="black"/>
                    </a:solidFill>
                  </a:rPr>
                  <a:t>  </a:t>
                </a:r>
              </a:p>
            </p:txBody>
          </p:sp>
        </mc:Choice>
        <mc:Fallback xmlns="">
          <p:sp>
            <p:nvSpPr>
              <p:cNvPr id="11" name="Rectangle 10">
                <a:extLst>
                  <a:ext uri="{FF2B5EF4-FFF2-40B4-BE49-F238E27FC236}">
                    <a16:creationId xmlns:a16="http://schemas.microsoft.com/office/drawing/2014/main" id="{C07DBA89-60C4-48BA-B769-10D46B9FA858}"/>
                  </a:ext>
                </a:extLst>
              </p:cNvPr>
              <p:cNvSpPr>
                <a:spLocks noRot="1" noChangeAspect="1" noMove="1" noResize="1" noEditPoints="1" noAdjustHandles="1" noChangeArrowheads="1" noChangeShapeType="1" noTextEdit="1"/>
              </p:cNvSpPr>
              <p:nvPr/>
            </p:nvSpPr>
            <p:spPr>
              <a:xfrm>
                <a:off x="4800600" y="2819400"/>
                <a:ext cx="4038600" cy="1015663"/>
              </a:xfrm>
              <a:prstGeom prst="rect">
                <a:avLst/>
              </a:prstGeom>
              <a:blipFill>
                <a:blip r:embed="rId6"/>
                <a:stretch>
                  <a:fillRect t="-2976" b="-4762"/>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Rectangle 11">
                <a:extLst>
                  <a:ext uri="{FF2B5EF4-FFF2-40B4-BE49-F238E27FC236}">
                    <a16:creationId xmlns:a16="http://schemas.microsoft.com/office/drawing/2014/main" id="{ED1CAB1C-0FDB-4575-A482-19C5F3B9A4B8}"/>
                  </a:ext>
                </a:extLst>
              </p:cNvPr>
              <p:cNvSpPr/>
              <p:nvPr/>
            </p:nvSpPr>
            <p:spPr>
              <a:xfrm>
                <a:off x="457200" y="3910178"/>
                <a:ext cx="4038600" cy="1015663"/>
              </a:xfrm>
              <a:prstGeom prst="rect">
                <a:avLst/>
              </a:prstGeom>
              <a:solidFill>
                <a:schemeClr val="bg2"/>
              </a:solidFill>
              <a:ln>
                <a:solidFill>
                  <a:schemeClr val="tx1"/>
                </a:solidFill>
              </a:ln>
            </p:spPr>
            <p:txBody>
              <a:bodyPr wrap="square">
                <a:spAutoFit/>
              </a:bodyPr>
              <a:lstStyle/>
              <a:p>
                <a:pPr algn="ctr"/>
                <a:r>
                  <a:rPr lang="en-US" sz="2000" b="1" dirty="0">
                    <a:solidFill>
                      <a:schemeClr val="dk1"/>
                    </a:solidFill>
                  </a:rPr>
                  <a:t>Distributive laws:</a:t>
                </a:r>
              </a:p>
              <a:p>
                <a:pPr lvl="0" algn="ctr"/>
                <a:r>
                  <a:rPr lang="en-US" sz="2000" dirty="0">
                    <a:solidFill>
                      <a:schemeClr val="dk1"/>
                    </a:solidFill>
                  </a:rPr>
                  <a:t> </a:t>
                </a:r>
                <a14:m>
                  <m:oMath xmlns:m="http://schemas.openxmlformats.org/officeDocument/2006/math">
                    <m:r>
                      <a:rPr lang="en-US" sz="2000" b="0" i="1" smtClean="0">
                        <a:solidFill>
                          <a:schemeClr val="dk1"/>
                        </a:solidFill>
                        <a:latin typeface="Cambria Math" panose="02040503050406030204" pitchFamily="18" charset="0"/>
                      </a:rPr>
                      <m:t>𝑝</m:t>
                    </m:r>
                    <m:r>
                      <a:rPr lang="en-US" sz="2000" i="1">
                        <a:solidFill>
                          <a:schemeClr val="dk1"/>
                        </a:solidFill>
                        <a:latin typeface="Cambria Math" panose="02040503050406030204" pitchFamily="18" charset="0"/>
                        <a:ea typeface="Cambria Math" panose="02040503050406030204" pitchFamily="18" charset="0"/>
                      </a:rPr>
                      <m:t>∨</m:t>
                    </m:r>
                    <m:r>
                      <a:rPr lang="en-US" sz="2000" b="0" i="1" smtClean="0">
                        <a:solidFill>
                          <a:schemeClr val="dk1"/>
                        </a:solidFill>
                        <a:latin typeface="Cambria Math" panose="02040503050406030204" pitchFamily="18" charset="0"/>
                        <a:ea typeface="Cambria Math" panose="02040503050406030204" pitchFamily="18" charset="0"/>
                      </a:rPr>
                      <m:t>(</m:t>
                    </m:r>
                    <m:r>
                      <a:rPr lang="en-US" sz="2000" b="0" i="1" smtClean="0">
                        <a:solidFill>
                          <a:schemeClr val="dk1"/>
                        </a:solidFill>
                        <a:latin typeface="Cambria Math" panose="02040503050406030204" pitchFamily="18" charset="0"/>
                        <a:ea typeface="Cambria Math" panose="02040503050406030204" pitchFamily="18" charset="0"/>
                      </a:rPr>
                      <m:t>𝑞</m:t>
                    </m:r>
                    <m:r>
                      <a:rPr lang="en-US" sz="2000" b="0" i="1" smtClean="0">
                        <a:solidFill>
                          <a:schemeClr val="dk1"/>
                        </a:solidFill>
                        <a:latin typeface="Cambria Math" panose="02040503050406030204" pitchFamily="18" charset="0"/>
                        <a:ea typeface="Cambria Math" panose="02040503050406030204" pitchFamily="18" charset="0"/>
                      </a:rPr>
                      <m:t>∧</m:t>
                    </m:r>
                    <m:r>
                      <a:rPr lang="en-US" sz="2000" b="0" i="1" smtClean="0">
                        <a:solidFill>
                          <a:schemeClr val="dk1"/>
                        </a:solidFill>
                        <a:latin typeface="Cambria Math" panose="02040503050406030204" pitchFamily="18" charset="0"/>
                        <a:ea typeface="Cambria Math" panose="02040503050406030204" pitchFamily="18" charset="0"/>
                      </a:rPr>
                      <m:t>𝑟</m:t>
                    </m:r>
                    <m:r>
                      <a:rPr lang="en-US" sz="2000" b="0" i="1" smtClean="0">
                        <a:solidFill>
                          <a:schemeClr val="dk1"/>
                        </a:solidFill>
                        <a:latin typeface="Cambria Math" panose="02040503050406030204" pitchFamily="18" charset="0"/>
                        <a:ea typeface="Cambria Math" panose="02040503050406030204" pitchFamily="18" charset="0"/>
                      </a:rPr>
                      <m:t>)≡(</m:t>
                    </m:r>
                    <m:r>
                      <a:rPr lang="en-US" sz="2000" b="0" i="1" smtClean="0">
                        <a:solidFill>
                          <a:schemeClr val="dk1"/>
                        </a:solidFill>
                        <a:latin typeface="Cambria Math" panose="02040503050406030204" pitchFamily="18" charset="0"/>
                        <a:ea typeface="Cambria Math" panose="02040503050406030204" pitchFamily="18" charset="0"/>
                      </a:rPr>
                      <m:t>𝑝</m:t>
                    </m:r>
                    <m:r>
                      <a:rPr lang="en-US" sz="2000" b="0" i="1" smtClean="0">
                        <a:solidFill>
                          <a:schemeClr val="dk1"/>
                        </a:solidFill>
                        <a:latin typeface="Cambria Math" panose="02040503050406030204" pitchFamily="18" charset="0"/>
                        <a:ea typeface="Cambria Math" panose="02040503050406030204" pitchFamily="18" charset="0"/>
                      </a:rPr>
                      <m:t>∨</m:t>
                    </m:r>
                    <m:r>
                      <a:rPr lang="en-US" sz="2000" b="0" i="1" smtClean="0">
                        <a:solidFill>
                          <a:schemeClr val="dk1"/>
                        </a:solidFill>
                        <a:latin typeface="Cambria Math" panose="02040503050406030204" pitchFamily="18" charset="0"/>
                        <a:ea typeface="Cambria Math" panose="02040503050406030204" pitchFamily="18" charset="0"/>
                      </a:rPr>
                      <m:t>𝑞</m:t>
                    </m:r>
                    <m:r>
                      <a:rPr lang="en-US" sz="2000" b="0" i="1" smtClean="0">
                        <a:solidFill>
                          <a:schemeClr val="dk1"/>
                        </a:solidFill>
                        <a:latin typeface="Cambria Math" panose="02040503050406030204" pitchFamily="18" charset="0"/>
                        <a:ea typeface="Cambria Math" panose="02040503050406030204" pitchFamily="18" charset="0"/>
                      </a:rPr>
                      <m:t>)∧(</m:t>
                    </m:r>
                    <m:r>
                      <a:rPr lang="en-US" sz="2000" b="0" i="1" smtClean="0">
                        <a:solidFill>
                          <a:schemeClr val="dk1"/>
                        </a:solidFill>
                        <a:latin typeface="Cambria Math" panose="02040503050406030204" pitchFamily="18" charset="0"/>
                        <a:ea typeface="Cambria Math" panose="02040503050406030204" pitchFamily="18" charset="0"/>
                      </a:rPr>
                      <m:t>𝑝</m:t>
                    </m:r>
                    <m:r>
                      <a:rPr lang="en-US" sz="2000" b="0" i="1" smtClean="0">
                        <a:solidFill>
                          <a:schemeClr val="dk1"/>
                        </a:solidFill>
                        <a:latin typeface="Cambria Math" panose="02040503050406030204" pitchFamily="18" charset="0"/>
                        <a:ea typeface="Cambria Math" panose="02040503050406030204" pitchFamily="18" charset="0"/>
                      </a:rPr>
                      <m:t>∨</m:t>
                    </m:r>
                    <m:r>
                      <a:rPr lang="en-US" sz="2000" b="0" i="1" smtClean="0">
                        <a:solidFill>
                          <a:schemeClr val="dk1"/>
                        </a:solidFill>
                        <a:latin typeface="Cambria Math" panose="02040503050406030204" pitchFamily="18" charset="0"/>
                        <a:ea typeface="Cambria Math" panose="02040503050406030204" pitchFamily="18" charset="0"/>
                      </a:rPr>
                      <m:t>𝑟</m:t>
                    </m:r>
                    <m:r>
                      <a:rPr lang="en-US" sz="2000" b="0" i="1" smtClean="0">
                        <a:solidFill>
                          <a:schemeClr val="dk1"/>
                        </a:solidFill>
                        <a:latin typeface="Cambria Math" panose="02040503050406030204" pitchFamily="18" charset="0"/>
                        <a:ea typeface="Cambria Math" panose="02040503050406030204" pitchFamily="18" charset="0"/>
                      </a:rPr>
                      <m:t>)</m:t>
                    </m:r>
                  </m:oMath>
                </a14:m>
                <a:endParaRPr lang="en-US" sz="2000" b="1" i="1" dirty="0">
                  <a:solidFill>
                    <a:prstClr val="black"/>
                  </a:solidFill>
                </a:endParaRPr>
              </a:p>
              <a:p>
                <a:pPr lvl="0" algn="ctr"/>
                <a14:m>
                  <m:oMath xmlns:m="http://schemas.openxmlformats.org/officeDocument/2006/math">
                    <m:r>
                      <a:rPr lang="en-US" sz="2000" b="0" i="1" smtClean="0">
                        <a:solidFill>
                          <a:prstClr val="black"/>
                        </a:solidFill>
                        <a:latin typeface="Cambria Math" panose="02040503050406030204" pitchFamily="18" charset="0"/>
                      </a:rPr>
                      <m:t>𝑝</m:t>
                    </m:r>
                    <m:r>
                      <a:rPr lang="en-US" sz="2000" i="1">
                        <a:solidFill>
                          <a:prstClr val="black"/>
                        </a:solidFill>
                        <a:latin typeface="Cambria Math" panose="02040503050406030204" pitchFamily="18" charset="0"/>
                        <a:ea typeface="Cambria Math" panose="02040503050406030204" pitchFamily="18" charset="0"/>
                      </a:rPr>
                      <m:t>∧</m:t>
                    </m:r>
                    <m:r>
                      <a:rPr lang="en-US" sz="2000" b="0" i="1" smtClean="0">
                        <a:solidFill>
                          <a:prstClr val="black"/>
                        </a:solidFill>
                        <a:latin typeface="Cambria Math" panose="02040503050406030204" pitchFamily="18" charset="0"/>
                        <a:ea typeface="Cambria Math" panose="02040503050406030204" pitchFamily="18" charset="0"/>
                      </a:rPr>
                      <m:t>(</m:t>
                    </m:r>
                    <m:r>
                      <a:rPr lang="en-US" sz="2000" b="0" i="1" smtClean="0">
                        <a:solidFill>
                          <a:prstClr val="black"/>
                        </a:solidFill>
                        <a:latin typeface="Cambria Math" panose="02040503050406030204" pitchFamily="18" charset="0"/>
                        <a:ea typeface="Cambria Math" panose="02040503050406030204" pitchFamily="18" charset="0"/>
                      </a:rPr>
                      <m:t>𝑞</m:t>
                    </m:r>
                    <m:r>
                      <a:rPr lang="en-US" sz="2000" b="0" i="1" smtClean="0">
                        <a:solidFill>
                          <a:prstClr val="black"/>
                        </a:solidFill>
                        <a:latin typeface="Cambria Math" panose="02040503050406030204" pitchFamily="18" charset="0"/>
                        <a:ea typeface="Cambria Math" panose="02040503050406030204" pitchFamily="18" charset="0"/>
                      </a:rPr>
                      <m:t>∨</m:t>
                    </m:r>
                    <m:r>
                      <a:rPr lang="en-US" sz="2000" b="0" i="1" smtClean="0">
                        <a:solidFill>
                          <a:prstClr val="black"/>
                        </a:solidFill>
                        <a:latin typeface="Cambria Math" panose="02040503050406030204" pitchFamily="18" charset="0"/>
                        <a:ea typeface="Cambria Math" panose="02040503050406030204" pitchFamily="18" charset="0"/>
                      </a:rPr>
                      <m:t>𝑟</m:t>
                    </m:r>
                    <m:r>
                      <a:rPr lang="en-US" sz="2000" b="0" i="1" smtClean="0">
                        <a:solidFill>
                          <a:prstClr val="black"/>
                        </a:solidFill>
                        <a:latin typeface="Cambria Math" panose="02040503050406030204" pitchFamily="18" charset="0"/>
                        <a:ea typeface="Cambria Math" panose="02040503050406030204" pitchFamily="18" charset="0"/>
                      </a:rPr>
                      <m:t>)≡(</m:t>
                    </m:r>
                    <m:r>
                      <a:rPr lang="en-US" sz="2000" b="0" i="1" smtClean="0">
                        <a:solidFill>
                          <a:prstClr val="black"/>
                        </a:solidFill>
                        <a:latin typeface="Cambria Math" panose="02040503050406030204" pitchFamily="18" charset="0"/>
                        <a:ea typeface="Cambria Math" panose="02040503050406030204" pitchFamily="18" charset="0"/>
                      </a:rPr>
                      <m:t>𝑝</m:t>
                    </m:r>
                    <m:r>
                      <a:rPr lang="en-US" sz="2000" b="0" i="1" smtClean="0">
                        <a:solidFill>
                          <a:prstClr val="black"/>
                        </a:solidFill>
                        <a:latin typeface="Cambria Math" panose="02040503050406030204" pitchFamily="18" charset="0"/>
                        <a:ea typeface="Cambria Math" panose="02040503050406030204" pitchFamily="18" charset="0"/>
                      </a:rPr>
                      <m:t>∧</m:t>
                    </m:r>
                    <m:r>
                      <a:rPr lang="en-US" sz="2000" b="0" i="1" smtClean="0">
                        <a:solidFill>
                          <a:prstClr val="black"/>
                        </a:solidFill>
                        <a:latin typeface="Cambria Math" panose="02040503050406030204" pitchFamily="18" charset="0"/>
                        <a:ea typeface="Cambria Math" panose="02040503050406030204" pitchFamily="18" charset="0"/>
                      </a:rPr>
                      <m:t>𝑞</m:t>
                    </m:r>
                    <m:r>
                      <a:rPr lang="en-US" sz="2000" b="0" i="1" smtClean="0">
                        <a:solidFill>
                          <a:prstClr val="black"/>
                        </a:solidFill>
                        <a:latin typeface="Cambria Math" panose="02040503050406030204" pitchFamily="18" charset="0"/>
                        <a:ea typeface="Cambria Math" panose="02040503050406030204" pitchFamily="18" charset="0"/>
                      </a:rPr>
                      <m:t>)∨(</m:t>
                    </m:r>
                    <m:r>
                      <a:rPr lang="en-US" sz="2000" b="0" i="1" smtClean="0">
                        <a:solidFill>
                          <a:prstClr val="black"/>
                        </a:solidFill>
                        <a:latin typeface="Cambria Math" panose="02040503050406030204" pitchFamily="18" charset="0"/>
                        <a:ea typeface="Cambria Math" panose="02040503050406030204" pitchFamily="18" charset="0"/>
                      </a:rPr>
                      <m:t>𝑝</m:t>
                    </m:r>
                    <m:r>
                      <a:rPr lang="en-US" sz="2000" b="0" i="1" smtClean="0">
                        <a:solidFill>
                          <a:prstClr val="black"/>
                        </a:solidFill>
                        <a:latin typeface="Cambria Math" panose="02040503050406030204" pitchFamily="18" charset="0"/>
                        <a:ea typeface="Cambria Math" panose="02040503050406030204" pitchFamily="18" charset="0"/>
                      </a:rPr>
                      <m:t>∧</m:t>
                    </m:r>
                    <m:r>
                      <a:rPr lang="en-US" sz="2000" b="0" i="1" smtClean="0">
                        <a:solidFill>
                          <a:prstClr val="black"/>
                        </a:solidFill>
                        <a:latin typeface="Cambria Math" panose="02040503050406030204" pitchFamily="18" charset="0"/>
                        <a:ea typeface="Cambria Math" panose="02040503050406030204" pitchFamily="18" charset="0"/>
                      </a:rPr>
                      <m:t>𝑟</m:t>
                    </m:r>
                    <m:r>
                      <a:rPr lang="en-US" sz="2000" b="0" i="1" smtClean="0">
                        <a:solidFill>
                          <a:prstClr val="black"/>
                        </a:solidFill>
                        <a:latin typeface="Cambria Math" panose="02040503050406030204" pitchFamily="18" charset="0"/>
                        <a:ea typeface="Cambria Math" panose="02040503050406030204" pitchFamily="18" charset="0"/>
                      </a:rPr>
                      <m:t>)</m:t>
                    </m:r>
                  </m:oMath>
                </a14:m>
                <a:r>
                  <a:rPr lang="en-US" sz="2000" i="1" dirty="0">
                    <a:solidFill>
                      <a:prstClr val="black"/>
                    </a:solidFill>
                  </a:rPr>
                  <a:t>  </a:t>
                </a:r>
              </a:p>
            </p:txBody>
          </p:sp>
        </mc:Choice>
        <mc:Fallback xmlns="">
          <p:sp>
            <p:nvSpPr>
              <p:cNvPr id="12" name="Rectangle 11">
                <a:extLst>
                  <a:ext uri="{FF2B5EF4-FFF2-40B4-BE49-F238E27FC236}">
                    <a16:creationId xmlns:a16="http://schemas.microsoft.com/office/drawing/2014/main" id="{ED1CAB1C-0FDB-4575-A482-19C5F3B9A4B8}"/>
                  </a:ext>
                </a:extLst>
              </p:cNvPr>
              <p:cNvSpPr>
                <a:spLocks noRot="1" noChangeAspect="1" noMove="1" noResize="1" noEditPoints="1" noAdjustHandles="1" noChangeArrowheads="1" noChangeShapeType="1" noTextEdit="1"/>
              </p:cNvSpPr>
              <p:nvPr/>
            </p:nvSpPr>
            <p:spPr>
              <a:xfrm>
                <a:off x="457200" y="3910178"/>
                <a:ext cx="4038600" cy="1015663"/>
              </a:xfrm>
              <a:prstGeom prst="rect">
                <a:avLst/>
              </a:prstGeom>
              <a:blipFill>
                <a:blip r:embed="rId7"/>
                <a:stretch>
                  <a:fillRect t="-2367" b="-4734"/>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Rectangle 13">
                <a:extLst>
                  <a:ext uri="{FF2B5EF4-FFF2-40B4-BE49-F238E27FC236}">
                    <a16:creationId xmlns:a16="http://schemas.microsoft.com/office/drawing/2014/main" id="{1429792D-6966-4861-B0A7-54B6FF0B1B40}"/>
                  </a:ext>
                </a:extLst>
              </p:cNvPr>
              <p:cNvSpPr/>
              <p:nvPr/>
            </p:nvSpPr>
            <p:spPr>
              <a:xfrm>
                <a:off x="4800600" y="3927296"/>
                <a:ext cx="4038600" cy="1015663"/>
              </a:xfrm>
              <a:prstGeom prst="rect">
                <a:avLst/>
              </a:prstGeom>
              <a:solidFill>
                <a:schemeClr val="bg2"/>
              </a:solidFill>
              <a:ln>
                <a:solidFill>
                  <a:schemeClr val="tx1"/>
                </a:solidFill>
              </a:ln>
            </p:spPr>
            <p:txBody>
              <a:bodyPr wrap="square">
                <a:spAutoFit/>
              </a:bodyPr>
              <a:lstStyle/>
              <a:p>
                <a:pPr algn="ctr"/>
                <a:r>
                  <a:rPr lang="en-US" sz="2000" b="1" dirty="0">
                    <a:solidFill>
                      <a:schemeClr val="dk1"/>
                    </a:solidFill>
                  </a:rPr>
                  <a:t>De Morgan’s laws:</a:t>
                </a:r>
              </a:p>
              <a:p>
                <a:pPr lvl="0" algn="ctr"/>
                <a14:m>
                  <m:oMath xmlns:m="http://schemas.openxmlformats.org/officeDocument/2006/math">
                    <m:r>
                      <a:rPr lang="en-US" sz="2000" i="1" smtClean="0">
                        <a:solidFill>
                          <a:prstClr val="black"/>
                        </a:solidFill>
                        <a:latin typeface="Cambria Math" panose="02040503050406030204" pitchFamily="18" charset="0"/>
                        <a:ea typeface="Cambria Math" panose="02040503050406030204" pitchFamily="18" charset="0"/>
                      </a:rPr>
                      <m:t>¬</m:t>
                    </m:r>
                    <m:r>
                      <a:rPr lang="en-US" sz="2000">
                        <a:solidFill>
                          <a:prstClr val="black"/>
                        </a:solidFill>
                        <a:latin typeface="Cambria Math" panose="02040503050406030204" pitchFamily="18" charset="0"/>
                      </a:rPr>
                      <m:t>(</m:t>
                    </m:r>
                    <m:r>
                      <a:rPr lang="en-US" sz="2000" i="1">
                        <a:solidFill>
                          <a:prstClr val="black"/>
                        </a:solidFill>
                        <a:latin typeface="Cambria Math" panose="02040503050406030204" pitchFamily="18" charset="0"/>
                      </a:rPr>
                      <m:t>𝑝</m:t>
                    </m:r>
                    <m:r>
                      <a:rPr lang="en-US" sz="2000" i="1">
                        <a:solidFill>
                          <a:prstClr val="black"/>
                        </a:solidFill>
                        <a:latin typeface="Cambria Math" panose="02040503050406030204" pitchFamily="18" charset="0"/>
                      </a:rPr>
                      <m:t> ∨</m:t>
                    </m:r>
                    <m:r>
                      <a:rPr lang="en-US" sz="2000" i="1">
                        <a:solidFill>
                          <a:prstClr val="black"/>
                        </a:solidFill>
                        <a:latin typeface="Cambria Math" panose="02040503050406030204" pitchFamily="18" charset="0"/>
                        <a:ea typeface="Cambria Math" panose="02040503050406030204" pitchFamily="18" charset="0"/>
                      </a:rPr>
                      <m:t>𝑞</m:t>
                    </m:r>
                    <m:r>
                      <a:rPr lang="en-US" sz="2000" i="1">
                        <a:solidFill>
                          <a:prstClr val="black"/>
                        </a:solidFill>
                        <a:latin typeface="Cambria Math" panose="02040503050406030204" pitchFamily="18" charset="0"/>
                        <a:ea typeface="Cambria Math" panose="02040503050406030204" pitchFamily="18" charset="0"/>
                      </a:rPr>
                      <m:t>)≡¬</m:t>
                    </m:r>
                    <m:r>
                      <a:rPr lang="en-US" sz="2000" i="1">
                        <a:solidFill>
                          <a:prstClr val="black"/>
                        </a:solidFill>
                        <a:latin typeface="Cambria Math" panose="02040503050406030204" pitchFamily="18" charset="0"/>
                        <a:ea typeface="Cambria Math" panose="02040503050406030204" pitchFamily="18" charset="0"/>
                      </a:rPr>
                      <m:t>𝑝</m:t>
                    </m:r>
                    <m:r>
                      <a:rPr lang="en-US" sz="2000" i="1">
                        <a:solidFill>
                          <a:prstClr val="black"/>
                        </a:solidFill>
                        <a:latin typeface="Cambria Math" panose="02040503050406030204" pitchFamily="18" charset="0"/>
                        <a:ea typeface="Cambria Math" panose="02040503050406030204" pitchFamily="18" charset="0"/>
                      </a:rPr>
                      <m:t>∧¬</m:t>
                    </m:r>
                    <m:r>
                      <a:rPr lang="en-US" sz="2000" i="1">
                        <a:solidFill>
                          <a:prstClr val="black"/>
                        </a:solidFill>
                        <a:latin typeface="Cambria Math" panose="02040503050406030204" pitchFamily="18" charset="0"/>
                        <a:ea typeface="Cambria Math" panose="02040503050406030204" pitchFamily="18" charset="0"/>
                      </a:rPr>
                      <m:t>𝑞</m:t>
                    </m:r>
                  </m:oMath>
                </a14:m>
                <a:r>
                  <a:rPr lang="en-US" sz="2000" b="1" i="1" dirty="0">
                    <a:solidFill>
                      <a:prstClr val="black"/>
                    </a:solidFill>
                  </a:rPr>
                  <a:t> </a:t>
                </a:r>
              </a:p>
              <a:p>
                <a:pPr lvl="0" algn="ctr"/>
                <a14:m>
                  <m:oMath xmlns:m="http://schemas.openxmlformats.org/officeDocument/2006/math">
                    <m:r>
                      <a:rPr lang="en-US" sz="2000" b="0" i="1" smtClean="0">
                        <a:solidFill>
                          <a:prstClr val="black"/>
                        </a:solidFill>
                        <a:latin typeface="Cambria Math" panose="02040503050406030204" pitchFamily="18" charset="0"/>
                        <a:ea typeface="Cambria Math" panose="02040503050406030204" pitchFamily="18" charset="0"/>
                      </a:rPr>
                      <m:t>¬</m:t>
                    </m:r>
                    <m:r>
                      <a:rPr lang="en-US" sz="2000" b="0" i="1" smtClean="0">
                        <a:solidFill>
                          <a:prstClr val="black"/>
                        </a:solidFill>
                        <a:latin typeface="Cambria Math" panose="02040503050406030204" pitchFamily="18" charset="0"/>
                      </a:rPr>
                      <m:t>(</m:t>
                    </m:r>
                    <m:r>
                      <a:rPr lang="en-US" sz="2000" b="0" i="1" smtClean="0">
                        <a:solidFill>
                          <a:prstClr val="black"/>
                        </a:solidFill>
                        <a:latin typeface="Cambria Math" panose="02040503050406030204" pitchFamily="18" charset="0"/>
                      </a:rPr>
                      <m:t>𝑝</m:t>
                    </m:r>
                    <m:r>
                      <a:rPr lang="en-US" sz="2000" b="0" i="1" smtClean="0">
                        <a:solidFill>
                          <a:prstClr val="black"/>
                        </a:solidFill>
                        <a:latin typeface="Cambria Math" panose="02040503050406030204" pitchFamily="18" charset="0"/>
                      </a:rPr>
                      <m:t> ∧</m:t>
                    </m:r>
                    <m:r>
                      <a:rPr lang="en-US" sz="2000" b="0" i="1" smtClean="0">
                        <a:solidFill>
                          <a:prstClr val="black"/>
                        </a:solidFill>
                        <a:latin typeface="Cambria Math" panose="02040503050406030204" pitchFamily="18" charset="0"/>
                        <a:ea typeface="Cambria Math" panose="02040503050406030204" pitchFamily="18" charset="0"/>
                      </a:rPr>
                      <m:t>𝑞</m:t>
                    </m:r>
                    <m:r>
                      <a:rPr lang="en-US" sz="2000" b="0" i="1" smtClean="0">
                        <a:solidFill>
                          <a:prstClr val="black"/>
                        </a:solidFill>
                        <a:latin typeface="Cambria Math" panose="02040503050406030204" pitchFamily="18" charset="0"/>
                        <a:ea typeface="Cambria Math" panose="02040503050406030204" pitchFamily="18" charset="0"/>
                      </a:rPr>
                      <m:t>)≡¬</m:t>
                    </m:r>
                    <m:r>
                      <a:rPr lang="en-US" sz="2000" b="0" i="1" smtClean="0">
                        <a:solidFill>
                          <a:prstClr val="black"/>
                        </a:solidFill>
                        <a:latin typeface="Cambria Math" panose="02040503050406030204" pitchFamily="18" charset="0"/>
                        <a:ea typeface="Cambria Math" panose="02040503050406030204" pitchFamily="18" charset="0"/>
                      </a:rPr>
                      <m:t>𝑝</m:t>
                    </m:r>
                    <m:r>
                      <a:rPr lang="en-US" sz="2000" i="1">
                        <a:solidFill>
                          <a:prstClr val="black"/>
                        </a:solidFill>
                        <a:latin typeface="Cambria Math" panose="02040503050406030204" pitchFamily="18" charset="0"/>
                      </a:rPr>
                      <m:t>∨</m:t>
                    </m:r>
                    <m:r>
                      <a:rPr lang="en-US" sz="2000" i="1">
                        <a:solidFill>
                          <a:prstClr val="black"/>
                        </a:solidFill>
                        <a:latin typeface="Cambria Math" panose="02040503050406030204" pitchFamily="18" charset="0"/>
                        <a:ea typeface="Cambria Math" panose="02040503050406030204" pitchFamily="18" charset="0"/>
                      </a:rPr>
                      <m:t>¬</m:t>
                    </m:r>
                    <m:r>
                      <a:rPr lang="en-US" sz="2000" b="0" i="1" smtClean="0">
                        <a:solidFill>
                          <a:prstClr val="black"/>
                        </a:solidFill>
                        <a:latin typeface="Cambria Math" panose="02040503050406030204" pitchFamily="18" charset="0"/>
                        <a:ea typeface="Cambria Math" panose="02040503050406030204" pitchFamily="18" charset="0"/>
                      </a:rPr>
                      <m:t>𝑞</m:t>
                    </m:r>
                  </m:oMath>
                </a14:m>
                <a:r>
                  <a:rPr lang="en-US" sz="2000" i="1" dirty="0">
                    <a:solidFill>
                      <a:prstClr val="black"/>
                    </a:solidFill>
                  </a:rPr>
                  <a:t>  </a:t>
                </a:r>
              </a:p>
            </p:txBody>
          </p:sp>
        </mc:Choice>
        <mc:Fallback xmlns="">
          <p:sp>
            <p:nvSpPr>
              <p:cNvPr id="14" name="Rectangle 13">
                <a:extLst>
                  <a:ext uri="{FF2B5EF4-FFF2-40B4-BE49-F238E27FC236}">
                    <a16:creationId xmlns:a16="http://schemas.microsoft.com/office/drawing/2014/main" id="{1429792D-6966-4861-B0A7-54B6FF0B1B40}"/>
                  </a:ext>
                </a:extLst>
              </p:cNvPr>
              <p:cNvSpPr>
                <a:spLocks noRot="1" noChangeAspect="1" noMove="1" noResize="1" noEditPoints="1" noAdjustHandles="1" noChangeArrowheads="1" noChangeShapeType="1" noTextEdit="1"/>
              </p:cNvSpPr>
              <p:nvPr/>
            </p:nvSpPr>
            <p:spPr>
              <a:xfrm>
                <a:off x="4800600" y="3927296"/>
                <a:ext cx="4038600" cy="1015663"/>
              </a:xfrm>
              <a:prstGeom prst="rect">
                <a:avLst/>
              </a:prstGeom>
              <a:blipFill>
                <a:blip r:embed="rId8"/>
                <a:stretch>
                  <a:fillRect t="-2367" b="-4734"/>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Rectangle 14">
                <a:extLst>
                  <a:ext uri="{FF2B5EF4-FFF2-40B4-BE49-F238E27FC236}">
                    <a16:creationId xmlns:a16="http://schemas.microsoft.com/office/drawing/2014/main" id="{7A2F40D8-547B-4288-A509-F4AC66D49827}"/>
                  </a:ext>
                </a:extLst>
              </p:cNvPr>
              <p:cNvSpPr/>
              <p:nvPr/>
            </p:nvSpPr>
            <p:spPr>
              <a:xfrm>
                <a:off x="457200" y="5156537"/>
                <a:ext cx="2362200" cy="1015663"/>
              </a:xfrm>
              <a:prstGeom prst="rect">
                <a:avLst/>
              </a:prstGeom>
              <a:solidFill>
                <a:schemeClr val="bg2"/>
              </a:solidFill>
              <a:ln>
                <a:solidFill>
                  <a:schemeClr val="tx1"/>
                </a:solidFill>
              </a:ln>
            </p:spPr>
            <p:txBody>
              <a:bodyPr wrap="square">
                <a:spAutoFit/>
              </a:bodyPr>
              <a:lstStyle/>
              <a:p>
                <a:pPr algn="ctr"/>
                <a:r>
                  <a:rPr lang="en-US" sz="2000" b="1" dirty="0">
                    <a:solidFill>
                      <a:schemeClr val="dk1"/>
                    </a:solidFill>
                  </a:rPr>
                  <a:t>Absorption laws:</a:t>
                </a:r>
              </a:p>
              <a:p>
                <a:pPr lvl="0" algn="ctr"/>
                <a14:m>
                  <m:oMath xmlns:m="http://schemas.openxmlformats.org/officeDocument/2006/math">
                    <m:r>
                      <a:rPr lang="en-US" sz="2000" i="1">
                        <a:solidFill>
                          <a:schemeClr val="dk1"/>
                        </a:solidFill>
                        <a:latin typeface="Cambria Math" panose="02040503050406030204" pitchFamily="18" charset="0"/>
                      </a:rPr>
                      <m:t>𝑝</m:t>
                    </m:r>
                    <m:r>
                      <a:rPr lang="en-US" sz="2000" i="1">
                        <a:solidFill>
                          <a:schemeClr val="dk1"/>
                        </a:solidFill>
                        <a:latin typeface="Cambria Math" panose="02040503050406030204" pitchFamily="18" charset="0"/>
                        <a:ea typeface="Cambria Math" panose="02040503050406030204" pitchFamily="18" charset="0"/>
                      </a:rPr>
                      <m:t>∨(</m:t>
                    </m:r>
                    <m:r>
                      <a:rPr lang="en-US" sz="2000" b="0" i="1" smtClean="0">
                        <a:solidFill>
                          <a:schemeClr val="dk1"/>
                        </a:solidFill>
                        <a:latin typeface="Cambria Math" panose="02040503050406030204" pitchFamily="18" charset="0"/>
                        <a:ea typeface="Cambria Math" panose="02040503050406030204" pitchFamily="18" charset="0"/>
                      </a:rPr>
                      <m:t>𝑝</m:t>
                    </m:r>
                    <m:r>
                      <a:rPr lang="en-US" sz="2000" i="1">
                        <a:solidFill>
                          <a:schemeClr val="dk1"/>
                        </a:solidFill>
                        <a:latin typeface="Cambria Math" panose="02040503050406030204" pitchFamily="18" charset="0"/>
                        <a:ea typeface="Cambria Math" panose="02040503050406030204" pitchFamily="18" charset="0"/>
                      </a:rPr>
                      <m:t>∧</m:t>
                    </m:r>
                    <m:r>
                      <a:rPr lang="en-US" sz="2000" b="0" i="1" smtClean="0">
                        <a:solidFill>
                          <a:schemeClr val="dk1"/>
                        </a:solidFill>
                        <a:latin typeface="Cambria Math" panose="02040503050406030204" pitchFamily="18" charset="0"/>
                        <a:ea typeface="Cambria Math" panose="02040503050406030204" pitchFamily="18" charset="0"/>
                      </a:rPr>
                      <m:t>𝑞</m:t>
                    </m:r>
                    <m:r>
                      <a:rPr lang="en-US" sz="2000" i="1">
                        <a:solidFill>
                          <a:schemeClr val="dk1"/>
                        </a:solidFill>
                        <a:latin typeface="Cambria Math" panose="02040503050406030204" pitchFamily="18" charset="0"/>
                        <a:ea typeface="Cambria Math" panose="02040503050406030204" pitchFamily="18" charset="0"/>
                      </a:rPr>
                      <m:t>)</m:t>
                    </m:r>
                    <m:r>
                      <a:rPr lang="en-US" sz="2000" i="1">
                        <a:solidFill>
                          <a:prstClr val="black"/>
                        </a:solidFill>
                        <a:latin typeface="Cambria Math" panose="02040503050406030204" pitchFamily="18" charset="0"/>
                        <a:ea typeface="Cambria Math" panose="02040503050406030204" pitchFamily="18" charset="0"/>
                      </a:rPr>
                      <m:t>≡</m:t>
                    </m:r>
                    <m:r>
                      <a:rPr lang="en-US" sz="2000" i="1">
                        <a:solidFill>
                          <a:prstClr val="black"/>
                        </a:solidFill>
                        <a:latin typeface="Cambria Math" panose="02040503050406030204" pitchFamily="18" charset="0"/>
                        <a:ea typeface="Cambria Math" panose="02040503050406030204" pitchFamily="18" charset="0"/>
                      </a:rPr>
                      <m:t>𝑝</m:t>
                    </m:r>
                  </m:oMath>
                </a14:m>
                <a:r>
                  <a:rPr lang="en-US" sz="2000" b="1" i="1" dirty="0">
                    <a:solidFill>
                      <a:prstClr val="black"/>
                    </a:solidFill>
                  </a:rPr>
                  <a:t> </a:t>
                </a:r>
              </a:p>
              <a:p>
                <a:pPr lvl="0" algn="ctr"/>
                <a14:m>
                  <m:oMathPara xmlns:m="http://schemas.openxmlformats.org/officeDocument/2006/math">
                    <m:oMathParaPr>
                      <m:jc m:val="centerGroup"/>
                    </m:oMathParaPr>
                    <m:oMath xmlns:m="http://schemas.openxmlformats.org/officeDocument/2006/math">
                      <m:r>
                        <a:rPr lang="en-US" sz="2000" i="1">
                          <a:solidFill>
                            <a:schemeClr val="dk1"/>
                          </a:solidFill>
                          <a:latin typeface="Cambria Math" panose="02040503050406030204" pitchFamily="18" charset="0"/>
                        </a:rPr>
                        <m:t>𝑝</m:t>
                      </m:r>
                      <m:r>
                        <a:rPr lang="en-US" sz="2000" i="1">
                          <a:solidFill>
                            <a:schemeClr val="dk1"/>
                          </a:solidFill>
                          <a:latin typeface="Cambria Math" panose="02040503050406030204" pitchFamily="18" charset="0"/>
                          <a:ea typeface="Cambria Math" panose="02040503050406030204" pitchFamily="18" charset="0"/>
                        </a:rPr>
                        <m:t>∧(</m:t>
                      </m:r>
                      <m:r>
                        <a:rPr lang="en-US" sz="2000" i="1">
                          <a:solidFill>
                            <a:schemeClr val="dk1"/>
                          </a:solidFill>
                          <a:latin typeface="Cambria Math" panose="02040503050406030204" pitchFamily="18" charset="0"/>
                          <a:ea typeface="Cambria Math" panose="02040503050406030204" pitchFamily="18" charset="0"/>
                        </a:rPr>
                        <m:t>𝑝</m:t>
                      </m:r>
                      <m:r>
                        <a:rPr lang="en-US" sz="2000" i="1">
                          <a:solidFill>
                            <a:schemeClr val="dk1"/>
                          </a:solidFill>
                          <a:latin typeface="Cambria Math" panose="02040503050406030204" pitchFamily="18" charset="0"/>
                          <a:ea typeface="Cambria Math" panose="02040503050406030204" pitchFamily="18" charset="0"/>
                        </a:rPr>
                        <m:t>∨</m:t>
                      </m:r>
                      <m:r>
                        <a:rPr lang="en-US" sz="2000" i="1">
                          <a:solidFill>
                            <a:schemeClr val="dk1"/>
                          </a:solidFill>
                          <a:latin typeface="Cambria Math" panose="02040503050406030204" pitchFamily="18" charset="0"/>
                          <a:ea typeface="Cambria Math" panose="02040503050406030204" pitchFamily="18" charset="0"/>
                        </a:rPr>
                        <m:t>𝑞</m:t>
                      </m:r>
                      <m:r>
                        <a:rPr lang="en-US" sz="2000" i="1">
                          <a:solidFill>
                            <a:schemeClr val="dk1"/>
                          </a:solidFill>
                          <a:latin typeface="Cambria Math" panose="02040503050406030204" pitchFamily="18" charset="0"/>
                          <a:ea typeface="Cambria Math" panose="02040503050406030204" pitchFamily="18" charset="0"/>
                        </a:rPr>
                        <m:t>)≡</m:t>
                      </m:r>
                      <m:r>
                        <a:rPr lang="en-US" sz="2000" i="1">
                          <a:solidFill>
                            <a:prstClr val="black"/>
                          </a:solidFill>
                          <a:latin typeface="Cambria Math" panose="02040503050406030204" pitchFamily="18" charset="0"/>
                          <a:ea typeface="Cambria Math" panose="02040503050406030204" pitchFamily="18" charset="0"/>
                        </a:rPr>
                        <m:t>𝑝</m:t>
                      </m:r>
                    </m:oMath>
                  </m:oMathPara>
                </a14:m>
                <a:endParaRPr lang="en-US" sz="2000" i="1" dirty="0">
                  <a:solidFill>
                    <a:prstClr val="black"/>
                  </a:solidFill>
                </a:endParaRPr>
              </a:p>
            </p:txBody>
          </p:sp>
        </mc:Choice>
        <mc:Fallback xmlns="">
          <p:sp>
            <p:nvSpPr>
              <p:cNvPr id="15" name="Rectangle 14">
                <a:extLst>
                  <a:ext uri="{FF2B5EF4-FFF2-40B4-BE49-F238E27FC236}">
                    <a16:creationId xmlns:a16="http://schemas.microsoft.com/office/drawing/2014/main" id="{7A2F40D8-547B-4288-A509-F4AC66D49827}"/>
                  </a:ext>
                </a:extLst>
              </p:cNvPr>
              <p:cNvSpPr>
                <a:spLocks noRot="1" noChangeAspect="1" noMove="1" noResize="1" noEditPoints="1" noAdjustHandles="1" noChangeArrowheads="1" noChangeShapeType="1" noTextEdit="1"/>
              </p:cNvSpPr>
              <p:nvPr/>
            </p:nvSpPr>
            <p:spPr>
              <a:xfrm>
                <a:off x="457200" y="5156537"/>
                <a:ext cx="2362200" cy="1015663"/>
              </a:xfrm>
              <a:prstGeom prst="rect">
                <a:avLst/>
              </a:prstGeom>
              <a:blipFill>
                <a:blip r:embed="rId9"/>
                <a:stretch>
                  <a:fillRect t="-2959" b="-4142"/>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Rectangle 15">
                <a:extLst>
                  <a:ext uri="{FF2B5EF4-FFF2-40B4-BE49-F238E27FC236}">
                    <a16:creationId xmlns:a16="http://schemas.microsoft.com/office/drawing/2014/main" id="{7FA59E56-4AEB-497B-9099-5E62F2310D81}"/>
                  </a:ext>
                </a:extLst>
              </p:cNvPr>
              <p:cNvSpPr/>
              <p:nvPr/>
            </p:nvSpPr>
            <p:spPr>
              <a:xfrm>
                <a:off x="3581400" y="5181600"/>
                <a:ext cx="2362200" cy="1015663"/>
              </a:xfrm>
              <a:prstGeom prst="rect">
                <a:avLst/>
              </a:prstGeom>
              <a:solidFill>
                <a:schemeClr val="bg2"/>
              </a:solidFill>
              <a:ln>
                <a:solidFill>
                  <a:schemeClr val="tx1"/>
                </a:solidFill>
              </a:ln>
            </p:spPr>
            <p:txBody>
              <a:bodyPr wrap="square">
                <a:spAutoFit/>
              </a:bodyPr>
              <a:lstStyle/>
              <a:p>
                <a:pPr algn="ctr"/>
                <a:r>
                  <a:rPr lang="en-US" sz="2000" b="1" dirty="0">
                    <a:solidFill>
                      <a:schemeClr val="dk1"/>
                    </a:solidFill>
                  </a:rPr>
                  <a:t>Negation laws:</a:t>
                </a:r>
              </a:p>
              <a:p>
                <a:pPr lvl="0" algn="ctr"/>
                <a14:m>
                  <m:oMath xmlns:m="http://schemas.openxmlformats.org/officeDocument/2006/math">
                    <m:r>
                      <a:rPr lang="en-US" sz="2000" i="1">
                        <a:solidFill>
                          <a:schemeClr val="dk1"/>
                        </a:solidFill>
                        <a:latin typeface="Cambria Math" panose="02040503050406030204" pitchFamily="18" charset="0"/>
                      </a:rPr>
                      <m:t>𝑝</m:t>
                    </m:r>
                    <m:r>
                      <a:rPr lang="en-US" sz="2000" i="1">
                        <a:solidFill>
                          <a:schemeClr val="dk1"/>
                        </a:solidFill>
                        <a:latin typeface="Cambria Math" panose="02040503050406030204" pitchFamily="18" charset="0"/>
                        <a:ea typeface="Cambria Math" panose="02040503050406030204" pitchFamily="18" charset="0"/>
                      </a:rPr>
                      <m:t>∨</m:t>
                    </m:r>
                    <m:r>
                      <a:rPr lang="en-US" sz="2000" i="1" smtClean="0">
                        <a:solidFill>
                          <a:schemeClr val="dk1"/>
                        </a:solidFill>
                        <a:latin typeface="Cambria Math" panose="02040503050406030204" pitchFamily="18" charset="0"/>
                        <a:ea typeface="Cambria Math" panose="02040503050406030204" pitchFamily="18" charset="0"/>
                      </a:rPr>
                      <m:t>¬</m:t>
                    </m:r>
                    <m:r>
                      <a:rPr lang="en-US" sz="2000" b="0" i="1" smtClean="0">
                        <a:solidFill>
                          <a:schemeClr val="dk1"/>
                        </a:solidFill>
                        <a:latin typeface="Cambria Math" panose="02040503050406030204" pitchFamily="18" charset="0"/>
                        <a:ea typeface="Cambria Math" panose="02040503050406030204" pitchFamily="18" charset="0"/>
                      </a:rPr>
                      <m:t>𝑝</m:t>
                    </m:r>
                    <m:r>
                      <a:rPr lang="en-US" sz="2000" i="1">
                        <a:solidFill>
                          <a:prstClr val="black"/>
                        </a:solidFill>
                        <a:latin typeface="Cambria Math" panose="02040503050406030204" pitchFamily="18" charset="0"/>
                        <a:ea typeface="Cambria Math" panose="02040503050406030204" pitchFamily="18" charset="0"/>
                      </a:rPr>
                      <m:t>≡</m:t>
                    </m:r>
                    <m:r>
                      <a:rPr lang="en-US" sz="2000" b="0" i="1" smtClean="0">
                        <a:solidFill>
                          <a:prstClr val="black"/>
                        </a:solidFill>
                        <a:latin typeface="Cambria Math" panose="02040503050406030204" pitchFamily="18" charset="0"/>
                        <a:ea typeface="Cambria Math" panose="02040503050406030204" pitchFamily="18" charset="0"/>
                      </a:rPr>
                      <m:t>𝑇</m:t>
                    </m:r>
                  </m:oMath>
                </a14:m>
                <a:r>
                  <a:rPr lang="en-US" sz="2000" b="1" i="1" dirty="0">
                    <a:solidFill>
                      <a:prstClr val="black"/>
                    </a:solidFill>
                  </a:rPr>
                  <a:t> </a:t>
                </a:r>
              </a:p>
              <a:p>
                <a:pPr lvl="0" algn="ctr"/>
                <a14:m>
                  <m:oMathPara xmlns:m="http://schemas.openxmlformats.org/officeDocument/2006/math">
                    <m:oMathParaPr>
                      <m:jc m:val="centerGroup"/>
                    </m:oMathParaPr>
                    <m:oMath xmlns:m="http://schemas.openxmlformats.org/officeDocument/2006/math">
                      <m:r>
                        <a:rPr lang="en-US" sz="2000" i="1">
                          <a:solidFill>
                            <a:schemeClr val="dk1"/>
                          </a:solidFill>
                          <a:latin typeface="Cambria Math" panose="02040503050406030204" pitchFamily="18" charset="0"/>
                        </a:rPr>
                        <m:t>𝑝</m:t>
                      </m:r>
                      <m:r>
                        <a:rPr lang="en-US" sz="2000" i="1">
                          <a:solidFill>
                            <a:schemeClr val="dk1"/>
                          </a:solidFill>
                          <a:latin typeface="Cambria Math" panose="02040503050406030204" pitchFamily="18" charset="0"/>
                          <a:ea typeface="Cambria Math" panose="02040503050406030204" pitchFamily="18" charset="0"/>
                        </a:rPr>
                        <m:t>∧¬</m:t>
                      </m:r>
                      <m:r>
                        <a:rPr lang="en-US" sz="2000" i="1">
                          <a:solidFill>
                            <a:schemeClr val="dk1"/>
                          </a:solidFill>
                          <a:latin typeface="Cambria Math" panose="02040503050406030204" pitchFamily="18" charset="0"/>
                          <a:ea typeface="Cambria Math" panose="02040503050406030204" pitchFamily="18" charset="0"/>
                        </a:rPr>
                        <m:t>𝑝</m:t>
                      </m:r>
                      <m:r>
                        <a:rPr lang="en-US" sz="2000" i="1">
                          <a:solidFill>
                            <a:prstClr val="black"/>
                          </a:solidFill>
                          <a:latin typeface="Cambria Math" panose="02040503050406030204" pitchFamily="18" charset="0"/>
                          <a:ea typeface="Cambria Math" panose="02040503050406030204" pitchFamily="18" charset="0"/>
                        </a:rPr>
                        <m:t>≡</m:t>
                      </m:r>
                      <m:r>
                        <a:rPr lang="en-US" sz="2000" b="0" i="1" smtClean="0">
                          <a:solidFill>
                            <a:prstClr val="black"/>
                          </a:solidFill>
                          <a:latin typeface="Cambria Math" panose="02040503050406030204" pitchFamily="18" charset="0"/>
                          <a:ea typeface="Cambria Math" panose="02040503050406030204" pitchFamily="18" charset="0"/>
                        </a:rPr>
                        <m:t>𝐹</m:t>
                      </m:r>
                    </m:oMath>
                  </m:oMathPara>
                </a14:m>
                <a:endParaRPr lang="en-US" sz="2000" i="1" dirty="0">
                  <a:solidFill>
                    <a:prstClr val="black"/>
                  </a:solidFill>
                </a:endParaRPr>
              </a:p>
            </p:txBody>
          </p:sp>
        </mc:Choice>
        <mc:Fallback xmlns="">
          <p:sp>
            <p:nvSpPr>
              <p:cNvPr id="16" name="Rectangle 15">
                <a:extLst>
                  <a:ext uri="{FF2B5EF4-FFF2-40B4-BE49-F238E27FC236}">
                    <a16:creationId xmlns:a16="http://schemas.microsoft.com/office/drawing/2014/main" id="{7FA59E56-4AEB-497B-9099-5E62F2310D81}"/>
                  </a:ext>
                </a:extLst>
              </p:cNvPr>
              <p:cNvSpPr>
                <a:spLocks noRot="1" noChangeAspect="1" noMove="1" noResize="1" noEditPoints="1" noAdjustHandles="1" noChangeArrowheads="1" noChangeShapeType="1" noTextEdit="1"/>
              </p:cNvSpPr>
              <p:nvPr/>
            </p:nvSpPr>
            <p:spPr>
              <a:xfrm>
                <a:off x="3581400" y="5181600"/>
                <a:ext cx="2362200" cy="1015663"/>
              </a:xfrm>
              <a:prstGeom prst="rect">
                <a:avLst/>
              </a:prstGeom>
              <a:blipFill>
                <a:blip r:embed="rId10"/>
                <a:stretch>
                  <a:fillRect t="-2367" b="-1183"/>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Rectangle 16">
                <a:extLst>
                  <a:ext uri="{FF2B5EF4-FFF2-40B4-BE49-F238E27FC236}">
                    <a16:creationId xmlns:a16="http://schemas.microsoft.com/office/drawing/2014/main" id="{74AC1250-98AC-4B3F-B09B-5B79F59EA8B7}"/>
                  </a:ext>
                </a:extLst>
              </p:cNvPr>
              <p:cNvSpPr/>
              <p:nvPr/>
            </p:nvSpPr>
            <p:spPr>
              <a:xfrm>
                <a:off x="6400800" y="5181600"/>
                <a:ext cx="2590800" cy="1015663"/>
              </a:xfrm>
              <a:prstGeom prst="rect">
                <a:avLst/>
              </a:prstGeom>
              <a:solidFill>
                <a:schemeClr val="bg2"/>
              </a:solidFill>
              <a:ln>
                <a:solidFill>
                  <a:schemeClr val="tx1"/>
                </a:solidFill>
              </a:ln>
            </p:spPr>
            <p:txBody>
              <a:bodyPr wrap="square">
                <a:spAutoFit/>
              </a:bodyPr>
              <a:lstStyle/>
              <a:p>
                <a:pPr algn="ctr"/>
                <a:r>
                  <a:rPr lang="en-US" sz="2000" b="1" dirty="0">
                    <a:solidFill>
                      <a:schemeClr val="dk1"/>
                    </a:solidFill>
                  </a:rPr>
                  <a:t>Double Negation law:</a:t>
                </a:r>
              </a:p>
              <a:p>
                <a:pPr lvl="0" algn="ctr"/>
                <a14:m>
                  <m:oMath xmlns:m="http://schemas.openxmlformats.org/officeDocument/2006/math">
                    <m:r>
                      <a:rPr lang="en-US" sz="2000" b="0" i="1" smtClean="0">
                        <a:solidFill>
                          <a:schemeClr val="dk1"/>
                        </a:solidFill>
                        <a:latin typeface="Cambria Math" panose="02040503050406030204" pitchFamily="18" charset="0"/>
                        <a:ea typeface="Cambria Math" panose="02040503050406030204" pitchFamily="18" charset="0"/>
                      </a:rPr>
                      <m:t>¬</m:t>
                    </m:r>
                    <m:d>
                      <m:dPr>
                        <m:ctrlPr>
                          <a:rPr lang="en-US" sz="2000" b="0" i="1" smtClean="0">
                            <a:solidFill>
                              <a:schemeClr val="dk1"/>
                            </a:solidFill>
                            <a:latin typeface="Cambria Math" panose="02040503050406030204" pitchFamily="18" charset="0"/>
                            <a:ea typeface="Cambria Math" panose="02040503050406030204" pitchFamily="18" charset="0"/>
                          </a:rPr>
                        </m:ctrlPr>
                      </m:dPr>
                      <m:e>
                        <m:r>
                          <a:rPr lang="en-US" sz="2000" i="1" smtClean="0">
                            <a:solidFill>
                              <a:schemeClr val="dk1"/>
                            </a:solidFill>
                            <a:latin typeface="Cambria Math" panose="02040503050406030204" pitchFamily="18" charset="0"/>
                            <a:ea typeface="Cambria Math" panose="02040503050406030204" pitchFamily="18" charset="0"/>
                          </a:rPr>
                          <m:t>¬</m:t>
                        </m:r>
                        <m:r>
                          <a:rPr lang="en-US" sz="2000" i="1">
                            <a:solidFill>
                              <a:schemeClr val="dk1"/>
                            </a:solidFill>
                            <a:latin typeface="Cambria Math" panose="02040503050406030204" pitchFamily="18" charset="0"/>
                          </a:rPr>
                          <m:t>𝑝</m:t>
                        </m:r>
                      </m:e>
                    </m:d>
                    <m:r>
                      <a:rPr lang="en-US" sz="2000" i="1">
                        <a:solidFill>
                          <a:prstClr val="black"/>
                        </a:solidFill>
                        <a:latin typeface="Cambria Math" panose="02040503050406030204" pitchFamily="18" charset="0"/>
                        <a:ea typeface="Cambria Math" panose="02040503050406030204" pitchFamily="18" charset="0"/>
                      </a:rPr>
                      <m:t>≡</m:t>
                    </m:r>
                    <m:r>
                      <a:rPr lang="en-US" sz="2000" b="0" i="1" smtClean="0">
                        <a:solidFill>
                          <a:prstClr val="black"/>
                        </a:solidFill>
                        <a:latin typeface="Cambria Math" panose="02040503050406030204" pitchFamily="18" charset="0"/>
                        <a:ea typeface="Cambria Math" panose="02040503050406030204" pitchFamily="18" charset="0"/>
                      </a:rPr>
                      <m:t>𝑝</m:t>
                    </m:r>
                    <m:r>
                      <a:rPr lang="en-US" sz="2000" b="0" i="1" smtClean="0">
                        <a:solidFill>
                          <a:prstClr val="black"/>
                        </a:solidFill>
                        <a:latin typeface="Cambria Math" panose="02040503050406030204" pitchFamily="18" charset="0"/>
                        <a:ea typeface="Cambria Math" panose="02040503050406030204" pitchFamily="18" charset="0"/>
                      </a:rPr>
                      <m:t>.</m:t>
                    </m:r>
                  </m:oMath>
                </a14:m>
                <a:r>
                  <a:rPr lang="en-US" sz="2000" b="1" i="1" dirty="0">
                    <a:solidFill>
                      <a:prstClr val="black"/>
                    </a:solidFill>
                  </a:rPr>
                  <a:t> </a:t>
                </a:r>
              </a:p>
              <a:p>
                <a:pPr lvl="0" algn="ctr"/>
                <a:endParaRPr lang="en-US" sz="2000" i="1" dirty="0">
                  <a:solidFill>
                    <a:prstClr val="black"/>
                  </a:solidFill>
                </a:endParaRPr>
              </a:p>
            </p:txBody>
          </p:sp>
        </mc:Choice>
        <mc:Fallback xmlns="">
          <p:sp>
            <p:nvSpPr>
              <p:cNvPr id="17" name="Rectangle 16">
                <a:extLst>
                  <a:ext uri="{FF2B5EF4-FFF2-40B4-BE49-F238E27FC236}">
                    <a16:creationId xmlns:a16="http://schemas.microsoft.com/office/drawing/2014/main" id="{74AC1250-98AC-4B3F-B09B-5B79F59EA8B7}"/>
                  </a:ext>
                </a:extLst>
              </p:cNvPr>
              <p:cNvSpPr>
                <a:spLocks noRot="1" noChangeAspect="1" noMove="1" noResize="1" noEditPoints="1" noAdjustHandles="1" noChangeArrowheads="1" noChangeShapeType="1" noTextEdit="1"/>
              </p:cNvSpPr>
              <p:nvPr/>
            </p:nvSpPr>
            <p:spPr>
              <a:xfrm>
                <a:off x="6400800" y="5181600"/>
                <a:ext cx="2590800" cy="1015663"/>
              </a:xfrm>
              <a:prstGeom prst="rect">
                <a:avLst/>
              </a:prstGeom>
              <a:blipFill>
                <a:blip r:embed="rId11"/>
                <a:stretch>
                  <a:fillRect t="-2367"/>
                </a:stretch>
              </a:blipFill>
              <a:ln>
                <a:solidFill>
                  <a:schemeClr val="tx1"/>
                </a:solidFill>
              </a:ln>
            </p:spPr>
            <p:txBody>
              <a:bodyPr/>
              <a:lstStyle/>
              <a:p>
                <a:r>
                  <a:rPr lang="en-US">
                    <a:noFill/>
                  </a:rPr>
                  <a:t> </a:t>
                </a:r>
              </a:p>
            </p:txBody>
          </p:sp>
        </mc:Fallback>
      </mc:AlternateContent>
    </p:spTree>
    <p:extLst>
      <p:ext uri="{BB962C8B-B14F-4D97-AF65-F5344CB8AC3E}">
        <p14:creationId xmlns:p14="http://schemas.microsoft.com/office/powerpoint/2010/main" val="703303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8" grpId="0" animBg="1"/>
      <p:bldP spid="9" grpId="0" animBg="1"/>
      <p:bldP spid="10" grpId="0" animBg="1"/>
      <p:bldP spid="11" grpId="0" animBg="1"/>
      <p:bldP spid="12" grpId="0" animBg="1"/>
      <p:bldP spid="14" grpId="0" animBg="1"/>
      <p:bldP spid="15" grpId="0" animBg="1"/>
      <p:bldP spid="16" grpId="0" animBg="1"/>
      <p:bldP spid="17"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44D33B-4F53-3B5E-0EE6-65324691BD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A871D7-B92E-1C2D-030A-6CB22871ACEA}"/>
              </a:ext>
            </a:extLst>
          </p:cNvPr>
          <p:cNvSpPr>
            <a:spLocks noGrp="1"/>
          </p:cNvSpPr>
          <p:nvPr>
            <p:ph type="title"/>
          </p:nvPr>
        </p:nvSpPr>
        <p:spPr/>
        <p:txBody>
          <a:bodyPr/>
          <a:lstStyle/>
          <a:p>
            <a:r>
              <a:rPr lang="en-US" b="1" dirty="0"/>
              <a:t>Logical Equivalences</a:t>
            </a:r>
            <a:br>
              <a:rPr lang="en-US" b="1" dirty="0"/>
            </a:br>
            <a:endParaRPr lang="en-GB" dirty="0"/>
          </a:p>
        </p:txBody>
      </p:sp>
      <p:sp>
        <p:nvSpPr>
          <p:cNvPr id="4" name="Date Placeholder 3">
            <a:extLst>
              <a:ext uri="{FF2B5EF4-FFF2-40B4-BE49-F238E27FC236}">
                <a16:creationId xmlns:a16="http://schemas.microsoft.com/office/drawing/2014/main" id="{715744C0-F734-C74B-D4B4-F40547D0848B}"/>
              </a:ext>
            </a:extLst>
          </p:cNvPr>
          <p:cNvSpPr>
            <a:spLocks noGrp="1"/>
          </p:cNvSpPr>
          <p:nvPr>
            <p:ph type="dt" sz="half" idx="10"/>
          </p:nvPr>
        </p:nvSpPr>
        <p:spPr/>
        <p:txBody>
          <a:bodyPr/>
          <a:lstStyle/>
          <a:p>
            <a:fld id="{BA8750B6-B11A-4624-9A34-729AD282F670}" type="datetime3">
              <a:rPr lang="en-US" smtClean="0"/>
              <a:t>27 April 2026</a:t>
            </a:fld>
            <a:endParaRPr lang="en-US"/>
          </a:p>
        </p:txBody>
      </p:sp>
      <p:sp>
        <p:nvSpPr>
          <p:cNvPr id="5" name="Footer Placeholder 4">
            <a:extLst>
              <a:ext uri="{FF2B5EF4-FFF2-40B4-BE49-F238E27FC236}">
                <a16:creationId xmlns:a16="http://schemas.microsoft.com/office/drawing/2014/main" id="{911B1384-9C6B-BFDC-1B98-A7E78B6E8BC0}"/>
              </a:ext>
            </a:extLst>
          </p:cNvPr>
          <p:cNvSpPr>
            <a:spLocks noGrp="1"/>
          </p:cNvSpPr>
          <p:nvPr>
            <p:ph type="ftr" sz="quarter" idx="11"/>
          </p:nvPr>
        </p:nvSpPr>
        <p:spPr/>
        <p:txBody>
          <a:bodyPr/>
          <a:lstStyle/>
          <a:p>
            <a:r>
              <a:rPr lang="en-US"/>
              <a:t>SCS 1302   Discrete Mathematics 1       Prof. D D Karunaratna</a:t>
            </a:r>
          </a:p>
        </p:txBody>
      </p:sp>
      <p:sp>
        <p:nvSpPr>
          <p:cNvPr id="6" name="Slide Number Placeholder 5">
            <a:extLst>
              <a:ext uri="{FF2B5EF4-FFF2-40B4-BE49-F238E27FC236}">
                <a16:creationId xmlns:a16="http://schemas.microsoft.com/office/drawing/2014/main" id="{FDDC8D74-06A3-9C38-FBCF-38B310A3470F}"/>
              </a:ext>
            </a:extLst>
          </p:cNvPr>
          <p:cNvSpPr>
            <a:spLocks noGrp="1"/>
          </p:cNvSpPr>
          <p:nvPr>
            <p:ph type="sldNum" sz="quarter" idx="12"/>
          </p:nvPr>
        </p:nvSpPr>
        <p:spPr/>
        <p:txBody>
          <a:bodyPr/>
          <a:lstStyle/>
          <a:p>
            <a:fld id="{0CA841A6-7C02-4C92-B6EE-5DBCC2AD53D0}" type="slidenum">
              <a:rPr lang="en-US" smtClean="0"/>
              <a:t>46</a:t>
            </a:fld>
            <a:endParaRPr lang="en-US"/>
          </a:p>
        </p:txBody>
      </p:sp>
      <mc:AlternateContent xmlns:mc="http://schemas.openxmlformats.org/markup-compatibility/2006" xmlns:a14="http://schemas.microsoft.com/office/drawing/2010/main">
        <mc:Choice Requires="a14">
          <p:sp>
            <p:nvSpPr>
              <p:cNvPr id="10" name="Rectangle 9">
                <a:extLst>
                  <a:ext uri="{FF2B5EF4-FFF2-40B4-BE49-F238E27FC236}">
                    <a16:creationId xmlns:a16="http://schemas.microsoft.com/office/drawing/2014/main" id="{B01CB068-D704-8CA2-3FCC-08EA4164C620}"/>
                  </a:ext>
                </a:extLst>
              </p:cNvPr>
              <p:cNvSpPr/>
              <p:nvPr/>
            </p:nvSpPr>
            <p:spPr>
              <a:xfrm>
                <a:off x="1981200" y="1783810"/>
                <a:ext cx="4038600" cy="707886"/>
              </a:xfrm>
              <a:prstGeom prst="rect">
                <a:avLst/>
              </a:prstGeom>
              <a:solidFill>
                <a:schemeClr val="bg2"/>
              </a:solidFill>
              <a:ln>
                <a:solidFill>
                  <a:schemeClr val="tx1"/>
                </a:solidFill>
              </a:ln>
            </p:spPr>
            <p:txBody>
              <a:bodyPr wrap="square">
                <a:spAutoFit/>
              </a:bodyPr>
              <a:lstStyle/>
              <a:p>
                <a:pPr algn="ctr"/>
                <a:r>
                  <a:rPr lang="en-US" sz="2000" b="1" dirty="0">
                    <a:solidFill>
                      <a:schemeClr val="tx1"/>
                    </a:solidFill>
                  </a:rPr>
                  <a:t>P </a:t>
                </a:r>
                <a:r>
                  <a:rPr lang="en-US" sz="2000" dirty="0">
                    <a:solidFill>
                      <a:schemeClr val="tx1"/>
                    </a:solidFill>
                  </a:rPr>
                  <a:t>⊕ q </a:t>
                </a:r>
                <a14:m>
                  <m:oMath xmlns:m="http://schemas.openxmlformats.org/officeDocument/2006/math">
                    <m:r>
                      <a:rPr lang="en-US" sz="2000" i="1">
                        <a:solidFill>
                          <a:schemeClr val="tx1"/>
                        </a:solidFill>
                        <a:latin typeface="Cambria Math" panose="02040503050406030204" pitchFamily="18" charset="0"/>
                        <a:ea typeface="Cambria Math" panose="02040503050406030204" pitchFamily="18" charset="0"/>
                      </a:rPr>
                      <m:t>≡</m:t>
                    </m:r>
                  </m:oMath>
                </a14:m>
                <a:r>
                  <a:rPr lang="en-US" sz="2000" b="1" dirty="0">
                    <a:solidFill>
                      <a:schemeClr val="tx1"/>
                    </a:solidFill>
                  </a:rPr>
                  <a:t> (p </a:t>
                </a:r>
                <a14:m>
                  <m:oMath xmlns:m="http://schemas.openxmlformats.org/officeDocument/2006/math">
                    <m:r>
                      <a:rPr lang="en-US" sz="2000" i="1">
                        <a:solidFill>
                          <a:schemeClr val="tx1"/>
                        </a:solidFill>
                        <a:latin typeface="Cambria Math" panose="02040503050406030204" pitchFamily="18" charset="0"/>
                        <a:ea typeface="Cambria Math" panose="02040503050406030204" pitchFamily="18" charset="0"/>
                      </a:rPr>
                      <m:t>∧¬</m:t>
                    </m:r>
                  </m:oMath>
                </a14:m>
                <a:r>
                  <a:rPr lang="en-US" sz="2000" b="1" dirty="0">
                    <a:solidFill>
                      <a:schemeClr val="tx1"/>
                    </a:solidFill>
                  </a:rPr>
                  <a:t>q) </a:t>
                </a:r>
                <a14:m>
                  <m:oMath xmlns:m="http://schemas.openxmlformats.org/officeDocument/2006/math">
                    <m:r>
                      <a:rPr lang="en-US" sz="2000" i="1">
                        <a:solidFill>
                          <a:schemeClr val="tx1"/>
                        </a:solidFill>
                        <a:latin typeface="Cambria Math" panose="02040503050406030204" pitchFamily="18" charset="0"/>
                        <a:ea typeface="Cambria Math" panose="02040503050406030204" pitchFamily="18" charset="0"/>
                      </a:rPr>
                      <m:t>∨</m:t>
                    </m:r>
                    <m:r>
                      <a:rPr lang="en-US" sz="2000" b="0" i="1" smtClean="0">
                        <a:solidFill>
                          <a:schemeClr val="tx1"/>
                        </a:solidFill>
                        <a:latin typeface="Cambria Math" panose="02040503050406030204" pitchFamily="18" charset="0"/>
                        <a:ea typeface="Cambria Math" panose="02040503050406030204" pitchFamily="18" charset="0"/>
                      </a:rPr>
                      <m:t> </m:t>
                    </m:r>
                  </m:oMath>
                </a14:m>
                <a:r>
                  <a:rPr lang="en-US" sz="2000" b="1" dirty="0">
                    <a:solidFill>
                      <a:schemeClr val="tx1"/>
                    </a:solidFill>
                  </a:rPr>
                  <a:t>(</a:t>
                </a:r>
                <a14:m>
                  <m:oMath xmlns:m="http://schemas.openxmlformats.org/officeDocument/2006/math">
                    <m:r>
                      <a:rPr lang="en-US" sz="2000" i="1">
                        <a:solidFill>
                          <a:schemeClr val="tx1"/>
                        </a:solidFill>
                        <a:latin typeface="Cambria Math" panose="02040503050406030204" pitchFamily="18" charset="0"/>
                        <a:ea typeface="Cambria Math" panose="02040503050406030204" pitchFamily="18" charset="0"/>
                      </a:rPr>
                      <m:t>¬</m:t>
                    </m:r>
                  </m:oMath>
                </a14:m>
                <a:r>
                  <a:rPr lang="en-US" sz="2000" b="1" dirty="0">
                    <a:solidFill>
                      <a:schemeClr val="tx1"/>
                    </a:solidFill>
                  </a:rPr>
                  <a:t>p</a:t>
                </a:r>
                <a14:m>
                  <m:oMath xmlns:m="http://schemas.openxmlformats.org/officeDocument/2006/math">
                    <m:r>
                      <a:rPr lang="en-US" sz="2000" b="1" i="0" smtClean="0">
                        <a:solidFill>
                          <a:schemeClr val="tx1"/>
                        </a:solidFill>
                        <a:latin typeface="Cambria Math" panose="02040503050406030204" pitchFamily="18" charset="0"/>
                        <a:ea typeface="Cambria Math" panose="02040503050406030204" pitchFamily="18" charset="0"/>
                      </a:rPr>
                      <m:t> </m:t>
                    </m:r>
                    <m:r>
                      <a:rPr lang="en-US" sz="2000" i="1">
                        <a:solidFill>
                          <a:schemeClr val="tx1"/>
                        </a:solidFill>
                        <a:latin typeface="Cambria Math" panose="02040503050406030204" pitchFamily="18" charset="0"/>
                        <a:ea typeface="Cambria Math" panose="02040503050406030204" pitchFamily="18" charset="0"/>
                      </a:rPr>
                      <m:t>∧</m:t>
                    </m:r>
                    <m:r>
                      <a:rPr lang="en-US" sz="2000" b="1" i="0" smtClean="0">
                        <a:solidFill>
                          <a:schemeClr val="tx1"/>
                        </a:solidFill>
                        <a:latin typeface="Cambria Math" panose="02040503050406030204" pitchFamily="18" charset="0"/>
                        <a:ea typeface="Cambria Math" panose="02040503050406030204" pitchFamily="18" charset="0"/>
                      </a:rPr>
                      <m:t>𝐪</m:t>
                    </m:r>
                    <m:r>
                      <a:rPr lang="en-US" sz="2000" b="1" i="0" smtClean="0">
                        <a:solidFill>
                          <a:schemeClr val="tx1"/>
                        </a:solidFill>
                        <a:latin typeface="Cambria Math" panose="02040503050406030204" pitchFamily="18" charset="0"/>
                        <a:ea typeface="Cambria Math" panose="02040503050406030204" pitchFamily="18" charset="0"/>
                      </a:rPr>
                      <m:t>)</m:t>
                    </m:r>
                  </m:oMath>
                </a14:m>
                <a:endParaRPr lang="en-US" sz="2000" b="1" dirty="0">
                  <a:solidFill>
                    <a:schemeClr val="tx1"/>
                  </a:solidFill>
                  <a:ea typeface="Cambria Math" panose="02040503050406030204" pitchFamily="18" charset="0"/>
                </a:endParaRPr>
              </a:p>
              <a:p>
                <a:pPr algn="ctr"/>
                <a:r>
                  <a:rPr lang="en-US" sz="2000" b="1" dirty="0"/>
                  <a:t>P </a:t>
                </a:r>
                <a:r>
                  <a:rPr lang="en-US" sz="2000" dirty="0"/>
                  <a:t>⊕ q </a:t>
                </a:r>
                <a14:m>
                  <m:oMath xmlns:m="http://schemas.openxmlformats.org/officeDocument/2006/math">
                    <m:r>
                      <a:rPr lang="en-US" sz="2000" i="1">
                        <a:latin typeface="Cambria Math" panose="02040503050406030204" pitchFamily="18" charset="0"/>
                        <a:ea typeface="Cambria Math" panose="02040503050406030204" pitchFamily="18" charset="0"/>
                      </a:rPr>
                      <m:t>≡</m:t>
                    </m:r>
                  </m:oMath>
                </a14:m>
                <a:r>
                  <a:rPr lang="en-US" sz="2000" b="1" dirty="0"/>
                  <a:t> </a:t>
                </a:r>
                <a14:m>
                  <m:oMath xmlns:m="http://schemas.openxmlformats.org/officeDocument/2006/math">
                    <m:r>
                      <a:rPr lang="en-US" sz="2000" i="1">
                        <a:latin typeface="Cambria Math" panose="02040503050406030204" pitchFamily="18" charset="0"/>
                        <a:ea typeface="Cambria Math" panose="02040503050406030204" pitchFamily="18" charset="0"/>
                      </a:rPr>
                      <m:t>¬</m:t>
                    </m:r>
                  </m:oMath>
                </a14:m>
                <a:r>
                  <a:rPr lang="en-US" sz="2000" b="1" dirty="0"/>
                  <a:t>(p </a:t>
                </a:r>
                <a14:m>
                  <m:oMath xmlns:m="http://schemas.openxmlformats.org/officeDocument/2006/math">
                    <m:r>
                      <a:rPr lang="en-US" sz="2000" i="1">
                        <a:latin typeface="Cambria Math" panose="02040503050406030204" pitchFamily="18" charset="0"/>
                        <a:ea typeface="Cambria Math" panose="02040503050406030204" pitchFamily="18" charset="0"/>
                      </a:rPr>
                      <m:t>∧</m:t>
                    </m:r>
                  </m:oMath>
                </a14:m>
                <a:r>
                  <a:rPr lang="en-US" sz="2000" b="1" dirty="0"/>
                  <a:t>q) </a:t>
                </a:r>
                <a14:m>
                  <m:oMath xmlns:m="http://schemas.openxmlformats.org/officeDocument/2006/math">
                    <m:r>
                      <a:rPr lang="en-US" sz="2000" i="1">
                        <a:latin typeface="Cambria Math" panose="02040503050406030204" pitchFamily="18" charset="0"/>
                        <a:ea typeface="Cambria Math" panose="02040503050406030204" pitchFamily="18" charset="0"/>
                      </a:rPr>
                      <m:t>∧ </m:t>
                    </m:r>
                  </m:oMath>
                </a14:m>
                <a:r>
                  <a:rPr lang="en-US" sz="2000" b="1" dirty="0"/>
                  <a:t>(</a:t>
                </a:r>
                <a14:m>
                  <m:oMath xmlns:m="http://schemas.openxmlformats.org/officeDocument/2006/math">
                    <m:r>
                      <m:rPr>
                        <m:sty m:val="p"/>
                      </m:rPr>
                      <a:rPr lang="en-US" sz="2000" i="1" dirty="0" smtClean="0">
                        <a:latin typeface="Cambria Math" panose="02040503050406030204" pitchFamily="18" charset="0"/>
                        <a:ea typeface="Cambria Math" panose="02040503050406030204" pitchFamily="18" charset="0"/>
                      </a:rPr>
                      <m:t>p</m:t>
                    </m:r>
                    <m:r>
                      <a:rPr lang="en-US" sz="2000" i="1" smtClean="0">
                        <a:solidFill>
                          <a:schemeClr val="dk1"/>
                        </a:solidFill>
                        <a:latin typeface="Cambria Math" panose="02040503050406030204" pitchFamily="18" charset="0"/>
                        <a:ea typeface="Cambria Math" panose="02040503050406030204" pitchFamily="18" charset="0"/>
                      </a:rPr>
                      <m:t>∨</m:t>
                    </m:r>
                    <m:r>
                      <a:rPr lang="en-US" sz="2000" b="1" smtClean="0">
                        <a:latin typeface="Cambria Math" panose="02040503050406030204" pitchFamily="18" charset="0"/>
                        <a:ea typeface="Cambria Math" panose="02040503050406030204" pitchFamily="18" charset="0"/>
                      </a:rPr>
                      <m:t>𝐪</m:t>
                    </m:r>
                    <m:r>
                      <a:rPr lang="en-US" sz="2000" b="1" smtClean="0">
                        <a:latin typeface="Cambria Math" panose="02040503050406030204" pitchFamily="18" charset="0"/>
                        <a:ea typeface="Cambria Math" panose="02040503050406030204" pitchFamily="18" charset="0"/>
                      </a:rPr>
                      <m:t>)</m:t>
                    </m:r>
                  </m:oMath>
                </a14:m>
                <a:endParaRPr lang="en-US" sz="2000" b="1" dirty="0">
                  <a:ea typeface="Cambria Math" panose="02040503050406030204" pitchFamily="18" charset="0"/>
                </a:endParaRPr>
              </a:p>
            </p:txBody>
          </p:sp>
        </mc:Choice>
        <mc:Fallback xmlns="">
          <p:sp>
            <p:nvSpPr>
              <p:cNvPr id="10" name="Rectangle 9">
                <a:extLst>
                  <a:ext uri="{FF2B5EF4-FFF2-40B4-BE49-F238E27FC236}">
                    <a16:creationId xmlns:a16="http://schemas.microsoft.com/office/drawing/2014/main" id="{B01CB068-D704-8CA2-3FCC-08EA4164C620}"/>
                  </a:ext>
                </a:extLst>
              </p:cNvPr>
              <p:cNvSpPr>
                <a:spLocks noRot="1" noChangeAspect="1" noMove="1" noResize="1" noEditPoints="1" noAdjustHandles="1" noChangeArrowheads="1" noChangeShapeType="1" noTextEdit="1"/>
              </p:cNvSpPr>
              <p:nvPr/>
            </p:nvSpPr>
            <p:spPr>
              <a:xfrm>
                <a:off x="1981200" y="1783810"/>
                <a:ext cx="4038600" cy="707886"/>
              </a:xfrm>
              <a:prstGeom prst="rect">
                <a:avLst/>
              </a:prstGeom>
              <a:blipFill>
                <a:blip r:embed="rId2"/>
                <a:stretch>
                  <a:fillRect t="-5932" b="-13559"/>
                </a:stretch>
              </a:blipFill>
              <a:ln>
                <a:solidFill>
                  <a:schemeClr val="tx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7" name="Table 6">
                <a:extLst>
                  <a:ext uri="{FF2B5EF4-FFF2-40B4-BE49-F238E27FC236}">
                    <a16:creationId xmlns:a16="http://schemas.microsoft.com/office/drawing/2014/main" id="{27255F49-7AAB-0C18-49AA-5A8E7E38A2D7}"/>
                  </a:ext>
                </a:extLst>
              </p:cNvPr>
              <p:cNvGraphicFramePr>
                <a:graphicFrameLocks noGrp="1"/>
              </p:cNvGraphicFramePr>
              <p:nvPr>
                <p:extLst>
                  <p:ext uri="{D42A27DB-BD31-4B8C-83A1-F6EECF244321}">
                    <p14:modId xmlns:p14="http://schemas.microsoft.com/office/powerpoint/2010/main" val="1029168177"/>
                  </p:ext>
                </p:extLst>
              </p:nvPr>
            </p:nvGraphicFramePr>
            <p:xfrm>
              <a:off x="533400" y="2895600"/>
              <a:ext cx="7924802" cy="2209800"/>
            </p:xfrm>
            <a:graphic>
              <a:graphicData uri="http://schemas.openxmlformats.org/drawingml/2006/table">
                <a:tbl>
                  <a:tblPr firstRow="1" bandRow="1">
                    <a:tableStyleId>{616DA210-FB5B-4158-B5E0-FEB733F419BA}</a:tableStyleId>
                  </a:tblPr>
                  <a:tblGrid>
                    <a:gridCol w="266392">
                      <a:extLst>
                        <a:ext uri="{9D8B030D-6E8A-4147-A177-3AD203B41FA5}">
                          <a16:colId xmlns:a16="http://schemas.microsoft.com/office/drawing/2014/main" val="2489318233"/>
                        </a:ext>
                      </a:extLst>
                    </a:gridCol>
                    <a:gridCol w="223031">
                      <a:extLst>
                        <a:ext uri="{9D8B030D-6E8A-4147-A177-3AD203B41FA5}">
                          <a16:colId xmlns:a16="http://schemas.microsoft.com/office/drawing/2014/main" val="3826147249"/>
                        </a:ext>
                      </a:extLst>
                    </a:gridCol>
                    <a:gridCol w="501177">
                      <a:extLst>
                        <a:ext uri="{9D8B030D-6E8A-4147-A177-3AD203B41FA5}">
                          <a16:colId xmlns:a16="http://schemas.microsoft.com/office/drawing/2014/main" val="2528927752"/>
                        </a:ext>
                      </a:extLst>
                    </a:gridCol>
                    <a:gridCol w="533400">
                      <a:extLst>
                        <a:ext uri="{9D8B030D-6E8A-4147-A177-3AD203B41FA5}">
                          <a16:colId xmlns:a16="http://schemas.microsoft.com/office/drawing/2014/main" val="3342851661"/>
                        </a:ext>
                      </a:extLst>
                    </a:gridCol>
                    <a:gridCol w="838200">
                      <a:extLst>
                        <a:ext uri="{9D8B030D-6E8A-4147-A177-3AD203B41FA5}">
                          <a16:colId xmlns:a16="http://schemas.microsoft.com/office/drawing/2014/main" val="1463177068"/>
                        </a:ext>
                      </a:extLst>
                    </a:gridCol>
                    <a:gridCol w="1066800">
                      <a:extLst>
                        <a:ext uri="{9D8B030D-6E8A-4147-A177-3AD203B41FA5}">
                          <a16:colId xmlns:a16="http://schemas.microsoft.com/office/drawing/2014/main" val="1257169717"/>
                        </a:ext>
                      </a:extLst>
                    </a:gridCol>
                    <a:gridCol w="1066800">
                      <a:extLst>
                        <a:ext uri="{9D8B030D-6E8A-4147-A177-3AD203B41FA5}">
                          <a16:colId xmlns:a16="http://schemas.microsoft.com/office/drawing/2014/main" val="2276254231"/>
                        </a:ext>
                      </a:extLst>
                    </a:gridCol>
                    <a:gridCol w="2133600">
                      <a:extLst>
                        <a:ext uri="{9D8B030D-6E8A-4147-A177-3AD203B41FA5}">
                          <a16:colId xmlns:a16="http://schemas.microsoft.com/office/drawing/2014/main" val="2726608731"/>
                        </a:ext>
                      </a:extLst>
                    </a:gridCol>
                    <a:gridCol w="1295402">
                      <a:extLst>
                        <a:ext uri="{9D8B030D-6E8A-4147-A177-3AD203B41FA5}">
                          <a16:colId xmlns:a16="http://schemas.microsoft.com/office/drawing/2014/main" val="3651116594"/>
                        </a:ext>
                      </a:extLst>
                    </a:gridCol>
                  </a:tblGrid>
                  <a:tr h="672548">
                    <a:tc>
                      <a:txBody>
                        <a:bodyPr/>
                        <a:lstStyle/>
                        <a:p>
                          <a:r>
                            <a:rPr lang="en-US" dirty="0"/>
                            <a:t>p</a:t>
                          </a:r>
                        </a:p>
                      </a:txBody>
                      <a:tcPr/>
                    </a:tc>
                    <a:tc>
                      <a:txBody>
                        <a:bodyPr/>
                        <a:lstStyle/>
                        <a:p>
                          <a:r>
                            <a:rPr lang="en-US" dirty="0"/>
                            <a:t>q</a:t>
                          </a:r>
                        </a:p>
                      </a:txBody>
                      <a:tcPr/>
                    </a:tc>
                    <a:tc>
                      <a:txBody>
                        <a:bodyPr/>
                        <a:lstStyle/>
                        <a:p>
                          <a14:m>
                            <m:oMath xmlns:m="http://schemas.openxmlformats.org/officeDocument/2006/math">
                              <m:r>
                                <a:rPr lang="en-US" sz="1800" i="1" smtClean="0">
                                  <a:solidFill>
                                    <a:schemeClr val="tx1"/>
                                  </a:solidFill>
                                  <a:latin typeface="Cambria Math" panose="02040503050406030204" pitchFamily="18" charset="0"/>
                                  <a:ea typeface="Cambria Math" panose="02040503050406030204" pitchFamily="18" charset="0"/>
                                </a:rPr>
                                <m:t>¬</m:t>
                              </m:r>
                            </m:oMath>
                          </a14:m>
                          <a:r>
                            <a:rPr lang="en-US" dirty="0"/>
                            <a:t>p</a:t>
                          </a:r>
                        </a:p>
                      </a:txBody>
                      <a:tcPr/>
                    </a:tc>
                    <a:tc>
                      <a:txBody>
                        <a:bodyPr/>
                        <a:lstStyle/>
                        <a:p>
                          <a14:m>
                            <m:oMath xmlns:m="http://schemas.openxmlformats.org/officeDocument/2006/math">
                              <m:r>
                                <a:rPr lang="en-US" sz="1800" i="1" smtClean="0">
                                  <a:solidFill>
                                    <a:schemeClr val="tx1"/>
                                  </a:solidFill>
                                  <a:latin typeface="Cambria Math" panose="02040503050406030204" pitchFamily="18" charset="0"/>
                                  <a:ea typeface="Cambria Math" panose="02040503050406030204" pitchFamily="18" charset="0"/>
                                </a:rPr>
                                <m:t>¬</m:t>
                              </m:r>
                            </m:oMath>
                          </a14:m>
                          <a:r>
                            <a:rPr lang="en-US" dirty="0"/>
                            <a:t>q</a:t>
                          </a:r>
                        </a:p>
                      </a:txBody>
                      <a:tcPr/>
                    </a:tc>
                    <a:tc>
                      <a:txBody>
                        <a:bodyPr/>
                        <a:lstStyle/>
                        <a:p>
                          <a:r>
                            <a:rPr lang="en-US" sz="1800" b="1" dirty="0">
                              <a:solidFill>
                                <a:schemeClr val="tx1"/>
                              </a:solidFill>
                            </a:rPr>
                            <a:t>p </a:t>
                          </a:r>
                          <a14:m>
                            <m:oMath xmlns:m="http://schemas.openxmlformats.org/officeDocument/2006/math">
                              <m:r>
                                <a:rPr lang="en-US" sz="1800" i="1">
                                  <a:solidFill>
                                    <a:schemeClr val="tx1"/>
                                  </a:solidFill>
                                  <a:latin typeface="Cambria Math" panose="02040503050406030204" pitchFamily="18" charset="0"/>
                                  <a:ea typeface="Cambria Math" panose="02040503050406030204" pitchFamily="18" charset="0"/>
                                </a:rPr>
                                <m:t>∧¬</m:t>
                              </m:r>
                            </m:oMath>
                          </a14:m>
                          <a:r>
                            <a:rPr lang="en-US" sz="1800" b="1" dirty="0">
                              <a:solidFill>
                                <a:schemeClr val="tx1"/>
                              </a:solidFill>
                            </a:rPr>
                            <a:t>q</a:t>
                          </a:r>
                          <a:endParaRPr lang="en-US" dirty="0"/>
                        </a:p>
                      </a:txBody>
                      <a:tcPr/>
                    </a:tc>
                    <a:tc>
                      <a:txBody>
                        <a:bodyPr/>
                        <a:lstStyle/>
                        <a:p>
                          <a:r>
                            <a:rPr lang="en-US" sz="1800" b="1" dirty="0">
                              <a:solidFill>
                                <a:schemeClr val="tx1"/>
                              </a:solidFill>
                            </a:rPr>
                            <a:t>(</a:t>
                          </a:r>
                          <a14:m>
                            <m:oMath xmlns:m="http://schemas.openxmlformats.org/officeDocument/2006/math">
                              <m:r>
                                <m:rPr>
                                  <m:sty m:val="p"/>
                                </m:rPr>
                                <a:rPr lang="en-US" sz="1800" b="1" i="1" smtClean="0">
                                  <a:solidFill>
                                    <a:schemeClr val="tx1"/>
                                  </a:solidFill>
                                  <a:latin typeface="Cambria Math" panose="02040503050406030204" pitchFamily="18" charset="0"/>
                                  <a:ea typeface="Cambria Math" panose="02040503050406030204" pitchFamily="18" charset="0"/>
                                </a:rPr>
                                <m:t>p</m:t>
                              </m:r>
                              <m:r>
                                <a:rPr lang="en-US" sz="1800" b="1" i="0" smtClean="0">
                                  <a:solidFill>
                                    <a:schemeClr val="tx1"/>
                                  </a:solidFill>
                                  <a:latin typeface="Cambria Math" panose="02040503050406030204" pitchFamily="18" charset="0"/>
                                  <a:ea typeface="Cambria Math" panose="02040503050406030204" pitchFamily="18" charset="0"/>
                                </a:rPr>
                                <m:t> </m:t>
                              </m:r>
                              <m:r>
                                <a:rPr lang="en-US" sz="1800" i="1">
                                  <a:solidFill>
                                    <a:schemeClr val="tx1"/>
                                  </a:solidFill>
                                  <a:latin typeface="Cambria Math" panose="02040503050406030204" pitchFamily="18" charset="0"/>
                                  <a:ea typeface="Cambria Math" panose="02040503050406030204" pitchFamily="18" charset="0"/>
                                </a:rPr>
                                <m:t>∧</m:t>
                              </m:r>
                              <m:r>
                                <a:rPr lang="en-US" sz="1800" i="1" smtClean="0">
                                  <a:solidFill>
                                    <a:schemeClr val="tx1"/>
                                  </a:solidFill>
                                  <a:latin typeface="Cambria Math" panose="02040503050406030204" pitchFamily="18" charset="0"/>
                                  <a:ea typeface="Cambria Math" panose="02040503050406030204" pitchFamily="18" charset="0"/>
                                </a:rPr>
                                <m:t>¬</m:t>
                              </m:r>
                              <m:r>
                                <a:rPr lang="en-US" sz="1800" b="1" i="0" smtClean="0">
                                  <a:solidFill>
                                    <a:schemeClr val="tx1"/>
                                  </a:solidFill>
                                  <a:latin typeface="Cambria Math" panose="02040503050406030204" pitchFamily="18" charset="0"/>
                                  <a:ea typeface="Cambria Math" panose="02040503050406030204" pitchFamily="18" charset="0"/>
                                </a:rPr>
                                <m:t>𝐪</m:t>
                              </m:r>
                            </m:oMath>
                          </a14:m>
                          <a:r>
                            <a:rPr lang="en-US" dirty="0"/>
                            <a: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dirty="0">
                              <a:solidFill>
                                <a:schemeClr val="tx1"/>
                              </a:solidFill>
                            </a:rPr>
                            <a:t>(</a:t>
                          </a:r>
                          <a14:m>
                            <m:oMath xmlns:m="http://schemas.openxmlformats.org/officeDocument/2006/math">
                              <m:r>
                                <a:rPr lang="en-US" sz="1800" i="1">
                                  <a:solidFill>
                                    <a:schemeClr val="tx1"/>
                                  </a:solidFill>
                                  <a:latin typeface="Cambria Math" panose="02040503050406030204" pitchFamily="18" charset="0"/>
                                  <a:ea typeface="Cambria Math" panose="02040503050406030204" pitchFamily="18" charset="0"/>
                                </a:rPr>
                                <m:t>¬</m:t>
                              </m:r>
                            </m:oMath>
                          </a14:m>
                          <a:r>
                            <a:rPr lang="en-US" sz="1800" b="1" dirty="0">
                              <a:solidFill>
                                <a:schemeClr val="tx1"/>
                              </a:solidFill>
                            </a:rPr>
                            <a:t>p</a:t>
                          </a:r>
                          <a14:m>
                            <m:oMath xmlns:m="http://schemas.openxmlformats.org/officeDocument/2006/math">
                              <m:r>
                                <a:rPr lang="en-US" sz="1800" b="1" i="0" smtClean="0">
                                  <a:solidFill>
                                    <a:schemeClr val="tx1"/>
                                  </a:solidFill>
                                  <a:latin typeface="Cambria Math" panose="02040503050406030204" pitchFamily="18" charset="0"/>
                                  <a:ea typeface="Cambria Math" panose="02040503050406030204" pitchFamily="18" charset="0"/>
                                </a:rPr>
                                <m:t> </m:t>
                              </m:r>
                              <m:r>
                                <a:rPr lang="en-US" sz="1800" i="1">
                                  <a:solidFill>
                                    <a:schemeClr val="tx1"/>
                                  </a:solidFill>
                                  <a:latin typeface="Cambria Math" panose="02040503050406030204" pitchFamily="18" charset="0"/>
                                  <a:ea typeface="Cambria Math" panose="02040503050406030204" pitchFamily="18" charset="0"/>
                                </a:rPr>
                                <m:t>∧</m:t>
                              </m:r>
                              <m:r>
                                <a:rPr lang="en-US" sz="1800" b="1" i="0" smtClean="0">
                                  <a:solidFill>
                                    <a:schemeClr val="tx1"/>
                                  </a:solidFill>
                                  <a:latin typeface="Cambria Math" panose="02040503050406030204" pitchFamily="18" charset="0"/>
                                  <a:ea typeface="Cambria Math" panose="02040503050406030204" pitchFamily="18" charset="0"/>
                                </a:rPr>
                                <m:t>𝐪</m:t>
                              </m:r>
                              <m:r>
                                <a:rPr lang="en-US" sz="1800" b="1" i="0" smtClean="0">
                                  <a:solidFill>
                                    <a:schemeClr val="tx1"/>
                                  </a:solidFill>
                                  <a:latin typeface="Cambria Math" panose="02040503050406030204" pitchFamily="18" charset="0"/>
                                  <a:ea typeface="Cambria Math" panose="02040503050406030204" pitchFamily="18" charset="0"/>
                                </a:rPr>
                                <m:t>)</m:t>
                              </m:r>
                            </m:oMath>
                          </a14:m>
                          <a:endParaRPr lang="en-US" sz="1800" b="1" dirty="0">
                            <a:solidFill>
                              <a:schemeClr val="tx1"/>
                            </a:solidFill>
                            <a:ea typeface="Cambria Math" panose="020405030504060302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dirty="0">
                              <a:solidFill>
                                <a:schemeClr val="tx1"/>
                              </a:solidFill>
                            </a:rPr>
                            <a:t>(p </a:t>
                          </a:r>
                          <a14:m>
                            <m:oMath xmlns:m="http://schemas.openxmlformats.org/officeDocument/2006/math">
                              <m:r>
                                <a:rPr lang="en-US" sz="1800" i="1">
                                  <a:solidFill>
                                    <a:schemeClr val="tx1"/>
                                  </a:solidFill>
                                  <a:latin typeface="Cambria Math" panose="02040503050406030204" pitchFamily="18" charset="0"/>
                                  <a:ea typeface="Cambria Math" panose="02040503050406030204" pitchFamily="18" charset="0"/>
                                </a:rPr>
                                <m:t>∧¬</m:t>
                              </m:r>
                            </m:oMath>
                          </a14:m>
                          <a:r>
                            <a:rPr lang="en-US" sz="1800" b="1" dirty="0">
                              <a:solidFill>
                                <a:schemeClr val="tx1"/>
                              </a:solidFill>
                            </a:rPr>
                            <a:t>q) </a:t>
                          </a:r>
                          <a14:m>
                            <m:oMath xmlns:m="http://schemas.openxmlformats.org/officeDocument/2006/math">
                              <m:r>
                                <a:rPr lang="en-US" sz="1800" i="1">
                                  <a:solidFill>
                                    <a:schemeClr val="tx1"/>
                                  </a:solidFill>
                                  <a:latin typeface="Cambria Math" panose="02040503050406030204" pitchFamily="18" charset="0"/>
                                  <a:ea typeface="Cambria Math" panose="02040503050406030204" pitchFamily="18" charset="0"/>
                                </a:rPr>
                                <m:t>∨</m:t>
                              </m:r>
                              <m:r>
                                <a:rPr lang="en-US" sz="1800" b="0" i="1" smtClean="0">
                                  <a:solidFill>
                                    <a:schemeClr val="tx1"/>
                                  </a:solidFill>
                                  <a:latin typeface="Cambria Math" panose="02040503050406030204" pitchFamily="18" charset="0"/>
                                  <a:ea typeface="Cambria Math" panose="02040503050406030204" pitchFamily="18" charset="0"/>
                                </a:rPr>
                                <m:t> </m:t>
                              </m:r>
                            </m:oMath>
                          </a14:m>
                          <a:r>
                            <a:rPr lang="en-US" sz="1800" b="1" dirty="0">
                              <a:solidFill>
                                <a:schemeClr val="tx1"/>
                              </a:solidFill>
                            </a:rPr>
                            <a:t>(</a:t>
                          </a:r>
                          <a14:m>
                            <m:oMath xmlns:m="http://schemas.openxmlformats.org/officeDocument/2006/math">
                              <m:r>
                                <a:rPr lang="en-US" sz="1800" i="1">
                                  <a:solidFill>
                                    <a:schemeClr val="tx1"/>
                                  </a:solidFill>
                                  <a:latin typeface="Cambria Math" panose="02040503050406030204" pitchFamily="18" charset="0"/>
                                  <a:ea typeface="Cambria Math" panose="02040503050406030204" pitchFamily="18" charset="0"/>
                                </a:rPr>
                                <m:t>¬</m:t>
                              </m:r>
                            </m:oMath>
                          </a14:m>
                          <a:r>
                            <a:rPr lang="en-US" sz="1800" b="1" dirty="0">
                              <a:solidFill>
                                <a:schemeClr val="tx1"/>
                              </a:solidFill>
                            </a:rPr>
                            <a:t>p</a:t>
                          </a:r>
                          <a14:m>
                            <m:oMath xmlns:m="http://schemas.openxmlformats.org/officeDocument/2006/math">
                              <m:r>
                                <a:rPr lang="en-US" sz="1800" b="1" i="0" smtClean="0">
                                  <a:solidFill>
                                    <a:schemeClr val="tx1"/>
                                  </a:solidFill>
                                  <a:latin typeface="Cambria Math" panose="02040503050406030204" pitchFamily="18" charset="0"/>
                                  <a:ea typeface="Cambria Math" panose="02040503050406030204" pitchFamily="18" charset="0"/>
                                </a:rPr>
                                <m:t> </m:t>
                              </m:r>
                              <m:r>
                                <a:rPr lang="en-US" sz="1800" i="1">
                                  <a:solidFill>
                                    <a:schemeClr val="tx1"/>
                                  </a:solidFill>
                                  <a:latin typeface="Cambria Math" panose="02040503050406030204" pitchFamily="18" charset="0"/>
                                  <a:ea typeface="Cambria Math" panose="02040503050406030204" pitchFamily="18" charset="0"/>
                                </a:rPr>
                                <m:t>∧</m:t>
                              </m:r>
                              <m:r>
                                <a:rPr lang="en-US" sz="1800" b="1" i="0" smtClean="0">
                                  <a:solidFill>
                                    <a:schemeClr val="tx1"/>
                                  </a:solidFill>
                                  <a:latin typeface="Cambria Math" panose="02040503050406030204" pitchFamily="18" charset="0"/>
                                  <a:ea typeface="Cambria Math" panose="02040503050406030204" pitchFamily="18" charset="0"/>
                                </a:rPr>
                                <m:t>𝐪</m:t>
                              </m:r>
                              <m:r>
                                <a:rPr lang="en-US" sz="1800" b="1" i="0" smtClean="0">
                                  <a:solidFill>
                                    <a:schemeClr val="tx1"/>
                                  </a:solidFill>
                                  <a:latin typeface="Cambria Math" panose="02040503050406030204" pitchFamily="18" charset="0"/>
                                  <a:ea typeface="Cambria Math" panose="02040503050406030204" pitchFamily="18" charset="0"/>
                                </a:rPr>
                                <m:t>)</m:t>
                              </m:r>
                            </m:oMath>
                          </a14:m>
                          <a:endParaRPr lang="en-US" sz="1800" b="1" dirty="0">
                            <a:solidFill>
                              <a:schemeClr val="tx1"/>
                            </a:solidFill>
                            <a:ea typeface="Cambria Math" panose="020405030504060302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800" b="1" dirty="0">
                            <a:solidFill>
                              <a:schemeClr val="tx1"/>
                            </a:solidFill>
                            <a:ea typeface="Cambria Math" panose="020405030504060302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dirty="0"/>
                            <a:t>p </a:t>
                          </a:r>
                          <a:r>
                            <a:rPr lang="en-US" sz="1800" dirty="0"/>
                            <a:t>⊕ q </a:t>
                          </a:r>
                          <a:endParaRPr lang="en-US" sz="1800" b="1" dirty="0">
                            <a:solidFill>
                              <a:schemeClr val="tx1"/>
                            </a:solidFill>
                            <a:ea typeface="Cambria Math" panose="02040503050406030204" pitchFamily="18" charset="0"/>
                          </a:endParaRPr>
                        </a:p>
                      </a:txBody>
                      <a:tcPr/>
                    </a:tc>
                    <a:extLst>
                      <a:ext uri="{0D108BD9-81ED-4DB2-BD59-A6C34878D82A}">
                        <a16:rowId xmlns:a16="http://schemas.microsoft.com/office/drawing/2014/main" val="3928781947"/>
                      </a:ext>
                    </a:extLst>
                  </a:tr>
                  <a:tr h="384313">
                    <a:tc>
                      <a:txBody>
                        <a:bodyPr/>
                        <a:lstStyle/>
                        <a:p>
                          <a:r>
                            <a:rPr lang="en-US" dirty="0"/>
                            <a:t>T</a:t>
                          </a:r>
                        </a:p>
                      </a:txBody>
                      <a:tcPr/>
                    </a:tc>
                    <a:tc>
                      <a:txBody>
                        <a:bodyPr/>
                        <a:lstStyle/>
                        <a:p>
                          <a:r>
                            <a:rPr lang="en-US" dirty="0"/>
                            <a:t>T</a:t>
                          </a:r>
                        </a:p>
                      </a:txBody>
                      <a:tcPr/>
                    </a:tc>
                    <a:tc>
                      <a:txBody>
                        <a:bodyPr/>
                        <a:lstStyle/>
                        <a:p>
                          <a:r>
                            <a:rPr lang="en-US" dirty="0"/>
                            <a:t>F</a:t>
                          </a:r>
                        </a:p>
                      </a:txBody>
                      <a:tcPr/>
                    </a:tc>
                    <a:tc>
                      <a:txBody>
                        <a:bodyPr/>
                        <a:lstStyle/>
                        <a:p>
                          <a:r>
                            <a:rPr lang="en-US" dirty="0"/>
                            <a:t>F</a:t>
                          </a:r>
                        </a:p>
                      </a:txBody>
                      <a:tcPr/>
                    </a:tc>
                    <a:tc>
                      <a:txBody>
                        <a:bodyPr/>
                        <a:lstStyle/>
                        <a:p>
                          <a:r>
                            <a:rPr lang="en-US" dirty="0"/>
                            <a:t>F</a:t>
                          </a:r>
                        </a:p>
                      </a:txBody>
                      <a:tcPr/>
                    </a:tc>
                    <a:tc>
                      <a:txBody>
                        <a:bodyPr/>
                        <a:lstStyle/>
                        <a:p>
                          <a:r>
                            <a:rPr lang="en-US" dirty="0"/>
                            <a:t>F</a:t>
                          </a:r>
                        </a:p>
                      </a:txBody>
                      <a:tcPr/>
                    </a:tc>
                    <a:tc>
                      <a:txBody>
                        <a:bodyPr/>
                        <a:lstStyle/>
                        <a:p>
                          <a:r>
                            <a:rPr lang="en-US" dirty="0"/>
                            <a:t>F</a:t>
                          </a:r>
                        </a:p>
                      </a:txBody>
                      <a:tcPr/>
                    </a:tc>
                    <a:tc>
                      <a:txBody>
                        <a:bodyPr/>
                        <a:lstStyle/>
                        <a:p>
                          <a:r>
                            <a:rPr lang="en-US" dirty="0"/>
                            <a:t>F</a:t>
                          </a:r>
                        </a:p>
                      </a:txBody>
                      <a:tcPr/>
                    </a:tc>
                    <a:tc>
                      <a:txBody>
                        <a:bodyPr/>
                        <a:lstStyle/>
                        <a:p>
                          <a:r>
                            <a:rPr lang="en-US" dirty="0"/>
                            <a:t>F</a:t>
                          </a:r>
                        </a:p>
                      </a:txBody>
                      <a:tcPr/>
                    </a:tc>
                    <a:extLst>
                      <a:ext uri="{0D108BD9-81ED-4DB2-BD59-A6C34878D82A}">
                        <a16:rowId xmlns:a16="http://schemas.microsoft.com/office/drawing/2014/main" val="4094501097"/>
                      </a:ext>
                    </a:extLst>
                  </a:tr>
                  <a:tr h="384313">
                    <a:tc>
                      <a:txBody>
                        <a:bodyPr/>
                        <a:lstStyle/>
                        <a:p>
                          <a:r>
                            <a:rPr lang="en-US" dirty="0"/>
                            <a:t>T</a:t>
                          </a:r>
                        </a:p>
                      </a:txBody>
                      <a:tcPr/>
                    </a:tc>
                    <a:tc>
                      <a:txBody>
                        <a:bodyPr/>
                        <a:lstStyle/>
                        <a:p>
                          <a:r>
                            <a:rPr lang="en-US" dirty="0"/>
                            <a:t>F</a:t>
                          </a:r>
                        </a:p>
                      </a:txBody>
                      <a:tcPr/>
                    </a:tc>
                    <a:tc>
                      <a:txBody>
                        <a:bodyPr/>
                        <a:lstStyle/>
                        <a:p>
                          <a:r>
                            <a:rPr lang="en-US" dirty="0"/>
                            <a:t>F</a:t>
                          </a:r>
                        </a:p>
                      </a:txBody>
                      <a:tcPr/>
                    </a:tc>
                    <a:tc>
                      <a:txBody>
                        <a:bodyPr/>
                        <a:lstStyle/>
                        <a:p>
                          <a:r>
                            <a:rPr lang="en-US" dirty="0"/>
                            <a:t>T</a:t>
                          </a:r>
                        </a:p>
                      </a:txBody>
                      <a:tcPr/>
                    </a:tc>
                    <a:tc>
                      <a:txBody>
                        <a:bodyPr/>
                        <a:lstStyle/>
                        <a:p>
                          <a:r>
                            <a:rPr lang="en-US" dirty="0"/>
                            <a:t>T</a:t>
                          </a:r>
                        </a:p>
                      </a:txBody>
                      <a:tcPr/>
                    </a:tc>
                    <a:tc>
                      <a:txBody>
                        <a:bodyPr/>
                        <a:lstStyle/>
                        <a:p>
                          <a:r>
                            <a:rPr lang="en-US" dirty="0"/>
                            <a:t>T</a:t>
                          </a:r>
                        </a:p>
                      </a:txBody>
                      <a:tcPr/>
                    </a:tc>
                    <a:tc>
                      <a:txBody>
                        <a:bodyPr/>
                        <a:lstStyle/>
                        <a:p>
                          <a:r>
                            <a:rPr lang="en-US" dirty="0"/>
                            <a:t>F</a:t>
                          </a:r>
                        </a:p>
                      </a:txBody>
                      <a:tcPr/>
                    </a:tc>
                    <a:tc>
                      <a:txBody>
                        <a:bodyPr/>
                        <a:lstStyle/>
                        <a:p>
                          <a:r>
                            <a:rPr lang="en-US" dirty="0"/>
                            <a:t>T</a:t>
                          </a:r>
                        </a:p>
                      </a:txBody>
                      <a:tcPr/>
                    </a:tc>
                    <a:tc>
                      <a:txBody>
                        <a:bodyPr/>
                        <a:lstStyle/>
                        <a:p>
                          <a:r>
                            <a:rPr lang="en-US" dirty="0"/>
                            <a:t>T</a:t>
                          </a:r>
                        </a:p>
                      </a:txBody>
                      <a:tcPr/>
                    </a:tc>
                    <a:extLst>
                      <a:ext uri="{0D108BD9-81ED-4DB2-BD59-A6C34878D82A}">
                        <a16:rowId xmlns:a16="http://schemas.microsoft.com/office/drawing/2014/main" val="4237696026"/>
                      </a:ext>
                    </a:extLst>
                  </a:tr>
                  <a:tr h="384313">
                    <a:tc>
                      <a:txBody>
                        <a:bodyPr/>
                        <a:lstStyle/>
                        <a:p>
                          <a:r>
                            <a:rPr lang="en-US" dirty="0"/>
                            <a:t>F</a:t>
                          </a:r>
                        </a:p>
                      </a:txBody>
                      <a:tcPr/>
                    </a:tc>
                    <a:tc>
                      <a:txBody>
                        <a:bodyPr/>
                        <a:lstStyle/>
                        <a:p>
                          <a:r>
                            <a:rPr lang="en-US" dirty="0"/>
                            <a:t>T</a:t>
                          </a:r>
                        </a:p>
                      </a:txBody>
                      <a:tcPr/>
                    </a:tc>
                    <a:tc>
                      <a:txBody>
                        <a:bodyPr/>
                        <a:lstStyle/>
                        <a:p>
                          <a:r>
                            <a:rPr lang="en-US" dirty="0"/>
                            <a:t>T</a:t>
                          </a:r>
                        </a:p>
                      </a:txBody>
                      <a:tcPr/>
                    </a:tc>
                    <a:tc>
                      <a:txBody>
                        <a:bodyPr/>
                        <a:lstStyle/>
                        <a:p>
                          <a:r>
                            <a:rPr lang="en-US" dirty="0"/>
                            <a:t>F</a:t>
                          </a:r>
                        </a:p>
                      </a:txBody>
                      <a:tcPr/>
                    </a:tc>
                    <a:tc>
                      <a:txBody>
                        <a:bodyPr/>
                        <a:lstStyle/>
                        <a:p>
                          <a:r>
                            <a:rPr lang="en-US" dirty="0"/>
                            <a:t>F</a:t>
                          </a:r>
                        </a:p>
                      </a:txBody>
                      <a:tcPr/>
                    </a:tc>
                    <a:tc>
                      <a:txBody>
                        <a:bodyPr/>
                        <a:lstStyle/>
                        <a:p>
                          <a:r>
                            <a:rPr lang="en-US" dirty="0"/>
                            <a:t>F</a:t>
                          </a:r>
                        </a:p>
                      </a:txBody>
                      <a:tcPr/>
                    </a:tc>
                    <a:tc>
                      <a:txBody>
                        <a:bodyPr/>
                        <a:lstStyle/>
                        <a:p>
                          <a:r>
                            <a:rPr lang="en-US" dirty="0"/>
                            <a:t>T</a:t>
                          </a:r>
                        </a:p>
                      </a:txBody>
                      <a:tcPr/>
                    </a:tc>
                    <a:tc>
                      <a:txBody>
                        <a:bodyPr/>
                        <a:lstStyle/>
                        <a:p>
                          <a:r>
                            <a:rPr lang="en-US" dirty="0"/>
                            <a:t>T</a:t>
                          </a:r>
                        </a:p>
                      </a:txBody>
                      <a:tcPr/>
                    </a:tc>
                    <a:tc>
                      <a:txBody>
                        <a:bodyPr/>
                        <a:lstStyle/>
                        <a:p>
                          <a:r>
                            <a:rPr lang="en-US" dirty="0"/>
                            <a:t>T</a:t>
                          </a:r>
                        </a:p>
                      </a:txBody>
                      <a:tcPr/>
                    </a:tc>
                    <a:extLst>
                      <a:ext uri="{0D108BD9-81ED-4DB2-BD59-A6C34878D82A}">
                        <a16:rowId xmlns:a16="http://schemas.microsoft.com/office/drawing/2014/main" val="1593168791"/>
                      </a:ext>
                    </a:extLst>
                  </a:tr>
                  <a:tr h="384313">
                    <a:tc>
                      <a:txBody>
                        <a:bodyPr/>
                        <a:lstStyle/>
                        <a:p>
                          <a:r>
                            <a:rPr lang="en-US" dirty="0"/>
                            <a:t>F</a:t>
                          </a:r>
                        </a:p>
                      </a:txBody>
                      <a:tcPr/>
                    </a:tc>
                    <a:tc>
                      <a:txBody>
                        <a:bodyPr/>
                        <a:lstStyle/>
                        <a:p>
                          <a:r>
                            <a:rPr lang="en-US" dirty="0"/>
                            <a:t>F</a:t>
                          </a:r>
                        </a:p>
                      </a:txBody>
                      <a:tcPr/>
                    </a:tc>
                    <a:tc>
                      <a:txBody>
                        <a:bodyPr/>
                        <a:lstStyle/>
                        <a:p>
                          <a:r>
                            <a:rPr lang="en-US" dirty="0"/>
                            <a:t>T</a:t>
                          </a:r>
                        </a:p>
                      </a:txBody>
                      <a:tcPr/>
                    </a:tc>
                    <a:tc>
                      <a:txBody>
                        <a:bodyPr/>
                        <a:lstStyle/>
                        <a:p>
                          <a:r>
                            <a:rPr lang="en-US" dirty="0"/>
                            <a:t>T</a:t>
                          </a:r>
                        </a:p>
                      </a:txBody>
                      <a:tcPr/>
                    </a:tc>
                    <a:tc>
                      <a:txBody>
                        <a:bodyPr/>
                        <a:lstStyle/>
                        <a:p>
                          <a:r>
                            <a:rPr lang="en-US" dirty="0"/>
                            <a:t>F</a:t>
                          </a:r>
                        </a:p>
                      </a:txBody>
                      <a:tcPr/>
                    </a:tc>
                    <a:tc>
                      <a:txBody>
                        <a:bodyPr/>
                        <a:lstStyle/>
                        <a:p>
                          <a:r>
                            <a:rPr lang="en-US" dirty="0"/>
                            <a:t>F</a:t>
                          </a:r>
                        </a:p>
                      </a:txBody>
                      <a:tcPr/>
                    </a:tc>
                    <a:tc>
                      <a:txBody>
                        <a:bodyPr/>
                        <a:lstStyle/>
                        <a:p>
                          <a:r>
                            <a:rPr lang="en-US" dirty="0"/>
                            <a:t>F</a:t>
                          </a:r>
                        </a:p>
                      </a:txBody>
                      <a:tcPr/>
                    </a:tc>
                    <a:tc>
                      <a:txBody>
                        <a:bodyPr/>
                        <a:lstStyle/>
                        <a:p>
                          <a:r>
                            <a:rPr lang="en-US" dirty="0"/>
                            <a:t>F</a:t>
                          </a:r>
                        </a:p>
                      </a:txBody>
                      <a:tcPr/>
                    </a:tc>
                    <a:tc>
                      <a:txBody>
                        <a:bodyPr/>
                        <a:lstStyle/>
                        <a:p>
                          <a:r>
                            <a:rPr lang="en-US"/>
                            <a:t>F</a:t>
                          </a:r>
                          <a:endParaRPr lang="en-US" dirty="0"/>
                        </a:p>
                      </a:txBody>
                      <a:tcPr/>
                    </a:tc>
                    <a:extLst>
                      <a:ext uri="{0D108BD9-81ED-4DB2-BD59-A6C34878D82A}">
                        <a16:rowId xmlns:a16="http://schemas.microsoft.com/office/drawing/2014/main" val="369753308"/>
                      </a:ext>
                    </a:extLst>
                  </a:tr>
                </a:tbl>
              </a:graphicData>
            </a:graphic>
          </p:graphicFrame>
        </mc:Choice>
        <mc:Fallback xmlns="">
          <p:graphicFrame>
            <p:nvGraphicFramePr>
              <p:cNvPr id="7" name="Table 6">
                <a:extLst>
                  <a:ext uri="{FF2B5EF4-FFF2-40B4-BE49-F238E27FC236}">
                    <a16:creationId xmlns:a16="http://schemas.microsoft.com/office/drawing/2014/main" id="{27255F49-7AAB-0C18-49AA-5A8E7E38A2D7}"/>
                  </a:ext>
                </a:extLst>
              </p:cNvPr>
              <p:cNvGraphicFramePr>
                <a:graphicFrameLocks noGrp="1"/>
              </p:cNvGraphicFramePr>
              <p:nvPr>
                <p:extLst>
                  <p:ext uri="{D42A27DB-BD31-4B8C-83A1-F6EECF244321}">
                    <p14:modId xmlns:p14="http://schemas.microsoft.com/office/powerpoint/2010/main" val="1029168177"/>
                  </p:ext>
                </p:extLst>
              </p:nvPr>
            </p:nvGraphicFramePr>
            <p:xfrm>
              <a:off x="533400" y="2895600"/>
              <a:ext cx="7924802" cy="2209800"/>
            </p:xfrm>
            <a:graphic>
              <a:graphicData uri="http://schemas.openxmlformats.org/drawingml/2006/table">
                <a:tbl>
                  <a:tblPr firstRow="1" bandRow="1">
                    <a:tableStyleId>{616DA210-FB5B-4158-B5E0-FEB733F419BA}</a:tableStyleId>
                  </a:tblPr>
                  <a:tblGrid>
                    <a:gridCol w="266392">
                      <a:extLst>
                        <a:ext uri="{9D8B030D-6E8A-4147-A177-3AD203B41FA5}">
                          <a16:colId xmlns:a16="http://schemas.microsoft.com/office/drawing/2014/main" val="2489318233"/>
                        </a:ext>
                      </a:extLst>
                    </a:gridCol>
                    <a:gridCol w="223031">
                      <a:extLst>
                        <a:ext uri="{9D8B030D-6E8A-4147-A177-3AD203B41FA5}">
                          <a16:colId xmlns:a16="http://schemas.microsoft.com/office/drawing/2014/main" val="3826147249"/>
                        </a:ext>
                      </a:extLst>
                    </a:gridCol>
                    <a:gridCol w="501177">
                      <a:extLst>
                        <a:ext uri="{9D8B030D-6E8A-4147-A177-3AD203B41FA5}">
                          <a16:colId xmlns:a16="http://schemas.microsoft.com/office/drawing/2014/main" val="2528927752"/>
                        </a:ext>
                      </a:extLst>
                    </a:gridCol>
                    <a:gridCol w="533400">
                      <a:extLst>
                        <a:ext uri="{9D8B030D-6E8A-4147-A177-3AD203B41FA5}">
                          <a16:colId xmlns:a16="http://schemas.microsoft.com/office/drawing/2014/main" val="3342851661"/>
                        </a:ext>
                      </a:extLst>
                    </a:gridCol>
                    <a:gridCol w="838200">
                      <a:extLst>
                        <a:ext uri="{9D8B030D-6E8A-4147-A177-3AD203B41FA5}">
                          <a16:colId xmlns:a16="http://schemas.microsoft.com/office/drawing/2014/main" val="1463177068"/>
                        </a:ext>
                      </a:extLst>
                    </a:gridCol>
                    <a:gridCol w="1066800">
                      <a:extLst>
                        <a:ext uri="{9D8B030D-6E8A-4147-A177-3AD203B41FA5}">
                          <a16:colId xmlns:a16="http://schemas.microsoft.com/office/drawing/2014/main" val="1257169717"/>
                        </a:ext>
                      </a:extLst>
                    </a:gridCol>
                    <a:gridCol w="1066800">
                      <a:extLst>
                        <a:ext uri="{9D8B030D-6E8A-4147-A177-3AD203B41FA5}">
                          <a16:colId xmlns:a16="http://schemas.microsoft.com/office/drawing/2014/main" val="2276254231"/>
                        </a:ext>
                      </a:extLst>
                    </a:gridCol>
                    <a:gridCol w="2133600">
                      <a:extLst>
                        <a:ext uri="{9D8B030D-6E8A-4147-A177-3AD203B41FA5}">
                          <a16:colId xmlns:a16="http://schemas.microsoft.com/office/drawing/2014/main" val="2726608731"/>
                        </a:ext>
                      </a:extLst>
                    </a:gridCol>
                    <a:gridCol w="1295402">
                      <a:extLst>
                        <a:ext uri="{9D8B030D-6E8A-4147-A177-3AD203B41FA5}">
                          <a16:colId xmlns:a16="http://schemas.microsoft.com/office/drawing/2014/main" val="3651116594"/>
                        </a:ext>
                      </a:extLst>
                    </a:gridCol>
                  </a:tblGrid>
                  <a:tr h="672548">
                    <a:tc>
                      <a:txBody>
                        <a:bodyPr/>
                        <a:lstStyle/>
                        <a:p>
                          <a:r>
                            <a:rPr lang="en-US" dirty="0"/>
                            <a:t>p</a:t>
                          </a:r>
                        </a:p>
                      </a:txBody>
                      <a:tcPr/>
                    </a:tc>
                    <a:tc>
                      <a:txBody>
                        <a:bodyPr/>
                        <a:lstStyle/>
                        <a:p>
                          <a:r>
                            <a:rPr lang="en-US" dirty="0"/>
                            <a:t>q</a:t>
                          </a:r>
                        </a:p>
                      </a:txBody>
                      <a:tcPr/>
                    </a:tc>
                    <a:tc>
                      <a:txBody>
                        <a:bodyPr/>
                        <a:lstStyle/>
                        <a:p>
                          <a:endParaRPr lang="en-US"/>
                        </a:p>
                      </a:txBody>
                      <a:tcPr>
                        <a:blipFill>
                          <a:blip r:embed="rId3"/>
                          <a:stretch>
                            <a:fillRect l="-97590" t="-6364" r="-1374699" b="-240909"/>
                          </a:stretch>
                        </a:blipFill>
                      </a:tcPr>
                    </a:tc>
                    <a:tc>
                      <a:txBody>
                        <a:bodyPr/>
                        <a:lstStyle/>
                        <a:p>
                          <a:endParaRPr lang="en-US"/>
                        </a:p>
                      </a:txBody>
                      <a:tcPr>
                        <a:blipFill>
                          <a:blip r:embed="rId3"/>
                          <a:stretch>
                            <a:fillRect l="-188506" t="-6364" r="-1211494" b="-240909"/>
                          </a:stretch>
                        </a:blipFill>
                      </a:tcPr>
                    </a:tc>
                    <a:tc>
                      <a:txBody>
                        <a:bodyPr/>
                        <a:lstStyle/>
                        <a:p>
                          <a:endParaRPr lang="en-US"/>
                        </a:p>
                      </a:txBody>
                      <a:tcPr>
                        <a:blipFill>
                          <a:blip r:embed="rId3"/>
                          <a:stretch>
                            <a:fillRect l="-181884" t="-6364" r="-663768" b="-240909"/>
                          </a:stretch>
                        </a:blipFill>
                      </a:tcPr>
                    </a:tc>
                    <a:tc>
                      <a:txBody>
                        <a:bodyPr/>
                        <a:lstStyle/>
                        <a:p>
                          <a:endParaRPr lang="en-US"/>
                        </a:p>
                      </a:txBody>
                      <a:tcPr>
                        <a:blipFill>
                          <a:blip r:embed="rId3"/>
                          <a:stretch>
                            <a:fillRect l="-222286" t="-6364" r="-423429" b="-240909"/>
                          </a:stretch>
                        </a:blipFill>
                      </a:tcPr>
                    </a:tc>
                    <a:tc>
                      <a:txBody>
                        <a:bodyPr/>
                        <a:lstStyle/>
                        <a:p>
                          <a:endParaRPr lang="en-US"/>
                        </a:p>
                      </a:txBody>
                      <a:tcPr>
                        <a:blipFill>
                          <a:blip r:embed="rId3"/>
                          <a:stretch>
                            <a:fillRect l="-322286" t="-6364" r="-323429" b="-240909"/>
                          </a:stretch>
                        </a:blipFill>
                      </a:tcPr>
                    </a:tc>
                    <a:tc>
                      <a:txBody>
                        <a:bodyPr/>
                        <a:lstStyle/>
                        <a:p>
                          <a:endParaRPr lang="en-US"/>
                        </a:p>
                      </a:txBody>
                      <a:tcPr>
                        <a:blipFill>
                          <a:blip r:embed="rId3"/>
                          <a:stretch>
                            <a:fillRect l="-211143" t="-6364" r="-61714" b="-240909"/>
                          </a:stretch>
                        </a:blip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dirty="0"/>
                            <a:t>p </a:t>
                          </a:r>
                          <a:r>
                            <a:rPr lang="en-US" sz="1800" dirty="0"/>
                            <a:t>⊕ q </a:t>
                          </a:r>
                          <a:endParaRPr lang="en-US" sz="1800" b="1" dirty="0">
                            <a:solidFill>
                              <a:schemeClr val="tx1"/>
                            </a:solidFill>
                            <a:ea typeface="Cambria Math" panose="02040503050406030204" pitchFamily="18" charset="0"/>
                          </a:endParaRPr>
                        </a:p>
                      </a:txBody>
                      <a:tcPr/>
                    </a:tc>
                    <a:extLst>
                      <a:ext uri="{0D108BD9-81ED-4DB2-BD59-A6C34878D82A}">
                        <a16:rowId xmlns:a16="http://schemas.microsoft.com/office/drawing/2014/main" val="3928781947"/>
                      </a:ext>
                    </a:extLst>
                  </a:tr>
                  <a:tr h="384313">
                    <a:tc>
                      <a:txBody>
                        <a:bodyPr/>
                        <a:lstStyle/>
                        <a:p>
                          <a:r>
                            <a:rPr lang="en-US" dirty="0"/>
                            <a:t>T</a:t>
                          </a:r>
                        </a:p>
                      </a:txBody>
                      <a:tcPr/>
                    </a:tc>
                    <a:tc>
                      <a:txBody>
                        <a:bodyPr/>
                        <a:lstStyle/>
                        <a:p>
                          <a:r>
                            <a:rPr lang="en-US" dirty="0"/>
                            <a:t>T</a:t>
                          </a:r>
                        </a:p>
                      </a:txBody>
                      <a:tcPr/>
                    </a:tc>
                    <a:tc>
                      <a:txBody>
                        <a:bodyPr/>
                        <a:lstStyle/>
                        <a:p>
                          <a:r>
                            <a:rPr lang="en-US" dirty="0"/>
                            <a:t>F</a:t>
                          </a:r>
                        </a:p>
                      </a:txBody>
                      <a:tcPr/>
                    </a:tc>
                    <a:tc>
                      <a:txBody>
                        <a:bodyPr/>
                        <a:lstStyle/>
                        <a:p>
                          <a:r>
                            <a:rPr lang="en-US" dirty="0"/>
                            <a:t>F</a:t>
                          </a:r>
                        </a:p>
                      </a:txBody>
                      <a:tcPr/>
                    </a:tc>
                    <a:tc>
                      <a:txBody>
                        <a:bodyPr/>
                        <a:lstStyle/>
                        <a:p>
                          <a:r>
                            <a:rPr lang="en-US" dirty="0"/>
                            <a:t>F</a:t>
                          </a:r>
                        </a:p>
                      </a:txBody>
                      <a:tcPr/>
                    </a:tc>
                    <a:tc>
                      <a:txBody>
                        <a:bodyPr/>
                        <a:lstStyle/>
                        <a:p>
                          <a:r>
                            <a:rPr lang="en-US" dirty="0"/>
                            <a:t>F</a:t>
                          </a:r>
                        </a:p>
                      </a:txBody>
                      <a:tcPr/>
                    </a:tc>
                    <a:tc>
                      <a:txBody>
                        <a:bodyPr/>
                        <a:lstStyle/>
                        <a:p>
                          <a:r>
                            <a:rPr lang="en-US" dirty="0"/>
                            <a:t>F</a:t>
                          </a:r>
                        </a:p>
                      </a:txBody>
                      <a:tcPr/>
                    </a:tc>
                    <a:tc>
                      <a:txBody>
                        <a:bodyPr/>
                        <a:lstStyle/>
                        <a:p>
                          <a:r>
                            <a:rPr lang="en-US" dirty="0"/>
                            <a:t>F</a:t>
                          </a:r>
                        </a:p>
                      </a:txBody>
                      <a:tcPr/>
                    </a:tc>
                    <a:tc>
                      <a:txBody>
                        <a:bodyPr/>
                        <a:lstStyle/>
                        <a:p>
                          <a:r>
                            <a:rPr lang="en-US" dirty="0"/>
                            <a:t>F</a:t>
                          </a:r>
                        </a:p>
                      </a:txBody>
                      <a:tcPr/>
                    </a:tc>
                    <a:extLst>
                      <a:ext uri="{0D108BD9-81ED-4DB2-BD59-A6C34878D82A}">
                        <a16:rowId xmlns:a16="http://schemas.microsoft.com/office/drawing/2014/main" val="4094501097"/>
                      </a:ext>
                    </a:extLst>
                  </a:tr>
                  <a:tr h="384313">
                    <a:tc>
                      <a:txBody>
                        <a:bodyPr/>
                        <a:lstStyle/>
                        <a:p>
                          <a:r>
                            <a:rPr lang="en-US" dirty="0"/>
                            <a:t>T</a:t>
                          </a:r>
                        </a:p>
                      </a:txBody>
                      <a:tcPr/>
                    </a:tc>
                    <a:tc>
                      <a:txBody>
                        <a:bodyPr/>
                        <a:lstStyle/>
                        <a:p>
                          <a:r>
                            <a:rPr lang="en-US" dirty="0"/>
                            <a:t>F</a:t>
                          </a:r>
                        </a:p>
                      </a:txBody>
                      <a:tcPr/>
                    </a:tc>
                    <a:tc>
                      <a:txBody>
                        <a:bodyPr/>
                        <a:lstStyle/>
                        <a:p>
                          <a:r>
                            <a:rPr lang="en-US" dirty="0"/>
                            <a:t>F</a:t>
                          </a:r>
                        </a:p>
                      </a:txBody>
                      <a:tcPr/>
                    </a:tc>
                    <a:tc>
                      <a:txBody>
                        <a:bodyPr/>
                        <a:lstStyle/>
                        <a:p>
                          <a:r>
                            <a:rPr lang="en-US" dirty="0"/>
                            <a:t>T</a:t>
                          </a:r>
                        </a:p>
                      </a:txBody>
                      <a:tcPr/>
                    </a:tc>
                    <a:tc>
                      <a:txBody>
                        <a:bodyPr/>
                        <a:lstStyle/>
                        <a:p>
                          <a:r>
                            <a:rPr lang="en-US" dirty="0"/>
                            <a:t>T</a:t>
                          </a:r>
                        </a:p>
                      </a:txBody>
                      <a:tcPr/>
                    </a:tc>
                    <a:tc>
                      <a:txBody>
                        <a:bodyPr/>
                        <a:lstStyle/>
                        <a:p>
                          <a:r>
                            <a:rPr lang="en-US" dirty="0"/>
                            <a:t>T</a:t>
                          </a:r>
                        </a:p>
                      </a:txBody>
                      <a:tcPr/>
                    </a:tc>
                    <a:tc>
                      <a:txBody>
                        <a:bodyPr/>
                        <a:lstStyle/>
                        <a:p>
                          <a:r>
                            <a:rPr lang="en-US" dirty="0"/>
                            <a:t>F</a:t>
                          </a:r>
                        </a:p>
                      </a:txBody>
                      <a:tcPr/>
                    </a:tc>
                    <a:tc>
                      <a:txBody>
                        <a:bodyPr/>
                        <a:lstStyle/>
                        <a:p>
                          <a:r>
                            <a:rPr lang="en-US" dirty="0"/>
                            <a:t>T</a:t>
                          </a:r>
                        </a:p>
                      </a:txBody>
                      <a:tcPr/>
                    </a:tc>
                    <a:tc>
                      <a:txBody>
                        <a:bodyPr/>
                        <a:lstStyle/>
                        <a:p>
                          <a:r>
                            <a:rPr lang="en-US" dirty="0"/>
                            <a:t>T</a:t>
                          </a:r>
                        </a:p>
                      </a:txBody>
                      <a:tcPr/>
                    </a:tc>
                    <a:extLst>
                      <a:ext uri="{0D108BD9-81ED-4DB2-BD59-A6C34878D82A}">
                        <a16:rowId xmlns:a16="http://schemas.microsoft.com/office/drawing/2014/main" val="4237696026"/>
                      </a:ext>
                    </a:extLst>
                  </a:tr>
                  <a:tr h="384313">
                    <a:tc>
                      <a:txBody>
                        <a:bodyPr/>
                        <a:lstStyle/>
                        <a:p>
                          <a:r>
                            <a:rPr lang="en-US" dirty="0"/>
                            <a:t>F</a:t>
                          </a:r>
                        </a:p>
                      </a:txBody>
                      <a:tcPr/>
                    </a:tc>
                    <a:tc>
                      <a:txBody>
                        <a:bodyPr/>
                        <a:lstStyle/>
                        <a:p>
                          <a:r>
                            <a:rPr lang="en-US" dirty="0"/>
                            <a:t>T</a:t>
                          </a:r>
                        </a:p>
                      </a:txBody>
                      <a:tcPr/>
                    </a:tc>
                    <a:tc>
                      <a:txBody>
                        <a:bodyPr/>
                        <a:lstStyle/>
                        <a:p>
                          <a:r>
                            <a:rPr lang="en-US" dirty="0"/>
                            <a:t>T</a:t>
                          </a:r>
                        </a:p>
                      </a:txBody>
                      <a:tcPr/>
                    </a:tc>
                    <a:tc>
                      <a:txBody>
                        <a:bodyPr/>
                        <a:lstStyle/>
                        <a:p>
                          <a:r>
                            <a:rPr lang="en-US" dirty="0"/>
                            <a:t>F</a:t>
                          </a:r>
                        </a:p>
                      </a:txBody>
                      <a:tcPr/>
                    </a:tc>
                    <a:tc>
                      <a:txBody>
                        <a:bodyPr/>
                        <a:lstStyle/>
                        <a:p>
                          <a:r>
                            <a:rPr lang="en-US" dirty="0"/>
                            <a:t>F</a:t>
                          </a:r>
                        </a:p>
                      </a:txBody>
                      <a:tcPr/>
                    </a:tc>
                    <a:tc>
                      <a:txBody>
                        <a:bodyPr/>
                        <a:lstStyle/>
                        <a:p>
                          <a:r>
                            <a:rPr lang="en-US" dirty="0"/>
                            <a:t>F</a:t>
                          </a:r>
                        </a:p>
                      </a:txBody>
                      <a:tcPr/>
                    </a:tc>
                    <a:tc>
                      <a:txBody>
                        <a:bodyPr/>
                        <a:lstStyle/>
                        <a:p>
                          <a:r>
                            <a:rPr lang="en-US" dirty="0"/>
                            <a:t>T</a:t>
                          </a:r>
                        </a:p>
                      </a:txBody>
                      <a:tcPr/>
                    </a:tc>
                    <a:tc>
                      <a:txBody>
                        <a:bodyPr/>
                        <a:lstStyle/>
                        <a:p>
                          <a:r>
                            <a:rPr lang="en-US" dirty="0"/>
                            <a:t>T</a:t>
                          </a:r>
                        </a:p>
                      </a:txBody>
                      <a:tcPr/>
                    </a:tc>
                    <a:tc>
                      <a:txBody>
                        <a:bodyPr/>
                        <a:lstStyle/>
                        <a:p>
                          <a:r>
                            <a:rPr lang="en-US" dirty="0"/>
                            <a:t>T</a:t>
                          </a:r>
                        </a:p>
                      </a:txBody>
                      <a:tcPr/>
                    </a:tc>
                    <a:extLst>
                      <a:ext uri="{0D108BD9-81ED-4DB2-BD59-A6C34878D82A}">
                        <a16:rowId xmlns:a16="http://schemas.microsoft.com/office/drawing/2014/main" val="1593168791"/>
                      </a:ext>
                    </a:extLst>
                  </a:tr>
                  <a:tr h="384313">
                    <a:tc>
                      <a:txBody>
                        <a:bodyPr/>
                        <a:lstStyle/>
                        <a:p>
                          <a:r>
                            <a:rPr lang="en-US" dirty="0"/>
                            <a:t>F</a:t>
                          </a:r>
                        </a:p>
                      </a:txBody>
                      <a:tcPr/>
                    </a:tc>
                    <a:tc>
                      <a:txBody>
                        <a:bodyPr/>
                        <a:lstStyle/>
                        <a:p>
                          <a:r>
                            <a:rPr lang="en-US" dirty="0"/>
                            <a:t>F</a:t>
                          </a:r>
                        </a:p>
                      </a:txBody>
                      <a:tcPr/>
                    </a:tc>
                    <a:tc>
                      <a:txBody>
                        <a:bodyPr/>
                        <a:lstStyle/>
                        <a:p>
                          <a:r>
                            <a:rPr lang="en-US" dirty="0"/>
                            <a:t>T</a:t>
                          </a:r>
                        </a:p>
                      </a:txBody>
                      <a:tcPr/>
                    </a:tc>
                    <a:tc>
                      <a:txBody>
                        <a:bodyPr/>
                        <a:lstStyle/>
                        <a:p>
                          <a:r>
                            <a:rPr lang="en-US" dirty="0"/>
                            <a:t>T</a:t>
                          </a:r>
                        </a:p>
                      </a:txBody>
                      <a:tcPr/>
                    </a:tc>
                    <a:tc>
                      <a:txBody>
                        <a:bodyPr/>
                        <a:lstStyle/>
                        <a:p>
                          <a:r>
                            <a:rPr lang="en-US" dirty="0"/>
                            <a:t>F</a:t>
                          </a:r>
                        </a:p>
                      </a:txBody>
                      <a:tcPr/>
                    </a:tc>
                    <a:tc>
                      <a:txBody>
                        <a:bodyPr/>
                        <a:lstStyle/>
                        <a:p>
                          <a:r>
                            <a:rPr lang="en-US" dirty="0"/>
                            <a:t>F</a:t>
                          </a:r>
                        </a:p>
                      </a:txBody>
                      <a:tcPr/>
                    </a:tc>
                    <a:tc>
                      <a:txBody>
                        <a:bodyPr/>
                        <a:lstStyle/>
                        <a:p>
                          <a:r>
                            <a:rPr lang="en-US" dirty="0"/>
                            <a:t>F</a:t>
                          </a:r>
                        </a:p>
                      </a:txBody>
                      <a:tcPr/>
                    </a:tc>
                    <a:tc>
                      <a:txBody>
                        <a:bodyPr/>
                        <a:lstStyle/>
                        <a:p>
                          <a:r>
                            <a:rPr lang="en-US" dirty="0"/>
                            <a:t>F</a:t>
                          </a:r>
                        </a:p>
                      </a:txBody>
                      <a:tcPr/>
                    </a:tc>
                    <a:tc>
                      <a:txBody>
                        <a:bodyPr/>
                        <a:lstStyle/>
                        <a:p>
                          <a:r>
                            <a:rPr lang="en-US"/>
                            <a:t>F</a:t>
                          </a:r>
                          <a:endParaRPr lang="en-US" dirty="0"/>
                        </a:p>
                      </a:txBody>
                      <a:tcPr/>
                    </a:tc>
                    <a:extLst>
                      <a:ext uri="{0D108BD9-81ED-4DB2-BD59-A6C34878D82A}">
                        <a16:rowId xmlns:a16="http://schemas.microsoft.com/office/drawing/2014/main" val="369753308"/>
                      </a:ext>
                    </a:extLst>
                  </a:tr>
                </a:tbl>
              </a:graphicData>
            </a:graphic>
          </p:graphicFrame>
        </mc:Fallback>
      </mc:AlternateContent>
    </p:spTree>
    <p:extLst>
      <p:ext uri="{BB962C8B-B14F-4D97-AF65-F5344CB8AC3E}">
        <p14:creationId xmlns:p14="http://schemas.microsoft.com/office/powerpoint/2010/main" val="21843358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58BF00-E1E4-E241-66E5-366E16CB8DC2}"/>
              </a:ext>
            </a:extLst>
          </p:cNvPr>
          <p:cNvSpPr>
            <a:spLocks noGrp="1"/>
          </p:cNvSpPr>
          <p:nvPr>
            <p:ph type="title"/>
          </p:nvPr>
        </p:nvSpPr>
        <p:spPr/>
        <p:txBody>
          <a:bodyPr/>
          <a:lstStyle/>
          <a:p>
            <a:r>
              <a:rPr lang="en-US" dirty="0"/>
              <a:t>Principle of Duality</a:t>
            </a:r>
          </a:p>
        </p:txBody>
      </p:sp>
      <p:sp>
        <p:nvSpPr>
          <p:cNvPr id="3" name="Content Placeholder 2">
            <a:extLst>
              <a:ext uri="{FF2B5EF4-FFF2-40B4-BE49-F238E27FC236}">
                <a16:creationId xmlns:a16="http://schemas.microsoft.com/office/drawing/2014/main" id="{8AFC7108-5280-1EF1-F561-8AE7996A4663}"/>
              </a:ext>
            </a:extLst>
          </p:cNvPr>
          <p:cNvSpPr>
            <a:spLocks noGrp="1"/>
          </p:cNvSpPr>
          <p:nvPr>
            <p:ph idx="1"/>
          </p:nvPr>
        </p:nvSpPr>
        <p:spPr/>
        <p:txBody>
          <a:bodyPr>
            <a:normAutofit/>
          </a:bodyPr>
          <a:lstStyle/>
          <a:p>
            <a:r>
              <a:rPr lang="en-US" dirty="0"/>
              <a:t>The dual of a proposition is formed by interchanging "AND" with "OR" operations, and 0 with 1 (representing false and true, respectively).</a:t>
            </a:r>
          </a:p>
          <a:p>
            <a:r>
              <a:rPr lang="en-US" dirty="0"/>
              <a:t>The principle of duality in logic states that if a proposition  is true, its dual is also true. </a:t>
            </a:r>
          </a:p>
        </p:txBody>
      </p:sp>
      <p:sp>
        <p:nvSpPr>
          <p:cNvPr id="4" name="Date Placeholder 3">
            <a:extLst>
              <a:ext uri="{FF2B5EF4-FFF2-40B4-BE49-F238E27FC236}">
                <a16:creationId xmlns:a16="http://schemas.microsoft.com/office/drawing/2014/main" id="{DBD72C6D-3A2E-C011-3BF1-2A6A8D5878C9}"/>
              </a:ext>
            </a:extLst>
          </p:cNvPr>
          <p:cNvSpPr>
            <a:spLocks noGrp="1"/>
          </p:cNvSpPr>
          <p:nvPr>
            <p:ph type="dt" sz="half" idx="10"/>
          </p:nvPr>
        </p:nvSpPr>
        <p:spPr/>
        <p:txBody>
          <a:bodyPr/>
          <a:lstStyle/>
          <a:p>
            <a:fld id="{4833C929-C9DD-4C66-BDC9-0D85DE389F8F}" type="datetime3">
              <a:rPr lang="en-US" smtClean="0"/>
              <a:t>27 April 2026</a:t>
            </a:fld>
            <a:endParaRPr lang="en-US"/>
          </a:p>
        </p:txBody>
      </p:sp>
      <p:sp>
        <p:nvSpPr>
          <p:cNvPr id="5" name="Footer Placeholder 4">
            <a:extLst>
              <a:ext uri="{FF2B5EF4-FFF2-40B4-BE49-F238E27FC236}">
                <a16:creationId xmlns:a16="http://schemas.microsoft.com/office/drawing/2014/main" id="{48CB7DFC-5A44-4605-C15F-3B9BA9AFF8BC}"/>
              </a:ext>
            </a:extLst>
          </p:cNvPr>
          <p:cNvSpPr>
            <a:spLocks noGrp="1"/>
          </p:cNvSpPr>
          <p:nvPr>
            <p:ph type="ftr" sz="quarter" idx="11"/>
          </p:nvPr>
        </p:nvSpPr>
        <p:spPr/>
        <p:txBody>
          <a:bodyPr/>
          <a:lstStyle/>
          <a:p>
            <a:r>
              <a:rPr lang="en-US"/>
              <a:t>SCS 1302   Discrete Mathematics 1       Prof. D D Karunaratna</a:t>
            </a:r>
          </a:p>
        </p:txBody>
      </p:sp>
      <p:sp>
        <p:nvSpPr>
          <p:cNvPr id="6" name="Slide Number Placeholder 5">
            <a:extLst>
              <a:ext uri="{FF2B5EF4-FFF2-40B4-BE49-F238E27FC236}">
                <a16:creationId xmlns:a16="http://schemas.microsoft.com/office/drawing/2014/main" id="{0D9DA052-4B93-EE55-37A6-04592A7746AF}"/>
              </a:ext>
            </a:extLst>
          </p:cNvPr>
          <p:cNvSpPr>
            <a:spLocks noGrp="1"/>
          </p:cNvSpPr>
          <p:nvPr>
            <p:ph type="sldNum" sz="quarter" idx="12"/>
          </p:nvPr>
        </p:nvSpPr>
        <p:spPr/>
        <p:txBody>
          <a:bodyPr/>
          <a:lstStyle/>
          <a:p>
            <a:fld id="{0CA841A6-7C02-4C92-B6EE-5DBCC2AD53D0}" type="slidenum">
              <a:rPr lang="en-US" smtClean="0"/>
              <a:t>47</a:t>
            </a:fld>
            <a:endParaRPr lang="en-US"/>
          </a:p>
        </p:txBody>
      </p:sp>
    </p:spTree>
    <p:extLst>
      <p:ext uri="{BB962C8B-B14F-4D97-AF65-F5344CB8AC3E}">
        <p14:creationId xmlns:p14="http://schemas.microsoft.com/office/powerpoint/2010/main" val="221899577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Examples</a:t>
            </a:r>
          </a:p>
        </p:txBody>
      </p:sp>
      <p:sp>
        <p:nvSpPr>
          <p:cNvPr id="4" name="Date Placeholder 3"/>
          <p:cNvSpPr>
            <a:spLocks noGrp="1"/>
          </p:cNvSpPr>
          <p:nvPr>
            <p:ph type="dt" sz="half" idx="10"/>
          </p:nvPr>
        </p:nvSpPr>
        <p:spPr/>
        <p:txBody>
          <a:bodyPr/>
          <a:lstStyle/>
          <a:p>
            <a:fld id="{DFB9FE54-8C75-4EC7-951B-4E7DD960E5DE}" type="datetime3">
              <a:rPr lang="en-US" smtClean="0"/>
              <a:t>27 April 2026</a:t>
            </a:fld>
            <a:endParaRPr lang="en-US"/>
          </a:p>
        </p:txBody>
      </p:sp>
      <p:sp>
        <p:nvSpPr>
          <p:cNvPr id="5" name="Footer Placeholder 4"/>
          <p:cNvSpPr>
            <a:spLocks noGrp="1"/>
          </p:cNvSpPr>
          <p:nvPr>
            <p:ph type="ftr" sz="quarter" idx="11"/>
          </p:nvPr>
        </p:nvSpPr>
        <p:spPr/>
        <p:txBody>
          <a:bodyPr/>
          <a:lstStyle/>
          <a:p>
            <a:r>
              <a:rPr lang="en-US"/>
              <a:t>SCS 1302   Discrete Mathematics 1       Prof. D D Karunaratna</a:t>
            </a:r>
          </a:p>
        </p:txBody>
      </p:sp>
      <p:sp>
        <p:nvSpPr>
          <p:cNvPr id="6" name="Slide Number Placeholder 5"/>
          <p:cNvSpPr>
            <a:spLocks noGrp="1"/>
          </p:cNvSpPr>
          <p:nvPr>
            <p:ph type="sldNum" sz="quarter" idx="12"/>
          </p:nvPr>
        </p:nvSpPr>
        <p:spPr/>
        <p:txBody>
          <a:bodyPr/>
          <a:lstStyle/>
          <a:p>
            <a:fld id="{0CA841A6-7C02-4C92-B6EE-5DBCC2AD53D0}" type="slidenum">
              <a:rPr lang="en-US" smtClean="0"/>
              <a:t>48</a:t>
            </a:fld>
            <a:endParaRPr lang="en-US"/>
          </a:p>
        </p:txBody>
      </p:sp>
      <p:sp>
        <p:nvSpPr>
          <p:cNvPr id="8" name="TextBox 7"/>
          <p:cNvSpPr txBox="1"/>
          <p:nvPr/>
        </p:nvSpPr>
        <p:spPr>
          <a:xfrm>
            <a:off x="457200" y="1676400"/>
            <a:ext cx="2971800" cy="954107"/>
          </a:xfrm>
          <a:prstGeom prst="rect">
            <a:avLst/>
          </a:prstGeom>
          <a:noFill/>
        </p:spPr>
        <p:txBody>
          <a:bodyPr wrap="square" rtlCol="0">
            <a:spAutoFit/>
          </a:bodyPr>
          <a:lstStyle/>
          <a:p>
            <a:r>
              <a:rPr lang="en-GB" sz="2000" dirty="0"/>
              <a:t>Identity Law:  </a:t>
            </a:r>
            <a:r>
              <a:rPr lang="en-US" sz="2000" i="1" dirty="0">
                <a:solidFill>
                  <a:schemeClr val="dk1"/>
                </a:solidFill>
              </a:rPr>
              <a:t>p ∧ </a:t>
            </a:r>
            <a:r>
              <a:rPr lang="en-US" sz="2000" b="1" i="1" dirty="0">
                <a:solidFill>
                  <a:schemeClr val="dk1"/>
                </a:solidFill>
              </a:rPr>
              <a:t>T </a:t>
            </a:r>
            <a:r>
              <a:rPr lang="en-US" sz="2000" i="1" dirty="0">
                <a:solidFill>
                  <a:schemeClr val="dk1"/>
                </a:solidFill>
              </a:rPr>
              <a:t>≡ p</a:t>
            </a:r>
            <a:r>
              <a:rPr lang="en-US" sz="2000" b="1" i="1" dirty="0">
                <a:solidFill>
                  <a:schemeClr val="dk1"/>
                </a:solidFill>
              </a:rPr>
              <a:t> </a:t>
            </a:r>
            <a:endParaRPr lang="en-GB" sz="2000" dirty="0"/>
          </a:p>
          <a:p>
            <a:r>
              <a:rPr lang="en-GB" dirty="0"/>
              <a:t>  </a:t>
            </a:r>
          </a:p>
          <a:p>
            <a:endParaRPr lang="en-GB" dirty="0"/>
          </a:p>
        </p:txBody>
      </p:sp>
      <mc:AlternateContent xmlns:mc="http://schemas.openxmlformats.org/markup-compatibility/2006" xmlns:a14="http://schemas.microsoft.com/office/drawing/2010/main">
        <mc:Choice Requires="a14">
          <p:graphicFrame>
            <p:nvGraphicFramePr>
              <p:cNvPr id="9" name="Table 8"/>
              <p:cNvGraphicFramePr>
                <a:graphicFrameLocks noGrp="1"/>
              </p:cNvGraphicFramePr>
              <p:nvPr>
                <p:extLst>
                  <p:ext uri="{D42A27DB-BD31-4B8C-83A1-F6EECF244321}">
                    <p14:modId xmlns:p14="http://schemas.microsoft.com/office/powerpoint/2010/main" val="2588181973"/>
                  </p:ext>
                </p:extLst>
              </p:nvPr>
            </p:nvGraphicFramePr>
            <p:xfrm>
              <a:off x="381000" y="2133600"/>
              <a:ext cx="2971800" cy="1188720"/>
            </p:xfrm>
            <a:graphic>
              <a:graphicData uri="http://schemas.openxmlformats.org/drawingml/2006/table">
                <a:tbl>
                  <a:tblPr firstRow="1" bandRow="1">
                    <a:tableStyleId>{5C22544A-7EE6-4342-B048-85BDC9FD1C3A}</a:tableStyleId>
                  </a:tblPr>
                  <a:tblGrid>
                    <a:gridCol w="990600">
                      <a:extLst>
                        <a:ext uri="{9D8B030D-6E8A-4147-A177-3AD203B41FA5}">
                          <a16:colId xmlns:a16="http://schemas.microsoft.com/office/drawing/2014/main" val="20000"/>
                        </a:ext>
                      </a:extLst>
                    </a:gridCol>
                    <a:gridCol w="990600">
                      <a:extLst>
                        <a:ext uri="{9D8B030D-6E8A-4147-A177-3AD203B41FA5}">
                          <a16:colId xmlns:a16="http://schemas.microsoft.com/office/drawing/2014/main" val="20001"/>
                        </a:ext>
                      </a:extLst>
                    </a:gridCol>
                    <a:gridCol w="990600">
                      <a:extLst>
                        <a:ext uri="{9D8B030D-6E8A-4147-A177-3AD203B41FA5}">
                          <a16:colId xmlns:a16="http://schemas.microsoft.com/office/drawing/2014/main" val="20002"/>
                        </a:ext>
                      </a:extLst>
                    </a:gridCol>
                  </a:tblGrid>
                  <a:tr h="370840">
                    <a:tc>
                      <a:txBody>
                        <a:bodyPr/>
                        <a:lstStyle/>
                        <a:p>
                          <a:pPr/>
                          <a14:m>
                            <m:oMathPara xmlns:m="http://schemas.openxmlformats.org/officeDocument/2006/math">
                              <m:oMathParaPr>
                                <m:jc m:val="centerGroup"/>
                              </m:oMathParaPr>
                              <m:oMath xmlns:m="http://schemas.openxmlformats.org/officeDocument/2006/math">
                                <m:r>
                                  <a:rPr lang="en-GB" sz="2000" b="1" i="1" smtClean="0">
                                    <a:solidFill>
                                      <a:schemeClr val="tx1"/>
                                    </a:solidFill>
                                    <a:latin typeface="Cambria Math" panose="02040503050406030204" pitchFamily="18" charset="0"/>
                                  </a:rPr>
                                  <m:t>𝒑</m:t>
                                </m:r>
                              </m:oMath>
                            </m:oMathPara>
                          </a14:m>
                          <a:endParaRPr lang="en-GB" sz="2000" dirty="0">
                            <a:solidFill>
                              <a:schemeClr val="tx1"/>
                            </a:solidFill>
                          </a:endParaRPr>
                        </a:p>
                      </a:txBody>
                      <a:tcPr/>
                    </a:tc>
                    <a:tc>
                      <a:txBody>
                        <a:bodyPr/>
                        <a:lstStyle/>
                        <a:p>
                          <a:pPr/>
                          <a14:m>
                            <m:oMathPara xmlns:m="http://schemas.openxmlformats.org/officeDocument/2006/math">
                              <m:oMathParaPr>
                                <m:jc m:val="centerGroup"/>
                              </m:oMathParaPr>
                              <m:oMath xmlns:m="http://schemas.openxmlformats.org/officeDocument/2006/math">
                                <m:r>
                                  <a:rPr lang="en-GB" sz="2000" b="1" i="1" smtClean="0">
                                    <a:solidFill>
                                      <a:schemeClr val="tx1"/>
                                    </a:solidFill>
                                    <a:latin typeface="Cambria Math" panose="02040503050406030204" pitchFamily="18" charset="0"/>
                                  </a:rPr>
                                  <m:t>𝑻</m:t>
                                </m:r>
                              </m:oMath>
                            </m:oMathPara>
                          </a14:m>
                          <a:endParaRPr lang="en-GB" sz="2000" dirty="0">
                            <a:solidFill>
                              <a:schemeClr val="tx1"/>
                            </a:solidFill>
                          </a:endParaRPr>
                        </a:p>
                      </a:txBody>
                      <a:tcPr/>
                    </a:tc>
                    <a:tc>
                      <a:txBody>
                        <a:bodyPr/>
                        <a:lstStyle/>
                        <a:p>
                          <a:r>
                            <a:rPr lang="en-US" sz="2000" i="1" dirty="0">
                              <a:solidFill>
                                <a:schemeClr val="dk1"/>
                              </a:solidFill>
                            </a:rPr>
                            <a:t>p ∧ </a:t>
                          </a:r>
                          <a:r>
                            <a:rPr lang="en-US" sz="2000" b="1" i="1" dirty="0">
                              <a:solidFill>
                                <a:schemeClr val="dk1"/>
                              </a:solidFill>
                            </a:rPr>
                            <a:t>T </a:t>
                          </a:r>
                          <a:endParaRPr lang="en-GB" sz="2000" dirty="0"/>
                        </a:p>
                      </a:txBody>
                      <a:tcPr/>
                    </a:tc>
                    <a:extLst>
                      <a:ext uri="{0D108BD9-81ED-4DB2-BD59-A6C34878D82A}">
                        <a16:rowId xmlns:a16="http://schemas.microsoft.com/office/drawing/2014/main" val="10000"/>
                      </a:ext>
                    </a:extLst>
                  </a:tr>
                  <a:tr h="370840">
                    <a:tc>
                      <a:txBody>
                        <a:bodyPr/>
                        <a:lstStyle/>
                        <a:p>
                          <a:pPr algn="ctr"/>
                          <a:r>
                            <a:rPr lang="en-GB" sz="2000" dirty="0"/>
                            <a:t>F</a:t>
                          </a:r>
                        </a:p>
                      </a:txBody>
                      <a:tcPr/>
                    </a:tc>
                    <a:tc>
                      <a:txBody>
                        <a:bodyPr/>
                        <a:lstStyle/>
                        <a:p>
                          <a:pPr algn="ctr"/>
                          <a:r>
                            <a:rPr lang="en-GB" sz="2000" dirty="0"/>
                            <a:t>T</a:t>
                          </a:r>
                        </a:p>
                      </a:txBody>
                      <a:tcPr/>
                    </a:tc>
                    <a:tc>
                      <a:txBody>
                        <a:bodyPr/>
                        <a:lstStyle/>
                        <a:p>
                          <a:pPr algn="ctr"/>
                          <a:r>
                            <a:rPr lang="en-GB" sz="2000" dirty="0"/>
                            <a:t>F</a:t>
                          </a:r>
                        </a:p>
                      </a:txBody>
                      <a:tcPr/>
                    </a:tc>
                    <a:extLst>
                      <a:ext uri="{0D108BD9-81ED-4DB2-BD59-A6C34878D82A}">
                        <a16:rowId xmlns:a16="http://schemas.microsoft.com/office/drawing/2014/main" val="10001"/>
                      </a:ext>
                    </a:extLst>
                  </a:tr>
                  <a:tr h="370840">
                    <a:tc>
                      <a:txBody>
                        <a:bodyPr/>
                        <a:lstStyle/>
                        <a:p>
                          <a:pPr algn="ctr"/>
                          <a:r>
                            <a:rPr lang="en-GB" sz="2000" dirty="0"/>
                            <a:t>T</a:t>
                          </a:r>
                        </a:p>
                      </a:txBody>
                      <a:tcPr/>
                    </a:tc>
                    <a:tc>
                      <a:txBody>
                        <a:bodyPr/>
                        <a:lstStyle/>
                        <a:p>
                          <a:pPr algn="ctr"/>
                          <a:r>
                            <a:rPr lang="en-GB" sz="2000" dirty="0"/>
                            <a:t>T</a:t>
                          </a:r>
                        </a:p>
                      </a:txBody>
                      <a:tcPr/>
                    </a:tc>
                    <a:tc>
                      <a:txBody>
                        <a:bodyPr/>
                        <a:lstStyle/>
                        <a:p>
                          <a:pPr algn="ctr"/>
                          <a:r>
                            <a:rPr lang="en-GB" sz="2000" dirty="0"/>
                            <a:t>T</a:t>
                          </a:r>
                        </a:p>
                      </a:txBody>
                      <a:tcPr/>
                    </a:tc>
                    <a:extLst>
                      <a:ext uri="{0D108BD9-81ED-4DB2-BD59-A6C34878D82A}">
                        <a16:rowId xmlns:a16="http://schemas.microsoft.com/office/drawing/2014/main" val="10002"/>
                      </a:ext>
                    </a:extLst>
                  </a:tr>
                </a:tbl>
              </a:graphicData>
            </a:graphic>
          </p:graphicFrame>
        </mc:Choice>
        <mc:Fallback xmlns="">
          <p:graphicFrame>
            <p:nvGraphicFramePr>
              <p:cNvPr id="9" name="Table 8"/>
              <p:cNvGraphicFramePr>
                <a:graphicFrameLocks noGrp="1"/>
              </p:cNvGraphicFramePr>
              <p:nvPr>
                <p:extLst>
                  <p:ext uri="{D42A27DB-BD31-4B8C-83A1-F6EECF244321}">
                    <p14:modId xmlns:p14="http://schemas.microsoft.com/office/powerpoint/2010/main" val="2588181973"/>
                  </p:ext>
                </p:extLst>
              </p:nvPr>
            </p:nvGraphicFramePr>
            <p:xfrm>
              <a:off x="381000" y="2133600"/>
              <a:ext cx="2971800" cy="1188720"/>
            </p:xfrm>
            <a:graphic>
              <a:graphicData uri="http://schemas.openxmlformats.org/drawingml/2006/table">
                <a:tbl>
                  <a:tblPr firstRow="1" bandRow="1">
                    <a:tableStyleId>{5C22544A-7EE6-4342-B048-85BDC9FD1C3A}</a:tableStyleId>
                  </a:tblPr>
                  <a:tblGrid>
                    <a:gridCol w="990600"/>
                    <a:gridCol w="990600"/>
                    <a:gridCol w="990600"/>
                  </a:tblGrid>
                  <a:tr h="396240">
                    <a:tc>
                      <a:txBody>
                        <a:bodyPr/>
                        <a:lstStyle/>
                        <a:p>
                          <a:endParaRPr lang="en-US"/>
                        </a:p>
                      </a:txBody>
                      <a:tcPr>
                        <a:blipFill rotWithShape="0">
                          <a:blip r:embed="rId2"/>
                          <a:stretch>
                            <a:fillRect l="-613" t="-7692" r="-202454" b="-229231"/>
                          </a:stretch>
                        </a:blipFill>
                      </a:tcPr>
                    </a:tc>
                    <a:tc>
                      <a:txBody>
                        <a:bodyPr/>
                        <a:lstStyle/>
                        <a:p>
                          <a:endParaRPr lang="en-US"/>
                        </a:p>
                      </a:txBody>
                      <a:tcPr>
                        <a:blipFill rotWithShape="0">
                          <a:blip r:embed="rId2"/>
                          <a:stretch>
                            <a:fillRect l="-101235" t="-7692" r="-103704" b="-229231"/>
                          </a:stretch>
                        </a:blipFill>
                      </a:tcPr>
                    </a:tc>
                    <a:tc>
                      <a:txBody>
                        <a:bodyPr/>
                        <a:lstStyle/>
                        <a:p>
                          <a:r>
                            <a:rPr lang="en-US" sz="2000" i="1" dirty="0" smtClean="0">
                              <a:solidFill>
                                <a:schemeClr val="dk1"/>
                              </a:solidFill>
                            </a:rPr>
                            <a:t>p ∧ </a:t>
                          </a:r>
                          <a:r>
                            <a:rPr lang="en-US" sz="2000" b="1" i="1" dirty="0" smtClean="0">
                              <a:solidFill>
                                <a:schemeClr val="dk1"/>
                              </a:solidFill>
                            </a:rPr>
                            <a:t>T </a:t>
                          </a:r>
                          <a:endParaRPr lang="en-GB" sz="2000" dirty="0"/>
                        </a:p>
                      </a:txBody>
                      <a:tcPr/>
                    </a:tc>
                  </a:tr>
                  <a:tr h="396240">
                    <a:tc>
                      <a:txBody>
                        <a:bodyPr/>
                        <a:lstStyle/>
                        <a:p>
                          <a:pPr algn="ctr"/>
                          <a:r>
                            <a:rPr lang="en-GB" sz="2000" dirty="0" smtClean="0"/>
                            <a:t>F</a:t>
                          </a:r>
                          <a:endParaRPr lang="en-GB" sz="2000" dirty="0"/>
                        </a:p>
                      </a:txBody>
                      <a:tcPr/>
                    </a:tc>
                    <a:tc>
                      <a:txBody>
                        <a:bodyPr/>
                        <a:lstStyle/>
                        <a:p>
                          <a:pPr algn="ctr"/>
                          <a:r>
                            <a:rPr lang="en-GB" sz="2000" dirty="0" smtClean="0"/>
                            <a:t>T</a:t>
                          </a:r>
                          <a:endParaRPr lang="en-GB" sz="2000" dirty="0"/>
                        </a:p>
                      </a:txBody>
                      <a:tcPr/>
                    </a:tc>
                    <a:tc>
                      <a:txBody>
                        <a:bodyPr/>
                        <a:lstStyle/>
                        <a:p>
                          <a:pPr algn="ctr"/>
                          <a:r>
                            <a:rPr lang="en-GB" sz="2000" dirty="0" smtClean="0"/>
                            <a:t>F</a:t>
                          </a:r>
                          <a:endParaRPr lang="en-GB" sz="2000" dirty="0"/>
                        </a:p>
                      </a:txBody>
                      <a:tcPr/>
                    </a:tc>
                  </a:tr>
                  <a:tr h="396240">
                    <a:tc>
                      <a:txBody>
                        <a:bodyPr/>
                        <a:lstStyle/>
                        <a:p>
                          <a:pPr algn="ctr"/>
                          <a:r>
                            <a:rPr lang="en-GB" sz="2000" dirty="0" smtClean="0"/>
                            <a:t>T</a:t>
                          </a:r>
                          <a:endParaRPr lang="en-GB" sz="2000" dirty="0"/>
                        </a:p>
                      </a:txBody>
                      <a:tcPr/>
                    </a:tc>
                    <a:tc>
                      <a:txBody>
                        <a:bodyPr/>
                        <a:lstStyle/>
                        <a:p>
                          <a:pPr algn="ctr"/>
                          <a:r>
                            <a:rPr lang="en-GB" sz="2000" dirty="0" smtClean="0"/>
                            <a:t>T</a:t>
                          </a:r>
                          <a:endParaRPr lang="en-GB" sz="2000" dirty="0"/>
                        </a:p>
                      </a:txBody>
                      <a:tcPr/>
                    </a:tc>
                    <a:tc>
                      <a:txBody>
                        <a:bodyPr/>
                        <a:lstStyle/>
                        <a:p>
                          <a:pPr algn="ctr"/>
                          <a:r>
                            <a:rPr lang="en-GB" sz="2000" dirty="0" smtClean="0"/>
                            <a:t>T</a:t>
                          </a:r>
                          <a:endParaRPr lang="en-GB" sz="2000" dirty="0"/>
                        </a:p>
                      </a:txBody>
                      <a:tcPr/>
                    </a:tc>
                  </a:tr>
                </a:tbl>
              </a:graphicData>
            </a:graphic>
          </p:graphicFrame>
        </mc:Fallback>
      </mc:AlternateContent>
      <p:sp>
        <p:nvSpPr>
          <p:cNvPr id="10" name="Rectangle 9"/>
          <p:cNvSpPr/>
          <p:nvPr/>
        </p:nvSpPr>
        <p:spPr>
          <a:xfrm>
            <a:off x="1143000" y="3516868"/>
            <a:ext cx="7391400" cy="461665"/>
          </a:xfrm>
          <a:prstGeom prst="rect">
            <a:avLst/>
          </a:prstGeom>
        </p:spPr>
        <p:txBody>
          <a:bodyPr wrap="square">
            <a:spAutoFit/>
          </a:bodyPr>
          <a:lstStyle/>
          <a:p>
            <a:r>
              <a:rPr lang="en-US" dirty="0">
                <a:solidFill>
                  <a:schemeClr val="dk1"/>
                </a:solidFill>
              </a:rPr>
              <a:t>  </a:t>
            </a:r>
            <a:r>
              <a:rPr lang="en-US" sz="2400" dirty="0">
                <a:solidFill>
                  <a:schemeClr val="dk1"/>
                </a:solidFill>
              </a:rPr>
              <a:t>De Morgan’s Law:   ￢</a:t>
            </a:r>
            <a:r>
              <a:rPr lang="en-US" sz="2400" i="1" dirty="0">
                <a:solidFill>
                  <a:schemeClr val="dk1"/>
                </a:solidFill>
              </a:rPr>
              <a:t>(p ∧ q) ≡ ￢ p ∨ ￢ q </a:t>
            </a:r>
            <a:endParaRPr lang="en-GB" sz="2400" dirty="0"/>
          </a:p>
        </p:txBody>
      </p:sp>
      <mc:AlternateContent xmlns:mc="http://schemas.openxmlformats.org/markup-compatibility/2006" xmlns:a14="http://schemas.microsoft.com/office/drawing/2010/main">
        <mc:Choice Requires="a14">
          <p:graphicFrame>
            <p:nvGraphicFramePr>
              <p:cNvPr id="11" name="Table 10"/>
              <p:cNvGraphicFramePr>
                <a:graphicFrameLocks noGrp="1"/>
              </p:cNvGraphicFramePr>
              <p:nvPr>
                <p:extLst>
                  <p:ext uri="{D42A27DB-BD31-4B8C-83A1-F6EECF244321}">
                    <p14:modId xmlns:p14="http://schemas.microsoft.com/office/powerpoint/2010/main" val="2039747203"/>
                  </p:ext>
                </p:extLst>
              </p:nvPr>
            </p:nvGraphicFramePr>
            <p:xfrm>
              <a:off x="762000" y="4026059"/>
              <a:ext cx="1524000" cy="2255520"/>
            </p:xfrm>
            <a:graphic>
              <a:graphicData uri="http://schemas.openxmlformats.org/drawingml/2006/table">
                <a:tbl>
                  <a:tblPr firstRow="1" bandRow="1">
                    <a:tableStyleId>{5C22544A-7EE6-4342-B048-85BDC9FD1C3A}</a:tableStyleId>
                  </a:tblPr>
                  <a:tblGrid>
                    <a:gridCol w="731520">
                      <a:extLst>
                        <a:ext uri="{9D8B030D-6E8A-4147-A177-3AD203B41FA5}">
                          <a16:colId xmlns:a16="http://schemas.microsoft.com/office/drawing/2014/main" val="20000"/>
                        </a:ext>
                      </a:extLst>
                    </a:gridCol>
                    <a:gridCol w="792480">
                      <a:extLst>
                        <a:ext uri="{9D8B030D-6E8A-4147-A177-3AD203B41FA5}">
                          <a16:colId xmlns:a16="http://schemas.microsoft.com/office/drawing/2014/main" val="20001"/>
                        </a:ext>
                      </a:extLst>
                    </a:gridCol>
                  </a:tblGrid>
                  <a:tr h="424740">
                    <a:tc>
                      <a:txBody>
                        <a:bodyPr/>
                        <a:lstStyle/>
                        <a:p>
                          <a:pPr algn="ctr"/>
                          <a14:m>
                            <m:oMathPara xmlns:m="http://schemas.openxmlformats.org/officeDocument/2006/math">
                              <m:oMathParaPr>
                                <m:jc m:val="centerGroup"/>
                              </m:oMathParaPr>
                              <m:oMath xmlns:m="http://schemas.openxmlformats.org/officeDocument/2006/math">
                                <m:r>
                                  <a:rPr lang="en-GB" sz="2200" b="1" i="1" smtClean="0">
                                    <a:solidFill>
                                      <a:schemeClr val="tx1"/>
                                    </a:solidFill>
                                    <a:latin typeface="Cambria Math" panose="02040503050406030204" pitchFamily="18" charset="0"/>
                                  </a:rPr>
                                  <m:t>𝒑</m:t>
                                </m:r>
                              </m:oMath>
                            </m:oMathPara>
                          </a14:m>
                          <a:endParaRPr lang="en-GB" sz="2200" dirty="0">
                            <a:solidFill>
                              <a:schemeClr val="tx1"/>
                            </a:solidFill>
                          </a:endParaRPr>
                        </a:p>
                      </a:txBody>
                      <a:tcPr/>
                    </a:tc>
                    <a:tc>
                      <a:txBody>
                        <a:bodyPr/>
                        <a:lstStyle/>
                        <a:p>
                          <a:pPr algn="ctr"/>
                          <a14:m>
                            <m:oMathPara xmlns:m="http://schemas.openxmlformats.org/officeDocument/2006/math">
                              <m:oMathParaPr>
                                <m:jc m:val="centerGroup"/>
                              </m:oMathParaPr>
                              <m:oMath xmlns:m="http://schemas.openxmlformats.org/officeDocument/2006/math">
                                <m:r>
                                  <a:rPr lang="en-GB" sz="2200" b="1" i="1" smtClean="0">
                                    <a:solidFill>
                                      <a:schemeClr val="tx1"/>
                                    </a:solidFill>
                                    <a:latin typeface="Cambria Math" panose="02040503050406030204" pitchFamily="18" charset="0"/>
                                  </a:rPr>
                                  <m:t>𝒒</m:t>
                                </m:r>
                              </m:oMath>
                            </m:oMathPara>
                          </a14:m>
                          <a:endParaRPr lang="en-GB" sz="2200" dirty="0">
                            <a:solidFill>
                              <a:schemeClr val="tx1"/>
                            </a:solidFill>
                          </a:endParaRPr>
                        </a:p>
                      </a:txBody>
                      <a:tcPr/>
                    </a:tc>
                    <a:extLst>
                      <a:ext uri="{0D108BD9-81ED-4DB2-BD59-A6C34878D82A}">
                        <a16:rowId xmlns:a16="http://schemas.microsoft.com/office/drawing/2014/main" val="10000"/>
                      </a:ext>
                    </a:extLst>
                  </a:tr>
                  <a:tr h="455079">
                    <a:tc>
                      <a:txBody>
                        <a:bodyPr/>
                        <a:lstStyle/>
                        <a:p>
                          <a:pPr algn="ctr"/>
                          <a:r>
                            <a:rPr lang="en-GB" sz="2400" dirty="0"/>
                            <a:t>0</a:t>
                          </a:r>
                        </a:p>
                      </a:txBody>
                      <a:tcPr/>
                    </a:tc>
                    <a:tc>
                      <a:txBody>
                        <a:bodyPr/>
                        <a:lstStyle/>
                        <a:p>
                          <a:pPr algn="ctr"/>
                          <a:r>
                            <a:rPr lang="en-GB" sz="2400" dirty="0"/>
                            <a:t>0</a:t>
                          </a:r>
                        </a:p>
                      </a:txBody>
                      <a:tcPr/>
                    </a:tc>
                    <a:extLst>
                      <a:ext uri="{0D108BD9-81ED-4DB2-BD59-A6C34878D82A}">
                        <a16:rowId xmlns:a16="http://schemas.microsoft.com/office/drawing/2014/main" val="10001"/>
                      </a:ext>
                    </a:extLst>
                  </a:tr>
                  <a:tr h="455079">
                    <a:tc>
                      <a:txBody>
                        <a:bodyPr/>
                        <a:lstStyle/>
                        <a:p>
                          <a:pPr algn="ctr"/>
                          <a:r>
                            <a:rPr lang="en-GB" sz="2400" dirty="0"/>
                            <a:t>0</a:t>
                          </a:r>
                        </a:p>
                      </a:txBody>
                      <a:tcPr/>
                    </a:tc>
                    <a:tc>
                      <a:txBody>
                        <a:bodyPr/>
                        <a:lstStyle/>
                        <a:p>
                          <a:pPr algn="ctr"/>
                          <a:r>
                            <a:rPr lang="en-GB" sz="2400" dirty="0"/>
                            <a:t>1</a:t>
                          </a:r>
                        </a:p>
                      </a:txBody>
                      <a:tcPr/>
                    </a:tc>
                    <a:extLst>
                      <a:ext uri="{0D108BD9-81ED-4DB2-BD59-A6C34878D82A}">
                        <a16:rowId xmlns:a16="http://schemas.microsoft.com/office/drawing/2014/main" val="10002"/>
                      </a:ext>
                    </a:extLst>
                  </a:tr>
                  <a:tr h="455079">
                    <a:tc>
                      <a:txBody>
                        <a:bodyPr/>
                        <a:lstStyle/>
                        <a:p>
                          <a:pPr algn="ctr"/>
                          <a:r>
                            <a:rPr lang="en-GB" sz="2400" dirty="0"/>
                            <a:t>1</a:t>
                          </a:r>
                        </a:p>
                      </a:txBody>
                      <a:tcPr/>
                    </a:tc>
                    <a:tc>
                      <a:txBody>
                        <a:bodyPr/>
                        <a:lstStyle/>
                        <a:p>
                          <a:pPr algn="ctr"/>
                          <a:r>
                            <a:rPr lang="en-GB" sz="2400" dirty="0"/>
                            <a:t>0</a:t>
                          </a:r>
                        </a:p>
                      </a:txBody>
                      <a:tcPr/>
                    </a:tc>
                    <a:extLst>
                      <a:ext uri="{0D108BD9-81ED-4DB2-BD59-A6C34878D82A}">
                        <a16:rowId xmlns:a16="http://schemas.microsoft.com/office/drawing/2014/main" val="10003"/>
                      </a:ext>
                    </a:extLst>
                  </a:tr>
                  <a:tr h="455079">
                    <a:tc>
                      <a:txBody>
                        <a:bodyPr/>
                        <a:lstStyle/>
                        <a:p>
                          <a:pPr algn="ctr"/>
                          <a:r>
                            <a:rPr lang="en-GB" sz="2400" dirty="0"/>
                            <a:t>1</a:t>
                          </a:r>
                        </a:p>
                      </a:txBody>
                      <a:tcPr/>
                    </a:tc>
                    <a:tc>
                      <a:txBody>
                        <a:bodyPr/>
                        <a:lstStyle/>
                        <a:p>
                          <a:pPr algn="ctr"/>
                          <a:r>
                            <a:rPr lang="en-GB" sz="2400" dirty="0" err="1"/>
                            <a:t>1</a:t>
                          </a:r>
                          <a:endParaRPr lang="en-GB" sz="2400" dirty="0"/>
                        </a:p>
                      </a:txBody>
                      <a:tcPr/>
                    </a:tc>
                    <a:extLst>
                      <a:ext uri="{0D108BD9-81ED-4DB2-BD59-A6C34878D82A}">
                        <a16:rowId xmlns:a16="http://schemas.microsoft.com/office/drawing/2014/main" val="10004"/>
                      </a:ext>
                    </a:extLst>
                  </a:tr>
                </a:tbl>
              </a:graphicData>
            </a:graphic>
          </p:graphicFrame>
        </mc:Choice>
        <mc:Fallback xmlns="">
          <p:graphicFrame>
            <p:nvGraphicFramePr>
              <p:cNvPr id="11" name="Table 10"/>
              <p:cNvGraphicFramePr>
                <a:graphicFrameLocks noGrp="1"/>
              </p:cNvGraphicFramePr>
              <p:nvPr>
                <p:extLst>
                  <p:ext uri="{D42A27DB-BD31-4B8C-83A1-F6EECF244321}">
                    <p14:modId xmlns:p14="http://schemas.microsoft.com/office/powerpoint/2010/main" val="2039747203"/>
                  </p:ext>
                </p:extLst>
              </p:nvPr>
            </p:nvGraphicFramePr>
            <p:xfrm>
              <a:off x="762000" y="4026059"/>
              <a:ext cx="1524000" cy="2255520"/>
            </p:xfrm>
            <a:graphic>
              <a:graphicData uri="http://schemas.openxmlformats.org/drawingml/2006/table">
                <a:tbl>
                  <a:tblPr firstRow="1" bandRow="1">
                    <a:tableStyleId>{5C22544A-7EE6-4342-B048-85BDC9FD1C3A}</a:tableStyleId>
                  </a:tblPr>
                  <a:tblGrid>
                    <a:gridCol w="731520">
                      <a:extLst>
                        <a:ext uri="{9D8B030D-6E8A-4147-A177-3AD203B41FA5}">
                          <a16:colId xmlns:a16="http://schemas.microsoft.com/office/drawing/2014/main" val="20000"/>
                        </a:ext>
                      </a:extLst>
                    </a:gridCol>
                    <a:gridCol w="792480">
                      <a:extLst>
                        <a:ext uri="{9D8B030D-6E8A-4147-A177-3AD203B41FA5}">
                          <a16:colId xmlns:a16="http://schemas.microsoft.com/office/drawing/2014/main" val="20001"/>
                        </a:ext>
                      </a:extLst>
                    </a:gridCol>
                  </a:tblGrid>
                  <a:tr h="426720">
                    <a:tc>
                      <a:txBody>
                        <a:bodyPr/>
                        <a:lstStyle/>
                        <a:p>
                          <a:endParaRPr lang="en-US"/>
                        </a:p>
                      </a:txBody>
                      <a:tcPr>
                        <a:blipFill>
                          <a:blip r:embed="rId3"/>
                          <a:stretch>
                            <a:fillRect l="-1667" t="-1429" r="-112500" b="-461429"/>
                          </a:stretch>
                        </a:blipFill>
                      </a:tcPr>
                    </a:tc>
                    <a:tc>
                      <a:txBody>
                        <a:bodyPr/>
                        <a:lstStyle/>
                        <a:p>
                          <a:endParaRPr lang="en-US"/>
                        </a:p>
                      </a:txBody>
                      <a:tcPr>
                        <a:blipFill>
                          <a:blip r:embed="rId3"/>
                          <a:stretch>
                            <a:fillRect l="-93846" t="-1429" r="-3846" b="-461429"/>
                          </a:stretch>
                        </a:blipFill>
                      </a:tcPr>
                    </a:tc>
                    <a:extLst>
                      <a:ext uri="{0D108BD9-81ED-4DB2-BD59-A6C34878D82A}">
                        <a16:rowId xmlns:a16="http://schemas.microsoft.com/office/drawing/2014/main" val="10000"/>
                      </a:ext>
                    </a:extLst>
                  </a:tr>
                  <a:tr h="457200">
                    <a:tc>
                      <a:txBody>
                        <a:bodyPr/>
                        <a:lstStyle/>
                        <a:p>
                          <a:pPr algn="ctr"/>
                          <a:r>
                            <a:rPr lang="en-GB" sz="2400" dirty="0"/>
                            <a:t>0</a:t>
                          </a:r>
                        </a:p>
                      </a:txBody>
                      <a:tcPr/>
                    </a:tc>
                    <a:tc>
                      <a:txBody>
                        <a:bodyPr/>
                        <a:lstStyle/>
                        <a:p>
                          <a:pPr algn="ctr"/>
                          <a:r>
                            <a:rPr lang="en-GB" sz="2400" dirty="0"/>
                            <a:t>0</a:t>
                          </a:r>
                        </a:p>
                      </a:txBody>
                      <a:tcPr/>
                    </a:tc>
                    <a:extLst>
                      <a:ext uri="{0D108BD9-81ED-4DB2-BD59-A6C34878D82A}">
                        <a16:rowId xmlns:a16="http://schemas.microsoft.com/office/drawing/2014/main" val="10001"/>
                      </a:ext>
                    </a:extLst>
                  </a:tr>
                  <a:tr h="457200">
                    <a:tc>
                      <a:txBody>
                        <a:bodyPr/>
                        <a:lstStyle/>
                        <a:p>
                          <a:pPr algn="ctr"/>
                          <a:r>
                            <a:rPr lang="en-GB" sz="2400" dirty="0"/>
                            <a:t>0</a:t>
                          </a:r>
                        </a:p>
                      </a:txBody>
                      <a:tcPr/>
                    </a:tc>
                    <a:tc>
                      <a:txBody>
                        <a:bodyPr/>
                        <a:lstStyle/>
                        <a:p>
                          <a:pPr algn="ctr"/>
                          <a:r>
                            <a:rPr lang="en-GB" sz="2400" dirty="0"/>
                            <a:t>1</a:t>
                          </a:r>
                        </a:p>
                      </a:txBody>
                      <a:tcPr/>
                    </a:tc>
                    <a:extLst>
                      <a:ext uri="{0D108BD9-81ED-4DB2-BD59-A6C34878D82A}">
                        <a16:rowId xmlns:a16="http://schemas.microsoft.com/office/drawing/2014/main" val="10002"/>
                      </a:ext>
                    </a:extLst>
                  </a:tr>
                  <a:tr h="457200">
                    <a:tc>
                      <a:txBody>
                        <a:bodyPr/>
                        <a:lstStyle/>
                        <a:p>
                          <a:pPr algn="ctr"/>
                          <a:r>
                            <a:rPr lang="en-GB" sz="2400" dirty="0"/>
                            <a:t>1</a:t>
                          </a:r>
                        </a:p>
                      </a:txBody>
                      <a:tcPr/>
                    </a:tc>
                    <a:tc>
                      <a:txBody>
                        <a:bodyPr/>
                        <a:lstStyle/>
                        <a:p>
                          <a:pPr algn="ctr"/>
                          <a:r>
                            <a:rPr lang="en-GB" sz="2400" dirty="0"/>
                            <a:t>0</a:t>
                          </a:r>
                        </a:p>
                      </a:txBody>
                      <a:tcPr/>
                    </a:tc>
                    <a:extLst>
                      <a:ext uri="{0D108BD9-81ED-4DB2-BD59-A6C34878D82A}">
                        <a16:rowId xmlns:a16="http://schemas.microsoft.com/office/drawing/2014/main" val="10003"/>
                      </a:ext>
                    </a:extLst>
                  </a:tr>
                  <a:tr h="457200">
                    <a:tc>
                      <a:txBody>
                        <a:bodyPr/>
                        <a:lstStyle/>
                        <a:p>
                          <a:pPr algn="ctr"/>
                          <a:r>
                            <a:rPr lang="en-GB" sz="2400" dirty="0"/>
                            <a:t>1</a:t>
                          </a:r>
                        </a:p>
                      </a:txBody>
                      <a:tcPr/>
                    </a:tc>
                    <a:tc>
                      <a:txBody>
                        <a:bodyPr/>
                        <a:lstStyle/>
                        <a:p>
                          <a:pPr algn="ctr"/>
                          <a:r>
                            <a:rPr lang="en-GB" sz="2400" dirty="0" err="1"/>
                            <a:t>1</a:t>
                          </a:r>
                          <a:endParaRPr lang="en-GB" sz="2400" dirty="0"/>
                        </a:p>
                      </a:txBody>
                      <a:tcPr/>
                    </a:tc>
                    <a:extLst>
                      <a:ext uri="{0D108BD9-81ED-4DB2-BD59-A6C34878D82A}">
                        <a16:rowId xmlns:a16="http://schemas.microsoft.com/office/drawing/2014/main" val="10004"/>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12" name="Table 11"/>
              <p:cNvGraphicFramePr>
                <a:graphicFrameLocks noGrp="1"/>
              </p:cNvGraphicFramePr>
              <p:nvPr>
                <p:extLst>
                  <p:ext uri="{D42A27DB-BD31-4B8C-83A1-F6EECF244321}">
                    <p14:modId xmlns:p14="http://schemas.microsoft.com/office/powerpoint/2010/main" val="3356674281"/>
                  </p:ext>
                </p:extLst>
              </p:nvPr>
            </p:nvGraphicFramePr>
            <p:xfrm>
              <a:off x="2238224" y="4017187"/>
              <a:ext cx="657376" cy="2286000"/>
            </p:xfrm>
            <a:graphic>
              <a:graphicData uri="http://schemas.openxmlformats.org/drawingml/2006/table">
                <a:tbl>
                  <a:tblPr firstRow="1" bandRow="1">
                    <a:tableStyleId>{5C22544A-7EE6-4342-B048-85BDC9FD1C3A}</a:tableStyleId>
                  </a:tblPr>
                  <a:tblGrid>
                    <a:gridCol w="657376">
                      <a:extLst>
                        <a:ext uri="{9D8B030D-6E8A-4147-A177-3AD203B41FA5}">
                          <a16:colId xmlns:a16="http://schemas.microsoft.com/office/drawing/2014/main" val="20000"/>
                        </a:ext>
                      </a:extLst>
                    </a:gridCol>
                  </a:tblGrid>
                  <a:tr h="441960">
                    <a:tc>
                      <a:txBody>
                        <a:bodyPr/>
                        <a:lstStyle/>
                        <a:p>
                          <a:pPr algn="ctr"/>
                          <a14:m>
                            <m:oMathPara xmlns:m="http://schemas.openxmlformats.org/officeDocument/2006/math">
                              <m:oMathParaPr>
                                <m:jc m:val="centerGroup"/>
                              </m:oMathParaPr>
                              <m:oMath xmlns:m="http://schemas.openxmlformats.org/officeDocument/2006/math">
                                <m:r>
                                  <m:rPr>
                                    <m:nor/>
                                  </m:rPr>
                                  <a:rPr lang="en-US" sz="2400" b="1" i="1" kern="1200" dirty="0" smtClean="0">
                                    <a:solidFill>
                                      <a:schemeClr val="dk1"/>
                                    </a:solidFill>
                                    <a:latin typeface="Cambria Math" panose="02040503050406030204" pitchFamily="18" charset="0"/>
                                    <a:ea typeface="Cambria Math" panose="02040503050406030204" pitchFamily="18" charset="0"/>
                                    <a:cs typeface="+mn-cs"/>
                                  </a:rPr>
                                  <m:t>￢ </m:t>
                                </m:r>
                                <m:r>
                                  <a:rPr lang="en-GB" sz="2400" b="1" i="1" smtClean="0">
                                    <a:solidFill>
                                      <a:schemeClr val="tx1"/>
                                    </a:solidFill>
                                    <a:latin typeface="Cambria Math" panose="02040503050406030204" pitchFamily="18" charset="0"/>
                                  </a:rPr>
                                  <m:t>𝒑</m:t>
                                </m:r>
                              </m:oMath>
                            </m:oMathPara>
                          </a14:m>
                          <a:endParaRPr lang="en-GB" sz="2400" dirty="0">
                            <a:solidFill>
                              <a:schemeClr val="tx1"/>
                            </a:solidFill>
                          </a:endParaRPr>
                        </a:p>
                      </a:txBody>
                      <a:tcPr/>
                    </a:tc>
                    <a:extLst>
                      <a:ext uri="{0D108BD9-81ED-4DB2-BD59-A6C34878D82A}">
                        <a16:rowId xmlns:a16="http://schemas.microsoft.com/office/drawing/2014/main" val="10000"/>
                      </a:ext>
                    </a:extLst>
                  </a:tr>
                  <a:tr h="441960">
                    <a:tc>
                      <a:txBody>
                        <a:bodyPr/>
                        <a:lstStyle/>
                        <a:p>
                          <a:pPr algn="ctr"/>
                          <a:r>
                            <a:rPr lang="en-GB" sz="2400" dirty="0"/>
                            <a:t>1</a:t>
                          </a:r>
                        </a:p>
                      </a:txBody>
                      <a:tcPr/>
                    </a:tc>
                    <a:extLst>
                      <a:ext uri="{0D108BD9-81ED-4DB2-BD59-A6C34878D82A}">
                        <a16:rowId xmlns:a16="http://schemas.microsoft.com/office/drawing/2014/main" val="10001"/>
                      </a:ext>
                    </a:extLst>
                  </a:tr>
                  <a:tr h="441960">
                    <a:tc>
                      <a:txBody>
                        <a:bodyPr/>
                        <a:lstStyle/>
                        <a:p>
                          <a:pPr algn="ctr"/>
                          <a:r>
                            <a:rPr lang="en-GB" sz="2400" dirty="0"/>
                            <a:t>1</a:t>
                          </a:r>
                        </a:p>
                      </a:txBody>
                      <a:tcPr/>
                    </a:tc>
                    <a:extLst>
                      <a:ext uri="{0D108BD9-81ED-4DB2-BD59-A6C34878D82A}">
                        <a16:rowId xmlns:a16="http://schemas.microsoft.com/office/drawing/2014/main" val="10002"/>
                      </a:ext>
                    </a:extLst>
                  </a:tr>
                  <a:tr h="441960">
                    <a:tc>
                      <a:txBody>
                        <a:bodyPr/>
                        <a:lstStyle/>
                        <a:p>
                          <a:pPr algn="ctr"/>
                          <a:r>
                            <a:rPr lang="en-GB" sz="2400" dirty="0"/>
                            <a:t>0</a:t>
                          </a:r>
                        </a:p>
                      </a:txBody>
                      <a:tcPr/>
                    </a:tc>
                    <a:extLst>
                      <a:ext uri="{0D108BD9-81ED-4DB2-BD59-A6C34878D82A}">
                        <a16:rowId xmlns:a16="http://schemas.microsoft.com/office/drawing/2014/main" val="10003"/>
                      </a:ext>
                    </a:extLst>
                  </a:tr>
                  <a:tr h="441960">
                    <a:tc>
                      <a:txBody>
                        <a:bodyPr/>
                        <a:lstStyle/>
                        <a:p>
                          <a:pPr algn="ctr"/>
                          <a:r>
                            <a:rPr lang="en-GB" sz="2400" dirty="0"/>
                            <a:t>0</a:t>
                          </a:r>
                        </a:p>
                      </a:txBody>
                      <a:tcPr/>
                    </a:tc>
                    <a:extLst>
                      <a:ext uri="{0D108BD9-81ED-4DB2-BD59-A6C34878D82A}">
                        <a16:rowId xmlns:a16="http://schemas.microsoft.com/office/drawing/2014/main" val="10004"/>
                      </a:ext>
                    </a:extLst>
                  </a:tr>
                </a:tbl>
              </a:graphicData>
            </a:graphic>
          </p:graphicFrame>
        </mc:Choice>
        <mc:Fallback xmlns="">
          <p:graphicFrame>
            <p:nvGraphicFramePr>
              <p:cNvPr id="12" name="Table 11"/>
              <p:cNvGraphicFramePr>
                <a:graphicFrameLocks noGrp="1"/>
              </p:cNvGraphicFramePr>
              <p:nvPr>
                <p:extLst>
                  <p:ext uri="{D42A27DB-BD31-4B8C-83A1-F6EECF244321}">
                    <p14:modId xmlns:p14="http://schemas.microsoft.com/office/powerpoint/2010/main" val="3356674281"/>
                  </p:ext>
                </p:extLst>
              </p:nvPr>
            </p:nvGraphicFramePr>
            <p:xfrm>
              <a:off x="2238224" y="4017187"/>
              <a:ext cx="657376" cy="2286000"/>
            </p:xfrm>
            <a:graphic>
              <a:graphicData uri="http://schemas.openxmlformats.org/drawingml/2006/table">
                <a:tbl>
                  <a:tblPr firstRow="1" bandRow="1">
                    <a:tableStyleId>{5C22544A-7EE6-4342-B048-85BDC9FD1C3A}</a:tableStyleId>
                  </a:tblPr>
                  <a:tblGrid>
                    <a:gridCol w="657376">
                      <a:extLst>
                        <a:ext uri="{9D8B030D-6E8A-4147-A177-3AD203B41FA5}">
                          <a16:colId xmlns:a16="http://schemas.microsoft.com/office/drawing/2014/main" val="20000"/>
                        </a:ext>
                      </a:extLst>
                    </a:gridCol>
                  </a:tblGrid>
                  <a:tr h="457200">
                    <a:tc>
                      <a:txBody>
                        <a:bodyPr/>
                        <a:lstStyle/>
                        <a:p>
                          <a:endParaRPr lang="en-US"/>
                        </a:p>
                      </a:txBody>
                      <a:tcPr>
                        <a:blipFill>
                          <a:blip r:embed="rId4"/>
                          <a:stretch>
                            <a:fillRect l="-926" t="-1333" r="-4630" b="-432000"/>
                          </a:stretch>
                        </a:blipFill>
                      </a:tcPr>
                    </a:tc>
                    <a:extLst>
                      <a:ext uri="{0D108BD9-81ED-4DB2-BD59-A6C34878D82A}">
                        <a16:rowId xmlns:a16="http://schemas.microsoft.com/office/drawing/2014/main" val="10000"/>
                      </a:ext>
                    </a:extLst>
                  </a:tr>
                  <a:tr h="457200">
                    <a:tc>
                      <a:txBody>
                        <a:bodyPr/>
                        <a:lstStyle/>
                        <a:p>
                          <a:pPr algn="ctr"/>
                          <a:r>
                            <a:rPr lang="en-GB" sz="2400" dirty="0"/>
                            <a:t>1</a:t>
                          </a:r>
                        </a:p>
                      </a:txBody>
                      <a:tcPr/>
                    </a:tc>
                    <a:extLst>
                      <a:ext uri="{0D108BD9-81ED-4DB2-BD59-A6C34878D82A}">
                        <a16:rowId xmlns:a16="http://schemas.microsoft.com/office/drawing/2014/main" val="10001"/>
                      </a:ext>
                    </a:extLst>
                  </a:tr>
                  <a:tr h="457200">
                    <a:tc>
                      <a:txBody>
                        <a:bodyPr/>
                        <a:lstStyle/>
                        <a:p>
                          <a:pPr algn="ctr"/>
                          <a:r>
                            <a:rPr lang="en-GB" sz="2400" dirty="0"/>
                            <a:t>1</a:t>
                          </a:r>
                        </a:p>
                      </a:txBody>
                      <a:tcPr/>
                    </a:tc>
                    <a:extLst>
                      <a:ext uri="{0D108BD9-81ED-4DB2-BD59-A6C34878D82A}">
                        <a16:rowId xmlns:a16="http://schemas.microsoft.com/office/drawing/2014/main" val="10002"/>
                      </a:ext>
                    </a:extLst>
                  </a:tr>
                  <a:tr h="457200">
                    <a:tc>
                      <a:txBody>
                        <a:bodyPr/>
                        <a:lstStyle/>
                        <a:p>
                          <a:pPr algn="ctr"/>
                          <a:r>
                            <a:rPr lang="en-GB" sz="2400" dirty="0"/>
                            <a:t>0</a:t>
                          </a:r>
                        </a:p>
                      </a:txBody>
                      <a:tcPr/>
                    </a:tc>
                    <a:extLst>
                      <a:ext uri="{0D108BD9-81ED-4DB2-BD59-A6C34878D82A}">
                        <a16:rowId xmlns:a16="http://schemas.microsoft.com/office/drawing/2014/main" val="10003"/>
                      </a:ext>
                    </a:extLst>
                  </a:tr>
                  <a:tr h="457200">
                    <a:tc>
                      <a:txBody>
                        <a:bodyPr/>
                        <a:lstStyle/>
                        <a:p>
                          <a:pPr algn="ctr"/>
                          <a:r>
                            <a:rPr lang="en-GB" sz="2400" dirty="0"/>
                            <a:t>0</a:t>
                          </a:r>
                        </a:p>
                      </a:txBody>
                      <a:tcPr/>
                    </a:tc>
                    <a:extLst>
                      <a:ext uri="{0D108BD9-81ED-4DB2-BD59-A6C34878D82A}">
                        <a16:rowId xmlns:a16="http://schemas.microsoft.com/office/drawing/2014/main" val="10004"/>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13" name="Table 12"/>
              <p:cNvGraphicFramePr>
                <a:graphicFrameLocks noGrp="1"/>
              </p:cNvGraphicFramePr>
              <p:nvPr>
                <p:extLst>
                  <p:ext uri="{D42A27DB-BD31-4B8C-83A1-F6EECF244321}">
                    <p14:modId xmlns:p14="http://schemas.microsoft.com/office/powerpoint/2010/main" val="2810885721"/>
                  </p:ext>
                </p:extLst>
              </p:nvPr>
            </p:nvGraphicFramePr>
            <p:xfrm>
              <a:off x="2895600" y="4019459"/>
              <a:ext cx="657376" cy="2286000"/>
            </p:xfrm>
            <a:graphic>
              <a:graphicData uri="http://schemas.openxmlformats.org/drawingml/2006/table">
                <a:tbl>
                  <a:tblPr firstRow="1" bandRow="1">
                    <a:tableStyleId>{5C22544A-7EE6-4342-B048-85BDC9FD1C3A}</a:tableStyleId>
                  </a:tblPr>
                  <a:tblGrid>
                    <a:gridCol w="657376">
                      <a:extLst>
                        <a:ext uri="{9D8B030D-6E8A-4147-A177-3AD203B41FA5}">
                          <a16:colId xmlns:a16="http://schemas.microsoft.com/office/drawing/2014/main" val="20000"/>
                        </a:ext>
                      </a:extLst>
                    </a:gridCol>
                  </a:tblGrid>
                  <a:tr h="441960">
                    <a:tc>
                      <a:txBody>
                        <a:bodyPr/>
                        <a:lstStyle/>
                        <a:p>
                          <a:pPr algn="ctr"/>
                          <a14:m>
                            <m:oMathPara xmlns:m="http://schemas.openxmlformats.org/officeDocument/2006/math">
                              <m:oMathParaPr>
                                <m:jc m:val="centerGroup"/>
                              </m:oMathParaPr>
                              <m:oMath xmlns:m="http://schemas.openxmlformats.org/officeDocument/2006/math">
                                <m:r>
                                  <m:rPr>
                                    <m:nor/>
                                  </m:rPr>
                                  <a:rPr lang="en-US" sz="2400" b="1" i="1" kern="1200" dirty="0" smtClean="0">
                                    <a:solidFill>
                                      <a:schemeClr val="dk1"/>
                                    </a:solidFill>
                                    <a:latin typeface="Cambria Math" panose="02040503050406030204" pitchFamily="18" charset="0"/>
                                    <a:ea typeface="Cambria Math" panose="02040503050406030204" pitchFamily="18" charset="0"/>
                                    <a:cs typeface="+mn-cs"/>
                                  </a:rPr>
                                  <m:t>￢</m:t>
                                </m:r>
                                <m:r>
                                  <a:rPr lang="en-US" sz="2400" b="1" i="1" kern="1200" dirty="0" smtClean="0">
                                    <a:solidFill>
                                      <a:schemeClr val="dk1"/>
                                    </a:solidFill>
                                    <a:latin typeface="Cambria Math" panose="02040503050406030204" pitchFamily="18" charset="0"/>
                                    <a:ea typeface="Cambria Math" panose="02040503050406030204" pitchFamily="18" charset="0"/>
                                    <a:cs typeface="+mn-cs"/>
                                  </a:rPr>
                                  <m:t> </m:t>
                                </m:r>
                                <m:r>
                                  <a:rPr lang="en-GB" sz="2400" b="1" i="1" smtClean="0">
                                    <a:solidFill>
                                      <a:schemeClr val="tx1"/>
                                    </a:solidFill>
                                    <a:latin typeface="Cambria Math" panose="02040503050406030204" pitchFamily="18" charset="0"/>
                                    <a:ea typeface="Cambria Math" panose="02040503050406030204" pitchFamily="18" charset="0"/>
                                  </a:rPr>
                                  <m:t>𝒒</m:t>
                                </m:r>
                              </m:oMath>
                            </m:oMathPara>
                          </a14:m>
                          <a:endParaRPr lang="en-GB" sz="2400" dirty="0">
                            <a:solidFill>
                              <a:schemeClr val="tx1"/>
                            </a:solidFill>
                          </a:endParaRPr>
                        </a:p>
                      </a:txBody>
                      <a:tcPr/>
                    </a:tc>
                    <a:extLst>
                      <a:ext uri="{0D108BD9-81ED-4DB2-BD59-A6C34878D82A}">
                        <a16:rowId xmlns:a16="http://schemas.microsoft.com/office/drawing/2014/main" val="10000"/>
                      </a:ext>
                    </a:extLst>
                  </a:tr>
                  <a:tr h="441960">
                    <a:tc>
                      <a:txBody>
                        <a:bodyPr/>
                        <a:lstStyle/>
                        <a:p>
                          <a:pPr algn="ctr"/>
                          <a:r>
                            <a:rPr lang="en-GB" sz="2400" dirty="0"/>
                            <a:t>1</a:t>
                          </a:r>
                        </a:p>
                      </a:txBody>
                      <a:tcPr/>
                    </a:tc>
                    <a:extLst>
                      <a:ext uri="{0D108BD9-81ED-4DB2-BD59-A6C34878D82A}">
                        <a16:rowId xmlns:a16="http://schemas.microsoft.com/office/drawing/2014/main" val="10001"/>
                      </a:ext>
                    </a:extLst>
                  </a:tr>
                  <a:tr h="441960">
                    <a:tc>
                      <a:txBody>
                        <a:bodyPr/>
                        <a:lstStyle/>
                        <a:p>
                          <a:pPr algn="ctr"/>
                          <a:r>
                            <a:rPr lang="en-GB" sz="2400" dirty="0"/>
                            <a:t>0</a:t>
                          </a:r>
                        </a:p>
                      </a:txBody>
                      <a:tcPr/>
                    </a:tc>
                    <a:extLst>
                      <a:ext uri="{0D108BD9-81ED-4DB2-BD59-A6C34878D82A}">
                        <a16:rowId xmlns:a16="http://schemas.microsoft.com/office/drawing/2014/main" val="10002"/>
                      </a:ext>
                    </a:extLst>
                  </a:tr>
                  <a:tr h="441960">
                    <a:tc>
                      <a:txBody>
                        <a:bodyPr/>
                        <a:lstStyle/>
                        <a:p>
                          <a:pPr algn="ctr"/>
                          <a:r>
                            <a:rPr lang="en-GB" sz="2400" dirty="0"/>
                            <a:t>1</a:t>
                          </a:r>
                        </a:p>
                      </a:txBody>
                      <a:tcPr/>
                    </a:tc>
                    <a:extLst>
                      <a:ext uri="{0D108BD9-81ED-4DB2-BD59-A6C34878D82A}">
                        <a16:rowId xmlns:a16="http://schemas.microsoft.com/office/drawing/2014/main" val="10003"/>
                      </a:ext>
                    </a:extLst>
                  </a:tr>
                  <a:tr h="441960">
                    <a:tc>
                      <a:txBody>
                        <a:bodyPr/>
                        <a:lstStyle/>
                        <a:p>
                          <a:pPr algn="ctr"/>
                          <a:r>
                            <a:rPr lang="en-GB" sz="2400" dirty="0"/>
                            <a:t>0</a:t>
                          </a:r>
                        </a:p>
                      </a:txBody>
                      <a:tcPr/>
                    </a:tc>
                    <a:extLst>
                      <a:ext uri="{0D108BD9-81ED-4DB2-BD59-A6C34878D82A}">
                        <a16:rowId xmlns:a16="http://schemas.microsoft.com/office/drawing/2014/main" val="10004"/>
                      </a:ext>
                    </a:extLst>
                  </a:tr>
                </a:tbl>
              </a:graphicData>
            </a:graphic>
          </p:graphicFrame>
        </mc:Choice>
        <mc:Fallback xmlns="">
          <p:graphicFrame>
            <p:nvGraphicFramePr>
              <p:cNvPr id="13" name="Table 12"/>
              <p:cNvGraphicFramePr>
                <a:graphicFrameLocks noGrp="1"/>
              </p:cNvGraphicFramePr>
              <p:nvPr>
                <p:extLst>
                  <p:ext uri="{D42A27DB-BD31-4B8C-83A1-F6EECF244321}">
                    <p14:modId xmlns:p14="http://schemas.microsoft.com/office/powerpoint/2010/main" val="2810885721"/>
                  </p:ext>
                </p:extLst>
              </p:nvPr>
            </p:nvGraphicFramePr>
            <p:xfrm>
              <a:off x="2895600" y="4019459"/>
              <a:ext cx="657376" cy="2286000"/>
            </p:xfrm>
            <a:graphic>
              <a:graphicData uri="http://schemas.openxmlformats.org/drawingml/2006/table">
                <a:tbl>
                  <a:tblPr firstRow="1" bandRow="1">
                    <a:tableStyleId>{5C22544A-7EE6-4342-B048-85BDC9FD1C3A}</a:tableStyleId>
                  </a:tblPr>
                  <a:tblGrid>
                    <a:gridCol w="657376">
                      <a:extLst>
                        <a:ext uri="{9D8B030D-6E8A-4147-A177-3AD203B41FA5}">
                          <a16:colId xmlns:a16="http://schemas.microsoft.com/office/drawing/2014/main" val="20000"/>
                        </a:ext>
                      </a:extLst>
                    </a:gridCol>
                  </a:tblGrid>
                  <a:tr h="457200">
                    <a:tc>
                      <a:txBody>
                        <a:bodyPr/>
                        <a:lstStyle/>
                        <a:p>
                          <a:endParaRPr lang="en-US"/>
                        </a:p>
                      </a:txBody>
                      <a:tcPr>
                        <a:blipFill>
                          <a:blip r:embed="rId5"/>
                          <a:stretch>
                            <a:fillRect l="-1852" t="-1333" r="-4630" b="-430667"/>
                          </a:stretch>
                        </a:blipFill>
                      </a:tcPr>
                    </a:tc>
                    <a:extLst>
                      <a:ext uri="{0D108BD9-81ED-4DB2-BD59-A6C34878D82A}">
                        <a16:rowId xmlns:a16="http://schemas.microsoft.com/office/drawing/2014/main" val="10000"/>
                      </a:ext>
                    </a:extLst>
                  </a:tr>
                  <a:tr h="457200">
                    <a:tc>
                      <a:txBody>
                        <a:bodyPr/>
                        <a:lstStyle/>
                        <a:p>
                          <a:pPr algn="ctr"/>
                          <a:r>
                            <a:rPr lang="en-GB" sz="2400" dirty="0"/>
                            <a:t>1</a:t>
                          </a:r>
                        </a:p>
                      </a:txBody>
                      <a:tcPr/>
                    </a:tc>
                    <a:extLst>
                      <a:ext uri="{0D108BD9-81ED-4DB2-BD59-A6C34878D82A}">
                        <a16:rowId xmlns:a16="http://schemas.microsoft.com/office/drawing/2014/main" val="10001"/>
                      </a:ext>
                    </a:extLst>
                  </a:tr>
                  <a:tr h="457200">
                    <a:tc>
                      <a:txBody>
                        <a:bodyPr/>
                        <a:lstStyle/>
                        <a:p>
                          <a:pPr algn="ctr"/>
                          <a:r>
                            <a:rPr lang="en-GB" sz="2400" dirty="0"/>
                            <a:t>0</a:t>
                          </a:r>
                        </a:p>
                      </a:txBody>
                      <a:tcPr/>
                    </a:tc>
                    <a:extLst>
                      <a:ext uri="{0D108BD9-81ED-4DB2-BD59-A6C34878D82A}">
                        <a16:rowId xmlns:a16="http://schemas.microsoft.com/office/drawing/2014/main" val="10002"/>
                      </a:ext>
                    </a:extLst>
                  </a:tr>
                  <a:tr h="457200">
                    <a:tc>
                      <a:txBody>
                        <a:bodyPr/>
                        <a:lstStyle/>
                        <a:p>
                          <a:pPr algn="ctr"/>
                          <a:r>
                            <a:rPr lang="en-GB" sz="2400" dirty="0"/>
                            <a:t>1</a:t>
                          </a:r>
                        </a:p>
                      </a:txBody>
                      <a:tcPr/>
                    </a:tc>
                    <a:extLst>
                      <a:ext uri="{0D108BD9-81ED-4DB2-BD59-A6C34878D82A}">
                        <a16:rowId xmlns:a16="http://schemas.microsoft.com/office/drawing/2014/main" val="10003"/>
                      </a:ext>
                    </a:extLst>
                  </a:tr>
                  <a:tr h="457200">
                    <a:tc>
                      <a:txBody>
                        <a:bodyPr/>
                        <a:lstStyle/>
                        <a:p>
                          <a:pPr algn="ctr"/>
                          <a:r>
                            <a:rPr lang="en-GB" sz="2400" dirty="0"/>
                            <a:t>0</a:t>
                          </a:r>
                        </a:p>
                      </a:txBody>
                      <a:tcPr/>
                    </a:tc>
                    <a:extLst>
                      <a:ext uri="{0D108BD9-81ED-4DB2-BD59-A6C34878D82A}">
                        <a16:rowId xmlns:a16="http://schemas.microsoft.com/office/drawing/2014/main" val="10004"/>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14" name="Table 13"/>
              <p:cNvGraphicFramePr>
                <a:graphicFrameLocks noGrp="1"/>
              </p:cNvGraphicFramePr>
              <p:nvPr>
                <p:extLst>
                  <p:ext uri="{D42A27DB-BD31-4B8C-83A1-F6EECF244321}">
                    <p14:modId xmlns:p14="http://schemas.microsoft.com/office/powerpoint/2010/main" val="2818561729"/>
                  </p:ext>
                </p:extLst>
              </p:nvPr>
            </p:nvGraphicFramePr>
            <p:xfrm>
              <a:off x="3581400" y="4022875"/>
              <a:ext cx="1143000" cy="2286000"/>
            </p:xfrm>
            <a:graphic>
              <a:graphicData uri="http://schemas.openxmlformats.org/drawingml/2006/table">
                <a:tbl>
                  <a:tblPr firstRow="1" bandRow="1">
                    <a:tableStyleId>{5C22544A-7EE6-4342-B048-85BDC9FD1C3A}</a:tableStyleId>
                  </a:tblPr>
                  <a:tblGrid>
                    <a:gridCol w="1143000">
                      <a:extLst>
                        <a:ext uri="{9D8B030D-6E8A-4147-A177-3AD203B41FA5}">
                          <a16:colId xmlns:a16="http://schemas.microsoft.com/office/drawing/2014/main" val="20000"/>
                        </a:ext>
                      </a:extLst>
                    </a:gridCol>
                  </a:tblGrid>
                  <a:tr h="441960">
                    <a:tc>
                      <a:txBody>
                        <a:bodyPr/>
                        <a:lstStyle/>
                        <a:p>
                          <a:pPr algn="ctr"/>
                          <a14:m>
                            <m:oMathPara xmlns:m="http://schemas.openxmlformats.org/officeDocument/2006/math">
                              <m:oMathParaPr>
                                <m:jc m:val="centerGroup"/>
                              </m:oMathParaPr>
                              <m:oMath xmlns:m="http://schemas.openxmlformats.org/officeDocument/2006/math">
                                <m:r>
                                  <m:rPr>
                                    <m:nor/>
                                  </m:rPr>
                                  <a:rPr lang="en-US" sz="2400" i="1" dirty="0" smtClean="0">
                                    <a:solidFill>
                                      <a:schemeClr val="dk1"/>
                                    </a:solidFill>
                                  </a:rPr>
                                  <m:t>(</m:t>
                                </m:r>
                                <m:r>
                                  <m:rPr>
                                    <m:nor/>
                                  </m:rPr>
                                  <a:rPr lang="en-US" sz="2400" i="1" dirty="0" smtClean="0">
                                    <a:solidFill>
                                      <a:schemeClr val="dk1"/>
                                    </a:solidFill>
                                  </a:rPr>
                                  <m:t>p</m:t>
                                </m:r>
                                <m:r>
                                  <m:rPr>
                                    <m:nor/>
                                  </m:rPr>
                                  <a:rPr lang="en-US" sz="2400" i="1" dirty="0" smtClean="0">
                                    <a:solidFill>
                                      <a:schemeClr val="dk1"/>
                                    </a:solidFill>
                                  </a:rPr>
                                  <m:t> ∧ </m:t>
                                </m:r>
                                <m:r>
                                  <m:rPr>
                                    <m:nor/>
                                  </m:rPr>
                                  <a:rPr lang="en-US" sz="2400" i="1" dirty="0" smtClean="0">
                                    <a:solidFill>
                                      <a:schemeClr val="dk1"/>
                                    </a:solidFill>
                                  </a:rPr>
                                  <m:t>q</m:t>
                                </m:r>
                                <m:r>
                                  <m:rPr>
                                    <m:nor/>
                                  </m:rPr>
                                  <a:rPr lang="en-US" sz="2400" i="1" dirty="0" smtClean="0">
                                    <a:solidFill>
                                      <a:schemeClr val="dk1"/>
                                    </a:solidFill>
                                  </a:rPr>
                                  <m:t>)</m:t>
                                </m:r>
                              </m:oMath>
                            </m:oMathPara>
                          </a14:m>
                          <a:endParaRPr lang="en-GB" sz="2400" dirty="0"/>
                        </a:p>
                      </a:txBody>
                      <a:tcPr/>
                    </a:tc>
                    <a:extLst>
                      <a:ext uri="{0D108BD9-81ED-4DB2-BD59-A6C34878D82A}">
                        <a16:rowId xmlns:a16="http://schemas.microsoft.com/office/drawing/2014/main" val="10000"/>
                      </a:ext>
                    </a:extLst>
                  </a:tr>
                  <a:tr h="441960">
                    <a:tc>
                      <a:txBody>
                        <a:bodyPr/>
                        <a:lstStyle/>
                        <a:p>
                          <a:pPr algn="ctr"/>
                          <a:r>
                            <a:rPr lang="en-GB" sz="2400" dirty="0"/>
                            <a:t>0</a:t>
                          </a:r>
                        </a:p>
                      </a:txBody>
                      <a:tcPr/>
                    </a:tc>
                    <a:extLst>
                      <a:ext uri="{0D108BD9-81ED-4DB2-BD59-A6C34878D82A}">
                        <a16:rowId xmlns:a16="http://schemas.microsoft.com/office/drawing/2014/main" val="10001"/>
                      </a:ext>
                    </a:extLst>
                  </a:tr>
                  <a:tr h="441960">
                    <a:tc>
                      <a:txBody>
                        <a:bodyPr/>
                        <a:lstStyle/>
                        <a:p>
                          <a:pPr algn="ctr"/>
                          <a:r>
                            <a:rPr lang="en-GB" sz="2400" dirty="0"/>
                            <a:t>0</a:t>
                          </a:r>
                        </a:p>
                      </a:txBody>
                      <a:tcPr/>
                    </a:tc>
                    <a:extLst>
                      <a:ext uri="{0D108BD9-81ED-4DB2-BD59-A6C34878D82A}">
                        <a16:rowId xmlns:a16="http://schemas.microsoft.com/office/drawing/2014/main" val="10002"/>
                      </a:ext>
                    </a:extLst>
                  </a:tr>
                  <a:tr h="441960">
                    <a:tc>
                      <a:txBody>
                        <a:bodyPr/>
                        <a:lstStyle/>
                        <a:p>
                          <a:pPr algn="ctr"/>
                          <a:r>
                            <a:rPr lang="en-GB" sz="2400" dirty="0"/>
                            <a:t>0</a:t>
                          </a:r>
                        </a:p>
                      </a:txBody>
                      <a:tcPr/>
                    </a:tc>
                    <a:extLst>
                      <a:ext uri="{0D108BD9-81ED-4DB2-BD59-A6C34878D82A}">
                        <a16:rowId xmlns:a16="http://schemas.microsoft.com/office/drawing/2014/main" val="10003"/>
                      </a:ext>
                    </a:extLst>
                  </a:tr>
                  <a:tr h="441960">
                    <a:tc>
                      <a:txBody>
                        <a:bodyPr/>
                        <a:lstStyle/>
                        <a:p>
                          <a:pPr algn="ctr"/>
                          <a:r>
                            <a:rPr lang="en-GB" sz="2400" dirty="0"/>
                            <a:t>1</a:t>
                          </a:r>
                        </a:p>
                      </a:txBody>
                      <a:tcPr/>
                    </a:tc>
                    <a:extLst>
                      <a:ext uri="{0D108BD9-81ED-4DB2-BD59-A6C34878D82A}">
                        <a16:rowId xmlns:a16="http://schemas.microsoft.com/office/drawing/2014/main" val="10004"/>
                      </a:ext>
                    </a:extLst>
                  </a:tr>
                </a:tbl>
              </a:graphicData>
            </a:graphic>
          </p:graphicFrame>
        </mc:Choice>
        <mc:Fallback xmlns="">
          <p:graphicFrame>
            <p:nvGraphicFramePr>
              <p:cNvPr id="14" name="Table 13"/>
              <p:cNvGraphicFramePr>
                <a:graphicFrameLocks noGrp="1"/>
              </p:cNvGraphicFramePr>
              <p:nvPr>
                <p:extLst>
                  <p:ext uri="{D42A27DB-BD31-4B8C-83A1-F6EECF244321}">
                    <p14:modId xmlns:p14="http://schemas.microsoft.com/office/powerpoint/2010/main" val="2818561729"/>
                  </p:ext>
                </p:extLst>
              </p:nvPr>
            </p:nvGraphicFramePr>
            <p:xfrm>
              <a:off x="3581400" y="4022875"/>
              <a:ext cx="1143000" cy="2286000"/>
            </p:xfrm>
            <a:graphic>
              <a:graphicData uri="http://schemas.openxmlformats.org/drawingml/2006/table">
                <a:tbl>
                  <a:tblPr firstRow="1" bandRow="1">
                    <a:tableStyleId>{5C22544A-7EE6-4342-B048-85BDC9FD1C3A}</a:tableStyleId>
                  </a:tblPr>
                  <a:tblGrid>
                    <a:gridCol w="1143000"/>
                  </a:tblGrid>
                  <a:tr h="457200">
                    <a:tc>
                      <a:txBody>
                        <a:bodyPr/>
                        <a:lstStyle/>
                        <a:p>
                          <a:endParaRPr lang="en-US"/>
                        </a:p>
                      </a:txBody>
                      <a:tcPr>
                        <a:blipFill rotWithShape="0">
                          <a:blip r:embed="rId6"/>
                          <a:stretch>
                            <a:fillRect l="-532" t="-1333" r="-2660" b="-433333"/>
                          </a:stretch>
                        </a:blipFill>
                      </a:tcPr>
                    </a:tc>
                  </a:tr>
                  <a:tr h="457200">
                    <a:tc>
                      <a:txBody>
                        <a:bodyPr/>
                        <a:lstStyle/>
                        <a:p>
                          <a:pPr algn="ctr"/>
                          <a:r>
                            <a:rPr lang="en-GB" sz="2400" dirty="0" smtClean="0"/>
                            <a:t>0</a:t>
                          </a:r>
                          <a:endParaRPr lang="en-GB" sz="2400" dirty="0"/>
                        </a:p>
                      </a:txBody>
                      <a:tcPr/>
                    </a:tc>
                  </a:tr>
                  <a:tr h="457200">
                    <a:tc>
                      <a:txBody>
                        <a:bodyPr/>
                        <a:lstStyle/>
                        <a:p>
                          <a:pPr algn="ctr"/>
                          <a:r>
                            <a:rPr lang="en-GB" sz="2400" dirty="0" smtClean="0"/>
                            <a:t>0</a:t>
                          </a:r>
                          <a:endParaRPr lang="en-GB" sz="2400" dirty="0"/>
                        </a:p>
                      </a:txBody>
                      <a:tcPr/>
                    </a:tc>
                  </a:tr>
                  <a:tr h="457200">
                    <a:tc>
                      <a:txBody>
                        <a:bodyPr/>
                        <a:lstStyle/>
                        <a:p>
                          <a:pPr algn="ctr"/>
                          <a:r>
                            <a:rPr lang="en-GB" sz="2400" dirty="0" smtClean="0"/>
                            <a:t>0</a:t>
                          </a:r>
                          <a:endParaRPr lang="en-GB" sz="2400" dirty="0"/>
                        </a:p>
                      </a:txBody>
                      <a:tcPr/>
                    </a:tc>
                  </a:tr>
                  <a:tr h="457200">
                    <a:tc>
                      <a:txBody>
                        <a:bodyPr/>
                        <a:lstStyle/>
                        <a:p>
                          <a:pPr algn="ctr"/>
                          <a:r>
                            <a:rPr lang="en-GB" sz="2400" dirty="0" smtClean="0"/>
                            <a:t>1</a:t>
                          </a:r>
                          <a:endParaRPr lang="en-GB" sz="2400" dirty="0"/>
                        </a:p>
                      </a:txBody>
                      <a:tcPr/>
                    </a:tc>
                  </a:tr>
                </a:tbl>
              </a:graphicData>
            </a:graphic>
          </p:graphicFrame>
        </mc:Fallback>
      </mc:AlternateContent>
      <mc:AlternateContent xmlns:mc="http://schemas.openxmlformats.org/markup-compatibility/2006" xmlns:a14="http://schemas.microsoft.com/office/drawing/2010/main">
        <mc:Choice Requires="a14">
          <p:graphicFrame>
            <p:nvGraphicFramePr>
              <p:cNvPr id="15" name="Table 14"/>
              <p:cNvGraphicFramePr>
                <a:graphicFrameLocks noGrp="1"/>
              </p:cNvGraphicFramePr>
              <p:nvPr>
                <p:extLst>
                  <p:ext uri="{D42A27DB-BD31-4B8C-83A1-F6EECF244321}">
                    <p14:modId xmlns:p14="http://schemas.microsoft.com/office/powerpoint/2010/main" val="3724786763"/>
                  </p:ext>
                </p:extLst>
              </p:nvPr>
            </p:nvGraphicFramePr>
            <p:xfrm>
              <a:off x="4724400" y="4038600"/>
              <a:ext cx="1450072" cy="2286000"/>
            </p:xfrm>
            <a:graphic>
              <a:graphicData uri="http://schemas.openxmlformats.org/drawingml/2006/table">
                <a:tbl>
                  <a:tblPr firstRow="1" bandRow="1">
                    <a:tableStyleId>{5C22544A-7EE6-4342-B048-85BDC9FD1C3A}</a:tableStyleId>
                  </a:tblPr>
                  <a:tblGrid>
                    <a:gridCol w="1450072">
                      <a:extLst>
                        <a:ext uri="{9D8B030D-6E8A-4147-A177-3AD203B41FA5}">
                          <a16:colId xmlns:a16="http://schemas.microsoft.com/office/drawing/2014/main" val="20000"/>
                        </a:ext>
                      </a:extLst>
                    </a:gridCol>
                  </a:tblGrid>
                  <a:tr h="441960">
                    <a:tc>
                      <a:txBody>
                        <a:bodyPr/>
                        <a:lstStyle/>
                        <a:p>
                          <a:pPr algn="ctr"/>
                          <a14:m>
                            <m:oMathPara xmlns:m="http://schemas.openxmlformats.org/officeDocument/2006/math">
                              <m:oMathParaPr>
                                <m:jc m:val="centerGroup"/>
                              </m:oMathParaPr>
                              <m:oMath xmlns:m="http://schemas.openxmlformats.org/officeDocument/2006/math">
                                <m:r>
                                  <m:rPr>
                                    <m:nor/>
                                  </m:rPr>
                                  <a:rPr lang="en-US" sz="2400" b="1" i="1" kern="1200" dirty="0" smtClean="0">
                                    <a:solidFill>
                                      <a:schemeClr val="dk1"/>
                                    </a:solidFill>
                                    <a:latin typeface="Cambria Math" panose="02040503050406030204" pitchFamily="18" charset="0"/>
                                    <a:ea typeface="Cambria Math" panose="02040503050406030204" pitchFamily="18" charset="0"/>
                                    <a:cs typeface="+mn-cs"/>
                                  </a:rPr>
                                  <m:t>￢ </m:t>
                                </m:r>
                                <m:r>
                                  <m:rPr>
                                    <m:nor/>
                                  </m:rPr>
                                  <a:rPr lang="en-US" sz="2400" i="1" dirty="0" smtClean="0">
                                    <a:solidFill>
                                      <a:schemeClr val="dk1"/>
                                    </a:solidFill>
                                  </a:rPr>
                                  <m:t>(</m:t>
                                </m:r>
                                <m:r>
                                  <m:rPr>
                                    <m:nor/>
                                  </m:rPr>
                                  <a:rPr lang="en-US" sz="2400" i="1" dirty="0" smtClean="0">
                                    <a:solidFill>
                                      <a:schemeClr val="dk1"/>
                                    </a:solidFill>
                                  </a:rPr>
                                  <m:t>p</m:t>
                                </m:r>
                                <m:r>
                                  <m:rPr>
                                    <m:nor/>
                                  </m:rPr>
                                  <a:rPr lang="en-US" sz="2400" i="1" dirty="0" smtClean="0">
                                    <a:solidFill>
                                      <a:schemeClr val="dk1"/>
                                    </a:solidFill>
                                  </a:rPr>
                                  <m:t> ∧ </m:t>
                                </m:r>
                                <m:r>
                                  <m:rPr>
                                    <m:nor/>
                                  </m:rPr>
                                  <a:rPr lang="en-US" sz="2400" i="1" dirty="0" smtClean="0">
                                    <a:solidFill>
                                      <a:schemeClr val="dk1"/>
                                    </a:solidFill>
                                  </a:rPr>
                                  <m:t>q</m:t>
                                </m:r>
                                <m:r>
                                  <m:rPr>
                                    <m:nor/>
                                  </m:rPr>
                                  <a:rPr lang="en-US" sz="2400" i="1" dirty="0" smtClean="0">
                                    <a:solidFill>
                                      <a:schemeClr val="dk1"/>
                                    </a:solidFill>
                                  </a:rPr>
                                  <m:t>)</m:t>
                                </m:r>
                              </m:oMath>
                            </m:oMathPara>
                          </a14:m>
                          <a:endParaRPr lang="en-GB" sz="2400" dirty="0"/>
                        </a:p>
                      </a:txBody>
                      <a:tcPr/>
                    </a:tc>
                    <a:extLst>
                      <a:ext uri="{0D108BD9-81ED-4DB2-BD59-A6C34878D82A}">
                        <a16:rowId xmlns:a16="http://schemas.microsoft.com/office/drawing/2014/main" val="10000"/>
                      </a:ext>
                    </a:extLst>
                  </a:tr>
                  <a:tr h="441960">
                    <a:tc>
                      <a:txBody>
                        <a:bodyPr/>
                        <a:lstStyle/>
                        <a:p>
                          <a:pPr algn="ctr"/>
                          <a:r>
                            <a:rPr lang="en-GB" sz="2400" dirty="0"/>
                            <a:t>1</a:t>
                          </a:r>
                        </a:p>
                      </a:txBody>
                      <a:tcPr/>
                    </a:tc>
                    <a:extLst>
                      <a:ext uri="{0D108BD9-81ED-4DB2-BD59-A6C34878D82A}">
                        <a16:rowId xmlns:a16="http://schemas.microsoft.com/office/drawing/2014/main" val="10001"/>
                      </a:ext>
                    </a:extLst>
                  </a:tr>
                  <a:tr h="441960">
                    <a:tc>
                      <a:txBody>
                        <a:bodyPr/>
                        <a:lstStyle/>
                        <a:p>
                          <a:pPr algn="ctr"/>
                          <a:r>
                            <a:rPr lang="en-GB" sz="2400" dirty="0"/>
                            <a:t>1</a:t>
                          </a:r>
                        </a:p>
                      </a:txBody>
                      <a:tcPr/>
                    </a:tc>
                    <a:extLst>
                      <a:ext uri="{0D108BD9-81ED-4DB2-BD59-A6C34878D82A}">
                        <a16:rowId xmlns:a16="http://schemas.microsoft.com/office/drawing/2014/main" val="10002"/>
                      </a:ext>
                    </a:extLst>
                  </a:tr>
                  <a:tr h="441960">
                    <a:tc>
                      <a:txBody>
                        <a:bodyPr/>
                        <a:lstStyle/>
                        <a:p>
                          <a:pPr algn="ctr"/>
                          <a:r>
                            <a:rPr lang="en-GB" sz="2400" dirty="0"/>
                            <a:t>1</a:t>
                          </a:r>
                        </a:p>
                      </a:txBody>
                      <a:tcPr/>
                    </a:tc>
                    <a:extLst>
                      <a:ext uri="{0D108BD9-81ED-4DB2-BD59-A6C34878D82A}">
                        <a16:rowId xmlns:a16="http://schemas.microsoft.com/office/drawing/2014/main" val="10003"/>
                      </a:ext>
                    </a:extLst>
                  </a:tr>
                  <a:tr h="441960">
                    <a:tc>
                      <a:txBody>
                        <a:bodyPr/>
                        <a:lstStyle/>
                        <a:p>
                          <a:pPr algn="ctr"/>
                          <a:r>
                            <a:rPr lang="en-GB" sz="2400" dirty="0"/>
                            <a:t>0</a:t>
                          </a:r>
                        </a:p>
                      </a:txBody>
                      <a:tcPr/>
                    </a:tc>
                    <a:extLst>
                      <a:ext uri="{0D108BD9-81ED-4DB2-BD59-A6C34878D82A}">
                        <a16:rowId xmlns:a16="http://schemas.microsoft.com/office/drawing/2014/main" val="10004"/>
                      </a:ext>
                    </a:extLst>
                  </a:tr>
                </a:tbl>
              </a:graphicData>
            </a:graphic>
          </p:graphicFrame>
        </mc:Choice>
        <mc:Fallback xmlns="">
          <p:graphicFrame>
            <p:nvGraphicFramePr>
              <p:cNvPr id="15" name="Table 14"/>
              <p:cNvGraphicFramePr>
                <a:graphicFrameLocks noGrp="1"/>
              </p:cNvGraphicFramePr>
              <p:nvPr>
                <p:extLst>
                  <p:ext uri="{D42A27DB-BD31-4B8C-83A1-F6EECF244321}">
                    <p14:modId xmlns:p14="http://schemas.microsoft.com/office/powerpoint/2010/main" val="3724786763"/>
                  </p:ext>
                </p:extLst>
              </p:nvPr>
            </p:nvGraphicFramePr>
            <p:xfrm>
              <a:off x="4724400" y="4038600"/>
              <a:ext cx="1450072" cy="2286000"/>
            </p:xfrm>
            <a:graphic>
              <a:graphicData uri="http://schemas.openxmlformats.org/drawingml/2006/table">
                <a:tbl>
                  <a:tblPr firstRow="1" bandRow="1">
                    <a:tableStyleId>{5C22544A-7EE6-4342-B048-85BDC9FD1C3A}</a:tableStyleId>
                  </a:tblPr>
                  <a:tblGrid>
                    <a:gridCol w="1450072">
                      <a:extLst>
                        <a:ext uri="{9D8B030D-6E8A-4147-A177-3AD203B41FA5}">
                          <a16:colId xmlns:a16="http://schemas.microsoft.com/office/drawing/2014/main" val="20000"/>
                        </a:ext>
                      </a:extLst>
                    </a:gridCol>
                  </a:tblGrid>
                  <a:tr h="457200">
                    <a:tc>
                      <a:txBody>
                        <a:bodyPr/>
                        <a:lstStyle/>
                        <a:p>
                          <a:endParaRPr lang="en-US"/>
                        </a:p>
                      </a:txBody>
                      <a:tcPr>
                        <a:blipFill>
                          <a:blip r:embed="rId7"/>
                          <a:stretch>
                            <a:fillRect l="-840" t="-1333" r="-2101" b="-430667"/>
                          </a:stretch>
                        </a:blipFill>
                      </a:tcPr>
                    </a:tc>
                    <a:extLst>
                      <a:ext uri="{0D108BD9-81ED-4DB2-BD59-A6C34878D82A}">
                        <a16:rowId xmlns:a16="http://schemas.microsoft.com/office/drawing/2014/main" val="10000"/>
                      </a:ext>
                    </a:extLst>
                  </a:tr>
                  <a:tr h="457200">
                    <a:tc>
                      <a:txBody>
                        <a:bodyPr/>
                        <a:lstStyle/>
                        <a:p>
                          <a:pPr algn="ctr"/>
                          <a:r>
                            <a:rPr lang="en-GB" sz="2400" dirty="0"/>
                            <a:t>1</a:t>
                          </a:r>
                        </a:p>
                      </a:txBody>
                      <a:tcPr/>
                    </a:tc>
                    <a:extLst>
                      <a:ext uri="{0D108BD9-81ED-4DB2-BD59-A6C34878D82A}">
                        <a16:rowId xmlns:a16="http://schemas.microsoft.com/office/drawing/2014/main" val="10001"/>
                      </a:ext>
                    </a:extLst>
                  </a:tr>
                  <a:tr h="457200">
                    <a:tc>
                      <a:txBody>
                        <a:bodyPr/>
                        <a:lstStyle/>
                        <a:p>
                          <a:pPr algn="ctr"/>
                          <a:r>
                            <a:rPr lang="en-GB" sz="2400" dirty="0"/>
                            <a:t>1</a:t>
                          </a:r>
                        </a:p>
                      </a:txBody>
                      <a:tcPr/>
                    </a:tc>
                    <a:extLst>
                      <a:ext uri="{0D108BD9-81ED-4DB2-BD59-A6C34878D82A}">
                        <a16:rowId xmlns:a16="http://schemas.microsoft.com/office/drawing/2014/main" val="10002"/>
                      </a:ext>
                    </a:extLst>
                  </a:tr>
                  <a:tr h="457200">
                    <a:tc>
                      <a:txBody>
                        <a:bodyPr/>
                        <a:lstStyle/>
                        <a:p>
                          <a:pPr algn="ctr"/>
                          <a:r>
                            <a:rPr lang="en-GB" sz="2400" dirty="0"/>
                            <a:t>1</a:t>
                          </a:r>
                        </a:p>
                      </a:txBody>
                      <a:tcPr/>
                    </a:tc>
                    <a:extLst>
                      <a:ext uri="{0D108BD9-81ED-4DB2-BD59-A6C34878D82A}">
                        <a16:rowId xmlns:a16="http://schemas.microsoft.com/office/drawing/2014/main" val="10003"/>
                      </a:ext>
                    </a:extLst>
                  </a:tr>
                  <a:tr h="457200">
                    <a:tc>
                      <a:txBody>
                        <a:bodyPr/>
                        <a:lstStyle/>
                        <a:p>
                          <a:pPr algn="ctr"/>
                          <a:r>
                            <a:rPr lang="en-GB" sz="2400" dirty="0"/>
                            <a:t>0</a:t>
                          </a:r>
                        </a:p>
                      </a:txBody>
                      <a:tcPr/>
                    </a:tc>
                    <a:extLst>
                      <a:ext uri="{0D108BD9-81ED-4DB2-BD59-A6C34878D82A}">
                        <a16:rowId xmlns:a16="http://schemas.microsoft.com/office/drawing/2014/main" val="10004"/>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16" name="Table 15"/>
              <p:cNvGraphicFramePr>
                <a:graphicFrameLocks noGrp="1"/>
              </p:cNvGraphicFramePr>
              <p:nvPr>
                <p:extLst>
                  <p:ext uri="{D42A27DB-BD31-4B8C-83A1-F6EECF244321}">
                    <p14:modId xmlns:p14="http://schemas.microsoft.com/office/powerpoint/2010/main" val="2871022955"/>
                  </p:ext>
                </p:extLst>
              </p:nvPr>
            </p:nvGraphicFramePr>
            <p:xfrm>
              <a:off x="6200074" y="4036523"/>
              <a:ext cx="1724725" cy="2286000"/>
            </p:xfrm>
            <a:graphic>
              <a:graphicData uri="http://schemas.openxmlformats.org/drawingml/2006/table">
                <a:tbl>
                  <a:tblPr firstRow="1" bandRow="1">
                    <a:tableStyleId>{5C22544A-7EE6-4342-B048-85BDC9FD1C3A}</a:tableStyleId>
                  </a:tblPr>
                  <a:tblGrid>
                    <a:gridCol w="1724725">
                      <a:extLst>
                        <a:ext uri="{9D8B030D-6E8A-4147-A177-3AD203B41FA5}">
                          <a16:colId xmlns:a16="http://schemas.microsoft.com/office/drawing/2014/main" val="20000"/>
                        </a:ext>
                      </a:extLst>
                    </a:gridCol>
                  </a:tblGrid>
                  <a:tr h="441960">
                    <a:tc>
                      <a:txBody>
                        <a:bodyPr/>
                        <a:lstStyle/>
                        <a:p>
                          <a:pPr marL="0" algn="ctr" defTabSz="914400" rtl="0" eaLnBrk="1" latinLnBrk="0" hangingPunct="1"/>
                          <a14:m>
                            <m:oMathPara xmlns:m="http://schemas.openxmlformats.org/officeDocument/2006/math">
                              <m:oMathParaPr>
                                <m:jc m:val="centerGroup"/>
                              </m:oMathParaPr>
                              <m:oMath xmlns:m="http://schemas.openxmlformats.org/officeDocument/2006/math">
                                <m:r>
                                  <m:rPr>
                                    <m:nor/>
                                  </m:rPr>
                                  <a:rPr lang="en-US" sz="2400" b="1" i="1" kern="1200" dirty="0" smtClean="0">
                                    <a:solidFill>
                                      <a:schemeClr val="dk1"/>
                                    </a:solidFill>
                                    <a:latin typeface="Cambria Math" panose="02040503050406030204" pitchFamily="18" charset="0"/>
                                    <a:ea typeface="Cambria Math" panose="02040503050406030204" pitchFamily="18" charset="0"/>
                                    <a:cs typeface="+mn-cs"/>
                                  </a:rPr>
                                  <m:t>￢</m:t>
                                </m:r>
                                <m:r>
                                  <m:rPr>
                                    <m:nor/>
                                  </m:rPr>
                                  <a:rPr lang="en-US" sz="2400" b="1" i="1" kern="1200" dirty="0" smtClean="0">
                                    <a:solidFill>
                                      <a:schemeClr val="dk1"/>
                                    </a:solidFill>
                                    <a:latin typeface="Cambria Math" panose="02040503050406030204" pitchFamily="18" charset="0"/>
                                    <a:ea typeface="Cambria Math" panose="02040503050406030204" pitchFamily="18" charset="0"/>
                                    <a:cs typeface="+mn-cs"/>
                                  </a:rPr>
                                  <m:t>p</m:t>
                                </m:r>
                                <m:r>
                                  <m:rPr>
                                    <m:nor/>
                                  </m:rPr>
                                  <a:rPr lang="en-GB" sz="2400" b="1" i="1" kern="1200" dirty="0" smtClean="0">
                                    <a:solidFill>
                                      <a:schemeClr val="dk1"/>
                                    </a:solidFill>
                                    <a:latin typeface="Cambria Math" panose="02040503050406030204" pitchFamily="18" charset="0"/>
                                    <a:ea typeface="Cambria Math" panose="02040503050406030204" pitchFamily="18" charset="0"/>
                                    <a:cs typeface="+mn-cs"/>
                                  </a:rPr>
                                  <m:t> </m:t>
                                </m:r>
                                <m:r>
                                  <m:rPr>
                                    <m:nor/>
                                  </m:rPr>
                                  <a:rPr lang="en-US" sz="2400" b="1" i="1" kern="1200" dirty="0" smtClean="0">
                                    <a:solidFill>
                                      <a:schemeClr val="dk1"/>
                                    </a:solidFill>
                                    <a:latin typeface="Cambria Math" panose="02040503050406030204" pitchFamily="18" charset="0"/>
                                    <a:ea typeface="Cambria Math" panose="02040503050406030204" pitchFamily="18" charset="0"/>
                                    <a:cs typeface="+mn-cs"/>
                                  </a:rPr>
                                  <m:t>∨ ￢ </m:t>
                                </m:r>
                                <m:r>
                                  <m:rPr>
                                    <m:nor/>
                                  </m:rPr>
                                  <a:rPr lang="en-US" sz="2400" b="1" i="1" kern="1200" dirty="0" smtClean="0">
                                    <a:solidFill>
                                      <a:schemeClr val="dk1"/>
                                    </a:solidFill>
                                    <a:latin typeface="Cambria Math" panose="02040503050406030204" pitchFamily="18" charset="0"/>
                                    <a:ea typeface="Cambria Math" panose="02040503050406030204" pitchFamily="18" charset="0"/>
                                    <a:cs typeface="+mn-cs"/>
                                  </a:rPr>
                                  <m:t>q</m:t>
                                </m:r>
                              </m:oMath>
                            </m:oMathPara>
                          </a14:m>
                          <a:endParaRPr lang="en-GB" sz="2400" b="1" i="1" kern="1200" dirty="0">
                            <a:solidFill>
                              <a:schemeClr val="dk1"/>
                            </a:solidFill>
                            <a:latin typeface="Cambria Math" panose="02040503050406030204" pitchFamily="18" charset="0"/>
                            <a:ea typeface="Cambria Math" panose="02040503050406030204" pitchFamily="18" charset="0"/>
                            <a:cs typeface="+mn-cs"/>
                          </a:endParaRPr>
                        </a:p>
                      </a:txBody>
                      <a:tcPr/>
                    </a:tc>
                    <a:extLst>
                      <a:ext uri="{0D108BD9-81ED-4DB2-BD59-A6C34878D82A}">
                        <a16:rowId xmlns:a16="http://schemas.microsoft.com/office/drawing/2014/main" val="10000"/>
                      </a:ext>
                    </a:extLst>
                  </a:tr>
                  <a:tr h="441960">
                    <a:tc>
                      <a:txBody>
                        <a:bodyPr/>
                        <a:lstStyle/>
                        <a:p>
                          <a:pPr algn="ctr"/>
                          <a:r>
                            <a:rPr lang="en-GB" sz="2400" dirty="0"/>
                            <a:t>1</a:t>
                          </a:r>
                        </a:p>
                      </a:txBody>
                      <a:tcPr/>
                    </a:tc>
                    <a:extLst>
                      <a:ext uri="{0D108BD9-81ED-4DB2-BD59-A6C34878D82A}">
                        <a16:rowId xmlns:a16="http://schemas.microsoft.com/office/drawing/2014/main" val="10001"/>
                      </a:ext>
                    </a:extLst>
                  </a:tr>
                  <a:tr h="441960">
                    <a:tc>
                      <a:txBody>
                        <a:bodyPr/>
                        <a:lstStyle/>
                        <a:p>
                          <a:pPr algn="ctr"/>
                          <a:r>
                            <a:rPr lang="en-GB" sz="2400" dirty="0"/>
                            <a:t>1</a:t>
                          </a:r>
                        </a:p>
                      </a:txBody>
                      <a:tcPr/>
                    </a:tc>
                    <a:extLst>
                      <a:ext uri="{0D108BD9-81ED-4DB2-BD59-A6C34878D82A}">
                        <a16:rowId xmlns:a16="http://schemas.microsoft.com/office/drawing/2014/main" val="10002"/>
                      </a:ext>
                    </a:extLst>
                  </a:tr>
                  <a:tr h="441960">
                    <a:tc>
                      <a:txBody>
                        <a:bodyPr/>
                        <a:lstStyle/>
                        <a:p>
                          <a:pPr algn="ctr"/>
                          <a:r>
                            <a:rPr lang="en-GB" sz="2400" dirty="0"/>
                            <a:t>1</a:t>
                          </a:r>
                        </a:p>
                      </a:txBody>
                      <a:tcPr/>
                    </a:tc>
                    <a:extLst>
                      <a:ext uri="{0D108BD9-81ED-4DB2-BD59-A6C34878D82A}">
                        <a16:rowId xmlns:a16="http://schemas.microsoft.com/office/drawing/2014/main" val="10003"/>
                      </a:ext>
                    </a:extLst>
                  </a:tr>
                  <a:tr h="441960">
                    <a:tc>
                      <a:txBody>
                        <a:bodyPr/>
                        <a:lstStyle/>
                        <a:p>
                          <a:pPr algn="ctr"/>
                          <a:r>
                            <a:rPr lang="en-GB" sz="2400" dirty="0"/>
                            <a:t>0</a:t>
                          </a:r>
                        </a:p>
                      </a:txBody>
                      <a:tcPr/>
                    </a:tc>
                    <a:extLst>
                      <a:ext uri="{0D108BD9-81ED-4DB2-BD59-A6C34878D82A}">
                        <a16:rowId xmlns:a16="http://schemas.microsoft.com/office/drawing/2014/main" val="10004"/>
                      </a:ext>
                    </a:extLst>
                  </a:tr>
                </a:tbl>
              </a:graphicData>
            </a:graphic>
          </p:graphicFrame>
        </mc:Choice>
        <mc:Fallback xmlns="">
          <p:graphicFrame>
            <p:nvGraphicFramePr>
              <p:cNvPr id="16" name="Table 15"/>
              <p:cNvGraphicFramePr>
                <a:graphicFrameLocks noGrp="1"/>
              </p:cNvGraphicFramePr>
              <p:nvPr>
                <p:extLst>
                  <p:ext uri="{D42A27DB-BD31-4B8C-83A1-F6EECF244321}">
                    <p14:modId xmlns:p14="http://schemas.microsoft.com/office/powerpoint/2010/main" val="2871022955"/>
                  </p:ext>
                </p:extLst>
              </p:nvPr>
            </p:nvGraphicFramePr>
            <p:xfrm>
              <a:off x="6200074" y="4036523"/>
              <a:ext cx="1724725" cy="2286000"/>
            </p:xfrm>
            <a:graphic>
              <a:graphicData uri="http://schemas.openxmlformats.org/drawingml/2006/table">
                <a:tbl>
                  <a:tblPr firstRow="1" bandRow="1">
                    <a:tableStyleId>{5C22544A-7EE6-4342-B048-85BDC9FD1C3A}</a:tableStyleId>
                  </a:tblPr>
                  <a:tblGrid>
                    <a:gridCol w="1724725">
                      <a:extLst>
                        <a:ext uri="{9D8B030D-6E8A-4147-A177-3AD203B41FA5}">
                          <a16:colId xmlns:a16="http://schemas.microsoft.com/office/drawing/2014/main" val="20000"/>
                        </a:ext>
                      </a:extLst>
                    </a:gridCol>
                  </a:tblGrid>
                  <a:tr h="457200">
                    <a:tc>
                      <a:txBody>
                        <a:bodyPr/>
                        <a:lstStyle/>
                        <a:p>
                          <a:endParaRPr lang="en-US"/>
                        </a:p>
                      </a:txBody>
                      <a:tcPr>
                        <a:blipFill>
                          <a:blip r:embed="rId8"/>
                          <a:stretch>
                            <a:fillRect l="-353" t="-1333" r="-1767" b="-430667"/>
                          </a:stretch>
                        </a:blipFill>
                      </a:tcPr>
                    </a:tc>
                    <a:extLst>
                      <a:ext uri="{0D108BD9-81ED-4DB2-BD59-A6C34878D82A}">
                        <a16:rowId xmlns:a16="http://schemas.microsoft.com/office/drawing/2014/main" val="10000"/>
                      </a:ext>
                    </a:extLst>
                  </a:tr>
                  <a:tr h="457200">
                    <a:tc>
                      <a:txBody>
                        <a:bodyPr/>
                        <a:lstStyle/>
                        <a:p>
                          <a:pPr algn="ctr"/>
                          <a:r>
                            <a:rPr lang="en-GB" sz="2400" dirty="0"/>
                            <a:t>1</a:t>
                          </a:r>
                        </a:p>
                      </a:txBody>
                      <a:tcPr/>
                    </a:tc>
                    <a:extLst>
                      <a:ext uri="{0D108BD9-81ED-4DB2-BD59-A6C34878D82A}">
                        <a16:rowId xmlns:a16="http://schemas.microsoft.com/office/drawing/2014/main" val="10001"/>
                      </a:ext>
                    </a:extLst>
                  </a:tr>
                  <a:tr h="457200">
                    <a:tc>
                      <a:txBody>
                        <a:bodyPr/>
                        <a:lstStyle/>
                        <a:p>
                          <a:pPr algn="ctr"/>
                          <a:r>
                            <a:rPr lang="en-GB" sz="2400" dirty="0"/>
                            <a:t>1</a:t>
                          </a:r>
                        </a:p>
                      </a:txBody>
                      <a:tcPr/>
                    </a:tc>
                    <a:extLst>
                      <a:ext uri="{0D108BD9-81ED-4DB2-BD59-A6C34878D82A}">
                        <a16:rowId xmlns:a16="http://schemas.microsoft.com/office/drawing/2014/main" val="10002"/>
                      </a:ext>
                    </a:extLst>
                  </a:tr>
                  <a:tr h="457200">
                    <a:tc>
                      <a:txBody>
                        <a:bodyPr/>
                        <a:lstStyle/>
                        <a:p>
                          <a:pPr algn="ctr"/>
                          <a:r>
                            <a:rPr lang="en-GB" sz="2400" dirty="0"/>
                            <a:t>1</a:t>
                          </a:r>
                        </a:p>
                      </a:txBody>
                      <a:tcPr/>
                    </a:tc>
                    <a:extLst>
                      <a:ext uri="{0D108BD9-81ED-4DB2-BD59-A6C34878D82A}">
                        <a16:rowId xmlns:a16="http://schemas.microsoft.com/office/drawing/2014/main" val="10003"/>
                      </a:ext>
                    </a:extLst>
                  </a:tr>
                  <a:tr h="457200">
                    <a:tc>
                      <a:txBody>
                        <a:bodyPr/>
                        <a:lstStyle/>
                        <a:p>
                          <a:pPr algn="ctr"/>
                          <a:r>
                            <a:rPr lang="en-GB" sz="2400" dirty="0"/>
                            <a:t>0</a:t>
                          </a:r>
                        </a:p>
                      </a:txBody>
                      <a:tcPr/>
                    </a:tc>
                    <a:extLst>
                      <a:ext uri="{0D108BD9-81ED-4DB2-BD59-A6C34878D82A}">
                        <a16:rowId xmlns:a16="http://schemas.microsoft.com/office/drawing/2014/main" val="10004"/>
                      </a:ext>
                    </a:extLst>
                  </a:tr>
                </a:tbl>
              </a:graphicData>
            </a:graphic>
          </p:graphicFrame>
        </mc:Fallback>
      </mc:AlternateContent>
    </p:spTree>
    <p:extLst>
      <p:ext uri="{BB962C8B-B14F-4D97-AF65-F5344CB8AC3E}">
        <p14:creationId xmlns:p14="http://schemas.microsoft.com/office/powerpoint/2010/main" val="22386281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5"/>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Distributive Law:</a:t>
            </a:r>
            <a:br>
              <a:rPr lang="en-GB" b="1" dirty="0"/>
            </a:br>
            <a:r>
              <a:rPr lang="en-GB" b="1" dirty="0"/>
              <a:t> </a:t>
            </a:r>
            <a:r>
              <a:rPr lang="pt-BR" b="1" dirty="0"/>
              <a:t>p ∨ (q ∧ r) ≡ (p ∨ q) ∧ (p ∨ r)</a:t>
            </a:r>
            <a:endParaRPr lang="en-GB" b="1" dirty="0"/>
          </a:p>
        </p:txBody>
      </p:sp>
      <p:sp>
        <p:nvSpPr>
          <p:cNvPr id="4" name="Date Placeholder 3"/>
          <p:cNvSpPr>
            <a:spLocks noGrp="1"/>
          </p:cNvSpPr>
          <p:nvPr>
            <p:ph type="dt" sz="half" idx="10"/>
          </p:nvPr>
        </p:nvSpPr>
        <p:spPr/>
        <p:txBody>
          <a:bodyPr/>
          <a:lstStyle/>
          <a:p>
            <a:fld id="{58DC0970-529B-4C77-A0C9-A3D41F328C2B}" type="datetime3">
              <a:rPr lang="en-US" smtClean="0"/>
              <a:t>27 April 2026</a:t>
            </a:fld>
            <a:endParaRPr lang="en-US"/>
          </a:p>
        </p:txBody>
      </p:sp>
      <p:sp>
        <p:nvSpPr>
          <p:cNvPr id="5" name="Footer Placeholder 4"/>
          <p:cNvSpPr>
            <a:spLocks noGrp="1"/>
          </p:cNvSpPr>
          <p:nvPr>
            <p:ph type="ftr" sz="quarter" idx="11"/>
          </p:nvPr>
        </p:nvSpPr>
        <p:spPr/>
        <p:txBody>
          <a:bodyPr/>
          <a:lstStyle/>
          <a:p>
            <a:r>
              <a:rPr lang="en-US"/>
              <a:t>SCS 1302   Discrete Mathematics 1       Prof. D D Karunaratna</a:t>
            </a:r>
          </a:p>
        </p:txBody>
      </p:sp>
      <p:sp>
        <p:nvSpPr>
          <p:cNvPr id="6" name="Slide Number Placeholder 5"/>
          <p:cNvSpPr>
            <a:spLocks noGrp="1"/>
          </p:cNvSpPr>
          <p:nvPr>
            <p:ph type="sldNum" sz="quarter" idx="12"/>
          </p:nvPr>
        </p:nvSpPr>
        <p:spPr/>
        <p:txBody>
          <a:bodyPr/>
          <a:lstStyle/>
          <a:p>
            <a:fld id="{0CA841A6-7C02-4C92-B6EE-5DBCC2AD53D0}" type="slidenum">
              <a:rPr lang="en-US" smtClean="0"/>
              <a:t>49</a:t>
            </a:fld>
            <a:endParaRPr lang="en-US"/>
          </a:p>
        </p:txBody>
      </p:sp>
      <mc:AlternateContent xmlns:mc="http://schemas.openxmlformats.org/markup-compatibility/2006" xmlns:a14="http://schemas.microsoft.com/office/drawing/2010/main">
        <mc:Choice Requires="a14">
          <p:graphicFrame>
            <p:nvGraphicFramePr>
              <p:cNvPr id="7" name="Table 6"/>
              <p:cNvGraphicFramePr>
                <a:graphicFrameLocks noGrp="1"/>
              </p:cNvGraphicFramePr>
              <p:nvPr>
                <p:extLst>
                  <p:ext uri="{D42A27DB-BD31-4B8C-83A1-F6EECF244321}">
                    <p14:modId xmlns:p14="http://schemas.microsoft.com/office/powerpoint/2010/main" val="3944456190"/>
                  </p:ext>
                </p:extLst>
              </p:nvPr>
            </p:nvGraphicFramePr>
            <p:xfrm>
              <a:off x="381000" y="1828800"/>
              <a:ext cx="1752600" cy="4106333"/>
            </p:xfrm>
            <a:graphic>
              <a:graphicData uri="http://schemas.openxmlformats.org/drawingml/2006/table">
                <a:tbl>
                  <a:tblPr firstRow="1" bandRow="1">
                    <a:tableStyleId>{5C22544A-7EE6-4342-B048-85BDC9FD1C3A}</a:tableStyleId>
                  </a:tblPr>
                  <a:tblGrid>
                    <a:gridCol w="584200">
                      <a:extLst>
                        <a:ext uri="{9D8B030D-6E8A-4147-A177-3AD203B41FA5}">
                          <a16:colId xmlns:a16="http://schemas.microsoft.com/office/drawing/2014/main" val="20000"/>
                        </a:ext>
                      </a:extLst>
                    </a:gridCol>
                    <a:gridCol w="584200">
                      <a:extLst>
                        <a:ext uri="{9D8B030D-6E8A-4147-A177-3AD203B41FA5}">
                          <a16:colId xmlns:a16="http://schemas.microsoft.com/office/drawing/2014/main" val="20001"/>
                        </a:ext>
                      </a:extLst>
                    </a:gridCol>
                    <a:gridCol w="584200">
                      <a:extLst>
                        <a:ext uri="{9D8B030D-6E8A-4147-A177-3AD203B41FA5}">
                          <a16:colId xmlns:a16="http://schemas.microsoft.com/office/drawing/2014/main" val="20002"/>
                        </a:ext>
                      </a:extLst>
                    </a:gridCol>
                  </a:tblGrid>
                  <a:tr h="448733">
                    <a:tc>
                      <a:txBody>
                        <a:bodyPr/>
                        <a:lstStyle/>
                        <a:p>
                          <a:pPr marL="0" algn="l" defTabSz="914400" rtl="0" eaLnBrk="1" latinLnBrk="0" hangingPunct="1"/>
                          <a14:m>
                            <m:oMathPara xmlns:m="http://schemas.openxmlformats.org/officeDocument/2006/math">
                              <m:oMathParaPr>
                                <m:jc m:val="centerGroup"/>
                              </m:oMathParaPr>
                              <m:oMath xmlns:m="http://schemas.openxmlformats.org/officeDocument/2006/math">
                                <m:r>
                                  <a:rPr lang="en-GB" sz="2000" b="1" kern="1200" smtClean="0">
                                    <a:solidFill>
                                      <a:schemeClr val="lt1"/>
                                    </a:solidFill>
                                    <a:latin typeface="Cambria Math" panose="02040503050406030204" pitchFamily="18" charset="0"/>
                                    <a:ea typeface="+mn-ea"/>
                                    <a:cs typeface="+mn-cs"/>
                                  </a:rPr>
                                  <m:t>𝒑</m:t>
                                </m:r>
                              </m:oMath>
                            </m:oMathPara>
                          </a14:m>
                          <a:endParaRPr lang="en-GB" sz="2000" b="1" kern="1200" dirty="0">
                            <a:solidFill>
                              <a:schemeClr val="lt1"/>
                            </a:solidFill>
                            <a:latin typeface="+mn-lt"/>
                            <a:ea typeface="+mn-ea"/>
                            <a:cs typeface="+mn-cs"/>
                          </a:endParaRPr>
                        </a:p>
                      </a:txBody>
                      <a:tcPr/>
                    </a:tc>
                    <a:tc>
                      <a:txBody>
                        <a:bodyPr/>
                        <a:lstStyle/>
                        <a:p>
                          <a:pPr marL="0" algn="l" defTabSz="914400" rtl="0" eaLnBrk="1" latinLnBrk="0" hangingPunct="1"/>
                          <a14:m>
                            <m:oMathPara xmlns:m="http://schemas.openxmlformats.org/officeDocument/2006/math">
                              <m:oMathParaPr>
                                <m:jc m:val="centerGroup"/>
                              </m:oMathParaPr>
                              <m:oMath xmlns:m="http://schemas.openxmlformats.org/officeDocument/2006/math">
                                <m:r>
                                  <a:rPr lang="en-GB" sz="2000" b="1" kern="1200" smtClean="0">
                                    <a:solidFill>
                                      <a:schemeClr val="lt1"/>
                                    </a:solidFill>
                                    <a:latin typeface="Cambria Math" panose="02040503050406030204" pitchFamily="18" charset="0"/>
                                    <a:ea typeface="+mn-ea"/>
                                    <a:cs typeface="+mn-cs"/>
                                  </a:rPr>
                                  <m:t>𝒒</m:t>
                                </m:r>
                              </m:oMath>
                            </m:oMathPara>
                          </a14:m>
                          <a:endParaRPr lang="en-GB" sz="2000" b="1" kern="1200" dirty="0">
                            <a:solidFill>
                              <a:schemeClr val="lt1"/>
                            </a:solidFill>
                            <a:latin typeface="+mn-lt"/>
                            <a:ea typeface="+mn-ea"/>
                            <a:cs typeface="+mn-cs"/>
                          </a:endParaRPr>
                        </a:p>
                      </a:txBody>
                      <a:tcPr/>
                    </a:tc>
                    <a:tc>
                      <a:txBody>
                        <a:bodyPr/>
                        <a:lstStyle/>
                        <a:p>
                          <a:pPr marL="0" algn="l" defTabSz="914400" rtl="0" eaLnBrk="1" latinLnBrk="0" hangingPunct="1"/>
                          <a14:m>
                            <m:oMathPara xmlns:m="http://schemas.openxmlformats.org/officeDocument/2006/math">
                              <m:oMathParaPr>
                                <m:jc m:val="centerGroup"/>
                              </m:oMathParaPr>
                              <m:oMath xmlns:m="http://schemas.openxmlformats.org/officeDocument/2006/math">
                                <m:r>
                                  <a:rPr lang="en-GB" sz="2000" b="1" kern="1200" smtClean="0">
                                    <a:solidFill>
                                      <a:schemeClr val="lt1"/>
                                    </a:solidFill>
                                    <a:latin typeface="Cambria Math" panose="02040503050406030204" pitchFamily="18" charset="0"/>
                                    <a:ea typeface="+mn-ea"/>
                                    <a:cs typeface="+mn-cs"/>
                                  </a:rPr>
                                  <m:t>𝒓</m:t>
                                </m:r>
                              </m:oMath>
                            </m:oMathPara>
                          </a14:m>
                          <a:endParaRPr lang="en-GB" sz="2000" b="1" kern="1200" dirty="0">
                            <a:solidFill>
                              <a:schemeClr val="lt1"/>
                            </a:solidFill>
                            <a:latin typeface="+mn-lt"/>
                            <a:ea typeface="+mn-ea"/>
                            <a:cs typeface="+mn-cs"/>
                          </a:endParaRPr>
                        </a:p>
                      </a:txBody>
                      <a:tcPr/>
                    </a:tc>
                    <a:extLst>
                      <a:ext uri="{0D108BD9-81ED-4DB2-BD59-A6C34878D82A}">
                        <a16:rowId xmlns:a16="http://schemas.microsoft.com/office/drawing/2014/main" val="10000"/>
                      </a:ext>
                    </a:extLst>
                  </a:tr>
                  <a:tr h="448733">
                    <a:tc>
                      <a:txBody>
                        <a:bodyPr/>
                        <a:lstStyle/>
                        <a:p>
                          <a:pPr algn="ctr"/>
                          <a:r>
                            <a:rPr lang="en-GB" sz="2400" dirty="0"/>
                            <a:t>0</a:t>
                          </a:r>
                        </a:p>
                      </a:txBody>
                      <a:tcPr/>
                    </a:tc>
                    <a:tc>
                      <a:txBody>
                        <a:bodyPr/>
                        <a:lstStyle/>
                        <a:p>
                          <a:pPr algn="ctr"/>
                          <a:r>
                            <a:rPr lang="en-GB" sz="2400" dirty="0"/>
                            <a:t>0</a:t>
                          </a:r>
                        </a:p>
                      </a:txBody>
                      <a:tcPr/>
                    </a:tc>
                    <a:tc>
                      <a:txBody>
                        <a:bodyPr/>
                        <a:lstStyle/>
                        <a:p>
                          <a:pPr algn="ctr"/>
                          <a:r>
                            <a:rPr lang="en-GB" sz="2400" dirty="0"/>
                            <a:t>0</a:t>
                          </a:r>
                        </a:p>
                      </a:txBody>
                      <a:tcPr/>
                    </a:tc>
                    <a:extLst>
                      <a:ext uri="{0D108BD9-81ED-4DB2-BD59-A6C34878D82A}">
                        <a16:rowId xmlns:a16="http://schemas.microsoft.com/office/drawing/2014/main" val="10001"/>
                      </a:ext>
                    </a:extLst>
                  </a:tr>
                  <a:tr h="448733">
                    <a:tc>
                      <a:txBody>
                        <a:bodyPr/>
                        <a:lstStyle/>
                        <a:p>
                          <a:pPr algn="ctr"/>
                          <a:r>
                            <a:rPr lang="en-GB" sz="2400" dirty="0"/>
                            <a:t>0</a:t>
                          </a:r>
                        </a:p>
                      </a:txBody>
                      <a:tcPr/>
                    </a:tc>
                    <a:tc>
                      <a:txBody>
                        <a:bodyPr/>
                        <a:lstStyle/>
                        <a:p>
                          <a:pPr algn="ctr"/>
                          <a:r>
                            <a:rPr lang="en-GB" sz="2400" dirty="0"/>
                            <a:t>0</a:t>
                          </a:r>
                        </a:p>
                      </a:txBody>
                      <a:tcPr/>
                    </a:tc>
                    <a:tc>
                      <a:txBody>
                        <a:bodyPr/>
                        <a:lstStyle/>
                        <a:p>
                          <a:pPr algn="ctr"/>
                          <a:r>
                            <a:rPr lang="en-GB" sz="2400" dirty="0"/>
                            <a:t>1</a:t>
                          </a:r>
                        </a:p>
                      </a:txBody>
                      <a:tcPr/>
                    </a:tc>
                    <a:extLst>
                      <a:ext uri="{0D108BD9-81ED-4DB2-BD59-A6C34878D82A}">
                        <a16:rowId xmlns:a16="http://schemas.microsoft.com/office/drawing/2014/main" val="10002"/>
                      </a:ext>
                    </a:extLst>
                  </a:tr>
                  <a:tr h="448733">
                    <a:tc>
                      <a:txBody>
                        <a:bodyPr/>
                        <a:lstStyle/>
                        <a:p>
                          <a:pPr algn="ctr"/>
                          <a:r>
                            <a:rPr lang="en-GB" sz="2400" dirty="0"/>
                            <a:t>0</a:t>
                          </a:r>
                        </a:p>
                      </a:txBody>
                      <a:tcPr/>
                    </a:tc>
                    <a:tc>
                      <a:txBody>
                        <a:bodyPr/>
                        <a:lstStyle/>
                        <a:p>
                          <a:pPr algn="ctr"/>
                          <a:r>
                            <a:rPr lang="en-GB" sz="2400" dirty="0"/>
                            <a:t>1</a:t>
                          </a:r>
                        </a:p>
                      </a:txBody>
                      <a:tcPr/>
                    </a:tc>
                    <a:tc>
                      <a:txBody>
                        <a:bodyPr/>
                        <a:lstStyle/>
                        <a:p>
                          <a:pPr algn="ctr"/>
                          <a:r>
                            <a:rPr lang="en-GB" sz="2400" dirty="0"/>
                            <a:t>0</a:t>
                          </a:r>
                        </a:p>
                      </a:txBody>
                      <a:tcPr/>
                    </a:tc>
                    <a:extLst>
                      <a:ext uri="{0D108BD9-81ED-4DB2-BD59-A6C34878D82A}">
                        <a16:rowId xmlns:a16="http://schemas.microsoft.com/office/drawing/2014/main" val="10003"/>
                      </a:ext>
                    </a:extLst>
                  </a:tr>
                  <a:tr h="448733">
                    <a:tc>
                      <a:txBody>
                        <a:bodyPr/>
                        <a:lstStyle/>
                        <a:p>
                          <a:pPr algn="ctr"/>
                          <a:r>
                            <a:rPr lang="en-GB" sz="2400" dirty="0"/>
                            <a:t>0</a:t>
                          </a:r>
                        </a:p>
                      </a:txBody>
                      <a:tcPr/>
                    </a:tc>
                    <a:tc>
                      <a:txBody>
                        <a:bodyPr/>
                        <a:lstStyle/>
                        <a:p>
                          <a:pPr algn="ctr"/>
                          <a:r>
                            <a:rPr lang="en-GB" sz="2400" dirty="0"/>
                            <a:t>1</a:t>
                          </a:r>
                        </a:p>
                      </a:txBody>
                      <a:tcPr/>
                    </a:tc>
                    <a:tc>
                      <a:txBody>
                        <a:bodyPr/>
                        <a:lstStyle/>
                        <a:p>
                          <a:pPr algn="ctr"/>
                          <a:r>
                            <a:rPr lang="en-GB" sz="2400" dirty="0"/>
                            <a:t>1</a:t>
                          </a:r>
                        </a:p>
                      </a:txBody>
                      <a:tcPr/>
                    </a:tc>
                    <a:extLst>
                      <a:ext uri="{0D108BD9-81ED-4DB2-BD59-A6C34878D82A}">
                        <a16:rowId xmlns:a16="http://schemas.microsoft.com/office/drawing/2014/main" val="10004"/>
                      </a:ext>
                    </a:extLst>
                  </a:tr>
                  <a:tr h="448733">
                    <a:tc>
                      <a:txBody>
                        <a:bodyPr/>
                        <a:lstStyle/>
                        <a:p>
                          <a:pPr algn="ctr"/>
                          <a:r>
                            <a:rPr lang="en-GB" sz="2400" dirty="0"/>
                            <a:t>1</a:t>
                          </a:r>
                        </a:p>
                      </a:txBody>
                      <a:tcPr/>
                    </a:tc>
                    <a:tc>
                      <a:txBody>
                        <a:bodyPr/>
                        <a:lstStyle/>
                        <a:p>
                          <a:pPr algn="ctr"/>
                          <a:r>
                            <a:rPr lang="en-GB" sz="2400" dirty="0"/>
                            <a:t>0</a:t>
                          </a:r>
                        </a:p>
                      </a:txBody>
                      <a:tcPr/>
                    </a:tc>
                    <a:tc>
                      <a:txBody>
                        <a:bodyPr/>
                        <a:lstStyle/>
                        <a:p>
                          <a:pPr algn="ctr"/>
                          <a:r>
                            <a:rPr lang="en-GB" sz="2400" dirty="0"/>
                            <a:t>0</a:t>
                          </a:r>
                        </a:p>
                      </a:txBody>
                      <a:tcPr/>
                    </a:tc>
                    <a:extLst>
                      <a:ext uri="{0D108BD9-81ED-4DB2-BD59-A6C34878D82A}">
                        <a16:rowId xmlns:a16="http://schemas.microsoft.com/office/drawing/2014/main" val="10005"/>
                      </a:ext>
                    </a:extLst>
                  </a:tr>
                  <a:tr h="448733">
                    <a:tc>
                      <a:txBody>
                        <a:bodyPr/>
                        <a:lstStyle/>
                        <a:p>
                          <a:pPr algn="ctr"/>
                          <a:r>
                            <a:rPr lang="en-GB" sz="2400" dirty="0"/>
                            <a:t>1</a:t>
                          </a:r>
                        </a:p>
                      </a:txBody>
                      <a:tcPr/>
                    </a:tc>
                    <a:tc>
                      <a:txBody>
                        <a:bodyPr/>
                        <a:lstStyle/>
                        <a:p>
                          <a:pPr algn="ctr"/>
                          <a:r>
                            <a:rPr lang="en-GB" sz="2400" dirty="0"/>
                            <a:t>0</a:t>
                          </a:r>
                        </a:p>
                      </a:txBody>
                      <a:tcPr/>
                    </a:tc>
                    <a:tc>
                      <a:txBody>
                        <a:bodyPr/>
                        <a:lstStyle/>
                        <a:p>
                          <a:pPr algn="ctr"/>
                          <a:r>
                            <a:rPr lang="en-GB" sz="2400" dirty="0"/>
                            <a:t>1</a:t>
                          </a:r>
                        </a:p>
                      </a:txBody>
                      <a:tcPr/>
                    </a:tc>
                    <a:extLst>
                      <a:ext uri="{0D108BD9-81ED-4DB2-BD59-A6C34878D82A}">
                        <a16:rowId xmlns:a16="http://schemas.microsoft.com/office/drawing/2014/main" val="10006"/>
                      </a:ext>
                    </a:extLst>
                  </a:tr>
                  <a:tr h="448733">
                    <a:tc>
                      <a:txBody>
                        <a:bodyPr/>
                        <a:lstStyle/>
                        <a:p>
                          <a:pPr algn="ctr"/>
                          <a:r>
                            <a:rPr lang="en-GB" sz="2400" dirty="0"/>
                            <a:t>1</a:t>
                          </a:r>
                        </a:p>
                      </a:txBody>
                      <a:tcPr/>
                    </a:tc>
                    <a:tc>
                      <a:txBody>
                        <a:bodyPr/>
                        <a:lstStyle/>
                        <a:p>
                          <a:pPr algn="ctr"/>
                          <a:r>
                            <a:rPr lang="en-GB" sz="2400" dirty="0"/>
                            <a:t>1</a:t>
                          </a:r>
                        </a:p>
                      </a:txBody>
                      <a:tcPr/>
                    </a:tc>
                    <a:tc>
                      <a:txBody>
                        <a:bodyPr/>
                        <a:lstStyle/>
                        <a:p>
                          <a:pPr algn="ctr"/>
                          <a:r>
                            <a:rPr lang="en-GB" sz="2400" dirty="0"/>
                            <a:t>0</a:t>
                          </a:r>
                        </a:p>
                      </a:txBody>
                      <a:tcPr/>
                    </a:tc>
                    <a:extLst>
                      <a:ext uri="{0D108BD9-81ED-4DB2-BD59-A6C34878D82A}">
                        <a16:rowId xmlns:a16="http://schemas.microsoft.com/office/drawing/2014/main" val="10007"/>
                      </a:ext>
                    </a:extLst>
                  </a:tr>
                  <a:tr h="448733">
                    <a:tc>
                      <a:txBody>
                        <a:bodyPr/>
                        <a:lstStyle/>
                        <a:p>
                          <a:pPr algn="ctr"/>
                          <a:r>
                            <a:rPr lang="en-GB" sz="2400" dirty="0"/>
                            <a:t>1</a:t>
                          </a:r>
                        </a:p>
                      </a:txBody>
                      <a:tcPr/>
                    </a:tc>
                    <a:tc>
                      <a:txBody>
                        <a:bodyPr/>
                        <a:lstStyle/>
                        <a:p>
                          <a:pPr algn="ctr"/>
                          <a:r>
                            <a:rPr lang="en-GB" sz="2400" dirty="0"/>
                            <a:t>1</a:t>
                          </a:r>
                        </a:p>
                      </a:txBody>
                      <a:tcPr/>
                    </a:tc>
                    <a:tc>
                      <a:txBody>
                        <a:bodyPr/>
                        <a:lstStyle/>
                        <a:p>
                          <a:pPr algn="ctr"/>
                          <a:r>
                            <a:rPr lang="en-GB" sz="2400" dirty="0"/>
                            <a:t>1</a:t>
                          </a:r>
                        </a:p>
                      </a:txBody>
                      <a:tcPr/>
                    </a:tc>
                    <a:extLst>
                      <a:ext uri="{0D108BD9-81ED-4DB2-BD59-A6C34878D82A}">
                        <a16:rowId xmlns:a16="http://schemas.microsoft.com/office/drawing/2014/main" val="10008"/>
                      </a:ext>
                    </a:extLst>
                  </a:tr>
                </a:tbl>
              </a:graphicData>
            </a:graphic>
          </p:graphicFrame>
        </mc:Choice>
        <mc:Fallback xmlns="">
          <p:graphicFrame>
            <p:nvGraphicFramePr>
              <p:cNvPr id="7" name="Table 6"/>
              <p:cNvGraphicFramePr>
                <a:graphicFrameLocks noGrp="1"/>
              </p:cNvGraphicFramePr>
              <p:nvPr>
                <p:extLst>
                  <p:ext uri="{D42A27DB-BD31-4B8C-83A1-F6EECF244321}">
                    <p14:modId xmlns:p14="http://schemas.microsoft.com/office/powerpoint/2010/main" val="3944456190"/>
                  </p:ext>
                </p:extLst>
              </p:nvPr>
            </p:nvGraphicFramePr>
            <p:xfrm>
              <a:off x="381000" y="1828800"/>
              <a:ext cx="1752600" cy="4106333"/>
            </p:xfrm>
            <a:graphic>
              <a:graphicData uri="http://schemas.openxmlformats.org/drawingml/2006/table">
                <a:tbl>
                  <a:tblPr firstRow="1" bandRow="1">
                    <a:tableStyleId>{5C22544A-7EE6-4342-B048-85BDC9FD1C3A}</a:tableStyleId>
                  </a:tblPr>
                  <a:tblGrid>
                    <a:gridCol w="584200"/>
                    <a:gridCol w="584200"/>
                    <a:gridCol w="584200"/>
                  </a:tblGrid>
                  <a:tr h="448733">
                    <a:tc>
                      <a:txBody>
                        <a:bodyPr/>
                        <a:lstStyle/>
                        <a:p>
                          <a:endParaRPr lang="en-US"/>
                        </a:p>
                      </a:txBody>
                      <a:tcPr>
                        <a:blipFill rotWithShape="0">
                          <a:blip r:embed="rId2"/>
                          <a:stretch>
                            <a:fillRect l="-1042" t="-2703" r="-205208" b="-843243"/>
                          </a:stretch>
                        </a:blipFill>
                      </a:tcPr>
                    </a:tc>
                    <a:tc>
                      <a:txBody>
                        <a:bodyPr/>
                        <a:lstStyle/>
                        <a:p>
                          <a:endParaRPr lang="en-US"/>
                        </a:p>
                      </a:txBody>
                      <a:tcPr>
                        <a:blipFill rotWithShape="0">
                          <a:blip r:embed="rId2"/>
                          <a:stretch>
                            <a:fillRect l="-101042" t="-2703" r="-105208" b="-843243"/>
                          </a:stretch>
                        </a:blipFill>
                      </a:tcPr>
                    </a:tc>
                    <a:tc>
                      <a:txBody>
                        <a:bodyPr/>
                        <a:lstStyle/>
                        <a:p>
                          <a:endParaRPr lang="en-US"/>
                        </a:p>
                      </a:txBody>
                      <a:tcPr>
                        <a:blipFill rotWithShape="0">
                          <a:blip r:embed="rId2"/>
                          <a:stretch>
                            <a:fillRect l="-201042" t="-2703" r="-5208" b="-843243"/>
                          </a:stretch>
                        </a:blipFill>
                      </a:tcPr>
                    </a:tc>
                  </a:tr>
                  <a:tr h="457200">
                    <a:tc>
                      <a:txBody>
                        <a:bodyPr/>
                        <a:lstStyle/>
                        <a:p>
                          <a:pPr algn="ctr"/>
                          <a:r>
                            <a:rPr lang="en-GB" sz="2400" dirty="0" smtClean="0"/>
                            <a:t>0</a:t>
                          </a:r>
                          <a:endParaRPr lang="en-GB" sz="2400" dirty="0"/>
                        </a:p>
                      </a:txBody>
                      <a:tcPr/>
                    </a:tc>
                    <a:tc>
                      <a:txBody>
                        <a:bodyPr/>
                        <a:lstStyle/>
                        <a:p>
                          <a:pPr algn="ctr"/>
                          <a:r>
                            <a:rPr lang="en-GB" sz="2400" dirty="0" smtClean="0"/>
                            <a:t>0</a:t>
                          </a:r>
                          <a:endParaRPr lang="en-GB" sz="2400" dirty="0"/>
                        </a:p>
                      </a:txBody>
                      <a:tcPr/>
                    </a:tc>
                    <a:tc>
                      <a:txBody>
                        <a:bodyPr/>
                        <a:lstStyle/>
                        <a:p>
                          <a:pPr algn="ctr"/>
                          <a:r>
                            <a:rPr lang="en-GB" sz="2400" dirty="0" smtClean="0"/>
                            <a:t>0</a:t>
                          </a:r>
                          <a:endParaRPr lang="en-GB" sz="2400" dirty="0"/>
                        </a:p>
                      </a:txBody>
                      <a:tcPr/>
                    </a:tc>
                  </a:tr>
                  <a:tr h="457200">
                    <a:tc>
                      <a:txBody>
                        <a:bodyPr/>
                        <a:lstStyle/>
                        <a:p>
                          <a:pPr algn="ctr"/>
                          <a:r>
                            <a:rPr lang="en-GB" sz="2400" dirty="0" smtClean="0"/>
                            <a:t>0</a:t>
                          </a:r>
                          <a:endParaRPr lang="en-GB" sz="2400" dirty="0"/>
                        </a:p>
                      </a:txBody>
                      <a:tcPr/>
                    </a:tc>
                    <a:tc>
                      <a:txBody>
                        <a:bodyPr/>
                        <a:lstStyle/>
                        <a:p>
                          <a:pPr algn="ctr"/>
                          <a:r>
                            <a:rPr lang="en-GB" sz="2400" dirty="0" smtClean="0"/>
                            <a:t>0</a:t>
                          </a:r>
                          <a:endParaRPr lang="en-GB" sz="2400" dirty="0"/>
                        </a:p>
                      </a:txBody>
                      <a:tcPr/>
                    </a:tc>
                    <a:tc>
                      <a:txBody>
                        <a:bodyPr/>
                        <a:lstStyle/>
                        <a:p>
                          <a:pPr algn="ctr"/>
                          <a:r>
                            <a:rPr lang="en-GB" sz="2400" dirty="0" smtClean="0"/>
                            <a:t>1</a:t>
                          </a:r>
                          <a:endParaRPr lang="en-GB" sz="2400" dirty="0"/>
                        </a:p>
                      </a:txBody>
                      <a:tcPr/>
                    </a:tc>
                  </a:tr>
                  <a:tr h="457200">
                    <a:tc>
                      <a:txBody>
                        <a:bodyPr/>
                        <a:lstStyle/>
                        <a:p>
                          <a:pPr algn="ctr"/>
                          <a:r>
                            <a:rPr lang="en-GB" sz="2400" dirty="0" smtClean="0"/>
                            <a:t>0</a:t>
                          </a:r>
                          <a:endParaRPr lang="en-GB" sz="2400" dirty="0"/>
                        </a:p>
                      </a:txBody>
                      <a:tcPr/>
                    </a:tc>
                    <a:tc>
                      <a:txBody>
                        <a:bodyPr/>
                        <a:lstStyle/>
                        <a:p>
                          <a:pPr algn="ctr"/>
                          <a:r>
                            <a:rPr lang="en-GB" sz="2400" dirty="0" smtClean="0"/>
                            <a:t>1</a:t>
                          </a:r>
                          <a:endParaRPr lang="en-GB" sz="2400" dirty="0"/>
                        </a:p>
                      </a:txBody>
                      <a:tcPr/>
                    </a:tc>
                    <a:tc>
                      <a:txBody>
                        <a:bodyPr/>
                        <a:lstStyle/>
                        <a:p>
                          <a:pPr algn="ctr"/>
                          <a:r>
                            <a:rPr lang="en-GB" sz="2400" dirty="0" smtClean="0"/>
                            <a:t>0</a:t>
                          </a:r>
                          <a:endParaRPr lang="en-GB" sz="2400" dirty="0"/>
                        </a:p>
                      </a:txBody>
                      <a:tcPr/>
                    </a:tc>
                  </a:tr>
                  <a:tr h="457200">
                    <a:tc>
                      <a:txBody>
                        <a:bodyPr/>
                        <a:lstStyle/>
                        <a:p>
                          <a:pPr algn="ctr"/>
                          <a:r>
                            <a:rPr lang="en-GB" sz="2400" dirty="0" smtClean="0"/>
                            <a:t>0</a:t>
                          </a:r>
                          <a:endParaRPr lang="en-GB" sz="2400" dirty="0"/>
                        </a:p>
                      </a:txBody>
                      <a:tcPr/>
                    </a:tc>
                    <a:tc>
                      <a:txBody>
                        <a:bodyPr/>
                        <a:lstStyle/>
                        <a:p>
                          <a:pPr algn="ctr"/>
                          <a:r>
                            <a:rPr lang="en-GB" sz="2400" dirty="0" smtClean="0"/>
                            <a:t>1</a:t>
                          </a:r>
                          <a:endParaRPr lang="en-GB" sz="2400" dirty="0"/>
                        </a:p>
                      </a:txBody>
                      <a:tcPr/>
                    </a:tc>
                    <a:tc>
                      <a:txBody>
                        <a:bodyPr/>
                        <a:lstStyle/>
                        <a:p>
                          <a:pPr algn="ctr"/>
                          <a:r>
                            <a:rPr lang="en-GB" sz="2400" dirty="0" smtClean="0"/>
                            <a:t>1</a:t>
                          </a:r>
                          <a:endParaRPr lang="en-GB" sz="2400" dirty="0"/>
                        </a:p>
                      </a:txBody>
                      <a:tcPr/>
                    </a:tc>
                  </a:tr>
                  <a:tr h="457200">
                    <a:tc>
                      <a:txBody>
                        <a:bodyPr/>
                        <a:lstStyle/>
                        <a:p>
                          <a:pPr algn="ctr"/>
                          <a:r>
                            <a:rPr lang="en-GB" sz="2400" dirty="0" smtClean="0"/>
                            <a:t>1</a:t>
                          </a:r>
                          <a:endParaRPr lang="en-GB" sz="2400" dirty="0"/>
                        </a:p>
                      </a:txBody>
                      <a:tcPr/>
                    </a:tc>
                    <a:tc>
                      <a:txBody>
                        <a:bodyPr/>
                        <a:lstStyle/>
                        <a:p>
                          <a:pPr algn="ctr"/>
                          <a:r>
                            <a:rPr lang="en-GB" sz="2400" dirty="0" smtClean="0"/>
                            <a:t>0</a:t>
                          </a:r>
                          <a:endParaRPr lang="en-GB" sz="2400" dirty="0"/>
                        </a:p>
                      </a:txBody>
                      <a:tcPr/>
                    </a:tc>
                    <a:tc>
                      <a:txBody>
                        <a:bodyPr/>
                        <a:lstStyle/>
                        <a:p>
                          <a:pPr algn="ctr"/>
                          <a:r>
                            <a:rPr lang="en-GB" sz="2400" dirty="0" smtClean="0"/>
                            <a:t>0</a:t>
                          </a:r>
                          <a:endParaRPr lang="en-GB" sz="2400" dirty="0"/>
                        </a:p>
                      </a:txBody>
                      <a:tcPr/>
                    </a:tc>
                  </a:tr>
                  <a:tr h="457200">
                    <a:tc>
                      <a:txBody>
                        <a:bodyPr/>
                        <a:lstStyle/>
                        <a:p>
                          <a:pPr algn="ctr"/>
                          <a:r>
                            <a:rPr lang="en-GB" sz="2400" dirty="0" smtClean="0"/>
                            <a:t>1</a:t>
                          </a:r>
                          <a:endParaRPr lang="en-GB" sz="2400" dirty="0"/>
                        </a:p>
                      </a:txBody>
                      <a:tcPr/>
                    </a:tc>
                    <a:tc>
                      <a:txBody>
                        <a:bodyPr/>
                        <a:lstStyle/>
                        <a:p>
                          <a:pPr algn="ctr"/>
                          <a:r>
                            <a:rPr lang="en-GB" sz="2400" dirty="0" smtClean="0"/>
                            <a:t>0</a:t>
                          </a:r>
                          <a:endParaRPr lang="en-GB" sz="2400" dirty="0"/>
                        </a:p>
                      </a:txBody>
                      <a:tcPr/>
                    </a:tc>
                    <a:tc>
                      <a:txBody>
                        <a:bodyPr/>
                        <a:lstStyle/>
                        <a:p>
                          <a:pPr algn="ctr"/>
                          <a:r>
                            <a:rPr lang="en-GB" sz="2400" dirty="0" smtClean="0"/>
                            <a:t>1</a:t>
                          </a:r>
                          <a:endParaRPr lang="en-GB" sz="2400" dirty="0"/>
                        </a:p>
                      </a:txBody>
                      <a:tcPr/>
                    </a:tc>
                  </a:tr>
                  <a:tr h="457200">
                    <a:tc>
                      <a:txBody>
                        <a:bodyPr/>
                        <a:lstStyle/>
                        <a:p>
                          <a:pPr algn="ctr"/>
                          <a:r>
                            <a:rPr lang="en-GB" sz="2400" dirty="0" smtClean="0"/>
                            <a:t>1</a:t>
                          </a:r>
                          <a:endParaRPr lang="en-GB" sz="2400" dirty="0"/>
                        </a:p>
                      </a:txBody>
                      <a:tcPr/>
                    </a:tc>
                    <a:tc>
                      <a:txBody>
                        <a:bodyPr/>
                        <a:lstStyle/>
                        <a:p>
                          <a:pPr algn="ctr"/>
                          <a:r>
                            <a:rPr lang="en-GB" sz="2400" dirty="0" smtClean="0"/>
                            <a:t>1</a:t>
                          </a:r>
                          <a:endParaRPr lang="en-GB" sz="2400" dirty="0"/>
                        </a:p>
                      </a:txBody>
                      <a:tcPr/>
                    </a:tc>
                    <a:tc>
                      <a:txBody>
                        <a:bodyPr/>
                        <a:lstStyle/>
                        <a:p>
                          <a:pPr algn="ctr"/>
                          <a:r>
                            <a:rPr lang="en-GB" sz="2400" dirty="0" smtClean="0"/>
                            <a:t>0</a:t>
                          </a:r>
                          <a:endParaRPr lang="en-GB" sz="2400" dirty="0"/>
                        </a:p>
                      </a:txBody>
                      <a:tcPr/>
                    </a:tc>
                  </a:tr>
                  <a:tr h="457200">
                    <a:tc>
                      <a:txBody>
                        <a:bodyPr/>
                        <a:lstStyle/>
                        <a:p>
                          <a:pPr algn="ctr"/>
                          <a:r>
                            <a:rPr lang="en-GB" sz="2400" dirty="0" smtClean="0"/>
                            <a:t>1</a:t>
                          </a:r>
                          <a:endParaRPr lang="en-GB" sz="2400" dirty="0"/>
                        </a:p>
                      </a:txBody>
                      <a:tcPr/>
                    </a:tc>
                    <a:tc>
                      <a:txBody>
                        <a:bodyPr/>
                        <a:lstStyle/>
                        <a:p>
                          <a:pPr algn="ctr"/>
                          <a:r>
                            <a:rPr lang="en-GB" sz="2400" dirty="0" smtClean="0"/>
                            <a:t>1</a:t>
                          </a:r>
                          <a:endParaRPr lang="en-GB" sz="2400" dirty="0"/>
                        </a:p>
                      </a:txBody>
                      <a:tcPr/>
                    </a:tc>
                    <a:tc>
                      <a:txBody>
                        <a:bodyPr/>
                        <a:lstStyle/>
                        <a:p>
                          <a:pPr algn="ctr"/>
                          <a:r>
                            <a:rPr lang="en-GB" sz="2400" dirty="0" smtClean="0"/>
                            <a:t>1</a:t>
                          </a:r>
                          <a:endParaRPr lang="en-GB" sz="2400" dirty="0"/>
                        </a:p>
                      </a:txBody>
                      <a:tcPr/>
                    </a:tc>
                  </a:tr>
                </a:tbl>
              </a:graphicData>
            </a:graphic>
          </p:graphicFrame>
        </mc:Fallback>
      </mc:AlternateContent>
      <mc:AlternateContent xmlns:mc="http://schemas.openxmlformats.org/markup-compatibility/2006" xmlns:a14="http://schemas.microsoft.com/office/drawing/2010/main">
        <mc:Choice Requires="a14">
          <p:graphicFrame>
            <p:nvGraphicFramePr>
              <p:cNvPr id="8" name="Table 7"/>
              <p:cNvGraphicFramePr>
                <a:graphicFrameLocks noGrp="1"/>
              </p:cNvGraphicFramePr>
              <p:nvPr>
                <p:extLst>
                  <p:ext uri="{D42A27DB-BD31-4B8C-83A1-F6EECF244321}">
                    <p14:modId xmlns:p14="http://schemas.microsoft.com/office/powerpoint/2010/main" val="213545280"/>
                  </p:ext>
                </p:extLst>
              </p:nvPr>
            </p:nvGraphicFramePr>
            <p:xfrm>
              <a:off x="2133600" y="1828800"/>
              <a:ext cx="1066800" cy="4106333"/>
            </p:xfrm>
            <a:graphic>
              <a:graphicData uri="http://schemas.openxmlformats.org/drawingml/2006/table">
                <a:tbl>
                  <a:tblPr firstRow="1" bandRow="1">
                    <a:tableStyleId>{5C22544A-7EE6-4342-B048-85BDC9FD1C3A}</a:tableStyleId>
                  </a:tblPr>
                  <a:tblGrid>
                    <a:gridCol w="1066800">
                      <a:extLst>
                        <a:ext uri="{9D8B030D-6E8A-4147-A177-3AD203B41FA5}">
                          <a16:colId xmlns:a16="http://schemas.microsoft.com/office/drawing/2014/main" val="20000"/>
                        </a:ext>
                      </a:extLst>
                    </a:gridCol>
                  </a:tblGrid>
                  <a:tr h="448733">
                    <a:tc>
                      <a:txBody>
                        <a:bodyPr/>
                        <a:lstStyle/>
                        <a:p>
                          <a:r>
                            <a:rPr lang="en-GB" sz="2000" b="1" dirty="0"/>
                            <a:t>(</a:t>
                          </a:r>
                          <a14:m>
                            <m:oMath xmlns:m="http://schemas.openxmlformats.org/officeDocument/2006/math">
                              <m:r>
                                <a:rPr lang="en-GB" sz="2000" b="1" i="1" smtClean="0">
                                  <a:latin typeface="Cambria Math" panose="02040503050406030204" pitchFamily="18" charset="0"/>
                                </a:rPr>
                                <m:t>𝒒</m:t>
                              </m:r>
                              <m:r>
                                <a:rPr lang="en-GB" sz="2000" b="1" i="1" smtClean="0">
                                  <a:latin typeface="Cambria Math" panose="02040503050406030204" pitchFamily="18" charset="0"/>
                                </a:rPr>
                                <m:t> ∧ </m:t>
                              </m:r>
                              <m:r>
                                <a:rPr lang="en-GB" sz="2000" b="1" i="1" smtClean="0">
                                  <a:latin typeface="Cambria Math" panose="02040503050406030204" pitchFamily="18" charset="0"/>
                                </a:rPr>
                                <m:t>𝒓</m:t>
                              </m:r>
                              <m:r>
                                <a:rPr lang="en-GB" sz="2000" b="1" i="1" smtClean="0">
                                  <a:latin typeface="Cambria Math" panose="02040503050406030204" pitchFamily="18" charset="0"/>
                                </a:rPr>
                                <m:t>)</m:t>
                              </m:r>
                            </m:oMath>
                          </a14:m>
                          <a:endParaRPr lang="en-GB" sz="2000" dirty="0"/>
                        </a:p>
                      </a:txBody>
                      <a:tcPr/>
                    </a:tc>
                    <a:extLst>
                      <a:ext uri="{0D108BD9-81ED-4DB2-BD59-A6C34878D82A}">
                        <a16:rowId xmlns:a16="http://schemas.microsoft.com/office/drawing/2014/main" val="10000"/>
                      </a:ext>
                    </a:extLst>
                  </a:tr>
                  <a:tr h="448733">
                    <a:tc>
                      <a:txBody>
                        <a:bodyPr/>
                        <a:lstStyle/>
                        <a:p>
                          <a:pPr algn="ctr"/>
                          <a:r>
                            <a:rPr lang="en-GB" sz="2400" dirty="0"/>
                            <a:t>0</a:t>
                          </a:r>
                        </a:p>
                      </a:txBody>
                      <a:tcPr/>
                    </a:tc>
                    <a:extLst>
                      <a:ext uri="{0D108BD9-81ED-4DB2-BD59-A6C34878D82A}">
                        <a16:rowId xmlns:a16="http://schemas.microsoft.com/office/drawing/2014/main" val="10001"/>
                      </a:ext>
                    </a:extLst>
                  </a:tr>
                  <a:tr h="448733">
                    <a:tc>
                      <a:txBody>
                        <a:bodyPr/>
                        <a:lstStyle/>
                        <a:p>
                          <a:pPr algn="ctr"/>
                          <a:r>
                            <a:rPr lang="en-GB" sz="2400" dirty="0"/>
                            <a:t>0</a:t>
                          </a:r>
                        </a:p>
                      </a:txBody>
                      <a:tcPr/>
                    </a:tc>
                    <a:extLst>
                      <a:ext uri="{0D108BD9-81ED-4DB2-BD59-A6C34878D82A}">
                        <a16:rowId xmlns:a16="http://schemas.microsoft.com/office/drawing/2014/main" val="10002"/>
                      </a:ext>
                    </a:extLst>
                  </a:tr>
                  <a:tr h="448733">
                    <a:tc>
                      <a:txBody>
                        <a:bodyPr/>
                        <a:lstStyle/>
                        <a:p>
                          <a:pPr algn="ctr"/>
                          <a:r>
                            <a:rPr lang="en-GB" sz="2400" dirty="0"/>
                            <a:t>0</a:t>
                          </a:r>
                        </a:p>
                      </a:txBody>
                      <a:tcPr/>
                    </a:tc>
                    <a:extLst>
                      <a:ext uri="{0D108BD9-81ED-4DB2-BD59-A6C34878D82A}">
                        <a16:rowId xmlns:a16="http://schemas.microsoft.com/office/drawing/2014/main" val="10003"/>
                      </a:ext>
                    </a:extLst>
                  </a:tr>
                  <a:tr h="448733">
                    <a:tc>
                      <a:txBody>
                        <a:bodyPr/>
                        <a:lstStyle/>
                        <a:p>
                          <a:pPr algn="ctr"/>
                          <a:r>
                            <a:rPr lang="en-GB" sz="2400" dirty="0"/>
                            <a:t>1</a:t>
                          </a:r>
                        </a:p>
                      </a:txBody>
                      <a:tcPr/>
                    </a:tc>
                    <a:extLst>
                      <a:ext uri="{0D108BD9-81ED-4DB2-BD59-A6C34878D82A}">
                        <a16:rowId xmlns:a16="http://schemas.microsoft.com/office/drawing/2014/main" val="10004"/>
                      </a:ext>
                    </a:extLst>
                  </a:tr>
                  <a:tr h="448733">
                    <a:tc>
                      <a:txBody>
                        <a:bodyPr/>
                        <a:lstStyle/>
                        <a:p>
                          <a:pPr algn="ctr"/>
                          <a:r>
                            <a:rPr lang="en-GB" sz="2400" dirty="0"/>
                            <a:t>0</a:t>
                          </a:r>
                        </a:p>
                      </a:txBody>
                      <a:tcPr/>
                    </a:tc>
                    <a:extLst>
                      <a:ext uri="{0D108BD9-81ED-4DB2-BD59-A6C34878D82A}">
                        <a16:rowId xmlns:a16="http://schemas.microsoft.com/office/drawing/2014/main" val="10005"/>
                      </a:ext>
                    </a:extLst>
                  </a:tr>
                  <a:tr h="448733">
                    <a:tc>
                      <a:txBody>
                        <a:bodyPr/>
                        <a:lstStyle/>
                        <a:p>
                          <a:pPr algn="ctr"/>
                          <a:r>
                            <a:rPr lang="en-GB" sz="2400" dirty="0"/>
                            <a:t>0</a:t>
                          </a:r>
                        </a:p>
                      </a:txBody>
                      <a:tcPr/>
                    </a:tc>
                    <a:extLst>
                      <a:ext uri="{0D108BD9-81ED-4DB2-BD59-A6C34878D82A}">
                        <a16:rowId xmlns:a16="http://schemas.microsoft.com/office/drawing/2014/main" val="10006"/>
                      </a:ext>
                    </a:extLst>
                  </a:tr>
                  <a:tr h="448733">
                    <a:tc>
                      <a:txBody>
                        <a:bodyPr/>
                        <a:lstStyle/>
                        <a:p>
                          <a:pPr algn="ctr"/>
                          <a:r>
                            <a:rPr lang="en-GB" sz="2400" dirty="0"/>
                            <a:t>0</a:t>
                          </a:r>
                        </a:p>
                      </a:txBody>
                      <a:tcPr/>
                    </a:tc>
                    <a:extLst>
                      <a:ext uri="{0D108BD9-81ED-4DB2-BD59-A6C34878D82A}">
                        <a16:rowId xmlns:a16="http://schemas.microsoft.com/office/drawing/2014/main" val="10007"/>
                      </a:ext>
                    </a:extLst>
                  </a:tr>
                  <a:tr h="448733">
                    <a:tc>
                      <a:txBody>
                        <a:bodyPr/>
                        <a:lstStyle/>
                        <a:p>
                          <a:pPr algn="ctr"/>
                          <a:r>
                            <a:rPr lang="en-GB" sz="2400" dirty="0"/>
                            <a:t>1</a:t>
                          </a:r>
                        </a:p>
                      </a:txBody>
                      <a:tcPr/>
                    </a:tc>
                    <a:extLst>
                      <a:ext uri="{0D108BD9-81ED-4DB2-BD59-A6C34878D82A}">
                        <a16:rowId xmlns:a16="http://schemas.microsoft.com/office/drawing/2014/main" val="10008"/>
                      </a:ext>
                    </a:extLst>
                  </a:tr>
                </a:tbl>
              </a:graphicData>
            </a:graphic>
          </p:graphicFrame>
        </mc:Choice>
        <mc:Fallback xmlns="">
          <p:graphicFrame>
            <p:nvGraphicFramePr>
              <p:cNvPr id="8" name="Table 7"/>
              <p:cNvGraphicFramePr>
                <a:graphicFrameLocks noGrp="1"/>
              </p:cNvGraphicFramePr>
              <p:nvPr>
                <p:extLst>
                  <p:ext uri="{D42A27DB-BD31-4B8C-83A1-F6EECF244321}">
                    <p14:modId xmlns:p14="http://schemas.microsoft.com/office/powerpoint/2010/main" val="213545280"/>
                  </p:ext>
                </p:extLst>
              </p:nvPr>
            </p:nvGraphicFramePr>
            <p:xfrm>
              <a:off x="2133600" y="1828800"/>
              <a:ext cx="1066800" cy="4106333"/>
            </p:xfrm>
            <a:graphic>
              <a:graphicData uri="http://schemas.openxmlformats.org/drawingml/2006/table">
                <a:tbl>
                  <a:tblPr firstRow="1" bandRow="1">
                    <a:tableStyleId>{5C22544A-7EE6-4342-B048-85BDC9FD1C3A}</a:tableStyleId>
                  </a:tblPr>
                  <a:tblGrid>
                    <a:gridCol w="1066800"/>
                  </a:tblGrid>
                  <a:tr h="448733">
                    <a:tc>
                      <a:txBody>
                        <a:bodyPr/>
                        <a:lstStyle/>
                        <a:p>
                          <a:endParaRPr lang="en-US"/>
                        </a:p>
                      </a:txBody>
                      <a:tcPr>
                        <a:blipFill rotWithShape="0">
                          <a:blip r:embed="rId3"/>
                          <a:stretch>
                            <a:fillRect l="-1143" t="-5405" r="-2857" b="-843243"/>
                          </a:stretch>
                        </a:blipFill>
                      </a:tcPr>
                    </a:tc>
                  </a:tr>
                  <a:tr h="457200">
                    <a:tc>
                      <a:txBody>
                        <a:bodyPr/>
                        <a:lstStyle/>
                        <a:p>
                          <a:pPr algn="ctr"/>
                          <a:r>
                            <a:rPr lang="en-GB" sz="2400" dirty="0" smtClean="0"/>
                            <a:t>0</a:t>
                          </a:r>
                          <a:endParaRPr lang="en-GB" sz="2400" dirty="0"/>
                        </a:p>
                      </a:txBody>
                      <a:tcPr/>
                    </a:tc>
                  </a:tr>
                  <a:tr h="457200">
                    <a:tc>
                      <a:txBody>
                        <a:bodyPr/>
                        <a:lstStyle/>
                        <a:p>
                          <a:pPr algn="ctr"/>
                          <a:r>
                            <a:rPr lang="en-GB" sz="2400" dirty="0" smtClean="0"/>
                            <a:t>0</a:t>
                          </a:r>
                          <a:endParaRPr lang="en-GB" sz="2400" dirty="0"/>
                        </a:p>
                      </a:txBody>
                      <a:tcPr/>
                    </a:tc>
                  </a:tr>
                  <a:tr h="457200">
                    <a:tc>
                      <a:txBody>
                        <a:bodyPr/>
                        <a:lstStyle/>
                        <a:p>
                          <a:pPr algn="ctr"/>
                          <a:r>
                            <a:rPr lang="en-GB" sz="2400" dirty="0" smtClean="0"/>
                            <a:t>0</a:t>
                          </a:r>
                          <a:endParaRPr lang="en-GB" sz="2400" dirty="0"/>
                        </a:p>
                      </a:txBody>
                      <a:tcPr/>
                    </a:tc>
                  </a:tr>
                  <a:tr h="457200">
                    <a:tc>
                      <a:txBody>
                        <a:bodyPr/>
                        <a:lstStyle/>
                        <a:p>
                          <a:pPr algn="ctr"/>
                          <a:r>
                            <a:rPr lang="en-GB" sz="2400" dirty="0" smtClean="0"/>
                            <a:t>1</a:t>
                          </a:r>
                          <a:endParaRPr lang="en-GB" sz="2400" dirty="0"/>
                        </a:p>
                      </a:txBody>
                      <a:tcPr/>
                    </a:tc>
                  </a:tr>
                  <a:tr h="457200">
                    <a:tc>
                      <a:txBody>
                        <a:bodyPr/>
                        <a:lstStyle/>
                        <a:p>
                          <a:pPr algn="ctr"/>
                          <a:r>
                            <a:rPr lang="en-GB" sz="2400" dirty="0" smtClean="0"/>
                            <a:t>0</a:t>
                          </a:r>
                          <a:endParaRPr lang="en-GB" sz="2400" dirty="0"/>
                        </a:p>
                      </a:txBody>
                      <a:tcPr/>
                    </a:tc>
                  </a:tr>
                  <a:tr h="457200">
                    <a:tc>
                      <a:txBody>
                        <a:bodyPr/>
                        <a:lstStyle/>
                        <a:p>
                          <a:pPr algn="ctr"/>
                          <a:r>
                            <a:rPr lang="en-GB" sz="2400" dirty="0" smtClean="0"/>
                            <a:t>0</a:t>
                          </a:r>
                          <a:endParaRPr lang="en-GB" sz="2400" dirty="0"/>
                        </a:p>
                      </a:txBody>
                      <a:tcPr/>
                    </a:tc>
                  </a:tr>
                  <a:tr h="457200">
                    <a:tc>
                      <a:txBody>
                        <a:bodyPr/>
                        <a:lstStyle/>
                        <a:p>
                          <a:pPr algn="ctr"/>
                          <a:r>
                            <a:rPr lang="en-GB" sz="2400" dirty="0" smtClean="0"/>
                            <a:t>0</a:t>
                          </a:r>
                          <a:endParaRPr lang="en-GB" sz="2400" dirty="0"/>
                        </a:p>
                      </a:txBody>
                      <a:tcPr/>
                    </a:tc>
                  </a:tr>
                  <a:tr h="457200">
                    <a:tc>
                      <a:txBody>
                        <a:bodyPr/>
                        <a:lstStyle/>
                        <a:p>
                          <a:pPr algn="ctr"/>
                          <a:r>
                            <a:rPr lang="en-GB" sz="2400" dirty="0" smtClean="0"/>
                            <a:t>1</a:t>
                          </a:r>
                          <a:endParaRPr lang="en-GB" sz="2400" dirty="0"/>
                        </a:p>
                      </a:txBody>
                      <a:tcPr/>
                    </a:tc>
                  </a:tr>
                </a:tbl>
              </a:graphicData>
            </a:graphic>
          </p:graphicFrame>
        </mc:Fallback>
      </mc:AlternateContent>
      <p:graphicFrame>
        <p:nvGraphicFramePr>
          <p:cNvPr id="9" name="Table 8"/>
          <p:cNvGraphicFramePr>
            <a:graphicFrameLocks noGrp="1"/>
          </p:cNvGraphicFramePr>
          <p:nvPr>
            <p:extLst>
              <p:ext uri="{D42A27DB-BD31-4B8C-83A1-F6EECF244321}">
                <p14:modId xmlns:p14="http://schemas.microsoft.com/office/powerpoint/2010/main" val="1037438579"/>
              </p:ext>
            </p:extLst>
          </p:nvPr>
        </p:nvGraphicFramePr>
        <p:xfrm>
          <a:off x="4800600" y="1828800"/>
          <a:ext cx="990600" cy="4106333"/>
        </p:xfrm>
        <a:graphic>
          <a:graphicData uri="http://schemas.openxmlformats.org/drawingml/2006/table">
            <a:tbl>
              <a:tblPr firstRow="1" bandRow="1">
                <a:tableStyleId>{5C22544A-7EE6-4342-B048-85BDC9FD1C3A}</a:tableStyleId>
              </a:tblPr>
              <a:tblGrid>
                <a:gridCol w="990600">
                  <a:extLst>
                    <a:ext uri="{9D8B030D-6E8A-4147-A177-3AD203B41FA5}">
                      <a16:colId xmlns:a16="http://schemas.microsoft.com/office/drawing/2014/main" val="20000"/>
                    </a:ext>
                  </a:extLst>
                </a:gridCol>
              </a:tblGrid>
              <a:tr h="448733">
                <a:tc>
                  <a:txBody>
                    <a:bodyPr/>
                    <a:lstStyle/>
                    <a:p>
                      <a:pPr marL="0" algn="l" defTabSz="914400" rtl="0" eaLnBrk="1" latinLnBrk="0" hangingPunct="1"/>
                      <a:r>
                        <a:rPr lang="pt-BR" sz="2000" b="0" kern="1200" dirty="0">
                          <a:solidFill>
                            <a:schemeClr val="lt1"/>
                          </a:solidFill>
                          <a:latin typeface="+mn-lt"/>
                          <a:ea typeface="+mn-ea"/>
                          <a:cs typeface="+mn-cs"/>
                        </a:rPr>
                        <a:t>(p ∨ q)</a:t>
                      </a:r>
                      <a:endParaRPr lang="en-GB" sz="2000" b="0" kern="1200" dirty="0">
                        <a:solidFill>
                          <a:schemeClr val="lt1"/>
                        </a:solidFill>
                        <a:latin typeface="+mn-lt"/>
                        <a:ea typeface="+mn-ea"/>
                        <a:cs typeface="+mn-cs"/>
                      </a:endParaRPr>
                    </a:p>
                  </a:txBody>
                  <a:tcPr/>
                </a:tc>
                <a:extLst>
                  <a:ext uri="{0D108BD9-81ED-4DB2-BD59-A6C34878D82A}">
                    <a16:rowId xmlns:a16="http://schemas.microsoft.com/office/drawing/2014/main" val="10000"/>
                  </a:ext>
                </a:extLst>
              </a:tr>
              <a:tr h="448733">
                <a:tc>
                  <a:txBody>
                    <a:bodyPr/>
                    <a:lstStyle/>
                    <a:p>
                      <a:pPr algn="ctr"/>
                      <a:r>
                        <a:rPr lang="en-GB" sz="2400" dirty="0"/>
                        <a:t>0</a:t>
                      </a:r>
                    </a:p>
                  </a:txBody>
                  <a:tcPr/>
                </a:tc>
                <a:extLst>
                  <a:ext uri="{0D108BD9-81ED-4DB2-BD59-A6C34878D82A}">
                    <a16:rowId xmlns:a16="http://schemas.microsoft.com/office/drawing/2014/main" val="10001"/>
                  </a:ext>
                </a:extLst>
              </a:tr>
              <a:tr h="448733">
                <a:tc>
                  <a:txBody>
                    <a:bodyPr/>
                    <a:lstStyle/>
                    <a:p>
                      <a:pPr algn="ctr"/>
                      <a:r>
                        <a:rPr lang="en-GB" sz="2400" dirty="0"/>
                        <a:t>0</a:t>
                      </a:r>
                    </a:p>
                  </a:txBody>
                  <a:tcPr/>
                </a:tc>
                <a:extLst>
                  <a:ext uri="{0D108BD9-81ED-4DB2-BD59-A6C34878D82A}">
                    <a16:rowId xmlns:a16="http://schemas.microsoft.com/office/drawing/2014/main" val="10002"/>
                  </a:ext>
                </a:extLst>
              </a:tr>
              <a:tr h="448733">
                <a:tc>
                  <a:txBody>
                    <a:bodyPr/>
                    <a:lstStyle/>
                    <a:p>
                      <a:pPr algn="ctr"/>
                      <a:r>
                        <a:rPr lang="en-GB" sz="2400" dirty="0"/>
                        <a:t>1</a:t>
                      </a:r>
                    </a:p>
                  </a:txBody>
                  <a:tcPr/>
                </a:tc>
                <a:extLst>
                  <a:ext uri="{0D108BD9-81ED-4DB2-BD59-A6C34878D82A}">
                    <a16:rowId xmlns:a16="http://schemas.microsoft.com/office/drawing/2014/main" val="10003"/>
                  </a:ext>
                </a:extLst>
              </a:tr>
              <a:tr h="448733">
                <a:tc>
                  <a:txBody>
                    <a:bodyPr/>
                    <a:lstStyle/>
                    <a:p>
                      <a:pPr algn="ctr"/>
                      <a:r>
                        <a:rPr lang="en-GB" sz="2400" dirty="0"/>
                        <a:t>1</a:t>
                      </a:r>
                    </a:p>
                  </a:txBody>
                  <a:tcPr/>
                </a:tc>
                <a:extLst>
                  <a:ext uri="{0D108BD9-81ED-4DB2-BD59-A6C34878D82A}">
                    <a16:rowId xmlns:a16="http://schemas.microsoft.com/office/drawing/2014/main" val="10004"/>
                  </a:ext>
                </a:extLst>
              </a:tr>
              <a:tr h="448733">
                <a:tc>
                  <a:txBody>
                    <a:bodyPr/>
                    <a:lstStyle/>
                    <a:p>
                      <a:pPr algn="ctr"/>
                      <a:r>
                        <a:rPr lang="en-GB" sz="2400" dirty="0"/>
                        <a:t>1</a:t>
                      </a:r>
                    </a:p>
                  </a:txBody>
                  <a:tcPr/>
                </a:tc>
                <a:extLst>
                  <a:ext uri="{0D108BD9-81ED-4DB2-BD59-A6C34878D82A}">
                    <a16:rowId xmlns:a16="http://schemas.microsoft.com/office/drawing/2014/main" val="10005"/>
                  </a:ext>
                </a:extLst>
              </a:tr>
              <a:tr h="448733">
                <a:tc>
                  <a:txBody>
                    <a:bodyPr/>
                    <a:lstStyle/>
                    <a:p>
                      <a:pPr algn="ctr"/>
                      <a:r>
                        <a:rPr lang="en-GB" sz="2400" dirty="0"/>
                        <a:t>1</a:t>
                      </a:r>
                    </a:p>
                  </a:txBody>
                  <a:tcPr/>
                </a:tc>
                <a:extLst>
                  <a:ext uri="{0D108BD9-81ED-4DB2-BD59-A6C34878D82A}">
                    <a16:rowId xmlns:a16="http://schemas.microsoft.com/office/drawing/2014/main" val="10006"/>
                  </a:ext>
                </a:extLst>
              </a:tr>
              <a:tr h="448733">
                <a:tc>
                  <a:txBody>
                    <a:bodyPr/>
                    <a:lstStyle/>
                    <a:p>
                      <a:pPr algn="ctr"/>
                      <a:r>
                        <a:rPr lang="en-GB" sz="2400" dirty="0"/>
                        <a:t>1</a:t>
                      </a:r>
                    </a:p>
                  </a:txBody>
                  <a:tcPr/>
                </a:tc>
                <a:extLst>
                  <a:ext uri="{0D108BD9-81ED-4DB2-BD59-A6C34878D82A}">
                    <a16:rowId xmlns:a16="http://schemas.microsoft.com/office/drawing/2014/main" val="10007"/>
                  </a:ext>
                </a:extLst>
              </a:tr>
              <a:tr h="448733">
                <a:tc>
                  <a:txBody>
                    <a:bodyPr/>
                    <a:lstStyle/>
                    <a:p>
                      <a:pPr algn="ctr"/>
                      <a:r>
                        <a:rPr lang="en-GB" sz="2400" dirty="0"/>
                        <a:t>1</a:t>
                      </a:r>
                    </a:p>
                  </a:txBody>
                  <a:tcPr/>
                </a:tc>
                <a:extLst>
                  <a:ext uri="{0D108BD9-81ED-4DB2-BD59-A6C34878D82A}">
                    <a16:rowId xmlns:a16="http://schemas.microsoft.com/office/drawing/2014/main" val="10008"/>
                  </a:ext>
                </a:extLst>
              </a:tr>
            </a:tbl>
          </a:graphicData>
        </a:graphic>
      </p:graphicFrame>
      <p:graphicFrame>
        <p:nvGraphicFramePr>
          <p:cNvPr id="10" name="Table 9"/>
          <p:cNvGraphicFramePr>
            <a:graphicFrameLocks noGrp="1"/>
          </p:cNvGraphicFramePr>
          <p:nvPr>
            <p:extLst>
              <p:ext uri="{D42A27DB-BD31-4B8C-83A1-F6EECF244321}">
                <p14:modId xmlns:p14="http://schemas.microsoft.com/office/powerpoint/2010/main" val="3390182927"/>
              </p:ext>
            </p:extLst>
          </p:nvPr>
        </p:nvGraphicFramePr>
        <p:xfrm>
          <a:off x="5826456" y="1828800"/>
          <a:ext cx="881409" cy="4106333"/>
        </p:xfrm>
        <a:graphic>
          <a:graphicData uri="http://schemas.openxmlformats.org/drawingml/2006/table">
            <a:tbl>
              <a:tblPr firstRow="1" bandRow="1">
                <a:tableStyleId>{5C22544A-7EE6-4342-B048-85BDC9FD1C3A}</a:tableStyleId>
              </a:tblPr>
              <a:tblGrid>
                <a:gridCol w="881409">
                  <a:extLst>
                    <a:ext uri="{9D8B030D-6E8A-4147-A177-3AD203B41FA5}">
                      <a16:colId xmlns:a16="http://schemas.microsoft.com/office/drawing/2014/main" val="20000"/>
                    </a:ext>
                  </a:extLst>
                </a:gridCol>
              </a:tblGrid>
              <a:tr h="448733">
                <a:tc>
                  <a:txBody>
                    <a:bodyPr/>
                    <a:lstStyle/>
                    <a:p>
                      <a:pPr marL="0" algn="l" defTabSz="914400" rtl="0" eaLnBrk="1" latinLnBrk="0" hangingPunct="1"/>
                      <a:r>
                        <a:rPr lang="pt-BR" sz="2000" b="0" kern="1200" dirty="0">
                          <a:solidFill>
                            <a:schemeClr val="lt1"/>
                          </a:solidFill>
                          <a:latin typeface="+mn-lt"/>
                          <a:ea typeface="+mn-ea"/>
                          <a:cs typeface="+mn-cs"/>
                        </a:rPr>
                        <a:t>(p ∨ r)</a:t>
                      </a:r>
                      <a:endParaRPr lang="en-GB" sz="2000" b="0" kern="1200" dirty="0">
                        <a:solidFill>
                          <a:schemeClr val="lt1"/>
                        </a:solidFill>
                        <a:latin typeface="+mn-lt"/>
                        <a:ea typeface="+mn-ea"/>
                        <a:cs typeface="+mn-cs"/>
                      </a:endParaRPr>
                    </a:p>
                  </a:txBody>
                  <a:tcPr/>
                </a:tc>
                <a:extLst>
                  <a:ext uri="{0D108BD9-81ED-4DB2-BD59-A6C34878D82A}">
                    <a16:rowId xmlns:a16="http://schemas.microsoft.com/office/drawing/2014/main" val="10000"/>
                  </a:ext>
                </a:extLst>
              </a:tr>
              <a:tr h="448733">
                <a:tc>
                  <a:txBody>
                    <a:bodyPr/>
                    <a:lstStyle/>
                    <a:p>
                      <a:pPr algn="ctr"/>
                      <a:r>
                        <a:rPr lang="en-GB" sz="2400" dirty="0"/>
                        <a:t>0</a:t>
                      </a:r>
                    </a:p>
                  </a:txBody>
                  <a:tcPr/>
                </a:tc>
                <a:extLst>
                  <a:ext uri="{0D108BD9-81ED-4DB2-BD59-A6C34878D82A}">
                    <a16:rowId xmlns:a16="http://schemas.microsoft.com/office/drawing/2014/main" val="10001"/>
                  </a:ext>
                </a:extLst>
              </a:tr>
              <a:tr h="448733">
                <a:tc>
                  <a:txBody>
                    <a:bodyPr/>
                    <a:lstStyle/>
                    <a:p>
                      <a:pPr algn="ctr"/>
                      <a:r>
                        <a:rPr lang="en-GB" sz="2400" dirty="0"/>
                        <a:t>1</a:t>
                      </a:r>
                    </a:p>
                  </a:txBody>
                  <a:tcPr/>
                </a:tc>
                <a:extLst>
                  <a:ext uri="{0D108BD9-81ED-4DB2-BD59-A6C34878D82A}">
                    <a16:rowId xmlns:a16="http://schemas.microsoft.com/office/drawing/2014/main" val="10002"/>
                  </a:ext>
                </a:extLst>
              </a:tr>
              <a:tr h="448733">
                <a:tc>
                  <a:txBody>
                    <a:bodyPr/>
                    <a:lstStyle/>
                    <a:p>
                      <a:pPr algn="ctr"/>
                      <a:r>
                        <a:rPr lang="en-GB" sz="2400" dirty="0"/>
                        <a:t>0</a:t>
                      </a:r>
                    </a:p>
                  </a:txBody>
                  <a:tcPr/>
                </a:tc>
                <a:extLst>
                  <a:ext uri="{0D108BD9-81ED-4DB2-BD59-A6C34878D82A}">
                    <a16:rowId xmlns:a16="http://schemas.microsoft.com/office/drawing/2014/main" val="10003"/>
                  </a:ext>
                </a:extLst>
              </a:tr>
              <a:tr h="448733">
                <a:tc>
                  <a:txBody>
                    <a:bodyPr/>
                    <a:lstStyle/>
                    <a:p>
                      <a:pPr algn="ctr"/>
                      <a:r>
                        <a:rPr lang="en-GB" sz="2400" dirty="0"/>
                        <a:t>1</a:t>
                      </a:r>
                    </a:p>
                  </a:txBody>
                  <a:tcPr/>
                </a:tc>
                <a:extLst>
                  <a:ext uri="{0D108BD9-81ED-4DB2-BD59-A6C34878D82A}">
                    <a16:rowId xmlns:a16="http://schemas.microsoft.com/office/drawing/2014/main" val="10004"/>
                  </a:ext>
                </a:extLst>
              </a:tr>
              <a:tr h="448733">
                <a:tc>
                  <a:txBody>
                    <a:bodyPr/>
                    <a:lstStyle/>
                    <a:p>
                      <a:pPr algn="ctr"/>
                      <a:r>
                        <a:rPr lang="en-GB" sz="2400" dirty="0"/>
                        <a:t>1</a:t>
                      </a:r>
                    </a:p>
                  </a:txBody>
                  <a:tcPr/>
                </a:tc>
                <a:extLst>
                  <a:ext uri="{0D108BD9-81ED-4DB2-BD59-A6C34878D82A}">
                    <a16:rowId xmlns:a16="http://schemas.microsoft.com/office/drawing/2014/main" val="10005"/>
                  </a:ext>
                </a:extLst>
              </a:tr>
              <a:tr h="448733">
                <a:tc>
                  <a:txBody>
                    <a:bodyPr/>
                    <a:lstStyle/>
                    <a:p>
                      <a:pPr algn="ctr"/>
                      <a:r>
                        <a:rPr lang="en-GB" sz="2400" dirty="0"/>
                        <a:t>1</a:t>
                      </a:r>
                    </a:p>
                  </a:txBody>
                  <a:tcPr/>
                </a:tc>
                <a:extLst>
                  <a:ext uri="{0D108BD9-81ED-4DB2-BD59-A6C34878D82A}">
                    <a16:rowId xmlns:a16="http://schemas.microsoft.com/office/drawing/2014/main" val="10006"/>
                  </a:ext>
                </a:extLst>
              </a:tr>
              <a:tr h="448733">
                <a:tc>
                  <a:txBody>
                    <a:bodyPr/>
                    <a:lstStyle/>
                    <a:p>
                      <a:pPr algn="ctr"/>
                      <a:r>
                        <a:rPr lang="en-GB" sz="2400" dirty="0"/>
                        <a:t>1</a:t>
                      </a:r>
                    </a:p>
                  </a:txBody>
                  <a:tcPr/>
                </a:tc>
                <a:extLst>
                  <a:ext uri="{0D108BD9-81ED-4DB2-BD59-A6C34878D82A}">
                    <a16:rowId xmlns:a16="http://schemas.microsoft.com/office/drawing/2014/main" val="10007"/>
                  </a:ext>
                </a:extLst>
              </a:tr>
              <a:tr h="448733">
                <a:tc>
                  <a:txBody>
                    <a:bodyPr/>
                    <a:lstStyle/>
                    <a:p>
                      <a:pPr algn="ctr"/>
                      <a:r>
                        <a:rPr lang="en-GB" sz="2400" dirty="0"/>
                        <a:t>1</a:t>
                      </a:r>
                    </a:p>
                  </a:txBody>
                  <a:tcPr/>
                </a:tc>
                <a:extLst>
                  <a:ext uri="{0D108BD9-81ED-4DB2-BD59-A6C34878D82A}">
                    <a16:rowId xmlns:a16="http://schemas.microsoft.com/office/drawing/2014/main" val="10008"/>
                  </a:ext>
                </a:extLst>
              </a:tr>
            </a:tbl>
          </a:graphicData>
        </a:graphic>
      </p:graphicFrame>
      <p:graphicFrame>
        <p:nvGraphicFramePr>
          <p:cNvPr id="11" name="Table 10"/>
          <p:cNvGraphicFramePr>
            <a:graphicFrameLocks noGrp="1"/>
          </p:cNvGraphicFramePr>
          <p:nvPr>
            <p:extLst>
              <p:ext uri="{D42A27DB-BD31-4B8C-83A1-F6EECF244321}">
                <p14:modId xmlns:p14="http://schemas.microsoft.com/office/powerpoint/2010/main" val="81901120"/>
              </p:ext>
            </p:extLst>
          </p:nvPr>
        </p:nvGraphicFramePr>
        <p:xfrm>
          <a:off x="6753360" y="1828800"/>
          <a:ext cx="1992576" cy="4106333"/>
        </p:xfrm>
        <a:graphic>
          <a:graphicData uri="http://schemas.openxmlformats.org/drawingml/2006/table">
            <a:tbl>
              <a:tblPr firstRow="1" bandRow="1">
                <a:tableStyleId>{5C22544A-7EE6-4342-B048-85BDC9FD1C3A}</a:tableStyleId>
              </a:tblPr>
              <a:tblGrid>
                <a:gridCol w="1992576">
                  <a:extLst>
                    <a:ext uri="{9D8B030D-6E8A-4147-A177-3AD203B41FA5}">
                      <a16:colId xmlns:a16="http://schemas.microsoft.com/office/drawing/2014/main" val="20000"/>
                    </a:ext>
                  </a:extLst>
                </a:gridCol>
              </a:tblGrid>
              <a:tr h="448733">
                <a:tc>
                  <a:txBody>
                    <a:bodyPr/>
                    <a:lstStyle/>
                    <a:p>
                      <a:pPr marL="0" algn="l" defTabSz="914400" rtl="0" eaLnBrk="1" latinLnBrk="0" hangingPunct="1"/>
                      <a:r>
                        <a:rPr lang="pt-BR" sz="2000" b="0" kern="1200" dirty="0">
                          <a:solidFill>
                            <a:schemeClr val="lt1"/>
                          </a:solidFill>
                          <a:latin typeface="+mn-lt"/>
                          <a:ea typeface="+mn-ea"/>
                          <a:cs typeface="+mn-cs"/>
                        </a:rPr>
                        <a:t>(p ∨ q) ∧ (p ∨ r)</a:t>
                      </a:r>
                      <a:endParaRPr lang="en-GB" sz="2000" b="0" kern="1200" dirty="0">
                        <a:solidFill>
                          <a:schemeClr val="lt1"/>
                        </a:solidFill>
                        <a:latin typeface="+mn-lt"/>
                        <a:ea typeface="+mn-ea"/>
                        <a:cs typeface="+mn-cs"/>
                      </a:endParaRPr>
                    </a:p>
                  </a:txBody>
                  <a:tcPr/>
                </a:tc>
                <a:extLst>
                  <a:ext uri="{0D108BD9-81ED-4DB2-BD59-A6C34878D82A}">
                    <a16:rowId xmlns:a16="http://schemas.microsoft.com/office/drawing/2014/main" val="10000"/>
                  </a:ext>
                </a:extLst>
              </a:tr>
              <a:tr h="448733">
                <a:tc>
                  <a:txBody>
                    <a:bodyPr/>
                    <a:lstStyle/>
                    <a:p>
                      <a:pPr algn="ctr"/>
                      <a:r>
                        <a:rPr lang="en-GB" sz="2400" dirty="0"/>
                        <a:t>0</a:t>
                      </a:r>
                    </a:p>
                  </a:txBody>
                  <a:tcPr>
                    <a:solidFill>
                      <a:srgbClr val="FFFF00"/>
                    </a:solidFill>
                  </a:tcPr>
                </a:tc>
                <a:extLst>
                  <a:ext uri="{0D108BD9-81ED-4DB2-BD59-A6C34878D82A}">
                    <a16:rowId xmlns:a16="http://schemas.microsoft.com/office/drawing/2014/main" val="10001"/>
                  </a:ext>
                </a:extLst>
              </a:tr>
              <a:tr h="448733">
                <a:tc>
                  <a:txBody>
                    <a:bodyPr/>
                    <a:lstStyle/>
                    <a:p>
                      <a:pPr algn="ctr"/>
                      <a:r>
                        <a:rPr lang="en-GB" sz="2400" dirty="0"/>
                        <a:t>0</a:t>
                      </a:r>
                    </a:p>
                  </a:txBody>
                  <a:tcPr>
                    <a:solidFill>
                      <a:srgbClr val="FFFF00"/>
                    </a:solidFill>
                  </a:tcPr>
                </a:tc>
                <a:extLst>
                  <a:ext uri="{0D108BD9-81ED-4DB2-BD59-A6C34878D82A}">
                    <a16:rowId xmlns:a16="http://schemas.microsoft.com/office/drawing/2014/main" val="10002"/>
                  </a:ext>
                </a:extLst>
              </a:tr>
              <a:tr h="448733">
                <a:tc>
                  <a:txBody>
                    <a:bodyPr/>
                    <a:lstStyle/>
                    <a:p>
                      <a:pPr algn="ctr"/>
                      <a:r>
                        <a:rPr lang="en-GB" sz="2400" dirty="0"/>
                        <a:t>0</a:t>
                      </a:r>
                    </a:p>
                  </a:txBody>
                  <a:tcPr>
                    <a:solidFill>
                      <a:srgbClr val="FFFF00"/>
                    </a:solidFill>
                  </a:tcPr>
                </a:tc>
                <a:extLst>
                  <a:ext uri="{0D108BD9-81ED-4DB2-BD59-A6C34878D82A}">
                    <a16:rowId xmlns:a16="http://schemas.microsoft.com/office/drawing/2014/main" val="10003"/>
                  </a:ext>
                </a:extLst>
              </a:tr>
              <a:tr h="448733">
                <a:tc>
                  <a:txBody>
                    <a:bodyPr/>
                    <a:lstStyle/>
                    <a:p>
                      <a:pPr algn="ctr"/>
                      <a:r>
                        <a:rPr lang="en-GB" sz="2400" dirty="0"/>
                        <a:t>1</a:t>
                      </a:r>
                    </a:p>
                  </a:txBody>
                  <a:tcPr>
                    <a:solidFill>
                      <a:srgbClr val="FFFF00"/>
                    </a:solidFill>
                  </a:tcPr>
                </a:tc>
                <a:extLst>
                  <a:ext uri="{0D108BD9-81ED-4DB2-BD59-A6C34878D82A}">
                    <a16:rowId xmlns:a16="http://schemas.microsoft.com/office/drawing/2014/main" val="10004"/>
                  </a:ext>
                </a:extLst>
              </a:tr>
              <a:tr h="448733">
                <a:tc>
                  <a:txBody>
                    <a:bodyPr/>
                    <a:lstStyle/>
                    <a:p>
                      <a:pPr algn="ctr"/>
                      <a:r>
                        <a:rPr lang="en-GB" sz="2400" dirty="0"/>
                        <a:t>1</a:t>
                      </a:r>
                    </a:p>
                  </a:txBody>
                  <a:tcPr>
                    <a:solidFill>
                      <a:srgbClr val="FFFF00"/>
                    </a:solidFill>
                  </a:tcPr>
                </a:tc>
                <a:extLst>
                  <a:ext uri="{0D108BD9-81ED-4DB2-BD59-A6C34878D82A}">
                    <a16:rowId xmlns:a16="http://schemas.microsoft.com/office/drawing/2014/main" val="10005"/>
                  </a:ext>
                </a:extLst>
              </a:tr>
              <a:tr h="448733">
                <a:tc>
                  <a:txBody>
                    <a:bodyPr/>
                    <a:lstStyle/>
                    <a:p>
                      <a:pPr algn="ctr"/>
                      <a:r>
                        <a:rPr lang="en-GB" sz="2400" dirty="0"/>
                        <a:t>1</a:t>
                      </a:r>
                    </a:p>
                  </a:txBody>
                  <a:tcPr>
                    <a:solidFill>
                      <a:srgbClr val="FFFF00"/>
                    </a:solidFill>
                  </a:tcPr>
                </a:tc>
                <a:extLst>
                  <a:ext uri="{0D108BD9-81ED-4DB2-BD59-A6C34878D82A}">
                    <a16:rowId xmlns:a16="http://schemas.microsoft.com/office/drawing/2014/main" val="10006"/>
                  </a:ext>
                </a:extLst>
              </a:tr>
              <a:tr h="448733">
                <a:tc>
                  <a:txBody>
                    <a:bodyPr/>
                    <a:lstStyle/>
                    <a:p>
                      <a:pPr algn="ctr"/>
                      <a:r>
                        <a:rPr lang="en-GB" sz="2400" dirty="0"/>
                        <a:t>1</a:t>
                      </a:r>
                    </a:p>
                  </a:txBody>
                  <a:tcPr>
                    <a:solidFill>
                      <a:srgbClr val="FFFF00"/>
                    </a:solidFill>
                  </a:tcPr>
                </a:tc>
                <a:extLst>
                  <a:ext uri="{0D108BD9-81ED-4DB2-BD59-A6C34878D82A}">
                    <a16:rowId xmlns:a16="http://schemas.microsoft.com/office/drawing/2014/main" val="10007"/>
                  </a:ext>
                </a:extLst>
              </a:tr>
              <a:tr h="448733">
                <a:tc>
                  <a:txBody>
                    <a:bodyPr/>
                    <a:lstStyle/>
                    <a:p>
                      <a:pPr algn="ctr"/>
                      <a:r>
                        <a:rPr lang="en-GB" sz="2400" dirty="0"/>
                        <a:t>1</a:t>
                      </a:r>
                    </a:p>
                  </a:txBody>
                  <a:tcPr>
                    <a:solidFill>
                      <a:srgbClr val="FFFF00"/>
                    </a:solidFill>
                  </a:tcPr>
                </a:tc>
                <a:extLst>
                  <a:ext uri="{0D108BD9-81ED-4DB2-BD59-A6C34878D82A}">
                    <a16:rowId xmlns:a16="http://schemas.microsoft.com/office/drawing/2014/main" val="10008"/>
                  </a:ext>
                </a:extLst>
              </a:tr>
            </a:tbl>
          </a:graphicData>
        </a:graphic>
      </p:graphicFrame>
      <mc:AlternateContent xmlns:mc="http://schemas.openxmlformats.org/markup-compatibility/2006" xmlns:a14="http://schemas.microsoft.com/office/drawing/2010/main">
        <mc:Choice Requires="a14">
          <p:graphicFrame>
            <p:nvGraphicFramePr>
              <p:cNvPr id="13" name="Table 12"/>
              <p:cNvGraphicFramePr>
                <a:graphicFrameLocks noGrp="1"/>
              </p:cNvGraphicFramePr>
              <p:nvPr>
                <p:extLst>
                  <p:ext uri="{D42A27DB-BD31-4B8C-83A1-F6EECF244321}">
                    <p14:modId xmlns:p14="http://schemas.microsoft.com/office/powerpoint/2010/main" val="1162311967"/>
                  </p:ext>
                </p:extLst>
              </p:nvPr>
            </p:nvGraphicFramePr>
            <p:xfrm>
              <a:off x="3235656" y="1828800"/>
              <a:ext cx="1524000" cy="4106333"/>
            </p:xfrm>
            <a:graphic>
              <a:graphicData uri="http://schemas.openxmlformats.org/drawingml/2006/table">
                <a:tbl>
                  <a:tblPr firstRow="1" bandRow="1">
                    <a:tableStyleId>{5C22544A-7EE6-4342-B048-85BDC9FD1C3A}</a:tableStyleId>
                  </a:tblPr>
                  <a:tblGrid>
                    <a:gridCol w="1524000">
                      <a:extLst>
                        <a:ext uri="{9D8B030D-6E8A-4147-A177-3AD203B41FA5}">
                          <a16:colId xmlns:a16="http://schemas.microsoft.com/office/drawing/2014/main" val="20000"/>
                        </a:ext>
                      </a:extLst>
                    </a:gridCol>
                  </a:tblGrid>
                  <a:tr h="448733">
                    <a:tc>
                      <a:txBody>
                        <a:bodyPr/>
                        <a:lstStyle/>
                        <a:p>
                          <a14:m>
                            <m:oMath xmlns:m="http://schemas.openxmlformats.org/officeDocument/2006/math">
                              <m:r>
                                <a:rPr lang="en-GB" sz="2000" b="1" i="1" dirty="0" smtClean="0">
                                  <a:latin typeface="Cambria Math" panose="02040503050406030204" pitchFamily="18" charset="0"/>
                                </a:rPr>
                                <m:t>𝒑</m:t>
                              </m:r>
                            </m:oMath>
                          </a14:m>
                          <a:r>
                            <a:rPr lang="pt-BR" sz="2000" b="0" kern="1200" dirty="0">
                              <a:solidFill>
                                <a:schemeClr val="lt1"/>
                              </a:solidFill>
                              <a:latin typeface="+mn-lt"/>
                              <a:ea typeface="+mn-ea"/>
                              <a:cs typeface="+mn-cs"/>
                            </a:rPr>
                            <a:t> ∨ </a:t>
                          </a:r>
                          <a:r>
                            <a:rPr lang="en-GB" sz="2000" b="1" dirty="0"/>
                            <a:t>(</a:t>
                          </a:r>
                          <a14:m>
                            <m:oMath xmlns:m="http://schemas.openxmlformats.org/officeDocument/2006/math">
                              <m:r>
                                <a:rPr lang="en-GB" sz="2000" b="1" i="1" smtClean="0">
                                  <a:latin typeface="Cambria Math" panose="02040503050406030204" pitchFamily="18" charset="0"/>
                                </a:rPr>
                                <m:t>𝒒</m:t>
                              </m:r>
                              <m:r>
                                <a:rPr lang="en-GB" sz="2000" b="1" i="1" smtClean="0">
                                  <a:latin typeface="Cambria Math" panose="02040503050406030204" pitchFamily="18" charset="0"/>
                                </a:rPr>
                                <m:t> ∧ </m:t>
                              </m:r>
                              <m:r>
                                <a:rPr lang="en-GB" sz="2000" b="1" i="1" smtClean="0">
                                  <a:latin typeface="Cambria Math" panose="02040503050406030204" pitchFamily="18" charset="0"/>
                                </a:rPr>
                                <m:t>𝒓</m:t>
                              </m:r>
                              <m:r>
                                <a:rPr lang="en-GB" sz="2000" b="1" i="1" smtClean="0">
                                  <a:latin typeface="Cambria Math" panose="02040503050406030204" pitchFamily="18" charset="0"/>
                                </a:rPr>
                                <m:t>)</m:t>
                              </m:r>
                            </m:oMath>
                          </a14:m>
                          <a:endParaRPr lang="en-GB" sz="2000" dirty="0"/>
                        </a:p>
                      </a:txBody>
                      <a:tcPr/>
                    </a:tc>
                    <a:extLst>
                      <a:ext uri="{0D108BD9-81ED-4DB2-BD59-A6C34878D82A}">
                        <a16:rowId xmlns:a16="http://schemas.microsoft.com/office/drawing/2014/main" val="10000"/>
                      </a:ext>
                    </a:extLst>
                  </a:tr>
                  <a:tr h="448733">
                    <a:tc>
                      <a:txBody>
                        <a:bodyPr/>
                        <a:lstStyle/>
                        <a:p>
                          <a:pPr algn="ctr"/>
                          <a:r>
                            <a:rPr lang="en-GB" sz="2400" dirty="0"/>
                            <a:t>0</a:t>
                          </a:r>
                        </a:p>
                      </a:txBody>
                      <a:tcPr>
                        <a:solidFill>
                          <a:srgbClr val="FFFF00"/>
                        </a:solidFill>
                      </a:tcPr>
                    </a:tc>
                    <a:extLst>
                      <a:ext uri="{0D108BD9-81ED-4DB2-BD59-A6C34878D82A}">
                        <a16:rowId xmlns:a16="http://schemas.microsoft.com/office/drawing/2014/main" val="10001"/>
                      </a:ext>
                    </a:extLst>
                  </a:tr>
                  <a:tr h="448733">
                    <a:tc>
                      <a:txBody>
                        <a:bodyPr/>
                        <a:lstStyle/>
                        <a:p>
                          <a:pPr algn="ctr"/>
                          <a:r>
                            <a:rPr lang="en-GB" sz="2400" dirty="0"/>
                            <a:t>0</a:t>
                          </a:r>
                        </a:p>
                      </a:txBody>
                      <a:tcPr>
                        <a:solidFill>
                          <a:srgbClr val="FFFF00"/>
                        </a:solidFill>
                      </a:tcPr>
                    </a:tc>
                    <a:extLst>
                      <a:ext uri="{0D108BD9-81ED-4DB2-BD59-A6C34878D82A}">
                        <a16:rowId xmlns:a16="http://schemas.microsoft.com/office/drawing/2014/main" val="10002"/>
                      </a:ext>
                    </a:extLst>
                  </a:tr>
                  <a:tr h="448733">
                    <a:tc>
                      <a:txBody>
                        <a:bodyPr/>
                        <a:lstStyle/>
                        <a:p>
                          <a:pPr algn="ctr"/>
                          <a:r>
                            <a:rPr lang="en-GB" sz="2400" dirty="0"/>
                            <a:t>0</a:t>
                          </a:r>
                        </a:p>
                      </a:txBody>
                      <a:tcPr>
                        <a:solidFill>
                          <a:srgbClr val="FFFF00"/>
                        </a:solidFill>
                      </a:tcPr>
                    </a:tc>
                    <a:extLst>
                      <a:ext uri="{0D108BD9-81ED-4DB2-BD59-A6C34878D82A}">
                        <a16:rowId xmlns:a16="http://schemas.microsoft.com/office/drawing/2014/main" val="10003"/>
                      </a:ext>
                    </a:extLst>
                  </a:tr>
                  <a:tr h="448733">
                    <a:tc>
                      <a:txBody>
                        <a:bodyPr/>
                        <a:lstStyle/>
                        <a:p>
                          <a:pPr algn="ctr"/>
                          <a:r>
                            <a:rPr lang="en-GB" sz="2400" dirty="0"/>
                            <a:t>1</a:t>
                          </a:r>
                        </a:p>
                      </a:txBody>
                      <a:tcPr>
                        <a:solidFill>
                          <a:srgbClr val="FFFF00"/>
                        </a:solidFill>
                      </a:tcPr>
                    </a:tc>
                    <a:extLst>
                      <a:ext uri="{0D108BD9-81ED-4DB2-BD59-A6C34878D82A}">
                        <a16:rowId xmlns:a16="http://schemas.microsoft.com/office/drawing/2014/main" val="10004"/>
                      </a:ext>
                    </a:extLst>
                  </a:tr>
                  <a:tr h="448733">
                    <a:tc>
                      <a:txBody>
                        <a:bodyPr/>
                        <a:lstStyle/>
                        <a:p>
                          <a:pPr algn="ctr"/>
                          <a:r>
                            <a:rPr lang="en-GB" sz="2400" dirty="0"/>
                            <a:t>1</a:t>
                          </a:r>
                        </a:p>
                      </a:txBody>
                      <a:tcPr>
                        <a:solidFill>
                          <a:srgbClr val="FFFF00"/>
                        </a:solidFill>
                      </a:tcPr>
                    </a:tc>
                    <a:extLst>
                      <a:ext uri="{0D108BD9-81ED-4DB2-BD59-A6C34878D82A}">
                        <a16:rowId xmlns:a16="http://schemas.microsoft.com/office/drawing/2014/main" val="10005"/>
                      </a:ext>
                    </a:extLst>
                  </a:tr>
                  <a:tr h="448733">
                    <a:tc>
                      <a:txBody>
                        <a:bodyPr/>
                        <a:lstStyle/>
                        <a:p>
                          <a:pPr algn="ctr"/>
                          <a:r>
                            <a:rPr lang="en-GB" sz="2400" dirty="0"/>
                            <a:t>1</a:t>
                          </a:r>
                        </a:p>
                      </a:txBody>
                      <a:tcPr>
                        <a:solidFill>
                          <a:srgbClr val="FFFF00"/>
                        </a:solidFill>
                      </a:tcPr>
                    </a:tc>
                    <a:extLst>
                      <a:ext uri="{0D108BD9-81ED-4DB2-BD59-A6C34878D82A}">
                        <a16:rowId xmlns:a16="http://schemas.microsoft.com/office/drawing/2014/main" val="10006"/>
                      </a:ext>
                    </a:extLst>
                  </a:tr>
                  <a:tr h="448733">
                    <a:tc>
                      <a:txBody>
                        <a:bodyPr/>
                        <a:lstStyle/>
                        <a:p>
                          <a:pPr algn="ctr"/>
                          <a:r>
                            <a:rPr lang="en-GB" sz="2400" dirty="0"/>
                            <a:t>1</a:t>
                          </a:r>
                        </a:p>
                      </a:txBody>
                      <a:tcPr>
                        <a:solidFill>
                          <a:srgbClr val="FFFF00"/>
                        </a:solidFill>
                      </a:tcPr>
                    </a:tc>
                    <a:extLst>
                      <a:ext uri="{0D108BD9-81ED-4DB2-BD59-A6C34878D82A}">
                        <a16:rowId xmlns:a16="http://schemas.microsoft.com/office/drawing/2014/main" val="10007"/>
                      </a:ext>
                    </a:extLst>
                  </a:tr>
                  <a:tr h="448733">
                    <a:tc>
                      <a:txBody>
                        <a:bodyPr/>
                        <a:lstStyle/>
                        <a:p>
                          <a:pPr algn="ctr"/>
                          <a:r>
                            <a:rPr lang="en-GB" sz="2400" dirty="0"/>
                            <a:t>1</a:t>
                          </a:r>
                        </a:p>
                      </a:txBody>
                      <a:tcPr>
                        <a:solidFill>
                          <a:srgbClr val="FFFF00"/>
                        </a:solidFill>
                      </a:tcPr>
                    </a:tc>
                    <a:extLst>
                      <a:ext uri="{0D108BD9-81ED-4DB2-BD59-A6C34878D82A}">
                        <a16:rowId xmlns:a16="http://schemas.microsoft.com/office/drawing/2014/main" val="10008"/>
                      </a:ext>
                    </a:extLst>
                  </a:tr>
                </a:tbl>
              </a:graphicData>
            </a:graphic>
          </p:graphicFrame>
        </mc:Choice>
        <mc:Fallback xmlns="">
          <p:graphicFrame>
            <p:nvGraphicFramePr>
              <p:cNvPr id="13" name="Table 12"/>
              <p:cNvGraphicFramePr>
                <a:graphicFrameLocks noGrp="1"/>
              </p:cNvGraphicFramePr>
              <p:nvPr>
                <p:extLst>
                  <p:ext uri="{D42A27DB-BD31-4B8C-83A1-F6EECF244321}">
                    <p14:modId xmlns:p14="http://schemas.microsoft.com/office/powerpoint/2010/main" val="1162311967"/>
                  </p:ext>
                </p:extLst>
              </p:nvPr>
            </p:nvGraphicFramePr>
            <p:xfrm>
              <a:off x="3235656" y="1828800"/>
              <a:ext cx="1524000" cy="4106333"/>
            </p:xfrm>
            <a:graphic>
              <a:graphicData uri="http://schemas.openxmlformats.org/drawingml/2006/table">
                <a:tbl>
                  <a:tblPr firstRow="1" bandRow="1">
                    <a:tableStyleId>{5C22544A-7EE6-4342-B048-85BDC9FD1C3A}</a:tableStyleId>
                  </a:tblPr>
                  <a:tblGrid>
                    <a:gridCol w="1524000"/>
                  </a:tblGrid>
                  <a:tr h="448733">
                    <a:tc>
                      <a:txBody>
                        <a:bodyPr/>
                        <a:lstStyle/>
                        <a:p>
                          <a:endParaRPr lang="en-US"/>
                        </a:p>
                      </a:txBody>
                      <a:tcPr>
                        <a:blipFill rotWithShape="0">
                          <a:blip r:embed="rId4"/>
                          <a:stretch>
                            <a:fillRect l="-398" t="-6757" r="-1594" b="-843243"/>
                          </a:stretch>
                        </a:blipFill>
                      </a:tcPr>
                    </a:tc>
                  </a:tr>
                  <a:tr h="457200">
                    <a:tc>
                      <a:txBody>
                        <a:bodyPr/>
                        <a:lstStyle/>
                        <a:p>
                          <a:pPr algn="ctr"/>
                          <a:r>
                            <a:rPr lang="en-GB" sz="2400" dirty="0" smtClean="0"/>
                            <a:t>0</a:t>
                          </a:r>
                          <a:endParaRPr lang="en-GB" sz="2400" dirty="0"/>
                        </a:p>
                      </a:txBody>
                      <a:tcPr>
                        <a:solidFill>
                          <a:srgbClr val="FFFF00"/>
                        </a:solidFill>
                      </a:tcPr>
                    </a:tc>
                  </a:tr>
                  <a:tr h="457200">
                    <a:tc>
                      <a:txBody>
                        <a:bodyPr/>
                        <a:lstStyle/>
                        <a:p>
                          <a:pPr algn="ctr"/>
                          <a:r>
                            <a:rPr lang="en-GB" sz="2400" dirty="0" smtClean="0"/>
                            <a:t>0</a:t>
                          </a:r>
                          <a:endParaRPr lang="en-GB" sz="2400" dirty="0"/>
                        </a:p>
                      </a:txBody>
                      <a:tcPr>
                        <a:solidFill>
                          <a:srgbClr val="FFFF00"/>
                        </a:solidFill>
                      </a:tcPr>
                    </a:tc>
                  </a:tr>
                  <a:tr h="457200">
                    <a:tc>
                      <a:txBody>
                        <a:bodyPr/>
                        <a:lstStyle/>
                        <a:p>
                          <a:pPr algn="ctr"/>
                          <a:r>
                            <a:rPr lang="en-GB" sz="2400" dirty="0" smtClean="0"/>
                            <a:t>0</a:t>
                          </a:r>
                          <a:endParaRPr lang="en-GB" sz="2400" dirty="0"/>
                        </a:p>
                      </a:txBody>
                      <a:tcPr>
                        <a:solidFill>
                          <a:srgbClr val="FFFF00"/>
                        </a:solidFill>
                      </a:tcPr>
                    </a:tc>
                  </a:tr>
                  <a:tr h="457200">
                    <a:tc>
                      <a:txBody>
                        <a:bodyPr/>
                        <a:lstStyle/>
                        <a:p>
                          <a:pPr algn="ctr"/>
                          <a:r>
                            <a:rPr lang="en-GB" sz="2400" dirty="0" smtClean="0"/>
                            <a:t>1</a:t>
                          </a:r>
                          <a:endParaRPr lang="en-GB" sz="2400" dirty="0"/>
                        </a:p>
                      </a:txBody>
                      <a:tcPr>
                        <a:solidFill>
                          <a:srgbClr val="FFFF00"/>
                        </a:solidFill>
                      </a:tcPr>
                    </a:tc>
                  </a:tr>
                  <a:tr h="457200">
                    <a:tc>
                      <a:txBody>
                        <a:bodyPr/>
                        <a:lstStyle/>
                        <a:p>
                          <a:pPr algn="ctr"/>
                          <a:r>
                            <a:rPr lang="en-GB" sz="2400" dirty="0" smtClean="0"/>
                            <a:t>1</a:t>
                          </a:r>
                          <a:endParaRPr lang="en-GB" sz="2400" dirty="0"/>
                        </a:p>
                      </a:txBody>
                      <a:tcPr>
                        <a:solidFill>
                          <a:srgbClr val="FFFF00"/>
                        </a:solidFill>
                      </a:tcPr>
                    </a:tc>
                  </a:tr>
                  <a:tr h="457200">
                    <a:tc>
                      <a:txBody>
                        <a:bodyPr/>
                        <a:lstStyle/>
                        <a:p>
                          <a:pPr algn="ctr"/>
                          <a:r>
                            <a:rPr lang="en-GB" sz="2400" dirty="0" smtClean="0"/>
                            <a:t>1</a:t>
                          </a:r>
                          <a:endParaRPr lang="en-GB" sz="2400" dirty="0"/>
                        </a:p>
                      </a:txBody>
                      <a:tcPr>
                        <a:solidFill>
                          <a:srgbClr val="FFFF00"/>
                        </a:solidFill>
                      </a:tcPr>
                    </a:tc>
                  </a:tr>
                  <a:tr h="457200">
                    <a:tc>
                      <a:txBody>
                        <a:bodyPr/>
                        <a:lstStyle/>
                        <a:p>
                          <a:pPr algn="ctr"/>
                          <a:r>
                            <a:rPr lang="en-GB" sz="2400" dirty="0" smtClean="0"/>
                            <a:t>1</a:t>
                          </a:r>
                          <a:endParaRPr lang="en-GB" sz="2400" dirty="0"/>
                        </a:p>
                      </a:txBody>
                      <a:tcPr>
                        <a:solidFill>
                          <a:srgbClr val="FFFF00"/>
                        </a:solidFill>
                      </a:tcPr>
                    </a:tc>
                  </a:tr>
                  <a:tr h="457200">
                    <a:tc>
                      <a:txBody>
                        <a:bodyPr/>
                        <a:lstStyle/>
                        <a:p>
                          <a:pPr algn="ctr"/>
                          <a:r>
                            <a:rPr lang="en-GB" sz="2400" dirty="0" smtClean="0"/>
                            <a:t>1</a:t>
                          </a:r>
                          <a:endParaRPr lang="en-GB" sz="2400" dirty="0"/>
                        </a:p>
                      </a:txBody>
                      <a:tcPr>
                        <a:solidFill>
                          <a:srgbClr val="FFFF00"/>
                        </a:solidFill>
                      </a:tcPr>
                    </a:tc>
                  </a:tr>
                </a:tbl>
              </a:graphicData>
            </a:graphic>
          </p:graphicFrame>
        </mc:Fallback>
      </mc:AlternateContent>
    </p:spTree>
    <p:extLst>
      <p:ext uri="{BB962C8B-B14F-4D97-AF65-F5344CB8AC3E}">
        <p14:creationId xmlns:p14="http://schemas.microsoft.com/office/powerpoint/2010/main" val="40342920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More Logical Equivalences</a:t>
            </a:r>
            <a:br>
              <a:rPr lang="en-US" b="1" dirty="0"/>
            </a:br>
            <a:endParaRPr lang="en-GB" dirty="0"/>
          </a:p>
        </p:txBody>
      </p:sp>
      <p:sp>
        <p:nvSpPr>
          <p:cNvPr id="4" name="Date Placeholder 3"/>
          <p:cNvSpPr>
            <a:spLocks noGrp="1"/>
          </p:cNvSpPr>
          <p:nvPr>
            <p:ph type="dt" sz="half" idx="10"/>
          </p:nvPr>
        </p:nvSpPr>
        <p:spPr/>
        <p:txBody>
          <a:bodyPr/>
          <a:lstStyle/>
          <a:p>
            <a:fld id="{F64631CE-7927-47EB-AC65-37F8F1121A37}" type="datetime3">
              <a:rPr lang="en-US" smtClean="0"/>
              <a:t>27 April 2026</a:t>
            </a:fld>
            <a:endParaRPr lang="en-US"/>
          </a:p>
        </p:txBody>
      </p:sp>
      <p:sp>
        <p:nvSpPr>
          <p:cNvPr id="5" name="Footer Placeholder 4"/>
          <p:cNvSpPr>
            <a:spLocks noGrp="1"/>
          </p:cNvSpPr>
          <p:nvPr>
            <p:ph type="ftr" sz="quarter" idx="11"/>
          </p:nvPr>
        </p:nvSpPr>
        <p:spPr/>
        <p:txBody>
          <a:bodyPr/>
          <a:lstStyle/>
          <a:p>
            <a:r>
              <a:rPr lang="en-US"/>
              <a:t>SCS 1302   Discrete Mathematics 1       Prof. D D Karunaratna</a:t>
            </a:r>
          </a:p>
        </p:txBody>
      </p:sp>
      <p:sp>
        <p:nvSpPr>
          <p:cNvPr id="6" name="Slide Number Placeholder 5"/>
          <p:cNvSpPr>
            <a:spLocks noGrp="1"/>
          </p:cNvSpPr>
          <p:nvPr>
            <p:ph type="sldNum" sz="quarter" idx="12"/>
          </p:nvPr>
        </p:nvSpPr>
        <p:spPr/>
        <p:txBody>
          <a:bodyPr/>
          <a:lstStyle/>
          <a:p>
            <a:fld id="{0CA841A6-7C02-4C92-B6EE-5DBCC2AD53D0}" type="slidenum">
              <a:rPr lang="en-US" smtClean="0"/>
              <a:t>50</a:t>
            </a:fld>
            <a:endParaRPr lang="en-US"/>
          </a:p>
        </p:txBody>
      </p:sp>
      <p:graphicFrame>
        <p:nvGraphicFramePr>
          <p:cNvPr id="7" name="Table 6"/>
          <p:cNvGraphicFramePr>
            <a:graphicFrameLocks noGrp="1"/>
          </p:cNvGraphicFramePr>
          <p:nvPr>
            <p:extLst>
              <p:ext uri="{D42A27DB-BD31-4B8C-83A1-F6EECF244321}">
                <p14:modId xmlns:p14="http://schemas.microsoft.com/office/powerpoint/2010/main" val="2153953048"/>
              </p:ext>
            </p:extLst>
          </p:nvPr>
        </p:nvGraphicFramePr>
        <p:xfrm>
          <a:off x="381000" y="1676400"/>
          <a:ext cx="4114800" cy="4491378"/>
        </p:xfrm>
        <a:graphic>
          <a:graphicData uri="http://schemas.openxmlformats.org/drawingml/2006/table">
            <a:tbl>
              <a:tblPr firstRow="1" bandRow="1">
                <a:tableStyleId>{5C22544A-7EE6-4342-B048-85BDC9FD1C3A}</a:tableStyleId>
              </a:tblPr>
              <a:tblGrid>
                <a:gridCol w="4114800">
                  <a:extLst>
                    <a:ext uri="{9D8B030D-6E8A-4147-A177-3AD203B41FA5}">
                      <a16:colId xmlns:a16="http://schemas.microsoft.com/office/drawing/2014/main" val="20000"/>
                    </a:ext>
                  </a:extLst>
                </a:gridCol>
              </a:tblGrid>
              <a:tr h="812802">
                <a:tc>
                  <a:txBody>
                    <a:bodyPr/>
                    <a:lstStyle/>
                    <a:p>
                      <a:r>
                        <a:rPr lang="en-US" sz="2000" b="1" kern="1200" baseline="0" dirty="0">
                          <a:solidFill>
                            <a:schemeClr val="lt1"/>
                          </a:solidFill>
                          <a:latin typeface="+mn-lt"/>
                          <a:ea typeface="+mn-ea"/>
                          <a:cs typeface="+mn-cs"/>
                        </a:rPr>
                        <a:t>Logical Equivalences  Involving Conditional Statements</a:t>
                      </a:r>
                    </a:p>
                  </a:txBody>
                  <a:tcPr/>
                </a:tc>
                <a:extLst>
                  <a:ext uri="{0D108BD9-81ED-4DB2-BD59-A6C34878D82A}">
                    <a16:rowId xmlns:a16="http://schemas.microsoft.com/office/drawing/2014/main" val="10000"/>
                  </a:ext>
                </a:extLst>
              </a:tr>
              <a:tr h="459822">
                <a:tc>
                  <a:txBody>
                    <a:bodyPr/>
                    <a:lstStyle/>
                    <a:p>
                      <a:r>
                        <a:rPr lang="en-US" sz="2000" i="1" kern="1200" baseline="0" dirty="0">
                          <a:solidFill>
                            <a:schemeClr val="dk1"/>
                          </a:solidFill>
                          <a:latin typeface="+mn-lt"/>
                          <a:ea typeface="+mn-ea"/>
                          <a:cs typeface="+mn-cs"/>
                        </a:rPr>
                        <a:t>p → q ≡ ￢ p ∨ q</a:t>
                      </a:r>
                      <a:endParaRPr lang="en-US" sz="2000" dirty="0"/>
                    </a:p>
                  </a:txBody>
                  <a:tcPr/>
                </a:tc>
                <a:extLst>
                  <a:ext uri="{0D108BD9-81ED-4DB2-BD59-A6C34878D82A}">
                    <a16:rowId xmlns:a16="http://schemas.microsoft.com/office/drawing/2014/main" val="10001"/>
                  </a:ext>
                </a:extLst>
              </a:tr>
              <a:tr h="459822">
                <a:tc>
                  <a:txBody>
                    <a:bodyPr/>
                    <a:lstStyle/>
                    <a:p>
                      <a:r>
                        <a:rPr lang="en-US" sz="2000" i="1" kern="1200" baseline="0" dirty="0">
                          <a:solidFill>
                            <a:schemeClr val="dk1"/>
                          </a:solidFill>
                          <a:latin typeface="+mn-lt"/>
                          <a:ea typeface="+mn-ea"/>
                          <a:cs typeface="+mn-cs"/>
                        </a:rPr>
                        <a:t>p → q ≡ ￢ q →￢ p</a:t>
                      </a:r>
                      <a:endParaRPr lang="en-US" sz="2000" dirty="0"/>
                    </a:p>
                  </a:txBody>
                  <a:tcPr/>
                </a:tc>
                <a:extLst>
                  <a:ext uri="{0D108BD9-81ED-4DB2-BD59-A6C34878D82A}">
                    <a16:rowId xmlns:a16="http://schemas.microsoft.com/office/drawing/2014/main" val="10002"/>
                  </a:ext>
                </a:extLst>
              </a:tr>
              <a:tr h="459822">
                <a:tc>
                  <a:txBody>
                    <a:bodyPr/>
                    <a:lstStyle/>
                    <a:p>
                      <a:r>
                        <a:rPr lang="en-US" sz="2000" i="1" kern="1200" baseline="0" dirty="0">
                          <a:solidFill>
                            <a:schemeClr val="dk1"/>
                          </a:solidFill>
                          <a:latin typeface="+mn-lt"/>
                          <a:ea typeface="+mn-ea"/>
                          <a:cs typeface="+mn-cs"/>
                        </a:rPr>
                        <a:t>p ∨ q  ≡ ￢ p → q</a:t>
                      </a:r>
                      <a:endParaRPr lang="en-US" sz="2000" dirty="0"/>
                    </a:p>
                  </a:txBody>
                  <a:tcPr/>
                </a:tc>
                <a:extLst>
                  <a:ext uri="{0D108BD9-81ED-4DB2-BD59-A6C34878D82A}">
                    <a16:rowId xmlns:a16="http://schemas.microsoft.com/office/drawing/2014/main" val="10003"/>
                  </a:ext>
                </a:extLst>
              </a:tr>
              <a:tr h="459822">
                <a:tc>
                  <a:txBody>
                    <a:bodyPr/>
                    <a:lstStyle/>
                    <a:p>
                      <a:r>
                        <a:rPr lang="en-US" sz="2000" i="1" kern="1200" baseline="0" dirty="0">
                          <a:solidFill>
                            <a:schemeClr val="dk1"/>
                          </a:solidFill>
                          <a:latin typeface="+mn-lt"/>
                          <a:ea typeface="+mn-ea"/>
                          <a:cs typeface="+mn-cs"/>
                        </a:rPr>
                        <a:t>p ∧ q ≡ ￢ (p →￢ q)</a:t>
                      </a:r>
                      <a:endParaRPr lang="en-US" sz="2000" dirty="0"/>
                    </a:p>
                  </a:txBody>
                  <a:tcPr/>
                </a:tc>
                <a:extLst>
                  <a:ext uri="{0D108BD9-81ED-4DB2-BD59-A6C34878D82A}">
                    <a16:rowId xmlns:a16="http://schemas.microsoft.com/office/drawing/2014/main" val="10004"/>
                  </a:ext>
                </a:extLst>
              </a:tr>
              <a:tr h="459822">
                <a:tc>
                  <a:txBody>
                    <a:bodyPr/>
                    <a:lstStyle/>
                    <a:p>
                      <a:r>
                        <a:rPr lang="en-US" sz="2000" kern="1200" baseline="0" dirty="0">
                          <a:solidFill>
                            <a:schemeClr val="dk1"/>
                          </a:solidFill>
                          <a:latin typeface="+mn-lt"/>
                          <a:ea typeface="+mn-ea"/>
                          <a:cs typeface="+mn-cs"/>
                        </a:rPr>
                        <a:t>￢</a:t>
                      </a:r>
                      <a:r>
                        <a:rPr lang="en-US" sz="2000" i="1" kern="1200" baseline="0" dirty="0">
                          <a:solidFill>
                            <a:schemeClr val="dk1"/>
                          </a:solidFill>
                          <a:latin typeface="+mn-lt"/>
                          <a:ea typeface="+mn-ea"/>
                          <a:cs typeface="+mn-cs"/>
                        </a:rPr>
                        <a:t>(p → q) ≡ p ∧￢ q</a:t>
                      </a:r>
                      <a:endParaRPr lang="en-US" sz="2000" dirty="0"/>
                    </a:p>
                  </a:txBody>
                  <a:tcPr/>
                </a:tc>
                <a:extLst>
                  <a:ext uri="{0D108BD9-81ED-4DB2-BD59-A6C34878D82A}">
                    <a16:rowId xmlns:a16="http://schemas.microsoft.com/office/drawing/2014/main" val="10005"/>
                  </a:ext>
                </a:extLst>
              </a:tr>
              <a:tr h="459822">
                <a:tc>
                  <a:txBody>
                    <a:bodyPr/>
                    <a:lstStyle/>
                    <a:p>
                      <a:r>
                        <a:rPr lang="pt-BR" sz="2000" i="1" kern="1200" baseline="0" dirty="0">
                          <a:solidFill>
                            <a:schemeClr val="dk1"/>
                          </a:solidFill>
                          <a:latin typeface="+mn-lt"/>
                          <a:ea typeface="+mn-ea"/>
                          <a:cs typeface="+mn-cs"/>
                        </a:rPr>
                        <a:t>(p → q) ∧ (p → r) ≡ p → (q ∧ r)</a:t>
                      </a:r>
                      <a:endParaRPr lang="en-US" sz="2000" dirty="0"/>
                    </a:p>
                  </a:txBody>
                  <a:tcPr/>
                </a:tc>
                <a:extLst>
                  <a:ext uri="{0D108BD9-81ED-4DB2-BD59-A6C34878D82A}">
                    <a16:rowId xmlns:a16="http://schemas.microsoft.com/office/drawing/2014/main" val="10006"/>
                  </a:ext>
                </a:extLst>
              </a:tr>
              <a:tr h="459822">
                <a:tc>
                  <a:txBody>
                    <a:bodyPr/>
                    <a:lstStyle/>
                    <a:p>
                      <a:r>
                        <a:rPr lang="pt-BR" sz="2000" i="1" kern="1200" baseline="0" dirty="0">
                          <a:solidFill>
                            <a:schemeClr val="dk1"/>
                          </a:solidFill>
                          <a:latin typeface="+mn-lt"/>
                          <a:ea typeface="+mn-ea"/>
                          <a:cs typeface="+mn-cs"/>
                        </a:rPr>
                        <a:t>(p → r) ∧ (q → r) ≡ (p ∨ q) → r</a:t>
                      </a:r>
                      <a:endParaRPr lang="en-US" sz="2000" dirty="0"/>
                    </a:p>
                  </a:txBody>
                  <a:tcPr/>
                </a:tc>
                <a:extLst>
                  <a:ext uri="{0D108BD9-81ED-4DB2-BD59-A6C34878D82A}">
                    <a16:rowId xmlns:a16="http://schemas.microsoft.com/office/drawing/2014/main" val="10007"/>
                  </a:ext>
                </a:extLst>
              </a:tr>
              <a:tr h="459822">
                <a:tc>
                  <a:txBody>
                    <a:bodyPr/>
                    <a:lstStyle/>
                    <a:p>
                      <a:r>
                        <a:rPr lang="pt-BR" sz="2000" i="1" kern="1200" baseline="0" dirty="0">
                          <a:solidFill>
                            <a:schemeClr val="dk1"/>
                          </a:solidFill>
                          <a:latin typeface="+mn-lt"/>
                          <a:ea typeface="+mn-ea"/>
                          <a:cs typeface="+mn-cs"/>
                        </a:rPr>
                        <a:t>(p → q) ∨ (p → r) ≡ p → (q ∨ r)                         </a:t>
                      </a:r>
                    </a:p>
                  </a:txBody>
                  <a:tcPr/>
                </a:tc>
                <a:extLst>
                  <a:ext uri="{0D108BD9-81ED-4DB2-BD59-A6C34878D82A}">
                    <a16:rowId xmlns:a16="http://schemas.microsoft.com/office/drawing/2014/main" val="10008"/>
                  </a:ext>
                </a:extLst>
              </a:tr>
            </a:tbl>
          </a:graphicData>
        </a:graphic>
      </p:graphicFrame>
      <p:graphicFrame>
        <p:nvGraphicFramePr>
          <p:cNvPr id="8" name="Table 7"/>
          <p:cNvGraphicFramePr>
            <a:graphicFrameLocks noGrp="1"/>
          </p:cNvGraphicFramePr>
          <p:nvPr>
            <p:extLst>
              <p:ext uri="{D42A27DB-BD31-4B8C-83A1-F6EECF244321}">
                <p14:modId xmlns:p14="http://schemas.microsoft.com/office/powerpoint/2010/main" val="3777354280"/>
              </p:ext>
            </p:extLst>
          </p:nvPr>
        </p:nvGraphicFramePr>
        <p:xfrm>
          <a:off x="4800600" y="2095480"/>
          <a:ext cx="4114800" cy="3086120"/>
        </p:xfrm>
        <a:graphic>
          <a:graphicData uri="http://schemas.openxmlformats.org/drawingml/2006/table">
            <a:tbl>
              <a:tblPr firstRow="1" bandRow="1">
                <a:tableStyleId>{5C22544A-7EE6-4342-B048-85BDC9FD1C3A}</a:tableStyleId>
              </a:tblPr>
              <a:tblGrid>
                <a:gridCol w="4114800">
                  <a:extLst>
                    <a:ext uri="{9D8B030D-6E8A-4147-A177-3AD203B41FA5}">
                      <a16:colId xmlns:a16="http://schemas.microsoft.com/office/drawing/2014/main" val="20000"/>
                    </a:ext>
                  </a:extLst>
                </a:gridCol>
              </a:tblGrid>
              <a:tr h="1041400">
                <a:tc>
                  <a:txBody>
                    <a:bodyPr/>
                    <a:lstStyle/>
                    <a:p>
                      <a:r>
                        <a:rPr lang="en-US" sz="2000" b="1" kern="1200" baseline="0" dirty="0">
                          <a:solidFill>
                            <a:schemeClr val="lt1"/>
                          </a:solidFill>
                          <a:latin typeface="+mn-lt"/>
                          <a:ea typeface="+mn-ea"/>
                          <a:cs typeface="+mn-cs"/>
                        </a:rPr>
                        <a:t>Logical Equivalences Involving         Bi-conditional Statements</a:t>
                      </a:r>
                      <a:endParaRPr lang="en-US" sz="2000" dirty="0"/>
                    </a:p>
                  </a:txBody>
                  <a:tcPr/>
                </a:tc>
                <a:extLst>
                  <a:ext uri="{0D108BD9-81ED-4DB2-BD59-A6C34878D82A}">
                    <a16:rowId xmlns:a16="http://schemas.microsoft.com/office/drawing/2014/main" val="10000"/>
                  </a:ext>
                </a:extLst>
              </a:tr>
              <a:tr h="511180">
                <a:tc>
                  <a:txBody>
                    <a:bodyPr/>
                    <a:lstStyle/>
                    <a:p>
                      <a:r>
                        <a:rPr lang="en-US" sz="2000" i="1" kern="1200" baseline="0" dirty="0">
                          <a:solidFill>
                            <a:schemeClr val="dk1"/>
                          </a:solidFill>
                          <a:latin typeface="+mn-lt"/>
                          <a:ea typeface="+mn-ea"/>
                          <a:cs typeface="+mn-cs"/>
                        </a:rPr>
                        <a:t>p ↔ q ≡ (p → q) ∧ (q → p)</a:t>
                      </a:r>
                      <a:endParaRPr lang="en-US" sz="2000" dirty="0"/>
                    </a:p>
                  </a:txBody>
                  <a:tcPr/>
                </a:tc>
                <a:extLst>
                  <a:ext uri="{0D108BD9-81ED-4DB2-BD59-A6C34878D82A}">
                    <a16:rowId xmlns:a16="http://schemas.microsoft.com/office/drawing/2014/main" val="10001"/>
                  </a:ext>
                </a:extLst>
              </a:tr>
              <a:tr h="511180">
                <a:tc>
                  <a:txBody>
                    <a:bodyPr/>
                    <a:lstStyle/>
                    <a:p>
                      <a:r>
                        <a:rPr lang="en-US" sz="2000" i="1" kern="1200" baseline="0" dirty="0">
                          <a:solidFill>
                            <a:schemeClr val="dk1"/>
                          </a:solidFill>
                          <a:latin typeface="+mn-lt"/>
                          <a:ea typeface="+mn-ea"/>
                          <a:cs typeface="+mn-cs"/>
                        </a:rPr>
                        <a:t>p ↔ q ≡ ￢ p ↔￢ q</a:t>
                      </a:r>
                      <a:endParaRPr lang="en-US" sz="2000" dirty="0"/>
                    </a:p>
                  </a:txBody>
                  <a:tcPr/>
                </a:tc>
                <a:extLst>
                  <a:ext uri="{0D108BD9-81ED-4DB2-BD59-A6C34878D82A}">
                    <a16:rowId xmlns:a16="http://schemas.microsoft.com/office/drawing/2014/main" val="10002"/>
                  </a:ext>
                </a:extLst>
              </a:tr>
              <a:tr h="511180">
                <a:tc>
                  <a:txBody>
                    <a:bodyPr/>
                    <a:lstStyle/>
                    <a:p>
                      <a:r>
                        <a:rPr lang="en-US" sz="2000" i="1" kern="1200" baseline="0" dirty="0">
                          <a:solidFill>
                            <a:schemeClr val="dk1"/>
                          </a:solidFill>
                          <a:latin typeface="+mn-lt"/>
                          <a:ea typeface="+mn-ea"/>
                          <a:cs typeface="+mn-cs"/>
                        </a:rPr>
                        <a:t>p ↔ q ≡ (p ∧ q) ∨ (￢ p ∧￢ q)</a:t>
                      </a:r>
                      <a:endParaRPr lang="en-US" sz="2000" dirty="0"/>
                    </a:p>
                  </a:txBody>
                  <a:tcPr/>
                </a:tc>
                <a:extLst>
                  <a:ext uri="{0D108BD9-81ED-4DB2-BD59-A6C34878D82A}">
                    <a16:rowId xmlns:a16="http://schemas.microsoft.com/office/drawing/2014/main" val="10003"/>
                  </a:ext>
                </a:extLst>
              </a:tr>
              <a:tr h="511180">
                <a:tc>
                  <a:txBody>
                    <a:bodyPr/>
                    <a:lstStyle/>
                    <a:p>
                      <a:r>
                        <a:rPr lang="en-US" sz="2000" kern="1200" baseline="0" dirty="0">
                          <a:solidFill>
                            <a:schemeClr val="dk1"/>
                          </a:solidFill>
                          <a:latin typeface="+mn-lt"/>
                          <a:ea typeface="+mn-ea"/>
                          <a:cs typeface="+mn-cs"/>
                        </a:rPr>
                        <a:t>￢</a:t>
                      </a:r>
                      <a:r>
                        <a:rPr lang="en-US" sz="2000" i="1" kern="1200" baseline="0" dirty="0">
                          <a:solidFill>
                            <a:schemeClr val="dk1"/>
                          </a:solidFill>
                          <a:latin typeface="+mn-lt"/>
                          <a:ea typeface="+mn-ea"/>
                          <a:cs typeface="+mn-cs"/>
                        </a:rPr>
                        <a:t>(p ↔ q) ≡ p ↔￢ q</a:t>
                      </a:r>
                      <a:endParaRPr lang="en-US" sz="2000" dirty="0"/>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5976476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Examples</a:t>
            </a:r>
            <a:endParaRPr lang="en-GB" dirty="0"/>
          </a:p>
        </p:txBody>
      </p:sp>
      <p:sp>
        <p:nvSpPr>
          <p:cNvPr id="4" name="Date Placeholder 3"/>
          <p:cNvSpPr>
            <a:spLocks noGrp="1"/>
          </p:cNvSpPr>
          <p:nvPr>
            <p:ph type="dt" sz="half" idx="10"/>
          </p:nvPr>
        </p:nvSpPr>
        <p:spPr/>
        <p:txBody>
          <a:bodyPr/>
          <a:lstStyle/>
          <a:p>
            <a:fld id="{00DC82BD-BC92-4C44-8014-A8877D2FE755}" type="datetime3">
              <a:rPr lang="en-US" smtClean="0"/>
              <a:t>27 April 2026</a:t>
            </a:fld>
            <a:endParaRPr lang="en-US"/>
          </a:p>
        </p:txBody>
      </p:sp>
      <p:sp>
        <p:nvSpPr>
          <p:cNvPr id="5" name="Footer Placeholder 4"/>
          <p:cNvSpPr>
            <a:spLocks noGrp="1"/>
          </p:cNvSpPr>
          <p:nvPr>
            <p:ph type="ftr" sz="quarter" idx="11"/>
          </p:nvPr>
        </p:nvSpPr>
        <p:spPr/>
        <p:txBody>
          <a:bodyPr/>
          <a:lstStyle/>
          <a:p>
            <a:r>
              <a:rPr lang="en-US"/>
              <a:t>SCS 1302   Discrete Mathematics 1       Prof. D D Karunaratna</a:t>
            </a:r>
          </a:p>
        </p:txBody>
      </p:sp>
      <p:sp>
        <p:nvSpPr>
          <p:cNvPr id="6" name="Slide Number Placeholder 5"/>
          <p:cNvSpPr>
            <a:spLocks noGrp="1"/>
          </p:cNvSpPr>
          <p:nvPr>
            <p:ph type="sldNum" sz="quarter" idx="12"/>
          </p:nvPr>
        </p:nvSpPr>
        <p:spPr/>
        <p:txBody>
          <a:bodyPr/>
          <a:lstStyle/>
          <a:p>
            <a:fld id="{0CA841A6-7C02-4C92-B6EE-5DBCC2AD53D0}" type="slidenum">
              <a:rPr lang="en-US" smtClean="0"/>
              <a:t>51</a:t>
            </a:fld>
            <a:endParaRPr lang="en-US"/>
          </a:p>
        </p:txBody>
      </p:sp>
      <mc:AlternateContent xmlns:mc="http://schemas.openxmlformats.org/markup-compatibility/2006" xmlns:a14="http://schemas.microsoft.com/office/drawing/2010/main">
        <mc:Choice Requires="a14">
          <p:sp>
            <p:nvSpPr>
              <p:cNvPr id="7" name="Rectangle 6"/>
              <p:cNvSpPr/>
              <p:nvPr/>
            </p:nvSpPr>
            <p:spPr>
              <a:xfrm>
                <a:off x="609600" y="1752600"/>
                <a:ext cx="8077200" cy="2101729"/>
              </a:xfrm>
              <a:prstGeom prst="rect">
                <a:avLst/>
              </a:prstGeom>
            </p:spPr>
            <p:txBody>
              <a:bodyPr wrap="square">
                <a:spAutoFit/>
              </a:bodyPr>
              <a:lstStyle/>
              <a:p>
                <a:r>
                  <a:rPr lang="en-US" sz="2000" dirty="0"/>
                  <a:t>Prove the following logical identities by developing a series of logical equivalences: </a:t>
                </a:r>
              </a:p>
              <a:p>
                <a:pPr marL="514350" indent="-514350">
                  <a:buFont typeface="+mj-lt"/>
                  <a:buAutoNum type="arabicPeriod"/>
                </a:pPr>
                <a14:m>
                  <m:oMath xmlns:m="http://schemas.openxmlformats.org/officeDocument/2006/math">
                    <m:r>
                      <a:rPr lang="en-US" sz="2000" i="1" smtClean="0">
                        <a:latin typeface="Cambria Math" panose="02040503050406030204" pitchFamily="18" charset="0"/>
                        <a:ea typeface="Cambria Math" panose="02040503050406030204" pitchFamily="18" charset="0"/>
                      </a:rPr>
                      <m:t>¬</m:t>
                    </m:r>
                    <m:d>
                      <m:dPr>
                        <m:ctrlPr>
                          <a:rPr lang="en-US" sz="2000" i="1" smtClean="0">
                            <a:latin typeface="Cambria Math" panose="02040503050406030204" pitchFamily="18" charset="0"/>
                            <a:ea typeface="Cambria Math" panose="02040503050406030204" pitchFamily="18" charset="0"/>
                          </a:rPr>
                        </m:ctrlPr>
                      </m:dPr>
                      <m:e>
                        <m:r>
                          <a:rPr lang="en-US" sz="2000" b="0" i="1" smtClean="0">
                            <a:latin typeface="Cambria Math" panose="02040503050406030204" pitchFamily="18" charset="0"/>
                            <a:ea typeface="Cambria Math" panose="02040503050406030204" pitchFamily="18" charset="0"/>
                          </a:rPr>
                          <m:t>𝑝</m:t>
                        </m:r>
                        <m:r>
                          <a:rPr lang="en-US" sz="2000" b="0" i="1" smtClean="0">
                            <a:latin typeface="Cambria Math" panose="02040503050406030204" pitchFamily="18" charset="0"/>
                            <a:ea typeface="Cambria Math" panose="02040503050406030204" pitchFamily="18" charset="0"/>
                          </a:rPr>
                          <m:t> ∨</m:t>
                        </m:r>
                        <m:d>
                          <m:dPr>
                            <m:ctrlPr>
                              <a:rPr lang="en-US" sz="2000" b="0" i="1" smtClean="0">
                                <a:latin typeface="Cambria Math" panose="02040503050406030204" pitchFamily="18" charset="0"/>
                                <a:ea typeface="Cambria Math" panose="02040503050406030204" pitchFamily="18" charset="0"/>
                              </a:rPr>
                            </m:ctrlPr>
                          </m:dPr>
                          <m:e>
                            <m:r>
                              <a:rPr lang="en-US" sz="2000" i="1">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 </m:t>
                            </m:r>
                            <m:r>
                              <a:rPr lang="en-US" sz="2000" b="0" i="1" smtClean="0">
                                <a:latin typeface="Cambria Math" panose="02040503050406030204" pitchFamily="18" charset="0"/>
                                <a:ea typeface="Cambria Math" panose="02040503050406030204" pitchFamily="18" charset="0"/>
                              </a:rPr>
                              <m:t>𝑝</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𝑞</m:t>
                            </m:r>
                          </m:e>
                        </m:d>
                      </m:e>
                    </m:d>
                    <m:r>
                      <a:rPr lang="en-US" sz="2000" i="1" smtClean="0">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𝑝</m:t>
                    </m:r>
                    <m:r>
                      <a:rPr lang="en-US" sz="2000" b="0" i="1" smtClean="0">
                        <a:latin typeface="Cambria Math" panose="02040503050406030204" pitchFamily="18" charset="0"/>
                        <a:ea typeface="Cambria Math" panose="02040503050406030204" pitchFamily="18" charset="0"/>
                      </a:rPr>
                      <m:t>∧¬</m:t>
                    </m:r>
                    <m:r>
                      <m:rPr>
                        <m:sty m:val="p"/>
                      </m:rPr>
                      <a:rPr lang="en-US" sz="2000" b="0" i="0" smtClean="0">
                        <a:latin typeface="Cambria Math" panose="02040503050406030204" pitchFamily="18" charset="0"/>
                        <a:ea typeface="Cambria Math" panose="02040503050406030204" pitchFamily="18" charset="0"/>
                      </a:rPr>
                      <m:t>q</m:t>
                    </m:r>
                  </m:oMath>
                </a14:m>
                <a:endParaRPr lang="en-US" sz="2000" dirty="0"/>
              </a:p>
              <a:p>
                <a:pPr marL="514350" indent="-514350">
                  <a:buFont typeface="+mj-lt"/>
                  <a:buAutoNum type="arabicPeriod"/>
                </a:pPr>
                <a14:m>
                  <m:oMath xmlns:m="http://schemas.openxmlformats.org/officeDocument/2006/math">
                    <m:d>
                      <m:dPr>
                        <m:ctrlPr>
                          <a:rPr lang="en-US" sz="2000" i="1" smtClean="0">
                            <a:latin typeface="Cambria Math" panose="02040503050406030204" pitchFamily="18" charset="0"/>
                          </a:rPr>
                        </m:ctrlPr>
                      </m:dPr>
                      <m:e>
                        <m:r>
                          <a:rPr lang="en-US" sz="2000" b="0" i="1" smtClean="0">
                            <a:latin typeface="Cambria Math" panose="02040503050406030204" pitchFamily="18" charset="0"/>
                          </a:rPr>
                          <m:t>𝑝</m:t>
                        </m:r>
                        <m:r>
                          <a:rPr lang="en-US" sz="2000" b="0" i="1" smtClean="0">
                            <a:latin typeface="Cambria Math" panose="02040503050406030204" pitchFamily="18" charset="0"/>
                          </a:rPr>
                          <m:t> ∧</m:t>
                        </m:r>
                        <m:r>
                          <a:rPr lang="en-US" sz="2000" b="0" i="1" smtClean="0">
                            <a:latin typeface="Cambria Math" panose="02040503050406030204" pitchFamily="18" charset="0"/>
                            <a:ea typeface="Cambria Math" panose="02040503050406030204" pitchFamily="18" charset="0"/>
                          </a:rPr>
                          <m:t>𝑞</m:t>
                        </m:r>
                      </m:e>
                    </m:d>
                    <m:r>
                      <a:rPr lang="en-US" sz="200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 </m:t>
                    </m:r>
                    <m:d>
                      <m:dPr>
                        <m:ctrlPr>
                          <a:rPr lang="en-US" sz="2000" b="0" i="1" smtClean="0">
                            <a:latin typeface="Cambria Math" panose="02040503050406030204" pitchFamily="18" charset="0"/>
                            <a:ea typeface="Cambria Math" panose="02040503050406030204" pitchFamily="18" charset="0"/>
                          </a:rPr>
                        </m:ctrlPr>
                      </m:dPr>
                      <m:e>
                        <m:r>
                          <a:rPr lang="en-US" sz="2000" b="0" i="1" smtClean="0">
                            <a:latin typeface="Cambria Math" panose="02040503050406030204" pitchFamily="18" charset="0"/>
                            <a:ea typeface="Cambria Math" panose="02040503050406030204" pitchFamily="18" charset="0"/>
                          </a:rPr>
                          <m:t>𝑝</m:t>
                        </m:r>
                        <m:r>
                          <a:rPr lang="en-US" sz="2000" i="1">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𝑞</m:t>
                        </m:r>
                      </m:e>
                    </m:d>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𝑇</m:t>
                    </m:r>
                  </m:oMath>
                </a14:m>
                <a:endParaRPr lang="en-US" sz="2000" dirty="0"/>
              </a:p>
              <a:p>
                <a:pPr marL="514350" indent="-514350">
                  <a:buFont typeface="+mj-lt"/>
                  <a:buAutoNum type="arabicPeriod"/>
                </a:pPr>
                <a14:m>
                  <m:oMath xmlns:m="http://schemas.openxmlformats.org/officeDocument/2006/math">
                    <m:d>
                      <m:dPr>
                        <m:ctrlPr>
                          <a:rPr lang="en-US" sz="2000" i="1" smtClean="0">
                            <a:latin typeface="Cambria Math" panose="02040503050406030204" pitchFamily="18" charset="0"/>
                          </a:rPr>
                        </m:ctrlPr>
                      </m:dPr>
                      <m:e>
                        <m:r>
                          <a:rPr lang="en-US" sz="2000" b="0" i="1" smtClean="0">
                            <a:latin typeface="Cambria Math" panose="02040503050406030204" pitchFamily="18" charset="0"/>
                          </a:rPr>
                          <m:t>𝑝</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𝑞</m:t>
                        </m:r>
                      </m:e>
                    </m:d>
                    <m:r>
                      <a:rPr lang="en-US" sz="2000" i="1">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 </m:t>
                    </m:r>
                    <m:d>
                      <m:dPr>
                        <m:ctrlPr>
                          <a:rPr lang="en-US" sz="2000" b="0" i="1" smtClean="0">
                            <a:latin typeface="Cambria Math" panose="02040503050406030204" pitchFamily="18" charset="0"/>
                            <a:ea typeface="Cambria Math" panose="02040503050406030204" pitchFamily="18" charset="0"/>
                          </a:rPr>
                        </m:ctrlPr>
                      </m:dPr>
                      <m:e>
                        <m:r>
                          <a:rPr lang="en-US" sz="2000" b="0" i="1" smtClean="0">
                            <a:latin typeface="Cambria Math" panose="02040503050406030204" pitchFamily="18" charset="0"/>
                            <a:ea typeface="Cambria Math" panose="02040503050406030204" pitchFamily="18" charset="0"/>
                          </a:rPr>
                          <m:t>𝑝</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𝑟</m:t>
                        </m:r>
                      </m:e>
                    </m:d>
                    <m:r>
                      <a:rPr lang="en-US" sz="2000" b="0" i="1" smtClean="0">
                        <a:latin typeface="Cambria Math" panose="02040503050406030204" pitchFamily="18" charset="0"/>
                        <a:ea typeface="Cambria Math" panose="02040503050406030204" pitchFamily="18" charset="0"/>
                      </a:rPr>
                      <m:t>≡</m:t>
                    </m:r>
                    <m:r>
                      <a:rPr lang="en-US" sz="2000" b="0" i="1" smtClean="0">
                        <a:solidFill>
                          <a:schemeClr val="tx1"/>
                        </a:solidFill>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𝑝</m:t>
                    </m:r>
                    <m:r>
                      <a:rPr lang="en-US" sz="2000" i="1">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𝑞</m:t>
                    </m:r>
                    <m:r>
                      <a:rPr lang="en-US" sz="2000" i="1">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𝑟</m:t>
                    </m:r>
                    <m:r>
                      <a:rPr lang="en-US" sz="2000" b="0" i="1" smtClean="0">
                        <a:latin typeface="Cambria Math" panose="02040503050406030204" pitchFamily="18" charset="0"/>
                        <a:ea typeface="Cambria Math" panose="02040503050406030204" pitchFamily="18" charset="0"/>
                      </a:rPr>
                      <m:t>.  </m:t>
                    </m:r>
                  </m:oMath>
                </a14:m>
                <a:endParaRPr lang="en-US" sz="2000" dirty="0"/>
              </a:p>
              <a:p>
                <a:endParaRPr lang="en-US" sz="2800" dirty="0"/>
              </a:p>
            </p:txBody>
          </p:sp>
        </mc:Choice>
        <mc:Fallback xmlns="">
          <p:sp>
            <p:nvSpPr>
              <p:cNvPr id="7" name="Rectangle 6"/>
              <p:cNvSpPr>
                <a:spLocks noRot="1" noChangeAspect="1" noMove="1" noResize="1" noEditPoints="1" noAdjustHandles="1" noChangeArrowheads="1" noChangeShapeType="1" noTextEdit="1"/>
              </p:cNvSpPr>
              <p:nvPr/>
            </p:nvSpPr>
            <p:spPr>
              <a:xfrm>
                <a:off x="609600" y="1752600"/>
                <a:ext cx="8077200" cy="2101729"/>
              </a:xfrm>
              <a:prstGeom prst="rect">
                <a:avLst/>
              </a:prstGeom>
              <a:blipFill rotWithShape="0">
                <a:blip r:embed="rId2"/>
                <a:stretch>
                  <a:fillRect l="-755" t="-1453"/>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 name="Rectangle 2"/>
              <p:cNvSpPr/>
              <p:nvPr/>
            </p:nvSpPr>
            <p:spPr>
              <a:xfrm>
                <a:off x="762000" y="3633617"/>
                <a:ext cx="2162067" cy="439736"/>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000" i="1">
                          <a:latin typeface="Cambria Math" panose="02040503050406030204" pitchFamily="18" charset="0"/>
                          <a:ea typeface="Cambria Math" panose="02040503050406030204" pitchFamily="18" charset="0"/>
                        </a:rPr>
                        <m:t>¬</m:t>
                      </m:r>
                      <m:d>
                        <m:dPr>
                          <m:ctrlPr>
                            <a:rPr lang="en-US" sz="2000" i="1">
                              <a:latin typeface="Cambria Math" panose="02040503050406030204" pitchFamily="18" charset="0"/>
                              <a:ea typeface="Cambria Math" panose="02040503050406030204" pitchFamily="18" charset="0"/>
                            </a:rPr>
                          </m:ctrlPr>
                        </m:dPr>
                        <m:e>
                          <m:r>
                            <a:rPr lang="en-US" sz="2000" i="1">
                              <a:latin typeface="Cambria Math" panose="02040503050406030204" pitchFamily="18" charset="0"/>
                              <a:ea typeface="Cambria Math" panose="02040503050406030204" pitchFamily="18" charset="0"/>
                            </a:rPr>
                            <m:t>𝑝</m:t>
                          </m:r>
                          <m:r>
                            <a:rPr lang="en-US" sz="2000" i="1">
                              <a:latin typeface="Cambria Math" panose="02040503050406030204" pitchFamily="18" charset="0"/>
                              <a:ea typeface="Cambria Math" panose="02040503050406030204" pitchFamily="18" charset="0"/>
                            </a:rPr>
                            <m:t> ∨</m:t>
                          </m:r>
                          <m:d>
                            <m:dPr>
                              <m:ctrlPr>
                                <a:rPr lang="en-US" sz="2000" i="1">
                                  <a:latin typeface="Cambria Math" panose="02040503050406030204" pitchFamily="18" charset="0"/>
                                  <a:ea typeface="Cambria Math" panose="02040503050406030204" pitchFamily="18" charset="0"/>
                                </a:rPr>
                              </m:ctrlPr>
                            </m:dPr>
                            <m:e>
                              <m:r>
                                <a:rPr lang="en-US" sz="2000" i="1">
                                  <a:latin typeface="Cambria Math" panose="02040503050406030204" pitchFamily="18" charset="0"/>
                                  <a:ea typeface="Cambria Math" panose="02040503050406030204" pitchFamily="18" charset="0"/>
                                </a:rPr>
                                <m:t>¬ </m:t>
                              </m:r>
                              <m:r>
                                <a:rPr lang="en-US" sz="2000" i="1">
                                  <a:latin typeface="Cambria Math" panose="02040503050406030204" pitchFamily="18" charset="0"/>
                                  <a:ea typeface="Cambria Math" panose="02040503050406030204" pitchFamily="18" charset="0"/>
                                </a:rPr>
                                <m:t>𝑝</m:t>
                              </m:r>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𝑞</m:t>
                              </m:r>
                            </m:e>
                          </m:d>
                        </m:e>
                      </m:d>
                    </m:oMath>
                  </m:oMathPara>
                </a14:m>
                <a:endParaRPr lang="en-GB" sz="2000" dirty="0"/>
              </a:p>
            </p:txBody>
          </p:sp>
        </mc:Choice>
        <mc:Fallback xmlns="">
          <p:sp>
            <p:nvSpPr>
              <p:cNvPr id="3" name="Rectangle 2"/>
              <p:cNvSpPr>
                <a:spLocks noRot="1" noChangeAspect="1" noMove="1" noResize="1" noEditPoints="1" noAdjustHandles="1" noChangeArrowheads="1" noChangeShapeType="1" noTextEdit="1"/>
              </p:cNvSpPr>
              <p:nvPr/>
            </p:nvSpPr>
            <p:spPr>
              <a:xfrm>
                <a:off x="762000" y="3633617"/>
                <a:ext cx="2162067" cy="439736"/>
              </a:xfrm>
              <a:prstGeom prst="rect">
                <a:avLst/>
              </a:prstGeom>
              <a:blipFill rotWithShape="0">
                <a:blip r:embed="rId3"/>
                <a:stretch>
                  <a:fillRect b="-4167"/>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2962931" y="3707009"/>
                <a:ext cx="5385000" cy="307777"/>
              </a:xfrm>
              <a:prstGeom prst="rect">
                <a:avLst/>
              </a:prstGeom>
              <a:noFill/>
            </p:spPr>
            <p:txBody>
              <a:bodyPr wrap="none" lIns="0" tIns="0" rIns="0" bIns="0" rtlCol="0">
                <a:spAutoFit/>
              </a:bodyPr>
              <a:lstStyle/>
              <a:p>
                <a14:m>
                  <m:oMath xmlns:m="http://schemas.openxmlformats.org/officeDocument/2006/math">
                    <m:r>
                      <a:rPr lang="en-GB" sz="2000" i="1" smtClean="0">
                        <a:latin typeface="Cambria Math" panose="02040503050406030204" pitchFamily="18" charset="0"/>
                        <a:ea typeface="Cambria Math" panose="02040503050406030204" pitchFamily="18" charset="0"/>
                      </a:rPr>
                      <m:t>≡</m:t>
                    </m:r>
                    <m:r>
                      <a:rPr lang="en-GB" sz="2000" b="0" i="1" smtClean="0">
                        <a:latin typeface="Cambria Math" panose="02040503050406030204" pitchFamily="18" charset="0"/>
                        <a:ea typeface="Cambria Math" panose="02040503050406030204" pitchFamily="18" charset="0"/>
                      </a:rPr>
                      <m:t> ¬</m:t>
                    </m:r>
                    <m:r>
                      <a:rPr lang="en-GB" sz="2000" b="0" i="1" smtClean="0">
                        <a:latin typeface="Cambria Math" panose="02040503050406030204" pitchFamily="18" charset="0"/>
                        <a:ea typeface="Cambria Math" panose="02040503050406030204" pitchFamily="18" charset="0"/>
                      </a:rPr>
                      <m:t>𝑝</m:t>
                    </m:r>
                    <m:r>
                      <a:rPr lang="en-US" sz="2000" i="1">
                        <a:latin typeface="Cambria Math" panose="02040503050406030204" pitchFamily="18" charset="0"/>
                        <a:ea typeface="Cambria Math" panose="02040503050406030204" pitchFamily="18" charset="0"/>
                      </a:rPr>
                      <m:t>∧</m:t>
                    </m:r>
                    <m:r>
                      <a:rPr lang="en-GB" sz="2000" b="0" i="1" smtClean="0">
                        <a:latin typeface="Cambria Math" panose="02040503050406030204" pitchFamily="18" charset="0"/>
                        <a:ea typeface="Cambria Math" panose="02040503050406030204" pitchFamily="18" charset="0"/>
                      </a:rPr>
                      <m:t> ¬</m:t>
                    </m:r>
                    <m:d>
                      <m:dPr>
                        <m:ctrlPr>
                          <a:rPr lang="en-GB" sz="2000" b="0" i="1" smtClean="0">
                            <a:latin typeface="Cambria Math" panose="02040503050406030204" pitchFamily="18" charset="0"/>
                            <a:ea typeface="Cambria Math" panose="02040503050406030204" pitchFamily="18" charset="0"/>
                          </a:rPr>
                        </m:ctrlPr>
                      </m:dPr>
                      <m:e>
                        <m:r>
                          <a:rPr lang="en-GB" sz="2000" b="0" i="1" smtClean="0">
                            <a:latin typeface="Cambria Math" panose="02040503050406030204" pitchFamily="18" charset="0"/>
                            <a:ea typeface="Cambria Math" panose="02040503050406030204" pitchFamily="18" charset="0"/>
                          </a:rPr>
                          <m:t>¬</m:t>
                        </m:r>
                        <m:r>
                          <a:rPr lang="en-GB" sz="2000" b="0" i="1" smtClean="0">
                            <a:latin typeface="Cambria Math" panose="02040503050406030204" pitchFamily="18" charset="0"/>
                            <a:ea typeface="Cambria Math" panose="02040503050406030204" pitchFamily="18" charset="0"/>
                          </a:rPr>
                          <m:t>𝑝</m:t>
                        </m:r>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𝑞</m:t>
                        </m:r>
                      </m:e>
                    </m:d>
                    <m:r>
                      <a:rPr lang="en-GB" sz="2000" b="0" i="1" smtClean="0">
                        <a:latin typeface="Cambria Math" panose="02040503050406030204" pitchFamily="18" charset="0"/>
                        <a:ea typeface="Cambria Math" panose="02040503050406030204" pitchFamily="18" charset="0"/>
                      </a:rPr>
                      <m:t>              (∵</m:t>
                    </m:r>
                    <m:r>
                      <m:rPr>
                        <m:sty m:val="p"/>
                      </m:rPr>
                      <a:rPr lang="en-GB" sz="2000" b="0" i="0" smtClean="0">
                        <a:latin typeface="Cambria Math" panose="02040503050406030204" pitchFamily="18" charset="0"/>
                        <a:ea typeface="Cambria Math" panose="02040503050406030204" pitchFamily="18" charset="0"/>
                      </a:rPr>
                      <m:t>De</m:t>
                    </m:r>
                    <m:r>
                      <a:rPr lang="en-GB" sz="2000" b="0" i="0" smtClean="0">
                        <a:latin typeface="Cambria Math" panose="02040503050406030204" pitchFamily="18" charset="0"/>
                        <a:ea typeface="Cambria Math" panose="02040503050406030204" pitchFamily="18" charset="0"/>
                      </a:rPr>
                      <m:t> </m:t>
                    </m:r>
                    <m:r>
                      <m:rPr>
                        <m:sty m:val="p"/>
                      </m:rPr>
                      <a:rPr lang="en-GB" sz="2000" b="0" i="0" smtClean="0">
                        <a:latin typeface="Cambria Math" panose="02040503050406030204" pitchFamily="18" charset="0"/>
                        <a:ea typeface="Cambria Math" panose="02040503050406030204" pitchFamily="18" charset="0"/>
                      </a:rPr>
                      <m:t>Morga</m:t>
                    </m:r>
                    <m:sSup>
                      <m:sSupPr>
                        <m:ctrlPr>
                          <a:rPr lang="en-GB" sz="2000" b="0" i="1" smtClean="0">
                            <a:latin typeface="Cambria Math" panose="02040503050406030204" pitchFamily="18" charset="0"/>
                            <a:ea typeface="Cambria Math" panose="02040503050406030204" pitchFamily="18" charset="0"/>
                          </a:rPr>
                        </m:ctrlPr>
                      </m:sSupPr>
                      <m:e>
                        <m:r>
                          <m:rPr>
                            <m:sty m:val="p"/>
                          </m:rPr>
                          <a:rPr lang="en-GB" sz="2000" b="0" i="0" smtClean="0">
                            <a:latin typeface="Cambria Math" panose="02040503050406030204" pitchFamily="18" charset="0"/>
                            <a:ea typeface="Cambria Math" panose="02040503050406030204" pitchFamily="18" charset="0"/>
                          </a:rPr>
                          <m:t>n</m:t>
                        </m:r>
                      </m:e>
                      <m:sup>
                        <m:r>
                          <a:rPr lang="en-GB" sz="2000" b="0" i="0" smtClean="0">
                            <a:latin typeface="Cambria Math" panose="02040503050406030204" pitchFamily="18" charset="0"/>
                            <a:ea typeface="Cambria Math" panose="02040503050406030204" pitchFamily="18" charset="0"/>
                          </a:rPr>
                          <m:t>′</m:t>
                        </m:r>
                      </m:sup>
                    </m:sSup>
                    <m:r>
                      <m:rPr>
                        <m:sty m:val="p"/>
                      </m:rPr>
                      <a:rPr lang="en-GB" sz="2000" b="0" i="0" smtClean="0">
                        <a:latin typeface="Cambria Math" panose="02040503050406030204" pitchFamily="18" charset="0"/>
                        <a:ea typeface="Cambria Math" panose="02040503050406030204" pitchFamily="18" charset="0"/>
                      </a:rPr>
                      <m:t>s</m:t>
                    </m:r>
                    <m:r>
                      <a:rPr lang="en-GB" sz="2000" b="0" i="0" smtClean="0">
                        <a:latin typeface="Cambria Math" panose="02040503050406030204" pitchFamily="18" charset="0"/>
                        <a:ea typeface="Cambria Math" panose="02040503050406030204" pitchFamily="18" charset="0"/>
                      </a:rPr>
                      <m:t> </m:t>
                    </m:r>
                    <m:r>
                      <m:rPr>
                        <m:sty m:val="p"/>
                      </m:rPr>
                      <a:rPr lang="en-GB" sz="2000" b="0" i="0" smtClean="0">
                        <a:latin typeface="Cambria Math" panose="02040503050406030204" pitchFamily="18" charset="0"/>
                        <a:ea typeface="Cambria Math" panose="02040503050406030204" pitchFamily="18" charset="0"/>
                      </a:rPr>
                      <m:t>Law</m:t>
                    </m:r>
                    <m:r>
                      <a:rPr lang="en-GB" sz="2000" b="0" i="1" smtClean="0">
                        <a:latin typeface="Cambria Math" panose="02040503050406030204" pitchFamily="18" charset="0"/>
                        <a:ea typeface="Cambria Math" panose="02040503050406030204" pitchFamily="18" charset="0"/>
                      </a:rPr>
                      <m:t>)</m:t>
                    </m:r>
                  </m:oMath>
                </a14:m>
                <a:r>
                  <a:rPr lang="en-GB" sz="2000" dirty="0"/>
                  <a:t>  </a:t>
                </a:r>
              </a:p>
            </p:txBody>
          </p:sp>
        </mc:Choice>
        <mc:Fallback xmlns="">
          <p:sp>
            <p:nvSpPr>
              <p:cNvPr id="8" name="TextBox 7"/>
              <p:cNvSpPr txBox="1">
                <a:spLocks noRot="1" noChangeAspect="1" noMove="1" noResize="1" noEditPoints="1" noAdjustHandles="1" noChangeArrowheads="1" noChangeShapeType="1" noTextEdit="1"/>
              </p:cNvSpPr>
              <p:nvPr/>
            </p:nvSpPr>
            <p:spPr>
              <a:xfrm>
                <a:off x="2962931" y="3707009"/>
                <a:ext cx="5385000" cy="307777"/>
              </a:xfrm>
              <a:prstGeom prst="rect">
                <a:avLst/>
              </a:prstGeom>
              <a:blipFill rotWithShape="0">
                <a:blip r:embed="rId4"/>
                <a:stretch>
                  <a:fillRect l="-1246" b="-37255"/>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 name="Rectangle 8"/>
              <p:cNvSpPr/>
              <p:nvPr/>
            </p:nvSpPr>
            <p:spPr>
              <a:xfrm>
                <a:off x="2907018" y="4050268"/>
                <a:ext cx="5598520" cy="400110"/>
              </a:xfrm>
              <a:prstGeom prst="rect">
                <a:avLst/>
              </a:prstGeom>
            </p:spPr>
            <p:txBody>
              <a:bodyPr wrap="none">
                <a:spAutoFit/>
              </a:bodyPr>
              <a:lstStyle/>
              <a:p>
                <a14:m>
                  <m:oMath xmlns:m="http://schemas.openxmlformats.org/officeDocument/2006/math">
                    <m:r>
                      <a:rPr lang="en-GB" sz="2000" i="1" smtClean="0">
                        <a:latin typeface="Cambria Math" panose="02040503050406030204" pitchFamily="18" charset="0"/>
                        <a:ea typeface="Cambria Math" panose="02040503050406030204" pitchFamily="18" charset="0"/>
                      </a:rPr>
                      <m:t>≡ ¬</m:t>
                    </m:r>
                    <m:r>
                      <a:rPr lang="en-GB" sz="2000" i="1" smtClean="0">
                        <a:latin typeface="Cambria Math" panose="02040503050406030204" pitchFamily="18" charset="0"/>
                        <a:ea typeface="Cambria Math" panose="02040503050406030204" pitchFamily="18" charset="0"/>
                      </a:rPr>
                      <m:t>𝑝</m:t>
                    </m:r>
                    <m:r>
                      <a:rPr lang="en-US" sz="2000" i="1">
                        <a:latin typeface="Cambria Math" panose="02040503050406030204" pitchFamily="18" charset="0"/>
                        <a:ea typeface="Cambria Math" panose="02040503050406030204" pitchFamily="18" charset="0"/>
                      </a:rPr>
                      <m:t>∧</m:t>
                    </m:r>
                    <m:r>
                      <a:rPr lang="en-GB" sz="2000" b="0" i="1" smtClean="0">
                        <a:latin typeface="Cambria Math" panose="02040503050406030204" pitchFamily="18" charset="0"/>
                        <a:ea typeface="Cambria Math" panose="02040503050406030204" pitchFamily="18" charset="0"/>
                      </a:rPr>
                      <m:t>[</m:t>
                    </m:r>
                    <m:r>
                      <a:rPr lang="en-GB" sz="2000" i="1">
                        <a:latin typeface="Cambria Math" panose="02040503050406030204" pitchFamily="18" charset="0"/>
                        <a:ea typeface="Cambria Math" panose="02040503050406030204" pitchFamily="18" charset="0"/>
                      </a:rPr>
                      <m:t>¬</m:t>
                    </m:r>
                    <m:d>
                      <m:dPr>
                        <m:ctrlPr>
                          <a:rPr lang="en-GB" sz="2000" i="1">
                            <a:latin typeface="Cambria Math" panose="02040503050406030204" pitchFamily="18" charset="0"/>
                            <a:ea typeface="Cambria Math" panose="02040503050406030204" pitchFamily="18" charset="0"/>
                          </a:rPr>
                        </m:ctrlPr>
                      </m:dPr>
                      <m:e>
                        <m:r>
                          <a:rPr lang="en-GB" sz="2000" i="1">
                            <a:latin typeface="Cambria Math" panose="02040503050406030204" pitchFamily="18" charset="0"/>
                            <a:ea typeface="Cambria Math" panose="02040503050406030204" pitchFamily="18" charset="0"/>
                          </a:rPr>
                          <m:t>¬</m:t>
                        </m:r>
                        <m:r>
                          <a:rPr lang="en-GB" sz="2000" i="1">
                            <a:latin typeface="Cambria Math" panose="02040503050406030204" pitchFamily="18" charset="0"/>
                            <a:ea typeface="Cambria Math" panose="02040503050406030204" pitchFamily="18" charset="0"/>
                          </a:rPr>
                          <m:t>𝑝</m:t>
                        </m:r>
                        <m:r>
                          <a:rPr lang="en-GB" sz="2000" b="0" i="1" smtClean="0">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m:t>
                        </m:r>
                        <m:r>
                          <a:rPr lang="en-GB" sz="2000" b="0" i="1" smtClean="0">
                            <a:latin typeface="Cambria Math" panose="02040503050406030204" pitchFamily="18" charset="0"/>
                            <a:ea typeface="Cambria Math" panose="02040503050406030204" pitchFamily="18" charset="0"/>
                          </a:rPr>
                          <m:t> ¬</m:t>
                        </m:r>
                        <m:r>
                          <a:rPr lang="en-US" sz="2000" i="1">
                            <a:latin typeface="Cambria Math" panose="02040503050406030204" pitchFamily="18" charset="0"/>
                            <a:ea typeface="Cambria Math" panose="02040503050406030204" pitchFamily="18" charset="0"/>
                          </a:rPr>
                          <m:t>𝑞</m:t>
                        </m:r>
                      </m:e>
                    </m:d>
                    <m:r>
                      <a:rPr lang="en-GB" sz="2000" b="0" i="1" smtClean="0">
                        <a:latin typeface="Cambria Math" panose="02040503050406030204" pitchFamily="18" charset="0"/>
                        <a:ea typeface="Cambria Math" panose="02040503050406030204" pitchFamily="18" charset="0"/>
                      </a:rPr>
                      <m:t>]</m:t>
                    </m:r>
                    <m:r>
                      <a:rPr lang="en-GB" sz="2000" i="1">
                        <a:latin typeface="Cambria Math" panose="02040503050406030204" pitchFamily="18" charset="0"/>
                        <a:ea typeface="Cambria Math" panose="02040503050406030204" pitchFamily="18" charset="0"/>
                      </a:rPr>
                      <m:t>      (∵</m:t>
                    </m:r>
                    <m:r>
                      <m:rPr>
                        <m:sty m:val="p"/>
                      </m:rPr>
                      <a:rPr lang="en-GB" sz="2000">
                        <a:latin typeface="Cambria Math" panose="02040503050406030204" pitchFamily="18" charset="0"/>
                        <a:ea typeface="Cambria Math" panose="02040503050406030204" pitchFamily="18" charset="0"/>
                      </a:rPr>
                      <m:t>De</m:t>
                    </m:r>
                    <m:r>
                      <a:rPr lang="en-GB" sz="2000">
                        <a:latin typeface="Cambria Math" panose="02040503050406030204" pitchFamily="18" charset="0"/>
                        <a:ea typeface="Cambria Math" panose="02040503050406030204" pitchFamily="18" charset="0"/>
                      </a:rPr>
                      <m:t> </m:t>
                    </m:r>
                    <m:r>
                      <m:rPr>
                        <m:sty m:val="p"/>
                      </m:rPr>
                      <a:rPr lang="en-GB" sz="2000">
                        <a:latin typeface="Cambria Math" panose="02040503050406030204" pitchFamily="18" charset="0"/>
                        <a:ea typeface="Cambria Math" panose="02040503050406030204" pitchFamily="18" charset="0"/>
                      </a:rPr>
                      <m:t>Morga</m:t>
                    </m:r>
                    <m:sSup>
                      <m:sSupPr>
                        <m:ctrlPr>
                          <a:rPr lang="en-GB" sz="2000" i="1">
                            <a:latin typeface="Cambria Math" panose="02040503050406030204" pitchFamily="18" charset="0"/>
                            <a:ea typeface="Cambria Math" panose="02040503050406030204" pitchFamily="18" charset="0"/>
                          </a:rPr>
                        </m:ctrlPr>
                      </m:sSupPr>
                      <m:e>
                        <m:r>
                          <m:rPr>
                            <m:sty m:val="p"/>
                          </m:rPr>
                          <a:rPr lang="en-GB" sz="2000">
                            <a:latin typeface="Cambria Math" panose="02040503050406030204" pitchFamily="18" charset="0"/>
                            <a:ea typeface="Cambria Math" panose="02040503050406030204" pitchFamily="18" charset="0"/>
                          </a:rPr>
                          <m:t>n</m:t>
                        </m:r>
                      </m:e>
                      <m:sup>
                        <m:r>
                          <a:rPr lang="en-GB" sz="2000">
                            <a:latin typeface="Cambria Math" panose="02040503050406030204" pitchFamily="18" charset="0"/>
                            <a:ea typeface="Cambria Math" panose="02040503050406030204" pitchFamily="18" charset="0"/>
                          </a:rPr>
                          <m:t>′</m:t>
                        </m:r>
                      </m:sup>
                    </m:sSup>
                    <m:r>
                      <m:rPr>
                        <m:sty m:val="p"/>
                      </m:rPr>
                      <a:rPr lang="en-GB" sz="2000">
                        <a:latin typeface="Cambria Math" panose="02040503050406030204" pitchFamily="18" charset="0"/>
                        <a:ea typeface="Cambria Math" panose="02040503050406030204" pitchFamily="18" charset="0"/>
                      </a:rPr>
                      <m:t>s</m:t>
                    </m:r>
                    <m:r>
                      <a:rPr lang="en-GB" sz="2000">
                        <a:latin typeface="Cambria Math" panose="02040503050406030204" pitchFamily="18" charset="0"/>
                        <a:ea typeface="Cambria Math" panose="02040503050406030204" pitchFamily="18" charset="0"/>
                      </a:rPr>
                      <m:t> </m:t>
                    </m:r>
                    <m:r>
                      <m:rPr>
                        <m:sty m:val="p"/>
                      </m:rPr>
                      <a:rPr lang="en-GB" sz="2000">
                        <a:latin typeface="Cambria Math" panose="02040503050406030204" pitchFamily="18" charset="0"/>
                        <a:ea typeface="Cambria Math" panose="02040503050406030204" pitchFamily="18" charset="0"/>
                      </a:rPr>
                      <m:t>Law</m:t>
                    </m:r>
                    <m:r>
                      <a:rPr lang="en-GB" sz="2000" i="1">
                        <a:latin typeface="Cambria Math" panose="02040503050406030204" pitchFamily="18" charset="0"/>
                        <a:ea typeface="Cambria Math" panose="02040503050406030204" pitchFamily="18" charset="0"/>
                      </a:rPr>
                      <m:t>)</m:t>
                    </m:r>
                  </m:oMath>
                </a14:m>
                <a:r>
                  <a:rPr lang="en-GB" sz="2000" dirty="0"/>
                  <a:t>  </a:t>
                </a:r>
              </a:p>
            </p:txBody>
          </p:sp>
        </mc:Choice>
        <mc:Fallback xmlns="">
          <p:sp>
            <p:nvSpPr>
              <p:cNvPr id="9" name="Rectangle 8"/>
              <p:cNvSpPr>
                <a:spLocks noRot="1" noChangeAspect="1" noMove="1" noResize="1" noEditPoints="1" noAdjustHandles="1" noChangeArrowheads="1" noChangeShapeType="1" noTextEdit="1"/>
              </p:cNvSpPr>
              <p:nvPr/>
            </p:nvSpPr>
            <p:spPr>
              <a:xfrm>
                <a:off x="2907018" y="4050268"/>
                <a:ext cx="5598520" cy="400110"/>
              </a:xfrm>
              <a:prstGeom prst="rect">
                <a:avLst/>
              </a:prstGeom>
              <a:blipFill rotWithShape="0">
                <a:blip r:embed="rId5"/>
                <a:stretch>
                  <a:fillRect b="-18182"/>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 name="Rectangle 9"/>
              <p:cNvSpPr/>
              <p:nvPr/>
            </p:nvSpPr>
            <p:spPr>
              <a:xfrm>
                <a:off x="2895600" y="4507468"/>
                <a:ext cx="5562600" cy="400110"/>
              </a:xfrm>
              <a:prstGeom prst="rect">
                <a:avLst/>
              </a:prstGeom>
            </p:spPr>
            <p:txBody>
              <a:bodyPr wrap="square">
                <a:spAutoFit/>
              </a:bodyPr>
              <a:lstStyle/>
              <a:p>
                <a14:m>
                  <m:oMath xmlns:m="http://schemas.openxmlformats.org/officeDocument/2006/math">
                    <m:r>
                      <a:rPr lang="en-GB" sz="2000" i="1" smtClean="0">
                        <a:latin typeface="Cambria Math" panose="02040503050406030204" pitchFamily="18" charset="0"/>
                        <a:ea typeface="Cambria Math" panose="02040503050406030204" pitchFamily="18" charset="0"/>
                      </a:rPr>
                      <m:t>≡ ¬</m:t>
                    </m:r>
                    <m:r>
                      <a:rPr lang="en-GB" sz="2000" i="1" smtClean="0">
                        <a:latin typeface="Cambria Math" panose="02040503050406030204" pitchFamily="18" charset="0"/>
                        <a:ea typeface="Cambria Math" panose="02040503050406030204" pitchFamily="18" charset="0"/>
                      </a:rPr>
                      <m:t>𝑝</m:t>
                    </m:r>
                    <m:r>
                      <a:rPr lang="en-US" sz="2000" i="1">
                        <a:latin typeface="Cambria Math" panose="02040503050406030204" pitchFamily="18" charset="0"/>
                        <a:ea typeface="Cambria Math" panose="02040503050406030204" pitchFamily="18" charset="0"/>
                      </a:rPr>
                      <m:t>∧</m:t>
                    </m:r>
                    <m:r>
                      <a:rPr lang="en-GB" sz="2000" i="1">
                        <a:latin typeface="Cambria Math" panose="02040503050406030204" pitchFamily="18" charset="0"/>
                        <a:ea typeface="Cambria Math" panose="02040503050406030204" pitchFamily="18" charset="0"/>
                      </a:rPr>
                      <m:t>[</m:t>
                    </m:r>
                    <m:r>
                      <a:rPr lang="en-GB" sz="2000" b="0" i="1" smtClean="0">
                        <a:latin typeface="Cambria Math" panose="02040503050406030204" pitchFamily="18" charset="0"/>
                        <a:ea typeface="Cambria Math" panose="02040503050406030204" pitchFamily="18" charset="0"/>
                      </a:rPr>
                      <m:t> </m:t>
                    </m:r>
                    <m:r>
                      <a:rPr lang="en-GB" sz="2000" b="0" i="1" smtClean="0">
                        <a:latin typeface="Cambria Math" panose="02040503050406030204" pitchFamily="18" charset="0"/>
                        <a:ea typeface="Cambria Math" panose="02040503050406030204" pitchFamily="18" charset="0"/>
                      </a:rPr>
                      <m:t>𝑝</m:t>
                    </m:r>
                    <m:r>
                      <a:rPr lang="en-US" sz="2000" i="1">
                        <a:latin typeface="Cambria Math" panose="02040503050406030204" pitchFamily="18" charset="0"/>
                        <a:ea typeface="Cambria Math" panose="02040503050406030204" pitchFamily="18" charset="0"/>
                      </a:rPr>
                      <m:t>∨</m:t>
                    </m:r>
                    <m:r>
                      <a:rPr lang="en-GB" sz="2000" i="1">
                        <a:latin typeface="Cambria Math" panose="02040503050406030204" pitchFamily="18" charset="0"/>
                        <a:ea typeface="Cambria Math" panose="02040503050406030204" pitchFamily="18" charset="0"/>
                      </a:rPr>
                      <m:t> ¬</m:t>
                    </m:r>
                    <m:r>
                      <a:rPr lang="en-US" sz="2000" i="1">
                        <a:latin typeface="Cambria Math" panose="02040503050406030204" pitchFamily="18" charset="0"/>
                        <a:ea typeface="Cambria Math" panose="02040503050406030204" pitchFamily="18" charset="0"/>
                      </a:rPr>
                      <m:t>𝑞</m:t>
                    </m:r>
                    <m:r>
                      <a:rPr lang="en-GB" sz="2000" i="1">
                        <a:latin typeface="Cambria Math" panose="02040503050406030204" pitchFamily="18" charset="0"/>
                        <a:ea typeface="Cambria Math" panose="02040503050406030204" pitchFamily="18" charset="0"/>
                      </a:rPr>
                      <m:t>]     </m:t>
                    </m:r>
                    <m:r>
                      <a:rPr lang="en-GB" sz="2000" b="0" i="1" smtClean="0">
                        <a:latin typeface="Cambria Math" panose="02040503050406030204" pitchFamily="18" charset="0"/>
                        <a:ea typeface="Cambria Math" panose="02040503050406030204" pitchFamily="18" charset="0"/>
                      </a:rPr>
                      <m:t>             </m:t>
                    </m:r>
                    <m:r>
                      <a:rPr lang="en-GB" sz="2000" i="1">
                        <a:latin typeface="Cambria Math" panose="02040503050406030204" pitchFamily="18" charset="0"/>
                        <a:ea typeface="Cambria Math" panose="02040503050406030204" pitchFamily="18" charset="0"/>
                      </a:rPr>
                      <m:t> (∵</m:t>
                    </m:r>
                    <m:r>
                      <m:rPr>
                        <m:sty m:val="p"/>
                      </m:rPr>
                      <a:rPr lang="en-GB" sz="2000" b="0" i="0" smtClean="0">
                        <a:latin typeface="Cambria Math" panose="02040503050406030204" pitchFamily="18" charset="0"/>
                        <a:ea typeface="Cambria Math" panose="02040503050406030204" pitchFamily="18" charset="0"/>
                      </a:rPr>
                      <m:t>Double</m:t>
                    </m:r>
                    <m:r>
                      <a:rPr lang="en-GB" sz="2000" b="0" i="0" smtClean="0">
                        <a:latin typeface="Cambria Math" panose="02040503050406030204" pitchFamily="18" charset="0"/>
                        <a:ea typeface="Cambria Math" panose="02040503050406030204" pitchFamily="18" charset="0"/>
                      </a:rPr>
                      <m:t> </m:t>
                    </m:r>
                    <m:r>
                      <m:rPr>
                        <m:sty m:val="p"/>
                      </m:rPr>
                      <a:rPr lang="en-GB" sz="2000" b="0" i="0" smtClean="0">
                        <a:latin typeface="Cambria Math" panose="02040503050406030204" pitchFamily="18" charset="0"/>
                        <a:ea typeface="Cambria Math" panose="02040503050406030204" pitchFamily="18" charset="0"/>
                      </a:rPr>
                      <m:t>negation</m:t>
                    </m:r>
                    <m:r>
                      <a:rPr lang="en-GB" sz="2000" i="1">
                        <a:latin typeface="Cambria Math" panose="02040503050406030204" pitchFamily="18" charset="0"/>
                        <a:ea typeface="Cambria Math" panose="02040503050406030204" pitchFamily="18" charset="0"/>
                      </a:rPr>
                      <m:t>)</m:t>
                    </m:r>
                  </m:oMath>
                </a14:m>
                <a:r>
                  <a:rPr lang="en-GB" sz="2000" dirty="0"/>
                  <a:t> </a:t>
                </a:r>
                <a:r>
                  <a:rPr lang="en-GB" dirty="0"/>
                  <a:t> </a:t>
                </a:r>
              </a:p>
            </p:txBody>
          </p:sp>
        </mc:Choice>
        <mc:Fallback xmlns="">
          <p:sp>
            <p:nvSpPr>
              <p:cNvPr id="10" name="Rectangle 9"/>
              <p:cNvSpPr>
                <a:spLocks noRot="1" noChangeAspect="1" noMove="1" noResize="1" noEditPoints="1" noAdjustHandles="1" noChangeArrowheads="1" noChangeShapeType="1" noTextEdit="1"/>
              </p:cNvSpPr>
              <p:nvPr/>
            </p:nvSpPr>
            <p:spPr>
              <a:xfrm>
                <a:off x="2895600" y="4507468"/>
                <a:ext cx="5562600" cy="400110"/>
              </a:xfrm>
              <a:prstGeom prst="rect">
                <a:avLst/>
              </a:prstGeom>
              <a:blipFill rotWithShape="0">
                <a:blip r:embed="rId6"/>
                <a:stretch>
                  <a:fillRect b="-18182"/>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1" name="Rectangle 10"/>
              <p:cNvSpPr/>
              <p:nvPr/>
            </p:nvSpPr>
            <p:spPr>
              <a:xfrm>
                <a:off x="2895600" y="4922297"/>
                <a:ext cx="5791200" cy="392993"/>
              </a:xfrm>
              <a:prstGeom prst="rect">
                <a:avLst/>
              </a:prstGeom>
            </p:spPr>
            <p:txBody>
              <a:bodyPr wrap="square">
                <a:spAutoFit/>
              </a:bodyPr>
              <a:lstStyle/>
              <a:p>
                <a14:m>
                  <m:oMath xmlns:m="http://schemas.openxmlformats.org/officeDocument/2006/math">
                    <m:r>
                      <a:rPr lang="en-GB" sz="2000" i="1" smtClean="0">
                        <a:latin typeface="Cambria Math" panose="02040503050406030204" pitchFamily="18" charset="0"/>
                        <a:ea typeface="Cambria Math" panose="02040503050406030204" pitchFamily="18" charset="0"/>
                      </a:rPr>
                      <m:t>≡</m:t>
                    </m:r>
                    <m:r>
                      <a:rPr lang="en-GB" sz="2000" b="0" i="1" smtClean="0">
                        <a:latin typeface="Cambria Math" panose="02040503050406030204" pitchFamily="18" charset="0"/>
                        <a:ea typeface="Cambria Math" panose="02040503050406030204" pitchFamily="18" charset="0"/>
                      </a:rPr>
                      <m:t>(</m:t>
                    </m:r>
                    <m:r>
                      <a:rPr lang="en-GB" sz="2000" i="1" smtClean="0">
                        <a:latin typeface="Cambria Math" panose="02040503050406030204" pitchFamily="18" charset="0"/>
                        <a:ea typeface="Cambria Math" panose="02040503050406030204" pitchFamily="18" charset="0"/>
                      </a:rPr>
                      <m:t>¬</m:t>
                    </m:r>
                    <m:r>
                      <a:rPr lang="en-GB" sz="2000" i="1" smtClean="0">
                        <a:latin typeface="Cambria Math" panose="02040503050406030204" pitchFamily="18" charset="0"/>
                        <a:ea typeface="Cambria Math" panose="02040503050406030204" pitchFamily="18" charset="0"/>
                      </a:rPr>
                      <m:t>𝑝</m:t>
                    </m:r>
                    <m:r>
                      <a:rPr lang="en-US" sz="2000" i="1">
                        <a:latin typeface="Cambria Math" panose="02040503050406030204" pitchFamily="18" charset="0"/>
                        <a:ea typeface="Cambria Math" panose="02040503050406030204" pitchFamily="18" charset="0"/>
                      </a:rPr>
                      <m:t>∧</m:t>
                    </m:r>
                    <m:r>
                      <a:rPr lang="en-GB" sz="2000" i="1">
                        <a:latin typeface="Cambria Math" panose="02040503050406030204" pitchFamily="18" charset="0"/>
                        <a:ea typeface="Cambria Math" panose="02040503050406030204" pitchFamily="18" charset="0"/>
                      </a:rPr>
                      <m:t> </m:t>
                    </m:r>
                    <m:r>
                      <a:rPr lang="en-GB" sz="2000" i="1">
                        <a:latin typeface="Cambria Math" panose="02040503050406030204" pitchFamily="18" charset="0"/>
                        <a:ea typeface="Cambria Math" panose="02040503050406030204" pitchFamily="18" charset="0"/>
                      </a:rPr>
                      <m:t>𝑝</m:t>
                    </m:r>
                    <m:r>
                      <a:rPr lang="en-GB" sz="2000" b="0" i="1" smtClean="0">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m:t>
                    </m:r>
                    <m:r>
                      <a:rPr lang="en-GB" sz="2000" b="0" i="1" smtClean="0">
                        <a:latin typeface="Cambria Math" panose="02040503050406030204" pitchFamily="18" charset="0"/>
                        <a:ea typeface="Cambria Math" panose="02040503050406030204" pitchFamily="18" charset="0"/>
                      </a:rPr>
                      <m:t>(</m:t>
                    </m:r>
                    <m:r>
                      <a:rPr lang="en-GB" sz="2000" i="1">
                        <a:latin typeface="Cambria Math" panose="02040503050406030204" pitchFamily="18" charset="0"/>
                        <a:ea typeface="Cambria Math" panose="02040503050406030204" pitchFamily="18" charset="0"/>
                      </a:rPr>
                      <m:t>¬</m:t>
                    </m:r>
                    <m:r>
                      <a:rPr lang="en-GB" sz="2000" i="1">
                        <a:latin typeface="Cambria Math" panose="02040503050406030204" pitchFamily="18" charset="0"/>
                        <a:ea typeface="Cambria Math" panose="02040503050406030204" pitchFamily="18" charset="0"/>
                      </a:rPr>
                      <m:t>𝑝</m:t>
                    </m:r>
                    <m:r>
                      <a:rPr lang="en-US" sz="2000" i="1">
                        <a:latin typeface="Cambria Math" panose="02040503050406030204" pitchFamily="18" charset="0"/>
                        <a:ea typeface="Cambria Math" panose="02040503050406030204" pitchFamily="18" charset="0"/>
                      </a:rPr>
                      <m:t>∧</m:t>
                    </m:r>
                    <m:r>
                      <a:rPr lang="en-GB"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𝑞</m:t>
                    </m:r>
                    <m:r>
                      <a:rPr lang="en-GB" sz="2000" b="0" i="1" smtClean="0">
                        <a:latin typeface="Cambria Math" panose="02040503050406030204" pitchFamily="18" charset="0"/>
                        <a:ea typeface="Cambria Math" panose="02040503050406030204" pitchFamily="18" charset="0"/>
                      </a:rPr>
                      <m:t>)</m:t>
                    </m:r>
                    <m:r>
                      <a:rPr lang="en-GB" sz="2000" i="1">
                        <a:latin typeface="Cambria Math" panose="02040503050406030204" pitchFamily="18" charset="0"/>
                        <a:ea typeface="Cambria Math" panose="02040503050406030204" pitchFamily="18" charset="0"/>
                      </a:rPr>
                      <m:t>          (∵</m:t>
                    </m:r>
                    <m:r>
                      <m:rPr>
                        <m:sty m:val="p"/>
                      </m:rPr>
                      <a:rPr lang="en-GB" sz="2000" i="0">
                        <a:latin typeface="Cambria Math" panose="02040503050406030204" pitchFamily="18" charset="0"/>
                        <a:ea typeface="Cambria Math" panose="02040503050406030204" pitchFamily="18" charset="0"/>
                      </a:rPr>
                      <m:t>D</m:t>
                    </m:r>
                    <m:r>
                      <m:rPr>
                        <m:sty m:val="p"/>
                      </m:rPr>
                      <a:rPr lang="en-GB" sz="2000" b="0" i="0" smtClean="0">
                        <a:latin typeface="Cambria Math" panose="02040503050406030204" pitchFamily="18" charset="0"/>
                        <a:ea typeface="Cambria Math" panose="02040503050406030204" pitchFamily="18" charset="0"/>
                      </a:rPr>
                      <m:t>istributive</m:t>
                    </m:r>
                    <m:r>
                      <a:rPr lang="en-GB" sz="2000" b="0" i="0" smtClean="0">
                        <a:latin typeface="Cambria Math" panose="02040503050406030204" pitchFamily="18" charset="0"/>
                        <a:ea typeface="Cambria Math" panose="02040503050406030204" pitchFamily="18" charset="0"/>
                      </a:rPr>
                      <m:t> </m:t>
                    </m:r>
                    <m:r>
                      <m:rPr>
                        <m:sty m:val="p"/>
                      </m:rPr>
                      <a:rPr lang="en-GB" sz="2000" b="0" i="0" smtClean="0">
                        <a:latin typeface="Cambria Math" panose="02040503050406030204" pitchFamily="18" charset="0"/>
                        <a:ea typeface="Cambria Math" panose="02040503050406030204" pitchFamily="18" charset="0"/>
                      </a:rPr>
                      <m:t>law</m:t>
                    </m:r>
                    <m:r>
                      <a:rPr lang="en-GB" sz="2000" i="1">
                        <a:latin typeface="Cambria Math" panose="02040503050406030204" pitchFamily="18" charset="0"/>
                        <a:ea typeface="Cambria Math" panose="02040503050406030204" pitchFamily="18" charset="0"/>
                      </a:rPr>
                      <m:t>)</m:t>
                    </m:r>
                  </m:oMath>
                </a14:m>
                <a:r>
                  <a:rPr lang="en-GB" dirty="0"/>
                  <a:t>  </a:t>
                </a:r>
              </a:p>
            </p:txBody>
          </p:sp>
        </mc:Choice>
        <mc:Fallback xmlns="">
          <p:sp>
            <p:nvSpPr>
              <p:cNvPr id="11" name="Rectangle 10"/>
              <p:cNvSpPr>
                <a:spLocks noRot="1" noChangeAspect="1" noMove="1" noResize="1" noEditPoints="1" noAdjustHandles="1" noChangeArrowheads="1" noChangeShapeType="1" noTextEdit="1"/>
              </p:cNvSpPr>
              <p:nvPr/>
            </p:nvSpPr>
            <p:spPr>
              <a:xfrm>
                <a:off x="2895600" y="4922297"/>
                <a:ext cx="5791200" cy="392993"/>
              </a:xfrm>
              <a:prstGeom prst="rect">
                <a:avLst/>
              </a:prstGeom>
              <a:blipFill rotWithShape="0">
                <a:blip r:embed="rId7"/>
                <a:stretch>
                  <a:fillRect b="-18462"/>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2" name="Rectangle 11"/>
              <p:cNvSpPr/>
              <p:nvPr/>
            </p:nvSpPr>
            <p:spPr>
              <a:xfrm>
                <a:off x="1066800" y="5303617"/>
                <a:ext cx="7772400" cy="400110"/>
              </a:xfrm>
              <a:prstGeom prst="rect">
                <a:avLst/>
              </a:prstGeom>
            </p:spPr>
            <p:txBody>
              <a:bodyPr wrap="square">
                <a:spAutoFit/>
              </a:bodyPr>
              <a:lstStyle/>
              <a:p>
                <a14:m>
                  <m:oMath xmlns:m="http://schemas.openxmlformats.org/officeDocument/2006/math">
                    <m:r>
                      <a:rPr lang="en-GB" sz="2000" b="0" i="1" smtClean="0">
                        <a:latin typeface="Cambria Math" panose="02040503050406030204" pitchFamily="18" charset="0"/>
                        <a:ea typeface="Cambria Math" panose="02040503050406030204" pitchFamily="18" charset="0"/>
                      </a:rPr>
                      <m:t>                                 </m:t>
                    </m:r>
                    <m:r>
                      <a:rPr lang="en-GB" sz="2000" i="1" smtClean="0">
                        <a:latin typeface="Cambria Math" panose="02040503050406030204" pitchFamily="18" charset="0"/>
                        <a:ea typeface="Cambria Math" panose="02040503050406030204" pitchFamily="18" charset="0"/>
                      </a:rPr>
                      <m:t>≡</m:t>
                    </m:r>
                    <m:r>
                      <a:rPr lang="en-GB" sz="2000" b="0" i="1" smtClean="0">
                        <a:latin typeface="Cambria Math" panose="02040503050406030204" pitchFamily="18" charset="0"/>
                        <a:ea typeface="Cambria Math" panose="02040503050406030204" pitchFamily="18" charset="0"/>
                      </a:rPr>
                      <m:t>  </m:t>
                    </m:r>
                    <m:r>
                      <a:rPr lang="en-GB" sz="2000" b="0" i="1" smtClean="0">
                        <a:latin typeface="Cambria Math" panose="02040503050406030204" pitchFamily="18" charset="0"/>
                        <a:ea typeface="Cambria Math" panose="02040503050406030204" pitchFamily="18" charset="0"/>
                      </a:rPr>
                      <m:t>𝐹</m:t>
                    </m:r>
                    <m:r>
                      <a:rPr lang="en-GB" sz="2000" b="0" i="1" smtClean="0">
                        <a:latin typeface="Cambria Math" panose="02040503050406030204" pitchFamily="18" charset="0"/>
                        <a:ea typeface="Cambria Math" panose="02040503050406030204" pitchFamily="18" charset="0"/>
                      </a:rPr>
                      <m:t> ∨(¬</m:t>
                    </m:r>
                    <m:r>
                      <a:rPr lang="en-GB" sz="2000" i="1">
                        <a:latin typeface="Cambria Math" panose="02040503050406030204" pitchFamily="18" charset="0"/>
                        <a:ea typeface="Cambria Math" panose="02040503050406030204" pitchFamily="18" charset="0"/>
                      </a:rPr>
                      <m:t>𝑝</m:t>
                    </m:r>
                    <m:r>
                      <a:rPr lang="en-US" sz="2000" i="1">
                        <a:latin typeface="Cambria Math" panose="02040503050406030204" pitchFamily="18" charset="0"/>
                        <a:ea typeface="Cambria Math" panose="02040503050406030204" pitchFamily="18" charset="0"/>
                      </a:rPr>
                      <m:t>∧</m:t>
                    </m:r>
                    <m:r>
                      <a:rPr lang="en-GB"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𝑞</m:t>
                    </m:r>
                    <m:r>
                      <a:rPr lang="en-GB" sz="2000" i="1">
                        <a:latin typeface="Cambria Math" panose="02040503050406030204" pitchFamily="18" charset="0"/>
                        <a:ea typeface="Cambria Math" panose="02040503050406030204" pitchFamily="18" charset="0"/>
                      </a:rPr>
                      <m:t>)      </m:t>
                    </m:r>
                    <m:r>
                      <a:rPr lang="en-GB" sz="2000" b="0" i="1" smtClean="0">
                        <a:latin typeface="Cambria Math" panose="02040503050406030204" pitchFamily="18" charset="0"/>
                        <a:ea typeface="Cambria Math" panose="02040503050406030204" pitchFamily="18" charset="0"/>
                      </a:rPr>
                      <m:t>            </m:t>
                    </m:r>
                    <m:r>
                      <a:rPr lang="en-GB" sz="2000" i="1">
                        <a:latin typeface="Cambria Math" panose="02040503050406030204" pitchFamily="18" charset="0"/>
                        <a:ea typeface="Cambria Math" panose="02040503050406030204" pitchFamily="18" charset="0"/>
                      </a:rPr>
                      <m:t>  (∵</m:t>
                    </m:r>
                    <m:r>
                      <m:rPr>
                        <m:sty m:val="p"/>
                      </m:rPr>
                      <a:rPr lang="en-GB" sz="2000" i="1">
                        <a:latin typeface="Cambria Math" panose="02040503050406030204" pitchFamily="18" charset="0"/>
                        <a:ea typeface="Cambria Math" panose="02040503050406030204" pitchFamily="18" charset="0"/>
                      </a:rPr>
                      <m:t>Negation</m:t>
                    </m:r>
                    <m:r>
                      <a:rPr lang="en-GB" sz="2000" i="1">
                        <a:latin typeface="Cambria Math" panose="02040503050406030204" pitchFamily="18" charset="0"/>
                        <a:ea typeface="Cambria Math" panose="02040503050406030204" pitchFamily="18" charset="0"/>
                      </a:rPr>
                      <m:t> </m:t>
                    </m:r>
                    <m:r>
                      <m:rPr>
                        <m:sty m:val="p"/>
                      </m:rPr>
                      <a:rPr lang="en-GB" sz="2000" i="1">
                        <a:latin typeface="Cambria Math" panose="02040503050406030204" pitchFamily="18" charset="0"/>
                        <a:ea typeface="Cambria Math" panose="02040503050406030204" pitchFamily="18" charset="0"/>
                      </a:rPr>
                      <m:t>law</m:t>
                    </m:r>
                    <m:r>
                      <a:rPr lang="en-GB" sz="2000" i="1">
                        <a:latin typeface="Cambria Math" panose="02040503050406030204" pitchFamily="18" charset="0"/>
                        <a:ea typeface="Cambria Math" panose="02040503050406030204" pitchFamily="18" charset="0"/>
                      </a:rPr>
                      <m:t>)</m:t>
                    </m:r>
                  </m:oMath>
                </a14:m>
                <a:r>
                  <a:rPr lang="en-GB" sz="2000" dirty="0"/>
                  <a:t>  </a:t>
                </a:r>
              </a:p>
            </p:txBody>
          </p:sp>
        </mc:Choice>
        <mc:Fallback xmlns="">
          <p:sp>
            <p:nvSpPr>
              <p:cNvPr id="12" name="Rectangle 11"/>
              <p:cNvSpPr>
                <a:spLocks noRot="1" noChangeAspect="1" noMove="1" noResize="1" noEditPoints="1" noAdjustHandles="1" noChangeArrowheads="1" noChangeShapeType="1" noTextEdit="1"/>
              </p:cNvSpPr>
              <p:nvPr/>
            </p:nvSpPr>
            <p:spPr>
              <a:xfrm>
                <a:off x="1066800" y="5303617"/>
                <a:ext cx="7772400" cy="400110"/>
              </a:xfrm>
              <a:prstGeom prst="rect">
                <a:avLst/>
              </a:prstGeom>
              <a:blipFill rotWithShape="0">
                <a:blip r:embed="rId8"/>
                <a:stretch>
                  <a:fillRect b="-18182"/>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3" name="Rectangle 12"/>
              <p:cNvSpPr/>
              <p:nvPr/>
            </p:nvSpPr>
            <p:spPr>
              <a:xfrm>
                <a:off x="2845915" y="5726668"/>
                <a:ext cx="5059077" cy="40011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GB" sz="2000" i="1" smtClean="0">
                          <a:latin typeface="Cambria Math" panose="02040503050406030204" pitchFamily="18" charset="0"/>
                          <a:ea typeface="Cambria Math" panose="02040503050406030204" pitchFamily="18" charset="0"/>
                        </a:rPr>
                        <m:t>≡</m:t>
                      </m:r>
                      <m:r>
                        <a:rPr lang="en-GB" sz="2000" i="1">
                          <a:latin typeface="Cambria Math" panose="02040503050406030204" pitchFamily="18" charset="0"/>
                          <a:ea typeface="Cambria Math" panose="02040503050406030204" pitchFamily="18" charset="0"/>
                        </a:rPr>
                        <m:t>¬</m:t>
                      </m:r>
                      <m:r>
                        <a:rPr lang="en-GB" sz="2000" i="1">
                          <a:latin typeface="Cambria Math" panose="02040503050406030204" pitchFamily="18" charset="0"/>
                          <a:ea typeface="Cambria Math" panose="02040503050406030204" pitchFamily="18" charset="0"/>
                        </a:rPr>
                        <m:t>𝑝</m:t>
                      </m:r>
                      <m:r>
                        <a:rPr lang="en-US" sz="2000" i="1">
                          <a:latin typeface="Cambria Math" panose="02040503050406030204" pitchFamily="18" charset="0"/>
                          <a:ea typeface="Cambria Math" panose="02040503050406030204" pitchFamily="18" charset="0"/>
                        </a:rPr>
                        <m:t>∧</m:t>
                      </m:r>
                      <m:r>
                        <a:rPr lang="en-GB"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𝑞</m:t>
                      </m:r>
                      <m:r>
                        <a:rPr lang="en-GB" sz="2000" b="0" i="1" smtClean="0">
                          <a:latin typeface="Cambria Math" panose="02040503050406030204" pitchFamily="18" charset="0"/>
                          <a:ea typeface="Cambria Math" panose="02040503050406030204" pitchFamily="18" charset="0"/>
                        </a:rPr>
                        <m:t> </m:t>
                      </m:r>
                      <m:r>
                        <a:rPr lang="en-GB" sz="2000" i="1">
                          <a:latin typeface="Cambria Math" panose="02040503050406030204" pitchFamily="18" charset="0"/>
                          <a:ea typeface="Cambria Math" panose="02040503050406030204" pitchFamily="18" charset="0"/>
                        </a:rPr>
                        <m:t>               </m:t>
                      </m:r>
                      <m:r>
                        <a:rPr lang="en-GB" sz="2000" b="0" i="1" smtClean="0">
                          <a:latin typeface="Cambria Math" panose="02040503050406030204" pitchFamily="18" charset="0"/>
                          <a:ea typeface="Cambria Math" panose="02040503050406030204" pitchFamily="18" charset="0"/>
                        </a:rPr>
                        <m:t>             </m:t>
                      </m:r>
                      <m:r>
                        <a:rPr lang="en-GB" sz="2000" i="1">
                          <a:latin typeface="Cambria Math" panose="02040503050406030204" pitchFamily="18" charset="0"/>
                          <a:ea typeface="Cambria Math" panose="02040503050406030204" pitchFamily="18" charset="0"/>
                        </a:rPr>
                        <m:t>     (∵</m:t>
                      </m:r>
                      <m:r>
                        <m:rPr>
                          <m:nor/>
                        </m:rPr>
                        <a:rPr lang="en-US" sz="2000" dirty="0">
                          <a:solidFill>
                            <a:schemeClr val="dk1"/>
                          </a:solidFill>
                        </a:rPr>
                        <m:t>Identity</m:t>
                      </m:r>
                      <m:r>
                        <m:rPr>
                          <m:nor/>
                        </m:rPr>
                        <a:rPr lang="en-US" sz="2000" dirty="0">
                          <a:solidFill>
                            <a:schemeClr val="dk1"/>
                          </a:solidFill>
                        </a:rPr>
                        <m:t> </m:t>
                      </m:r>
                      <m:r>
                        <m:rPr>
                          <m:nor/>
                        </m:rPr>
                        <a:rPr lang="en-US" sz="2000" dirty="0">
                          <a:solidFill>
                            <a:schemeClr val="dk1"/>
                          </a:solidFill>
                        </a:rPr>
                        <m:t>law</m:t>
                      </m:r>
                      <m:r>
                        <m:rPr>
                          <m:nor/>
                        </m:rPr>
                        <a:rPr lang="en-GB" sz="2000" b="0" i="0" dirty="0" smtClean="0">
                          <a:solidFill>
                            <a:schemeClr val="dk1"/>
                          </a:solidFill>
                        </a:rPr>
                        <m:t>)</m:t>
                      </m:r>
                    </m:oMath>
                  </m:oMathPara>
                </a14:m>
                <a:endParaRPr lang="en-US" sz="2000" dirty="0"/>
              </a:p>
            </p:txBody>
          </p:sp>
        </mc:Choice>
        <mc:Fallback xmlns="">
          <p:sp>
            <p:nvSpPr>
              <p:cNvPr id="13" name="Rectangle 12"/>
              <p:cNvSpPr>
                <a:spLocks noRot="1" noChangeAspect="1" noMove="1" noResize="1" noEditPoints="1" noAdjustHandles="1" noChangeArrowheads="1" noChangeShapeType="1" noTextEdit="1"/>
              </p:cNvSpPr>
              <p:nvPr/>
            </p:nvSpPr>
            <p:spPr>
              <a:xfrm>
                <a:off x="2845915" y="5726668"/>
                <a:ext cx="5059077" cy="400110"/>
              </a:xfrm>
              <a:prstGeom prst="rect">
                <a:avLst/>
              </a:prstGeom>
              <a:blipFill rotWithShape="0">
                <a:blip r:embed="rId9"/>
                <a:stretch>
                  <a:fillRect b="-18182"/>
                </a:stretch>
              </a:blipFill>
            </p:spPr>
            <p:txBody>
              <a:bodyPr/>
              <a:lstStyle/>
              <a:p>
                <a:r>
                  <a:rPr lang="en-GB">
                    <a:noFill/>
                  </a:rPr>
                  <a:t> </a:t>
                </a:r>
              </a:p>
            </p:txBody>
          </p:sp>
        </mc:Fallback>
      </mc:AlternateContent>
    </p:spTree>
    <p:extLst>
      <p:ext uri="{BB962C8B-B14F-4D97-AF65-F5344CB8AC3E}">
        <p14:creationId xmlns:p14="http://schemas.microsoft.com/office/powerpoint/2010/main" val="10546688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3" grpId="0"/>
      <p:bldP spid="8" grpId="0"/>
      <p:bldP spid="9" grpId="0"/>
      <p:bldP spid="10" grpId="0"/>
      <p:bldP spid="11" grpId="0"/>
      <p:bldP spid="12" grpId="0"/>
      <p:bldP spid="13"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Do we need all logical operators?</a:t>
            </a:r>
            <a:endParaRPr lang="en-GB" dirty="0"/>
          </a:p>
        </p:txBody>
      </p:sp>
      <p:sp>
        <p:nvSpPr>
          <p:cNvPr id="4" name="Date Placeholder 3"/>
          <p:cNvSpPr>
            <a:spLocks noGrp="1"/>
          </p:cNvSpPr>
          <p:nvPr>
            <p:ph type="dt" sz="half" idx="10"/>
          </p:nvPr>
        </p:nvSpPr>
        <p:spPr/>
        <p:txBody>
          <a:bodyPr/>
          <a:lstStyle/>
          <a:p>
            <a:fld id="{7101C871-4DE3-4B81-9BE9-ABE5A21E6681}" type="datetime3">
              <a:rPr lang="en-US" smtClean="0"/>
              <a:t>27 April 2026</a:t>
            </a:fld>
            <a:endParaRPr lang="en-US"/>
          </a:p>
        </p:txBody>
      </p:sp>
      <p:sp>
        <p:nvSpPr>
          <p:cNvPr id="5" name="Footer Placeholder 4"/>
          <p:cNvSpPr>
            <a:spLocks noGrp="1"/>
          </p:cNvSpPr>
          <p:nvPr>
            <p:ph type="ftr" sz="quarter" idx="11"/>
          </p:nvPr>
        </p:nvSpPr>
        <p:spPr/>
        <p:txBody>
          <a:bodyPr/>
          <a:lstStyle/>
          <a:p>
            <a:r>
              <a:rPr lang="en-US"/>
              <a:t>SCS 1302   Discrete Mathematics 1       Prof. D D Karunaratna</a:t>
            </a:r>
          </a:p>
        </p:txBody>
      </p:sp>
      <p:sp>
        <p:nvSpPr>
          <p:cNvPr id="6" name="Slide Number Placeholder 5"/>
          <p:cNvSpPr>
            <a:spLocks noGrp="1"/>
          </p:cNvSpPr>
          <p:nvPr>
            <p:ph type="sldNum" sz="quarter" idx="12"/>
          </p:nvPr>
        </p:nvSpPr>
        <p:spPr/>
        <p:txBody>
          <a:bodyPr/>
          <a:lstStyle/>
          <a:p>
            <a:fld id="{0CA841A6-7C02-4C92-B6EE-5DBCC2AD53D0}" type="slidenum">
              <a:rPr lang="en-US" smtClean="0"/>
              <a:t>52</a:t>
            </a:fld>
            <a:endParaRPr lang="en-US"/>
          </a:p>
        </p:txBody>
      </p:sp>
      <mc:AlternateContent xmlns:mc="http://schemas.openxmlformats.org/markup-compatibility/2006" xmlns:a14="http://schemas.microsoft.com/office/drawing/2010/main">
        <mc:Choice Requires="a14">
          <p:sp>
            <p:nvSpPr>
              <p:cNvPr id="7" name="Rectangle 3"/>
              <p:cNvSpPr txBox="1">
                <a:spLocks noChangeArrowheads="1"/>
              </p:cNvSpPr>
              <p:nvPr/>
            </p:nvSpPr>
            <p:spPr>
              <a:xfrm>
                <a:off x="609600" y="1752600"/>
                <a:ext cx="7848600" cy="449580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lnSpc>
                    <a:spcPct val="150000"/>
                  </a:lnSpc>
                  <a:buFontTx/>
                  <a:buNone/>
                </a:pPr>
                <a:r>
                  <a:rPr lang="en-US" altLang="en-US" sz="2800" dirty="0">
                    <a:sym typeface="Symbol" panose="05050102010706020507" pitchFamily="18" charset="2"/>
                  </a:rPr>
                  <a:t> 	      </a:t>
                </a:r>
                <a:r>
                  <a:rPr lang="en-US" altLang="en-US" sz="2400" dirty="0">
                    <a:sym typeface="Symbol" panose="05050102010706020507" pitchFamily="18" charset="2"/>
                  </a:rPr>
                  <a:t>- Disjunction</a:t>
                </a:r>
              </a:p>
              <a:p>
                <a:pPr>
                  <a:lnSpc>
                    <a:spcPct val="150000"/>
                  </a:lnSpc>
                  <a:buNone/>
                </a:pPr>
                <a:r>
                  <a:rPr lang="en-US" altLang="en-US" sz="2400" dirty="0">
                    <a:sym typeface="Symbol" panose="05050102010706020507" pitchFamily="18" charset="2"/>
                  </a:rPr>
                  <a:t>	      - Conjunction  </a:t>
                </a:r>
                <a14:m>
                  <m:oMath xmlns:m="http://schemas.openxmlformats.org/officeDocument/2006/math">
                    <m:r>
                      <a:rPr lang="en-US" sz="2400" i="1">
                        <a:latin typeface="Cambria Math" panose="02040503050406030204" pitchFamily="18" charset="0"/>
                        <a:ea typeface="Cambria Math" panose="02040503050406030204" pitchFamily="18" charset="0"/>
                      </a:rPr>
                      <m:t>𝑝</m:t>
                    </m:r>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𝑞</m:t>
                    </m:r>
                    <m:r>
                      <a:rPr lang="en-US" sz="2400" i="1">
                        <a:latin typeface="Cambria Math" panose="02040503050406030204" pitchFamily="18" charset="0"/>
                        <a:ea typeface="Cambria Math" panose="02040503050406030204" pitchFamily="18" charset="0"/>
                      </a:rPr>
                      <m:t>≡ ¬</m:t>
                    </m:r>
                    <m:d>
                      <m:dPr>
                        <m:ctrlPr>
                          <a:rPr lang="en-GB" sz="2400" i="1">
                            <a:latin typeface="Cambria Math" panose="02040503050406030204" pitchFamily="18" charset="0"/>
                            <a:ea typeface="Cambria Math" panose="02040503050406030204" pitchFamily="18" charset="0"/>
                          </a:rPr>
                        </m:ctrlPr>
                      </m:dPr>
                      <m:e>
                        <m:r>
                          <a:rPr lang="en-GB" sz="2400" i="1">
                            <a:latin typeface="Cambria Math" panose="02040503050406030204" pitchFamily="18" charset="0"/>
                            <a:ea typeface="Cambria Math" panose="02040503050406030204" pitchFamily="18" charset="0"/>
                          </a:rPr>
                          <m:t>¬</m:t>
                        </m:r>
                        <m:r>
                          <a:rPr lang="en-GB" sz="2400" i="1">
                            <a:latin typeface="Cambria Math" panose="02040503050406030204" pitchFamily="18" charset="0"/>
                            <a:ea typeface="Cambria Math" panose="02040503050406030204" pitchFamily="18" charset="0"/>
                          </a:rPr>
                          <m:t>𝑝</m:t>
                        </m:r>
                        <m:r>
                          <m:rPr>
                            <m:nor/>
                          </m:rPr>
                          <a:rPr lang="en-GB" sz="2400">
                            <a:latin typeface="Cambria Math" panose="02040503050406030204" pitchFamily="18" charset="0"/>
                            <a:ea typeface="Cambria Math" panose="02040503050406030204" pitchFamily="18" charset="0"/>
                          </a:rPr>
                          <m:t> </m:t>
                        </m:r>
                        <m:r>
                          <m:rPr>
                            <m:nor/>
                          </m:rPr>
                          <a:rPr lang="en-US" altLang="en-US" sz="2400" dirty="0">
                            <a:sym typeface="Symbol" panose="05050102010706020507" pitchFamily="18" charset="2"/>
                          </a:rPr>
                          <m:t></m:t>
                        </m:r>
                        <m:r>
                          <m:rPr>
                            <m:nor/>
                          </m:rPr>
                          <a:rPr lang="en-GB" altLang="en-US" sz="2400" dirty="0">
                            <a:sym typeface="Symbol" panose="05050102010706020507" pitchFamily="18" charset="2"/>
                          </a:rPr>
                          <m:t> </m:t>
                        </m:r>
                        <m:r>
                          <a:rPr lang="en-GB" altLang="en-US" sz="2400" i="1" dirty="0">
                            <a:latin typeface="Cambria Math" panose="02040503050406030204" pitchFamily="18" charset="0"/>
                            <a:ea typeface="Cambria Math" panose="02040503050406030204" pitchFamily="18" charset="0"/>
                            <a:sym typeface="Symbol" panose="05050102010706020507" pitchFamily="18" charset="2"/>
                          </a:rPr>
                          <m:t>¬</m:t>
                        </m:r>
                        <m:r>
                          <a:rPr lang="en-GB" altLang="en-US" sz="2400" i="1" dirty="0">
                            <a:latin typeface="Cambria Math" panose="02040503050406030204" pitchFamily="18" charset="0"/>
                            <a:ea typeface="Cambria Math" panose="02040503050406030204" pitchFamily="18" charset="0"/>
                            <a:sym typeface="Symbol" panose="05050102010706020507" pitchFamily="18" charset="2"/>
                          </a:rPr>
                          <m:t>𝑞</m:t>
                        </m:r>
                      </m:e>
                    </m:d>
                    <m:r>
                      <a:rPr lang="en-GB" sz="2400" i="1">
                        <a:latin typeface="Cambria Math" panose="02040503050406030204" pitchFamily="18" charset="0"/>
                        <a:ea typeface="Cambria Math" panose="02040503050406030204" pitchFamily="18" charset="0"/>
                      </a:rPr>
                      <m:t>.</m:t>
                    </m:r>
                  </m:oMath>
                </a14:m>
                <a:endParaRPr lang="en-US" altLang="en-US" sz="2400" dirty="0">
                  <a:sym typeface="Symbol" panose="05050102010706020507" pitchFamily="18" charset="2"/>
                </a:endParaRPr>
              </a:p>
              <a:p>
                <a:pPr>
                  <a:lnSpc>
                    <a:spcPct val="150000"/>
                  </a:lnSpc>
                  <a:buFontTx/>
                  <a:buNone/>
                </a:pPr>
                <a:r>
                  <a:rPr lang="en-US" altLang="en-US" sz="2400" dirty="0">
                    <a:sym typeface="Symbol" panose="05050102010706020507" pitchFamily="18" charset="2"/>
                  </a:rPr>
                  <a:t> 	       - Negation</a:t>
                </a:r>
              </a:p>
              <a:p>
                <a:pPr>
                  <a:lnSpc>
                    <a:spcPct val="150000"/>
                  </a:lnSpc>
                  <a:buFont typeface="Symbol" panose="05050102010706020507" pitchFamily="18" charset="2"/>
                  <a:buNone/>
                </a:pPr>
                <a:r>
                  <a:rPr lang="en-US" altLang="en-US" sz="2400" dirty="0">
                    <a:sym typeface="Symbol" panose="05050102010706020507" pitchFamily="18" charset="2"/>
                  </a:rPr>
                  <a:t> 	- Implication   </a:t>
                </a:r>
                <a14:m>
                  <m:oMath xmlns:m="http://schemas.openxmlformats.org/officeDocument/2006/math">
                    <m:r>
                      <a:rPr lang="en-US" altLang="en-US" sz="2400" b="0" i="1" smtClean="0">
                        <a:latin typeface="Cambria Math" panose="02040503050406030204" pitchFamily="18" charset="0"/>
                        <a:sym typeface="Symbol" panose="05050102010706020507" pitchFamily="18" charset="2"/>
                      </a:rPr>
                      <m:t>𝑝</m:t>
                    </m:r>
                    <m:r>
                      <a:rPr lang="en-US" altLang="en-US" sz="2400" b="0" i="1" smtClean="0">
                        <a:latin typeface="Cambria Math" panose="02040503050406030204" pitchFamily="18" charset="0"/>
                        <a:ea typeface="Cambria Math" panose="02040503050406030204" pitchFamily="18" charset="0"/>
                        <a:sym typeface="Symbol" panose="05050102010706020507" pitchFamily="18" charset="2"/>
                      </a:rPr>
                      <m:t>→</m:t>
                    </m:r>
                    <m:r>
                      <a:rPr lang="en-US" altLang="en-US" sz="2400" b="0" i="1" smtClean="0">
                        <a:latin typeface="Cambria Math" panose="02040503050406030204" pitchFamily="18" charset="0"/>
                        <a:ea typeface="Cambria Math" panose="02040503050406030204" pitchFamily="18" charset="0"/>
                        <a:sym typeface="Symbol" panose="05050102010706020507" pitchFamily="18" charset="2"/>
                      </a:rPr>
                      <m:t>𝑞</m:t>
                    </m:r>
                    <m:r>
                      <a:rPr lang="en-US" altLang="en-US" sz="2400" b="0" i="1" smtClean="0">
                        <a:latin typeface="Cambria Math" panose="02040503050406030204" pitchFamily="18" charset="0"/>
                        <a:ea typeface="Cambria Math" panose="02040503050406030204" pitchFamily="18" charset="0"/>
                        <a:sym typeface="Symbol" panose="05050102010706020507" pitchFamily="18" charset="2"/>
                      </a:rPr>
                      <m:t> ≡¬</m:t>
                    </m:r>
                    <m:r>
                      <a:rPr lang="en-US" altLang="en-US" sz="2400" b="0" i="1" smtClean="0">
                        <a:latin typeface="Cambria Math" panose="02040503050406030204" pitchFamily="18" charset="0"/>
                        <a:ea typeface="Cambria Math" panose="02040503050406030204" pitchFamily="18" charset="0"/>
                        <a:sym typeface="Symbol" panose="05050102010706020507" pitchFamily="18" charset="2"/>
                      </a:rPr>
                      <m:t>𝑝</m:t>
                    </m:r>
                    <m:r>
                      <a:rPr lang="en-US" altLang="en-US" sz="2400" b="0" i="1" smtClean="0">
                        <a:latin typeface="Cambria Math" panose="02040503050406030204" pitchFamily="18" charset="0"/>
                        <a:ea typeface="Cambria Math" panose="02040503050406030204" pitchFamily="18" charset="0"/>
                        <a:sym typeface="Symbol" panose="05050102010706020507" pitchFamily="18" charset="2"/>
                      </a:rPr>
                      <m:t>∨</m:t>
                    </m:r>
                    <m:r>
                      <a:rPr lang="en-US" altLang="en-US" sz="2400" b="0" i="1" smtClean="0">
                        <a:latin typeface="Cambria Math" panose="02040503050406030204" pitchFamily="18" charset="0"/>
                        <a:ea typeface="Cambria Math" panose="02040503050406030204" pitchFamily="18" charset="0"/>
                        <a:sym typeface="Symbol" panose="05050102010706020507" pitchFamily="18" charset="2"/>
                      </a:rPr>
                      <m:t>𝑞</m:t>
                    </m:r>
                  </m:oMath>
                </a14:m>
                <a:endParaRPr lang="en-US" altLang="en-US" sz="2400" dirty="0">
                  <a:sym typeface="Symbol" panose="05050102010706020507" pitchFamily="18" charset="2"/>
                </a:endParaRPr>
              </a:p>
              <a:p>
                <a:pPr>
                  <a:lnSpc>
                    <a:spcPct val="150000"/>
                  </a:lnSpc>
                  <a:buFontTx/>
                  <a:buNone/>
                </a:pPr>
                <a:r>
                  <a:rPr lang="en-US" altLang="en-US" sz="2400" dirty="0">
                    <a:sym typeface="Symbol" panose="05050102010706020507" pitchFamily="18" charset="2"/>
                  </a:rPr>
                  <a:t>   	- Exclusive or   </a:t>
                </a:r>
                <a14:m>
                  <m:oMath xmlns:m="http://schemas.openxmlformats.org/officeDocument/2006/math">
                    <m:r>
                      <a:rPr lang="en-US" altLang="en-US" sz="2400" b="0" i="1" smtClean="0">
                        <a:latin typeface="Cambria Math" panose="02040503050406030204" pitchFamily="18" charset="0"/>
                        <a:sym typeface="Symbol" panose="05050102010706020507" pitchFamily="18" charset="2"/>
                      </a:rPr>
                      <m:t>𝑝</m:t>
                    </m:r>
                    <m:r>
                      <a:rPr lang="en-US" altLang="en-US" sz="2400" b="0" i="1" smtClean="0">
                        <a:latin typeface="Cambria Math" panose="02040503050406030204" pitchFamily="18" charset="0"/>
                        <a:ea typeface="Cambria Math" panose="02040503050406030204" pitchFamily="18" charset="0"/>
                        <a:sym typeface="Symbol" panose="05050102010706020507" pitchFamily="18" charset="2"/>
                      </a:rPr>
                      <m:t>⊕</m:t>
                    </m:r>
                    <m:r>
                      <a:rPr lang="en-US" altLang="en-US" sz="2400" b="0" i="1" smtClean="0">
                        <a:latin typeface="Cambria Math" panose="02040503050406030204" pitchFamily="18" charset="0"/>
                        <a:ea typeface="Cambria Math" panose="02040503050406030204" pitchFamily="18" charset="0"/>
                        <a:sym typeface="Symbol" panose="05050102010706020507" pitchFamily="18" charset="2"/>
                      </a:rPr>
                      <m:t>𝑞</m:t>
                    </m:r>
                    <m:r>
                      <a:rPr lang="en-US" altLang="en-US" sz="2400" dirty="0">
                        <a:latin typeface="Cambria Math" panose="02040503050406030204" pitchFamily="18" charset="0"/>
                        <a:sym typeface="Symbol" panose="05050102010706020507" pitchFamily="18" charset="2"/>
                      </a:rPr>
                      <m:t>≡</m:t>
                    </m:r>
                    <m:d>
                      <m:dPr>
                        <m:ctrlPr>
                          <a:rPr lang="en-US" altLang="en-US" sz="2400" i="1" dirty="0" smtClean="0">
                            <a:latin typeface="Cambria Math" panose="02040503050406030204" pitchFamily="18" charset="0"/>
                            <a:sym typeface="Symbol" panose="05050102010706020507" pitchFamily="18" charset="2"/>
                          </a:rPr>
                        </m:ctrlPr>
                      </m:dPr>
                      <m:e>
                        <m:r>
                          <a:rPr lang="en-US" altLang="en-US" sz="2400" b="0" i="1" dirty="0" smtClean="0">
                            <a:latin typeface="Cambria Math" panose="02040503050406030204" pitchFamily="18" charset="0"/>
                            <a:sym typeface="Symbol" panose="05050102010706020507" pitchFamily="18" charset="2"/>
                          </a:rPr>
                          <m:t>𝑝</m:t>
                        </m:r>
                        <m:r>
                          <a:rPr lang="en-US" altLang="en-US" sz="2400" b="0" i="1" dirty="0" smtClean="0">
                            <a:latin typeface="Cambria Math" panose="02040503050406030204" pitchFamily="18" charset="0"/>
                            <a:ea typeface="Cambria Math" panose="02040503050406030204" pitchFamily="18" charset="0"/>
                            <a:sym typeface="Symbol" panose="05050102010706020507" pitchFamily="18" charset="2"/>
                          </a:rPr>
                          <m:t>∧</m:t>
                        </m:r>
                        <m:r>
                          <a:rPr lang="en-US" altLang="en-US" sz="2400" i="1">
                            <a:latin typeface="Cambria Math" panose="02040503050406030204" pitchFamily="18" charset="0"/>
                            <a:ea typeface="Cambria Math" panose="02040503050406030204" pitchFamily="18" charset="0"/>
                            <a:sym typeface="Symbol" panose="05050102010706020507" pitchFamily="18" charset="2"/>
                          </a:rPr>
                          <m:t>¬</m:t>
                        </m:r>
                        <m:r>
                          <a:rPr lang="en-US" altLang="en-US" sz="2400" b="0" i="1" smtClean="0">
                            <a:latin typeface="Cambria Math" panose="02040503050406030204" pitchFamily="18" charset="0"/>
                            <a:ea typeface="Cambria Math" panose="02040503050406030204" pitchFamily="18" charset="0"/>
                            <a:sym typeface="Symbol" panose="05050102010706020507" pitchFamily="18" charset="2"/>
                          </a:rPr>
                          <m:t>𝑞</m:t>
                        </m:r>
                      </m:e>
                    </m:d>
                    <m:r>
                      <a:rPr lang="en-US" altLang="en-US" sz="2400" i="1" dirty="0" smtClean="0">
                        <a:latin typeface="Cambria Math" panose="02040503050406030204" pitchFamily="18" charset="0"/>
                        <a:ea typeface="Cambria Math" panose="02040503050406030204" pitchFamily="18" charset="0"/>
                        <a:sym typeface="Symbol" panose="05050102010706020507" pitchFamily="18" charset="2"/>
                      </a:rPr>
                      <m:t>∨</m:t>
                    </m:r>
                    <m:d>
                      <m:dPr>
                        <m:ctrlPr>
                          <a:rPr lang="en-US" altLang="en-US" sz="2400" i="1" dirty="0" smtClean="0">
                            <a:latin typeface="Cambria Math" panose="02040503050406030204" pitchFamily="18" charset="0"/>
                            <a:ea typeface="Cambria Math" panose="02040503050406030204" pitchFamily="18" charset="0"/>
                            <a:sym typeface="Symbol" panose="05050102010706020507" pitchFamily="18" charset="2"/>
                          </a:rPr>
                        </m:ctrlPr>
                      </m:dPr>
                      <m:e>
                        <m:r>
                          <a:rPr lang="en-US" altLang="en-US" sz="2400" i="1">
                            <a:latin typeface="Cambria Math" panose="02040503050406030204" pitchFamily="18" charset="0"/>
                            <a:ea typeface="Cambria Math" panose="02040503050406030204" pitchFamily="18" charset="0"/>
                            <a:sym typeface="Symbol" panose="05050102010706020507" pitchFamily="18" charset="2"/>
                          </a:rPr>
                          <m:t>¬</m:t>
                        </m:r>
                        <m:r>
                          <a:rPr lang="en-US" altLang="en-US" sz="2400" i="1">
                            <a:latin typeface="Cambria Math" panose="02040503050406030204" pitchFamily="18" charset="0"/>
                            <a:ea typeface="Cambria Math" panose="02040503050406030204" pitchFamily="18" charset="0"/>
                            <a:sym typeface="Symbol" panose="05050102010706020507" pitchFamily="18" charset="2"/>
                          </a:rPr>
                          <m:t>𝑝</m:t>
                        </m:r>
                        <m:r>
                          <a:rPr lang="en-US" altLang="en-US" sz="2400" i="1" smtClean="0">
                            <a:latin typeface="Cambria Math" panose="02040503050406030204" pitchFamily="18" charset="0"/>
                            <a:ea typeface="Cambria Math" panose="02040503050406030204" pitchFamily="18" charset="0"/>
                            <a:sym typeface="Symbol" panose="05050102010706020507" pitchFamily="18" charset="2"/>
                          </a:rPr>
                          <m:t>∧</m:t>
                        </m:r>
                        <m:r>
                          <a:rPr lang="en-US" altLang="en-US" sz="2400" b="0" i="1" smtClean="0">
                            <a:latin typeface="Cambria Math" panose="02040503050406030204" pitchFamily="18" charset="0"/>
                            <a:ea typeface="Cambria Math" panose="02040503050406030204" pitchFamily="18" charset="0"/>
                            <a:sym typeface="Symbol" panose="05050102010706020507" pitchFamily="18" charset="2"/>
                          </a:rPr>
                          <m:t>𝑞</m:t>
                        </m:r>
                      </m:e>
                    </m:d>
                  </m:oMath>
                </a14:m>
                <a:r>
                  <a:rPr lang="en-US" altLang="en-US" sz="2400" dirty="0">
                    <a:sym typeface="Symbol" panose="05050102010706020507" pitchFamily="18" charset="2"/>
                  </a:rPr>
                  <a:t>   </a:t>
                </a:r>
              </a:p>
              <a:p>
                <a:pPr marL="0" indent="0">
                  <a:lnSpc>
                    <a:spcPct val="150000"/>
                  </a:lnSpc>
                  <a:buNone/>
                </a:pPr>
                <a14:m>
                  <m:oMath xmlns:m="http://schemas.openxmlformats.org/officeDocument/2006/math">
                    <m:r>
                      <a:rPr lang="en-US" altLang="en-US" sz="2400" i="1" smtClean="0">
                        <a:latin typeface="Cambria Math" panose="02040503050406030204" pitchFamily="18" charset="0"/>
                        <a:ea typeface="Cambria Math" panose="02040503050406030204" pitchFamily="18" charset="0"/>
                        <a:sym typeface="Symbol" panose="05050102010706020507" pitchFamily="18" charset="2"/>
                      </a:rPr>
                      <m:t>↔</m:t>
                    </m:r>
                  </m:oMath>
                </a14:m>
                <a:r>
                  <a:rPr lang="en-US" altLang="en-US" sz="2400" dirty="0">
                    <a:sym typeface="Symbol" panose="05050102010706020507" pitchFamily="18" charset="2"/>
                  </a:rPr>
                  <a:t>         - Bi-conditional  </a:t>
                </a:r>
                <a14:m>
                  <m:oMath xmlns:m="http://schemas.openxmlformats.org/officeDocument/2006/math">
                    <m:r>
                      <a:rPr lang="en-US" altLang="en-US" sz="2400" b="0" i="1" smtClean="0">
                        <a:latin typeface="Cambria Math" panose="02040503050406030204" pitchFamily="18" charset="0"/>
                        <a:sym typeface="Symbol" panose="05050102010706020507" pitchFamily="18" charset="2"/>
                      </a:rPr>
                      <m:t>𝑝</m:t>
                    </m:r>
                    <m:r>
                      <a:rPr lang="en-US" altLang="en-US" sz="2400" b="0" i="1" smtClean="0">
                        <a:latin typeface="Cambria Math" panose="02040503050406030204" pitchFamily="18" charset="0"/>
                        <a:ea typeface="Cambria Math" panose="02040503050406030204" pitchFamily="18" charset="0"/>
                        <a:sym typeface="Symbol" panose="05050102010706020507" pitchFamily="18" charset="2"/>
                      </a:rPr>
                      <m:t>↔</m:t>
                    </m:r>
                    <m:r>
                      <a:rPr lang="en-US" altLang="en-US" sz="2400" b="0" i="1" smtClean="0">
                        <a:latin typeface="Cambria Math" panose="02040503050406030204" pitchFamily="18" charset="0"/>
                        <a:ea typeface="Cambria Math" panose="02040503050406030204" pitchFamily="18" charset="0"/>
                        <a:sym typeface="Symbol" panose="05050102010706020507" pitchFamily="18" charset="2"/>
                      </a:rPr>
                      <m:t>𝑞</m:t>
                    </m:r>
                    <m:r>
                      <a:rPr lang="en-US" altLang="en-US" sz="2400" b="0" i="1" smtClean="0">
                        <a:latin typeface="Cambria Math" panose="02040503050406030204" pitchFamily="18" charset="0"/>
                        <a:ea typeface="Cambria Math" panose="02040503050406030204" pitchFamily="18" charset="0"/>
                        <a:sym typeface="Symbol" panose="05050102010706020507" pitchFamily="18" charset="2"/>
                      </a:rPr>
                      <m:t>≡</m:t>
                    </m:r>
                    <m:d>
                      <m:dPr>
                        <m:ctrlPr>
                          <a:rPr lang="en-US" altLang="en-US" sz="2400" b="0" i="1" smtClean="0">
                            <a:latin typeface="Cambria Math" panose="02040503050406030204" pitchFamily="18" charset="0"/>
                            <a:ea typeface="Cambria Math" panose="02040503050406030204" pitchFamily="18" charset="0"/>
                            <a:sym typeface="Symbol" panose="05050102010706020507" pitchFamily="18" charset="2"/>
                          </a:rPr>
                        </m:ctrlPr>
                      </m:dPr>
                      <m:e>
                        <m:r>
                          <a:rPr lang="en-US" altLang="en-US" sz="2400" b="0" i="1" smtClean="0">
                            <a:latin typeface="Cambria Math" panose="02040503050406030204" pitchFamily="18" charset="0"/>
                            <a:ea typeface="Cambria Math" panose="02040503050406030204" pitchFamily="18" charset="0"/>
                            <a:sym typeface="Symbol" panose="05050102010706020507" pitchFamily="18" charset="2"/>
                          </a:rPr>
                          <m:t>𝑝</m:t>
                        </m:r>
                        <m:r>
                          <a:rPr lang="en-US" altLang="en-US" sz="2400" b="0" i="1" smtClean="0">
                            <a:latin typeface="Cambria Math" panose="02040503050406030204" pitchFamily="18" charset="0"/>
                            <a:ea typeface="Cambria Math" panose="02040503050406030204" pitchFamily="18" charset="0"/>
                            <a:sym typeface="Symbol" panose="05050102010706020507" pitchFamily="18" charset="2"/>
                          </a:rPr>
                          <m:t>→</m:t>
                        </m:r>
                        <m:r>
                          <a:rPr lang="en-US" altLang="en-US" sz="2400" b="0" i="1" smtClean="0">
                            <a:latin typeface="Cambria Math" panose="02040503050406030204" pitchFamily="18" charset="0"/>
                            <a:ea typeface="Cambria Math" panose="02040503050406030204" pitchFamily="18" charset="0"/>
                            <a:sym typeface="Symbol" panose="05050102010706020507" pitchFamily="18" charset="2"/>
                          </a:rPr>
                          <m:t>𝑞</m:t>
                        </m:r>
                      </m:e>
                    </m:d>
                    <m:r>
                      <a:rPr lang="en-US" altLang="en-US" sz="2400" i="1" dirty="0">
                        <a:latin typeface="Cambria Math" panose="02040503050406030204" pitchFamily="18" charset="0"/>
                        <a:ea typeface="Cambria Math" panose="02040503050406030204" pitchFamily="18" charset="0"/>
                        <a:sym typeface="Symbol" panose="05050102010706020507" pitchFamily="18" charset="2"/>
                      </a:rPr>
                      <m:t>∧</m:t>
                    </m:r>
                    <m:d>
                      <m:dPr>
                        <m:ctrlPr>
                          <a:rPr lang="en-US" altLang="en-US" sz="2400" i="1" dirty="0" smtClean="0">
                            <a:latin typeface="Cambria Math" panose="02040503050406030204" pitchFamily="18" charset="0"/>
                            <a:ea typeface="Cambria Math" panose="02040503050406030204" pitchFamily="18" charset="0"/>
                            <a:sym typeface="Symbol" panose="05050102010706020507" pitchFamily="18" charset="2"/>
                          </a:rPr>
                        </m:ctrlPr>
                      </m:dPr>
                      <m:e>
                        <m:r>
                          <a:rPr lang="en-US" altLang="en-US" sz="2400" b="0" i="1" dirty="0" smtClean="0">
                            <a:latin typeface="Cambria Math" panose="02040503050406030204" pitchFamily="18" charset="0"/>
                            <a:ea typeface="Cambria Math" panose="02040503050406030204" pitchFamily="18" charset="0"/>
                            <a:sym typeface="Symbol" panose="05050102010706020507" pitchFamily="18" charset="2"/>
                          </a:rPr>
                          <m:t>𝑞</m:t>
                        </m:r>
                        <m:r>
                          <a:rPr lang="en-US" altLang="en-US" sz="2400" b="0" i="1" dirty="0" smtClean="0">
                            <a:latin typeface="Cambria Math" panose="02040503050406030204" pitchFamily="18" charset="0"/>
                            <a:ea typeface="Cambria Math" panose="02040503050406030204" pitchFamily="18" charset="0"/>
                            <a:sym typeface="Symbol" panose="05050102010706020507" pitchFamily="18" charset="2"/>
                          </a:rPr>
                          <m:t>→</m:t>
                        </m:r>
                        <m:r>
                          <a:rPr lang="en-US" altLang="en-US" sz="2400" b="0" i="1" dirty="0" smtClean="0">
                            <a:latin typeface="Cambria Math" panose="02040503050406030204" pitchFamily="18" charset="0"/>
                            <a:ea typeface="Cambria Math" panose="02040503050406030204" pitchFamily="18" charset="0"/>
                            <a:sym typeface="Symbol" panose="05050102010706020507" pitchFamily="18" charset="2"/>
                          </a:rPr>
                          <m:t>𝑝</m:t>
                        </m:r>
                      </m:e>
                    </m:d>
                  </m:oMath>
                </a14:m>
                <a:endParaRPr lang="en-US" altLang="en-US" sz="2400" dirty="0">
                  <a:sym typeface="Symbol" panose="05050102010706020507" pitchFamily="18" charset="2"/>
                </a:endParaRPr>
              </a:p>
              <a:p>
                <a:pPr marL="0" indent="0">
                  <a:lnSpc>
                    <a:spcPct val="150000"/>
                  </a:lnSpc>
                  <a:buNone/>
                </a:pPr>
                <a:r>
                  <a:rPr lang="en-US" altLang="en-US" sz="2400" dirty="0">
                    <a:sym typeface="Symbol" panose="05050102010706020507" pitchFamily="18" charset="2"/>
                  </a:rPr>
                  <a:t>                                                        </a:t>
                </a:r>
                <a14:m>
                  <m:oMath xmlns:m="http://schemas.openxmlformats.org/officeDocument/2006/math">
                    <m:r>
                      <a:rPr lang="en-US" altLang="en-US" sz="2400" i="1" smtClean="0">
                        <a:latin typeface="Cambria Math" panose="02040503050406030204" pitchFamily="18" charset="0"/>
                        <a:ea typeface="Cambria Math" panose="02040503050406030204" pitchFamily="18" charset="0"/>
                        <a:sym typeface="Symbol" panose="05050102010706020507" pitchFamily="18" charset="2"/>
                      </a:rPr>
                      <m:t>≡</m:t>
                    </m:r>
                    <m:d>
                      <m:dPr>
                        <m:ctrlPr>
                          <a:rPr lang="en-US" altLang="en-US" sz="2400" b="0" i="1" smtClean="0">
                            <a:latin typeface="Cambria Math" panose="02040503050406030204" pitchFamily="18" charset="0"/>
                            <a:ea typeface="Cambria Math" panose="02040503050406030204" pitchFamily="18" charset="0"/>
                            <a:sym typeface="Symbol" panose="05050102010706020507" pitchFamily="18" charset="2"/>
                          </a:rPr>
                        </m:ctrlPr>
                      </m:dPr>
                      <m:e>
                        <m:r>
                          <a:rPr lang="en-US" altLang="en-US" sz="2400" i="1">
                            <a:latin typeface="Cambria Math" panose="02040503050406030204" pitchFamily="18" charset="0"/>
                            <a:ea typeface="Cambria Math" panose="02040503050406030204" pitchFamily="18" charset="0"/>
                            <a:sym typeface="Symbol" panose="05050102010706020507" pitchFamily="18" charset="2"/>
                          </a:rPr>
                          <m:t>¬</m:t>
                        </m:r>
                        <m:r>
                          <a:rPr lang="en-US" altLang="en-US" sz="2400" i="1">
                            <a:latin typeface="Cambria Math" panose="02040503050406030204" pitchFamily="18" charset="0"/>
                            <a:ea typeface="Cambria Math" panose="02040503050406030204" pitchFamily="18" charset="0"/>
                            <a:sym typeface="Symbol" panose="05050102010706020507" pitchFamily="18" charset="2"/>
                          </a:rPr>
                          <m:t>𝑝</m:t>
                        </m:r>
                        <m:r>
                          <a:rPr lang="en-US" altLang="en-US" sz="2400" i="1">
                            <a:latin typeface="Cambria Math" panose="02040503050406030204" pitchFamily="18" charset="0"/>
                            <a:ea typeface="Cambria Math" panose="02040503050406030204" pitchFamily="18" charset="0"/>
                            <a:sym typeface="Symbol" panose="05050102010706020507" pitchFamily="18" charset="2"/>
                          </a:rPr>
                          <m:t>∨</m:t>
                        </m:r>
                        <m:r>
                          <a:rPr lang="en-US" altLang="en-US" sz="2400" i="1">
                            <a:latin typeface="Cambria Math" panose="02040503050406030204" pitchFamily="18" charset="0"/>
                            <a:ea typeface="Cambria Math" panose="02040503050406030204" pitchFamily="18" charset="0"/>
                            <a:sym typeface="Symbol" panose="05050102010706020507" pitchFamily="18" charset="2"/>
                          </a:rPr>
                          <m:t>𝑞</m:t>
                        </m:r>
                      </m:e>
                    </m:d>
                    <m:r>
                      <a:rPr lang="en-US" altLang="en-US" sz="2400" i="1" dirty="0">
                        <a:latin typeface="Cambria Math" panose="02040503050406030204" pitchFamily="18" charset="0"/>
                        <a:ea typeface="Cambria Math" panose="02040503050406030204" pitchFamily="18" charset="0"/>
                        <a:sym typeface="Symbol" panose="05050102010706020507" pitchFamily="18" charset="2"/>
                      </a:rPr>
                      <m:t>∧</m:t>
                    </m:r>
                    <m:d>
                      <m:dPr>
                        <m:ctrlPr>
                          <a:rPr lang="en-US" altLang="en-US" sz="2400" i="1" dirty="0">
                            <a:latin typeface="Cambria Math" panose="02040503050406030204" pitchFamily="18" charset="0"/>
                            <a:ea typeface="Cambria Math" panose="02040503050406030204" pitchFamily="18" charset="0"/>
                            <a:sym typeface="Symbol" panose="05050102010706020507" pitchFamily="18" charset="2"/>
                          </a:rPr>
                        </m:ctrlPr>
                      </m:dPr>
                      <m:e>
                        <m:r>
                          <a:rPr lang="en-US" altLang="en-US" sz="2400" i="1" dirty="0" smtClean="0">
                            <a:latin typeface="Cambria Math" panose="02040503050406030204" pitchFamily="18" charset="0"/>
                            <a:ea typeface="Cambria Math" panose="02040503050406030204" pitchFamily="18" charset="0"/>
                            <a:sym typeface="Symbol" panose="05050102010706020507" pitchFamily="18" charset="2"/>
                          </a:rPr>
                          <m:t>¬</m:t>
                        </m:r>
                        <m:r>
                          <a:rPr lang="en-US" altLang="en-US" sz="2400" i="1" dirty="0">
                            <a:latin typeface="Cambria Math" panose="02040503050406030204" pitchFamily="18" charset="0"/>
                            <a:ea typeface="Cambria Math" panose="02040503050406030204" pitchFamily="18" charset="0"/>
                            <a:sym typeface="Symbol" panose="05050102010706020507" pitchFamily="18" charset="2"/>
                          </a:rPr>
                          <m:t>𝑞</m:t>
                        </m:r>
                        <m:r>
                          <a:rPr lang="en-US" altLang="en-US" sz="2400" i="1">
                            <a:latin typeface="Cambria Math" panose="02040503050406030204" pitchFamily="18" charset="0"/>
                            <a:ea typeface="Cambria Math" panose="02040503050406030204" pitchFamily="18" charset="0"/>
                            <a:sym typeface="Symbol" panose="05050102010706020507" pitchFamily="18" charset="2"/>
                          </a:rPr>
                          <m:t>∨</m:t>
                        </m:r>
                        <m:r>
                          <a:rPr lang="en-US" altLang="en-US" sz="2400" i="1" dirty="0">
                            <a:latin typeface="Cambria Math" panose="02040503050406030204" pitchFamily="18" charset="0"/>
                            <a:ea typeface="Cambria Math" panose="02040503050406030204" pitchFamily="18" charset="0"/>
                            <a:sym typeface="Symbol" panose="05050102010706020507" pitchFamily="18" charset="2"/>
                          </a:rPr>
                          <m:t>𝑝</m:t>
                        </m:r>
                      </m:e>
                    </m:d>
                  </m:oMath>
                </a14:m>
                <a:r>
                  <a:rPr lang="en-US" altLang="en-US" sz="2400" dirty="0">
                    <a:sym typeface="Symbol" panose="05050102010706020507" pitchFamily="18" charset="2"/>
                  </a:rPr>
                  <a:t>.</a:t>
                </a:r>
              </a:p>
            </p:txBody>
          </p:sp>
        </mc:Choice>
        <mc:Fallback xmlns="">
          <p:sp>
            <p:nvSpPr>
              <p:cNvPr id="7" name="Rectangle 3"/>
              <p:cNvSpPr txBox="1">
                <a:spLocks noRot="1" noChangeAspect="1" noMove="1" noResize="1" noEditPoints="1" noAdjustHandles="1" noChangeArrowheads="1" noChangeShapeType="1" noTextEdit="1"/>
              </p:cNvSpPr>
              <p:nvPr/>
            </p:nvSpPr>
            <p:spPr>
              <a:xfrm>
                <a:off x="609600" y="1752600"/>
                <a:ext cx="7848600" cy="4495800"/>
              </a:xfrm>
              <a:prstGeom prst="rect">
                <a:avLst/>
              </a:prstGeom>
              <a:blipFill>
                <a:blip r:embed="rId2"/>
                <a:stretch>
                  <a:fillRect l="-1553" b="-1085"/>
                </a:stretch>
              </a:blipFill>
            </p:spPr>
            <p:txBody>
              <a:bodyPr/>
              <a:lstStyle/>
              <a:p>
                <a:r>
                  <a:rPr lang="si-LK">
                    <a:noFill/>
                  </a:rPr>
                  <a:t> </a:t>
                </a:r>
              </a:p>
            </p:txBody>
          </p:sp>
        </mc:Fallback>
      </mc:AlternateContent>
    </p:spTree>
    <p:extLst>
      <p:ext uri="{BB962C8B-B14F-4D97-AF65-F5344CB8AC3E}">
        <p14:creationId xmlns:p14="http://schemas.microsoft.com/office/powerpoint/2010/main" val="24641331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en-US" b="1" dirty="0"/>
              <a:t>Functionally Complete</a:t>
            </a:r>
            <a:endParaRPr lang="en-GB" dirty="0"/>
          </a:p>
        </p:txBody>
      </p:sp>
      <p:sp>
        <p:nvSpPr>
          <p:cNvPr id="4" name="Date Placeholder 3"/>
          <p:cNvSpPr>
            <a:spLocks noGrp="1"/>
          </p:cNvSpPr>
          <p:nvPr>
            <p:ph type="dt" sz="half" idx="10"/>
          </p:nvPr>
        </p:nvSpPr>
        <p:spPr/>
        <p:txBody>
          <a:bodyPr/>
          <a:lstStyle/>
          <a:p>
            <a:fld id="{82F72DA4-413B-4CC6-B5A5-6F2A0A71E84E}" type="datetime3">
              <a:rPr lang="en-US" smtClean="0"/>
              <a:t>27 April 2026</a:t>
            </a:fld>
            <a:endParaRPr lang="en-US"/>
          </a:p>
        </p:txBody>
      </p:sp>
      <p:sp>
        <p:nvSpPr>
          <p:cNvPr id="5" name="Footer Placeholder 4"/>
          <p:cNvSpPr>
            <a:spLocks noGrp="1"/>
          </p:cNvSpPr>
          <p:nvPr>
            <p:ph type="ftr" sz="quarter" idx="11"/>
          </p:nvPr>
        </p:nvSpPr>
        <p:spPr/>
        <p:txBody>
          <a:bodyPr/>
          <a:lstStyle/>
          <a:p>
            <a:r>
              <a:rPr lang="en-US"/>
              <a:t>SCS 1302   Discrete Mathematics 1       Prof. D D Karunaratna</a:t>
            </a:r>
          </a:p>
        </p:txBody>
      </p:sp>
      <p:sp>
        <p:nvSpPr>
          <p:cNvPr id="6" name="Slide Number Placeholder 5"/>
          <p:cNvSpPr>
            <a:spLocks noGrp="1"/>
          </p:cNvSpPr>
          <p:nvPr>
            <p:ph type="sldNum" sz="quarter" idx="12"/>
          </p:nvPr>
        </p:nvSpPr>
        <p:spPr/>
        <p:txBody>
          <a:bodyPr/>
          <a:lstStyle/>
          <a:p>
            <a:fld id="{0CA841A6-7C02-4C92-B6EE-5DBCC2AD53D0}" type="slidenum">
              <a:rPr lang="en-US" smtClean="0"/>
              <a:t>53</a:t>
            </a:fld>
            <a:endParaRPr lang="en-US"/>
          </a:p>
        </p:txBody>
      </p:sp>
      <p:sp>
        <p:nvSpPr>
          <p:cNvPr id="7" name="Rectangle 6"/>
          <p:cNvSpPr/>
          <p:nvPr/>
        </p:nvSpPr>
        <p:spPr>
          <a:xfrm>
            <a:off x="609600" y="1783140"/>
            <a:ext cx="7924800" cy="1569660"/>
          </a:xfrm>
          <a:prstGeom prst="rect">
            <a:avLst/>
          </a:prstGeom>
        </p:spPr>
        <p:txBody>
          <a:bodyPr wrap="square">
            <a:spAutoFit/>
          </a:bodyPr>
          <a:lstStyle/>
          <a:p>
            <a:pPr algn="just"/>
            <a:r>
              <a:rPr lang="en-US" altLang="en-US" sz="2400" dirty="0"/>
              <a:t>A set of logical operators is called </a:t>
            </a:r>
            <a:r>
              <a:rPr lang="en-US" altLang="en-US" sz="2400" b="1" dirty="0">
                <a:solidFill>
                  <a:srgbClr val="00B0F0"/>
                </a:solidFill>
              </a:rPr>
              <a:t>functionally complete</a:t>
            </a:r>
            <a:r>
              <a:rPr lang="en-US" altLang="en-US" sz="2400" dirty="0">
                <a:solidFill>
                  <a:srgbClr val="00B0F0"/>
                </a:solidFill>
              </a:rPr>
              <a:t> </a:t>
            </a:r>
            <a:r>
              <a:rPr lang="en-US" altLang="en-US" sz="2400" dirty="0"/>
              <a:t>if every compound proposition is logically equivalent to a compound proposition involving only this set of logical operators.</a:t>
            </a:r>
          </a:p>
        </p:txBody>
      </p:sp>
      <p:sp>
        <p:nvSpPr>
          <p:cNvPr id="8" name="Rectangle 7"/>
          <p:cNvSpPr/>
          <p:nvPr/>
        </p:nvSpPr>
        <p:spPr>
          <a:xfrm>
            <a:off x="609600" y="3733800"/>
            <a:ext cx="7924800" cy="461665"/>
          </a:xfrm>
          <a:prstGeom prst="rect">
            <a:avLst/>
          </a:prstGeom>
        </p:spPr>
        <p:txBody>
          <a:bodyPr wrap="square">
            <a:spAutoFit/>
          </a:bodyPr>
          <a:lstStyle/>
          <a:p>
            <a:r>
              <a:rPr lang="en-US" altLang="en-US" sz="2400" dirty="0">
                <a:sym typeface="Symbol" panose="05050102010706020507" pitchFamily="18" charset="2"/>
              </a:rPr>
              <a:t>The set {,  } form a functionally complete set of operators.</a:t>
            </a:r>
            <a:endParaRPr lang="en-US" altLang="en-US" sz="2400" dirty="0"/>
          </a:p>
        </p:txBody>
      </p:sp>
    </p:spTree>
    <p:extLst>
      <p:ext uri="{BB962C8B-B14F-4D97-AF65-F5344CB8AC3E}">
        <p14:creationId xmlns:p14="http://schemas.microsoft.com/office/powerpoint/2010/main" val="27614119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Normal Forms</a:t>
            </a:r>
            <a:endParaRPr lang="en-GB" dirty="0"/>
          </a:p>
        </p:txBody>
      </p:sp>
      <p:sp>
        <p:nvSpPr>
          <p:cNvPr id="4" name="Date Placeholder 3"/>
          <p:cNvSpPr>
            <a:spLocks noGrp="1"/>
          </p:cNvSpPr>
          <p:nvPr>
            <p:ph type="dt" sz="half" idx="10"/>
          </p:nvPr>
        </p:nvSpPr>
        <p:spPr/>
        <p:txBody>
          <a:bodyPr/>
          <a:lstStyle/>
          <a:p>
            <a:fld id="{F3AB86EF-83FC-4398-9C03-C08D4C44B1C3}" type="datetime3">
              <a:rPr lang="en-US" smtClean="0"/>
              <a:t>27 April 2026</a:t>
            </a:fld>
            <a:endParaRPr lang="en-US"/>
          </a:p>
        </p:txBody>
      </p:sp>
      <p:sp>
        <p:nvSpPr>
          <p:cNvPr id="5" name="Footer Placeholder 4"/>
          <p:cNvSpPr>
            <a:spLocks noGrp="1"/>
          </p:cNvSpPr>
          <p:nvPr>
            <p:ph type="ftr" sz="quarter" idx="11"/>
          </p:nvPr>
        </p:nvSpPr>
        <p:spPr/>
        <p:txBody>
          <a:bodyPr/>
          <a:lstStyle/>
          <a:p>
            <a:r>
              <a:rPr lang="en-US"/>
              <a:t>SCS 1302   Discrete Mathematics 1       Prof. D D Karunaratna</a:t>
            </a:r>
          </a:p>
        </p:txBody>
      </p:sp>
      <p:sp>
        <p:nvSpPr>
          <p:cNvPr id="6" name="Slide Number Placeholder 5"/>
          <p:cNvSpPr>
            <a:spLocks noGrp="1"/>
          </p:cNvSpPr>
          <p:nvPr>
            <p:ph type="sldNum" sz="quarter" idx="12"/>
          </p:nvPr>
        </p:nvSpPr>
        <p:spPr/>
        <p:txBody>
          <a:bodyPr/>
          <a:lstStyle/>
          <a:p>
            <a:fld id="{0CA841A6-7C02-4C92-B6EE-5DBCC2AD53D0}" type="slidenum">
              <a:rPr lang="en-US" smtClean="0"/>
              <a:t>54</a:t>
            </a:fld>
            <a:endParaRPr lang="en-US"/>
          </a:p>
        </p:txBody>
      </p:sp>
      <mc:AlternateContent xmlns:mc="http://schemas.openxmlformats.org/markup-compatibility/2006" xmlns:a14="http://schemas.microsoft.com/office/drawing/2010/main">
        <mc:Choice Requires="a14">
          <p:sp>
            <p:nvSpPr>
              <p:cNvPr id="7" name="TextBox 6"/>
              <p:cNvSpPr txBox="1"/>
              <p:nvPr/>
            </p:nvSpPr>
            <p:spPr>
              <a:xfrm>
                <a:off x="228600" y="1706940"/>
                <a:ext cx="8763000" cy="1446550"/>
              </a:xfrm>
              <a:prstGeom prst="rect">
                <a:avLst/>
              </a:prstGeom>
              <a:noFill/>
            </p:spPr>
            <p:txBody>
              <a:bodyPr wrap="square" rtlCol="0">
                <a:spAutoFit/>
              </a:bodyPr>
              <a:lstStyle/>
              <a:p>
                <a:r>
                  <a:rPr lang="en-US" sz="2200" dirty="0"/>
                  <a:t>A product (conjunction) of the variables and their negations in a proposition is called an </a:t>
                </a:r>
                <a:r>
                  <a:rPr lang="en-US" sz="2200" b="1" dirty="0"/>
                  <a:t>elementary product</a:t>
                </a:r>
                <a:r>
                  <a:rPr lang="en-US" sz="2200" dirty="0"/>
                  <a:t>. </a:t>
                </a:r>
                <a:r>
                  <a:rPr lang="en-US" sz="2200" dirty="0" err="1"/>
                  <a:t>E.g</a:t>
                </a:r>
                <a:r>
                  <a:rPr lang="en-US" sz="2200" dirty="0"/>
                  <a:t>:  </a:t>
                </a:r>
                <a14:m>
                  <m:oMath xmlns:m="http://schemas.openxmlformats.org/officeDocument/2006/math">
                    <m:r>
                      <a:rPr lang="en-US" sz="2200" b="0" i="1" smtClean="0">
                        <a:latin typeface="Cambria Math" panose="02040503050406030204" pitchFamily="18" charset="0"/>
                      </a:rPr>
                      <m:t>𝑝</m:t>
                    </m:r>
                    <m:r>
                      <a:rPr lang="en-US" sz="2200" b="0" i="1" smtClean="0">
                        <a:latin typeface="Cambria Math" panose="02040503050406030204" pitchFamily="18" charset="0"/>
                        <a:ea typeface="Cambria Math" panose="02040503050406030204" pitchFamily="18" charset="0"/>
                      </a:rPr>
                      <m:t>∧</m:t>
                    </m:r>
                    <m:r>
                      <a:rPr lang="en-US" sz="2200" b="0" i="1" smtClean="0">
                        <a:latin typeface="Cambria Math" panose="02040503050406030204" pitchFamily="18" charset="0"/>
                        <a:ea typeface="Cambria Math" panose="02040503050406030204" pitchFamily="18" charset="0"/>
                      </a:rPr>
                      <m:t>𝑞</m:t>
                    </m:r>
                    <m:r>
                      <a:rPr lang="en-US" sz="2200" b="0" i="1" smtClean="0">
                        <a:latin typeface="Cambria Math" panose="02040503050406030204" pitchFamily="18" charset="0"/>
                        <a:ea typeface="Cambria Math" panose="02040503050406030204" pitchFamily="18" charset="0"/>
                      </a:rPr>
                      <m:t>∧¬</m:t>
                    </m:r>
                    <m:r>
                      <a:rPr lang="en-US" sz="2200" b="0" i="1" smtClean="0">
                        <a:latin typeface="Cambria Math" panose="02040503050406030204" pitchFamily="18" charset="0"/>
                        <a:ea typeface="Cambria Math" panose="02040503050406030204" pitchFamily="18" charset="0"/>
                      </a:rPr>
                      <m:t>𝑟</m:t>
                    </m:r>
                  </m:oMath>
                </a14:m>
                <a:endParaRPr lang="en-US" sz="2200" dirty="0"/>
              </a:p>
              <a:p>
                <a:r>
                  <a:rPr lang="en-US" sz="2200" dirty="0"/>
                  <a:t>A sum (disjunction) of the variables and their negations in a proposition is called an </a:t>
                </a:r>
                <a:r>
                  <a:rPr lang="en-US" sz="2200" b="1" dirty="0"/>
                  <a:t>elementary sum</a:t>
                </a:r>
                <a:r>
                  <a:rPr lang="en-US" sz="2200" dirty="0"/>
                  <a:t>. Example: </a:t>
                </a:r>
                <a14:m>
                  <m:oMath xmlns:m="http://schemas.openxmlformats.org/officeDocument/2006/math">
                    <m:r>
                      <a:rPr lang="en-US" sz="2200" b="0" i="0" smtClean="0">
                        <a:latin typeface="Cambria Math" panose="02040503050406030204" pitchFamily="18" charset="0"/>
                      </a:rPr>
                      <m:t> </m:t>
                    </m:r>
                    <m:r>
                      <a:rPr lang="en-US" sz="2200" b="0" i="1" smtClean="0">
                        <a:latin typeface="Cambria Math" panose="02040503050406030204" pitchFamily="18" charset="0"/>
                      </a:rPr>
                      <m:t>𝑝</m:t>
                    </m:r>
                    <m:r>
                      <a:rPr lang="en-US" sz="2200" b="0" i="1" smtClean="0">
                        <a:latin typeface="Cambria Math" panose="02040503050406030204" pitchFamily="18" charset="0"/>
                        <a:ea typeface="Cambria Math" panose="02040503050406030204" pitchFamily="18" charset="0"/>
                      </a:rPr>
                      <m:t>∨¬</m:t>
                    </m:r>
                    <m:r>
                      <a:rPr lang="en-US" sz="2200" b="0" i="1" smtClean="0">
                        <a:latin typeface="Cambria Math" panose="02040503050406030204" pitchFamily="18" charset="0"/>
                        <a:ea typeface="Cambria Math" panose="02040503050406030204" pitchFamily="18" charset="0"/>
                      </a:rPr>
                      <m:t>𝑞</m:t>
                    </m:r>
                    <m:r>
                      <a:rPr lang="en-US" sz="2200" b="0" i="1" smtClean="0">
                        <a:latin typeface="Cambria Math" panose="02040503050406030204" pitchFamily="18" charset="0"/>
                        <a:ea typeface="Cambria Math" panose="02040503050406030204" pitchFamily="18" charset="0"/>
                      </a:rPr>
                      <m:t>∨</m:t>
                    </m:r>
                    <m:r>
                      <a:rPr lang="en-US" sz="2200" b="0" i="1" smtClean="0">
                        <a:latin typeface="Cambria Math" panose="02040503050406030204" pitchFamily="18" charset="0"/>
                        <a:ea typeface="Cambria Math" panose="02040503050406030204" pitchFamily="18" charset="0"/>
                      </a:rPr>
                      <m:t>𝑟</m:t>
                    </m:r>
                  </m:oMath>
                </a14:m>
                <a:endParaRPr lang="en-US" sz="2200" dirty="0"/>
              </a:p>
            </p:txBody>
          </p:sp>
        </mc:Choice>
        <mc:Fallback xmlns="">
          <p:sp>
            <p:nvSpPr>
              <p:cNvPr id="7" name="TextBox 6"/>
              <p:cNvSpPr txBox="1">
                <a:spLocks noRot="1" noChangeAspect="1" noMove="1" noResize="1" noEditPoints="1" noAdjustHandles="1" noChangeArrowheads="1" noChangeShapeType="1" noTextEdit="1"/>
              </p:cNvSpPr>
              <p:nvPr/>
            </p:nvSpPr>
            <p:spPr>
              <a:xfrm>
                <a:off x="228600" y="1706940"/>
                <a:ext cx="8763000" cy="1446550"/>
              </a:xfrm>
              <a:prstGeom prst="rect">
                <a:avLst/>
              </a:prstGeom>
              <a:blipFill>
                <a:blip r:embed="rId2"/>
                <a:stretch>
                  <a:fillRect l="-905" t="-2954" b="-8017"/>
                </a:stretch>
              </a:blipFill>
            </p:spPr>
            <p:txBody>
              <a:bodyPr/>
              <a:lstStyle/>
              <a:p>
                <a:r>
                  <a:rPr lang="si-LK">
                    <a:noFill/>
                  </a:rPr>
                  <a:t> </a:t>
                </a:r>
              </a:p>
            </p:txBody>
          </p:sp>
        </mc:Fallback>
      </mc:AlternateContent>
      <mc:AlternateContent xmlns:mc="http://schemas.openxmlformats.org/markup-compatibility/2006">
        <mc:Choice xmlns:a14="http://schemas.microsoft.com/office/drawing/2010/main" Requires="a14">
          <p:sp>
            <p:nvSpPr>
              <p:cNvPr id="8" name="TextBox 7"/>
              <p:cNvSpPr txBox="1"/>
              <p:nvPr/>
            </p:nvSpPr>
            <p:spPr>
              <a:xfrm>
                <a:off x="304800" y="3225252"/>
                <a:ext cx="8534400" cy="1446550"/>
              </a:xfrm>
              <a:prstGeom prst="rect">
                <a:avLst/>
              </a:prstGeom>
              <a:noFill/>
            </p:spPr>
            <p:txBody>
              <a:bodyPr wrap="square" rtlCol="0">
                <a:spAutoFit/>
              </a:bodyPr>
              <a:lstStyle/>
              <a:p>
                <a:r>
                  <a:rPr lang="en-US" sz="2200" b="1" dirty="0"/>
                  <a:t>Disjunctive Normal Form:</a:t>
                </a:r>
                <a:r>
                  <a:rPr lang="en-US" sz="2200" dirty="0"/>
                  <a:t>  A proposition which is equivalent to a proposition which consists of a sum(</a:t>
                </a:r>
                <a14:m>
                  <m:oMath xmlns:m="http://schemas.openxmlformats.org/officeDocument/2006/math">
                    <m:r>
                      <a:rPr lang="en-US" sz="2200" i="1">
                        <a:latin typeface="Cambria Math" panose="02040503050406030204" pitchFamily="18" charset="0"/>
                        <a:ea typeface="Cambria Math" panose="02040503050406030204" pitchFamily="18" charset="0"/>
                      </a:rPr>
                      <m:t>∨ </m:t>
                    </m:r>
                  </m:oMath>
                </a14:m>
                <a:r>
                  <a:rPr lang="en-US" sz="2200" dirty="0"/>
                  <a:t>) of elementary products (</a:t>
                </a:r>
                <a14:m>
                  <m:oMath xmlns:m="http://schemas.openxmlformats.org/officeDocument/2006/math">
                    <m:r>
                      <a:rPr lang="en-US" sz="2200" i="1">
                        <a:latin typeface="Cambria Math" panose="02040503050406030204" pitchFamily="18" charset="0"/>
                        <a:ea typeface="Cambria Math" panose="02040503050406030204" pitchFamily="18" charset="0"/>
                      </a:rPr>
                      <m:t>∧</m:t>
                    </m:r>
                  </m:oMath>
                </a14:m>
                <a:r>
                  <a:rPr lang="en-US" sz="2200" dirty="0"/>
                  <a:t>) is called a disjunctive normal form of the given formula.</a:t>
                </a:r>
              </a:p>
              <a:p>
                <a:r>
                  <a:rPr lang="en-US" sz="2200" dirty="0"/>
                  <a:t>Example: </a:t>
                </a:r>
                <a14:m>
                  <m:oMath xmlns:m="http://schemas.openxmlformats.org/officeDocument/2006/math">
                    <m:r>
                      <a:rPr lang="en-US" sz="2200" b="0" i="0" smtClean="0">
                        <a:latin typeface="Cambria Math" panose="02040503050406030204" pitchFamily="18" charset="0"/>
                      </a:rPr>
                      <m:t>(</m:t>
                    </m:r>
                    <m:r>
                      <a:rPr lang="en-US" sz="2200" i="1">
                        <a:latin typeface="Cambria Math" panose="02040503050406030204" pitchFamily="18" charset="0"/>
                      </a:rPr>
                      <m:t>𝑝</m:t>
                    </m:r>
                    <m:r>
                      <a:rPr lang="en-US" sz="2200" i="1">
                        <a:latin typeface="Cambria Math" panose="02040503050406030204" pitchFamily="18" charset="0"/>
                        <a:ea typeface="Cambria Math" panose="02040503050406030204" pitchFamily="18" charset="0"/>
                      </a:rPr>
                      <m:t>∧</m:t>
                    </m:r>
                    <m:r>
                      <a:rPr lang="en-US" sz="2200" i="1">
                        <a:latin typeface="Cambria Math" panose="02040503050406030204" pitchFamily="18" charset="0"/>
                        <a:ea typeface="Cambria Math" panose="02040503050406030204" pitchFamily="18" charset="0"/>
                      </a:rPr>
                      <m:t>𝑞</m:t>
                    </m:r>
                    <m:r>
                      <a:rPr lang="en-US" sz="2200" b="0" i="1" smtClean="0">
                        <a:latin typeface="Cambria Math" panose="02040503050406030204" pitchFamily="18" charset="0"/>
                        <a:ea typeface="Cambria Math" panose="02040503050406030204" pitchFamily="18" charset="0"/>
                      </a:rPr>
                      <m:t>)</m:t>
                    </m:r>
                    <m:r>
                      <a:rPr lang="en-US" sz="2200" i="1">
                        <a:latin typeface="Cambria Math" panose="02040503050406030204" pitchFamily="18" charset="0"/>
                        <a:ea typeface="Cambria Math" panose="02040503050406030204" pitchFamily="18" charset="0"/>
                      </a:rPr>
                      <m:t>∨</m:t>
                    </m:r>
                    <m:r>
                      <a:rPr lang="en-US" sz="2200">
                        <a:latin typeface="Cambria Math" panose="02040503050406030204" pitchFamily="18" charset="0"/>
                      </a:rPr>
                      <m:t>(</m:t>
                    </m:r>
                    <m:r>
                      <a:rPr lang="en-US" sz="2200" i="1">
                        <a:latin typeface="Cambria Math" panose="02040503050406030204" pitchFamily="18" charset="0"/>
                      </a:rPr>
                      <m:t>𝑝</m:t>
                    </m:r>
                    <m:r>
                      <a:rPr lang="en-US" sz="2200" i="1">
                        <a:latin typeface="Cambria Math" panose="02040503050406030204" pitchFamily="18" charset="0"/>
                        <a:ea typeface="Cambria Math" panose="02040503050406030204" pitchFamily="18" charset="0"/>
                      </a:rPr>
                      <m:t>∧</m:t>
                    </m:r>
                    <m:r>
                      <a:rPr lang="en-US" sz="2200" i="1" smtClean="0">
                        <a:latin typeface="Cambria Math" panose="02040503050406030204" pitchFamily="18" charset="0"/>
                        <a:ea typeface="Cambria Math" panose="02040503050406030204" pitchFamily="18" charset="0"/>
                      </a:rPr>
                      <m:t>¬</m:t>
                    </m:r>
                    <m:r>
                      <a:rPr lang="en-US" sz="2200" i="1">
                        <a:latin typeface="Cambria Math" panose="02040503050406030204" pitchFamily="18" charset="0"/>
                        <a:ea typeface="Cambria Math" panose="02040503050406030204" pitchFamily="18" charset="0"/>
                      </a:rPr>
                      <m:t>𝑞</m:t>
                    </m:r>
                    <m:r>
                      <a:rPr lang="en-US" sz="2200" i="1">
                        <a:latin typeface="Cambria Math" panose="02040503050406030204" pitchFamily="18" charset="0"/>
                        <a:ea typeface="Cambria Math" panose="02040503050406030204" pitchFamily="18" charset="0"/>
                      </a:rPr>
                      <m:t>)∨</m:t>
                    </m:r>
                    <m:r>
                      <a:rPr lang="en-US" sz="2200">
                        <a:latin typeface="Cambria Math" panose="02040503050406030204" pitchFamily="18" charset="0"/>
                      </a:rPr>
                      <m:t>(</m:t>
                    </m:r>
                    <m:r>
                      <a:rPr lang="en-US" sz="2200" i="1" smtClean="0">
                        <a:latin typeface="Cambria Math" panose="02040503050406030204" pitchFamily="18" charset="0"/>
                        <a:ea typeface="Cambria Math" panose="02040503050406030204" pitchFamily="18" charset="0"/>
                      </a:rPr>
                      <m:t>¬</m:t>
                    </m:r>
                    <m:r>
                      <a:rPr lang="en-US" sz="2200" i="1">
                        <a:latin typeface="Cambria Math" panose="02040503050406030204" pitchFamily="18" charset="0"/>
                      </a:rPr>
                      <m:t>𝑝</m:t>
                    </m:r>
                    <m:r>
                      <a:rPr lang="en-US" sz="2200" i="1">
                        <a:latin typeface="Cambria Math" panose="02040503050406030204" pitchFamily="18" charset="0"/>
                        <a:ea typeface="Cambria Math" panose="02040503050406030204" pitchFamily="18" charset="0"/>
                      </a:rPr>
                      <m:t>∧</m:t>
                    </m:r>
                    <m:r>
                      <a:rPr lang="en-US" sz="2200" i="1">
                        <a:latin typeface="Cambria Math" panose="02040503050406030204" pitchFamily="18" charset="0"/>
                        <a:ea typeface="Cambria Math" panose="02040503050406030204" pitchFamily="18" charset="0"/>
                      </a:rPr>
                      <m:t>𝑞</m:t>
                    </m:r>
                    <m:r>
                      <a:rPr lang="en-US" sz="2200" i="1">
                        <a:latin typeface="Cambria Math" panose="02040503050406030204" pitchFamily="18" charset="0"/>
                        <a:ea typeface="Cambria Math" panose="02040503050406030204" pitchFamily="18" charset="0"/>
                      </a:rPr>
                      <m:t>)</m:t>
                    </m:r>
                  </m:oMath>
                </a14:m>
                <a:endParaRPr lang="en-US" sz="2200" dirty="0"/>
              </a:p>
            </p:txBody>
          </p:sp>
        </mc:Choice>
        <mc:Fallback>
          <p:sp>
            <p:nvSpPr>
              <p:cNvPr id="8" name="TextBox 7"/>
              <p:cNvSpPr txBox="1">
                <a:spLocks noRot="1" noChangeAspect="1" noMove="1" noResize="1" noEditPoints="1" noAdjustHandles="1" noChangeArrowheads="1" noChangeShapeType="1" noTextEdit="1"/>
              </p:cNvSpPr>
              <p:nvPr/>
            </p:nvSpPr>
            <p:spPr>
              <a:xfrm>
                <a:off x="304800" y="3225252"/>
                <a:ext cx="8534400" cy="1446550"/>
              </a:xfrm>
              <a:prstGeom prst="rect">
                <a:avLst/>
              </a:prstGeom>
              <a:blipFill>
                <a:blip r:embed="rId3"/>
                <a:stretch>
                  <a:fillRect l="-929" t="-2954" b="-8017"/>
                </a:stretch>
              </a:blipFill>
            </p:spPr>
            <p:txBody>
              <a:bodyPr/>
              <a:lstStyle/>
              <a:p>
                <a:r>
                  <a:rPr lang="si-LK">
                    <a:noFill/>
                  </a:rPr>
                  <a:t> </a:t>
                </a:r>
              </a:p>
            </p:txBody>
          </p:sp>
        </mc:Fallback>
      </mc:AlternateContent>
      <mc:AlternateContent xmlns:mc="http://schemas.openxmlformats.org/markup-compatibility/2006">
        <mc:Choice xmlns:a14="http://schemas.microsoft.com/office/drawing/2010/main" Requires="a14">
          <p:sp>
            <p:nvSpPr>
              <p:cNvPr id="9" name="Rectangle 8"/>
              <p:cNvSpPr/>
              <p:nvPr/>
            </p:nvSpPr>
            <p:spPr>
              <a:xfrm>
                <a:off x="304800" y="4813783"/>
                <a:ext cx="8382000" cy="1446550"/>
              </a:xfrm>
              <a:prstGeom prst="rect">
                <a:avLst/>
              </a:prstGeom>
            </p:spPr>
            <p:txBody>
              <a:bodyPr wrap="square">
                <a:spAutoFit/>
              </a:bodyPr>
              <a:lstStyle/>
              <a:p>
                <a:r>
                  <a:rPr lang="en-US" sz="2200" b="1" dirty="0"/>
                  <a:t>Conjunctive Normal Form:</a:t>
                </a:r>
                <a:r>
                  <a:rPr lang="en-US" sz="2200" dirty="0"/>
                  <a:t>  A proposition which is equivalent to a </a:t>
                </a:r>
                <a:r>
                  <a:rPr lang="en-US" sz="2200"/>
                  <a:t>given   proposition which </a:t>
                </a:r>
                <a:r>
                  <a:rPr lang="en-US" sz="2200" dirty="0"/>
                  <a:t>consists of a product of elementary sums is called a conjunctive normal form of the given formula.</a:t>
                </a:r>
              </a:p>
              <a:p>
                <a:r>
                  <a:rPr lang="en-US" sz="2200" dirty="0"/>
                  <a:t>Example : </a:t>
                </a:r>
                <a14:m>
                  <m:oMath xmlns:m="http://schemas.openxmlformats.org/officeDocument/2006/math">
                    <m:d>
                      <m:dPr>
                        <m:ctrlPr>
                          <a:rPr lang="en-US" sz="2200" i="1">
                            <a:latin typeface="Cambria Math" panose="02040503050406030204" pitchFamily="18" charset="0"/>
                          </a:rPr>
                        </m:ctrlPr>
                      </m:dPr>
                      <m:e>
                        <m:r>
                          <a:rPr lang="en-US" sz="2200" i="1">
                            <a:latin typeface="Cambria Math" panose="02040503050406030204" pitchFamily="18" charset="0"/>
                          </a:rPr>
                          <m:t>𝑝</m:t>
                        </m:r>
                        <m:r>
                          <a:rPr lang="en-US" sz="2200" i="1">
                            <a:latin typeface="Cambria Math" panose="02040503050406030204" pitchFamily="18" charset="0"/>
                            <a:ea typeface="Cambria Math" panose="02040503050406030204" pitchFamily="18" charset="0"/>
                          </a:rPr>
                          <m:t>∨</m:t>
                        </m:r>
                        <m:r>
                          <a:rPr lang="en-US" sz="2200" i="1">
                            <a:latin typeface="Cambria Math" panose="02040503050406030204" pitchFamily="18" charset="0"/>
                            <a:ea typeface="Cambria Math" panose="02040503050406030204" pitchFamily="18" charset="0"/>
                          </a:rPr>
                          <m:t>𝑞</m:t>
                        </m:r>
                        <m:r>
                          <a:rPr lang="en-US" sz="2200" i="1">
                            <a:latin typeface="Cambria Math" panose="02040503050406030204" pitchFamily="18" charset="0"/>
                            <a:ea typeface="Cambria Math" panose="02040503050406030204" pitchFamily="18" charset="0"/>
                          </a:rPr>
                          <m:t>∨</m:t>
                        </m:r>
                        <m:r>
                          <a:rPr lang="en-GB" sz="2200" b="0" i="1" smtClean="0">
                            <a:latin typeface="Cambria Math" panose="02040503050406030204" pitchFamily="18" charset="0"/>
                            <a:ea typeface="Cambria Math" panose="02040503050406030204" pitchFamily="18" charset="0"/>
                          </a:rPr>
                          <m:t>𝑟</m:t>
                        </m:r>
                      </m:e>
                    </m:d>
                    <m:r>
                      <a:rPr lang="en-US" sz="2200" i="1">
                        <a:latin typeface="Cambria Math" panose="02040503050406030204" pitchFamily="18" charset="0"/>
                        <a:ea typeface="Cambria Math" panose="02040503050406030204" pitchFamily="18" charset="0"/>
                      </a:rPr>
                      <m:t>∧</m:t>
                    </m:r>
                    <m:d>
                      <m:dPr>
                        <m:ctrlPr>
                          <a:rPr lang="en-US" sz="2200" i="1">
                            <a:latin typeface="Cambria Math" panose="02040503050406030204" pitchFamily="18" charset="0"/>
                            <a:ea typeface="Cambria Math" panose="02040503050406030204" pitchFamily="18" charset="0"/>
                          </a:rPr>
                        </m:ctrlPr>
                      </m:dPr>
                      <m:e>
                        <m:r>
                          <a:rPr lang="en-US" sz="2200" i="1">
                            <a:latin typeface="Cambria Math" panose="02040503050406030204" pitchFamily="18" charset="0"/>
                            <a:ea typeface="Cambria Math" panose="02040503050406030204" pitchFamily="18" charset="0"/>
                          </a:rPr>
                          <m:t>¬</m:t>
                        </m:r>
                        <m:r>
                          <a:rPr lang="en-US" sz="2200" i="1">
                            <a:latin typeface="Cambria Math" panose="02040503050406030204" pitchFamily="18" charset="0"/>
                            <a:ea typeface="Cambria Math" panose="02040503050406030204" pitchFamily="18" charset="0"/>
                          </a:rPr>
                          <m:t>𝑝</m:t>
                        </m:r>
                        <m:r>
                          <a:rPr lang="en-US" sz="2200" i="1">
                            <a:latin typeface="Cambria Math" panose="02040503050406030204" pitchFamily="18" charset="0"/>
                            <a:ea typeface="Cambria Math" panose="02040503050406030204" pitchFamily="18" charset="0"/>
                          </a:rPr>
                          <m:t>∨</m:t>
                        </m:r>
                        <m:r>
                          <a:rPr lang="en-GB" sz="2200" i="1">
                            <a:latin typeface="Cambria Math" panose="02040503050406030204" pitchFamily="18" charset="0"/>
                            <a:ea typeface="Cambria Math" panose="02040503050406030204" pitchFamily="18" charset="0"/>
                          </a:rPr>
                          <m:t>𝑞</m:t>
                        </m:r>
                        <m:r>
                          <a:rPr lang="en-US" sz="2200" i="1">
                            <a:latin typeface="Cambria Math" panose="02040503050406030204" pitchFamily="18" charset="0"/>
                            <a:ea typeface="Cambria Math" panose="02040503050406030204" pitchFamily="18" charset="0"/>
                          </a:rPr>
                          <m:t>∨</m:t>
                        </m:r>
                        <m:r>
                          <a:rPr lang="en-US" sz="2200" i="1">
                            <a:latin typeface="Cambria Math" panose="02040503050406030204" pitchFamily="18" charset="0"/>
                            <a:ea typeface="Cambria Math" panose="02040503050406030204" pitchFamily="18" charset="0"/>
                          </a:rPr>
                          <m:t>𝑟</m:t>
                        </m:r>
                      </m:e>
                    </m:d>
                    <m:r>
                      <a:rPr lang="en-US" sz="2200" b="0" i="1" smtClean="0">
                        <a:latin typeface="Cambria Math" panose="02040503050406030204" pitchFamily="18" charset="0"/>
                        <a:ea typeface="Cambria Math" panose="02040503050406030204" pitchFamily="18" charset="0"/>
                      </a:rPr>
                      <m:t>.</m:t>
                    </m:r>
                  </m:oMath>
                </a14:m>
                <a:endParaRPr lang="en-US" sz="2200" dirty="0"/>
              </a:p>
            </p:txBody>
          </p:sp>
        </mc:Choice>
        <mc:Fallback>
          <p:sp>
            <p:nvSpPr>
              <p:cNvPr id="9" name="Rectangle 8"/>
              <p:cNvSpPr>
                <a:spLocks noRot="1" noChangeAspect="1" noMove="1" noResize="1" noEditPoints="1" noAdjustHandles="1" noChangeArrowheads="1" noChangeShapeType="1" noTextEdit="1"/>
              </p:cNvSpPr>
              <p:nvPr/>
            </p:nvSpPr>
            <p:spPr>
              <a:xfrm>
                <a:off x="304800" y="4813783"/>
                <a:ext cx="8382000" cy="1446550"/>
              </a:xfrm>
              <a:prstGeom prst="rect">
                <a:avLst/>
              </a:prstGeom>
              <a:blipFill>
                <a:blip r:embed="rId4"/>
                <a:stretch>
                  <a:fillRect l="-945" t="-2954" r="-1964" b="-7595"/>
                </a:stretch>
              </a:blipFill>
            </p:spPr>
            <p:txBody>
              <a:bodyPr/>
              <a:lstStyle/>
              <a:p>
                <a:r>
                  <a:rPr lang="si-LK">
                    <a:noFill/>
                  </a:rPr>
                  <a:t> </a:t>
                </a:r>
              </a:p>
            </p:txBody>
          </p:sp>
        </mc:Fallback>
      </mc:AlternateContent>
    </p:spTree>
    <p:extLst>
      <p:ext uri="{BB962C8B-B14F-4D97-AF65-F5344CB8AC3E}">
        <p14:creationId xmlns:p14="http://schemas.microsoft.com/office/powerpoint/2010/main" val="27396155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Normal Forms</a:t>
            </a:r>
            <a:endParaRPr lang="en-GB" dirty="0"/>
          </a:p>
        </p:txBody>
      </p:sp>
      <p:sp>
        <p:nvSpPr>
          <p:cNvPr id="4" name="Date Placeholder 3"/>
          <p:cNvSpPr>
            <a:spLocks noGrp="1"/>
          </p:cNvSpPr>
          <p:nvPr>
            <p:ph type="dt" sz="half" idx="10"/>
          </p:nvPr>
        </p:nvSpPr>
        <p:spPr/>
        <p:txBody>
          <a:bodyPr/>
          <a:lstStyle/>
          <a:p>
            <a:fld id="{726F6409-643C-4B7C-874E-CD2BE0B3BEC0}" type="datetime3">
              <a:rPr lang="en-US" smtClean="0"/>
              <a:t>27 April 2026</a:t>
            </a:fld>
            <a:endParaRPr lang="en-US"/>
          </a:p>
        </p:txBody>
      </p:sp>
      <p:sp>
        <p:nvSpPr>
          <p:cNvPr id="5" name="Footer Placeholder 4"/>
          <p:cNvSpPr>
            <a:spLocks noGrp="1"/>
          </p:cNvSpPr>
          <p:nvPr>
            <p:ph type="ftr" sz="quarter" idx="11"/>
          </p:nvPr>
        </p:nvSpPr>
        <p:spPr/>
        <p:txBody>
          <a:bodyPr/>
          <a:lstStyle/>
          <a:p>
            <a:r>
              <a:rPr lang="en-US"/>
              <a:t>SCS 1302   Discrete Mathematics 1       Prof. D D Karunaratna</a:t>
            </a:r>
          </a:p>
        </p:txBody>
      </p:sp>
      <p:sp>
        <p:nvSpPr>
          <p:cNvPr id="6" name="Slide Number Placeholder 5"/>
          <p:cNvSpPr>
            <a:spLocks noGrp="1"/>
          </p:cNvSpPr>
          <p:nvPr>
            <p:ph type="sldNum" sz="quarter" idx="12"/>
          </p:nvPr>
        </p:nvSpPr>
        <p:spPr/>
        <p:txBody>
          <a:bodyPr/>
          <a:lstStyle/>
          <a:p>
            <a:fld id="{0CA841A6-7C02-4C92-B6EE-5DBCC2AD53D0}" type="slidenum">
              <a:rPr lang="en-US" smtClean="0"/>
              <a:t>55</a:t>
            </a:fld>
            <a:endParaRPr lang="en-US"/>
          </a:p>
        </p:txBody>
      </p:sp>
      <mc:AlternateContent xmlns:mc="http://schemas.openxmlformats.org/markup-compatibility/2006" xmlns:a14="http://schemas.microsoft.com/office/drawing/2010/main">
        <mc:Choice Requires="a14">
          <p:sp>
            <p:nvSpPr>
              <p:cNvPr id="7" name="TextBox 6"/>
              <p:cNvSpPr txBox="1"/>
              <p:nvPr/>
            </p:nvSpPr>
            <p:spPr>
              <a:xfrm>
                <a:off x="228600" y="1706940"/>
                <a:ext cx="8763000" cy="2123658"/>
              </a:xfrm>
              <a:prstGeom prst="rect">
                <a:avLst/>
              </a:prstGeom>
              <a:noFill/>
            </p:spPr>
            <p:txBody>
              <a:bodyPr wrap="square" rtlCol="0">
                <a:spAutoFit/>
              </a:bodyPr>
              <a:lstStyle/>
              <a:p>
                <a:r>
                  <a:rPr lang="en-US" sz="2200" dirty="0"/>
                  <a:t>If a compound proposition comprises of only conjunction and negation operators it is said to be  in  </a:t>
                </a:r>
                <a:r>
                  <a:rPr lang="en-US" sz="2200" b="1" dirty="0"/>
                  <a:t>elementary product form</a:t>
                </a:r>
                <a:r>
                  <a:rPr lang="en-US" sz="2200" dirty="0"/>
                  <a:t>.</a:t>
                </a:r>
              </a:p>
              <a:p>
                <a:r>
                  <a:rPr lang="en-US" sz="2200" dirty="0"/>
                  <a:t> </a:t>
                </a:r>
                <a:r>
                  <a:rPr lang="en-US" sz="2200" dirty="0" err="1"/>
                  <a:t>E.g</a:t>
                </a:r>
                <a:r>
                  <a:rPr lang="en-US" sz="2200" dirty="0"/>
                  <a:t>:  </a:t>
                </a:r>
                <a14:m>
                  <m:oMath xmlns:m="http://schemas.openxmlformats.org/officeDocument/2006/math">
                    <m:r>
                      <a:rPr lang="en-US" sz="2200" b="0" i="1" smtClean="0">
                        <a:latin typeface="Cambria Math" panose="02040503050406030204" pitchFamily="18" charset="0"/>
                      </a:rPr>
                      <m:t>𝑝</m:t>
                    </m:r>
                    <m:r>
                      <a:rPr lang="en-US" sz="2200" b="0" i="1" smtClean="0">
                        <a:latin typeface="Cambria Math" panose="02040503050406030204" pitchFamily="18" charset="0"/>
                        <a:ea typeface="Cambria Math" panose="02040503050406030204" pitchFamily="18" charset="0"/>
                      </a:rPr>
                      <m:t>∧</m:t>
                    </m:r>
                    <m:r>
                      <a:rPr lang="en-US" sz="2200" b="0" i="1" smtClean="0">
                        <a:latin typeface="Cambria Math" panose="02040503050406030204" pitchFamily="18" charset="0"/>
                        <a:ea typeface="Cambria Math" panose="02040503050406030204" pitchFamily="18" charset="0"/>
                      </a:rPr>
                      <m:t>𝑞</m:t>
                    </m:r>
                    <m:r>
                      <a:rPr lang="en-US" sz="2200" b="0" i="1" smtClean="0">
                        <a:latin typeface="Cambria Math" panose="02040503050406030204" pitchFamily="18" charset="0"/>
                        <a:ea typeface="Cambria Math" panose="02040503050406030204" pitchFamily="18" charset="0"/>
                      </a:rPr>
                      <m:t>∧¬</m:t>
                    </m:r>
                    <m:r>
                      <a:rPr lang="en-US" sz="2200" b="0" i="1" smtClean="0">
                        <a:latin typeface="Cambria Math" panose="02040503050406030204" pitchFamily="18" charset="0"/>
                        <a:ea typeface="Cambria Math" panose="02040503050406030204" pitchFamily="18" charset="0"/>
                      </a:rPr>
                      <m:t>𝑟</m:t>
                    </m:r>
                  </m:oMath>
                </a14:m>
                <a:endParaRPr lang="en-US" sz="2200" dirty="0"/>
              </a:p>
              <a:p>
                <a:endParaRPr lang="en-US" sz="2200" dirty="0"/>
              </a:p>
              <a:p>
                <a:r>
                  <a:rPr lang="en-US" sz="2200" dirty="0"/>
                  <a:t>IF A sum (disjunction) of the variables and their negations in a formula is called an </a:t>
                </a:r>
                <a:r>
                  <a:rPr lang="en-US" sz="2200" b="1" dirty="0"/>
                  <a:t>elementary sum form</a:t>
                </a:r>
                <a:r>
                  <a:rPr lang="en-US" sz="2200" dirty="0"/>
                  <a:t>. Example: </a:t>
                </a:r>
                <a14:m>
                  <m:oMath xmlns:m="http://schemas.openxmlformats.org/officeDocument/2006/math">
                    <m:r>
                      <a:rPr lang="en-US" sz="2200" b="0" i="0" smtClean="0">
                        <a:latin typeface="Cambria Math" panose="02040503050406030204" pitchFamily="18" charset="0"/>
                      </a:rPr>
                      <m:t> </m:t>
                    </m:r>
                    <m:r>
                      <a:rPr lang="en-US" sz="2200" b="0" i="1" smtClean="0">
                        <a:latin typeface="Cambria Math" panose="02040503050406030204" pitchFamily="18" charset="0"/>
                      </a:rPr>
                      <m:t>𝑝</m:t>
                    </m:r>
                    <m:r>
                      <a:rPr lang="en-US" sz="2200" b="0" i="1" smtClean="0">
                        <a:latin typeface="Cambria Math" panose="02040503050406030204" pitchFamily="18" charset="0"/>
                        <a:ea typeface="Cambria Math" panose="02040503050406030204" pitchFamily="18" charset="0"/>
                      </a:rPr>
                      <m:t>∨¬</m:t>
                    </m:r>
                    <m:r>
                      <a:rPr lang="en-US" sz="2200" b="0" i="1" smtClean="0">
                        <a:latin typeface="Cambria Math" panose="02040503050406030204" pitchFamily="18" charset="0"/>
                        <a:ea typeface="Cambria Math" panose="02040503050406030204" pitchFamily="18" charset="0"/>
                      </a:rPr>
                      <m:t>𝑞</m:t>
                    </m:r>
                    <m:r>
                      <a:rPr lang="en-US" sz="2200" b="0" i="1" smtClean="0">
                        <a:latin typeface="Cambria Math" panose="02040503050406030204" pitchFamily="18" charset="0"/>
                        <a:ea typeface="Cambria Math" panose="02040503050406030204" pitchFamily="18" charset="0"/>
                      </a:rPr>
                      <m:t>∨</m:t>
                    </m:r>
                    <m:r>
                      <a:rPr lang="en-US" sz="2200" b="0" i="1" smtClean="0">
                        <a:latin typeface="Cambria Math" panose="02040503050406030204" pitchFamily="18" charset="0"/>
                        <a:ea typeface="Cambria Math" panose="02040503050406030204" pitchFamily="18" charset="0"/>
                      </a:rPr>
                      <m:t>𝑟</m:t>
                    </m:r>
                  </m:oMath>
                </a14:m>
                <a:endParaRPr lang="en-US" sz="2200" dirty="0"/>
              </a:p>
            </p:txBody>
          </p:sp>
        </mc:Choice>
        <mc:Fallback xmlns="">
          <p:sp>
            <p:nvSpPr>
              <p:cNvPr id="7" name="TextBox 6"/>
              <p:cNvSpPr txBox="1">
                <a:spLocks noRot="1" noChangeAspect="1" noMove="1" noResize="1" noEditPoints="1" noAdjustHandles="1" noChangeArrowheads="1" noChangeShapeType="1" noTextEdit="1"/>
              </p:cNvSpPr>
              <p:nvPr/>
            </p:nvSpPr>
            <p:spPr>
              <a:xfrm>
                <a:off x="228600" y="1706940"/>
                <a:ext cx="8763000" cy="2123658"/>
              </a:xfrm>
              <a:prstGeom prst="rect">
                <a:avLst/>
              </a:prstGeom>
              <a:blipFill>
                <a:blip r:embed="rId2"/>
                <a:stretch>
                  <a:fillRect l="-905" t="-2011" b="-5172"/>
                </a:stretch>
              </a:blipFill>
            </p:spPr>
            <p:txBody>
              <a:bodyPr/>
              <a:lstStyle/>
              <a:p>
                <a:r>
                  <a:rPr lang="si-LK">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304800" y="4212261"/>
                <a:ext cx="8534400" cy="1446550"/>
              </a:xfrm>
              <a:prstGeom prst="rect">
                <a:avLst/>
              </a:prstGeom>
              <a:noFill/>
            </p:spPr>
            <p:txBody>
              <a:bodyPr wrap="square" rtlCol="0">
                <a:spAutoFit/>
              </a:bodyPr>
              <a:lstStyle/>
              <a:p>
                <a:r>
                  <a:rPr lang="en-US" sz="2200" b="1" dirty="0"/>
                  <a:t>Disjunctive Normal Form:</a:t>
                </a:r>
                <a:r>
                  <a:rPr lang="en-US" sz="2200" dirty="0"/>
                  <a:t>  A proposition which is equivalent to a given proposition, and which consists of a sum of elementary products is called a disjunctive normal form of the given formula.</a:t>
                </a:r>
              </a:p>
              <a:p>
                <a:r>
                  <a:rPr lang="en-US" sz="2200" dirty="0"/>
                  <a:t>Example: </a:t>
                </a:r>
                <a14:m>
                  <m:oMath xmlns:m="http://schemas.openxmlformats.org/officeDocument/2006/math">
                    <m:r>
                      <a:rPr lang="en-US" sz="2200" b="0" i="0" smtClean="0">
                        <a:latin typeface="Cambria Math" panose="02040503050406030204" pitchFamily="18" charset="0"/>
                      </a:rPr>
                      <m:t>(</m:t>
                    </m:r>
                    <m:r>
                      <a:rPr lang="en-US" sz="2200" i="1">
                        <a:latin typeface="Cambria Math" panose="02040503050406030204" pitchFamily="18" charset="0"/>
                      </a:rPr>
                      <m:t>𝑝</m:t>
                    </m:r>
                    <m:r>
                      <a:rPr lang="en-US" sz="2200" i="1">
                        <a:latin typeface="Cambria Math" panose="02040503050406030204" pitchFamily="18" charset="0"/>
                        <a:ea typeface="Cambria Math" panose="02040503050406030204" pitchFamily="18" charset="0"/>
                      </a:rPr>
                      <m:t>∧</m:t>
                    </m:r>
                    <m:r>
                      <a:rPr lang="en-US" sz="2200" i="1">
                        <a:latin typeface="Cambria Math" panose="02040503050406030204" pitchFamily="18" charset="0"/>
                        <a:ea typeface="Cambria Math" panose="02040503050406030204" pitchFamily="18" charset="0"/>
                      </a:rPr>
                      <m:t>𝑞</m:t>
                    </m:r>
                    <m:r>
                      <a:rPr lang="en-US" sz="2200" b="0" i="1" smtClean="0">
                        <a:latin typeface="Cambria Math" panose="02040503050406030204" pitchFamily="18" charset="0"/>
                        <a:ea typeface="Cambria Math" panose="02040503050406030204" pitchFamily="18" charset="0"/>
                      </a:rPr>
                      <m:t>)</m:t>
                    </m:r>
                    <m:r>
                      <a:rPr lang="en-US" sz="2200" i="1">
                        <a:latin typeface="Cambria Math" panose="02040503050406030204" pitchFamily="18" charset="0"/>
                        <a:ea typeface="Cambria Math" panose="02040503050406030204" pitchFamily="18" charset="0"/>
                      </a:rPr>
                      <m:t>∨</m:t>
                    </m:r>
                    <m:r>
                      <a:rPr lang="en-US" sz="2200">
                        <a:latin typeface="Cambria Math" panose="02040503050406030204" pitchFamily="18" charset="0"/>
                      </a:rPr>
                      <m:t>(</m:t>
                    </m:r>
                    <m:r>
                      <a:rPr lang="en-US" sz="2200" i="1">
                        <a:latin typeface="Cambria Math" panose="02040503050406030204" pitchFamily="18" charset="0"/>
                      </a:rPr>
                      <m:t>𝑝</m:t>
                    </m:r>
                    <m:r>
                      <a:rPr lang="en-US" sz="2200" i="1">
                        <a:latin typeface="Cambria Math" panose="02040503050406030204" pitchFamily="18" charset="0"/>
                        <a:ea typeface="Cambria Math" panose="02040503050406030204" pitchFamily="18" charset="0"/>
                      </a:rPr>
                      <m:t>∧</m:t>
                    </m:r>
                    <m:r>
                      <a:rPr lang="en-US" sz="2200" i="1" smtClean="0">
                        <a:latin typeface="Cambria Math" panose="02040503050406030204" pitchFamily="18" charset="0"/>
                        <a:ea typeface="Cambria Math" panose="02040503050406030204" pitchFamily="18" charset="0"/>
                      </a:rPr>
                      <m:t>¬</m:t>
                    </m:r>
                    <m:r>
                      <a:rPr lang="en-US" sz="2200" i="1">
                        <a:latin typeface="Cambria Math" panose="02040503050406030204" pitchFamily="18" charset="0"/>
                        <a:ea typeface="Cambria Math" panose="02040503050406030204" pitchFamily="18" charset="0"/>
                      </a:rPr>
                      <m:t>𝑞</m:t>
                    </m:r>
                    <m:r>
                      <a:rPr lang="en-US" sz="2200" i="1">
                        <a:latin typeface="Cambria Math" panose="02040503050406030204" pitchFamily="18" charset="0"/>
                        <a:ea typeface="Cambria Math" panose="02040503050406030204" pitchFamily="18" charset="0"/>
                      </a:rPr>
                      <m:t>)∨</m:t>
                    </m:r>
                    <m:r>
                      <a:rPr lang="en-US" sz="2200">
                        <a:latin typeface="Cambria Math" panose="02040503050406030204" pitchFamily="18" charset="0"/>
                      </a:rPr>
                      <m:t>(</m:t>
                    </m:r>
                    <m:r>
                      <a:rPr lang="en-US" sz="2200" i="1" smtClean="0">
                        <a:latin typeface="Cambria Math" panose="02040503050406030204" pitchFamily="18" charset="0"/>
                        <a:ea typeface="Cambria Math" panose="02040503050406030204" pitchFamily="18" charset="0"/>
                      </a:rPr>
                      <m:t>¬</m:t>
                    </m:r>
                    <m:r>
                      <a:rPr lang="en-US" sz="2200" i="1">
                        <a:latin typeface="Cambria Math" panose="02040503050406030204" pitchFamily="18" charset="0"/>
                      </a:rPr>
                      <m:t>𝑝</m:t>
                    </m:r>
                    <m:r>
                      <a:rPr lang="en-US" sz="2200" i="1">
                        <a:latin typeface="Cambria Math" panose="02040503050406030204" pitchFamily="18" charset="0"/>
                        <a:ea typeface="Cambria Math" panose="02040503050406030204" pitchFamily="18" charset="0"/>
                      </a:rPr>
                      <m:t>∧</m:t>
                    </m:r>
                    <m:r>
                      <a:rPr lang="en-US" sz="2200" i="1">
                        <a:latin typeface="Cambria Math" panose="02040503050406030204" pitchFamily="18" charset="0"/>
                        <a:ea typeface="Cambria Math" panose="02040503050406030204" pitchFamily="18" charset="0"/>
                      </a:rPr>
                      <m:t>𝑞</m:t>
                    </m:r>
                    <m:r>
                      <a:rPr lang="en-US" sz="2200" i="1">
                        <a:latin typeface="Cambria Math" panose="02040503050406030204" pitchFamily="18" charset="0"/>
                        <a:ea typeface="Cambria Math" panose="02040503050406030204" pitchFamily="18" charset="0"/>
                      </a:rPr>
                      <m:t>)</m:t>
                    </m:r>
                  </m:oMath>
                </a14:m>
                <a:endParaRPr lang="en-US" sz="2200" dirty="0"/>
              </a:p>
            </p:txBody>
          </p:sp>
        </mc:Choice>
        <mc:Fallback xmlns="">
          <p:sp>
            <p:nvSpPr>
              <p:cNvPr id="8" name="TextBox 7"/>
              <p:cNvSpPr txBox="1">
                <a:spLocks noRot="1" noChangeAspect="1" noMove="1" noResize="1" noEditPoints="1" noAdjustHandles="1" noChangeArrowheads="1" noChangeShapeType="1" noTextEdit="1"/>
              </p:cNvSpPr>
              <p:nvPr/>
            </p:nvSpPr>
            <p:spPr>
              <a:xfrm>
                <a:off x="304800" y="4212261"/>
                <a:ext cx="8534400" cy="1446550"/>
              </a:xfrm>
              <a:prstGeom prst="rect">
                <a:avLst/>
              </a:prstGeom>
              <a:blipFill>
                <a:blip r:embed="rId3"/>
                <a:stretch>
                  <a:fillRect l="-929" t="-2954" r="-786" b="-7595"/>
                </a:stretch>
              </a:blipFill>
            </p:spPr>
            <p:txBody>
              <a:bodyPr/>
              <a:lstStyle/>
              <a:p>
                <a:r>
                  <a:rPr lang="si-LK">
                    <a:noFill/>
                  </a:rPr>
                  <a:t> </a:t>
                </a:r>
              </a:p>
            </p:txBody>
          </p:sp>
        </mc:Fallback>
      </mc:AlternateContent>
    </p:spTree>
    <p:extLst>
      <p:ext uri="{BB962C8B-B14F-4D97-AF65-F5344CB8AC3E}">
        <p14:creationId xmlns:p14="http://schemas.microsoft.com/office/powerpoint/2010/main" val="6482925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78A9-649A-991A-F2F4-FAC1ACACFE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0161E2-8245-FA8A-EEE6-A377363866A7}"/>
              </a:ext>
            </a:extLst>
          </p:cNvPr>
          <p:cNvSpPr>
            <a:spLocks noGrp="1"/>
          </p:cNvSpPr>
          <p:nvPr>
            <p:ph type="title"/>
          </p:nvPr>
        </p:nvSpPr>
        <p:spPr/>
        <p:txBody>
          <a:bodyPr/>
          <a:lstStyle/>
          <a:p>
            <a:r>
              <a:rPr lang="en-US" b="1" dirty="0"/>
              <a:t>Normal Forms</a:t>
            </a:r>
            <a:endParaRPr lang="en-GB" dirty="0"/>
          </a:p>
        </p:txBody>
      </p:sp>
      <p:sp>
        <p:nvSpPr>
          <p:cNvPr id="4" name="Date Placeholder 3">
            <a:extLst>
              <a:ext uri="{FF2B5EF4-FFF2-40B4-BE49-F238E27FC236}">
                <a16:creationId xmlns:a16="http://schemas.microsoft.com/office/drawing/2014/main" id="{9241C2E4-568A-991D-1007-46A8D446B553}"/>
              </a:ext>
            </a:extLst>
          </p:cNvPr>
          <p:cNvSpPr>
            <a:spLocks noGrp="1"/>
          </p:cNvSpPr>
          <p:nvPr>
            <p:ph type="dt" sz="half" idx="10"/>
          </p:nvPr>
        </p:nvSpPr>
        <p:spPr/>
        <p:txBody>
          <a:bodyPr/>
          <a:lstStyle/>
          <a:p>
            <a:fld id="{A21FDE08-01F7-43A0-B1E0-57115C69DEDB}" type="datetime3">
              <a:rPr lang="en-US" smtClean="0"/>
              <a:t>27 April 2026</a:t>
            </a:fld>
            <a:endParaRPr lang="en-US"/>
          </a:p>
        </p:txBody>
      </p:sp>
      <p:sp>
        <p:nvSpPr>
          <p:cNvPr id="5" name="Footer Placeholder 4">
            <a:extLst>
              <a:ext uri="{FF2B5EF4-FFF2-40B4-BE49-F238E27FC236}">
                <a16:creationId xmlns:a16="http://schemas.microsoft.com/office/drawing/2014/main" id="{64520790-6A9B-00A3-6D33-82FA646193CE}"/>
              </a:ext>
            </a:extLst>
          </p:cNvPr>
          <p:cNvSpPr>
            <a:spLocks noGrp="1"/>
          </p:cNvSpPr>
          <p:nvPr>
            <p:ph type="ftr" sz="quarter" idx="11"/>
          </p:nvPr>
        </p:nvSpPr>
        <p:spPr/>
        <p:txBody>
          <a:bodyPr/>
          <a:lstStyle/>
          <a:p>
            <a:r>
              <a:rPr lang="en-US"/>
              <a:t>SCS 1302   Discrete Mathematics 1       Prof. D D Karunaratna</a:t>
            </a:r>
          </a:p>
        </p:txBody>
      </p:sp>
      <p:sp>
        <p:nvSpPr>
          <p:cNvPr id="6" name="Slide Number Placeholder 5">
            <a:extLst>
              <a:ext uri="{FF2B5EF4-FFF2-40B4-BE49-F238E27FC236}">
                <a16:creationId xmlns:a16="http://schemas.microsoft.com/office/drawing/2014/main" id="{A190F872-96EF-8047-61BC-B2C8B70D752F}"/>
              </a:ext>
            </a:extLst>
          </p:cNvPr>
          <p:cNvSpPr>
            <a:spLocks noGrp="1"/>
          </p:cNvSpPr>
          <p:nvPr>
            <p:ph type="sldNum" sz="quarter" idx="12"/>
          </p:nvPr>
        </p:nvSpPr>
        <p:spPr/>
        <p:txBody>
          <a:bodyPr/>
          <a:lstStyle/>
          <a:p>
            <a:fld id="{0CA841A6-7C02-4C92-B6EE-5DBCC2AD53D0}" type="slidenum">
              <a:rPr lang="en-US" smtClean="0"/>
              <a:t>56</a:t>
            </a:fld>
            <a:endParaRPr lang="en-US"/>
          </a:p>
        </p:txBody>
      </p:sp>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A48908F8-31F6-ABA5-DB00-E6EFC9AE7B77}"/>
                  </a:ext>
                </a:extLst>
              </p:cNvPr>
              <p:cNvSpPr/>
              <p:nvPr/>
            </p:nvSpPr>
            <p:spPr>
              <a:xfrm>
                <a:off x="304800" y="1982450"/>
                <a:ext cx="8382000" cy="1446550"/>
              </a:xfrm>
              <a:prstGeom prst="rect">
                <a:avLst/>
              </a:prstGeom>
            </p:spPr>
            <p:txBody>
              <a:bodyPr wrap="square">
                <a:spAutoFit/>
              </a:bodyPr>
              <a:lstStyle/>
              <a:p>
                <a:r>
                  <a:rPr lang="en-US" sz="2200" b="1" dirty="0"/>
                  <a:t>Conjunctive Normal Form:</a:t>
                </a:r>
                <a:r>
                  <a:rPr lang="en-US" sz="2200" dirty="0"/>
                  <a:t>  A proposition which is equivalent to a given proposition, and which consists of a product of elementary sums is called a conjunctive normal form of the given proposition.</a:t>
                </a:r>
              </a:p>
              <a:p>
                <a:r>
                  <a:rPr lang="en-US" sz="2200" dirty="0"/>
                  <a:t>Example : </a:t>
                </a:r>
                <a14:m>
                  <m:oMath xmlns:m="http://schemas.openxmlformats.org/officeDocument/2006/math">
                    <m:d>
                      <m:dPr>
                        <m:ctrlPr>
                          <a:rPr lang="en-US" sz="2200" i="1">
                            <a:latin typeface="Cambria Math" panose="02040503050406030204" pitchFamily="18" charset="0"/>
                          </a:rPr>
                        </m:ctrlPr>
                      </m:dPr>
                      <m:e>
                        <m:r>
                          <a:rPr lang="en-US" sz="2200" i="1">
                            <a:latin typeface="Cambria Math" panose="02040503050406030204" pitchFamily="18" charset="0"/>
                          </a:rPr>
                          <m:t>𝑝</m:t>
                        </m:r>
                        <m:r>
                          <a:rPr lang="en-US" sz="2200" i="1">
                            <a:latin typeface="Cambria Math" panose="02040503050406030204" pitchFamily="18" charset="0"/>
                            <a:ea typeface="Cambria Math" panose="02040503050406030204" pitchFamily="18" charset="0"/>
                          </a:rPr>
                          <m:t>∨</m:t>
                        </m:r>
                        <m:r>
                          <a:rPr lang="en-US" sz="2200" i="1">
                            <a:latin typeface="Cambria Math" panose="02040503050406030204" pitchFamily="18" charset="0"/>
                            <a:ea typeface="Cambria Math" panose="02040503050406030204" pitchFamily="18" charset="0"/>
                          </a:rPr>
                          <m:t>𝑞</m:t>
                        </m:r>
                        <m:r>
                          <a:rPr lang="en-US" sz="2200" i="1">
                            <a:latin typeface="Cambria Math" panose="02040503050406030204" pitchFamily="18" charset="0"/>
                            <a:ea typeface="Cambria Math" panose="02040503050406030204" pitchFamily="18" charset="0"/>
                          </a:rPr>
                          <m:t>∨</m:t>
                        </m:r>
                        <m:r>
                          <a:rPr lang="en-GB" sz="2200" b="0" i="1" smtClean="0">
                            <a:latin typeface="Cambria Math" panose="02040503050406030204" pitchFamily="18" charset="0"/>
                            <a:ea typeface="Cambria Math" panose="02040503050406030204" pitchFamily="18" charset="0"/>
                          </a:rPr>
                          <m:t>𝑟</m:t>
                        </m:r>
                      </m:e>
                    </m:d>
                    <m:r>
                      <a:rPr lang="en-US" sz="2200" i="1">
                        <a:latin typeface="Cambria Math" panose="02040503050406030204" pitchFamily="18" charset="0"/>
                        <a:ea typeface="Cambria Math" panose="02040503050406030204" pitchFamily="18" charset="0"/>
                      </a:rPr>
                      <m:t>∧</m:t>
                    </m:r>
                    <m:d>
                      <m:dPr>
                        <m:ctrlPr>
                          <a:rPr lang="en-US" sz="2200" i="1">
                            <a:latin typeface="Cambria Math" panose="02040503050406030204" pitchFamily="18" charset="0"/>
                            <a:ea typeface="Cambria Math" panose="02040503050406030204" pitchFamily="18" charset="0"/>
                          </a:rPr>
                        </m:ctrlPr>
                      </m:dPr>
                      <m:e>
                        <m:r>
                          <a:rPr lang="en-US" sz="2200" i="1">
                            <a:latin typeface="Cambria Math" panose="02040503050406030204" pitchFamily="18" charset="0"/>
                            <a:ea typeface="Cambria Math" panose="02040503050406030204" pitchFamily="18" charset="0"/>
                          </a:rPr>
                          <m:t>¬</m:t>
                        </m:r>
                        <m:r>
                          <a:rPr lang="en-US" sz="2200" i="1">
                            <a:latin typeface="Cambria Math" panose="02040503050406030204" pitchFamily="18" charset="0"/>
                            <a:ea typeface="Cambria Math" panose="02040503050406030204" pitchFamily="18" charset="0"/>
                          </a:rPr>
                          <m:t>𝑝</m:t>
                        </m:r>
                        <m:r>
                          <a:rPr lang="en-US" sz="2200" i="1">
                            <a:latin typeface="Cambria Math" panose="02040503050406030204" pitchFamily="18" charset="0"/>
                            <a:ea typeface="Cambria Math" panose="02040503050406030204" pitchFamily="18" charset="0"/>
                          </a:rPr>
                          <m:t>∨</m:t>
                        </m:r>
                        <m:r>
                          <a:rPr lang="en-GB" sz="2200" i="1">
                            <a:latin typeface="Cambria Math" panose="02040503050406030204" pitchFamily="18" charset="0"/>
                            <a:ea typeface="Cambria Math" panose="02040503050406030204" pitchFamily="18" charset="0"/>
                          </a:rPr>
                          <m:t>𝑞</m:t>
                        </m:r>
                        <m:r>
                          <a:rPr lang="en-US" sz="2200" i="1">
                            <a:latin typeface="Cambria Math" panose="02040503050406030204" pitchFamily="18" charset="0"/>
                            <a:ea typeface="Cambria Math" panose="02040503050406030204" pitchFamily="18" charset="0"/>
                          </a:rPr>
                          <m:t>∨</m:t>
                        </m:r>
                        <m:r>
                          <a:rPr lang="en-US" sz="2200" i="1">
                            <a:latin typeface="Cambria Math" panose="02040503050406030204" pitchFamily="18" charset="0"/>
                            <a:ea typeface="Cambria Math" panose="02040503050406030204" pitchFamily="18" charset="0"/>
                          </a:rPr>
                          <m:t>𝑟</m:t>
                        </m:r>
                      </m:e>
                    </m:d>
                    <m:r>
                      <a:rPr lang="en-US" sz="2200" b="0" i="1" smtClean="0">
                        <a:latin typeface="Cambria Math" panose="02040503050406030204" pitchFamily="18" charset="0"/>
                        <a:ea typeface="Cambria Math" panose="02040503050406030204" pitchFamily="18" charset="0"/>
                      </a:rPr>
                      <m:t>.</m:t>
                    </m:r>
                  </m:oMath>
                </a14:m>
                <a:endParaRPr lang="en-US" sz="2200" dirty="0"/>
              </a:p>
            </p:txBody>
          </p:sp>
        </mc:Choice>
        <mc:Fallback xmlns="">
          <p:sp>
            <p:nvSpPr>
              <p:cNvPr id="9" name="Rectangle 8">
                <a:extLst>
                  <a:ext uri="{FF2B5EF4-FFF2-40B4-BE49-F238E27FC236}">
                    <a16:creationId xmlns:a16="http://schemas.microsoft.com/office/drawing/2014/main" id="{A48908F8-31F6-ABA5-DB00-E6EFC9AE7B77}"/>
                  </a:ext>
                </a:extLst>
              </p:cNvPr>
              <p:cNvSpPr>
                <a:spLocks noRot="1" noChangeAspect="1" noMove="1" noResize="1" noEditPoints="1" noAdjustHandles="1" noChangeArrowheads="1" noChangeShapeType="1" noTextEdit="1"/>
              </p:cNvSpPr>
              <p:nvPr/>
            </p:nvSpPr>
            <p:spPr>
              <a:xfrm>
                <a:off x="304800" y="1982450"/>
                <a:ext cx="8382000" cy="1446550"/>
              </a:xfrm>
              <a:prstGeom prst="rect">
                <a:avLst/>
              </a:prstGeom>
              <a:blipFill>
                <a:blip r:embed="rId2"/>
                <a:stretch>
                  <a:fillRect l="-945" t="-2941" r="-436" b="-7563"/>
                </a:stretch>
              </a:blipFill>
            </p:spPr>
            <p:txBody>
              <a:bodyPr/>
              <a:lstStyle/>
              <a:p>
                <a:r>
                  <a:rPr lang="si-LK">
                    <a:noFill/>
                  </a:rPr>
                  <a:t> </a:t>
                </a:r>
              </a:p>
            </p:txBody>
          </p:sp>
        </mc:Fallback>
      </mc:AlternateContent>
    </p:spTree>
    <p:extLst>
      <p:ext uri="{BB962C8B-B14F-4D97-AF65-F5344CB8AC3E}">
        <p14:creationId xmlns:p14="http://schemas.microsoft.com/office/powerpoint/2010/main" val="13463892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Example -1 (method 1)</a:t>
            </a:r>
            <a:endParaRPr lang="en-GB" dirty="0"/>
          </a:p>
        </p:txBody>
      </p:sp>
      <p:sp>
        <p:nvSpPr>
          <p:cNvPr id="4" name="Date Placeholder 3"/>
          <p:cNvSpPr>
            <a:spLocks noGrp="1"/>
          </p:cNvSpPr>
          <p:nvPr>
            <p:ph type="dt" sz="half" idx="10"/>
          </p:nvPr>
        </p:nvSpPr>
        <p:spPr/>
        <p:txBody>
          <a:bodyPr/>
          <a:lstStyle/>
          <a:p>
            <a:fld id="{2FA4CAE1-0F62-40DA-A727-DD73AFA009C6}" type="datetime3">
              <a:rPr lang="en-US" smtClean="0"/>
              <a:t>27 April 2026</a:t>
            </a:fld>
            <a:endParaRPr lang="en-US"/>
          </a:p>
        </p:txBody>
      </p:sp>
      <p:sp>
        <p:nvSpPr>
          <p:cNvPr id="5" name="Footer Placeholder 4"/>
          <p:cNvSpPr>
            <a:spLocks noGrp="1"/>
          </p:cNvSpPr>
          <p:nvPr>
            <p:ph type="ftr" sz="quarter" idx="11"/>
          </p:nvPr>
        </p:nvSpPr>
        <p:spPr/>
        <p:txBody>
          <a:bodyPr/>
          <a:lstStyle/>
          <a:p>
            <a:r>
              <a:rPr lang="en-US"/>
              <a:t>SCS 1302   Discrete Mathematics 1       Prof. D D Karunaratna</a:t>
            </a:r>
          </a:p>
        </p:txBody>
      </p:sp>
      <p:sp>
        <p:nvSpPr>
          <p:cNvPr id="6" name="Slide Number Placeholder 5"/>
          <p:cNvSpPr>
            <a:spLocks noGrp="1"/>
          </p:cNvSpPr>
          <p:nvPr>
            <p:ph type="sldNum" sz="quarter" idx="12"/>
          </p:nvPr>
        </p:nvSpPr>
        <p:spPr/>
        <p:txBody>
          <a:bodyPr/>
          <a:lstStyle/>
          <a:p>
            <a:fld id="{0CA841A6-7C02-4C92-B6EE-5DBCC2AD53D0}" type="slidenum">
              <a:rPr lang="en-US" smtClean="0"/>
              <a:t>57</a:t>
            </a:fld>
            <a:endParaRPr lang="en-US"/>
          </a:p>
        </p:txBody>
      </p:sp>
      <mc:AlternateContent xmlns:mc="http://schemas.openxmlformats.org/markup-compatibility/2006" xmlns:a14="http://schemas.microsoft.com/office/drawing/2010/main">
        <mc:Choice Requires="a14">
          <p:sp>
            <p:nvSpPr>
              <p:cNvPr id="7" name="Rectangle 6"/>
              <p:cNvSpPr/>
              <p:nvPr/>
            </p:nvSpPr>
            <p:spPr>
              <a:xfrm>
                <a:off x="304800" y="1817322"/>
                <a:ext cx="8229600" cy="830997"/>
              </a:xfrm>
              <a:prstGeom prst="rect">
                <a:avLst/>
              </a:prstGeom>
            </p:spPr>
            <p:txBody>
              <a:bodyPr wrap="square">
                <a:spAutoFit/>
              </a:bodyPr>
              <a:lstStyle/>
              <a:p>
                <a:r>
                  <a:rPr lang="en-US" sz="2400" dirty="0"/>
                  <a:t>Find the disjunctive  normal form of the proposition</a:t>
                </a:r>
              </a:p>
              <a:p>
                <a:r>
                  <a:rPr lang="en-US" sz="2400" dirty="0"/>
                  <a:t> </a:t>
                </a:r>
                <a14:m>
                  <m:oMath xmlns:m="http://schemas.openxmlformats.org/officeDocument/2006/math">
                    <m:d>
                      <m:dPr>
                        <m:ctrlPr>
                          <a:rPr lang="en-US" sz="2400" i="1">
                            <a:latin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𝑝</m:t>
                        </m:r>
                        <m:r>
                          <a:rPr lang="en-US" sz="2400" i="1">
                            <a:latin typeface="Cambria Math" panose="02040503050406030204" pitchFamily="18" charset="0"/>
                            <a:ea typeface="Cambria Math" panose="02040503050406030204" pitchFamily="18" charset="0"/>
                          </a:rPr>
                          <m:t>∨ ¬</m:t>
                        </m:r>
                        <m:r>
                          <a:rPr lang="en-US" sz="2400" i="1">
                            <a:latin typeface="Cambria Math" panose="02040503050406030204" pitchFamily="18" charset="0"/>
                            <a:ea typeface="Cambria Math" panose="02040503050406030204" pitchFamily="18" charset="0"/>
                          </a:rPr>
                          <m:t>𝑞</m:t>
                        </m:r>
                      </m:e>
                    </m:d>
                    <m:r>
                      <a:rPr lang="en-US" sz="2400" i="1">
                        <a:latin typeface="Cambria Math" panose="02040503050406030204" pitchFamily="18" charset="0"/>
                        <a:ea typeface="Cambria Math" panose="02040503050406030204" pitchFamily="18" charset="0"/>
                      </a:rPr>
                      <m:t>→</m:t>
                    </m:r>
                    <m:d>
                      <m:dPr>
                        <m:ctrlPr>
                          <a:rPr lang="en-US" sz="2400" i="1">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𝑝</m:t>
                        </m:r>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𝑞</m:t>
                        </m:r>
                      </m:e>
                    </m:d>
                  </m:oMath>
                </a14:m>
                <a:r>
                  <a:rPr lang="en-US" sz="2400" dirty="0"/>
                  <a:t>.</a:t>
                </a:r>
              </a:p>
            </p:txBody>
          </p:sp>
        </mc:Choice>
        <mc:Fallback xmlns="">
          <p:sp>
            <p:nvSpPr>
              <p:cNvPr id="7" name="Rectangle 6"/>
              <p:cNvSpPr>
                <a:spLocks noRot="1" noChangeAspect="1" noMove="1" noResize="1" noEditPoints="1" noAdjustHandles="1" noChangeArrowheads="1" noChangeShapeType="1" noTextEdit="1"/>
              </p:cNvSpPr>
              <p:nvPr/>
            </p:nvSpPr>
            <p:spPr>
              <a:xfrm>
                <a:off x="304800" y="1817322"/>
                <a:ext cx="8229600" cy="830997"/>
              </a:xfrm>
              <a:prstGeom prst="rect">
                <a:avLst/>
              </a:prstGeom>
              <a:blipFill>
                <a:blip r:embed="rId2"/>
                <a:stretch>
                  <a:fillRect l="-1111" t="-5882" b="-16176"/>
                </a:stretch>
              </a:blipFill>
            </p:spPr>
            <p:txBody>
              <a:bodyPr/>
              <a:lstStyle/>
              <a:p>
                <a:r>
                  <a:rPr lang="si-LK">
                    <a:noFill/>
                  </a:rPr>
                  <a:t> </a:t>
                </a:r>
              </a:p>
            </p:txBody>
          </p:sp>
        </mc:Fallback>
      </mc:AlternateContent>
      <mc:AlternateContent xmlns:mc="http://schemas.openxmlformats.org/markup-compatibility/2006" xmlns:a14="http://schemas.microsoft.com/office/drawing/2010/main">
        <mc:Choice Requires="a14">
          <p:sp>
            <p:nvSpPr>
              <p:cNvPr id="8" name="Rectangle 7"/>
              <p:cNvSpPr/>
              <p:nvPr/>
            </p:nvSpPr>
            <p:spPr>
              <a:xfrm>
                <a:off x="457200" y="3109009"/>
                <a:ext cx="7924800" cy="461665"/>
              </a:xfrm>
              <a:prstGeom prst="rect">
                <a:avLst/>
              </a:prstGeom>
            </p:spPr>
            <p:txBody>
              <a:bodyPr wrap="square">
                <a:spAutoFit/>
              </a:bodyPr>
              <a:lstStyle/>
              <a:p>
                <a14:m>
                  <m:oMath xmlns:m="http://schemas.openxmlformats.org/officeDocument/2006/math">
                    <m:d>
                      <m:dPr>
                        <m:ctrlPr>
                          <a:rPr lang="en-US" sz="2400" i="1">
                            <a:latin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𝑝</m:t>
                        </m:r>
                        <m:r>
                          <a:rPr lang="en-US" sz="2400" i="1">
                            <a:latin typeface="Cambria Math" panose="02040503050406030204" pitchFamily="18" charset="0"/>
                            <a:ea typeface="Cambria Math" panose="02040503050406030204" pitchFamily="18" charset="0"/>
                          </a:rPr>
                          <m:t>∨ ¬</m:t>
                        </m:r>
                        <m:r>
                          <a:rPr lang="en-US" sz="2400" i="1">
                            <a:latin typeface="Cambria Math" panose="02040503050406030204" pitchFamily="18" charset="0"/>
                            <a:ea typeface="Cambria Math" panose="02040503050406030204" pitchFamily="18" charset="0"/>
                          </a:rPr>
                          <m:t>𝑞</m:t>
                        </m:r>
                      </m:e>
                    </m:d>
                    <m:r>
                      <a:rPr lang="en-US" sz="2400" i="1">
                        <a:latin typeface="Cambria Math" panose="02040503050406030204" pitchFamily="18" charset="0"/>
                        <a:ea typeface="Cambria Math" panose="02040503050406030204" pitchFamily="18" charset="0"/>
                      </a:rPr>
                      <m:t>→</m:t>
                    </m:r>
                    <m:d>
                      <m:dPr>
                        <m:ctrlPr>
                          <a:rPr lang="en-US" sz="2400" i="1">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𝑝</m:t>
                        </m:r>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𝑞</m:t>
                        </m:r>
                      </m:e>
                    </m:d>
                    <m:r>
                      <a:rPr lang="en-US" sz="2400" i="1">
                        <a:latin typeface="Cambria Math" panose="02040503050406030204" pitchFamily="18" charset="0"/>
                        <a:ea typeface="Cambria Math" panose="02040503050406030204" pitchFamily="18" charset="0"/>
                      </a:rPr>
                      <m:t>≡¬</m:t>
                    </m:r>
                    <m:d>
                      <m:dPr>
                        <m:ctrlPr>
                          <a:rPr lang="en-US" sz="2400" i="1">
                            <a:latin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𝑝</m:t>
                        </m:r>
                        <m:r>
                          <a:rPr lang="en-US" sz="2400" i="1">
                            <a:latin typeface="Cambria Math" panose="02040503050406030204" pitchFamily="18" charset="0"/>
                            <a:ea typeface="Cambria Math" panose="02040503050406030204" pitchFamily="18" charset="0"/>
                          </a:rPr>
                          <m:t>∨ ¬</m:t>
                        </m:r>
                        <m:r>
                          <a:rPr lang="en-US" sz="2400" i="1">
                            <a:latin typeface="Cambria Math" panose="02040503050406030204" pitchFamily="18" charset="0"/>
                            <a:ea typeface="Cambria Math" panose="02040503050406030204" pitchFamily="18" charset="0"/>
                          </a:rPr>
                          <m:t>𝑞</m:t>
                        </m:r>
                      </m:e>
                    </m:d>
                    <m:r>
                      <m:rPr>
                        <m:nor/>
                      </m:rPr>
                      <a:rPr lang="en-US" sz="2400" dirty="0">
                        <a:ea typeface="Cambria Math" panose="02040503050406030204" pitchFamily="18" charset="0"/>
                      </a:rPr>
                      <m:t> </m:t>
                    </m:r>
                    <m:r>
                      <a:rPr lang="en-US" sz="2400" i="1">
                        <a:latin typeface="Cambria Math" panose="02040503050406030204" pitchFamily="18" charset="0"/>
                        <a:ea typeface="Cambria Math" panose="02040503050406030204" pitchFamily="18" charset="0"/>
                      </a:rPr>
                      <m:t>∨</m:t>
                    </m:r>
                    <m:d>
                      <m:dPr>
                        <m:ctrlPr>
                          <a:rPr lang="en-US" sz="2400" i="1">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𝑝</m:t>
                        </m:r>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𝑞</m:t>
                        </m:r>
                      </m:e>
                    </m:d>
                  </m:oMath>
                </a14:m>
                <a:r>
                  <a:rPr lang="en-US" sz="2400" dirty="0"/>
                  <a:t> </a:t>
                </a:r>
              </a:p>
            </p:txBody>
          </p:sp>
        </mc:Choice>
        <mc:Fallback xmlns="">
          <p:sp>
            <p:nvSpPr>
              <p:cNvPr id="8" name="Rectangle 7"/>
              <p:cNvSpPr>
                <a:spLocks noRot="1" noChangeAspect="1" noMove="1" noResize="1" noEditPoints="1" noAdjustHandles="1" noChangeArrowheads="1" noChangeShapeType="1" noTextEdit="1"/>
              </p:cNvSpPr>
              <p:nvPr/>
            </p:nvSpPr>
            <p:spPr>
              <a:xfrm>
                <a:off x="457200" y="3109009"/>
                <a:ext cx="7924800" cy="461665"/>
              </a:xfrm>
              <a:prstGeom prst="rect">
                <a:avLst/>
              </a:prstGeom>
              <a:blipFill rotWithShape="0">
                <a:blip r:embed="rId3"/>
                <a:stretch>
                  <a:fillRect b="-13158"/>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9" name="Rectangle 8"/>
              <p:cNvSpPr/>
              <p:nvPr/>
            </p:nvSpPr>
            <p:spPr>
              <a:xfrm>
                <a:off x="457200" y="3684130"/>
                <a:ext cx="8229599" cy="645048"/>
              </a:xfrm>
              <a:prstGeom prst="rect">
                <a:avLst/>
              </a:prstGeom>
            </p:spPr>
            <p:txBody>
              <a:bodyPr wrap="square">
                <a:spAutoFit/>
              </a:bodyPr>
              <a:lstStyle/>
              <a:p>
                <a:r>
                  <a:rPr lang="en-US" sz="2400" dirty="0">
                    <a:ea typeface="Cambria Math" panose="02040503050406030204" pitchFamily="18" charset="0"/>
                  </a:rPr>
                  <a:t>                              </a:t>
                </a:r>
                <a14:m>
                  <m:oMath xmlns:m="http://schemas.openxmlformats.org/officeDocument/2006/math">
                    <m:r>
                      <a:rPr lang="en-US" sz="2400" i="1">
                        <a:latin typeface="Cambria Math" panose="02040503050406030204" pitchFamily="18" charset="0"/>
                        <a:ea typeface="Cambria Math" panose="02040503050406030204" pitchFamily="18" charset="0"/>
                      </a:rPr>
                      <m:t>≡ </m:t>
                    </m:r>
                    <m:d>
                      <m:dPr>
                        <m:ctrlPr>
                          <a:rPr lang="en-US" sz="2400" i="1">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𝑝</m:t>
                        </m:r>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𝑞</m:t>
                        </m:r>
                      </m:e>
                    </m:d>
                    <m:r>
                      <a:rPr lang="en-US" sz="2400" i="1">
                        <a:latin typeface="Cambria Math" panose="02040503050406030204" pitchFamily="18" charset="0"/>
                        <a:ea typeface="Cambria Math" panose="02040503050406030204" pitchFamily="18" charset="0"/>
                      </a:rPr>
                      <m:t>∨</m:t>
                    </m:r>
                    <m:d>
                      <m:dPr>
                        <m:begChr m:val="["/>
                        <m:endChr m:val="]"/>
                        <m:ctrlPr>
                          <a:rPr lang="en-US" sz="2400" i="1">
                            <a:latin typeface="Cambria Math" panose="02040503050406030204" pitchFamily="18" charset="0"/>
                            <a:ea typeface="Cambria Math" panose="02040503050406030204" pitchFamily="18" charset="0"/>
                          </a:rPr>
                        </m:ctrlPr>
                      </m:dPr>
                      <m:e>
                        <m:d>
                          <m:dPr>
                            <m:ctrlPr>
                              <a:rPr lang="en-US" sz="2400" i="1">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𝑝</m:t>
                            </m:r>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𝑞</m:t>
                            </m:r>
                          </m:e>
                        </m:d>
                        <m:r>
                          <a:rPr lang="en-US" sz="2400" i="1">
                            <a:latin typeface="Cambria Math" panose="02040503050406030204" pitchFamily="18" charset="0"/>
                            <a:ea typeface="Cambria Math" panose="02040503050406030204" pitchFamily="18" charset="0"/>
                          </a:rPr>
                          <m:t>∨</m:t>
                        </m:r>
                        <m:d>
                          <m:dPr>
                            <m:ctrlPr>
                              <a:rPr lang="en-US" sz="2400" i="1">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𝑝</m:t>
                            </m:r>
                            <m:r>
                              <a:rPr lang="en-US" sz="2400" i="1">
                                <a:latin typeface="Cambria Math" panose="02040503050406030204" pitchFamily="18" charset="0"/>
                                <a:ea typeface="Cambria Math" panose="02040503050406030204" pitchFamily="18" charset="0"/>
                              </a:rPr>
                              <m:t>∧</m:t>
                            </m:r>
                            <m:d>
                              <m:dPr>
                                <m:ctrlPr>
                                  <a:rPr lang="en-US" sz="2400" i="1">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m:t>
                                </m:r>
                                <m:d>
                                  <m:dPr>
                                    <m:ctrlPr>
                                      <a:rPr lang="en-US" sz="2400" i="1">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𝑞</m:t>
                                    </m:r>
                                  </m:e>
                                </m:d>
                              </m:e>
                            </m:d>
                          </m:e>
                        </m:d>
                      </m:e>
                    </m:d>
                  </m:oMath>
                </a14:m>
                <a:endParaRPr lang="en-GB" sz="2400" dirty="0"/>
              </a:p>
            </p:txBody>
          </p:sp>
        </mc:Choice>
        <mc:Fallback xmlns="">
          <p:sp>
            <p:nvSpPr>
              <p:cNvPr id="9" name="Rectangle 8"/>
              <p:cNvSpPr>
                <a:spLocks noRot="1" noChangeAspect="1" noMove="1" noResize="1" noEditPoints="1" noAdjustHandles="1" noChangeArrowheads="1" noChangeShapeType="1" noTextEdit="1"/>
              </p:cNvSpPr>
              <p:nvPr/>
            </p:nvSpPr>
            <p:spPr>
              <a:xfrm>
                <a:off x="457200" y="3684130"/>
                <a:ext cx="8229599" cy="645048"/>
              </a:xfrm>
              <a:prstGeom prst="rect">
                <a:avLst/>
              </a:prstGeom>
              <a:blipFill rotWithShape="0">
                <a:blip r:embed="rId4"/>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0" name="Rectangle 9"/>
              <p:cNvSpPr/>
              <p:nvPr/>
            </p:nvSpPr>
            <p:spPr>
              <a:xfrm>
                <a:off x="457200" y="4507468"/>
                <a:ext cx="8229599" cy="461665"/>
              </a:xfrm>
              <a:prstGeom prst="rect">
                <a:avLst/>
              </a:prstGeom>
            </p:spPr>
            <p:txBody>
              <a:bodyPr wrap="square">
                <a:spAutoFit/>
              </a:bodyPr>
              <a:lstStyle/>
              <a:p>
                <a:r>
                  <a:rPr lang="en-US" sz="2400" dirty="0">
                    <a:ea typeface="Cambria Math" panose="02040503050406030204" pitchFamily="18" charset="0"/>
                  </a:rPr>
                  <a:t>                              </a:t>
                </a:r>
                <a14:m>
                  <m:oMath xmlns:m="http://schemas.openxmlformats.org/officeDocument/2006/math">
                    <m:r>
                      <a:rPr lang="en-US" sz="2400" i="1">
                        <a:latin typeface="Cambria Math" panose="02040503050406030204" pitchFamily="18" charset="0"/>
                        <a:ea typeface="Cambria Math" panose="02040503050406030204" pitchFamily="18" charset="0"/>
                      </a:rPr>
                      <m:t>≡ </m:t>
                    </m:r>
                    <m:d>
                      <m:dPr>
                        <m:ctrlPr>
                          <a:rPr lang="en-US" sz="2400" i="1">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𝑝</m:t>
                        </m:r>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𝑞</m:t>
                        </m:r>
                      </m:e>
                    </m:d>
                    <m:r>
                      <a:rPr lang="en-US" sz="2400" i="1">
                        <a:latin typeface="Cambria Math" panose="02040503050406030204" pitchFamily="18" charset="0"/>
                        <a:ea typeface="Cambria Math" panose="02040503050406030204" pitchFamily="18" charset="0"/>
                      </a:rPr>
                      <m:t>∨</m:t>
                    </m:r>
                    <m:d>
                      <m:dPr>
                        <m:begChr m:val="["/>
                        <m:endChr m:val="]"/>
                        <m:ctrlPr>
                          <a:rPr lang="en-US" sz="2400" i="1">
                            <a:latin typeface="Cambria Math" panose="02040503050406030204" pitchFamily="18" charset="0"/>
                            <a:ea typeface="Cambria Math" panose="02040503050406030204" pitchFamily="18" charset="0"/>
                          </a:rPr>
                        </m:ctrlPr>
                      </m:dPr>
                      <m:e>
                        <m:d>
                          <m:dPr>
                            <m:ctrlPr>
                              <a:rPr lang="en-US" sz="2400" i="1">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𝑝</m:t>
                            </m:r>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𝑞</m:t>
                            </m:r>
                          </m:e>
                        </m:d>
                        <m:r>
                          <a:rPr lang="en-US" sz="2400" i="1">
                            <a:latin typeface="Cambria Math" panose="02040503050406030204" pitchFamily="18" charset="0"/>
                            <a:ea typeface="Cambria Math" panose="02040503050406030204" pitchFamily="18" charset="0"/>
                          </a:rPr>
                          <m:t>∨</m:t>
                        </m:r>
                        <m:d>
                          <m:dPr>
                            <m:ctrlPr>
                              <a:rPr lang="en-US" sz="2400" i="1">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𝑝</m:t>
                            </m:r>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𝑞</m:t>
                            </m:r>
                          </m:e>
                        </m:d>
                      </m:e>
                    </m:d>
                  </m:oMath>
                </a14:m>
                <a:endParaRPr lang="en-GB" sz="2400" dirty="0"/>
              </a:p>
            </p:txBody>
          </p:sp>
        </mc:Choice>
        <mc:Fallback xmlns="">
          <p:sp>
            <p:nvSpPr>
              <p:cNvPr id="10" name="Rectangle 9"/>
              <p:cNvSpPr>
                <a:spLocks noRot="1" noChangeAspect="1" noMove="1" noResize="1" noEditPoints="1" noAdjustHandles="1" noChangeArrowheads="1" noChangeShapeType="1" noTextEdit="1"/>
              </p:cNvSpPr>
              <p:nvPr/>
            </p:nvSpPr>
            <p:spPr>
              <a:xfrm>
                <a:off x="457200" y="4507468"/>
                <a:ext cx="8229599" cy="461665"/>
              </a:xfrm>
              <a:prstGeom prst="rect">
                <a:avLst/>
              </a:prstGeom>
              <a:blipFill rotWithShape="0">
                <a:blip r:embed="rId5"/>
                <a:stretch>
                  <a:fillRect b="-13158"/>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1" name="Rectangle 10"/>
              <p:cNvSpPr/>
              <p:nvPr/>
            </p:nvSpPr>
            <p:spPr>
              <a:xfrm>
                <a:off x="457200" y="5269468"/>
                <a:ext cx="7924800" cy="461665"/>
              </a:xfrm>
              <a:prstGeom prst="rect">
                <a:avLst/>
              </a:prstGeom>
            </p:spPr>
            <p:txBody>
              <a:bodyPr wrap="square">
                <a:spAutoFit/>
              </a:bodyPr>
              <a:lstStyle/>
              <a:p>
                <a:r>
                  <a:rPr lang="en-US" sz="2400" dirty="0">
                    <a:ea typeface="Cambria Math" panose="02040503050406030204" pitchFamily="18" charset="0"/>
                  </a:rPr>
                  <a:t>                              </a:t>
                </a:r>
                <a14:m>
                  <m:oMath xmlns:m="http://schemas.openxmlformats.org/officeDocument/2006/math">
                    <m:r>
                      <a:rPr lang="en-US" sz="2400" i="1">
                        <a:latin typeface="Cambria Math" panose="02040503050406030204" pitchFamily="18" charset="0"/>
                        <a:ea typeface="Cambria Math" panose="02040503050406030204" pitchFamily="18" charset="0"/>
                      </a:rPr>
                      <m:t>≡ </m:t>
                    </m:r>
                    <m:d>
                      <m:dPr>
                        <m:ctrlPr>
                          <a:rPr lang="en-US" sz="2400" i="1">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𝑝</m:t>
                        </m:r>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𝑞</m:t>
                        </m:r>
                      </m:e>
                    </m:d>
                    <m:r>
                      <a:rPr lang="en-US" sz="2400" i="1">
                        <a:latin typeface="Cambria Math" panose="02040503050406030204" pitchFamily="18" charset="0"/>
                        <a:ea typeface="Cambria Math" panose="02040503050406030204" pitchFamily="18" charset="0"/>
                      </a:rPr>
                      <m:t>∨</m:t>
                    </m:r>
                    <m:d>
                      <m:dPr>
                        <m:ctrlPr>
                          <a:rPr lang="en-US" sz="2400" i="1">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𝑝</m:t>
                        </m:r>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𝑞</m:t>
                        </m:r>
                      </m:e>
                    </m:d>
                    <m:r>
                      <a:rPr lang="en-US" sz="2400" i="1">
                        <a:latin typeface="Cambria Math" panose="02040503050406030204" pitchFamily="18" charset="0"/>
                        <a:ea typeface="Cambria Math" panose="02040503050406030204" pitchFamily="18" charset="0"/>
                      </a:rPr>
                      <m:t>∨</m:t>
                    </m:r>
                    <m:d>
                      <m:dPr>
                        <m:ctrlPr>
                          <a:rPr lang="en-US" sz="2400" i="1">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𝑝</m:t>
                        </m:r>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𝑞</m:t>
                        </m:r>
                      </m:e>
                    </m:d>
                  </m:oMath>
                </a14:m>
                <a:r>
                  <a:rPr lang="en-GB" sz="2400" dirty="0"/>
                  <a:t>.</a:t>
                </a:r>
              </a:p>
            </p:txBody>
          </p:sp>
        </mc:Choice>
        <mc:Fallback xmlns="">
          <p:sp>
            <p:nvSpPr>
              <p:cNvPr id="11" name="Rectangle 10"/>
              <p:cNvSpPr>
                <a:spLocks noRot="1" noChangeAspect="1" noMove="1" noResize="1" noEditPoints="1" noAdjustHandles="1" noChangeArrowheads="1" noChangeShapeType="1" noTextEdit="1"/>
              </p:cNvSpPr>
              <p:nvPr/>
            </p:nvSpPr>
            <p:spPr>
              <a:xfrm>
                <a:off x="457200" y="5269468"/>
                <a:ext cx="7924800" cy="461665"/>
              </a:xfrm>
              <a:prstGeom prst="rect">
                <a:avLst/>
              </a:prstGeom>
              <a:blipFill rotWithShape="0">
                <a:blip r:embed="rId6"/>
                <a:stretch>
                  <a:fillRect t="-9211" b="-30263"/>
                </a:stretch>
              </a:blipFill>
            </p:spPr>
            <p:txBody>
              <a:bodyPr/>
              <a:lstStyle/>
              <a:p>
                <a:r>
                  <a:rPr lang="en-GB">
                    <a:noFill/>
                  </a:rPr>
                  <a:t> </a:t>
                </a:r>
              </a:p>
            </p:txBody>
          </p:sp>
        </mc:Fallback>
      </mc:AlternateContent>
    </p:spTree>
    <p:extLst>
      <p:ext uri="{BB962C8B-B14F-4D97-AF65-F5344CB8AC3E}">
        <p14:creationId xmlns:p14="http://schemas.microsoft.com/office/powerpoint/2010/main" val="26503466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P spid="10" grpId="0"/>
      <p:bldP spid="11"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Example -1 (method 2)</a:t>
            </a:r>
            <a:endParaRPr lang="en-GB" dirty="0"/>
          </a:p>
        </p:txBody>
      </p:sp>
      <p:sp>
        <p:nvSpPr>
          <p:cNvPr id="4" name="Date Placeholder 3"/>
          <p:cNvSpPr>
            <a:spLocks noGrp="1"/>
          </p:cNvSpPr>
          <p:nvPr>
            <p:ph type="dt" sz="half" idx="10"/>
          </p:nvPr>
        </p:nvSpPr>
        <p:spPr/>
        <p:txBody>
          <a:bodyPr/>
          <a:lstStyle/>
          <a:p>
            <a:fld id="{B1E73A16-65EE-4ABA-ABF5-C0319C9E2DED}" type="datetime3">
              <a:rPr lang="en-US" smtClean="0"/>
              <a:t>27 April 2026</a:t>
            </a:fld>
            <a:endParaRPr lang="en-US"/>
          </a:p>
        </p:txBody>
      </p:sp>
      <p:sp>
        <p:nvSpPr>
          <p:cNvPr id="5" name="Footer Placeholder 4"/>
          <p:cNvSpPr>
            <a:spLocks noGrp="1"/>
          </p:cNvSpPr>
          <p:nvPr>
            <p:ph type="ftr" sz="quarter" idx="11"/>
          </p:nvPr>
        </p:nvSpPr>
        <p:spPr/>
        <p:txBody>
          <a:bodyPr/>
          <a:lstStyle/>
          <a:p>
            <a:r>
              <a:rPr lang="en-US"/>
              <a:t>SCS 1302   Discrete Mathematics 1       Prof. D D Karunaratna</a:t>
            </a:r>
          </a:p>
        </p:txBody>
      </p:sp>
      <p:sp>
        <p:nvSpPr>
          <p:cNvPr id="6" name="Slide Number Placeholder 5"/>
          <p:cNvSpPr>
            <a:spLocks noGrp="1"/>
          </p:cNvSpPr>
          <p:nvPr>
            <p:ph type="sldNum" sz="quarter" idx="12"/>
          </p:nvPr>
        </p:nvSpPr>
        <p:spPr/>
        <p:txBody>
          <a:bodyPr/>
          <a:lstStyle/>
          <a:p>
            <a:fld id="{0CA841A6-7C02-4C92-B6EE-5DBCC2AD53D0}" type="slidenum">
              <a:rPr lang="en-US" smtClean="0"/>
              <a:t>58</a:t>
            </a:fld>
            <a:endParaRPr lang="en-US"/>
          </a:p>
        </p:txBody>
      </p:sp>
      <mc:AlternateContent xmlns:mc="http://schemas.openxmlformats.org/markup-compatibility/2006" xmlns:a14="http://schemas.microsoft.com/office/drawing/2010/main">
        <mc:Choice Requires="a14">
          <p:sp>
            <p:nvSpPr>
              <p:cNvPr id="7" name="Rectangle 6"/>
              <p:cNvSpPr/>
              <p:nvPr/>
            </p:nvSpPr>
            <p:spPr>
              <a:xfrm>
                <a:off x="304800" y="1817322"/>
                <a:ext cx="8229600" cy="830997"/>
              </a:xfrm>
              <a:prstGeom prst="rect">
                <a:avLst/>
              </a:prstGeom>
            </p:spPr>
            <p:txBody>
              <a:bodyPr wrap="square">
                <a:spAutoFit/>
              </a:bodyPr>
              <a:lstStyle/>
              <a:p>
                <a:r>
                  <a:rPr lang="en-US" sz="2400" dirty="0"/>
                  <a:t>Find the disjunctive  normal form of the formula </a:t>
                </a:r>
              </a:p>
              <a:p>
                <a14:m>
                  <m:oMath xmlns:m="http://schemas.openxmlformats.org/officeDocument/2006/math">
                    <m:r>
                      <m:rPr>
                        <m:sty m:val="p"/>
                      </m:rPr>
                      <a:rPr lang="en-US" sz="2400" b="0" i="0" smtClean="0">
                        <a:latin typeface="Cambria Math" panose="02040503050406030204" pitchFamily="18" charset="0"/>
                      </a:rPr>
                      <m:t>x</m:t>
                    </m:r>
                    <m:r>
                      <a:rPr lang="en-US" sz="2400" b="0" i="0" smtClean="0">
                        <a:latin typeface="Cambria Math" panose="02040503050406030204" pitchFamily="18" charset="0"/>
                      </a:rPr>
                      <m:t>=</m:t>
                    </m:r>
                    <m:d>
                      <m:dPr>
                        <m:ctrlPr>
                          <a:rPr lang="en-US" sz="2400" i="1">
                            <a:latin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𝑝</m:t>
                        </m:r>
                        <m:r>
                          <a:rPr lang="en-US" sz="2400" i="1">
                            <a:latin typeface="Cambria Math" panose="02040503050406030204" pitchFamily="18" charset="0"/>
                            <a:ea typeface="Cambria Math" panose="02040503050406030204" pitchFamily="18" charset="0"/>
                          </a:rPr>
                          <m:t>∨ ¬</m:t>
                        </m:r>
                        <m:r>
                          <a:rPr lang="en-US" sz="2400" i="1">
                            <a:latin typeface="Cambria Math" panose="02040503050406030204" pitchFamily="18" charset="0"/>
                            <a:ea typeface="Cambria Math" panose="02040503050406030204" pitchFamily="18" charset="0"/>
                          </a:rPr>
                          <m:t>𝑞</m:t>
                        </m:r>
                      </m:e>
                    </m:d>
                    <m:r>
                      <a:rPr lang="en-US" sz="2400" i="1">
                        <a:latin typeface="Cambria Math" panose="02040503050406030204" pitchFamily="18" charset="0"/>
                        <a:ea typeface="Cambria Math" panose="02040503050406030204" pitchFamily="18" charset="0"/>
                      </a:rPr>
                      <m:t>→</m:t>
                    </m:r>
                    <m:d>
                      <m:dPr>
                        <m:ctrlPr>
                          <a:rPr lang="en-US" sz="2400" i="1">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𝑝</m:t>
                        </m:r>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𝑞</m:t>
                        </m:r>
                      </m:e>
                    </m:d>
                  </m:oMath>
                </a14:m>
                <a:r>
                  <a:rPr lang="en-US" sz="2400" dirty="0"/>
                  <a:t>.</a:t>
                </a:r>
              </a:p>
            </p:txBody>
          </p:sp>
        </mc:Choice>
        <mc:Fallback xmlns="">
          <p:sp>
            <p:nvSpPr>
              <p:cNvPr id="7" name="Rectangle 6"/>
              <p:cNvSpPr>
                <a:spLocks noRot="1" noChangeAspect="1" noMove="1" noResize="1" noEditPoints="1" noAdjustHandles="1" noChangeArrowheads="1" noChangeShapeType="1" noTextEdit="1"/>
              </p:cNvSpPr>
              <p:nvPr/>
            </p:nvSpPr>
            <p:spPr>
              <a:xfrm>
                <a:off x="304800" y="1817322"/>
                <a:ext cx="8229600" cy="830997"/>
              </a:xfrm>
              <a:prstGeom prst="rect">
                <a:avLst/>
              </a:prstGeom>
              <a:blipFill>
                <a:blip r:embed="rId2"/>
                <a:stretch>
                  <a:fillRect l="-1111" t="-5882" b="-1617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12" name="Table 11">
                <a:extLst>
                  <a:ext uri="{FF2B5EF4-FFF2-40B4-BE49-F238E27FC236}">
                    <a16:creationId xmlns:a16="http://schemas.microsoft.com/office/drawing/2014/main" id="{24691CC5-3B50-4B9E-B95E-A79C4437346E}"/>
                  </a:ext>
                </a:extLst>
              </p:cNvPr>
              <p:cNvGraphicFramePr>
                <a:graphicFrameLocks noGrp="1"/>
              </p:cNvGraphicFramePr>
              <p:nvPr>
                <p:extLst>
                  <p:ext uri="{D42A27DB-BD31-4B8C-83A1-F6EECF244321}">
                    <p14:modId xmlns:p14="http://schemas.microsoft.com/office/powerpoint/2010/main" val="2236595268"/>
                  </p:ext>
                </p:extLst>
              </p:nvPr>
            </p:nvGraphicFramePr>
            <p:xfrm>
              <a:off x="228600" y="2743200"/>
              <a:ext cx="1524000" cy="2315756"/>
            </p:xfrm>
            <a:graphic>
              <a:graphicData uri="http://schemas.openxmlformats.org/drawingml/2006/table">
                <a:tbl>
                  <a:tblPr firstRow="1" bandRow="1">
                    <a:tableStyleId>{5C22544A-7EE6-4342-B048-85BDC9FD1C3A}</a:tableStyleId>
                  </a:tblPr>
                  <a:tblGrid>
                    <a:gridCol w="731520">
                      <a:extLst>
                        <a:ext uri="{9D8B030D-6E8A-4147-A177-3AD203B41FA5}">
                          <a16:colId xmlns:a16="http://schemas.microsoft.com/office/drawing/2014/main" val="20000"/>
                        </a:ext>
                      </a:extLst>
                    </a:gridCol>
                    <a:gridCol w="792480">
                      <a:extLst>
                        <a:ext uri="{9D8B030D-6E8A-4147-A177-3AD203B41FA5}">
                          <a16:colId xmlns:a16="http://schemas.microsoft.com/office/drawing/2014/main" val="20001"/>
                        </a:ext>
                      </a:extLst>
                    </a:gridCol>
                  </a:tblGrid>
                  <a:tr h="438116">
                    <a:tc>
                      <a:txBody>
                        <a:bodyPr/>
                        <a:lstStyle/>
                        <a:p>
                          <a:pPr algn="ctr"/>
                          <a14:m>
                            <m:oMathPara xmlns:m="http://schemas.openxmlformats.org/officeDocument/2006/math">
                              <m:oMathParaPr>
                                <m:jc m:val="centerGroup"/>
                              </m:oMathParaPr>
                              <m:oMath xmlns:m="http://schemas.openxmlformats.org/officeDocument/2006/math">
                                <m:r>
                                  <a:rPr lang="en-GB" sz="2200" b="1" i="1" smtClean="0">
                                    <a:solidFill>
                                      <a:schemeClr val="tx1"/>
                                    </a:solidFill>
                                    <a:latin typeface="Cambria Math" panose="02040503050406030204" pitchFamily="18" charset="0"/>
                                  </a:rPr>
                                  <m:t>𝒑</m:t>
                                </m:r>
                              </m:oMath>
                            </m:oMathPara>
                          </a14:m>
                          <a:endParaRPr lang="en-GB" sz="2200" dirty="0">
                            <a:solidFill>
                              <a:schemeClr val="tx1"/>
                            </a:solidFill>
                          </a:endParaRPr>
                        </a:p>
                      </a:txBody>
                      <a:tcPr/>
                    </a:tc>
                    <a:tc>
                      <a:txBody>
                        <a:bodyPr/>
                        <a:lstStyle/>
                        <a:p>
                          <a:pPr algn="ctr"/>
                          <a14:m>
                            <m:oMathPara xmlns:m="http://schemas.openxmlformats.org/officeDocument/2006/math">
                              <m:oMathParaPr>
                                <m:jc m:val="centerGroup"/>
                              </m:oMathParaPr>
                              <m:oMath xmlns:m="http://schemas.openxmlformats.org/officeDocument/2006/math">
                                <m:r>
                                  <a:rPr lang="en-GB" sz="2200" b="1" i="1" smtClean="0">
                                    <a:solidFill>
                                      <a:schemeClr val="tx1"/>
                                    </a:solidFill>
                                    <a:latin typeface="Cambria Math" panose="02040503050406030204" pitchFamily="18" charset="0"/>
                                  </a:rPr>
                                  <m:t>𝒒</m:t>
                                </m:r>
                              </m:oMath>
                            </m:oMathPara>
                          </a14:m>
                          <a:endParaRPr lang="en-GB" sz="2200" dirty="0">
                            <a:solidFill>
                              <a:schemeClr val="tx1"/>
                            </a:solidFill>
                          </a:endParaRPr>
                        </a:p>
                      </a:txBody>
                      <a:tcPr/>
                    </a:tc>
                    <a:extLst>
                      <a:ext uri="{0D108BD9-81ED-4DB2-BD59-A6C34878D82A}">
                        <a16:rowId xmlns:a16="http://schemas.microsoft.com/office/drawing/2014/main" val="10000"/>
                      </a:ext>
                    </a:extLst>
                  </a:tr>
                  <a:tr h="469410">
                    <a:tc>
                      <a:txBody>
                        <a:bodyPr/>
                        <a:lstStyle/>
                        <a:p>
                          <a:pPr algn="ctr"/>
                          <a:r>
                            <a:rPr lang="en-GB" sz="2400" dirty="0"/>
                            <a:t>0</a:t>
                          </a:r>
                        </a:p>
                      </a:txBody>
                      <a:tcPr/>
                    </a:tc>
                    <a:tc>
                      <a:txBody>
                        <a:bodyPr/>
                        <a:lstStyle/>
                        <a:p>
                          <a:pPr algn="ctr"/>
                          <a:r>
                            <a:rPr lang="en-GB" sz="2400" dirty="0"/>
                            <a:t>0</a:t>
                          </a:r>
                        </a:p>
                      </a:txBody>
                      <a:tcPr/>
                    </a:tc>
                    <a:extLst>
                      <a:ext uri="{0D108BD9-81ED-4DB2-BD59-A6C34878D82A}">
                        <a16:rowId xmlns:a16="http://schemas.microsoft.com/office/drawing/2014/main" val="10001"/>
                      </a:ext>
                    </a:extLst>
                  </a:tr>
                  <a:tr h="469410">
                    <a:tc>
                      <a:txBody>
                        <a:bodyPr/>
                        <a:lstStyle/>
                        <a:p>
                          <a:pPr algn="ctr"/>
                          <a:r>
                            <a:rPr lang="en-GB" sz="2400" dirty="0"/>
                            <a:t>0</a:t>
                          </a:r>
                        </a:p>
                      </a:txBody>
                      <a:tcPr/>
                    </a:tc>
                    <a:tc>
                      <a:txBody>
                        <a:bodyPr/>
                        <a:lstStyle/>
                        <a:p>
                          <a:pPr algn="ctr"/>
                          <a:r>
                            <a:rPr lang="en-GB" sz="2400" dirty="0"/>
                            <a:t>1</a:t>
                          </a:r>
                        </a:p>
                      </a:txBody>
                      <a:tcPr/>
                    </a:tc>
                    <a:extLst>
                      <a:ext uri="{0D108BD9-81ED-4DB2-BD59-A6C34878D82A}">
                        <a16:rowId xmlns:a16="http://schemas.microsoft.com/office/drawing/2014/main" val="10002"/>
                      </a:ext>
                    </a:extLst>
                  </a:tr>
                  <a:tr h="469410">
                    <a:tc>
                      <a:txBody>
                        <a:bodyPr/>
                        <a:lstStyle/>
                        <a:p>
                          <a:pPr algn="ctr"/>
                          <a:r>
                            <a:rPr lang="en-GB" sz="2400" dirty="0"/>
                            <a:t>1</a:t>
                          </a:r>
                        </a:p>
                      </a:txBody>
                      <a:tcPr/>
                    </a:tc>
                    <a:tc>
                      <a:txBody>
                        <a:bodyPr/>
                        <a:lstStyle/>
                        <a:p>
                          <a:pPr algn="ctr"/>
                          <a:r>
                            <a:rPr lang="en-GB" sz="2400" dirty="0"/>
                            <a:t>0</a:t>
                          </a:r>
                        </a:p>
                      </a:txBody>
                      <a:tcPr/>
                    </a:tc>
                    <a:extLst>
                      <a:ext uri="{0D108BD9-81ED-4DB2-BD59-A6C34878D82A}">
                        <a16:rowId xmlns:a16="http://schemas.microsoft.com/office/drawing/2014/main" val="10003"/>
                      </a:ext>
                    </a:extLst>
                  </a:tr>
                  <a:tr h="469410">
                    <a:tc>
                      <a:txBody>
                        <a:bodyPr/>
                        <a:lstStyle/>
                        <a:p>
                          <a:pPr algn="ctr"/>
                          <a:r>
                            <a:rPr lang="en-GB" sz="2400" dirty="0"/>
                            <a:t>1</a:t>
                          </a:r>
                        </a:p>
                      </a:txBody>
                      <a:tcPr/>
                    </a:tc>
                    <a:tc>
                      <a:txBody>
                        <a:bodyPr/>
                        <a:lstStyle/>
                        <a:p>
                          <a:pPr algn="ctr"/>
                          <a:r>
                            <a:rPr lang="en-GB" sz="2400" dirty="0" err="1"/>
                            <a:t>1</a:t>
                          </a:r>
                          <a:endParaRPr lang="en-GB" sz="2400" dirty="0"/>
                        </a:p>
                      </a:txBody>
                      <a:tcPr/>
                    </a:tc>
                    <a:extLst>
                      <a:ext uri="{0D108BD9-81ED-4DB2-BD59-A6C34878D82A}">
                        <a16:rowId xmlns:a16="http://schemas.microsoft.com/office/drawing/2014/main" val="10004"/>
                      </a:ext>
                    </a:extLst>
                  </a:tr>
                </a:tbl>
              </a:graphicData>
            </a:graphic>
          </p:graphicFrame>
        </mc:Choice>
        <mc:Fallback xmlns="">
          <p:graphicFrame>
            <p:nvGraphicFramePr>
              <p:cNvPr id="12" name="Table 11">
                <a:extLst>
                  <a:ext uri="{FF2B5EF4-FFF2-40B4-BE49-F238E27FC236}">
                    <a16:creationId xmlns:a16="http://schemas.microsoft.com/office/drawing/2014/main" id="{24691CC5-3B50-4B9E-B95E-A79C4437346E}"/>
                  </a:ext>
                </a:extLst>
              </p:cNvPr>
              <p:cNvGraphicFramePr>
                <a:graphicFrameLocks noGrp="1"/>
              </p:cNvGraphicFramePr>
              <p:nvPr>
                <p:extLst>
                  <p:ext uri="{D42A27DB-BD31-4B8C-83A1-F6EECF244321}">
                    <p14:modId xmlns:p14="http://schemas.microsoft.com/office/powerpoint/2010/main" val="2236595268"/>
                  </p:ext>
                </p:extLst>
              </p:nvPr>
            </p:nvGraphicFramePr>
            <p:xfrm>
              <a:off x="228600" y="2743200"/>
              <a:ext cx="1524000" cy="2315756"/>
            </p:xfrm>
            <a:graphic>
              <a:graphicData uri="http://schemas.openxmlformats.org/drawingml/2006/table">
                <a:tbl>
                  <a:tblPr firstRow="1" bandRow="1">
                    <a:tableStyleId>{5C22544A-7EE6-4342-B048-85BDC9FD1C3A}</a:tableStyleId>
                  </a:tblPr>
                  <a:tblGrid>
                    <a:gridCol w="731520">
                      <a:extLst>
                        <a:ext uri="{9D8B030D-6E8A-4147-A177-3AD203B41FA5}">
                          <a16:colId xmlns:a16="http://schemas.microsoft.com/office/drawing/2014/main" val="20000"/>
                        </a:ext>
                      </a:extLst>
                    </a:gridCol>
                    <a:gridCol w="792480">
                      <a:extLst>
                        <a:ext uri="{9D8B030D-6E8A-4147-A177-3AD203B41FA5}">
                          <a16:colId xmlns:a16="http://schemas.microsoft.com/office/drawing/2014/main" val="20001"/>
                        </a:ext>
                      </a:extLst>
                    </a:gridCol>
                  </a:tblGrid>
                  <a:tr h="438116">
                    <a:tc>
                      <a:txBody>
                        <a:bodyPr/>
                        <a:lstStyle/>
                        <a:p>
                          <a:endParaRPr lang="en-US"/>
                        </a:p>
                      </a:txBody>
                      <a:tcPr>
                        <a:blipFill>
                          <a:blip r:embed="rId3"/>
                          <a:stretch>
                            <a:fillRect l="-833" t="-2778" r="-112500" b="-456944"/>
                          </a:stretch>
                        </a:blipFill>
                      </a:tcPr>
                    </a:tc>
                    <a:tc>
                      <a:txBody>
                        <a:bodyPr/>
                        <a:lstStyle/>
                        <a:p>
                          <a:endParaRPr lang="en-US"/>
                        </a:p>
                      </a:txBody>
                      <a:tcPr>
                        <a:blipFill>
                          <a:blip r:embed="rId3"/>
                          <a:stretch>
                            <a:fillRect l="-92366" t="-2778" r="-3053" b="-456944"/>
                          </a:stretch>
                        </a:blipFill>
                      </a:tcPr>
                    </a:tc>
                    <a:extLst>
                      <a:ext uri="{0D108BD9-81ED-4DB2-BD59-A6C34878D82A}">
                        <a16:rowId xmlns:a16="http://schemas.microsoft.com/office/drawing/2014/main" val="10000"/>
                      </a:ext>
                    </a:extLst>
                  </a:tr>
                  <a:tr h="469410">
                    <a:tc>
                      <a:txBody>
                        <a:bodyPr/>
                        <a:lstStyle/>
                        <a:p>
                          <a:pPr algn="ctr"/>
                          <a:r>
                            <a:rPr lang="en-GB" sz="2400" dirty="0"/>
                            <a:t>0</a:t>
                          </a:r>
                        </a:p>
                      </a:txBody>
                      <a:tcPr/>
                    </a:tc>
                    <a:tc>
                      <a:txBody>
                        <a:bodyPr/>
                        <a:lstStyle/>
                        <a:p>
                          <a:pPr algn="ctr"/>
                          <a:r>
                            <a:rPr lang="en-GB" sz="2400" dirty="0"/>
                            <a:t>0</a:t>
                          </a:r>
                        </a:p>
                      </a:txBody>
                      <a:tcPr/>
                    </a:tc>
                    <a:extLst>
                      <a:ext uri="{0D108BD9-81ED-4DB2-BD59-A6C34878D82A}">
                        <a16:rowId xmlns:a16="http://schemas.microsoft.com/office/drawing/2014/main" val="10001"/>
                      </a:ext>
                    </a:extLst>
                  </a:tr>
                  <a:tr h="469410">
                    <a:tc>
                      <a:txBody>
                        <a:bodyPr/>
                        <a:lstStyle/>
                        <a:p>
                          <a:pPr algn="ctr"/>
                          <a:r>
                            <a:rPr lang="en-GB" sz="2400" dirty="0"/>
                            <a:t>0</a:t>
                          </a:r>
                        </a:p>
                      </a:txBody>
                      <a:tcPr/>
                    </a:tc>
                    <a:tc>
                      <a:txBody>
                        <a:bodyPr/>
                        <a:lstStyle/>
                        <a:p>
                          <a:pPr algn="ctr"/>
                          <a:r>
                            <a:rPr lang="en-GB" sz="2400" dirty="0"/>
                            <a:t>1</a:t>
                          </a:r>
                        </a:p>
                      </a:txBody>
                      <a:tcPr/>
                    </a:tc>
                    <a:extLst>
                      <a:ext uri="{0D108BD9-81ED-4DB2-BD59-A6C34878D82A}">
                        <a16:rowId xmlns:a16="http://schemas.microsoft.com/office/drawing/2014/main" val="10002"/>
                      </a:ext>
                    </a:extLst>
                  </a:tr>
                  <a:tr h="469410">
                    <a:tc>
                      <a:txBody>
                        <a:bodyPr/>
                        <a:lstStyle/>
                        <a:p>
                          <a:pPr algn="ctr"/>
                          <a:r>
                            <a:rPr lang="en-GB" sz="2400" dirty="0"/>
                            <a:t>1</a:t>
                          </a:r>
                        </a:p>
                      </a:txBody>
                      <a:tcPr/>
                    </a:tc>
                    <a:tc>
                      <a:txBody>
                        <a:bodyPr/>
                        <a:lstStyle/>
                        <a:p>
                          <a:pPr algn="ctr"/>
                          <a:r>
                            <a:rPr lang="en-GB" sz="2400" dirty="0"/>
                            <a:t>0</a:t>
                          </a:r>
                        </a:p>
                      </a:txBody>
                      <a:tcPr/>
                    </a:tc>
                    <a:extLst>
                      <a:ext uri="{0D108BD9-81ED-4DB2-BD59-A6C34878D82A}">
                        <a16:rowId xmlns:a16="http://schemas.microsoft.com/office/drawing/2014/main" val="10003"/>
                      </a:ext>
                    </a:extLst>
                  </a:tr>
                  <a:tr h="469410">
                    <a:tc>
                      <a:txBody>
                        <a:bodyPr/>
                        <a:lstStyle/>
                        <a:p>
                          <a:pPr algn="ctr"/>
                          <a:r>
                            <a:rPr lang="en-GB" sz="2400" dirty="0"/>
                            <a:t>1</a:t>
                          </a:r>
                        </a:p>
                      </a:txBody>
                      <a:tcPr/>
                    </a:tc>
                    <a:tc>
                      <a:txBody>
                        <a:bodyPr/>
                        <a:lstStyle/>
                        <a:p>
                          <a:pPr algn="ctr"/>
                          <a:r>
                            <a:rPr lang="en-GB" sz="2400" dirty="0" err="1"/>
                            <a:t>1</a:t>
                          </a:r>
                          <a:endParaRPr lang="en-GB" sz="2400" dirty="0"/>
                        </a:p>
                      </a:txBody>
                      <a:tcPr/>
                    </a:tc>
                    <a:extLst>
                      <a:ext uri="{0D108BD9-81ED-4DB2-BD59-A6C34878D82A}">
                        <a16:rowId xmlns:a16="http://schemas.microsoft.com/office/drawing/2014/main" val="10004"/>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13" name="Table 12">
                <a:extLst>
                  <a:ext uri="{FF2B5EF4-FFF2-40B4-BE49-F238E27FC236}">
                    <a16:creationId xmlns:a16="http://schemas.microsoft.com/office/drawing/2014/main" id="{466363EB-D714-4A2A-9503-02B3EBAD7AB2}"/>
                  </a:ext>
                </a:extLst>
              </p:cNvPr>
              <p:cNvGraphicFramePr>
                <a:graphicFrameLocks noGrp="1"/>
              </p:cNvGraphicFramePr>
              <p:nvPr>
                <p:extLst>
                  <p:ext uri="{D42A27DB-BD31-4B8C-83A1-F6EECF244321}">
                    <p14:modId xmlns:p14="http://schemas.microsoft.com/office/powerpoint/2010/main" val="1883508952"/>
                  </p:ext>
                </p:extLst>
              </p:nvPr>
            </p:nvGraphicFramePr>
            <p:xfrm>
              <a:off x="1762874" y="2730654"/>
              <a:ext cx="657376" cy="2286000"/>
            </p:xfrm>
            <a:graphic>
              <a:graphicData uri="http://schemas.openxmlformats.org/drawingml/2006/table">
                <a:tbl>
                  <a:tblPr firstRow="1" bandRow="1">
                    <a:tableStyleId>{5C22544A-7EE6-4342-B048-85BDC9FD1C3A}</a:tableStyleId>
                  </a:tblPr>
                  <a:tblGrid>
                    <a:gridCol w="657376">
                      <a:extLst>
                        <a:ext uri="{9D8B030D-6E8A-4147-A177-3AD203B41FA5}">
                          <a16:colId xmlns:a16="http://schemas.microsoft.com/office/drawing/2014/main" val="20000"/>
                        </a:ext>
                      </a:extLst>
                    </a:gridCol>
                  </a:tblGrid>
                  <a:tr h="441960">
                    <a:tc>
                      <a:txBody>
                        <a:bodyPr/>
                        <a:lstStyle/>
                        <a:p>
                          <a:pPr algn="ctr"/>
                          <a14:m>
                            <m:oMathPara xmlns:m="http://schemas.openxmlformats.org/officeDocument/2006/math">
                              <m:oMathParaPr>
                                <m:jc m:val="centerGroup"/>
                              </m:oMathParaPr>
                              <m:oMath xmlns:m="http://schemas.openxmlformats.org/officeDocument/2006/math">
                                <m:r>
                                  <a:rPr lang="en-GB" sz="2400" b="1" i="1" smtClean="0">
                                    <a:solidFill>
                                      <a:schemeClr val="tx1"/>
                                    </a:solidFill>
                                    <a:latin typeface="Cambria Math" panose="02040503050406030204" pitchFamily="18" charset="0"/>
                                    <a:ea typeface="Cambria Math" panose="02040503050406030204" pitchFamily="18" charset="0"/>
                                  </a:rPr>
                                  <m:t>¬</m:t>
                                </m:r>
                                <m:r>
                                  <a:rPr lang="en-GB" sz="2400" b="1" i="1" smtClean="0">
                                    <a:solidFill>
                                      <a:schemeClr val="tx1"/>
                                    </a:solidFill>
                                    <a:latin typeface="Cambria Math" panose="02040503050406030204" pitchFamily="18" charset="0"/>
                                  </a:rPr>
                                  <m:t>𝒑</m:t>
                                </m:r>
                              </m:oMath>
                            </m:oMathPara>
                          </a14:m>
                          <a:endParaRPr lang="en-GB" sz="2400" dirty="0">
                            <a:solidFill>
                              <a:schemeClr val="tx1"/>
                            </a:solidFill>
                          </a:endParaRPr>
                        </a:p>
                      </a:txBody>
                      <a:tcPr/>
                    </a:tc>
                    <a:extLst>
                      <a:ext uri="{0D108BD9-81ED-4DB2-BD59-A6C34878D82A}">
                        <a16:rowId xmlns:a16="http://schemas.microsoft.com/office/drawing/2014/main" val="10000"/>
                      </a:ext>
                    </a:extLst>
                  </a:tr>
                  <a:tr h="441960">
                    <a:tc>
                      <a:txBody>
                        <a:bodyPr/>
                        <a:lstStyle/>
                        <a:p>
                          <a:pPr algn="ctr"/>
                          <a:r>
                            <a:rPr lang="en-GB" sz="2400" dirty="0"/>
                            <a:t>1</a:t>
                          </a:r>
                        </a:p>
                      </a:txBody>
                      <a:tcPr/>
                    </a:tc>
                    <a:extLst>
                      <a:ext uri="{0D108BD9-81ED-4DB2-BD59-A6C34878D82A}">
                        <a16:rowId xmlns:a16="http://schemas.microsoft.com/office/drawing/2014/main" val="10001"/>
                      </a:ext>
                    </a:extLst>
                  </a:tr>
                  <a:tr h="441960">
                    <a:tc>
                      <a:txBody>
                        <a:bodyPr/>
                        <a:lstStyle/>
                        <a:p>
                          <a:pPr algn="ctr"/>
                          <a:r>
                            <a:rPr lang="en-GB" sz="2400" dirty="0"/>
                            <a:t>1</a:t>
                          </a:r>
                        </a:p>
                      </a:txBody>
                      <a:tcPr/>
                    </a:tc>
                    <a:extLst>
                      <a:ext uri="{0D108BD9-81ED-4DB2-BD59-A6C34878D82A}">
                        <a16:rowId xmlns:a16="http://schemas.microsoft.com/office/drawing/2014/main" val="10002"/>
                      </a:ext>
                    </a:extLst>
                  </a:tr>
                  <a:tr h="441960">
                    <a:tc>
                      <a:txBody>
                        <a:bodyPr/>
                        <a:lstStyle/>
                        <a:p>
                          <a:pPr algn="ctr"/>
                          <a:r>
                            <a:rPr lang="en-GB" sz="2400" dirty="0"/>
                            <a:t>0</a:t>
                          </a:r>
                        </a:p>
                      </a:txBody>
                      <a:tcPr/>
                    </a:tc>
                    <a:extLst>
                      <a:ext uri="{0D108BD9-81ED-4DB2-BD59-A6C34878D82A}">
                        <a16:rowId xmlns:a16="http://schemas.microsoft.com/office/drawing/2014/main" val="10003"/>
                      </a:ext>
                    </a:extLst>
                  </a:tr>
                  <a:tr h="441960">
                    <a:tc>
                      <a:txBody>
                        <a:bodyPr/>
                        <a:lstStyle/>
                        <a:p>
                          <a:pPr algn="ctr"/>
                          <a:r>
                            <a:rPr lang="en-GB" sz="2400" dirty="0"/>
                            <a:t>0</a:t>
                          </a:r>
                        </a:p>
                      </a:txBody>
                      <a:tcPr/>
                    </a:tc>
                    <a:extLst>
                      <a:ext uri="{0D108BD9-81ED-4DB2-BD59-A6C34878D82A}">
                        <a16:rowId xmlns:a16="http://schemas.microsoft.com/office/drawing/2014/main" val="10004"/>
                      </a:ext>
                    </a:extLst>
                  </a:tr>
                </a:tbl>
              </a:graphicData>
            </a:graphic>
          </p:graphicFrame>
        </mc:Choice>
        <mc:Fallback xmlns="">
          <p:graphicFrame>
            <p:nvGraphicFramePr>
              <p:cNvPr id="13" name="Table 12">
                <a:extLst>
                  <a:ext uri="{FF2B5EF4-FFF2-40B4-BE49-F238E27FC236}">
                    <a16:creationId xmlns:a16="http://schemas.microsoft.com/office/drawing/2014/main" id="{466363EB-D714-4A2A-9503-02B3EBAD7AB2}"/>
                  </a:ext>
                </a:extLst>
              </p:cNvPr>
              <p:cNvGraphicFramePr>
                <a:graphicFrameLocks noGrp="1"/>
              </p:cNvGraphicFramePr>
              <p:nvPr>
                <p:extLst>
                  <p:ext uri="{D42A27DB-BD31-4B8C-83A1-F6EECF244321}">
                    <p14:modId xmlns:p14="http://schemas.microsoft.com/office/powerpoint/2010/main" val="1883508952"/>
                  </p:ext>
                </p:extLst>
              </p:nvPr>
            </p:nvGraphicFramePr>
            <p:xfrm>
              <a:off x="1762874" y="2730654"/>
              <a:ext cx="657376" cy="2286000"/>
            </p:xfrm>
            <a:graphic>
              <a:graphicData uri="http://schemas.openxmlformats.org/drawingml/2006/table">
                <a:tbl>
                  <a:tblPr firstRow="1" bandRow="1">
                    <a:tableStyleId>{5C22544A-7EE6-4342-B048-85BDC9FD1C3A}</a:tableStyleId>
                  </a:tblPr>
                  <a:tblGrid>
                    <a:gridCol w="657376">
                      <a:extLst>
                        <a:ext uri="{9D8B030D-6E8A-4147-A177-3AD203B41FA5}">
                          <a16:colId xmlns:a16="http://schemas.microsoft.com/office/drawing/2014/main" val="20000"/>
                        </a:ext>
                      </a:extLst>
                    </a:gridCol>
                  </a:tblGrid>
                  <a:tr h="457200">
                    <a:tc>
                      <a:txBody>
                        <a:bodyPr/>
                        <a:lstStyle/>
                        <a:p>
                          <a:endParaRPr lang="en-US"/>
                        </a:p>
                      </a:txBody>
                      <a:tcPr>
                        <a:blipFill>
                          <a:blip r:embed="rId4"/>
                          <a:stretch>
                            <a:fillRect l="-917" t="-1333" r="-3670" b="-432000"/>
                          </a:stretch>
                        </a:blipFill>
                      </a:tcPr>
                    </a:tc>
                    <a:extLst>
                      <a:ext uri="{0D108BD9-81ED-4DB2-BD59-A6C34878D82A}">
                        <a16:rowId xmlns:a16="http://schemas.microsoft.com/office/drawing/2014/main" val="10000"/>
                      </a:ext>
                    </a:extLst>
                  </a:tr>
                  <a:tr h="457200">
                    <a:tc>
                      <a:txBody>
                        <a:bodyPr/>
                        <a:lstStyle/>
                        <a:p>
                          <a:pPr algn="ctr"/>
                          <a:r>
                            <a:rPr lang="en-GB" sz="2400" dirty="0"/>
                            <a:t>1</a:t>
                          </a:r>
                        </a:p>
                      </a:txBody>
                      <a:tcPr/>
                    </a:tc>
                    <a:extLst>
                      <a:ext uri="{0D108BD9-81ED-4DB2-BD59-A6C34878D82A}">
                        <a16:rowId xmlns:a16="http://schemas.microsoft.com/office/drawing/2014/main" val="10001"/>
                      </a:ext>
                    </a:extLst>
                  </a:tr>
                  <a:tr h="457200">
                    <a:tc>
                      <a:txBody>
                        <a:bodyPr/>
                        <a:lstStyle/>
                        <a:p>
                          <a:pPr algn="ctr"/>
                          <a:r>
                            <a:rPr lang="en-GB" sz="2400" dirty="0"/>
                            <a:t>1</a:t>
                          </a:r>
                        </a:p>
                      </a:txBody>
                      <a:tcPr/>
                    </a:tc>
                    <a:extLst>
                      <a:ext uri="{0D108BD9-81ED-4DB2-BD59-A6C34878D82A}">
                        <a16:rowId xmlns:a16="http://schemas.microsoft.com/office/drawing/2014/main" val="10002"/>
                      </a:ext>
                    </a:extLst>
                  </a:tr>
                  <a:tr h="457200">
                    <a:tc>
                      <a:txBody>
                        <a:bodyPr/>
                        <a:lstStyle/>
                        <a:p>
                          <a:pPr algn="ctr"/>
                          <a:r>
                            <a:rPr lang="en-GB" sz="2400" dirty="0"/>
                            <a:t>0</a:t>
                          </a:r>
                        </a:p>
                      </a:txBody>
                      <a:tcPr/>
                    </a:tc>
                    <a:extLst>
                      <a:ext uri="{0D108BD9-81ED-4DB2-BD59-A6C34878D82A}">
                        <a16:rowId xmlns:a16="http://schemas.microsoft.com/office/drawing/2014/main" val="10003"/>
                      </a:ext>
                    </a:extLst>
                  </a:tr>
                  <a:tr h="457200">
                    <a:tc>
                      <a:txBody>
                        <a:bodyPr/>
                        <a:lstStyle/>
                        <a:p>
                          <a:pPr algn="ctr"/>
                          <a:r>
                            <a:rPr lang="en-GB" sz="2400" dirty="0"/>
                            <a:t>0</a:t>
                          </a:r>
                        </a:p>
                      </a:txBody>
                      <a:tcPr/>
                    </a:tc>
                    <a:extLst>
                      <a:ext uri="{0D108BD9-81ED-4DB2-BD59-A6C34878D82A}">
                        <a16:rowId xmlns:a16="http://schemas.microsoft.com/office/drawing/2014/main" val="10004"/>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14" name="Table 13">
                <a:extLst>
                  <a:ext uri="{FF2B5EF4-FFF2-40B4-BE49-F238E27FC236}">
                    <a16:creationId xmlns:a16="http://schemas.microsoft.com/office/drawing/2014/main" id="{9B96FE54-BF6B-463B-84EB-973FFA577669}"/>
                  </a:ext>
                </a:extLst>
              </p:cNvPr>
              <p:cNvGraphicFramePr>
                <a:graphicFrameLocks noGrp="1"/>
              </p:cNvGraphicFramePr>
              <p:nvPr>
                <p:extLst>
                  <p:ext uri="{D42A27DB-BD31-4B8C-83A1-F6EECF244321}">
                    <p14:modId xmlns:p14="http://schemas.microsoft.com/office/powerpoint/2010/main" val="4186613713"/>
                  </p:ext>
                </p:extLst>
              </p:nvPr>
            </p:nvGraphicFramePr>
            <p:xfrm>
              <a:off x="2420250" y="2732926"/>
              <a:ext cx="657376" cy="2286000"/>
            </p:xfrm>
            <a:graphic>
              <a:graphicData uri="http://schemas.openxmlformats.org/drawingml/2006/table">
                <a:tbl>
                  <a:tblPr firstRow="1" bandRow="1">
                    <a:tableStyleId>{5C22544A-7EE6-4342-B048-85BDC9FD1C3A}</a:tableStyleId>
                  </a:tblPr>
                  <a:tblGrid>
                    <a:gridCol w="657376">
                      <a:extLst>
                        <a:ext uri="{9D8B030D-6E8A-4147-A177-3AD203B41FA5}">
                          <a16:colId xmlns:a16="http://schemas.microsoft.com/office/drawing/2014/main" val="20000"/>
                        </a:ext>
                      </a:extLst>
                    </a:gridCol>
                  </a:tblGrid>
                  <a:tr h="441960">
                    <a:tc>
                      <a:txBody>
                        <a:bodyPr/>
                        <a:lstStyle/>
                        <a:p>
                          <a:pPr algn="ctr"/>
                          <a14:m>
                            <m:oMathPara xmlns:m="http://schemas.openxmlformats.org/officeDocument/2006/math">
                              <m:oMathParaPr>
                                <m:jc m:val="centerGroup"/>
                              </m:oMathParaPr>
                              <m:oMath xmlns:m="http://schemas.openxmlformats.org/officeDocument/2006/math">
                                <m:r>
                                  <a:rPr lang="en-GB" sz="2400" b="1" i="1" smtClean="0">
                                    <a:solidFill>
                                      <a:schemeClr val="tx1"/>
                                    </a:solidFill>
                                    <a:latin typeface="Cambria Math" panose="02040503050406030204" pitchFamily="18" charset="0"/>
                                    <a:ea typeface="Cambria Math" panose="02040503050406030204" pitchFamily="18" charset="0"/>
                                  </a:rPr>
                                  <m:t>¬</m:t>
                                </m:r>
                                <m:r>
                                  <a:rPr lang="en-GB" sz="2400" b="1" i="1" smtClean="0">
                                    <a:solidFill>
                                      <a:schemeClr val="tx1"/>
                                    </a:solidFill>
                                    <a:latin typeface="Cambria Math" panose="02040503050406030204" pitchFamily="18" charset="0"/>
                                    <a:ea typeface="Cambria Math" panose="02040503050406030204" pitchFamily="18" charset="0"/>
                                  </a:rPr>
                                  <m:t>𝒒</m:t>
                                </m:r>
                              </m:oMath>
                            </m:oMathPara>
                          </a14:m>
                          <a:endParaRPr lang="en-GB" sz="2400" dirty="0">
                            <a:solidFill>
                              <a:schemeClr val="tx1"/>
                            </a:solidFill>
                          </a:endParaRPr>
                        </a:p>
                      </a:txBody>
                      <a:tcPr/>
                    </a:tc>
                    <a:extLst>
                      <a:ext uri="{0D108BD9-81ED-4DB2-BD59-A6C34878D82A}">
                        <a16:rowId xmlns:a16="http://schemas.microsoft.com/office/drawing/2014/main" val="10000"/>
                      </a:ext>
                    </a:extLst>
                  </a:tr>
                  <a:tr h="441960">
                    <a:tc>
                      <a:txBody>
                        <a:bodyPr/>
                        <a:lstStyle/>
                        <a:p>
                          <a:pPr algn="ctr"/>
                          <a:r>
                            <a:rPr lang="en-GB" sz="2400" dirty="0"/>
                            <a:t>1</a:t>
                          </a:r>
                        </a:p>
                      </a:txBody>
                      <a:tcPr/>
                    </a:tc>
                    <a:extLst>
                      <a:ext uri="{0D108BD9-81ED-4DB2-BD59-A6C34878D82A}">
                        <a16:rowId xmlns:a16="http://schemas.microsoft.com/office/drawing/2014/main" val="10001"/>
                      </a:ext>
                    </a:extLst>
                  </a:tr>
                  <a:tr h="441960">
                    <a:tc>
                      <a:txBody>
                        <a:bodyPr/>
                        <a:lstStyle/>
                        <a:p>
                          <a:pPr algn="ctr"/>
                          <a:r>
                            <a:rPr lang="en-GB" sz="2400" dirty="0"/>
                            <a:t>0</a:t>
                          </a:r>
                        </a:p>
                      </a:txBody>
                      <a:tcPr/>
                    </a:tc>
                    <a:extLst>
                      <a:ext uri="{0D108BD9-81ED-4DB2-BD59-A6C34878D82A}">
                        <a16:rowId xmlns:a16="http://schemas.microsoft.com/office/drawing/2014/main" val="10002"/>
                      </a:ext>
                    </a:extLst>
                  </a:tr>
                  <a:tr h="441960">
                    <a:tc>
                      <a:txBody>
                        <a:bodyPr/>
                        <a:lstStyle/>
                        <a:p>
                          <a:pPr algn="ctr"/>
                          <a:r>
                            <a:rPr lang="en-GB" sz="2400" dirty="0"/>
                            <a:t>1</a:t>
                          </a:r>
                        </a:p>
                      </a:txBody>
                      <a:tcPr/>
                    </a:tc>
                    <a:extLst>
                      <a:ext uri="{0D108BD9-81ED-4DB2-BD59-A6C34878D82A}">
                        <a16:rowId xmlns:a16="http://schemas.microsoft.com/office/drawing/2014/main" val="10003"/>
                      </a:ext>
                    </a:extLst>
                  </a:tr>
                  <a:tr h="441960">
                    <a:tc>
                      <a:txBody>
                        <a:bodyPr/>
                        <a:lstStyle/>
                        <a:p>
                          <a:pPr algn="ctr"/>
                          <a:r>
                            <a:rPr lang="en-GB" sz="2400" dirty="0"/>
                            <a:t>0</a:t>
                          </a:r>
                        </a:p>
                      </a:txBody>
                      <a:tcPr/>
                    </a:tc>
                    <a:extLst>
                      <a:ext uri="{0D108BD9-81ED-4DB2-BD59-A6C34878D82A}">
                        <a16:rowId xmlns:a16="http://schemas.microsoft.com/office/drawing/2014/main" val="10004"/>
                      </a:ext>
                    </a:extLst>
                  </a:tr>
                </a:tbl>
              </a:graphicData>
            </a:graphic>
          </p:graphicFrame>
        </mc:Choice>
        <mc:Fallback xmlns="">
          <p:graphicFrame>
            <p:nvGraphicFramePr>
              <p:cNvPr id="14" name="Table 13">
                <a:extLst>
                  <a:ext uri="{FF2B5EF4-FFF2-40B4-BE49-F238E27FC236}">
                    <a16:creationId xmlns:a16="http://schemas.microsoft.com/office/drawing/2014/main" id="{9B96FE54-BF6B-463B-84EB-973FFA577669}"/>
                  </a:ext>
                </a:extLst>
              </p:cNvPr>
              <p:cNvGraphicFramePr>
                <a:graphicFrameLocks noGrp="1"/>
              </p:cNvGraphicFramePr>
              <p:nvPr>
                <p:extLst>
                  <p:ext uri="{D42A27DB-BD31-4B8C-83A1-F6EECF244321}">
                    <p14:modId xmlns:p14="http://schemas.microsoft.com/office/powerpoint/2010/main" val="4186613713"/>
                  </p:ext>
                </p:extLst>
              </p:nvPr>
            </p:nvGraphicFramePr>
            <p:xfrm>
              <a:off x="2420250" y="2732926"/>
              <a:ext cx="657376" cy="2286000"/>
            </p:xfrm>
            <a:graphic>
              <a:graphicData uri="http://schemas.openxmlformats.org/drawingml/2006/table">
                <a:tbl>
                  <a:tblPr firstRow="1" bandRow="1">
                    <a:tableStyleId>{5C22544A-7EE6-4342-B048-85BDC9FD1C3A}</a:tableStyleId>
                  </a:tblPr>
                  <a:tblGrid>
                    <a:gridCol w="657376">
                      <a:extLst>
                        <a:ext uri="{9D8B030D-6E8A-4147-A177-3AD203B41FA5}">
                          <a16:colId xmlns:a16="http://schemas.microsoft.com/office/drawing/2014/main" val="20000"/>
                        </a:ext>
                      </a:extLst>
                    </a:gridCol>
                  </a:tblGrid>
                  <a:tr h="457200">
                    <a:tc>
                      <a:txBody>
                        <a:bodyPr/>
                        <a:lstStyle/>
                        <a:p>
                          <a:endParaRPr lang="en-US"/>
                        </a:p>
                      </a:txBody>
                      <a:tcPr>
                        <a:blipFill>
                          <a:blip r:embed="rId5"/>
                          <a:stretch>
                            <a:fillRect l="-1852" t="-1333" r="-4630" b="-430667"/>
                          </a:stretch>
                        </a:blipFill>
                      </a:tcPr>
                    </a:tc>
                    <a:extLst>
                      <a:ext uri="{0D108BD9-81ED-4DB2-BD59-A6C34878D82A}">
                        <a16:rowId xmlns:a16="http://schemas.microsoft.com/office/drawing/2014/main" val="10000"/>
                      </a:ext>
                    </a:extLst>
                  </a:tr>
                  <a:tr h="457200">
                    <a:tc>
                      <a:txBody>
                        <a:bodyPr/>
                        <a:lstStyle/>
                        <a:p>
                          <a:pPr algn="ctr"/>
                          <a:r>
                            <a:rPr lang="en-GB" sz="2400" dirty="0"/>
                            <a:t>1</a:t>
                          </a:r>
                        </a:p>
                      </a:txBody>
                      <a:tcPr/>
                    </a:tc>
                    <a:extLst>
                      <a:ext uri="{0D108BD9-81ED-4DB2-BD59-A6C34878D82A}">
                        <a16:rowId xmlns:a16="http://schemas.microsoft.com/office/drawing/2014/main" val="10001"/>
                      </a:ext>
                    </a:extLst>
                  </a:tr>
                  <a:tr h="457200">
                    <a:tc>
                      <a:txBody>
                        <a:bodyPr/>
                        <a:lstStyle/>
                        <a:p>
                          <a:pPr algn="ctr"/>
                          <a:r>
                            <a:rPr lang="en-GB" sz="2400" dirty="0"/>
                            <a:t>0</a:t>
                          </a:r>
                        </a:p>
                      </a:txBody>
                      <a:tcPr/>
                    </a:tc>
                    <a:extLst>
                      <a:ext uri="{0D108BD9-81ED-4DB2-BD59-A6C34878D82A}">
                        <a16:rowId xmlns:a16="http://schemas.microsoft.com/office/drawing/2014/main" val="10002"/>
                      </a:ext>
                    </a:extLst>
                  </a:tr>
                  <a:tr h="457200">
                    <a:tc>
                      <a:txBody>
                        <a:bodyPr/>
                        <a:lstStyle/>
                        <a:p>
                          <a:pPr algn="ctr"/>
                          <a:r>
                            <a:rPr lang="en-GB" sz="2400" dirty="0"/>
                            <a:t>1</a:t>
                          </a:r>
                        </a:p>
                      </a:txBody>
                      <a:tcPr/>
                    </a:tc>
                    <a:extLst>
                      <a:ext uri="{0D108BD9-81ED-4DB2-BD59-A6C34878D82A}">
                        <a16:rowId xmlns:a16="http://schemas.microsoft.com/office/drawing/2014/main" val="10003"/>
                      </a:ext>
                    </a:extLst>
                  </a:tr>
                  <a:tr h="457200">
                    <a:tc>
                      <a:txBody>
                        <a:bodyPr/>
                        <a:lstStyle/>
                        <a:p>
                          <a:pPr algn="ctr"/>
                          <a:r>
                            <a:rPr lang="en-GB" sz="2400" dirty="0"/>
                            <a:t>0</a:t>
                          </a:r>
                        </a:p>
                      </a:txBody>
                      <a:tcPr/>
                    </a:tc>
                    <a:extLst>
                      <a:ext uri="{0D108BD9-81ED-4DB2-BD59-A6C34878D82A}">
                        <a16:rowId xmlns:a16="http://schemas.microsoft.com/office/drawing/2014/main" val="10004"/>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15" name="Table 14">
                <a:extLst>
                  <a:ext uri="{FF2B5EF4-FFF2-40B4-BE49-F238E27FC236}">
                    <a16:creationId xmlns:a16="http://schemas.microsoft.com/office/drawing/2014/main" id="{7FA5BCEB-E25F-4026-9A77-F21BDAF225DF}"/>
                  </a:ext>
                </a:extLst>
              </p:cNvPr>
              <p:cNvGraphicFramePr>
                <a:graphicFrameLocks noGrp="1"/>
              </p:cNvGraphicFramePr>
              <p:nvPr>
                <p:extLst>
                  <p:ext uri="{D42A27DB-BD31-4B8C-83A1-F6EECF244321}">
                    <p14:modId xmlns:p14="http://schemas.microsoft.com/office/powerpoint/2010/main" val="2086210468"/>
                  </p:ext>
                </p:extLst>
              </p:nvPr>
            </p:nvGraphicFramePr>
            <p:xfrm>
              <a:off x="3104854" y="2732926"/>
              <a:ext cx="1827598" cy="2286000"/>
            </p:xfrm>
            <a:graphic>
              <a:graphicData uri="http://schemas.openxmlformats.org/drawingml/2006/table">
                <a:tbl>
                  <a:tblPr firstRow="1" bandRow="1">
                    <a:tableStyleId>{5C22544A-7EE6-4342-B048-85BDC9FD1C3A}</a:tableStyleId>
                  </a:tblPr>
                  <a:tblGrid>
                    <a:gridCol w="1827598">
                      <a:extLst>
                        <a:ext uri="{9D8B030D-6E8A-4147-A177-3AD203B41FA5}">
                          <a16:colId xmlns:a16="http://schemas.microsoft.com/office/drawing/2014/main" val="20000"/>
                        </a:ext>
                      </a:extLst>
                    </a:gridCol>
                  </a:tblGrid>
                  <a:tr h="441960">
                    <a:tc>
                      <a:txBody>
                        <a:bodyPr/>
                        <a:lstStyle/>
                        <a:p>
                          <a:pPr algn="ctr"/>
                          <a14:m>
                            <m:oMathPara xmlns:m="http://schemas.openxmlformats.org/officeDocument/2006/math">
                              <m:oMathParaPr>
                                <m:jc m:val="centerGroup"/>
                              </m:oMathParaPr>
                              <m:oMath xmlns:m="http://schemas.openxmlformats.org/officeDocument/2006/math">
                                <m:d>
                                  <m:d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dP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𝑝</m:t>
                                    </m:r>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 ¬</m:t>
                                    </m:r>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𝑞</m:t>
                                    </m:r>
                                  </m:e>
                                </m:d>
                              </m:oMath>
                            </m:oMathPara>
                          </a14:m>
                          <a:endParaRPr lang="en-GB" sz="2400" dirty="0">
                            <a:solidFill>
                              <a:schemeClr val="tx1"/>
                            </a:solidFill>
                          </a:endParaRPr>
                        </a:p>
                      </a:txBody>
                      <a:tcPr/>
                    </a:tc>
                    <a:extLst>
                      <a:ext uri="{0D108BD9-81ED-4DB2-BD59-A6C34878D82A}">
                        <a16:rowId xmlns:a16="http://schemas.microsoft.com/office/drawing/2014/main" val="10000"/>
                      </a:ext>
                    </a:extLst>
                  </a:tr>
                  <a:tr h="441960">
                    <a:tc>
                      <a:txBody>
                        <a:bodyPr/>
                        <a:lstStyle/>
                        <a:p>
                          <a:pPr algn="ctr"/>
                          <a:r>
                            <a:rPr lang="en-GB" sz="2400" dirty="0"/>
                            <a:t>1</a:t>
                          </a:r>
                        </a:p>
                      </a:txBody>
                      <a:tcPr/>
                    </a:tc>
                    <a:extLst>
                      <a:ext uri="{0D108BD9-81ED-4DB2-BD59-A6C34878D82A}">
                        <a16:rowId xmlns:a16="http://schemas.microsoft.com/office/drawing/2014/main" val="10001"/>
                      </a:ext>
                    </a:extLst>
                  </a:tr>
                  <a:tr h="441960">
                    <a:tc>
                      <a:txBody>
                        <a:bodyPr/>
                        <a:lstStyle/>
                        <a:p>
                          <a:pPr algn="ctr"/>
                          <a:r>
                            <a:rPr lang="en-GB" sz="2400" dirty="0"/>
                            <a:t>1</a:t>
                          </a:r>
                        </a:p>
                      </a:txBody>
                      <a:tcPr/>
                    </a:tc>
                    <a:extLst>
                      <a:ext uri="{0D108BD9-81ED-4DB2-BD59-A6C34878D82A}">
                        <a16:rowId xmlns:a16="http://schemas.microsoft.com/office/drawing/2014/main" val="10002"/>
                      </a:ext>
                    </a:extLst>
                  </a:tr>
                  <a:tr h="441960">
                    <a:tc>
                      <a:txBody>
                        <a:bodyPr/>
                        <a:lstStyle/>
                        <a:p>
                          <a:pPr algn="ctr"/>
                          <a:r>
                            <a:rPr lang="en-GB" sz="2400" dirty="0"/>
                            <a:t>1</a:t>
                          </a:r>
                        </a:p>
                      </a:txBody>
                      <a:tcPr/>
                    </a:tc>
                    <a:extLst>
                      <a:ext uri="{0D108BD9-81ED-4DB2-BD59-A6C34878D82A}">
                        <a16:rowId xmlns:a16="http://schemas.microsoft.com/office/drawing/2014/main" val="10003"/>
                      </a:ext>
                    </a:extLst>
                  </a:tr>
                  <a:tr h="441960">
                    <a:tc>
                      <a:txBody>
                        <a:bodyPr/>
                        <a:lstStyle/>
                        <a:p>
                          <a:pPr algn="ctr"/>
                          <a:r>
                            <a:rPr lang="en-GB" sz="2400" dirty="0"/>
                            <a:t>0</a:t>
                          </a:r>
                        </a:p>
                      </a:txBody>
                      <a:tcPr/>
                    </a:tc>
                    <a:extLst>
                      <a:ext uri="{0D108BD9-81ED-4DB2-BD59-A6C34878D82A}">
                        <a16:rowId xmlns:a16="http://schemas.microsoft.com/office/drawing/2014/main" val="10004"/>
                      </a:ext>
                    </a:extLst>
                  </a:tr>
                </a:tbl>
              </a:graphicData>
            </a:graphic>
          </p:graphicFrame>
        </mc:Choice>
        <mc:Fallback xmlns="">
          <p:graphicFrame>
            <p:nvGraphicFramePr>
              <p:cNvPr id="15" name="Table 14">
                <a:extLst>
                  <a:ext uri="{FF2B5EF4-FFF2-40B4-BE49-F238E27FC236}">
                    <a16:creationId xmlns:a16="http://schemas.microsoft.com/office/drawing/2014/main" id="{7FA5BCEB-E25F-4026-9A77-F21BDAF225DF}"/>
                  </a:ext>
                </a:extLst>
              </p:cNvPr>
              <p:cNvGraphicFramePr>
                <a:graphicFrameLocks noGrp="1"/>
              </p:cNvGraphicFramePr>
              <p:nvPr>
                <p:extLst>
                  <p:ext uri="{D42A27DB-BD31-4B8C-83A1-F6EECF244321}">
                    <p14:modId xmlns:p14="http://schemas.microsoft.com/office/powerpoint/2010/main" val="2086210468"/>
                  </p:ext>
                </p:extLst>
              </p:nvPr>
            </p:nvGraphicFramePr>
            <p:xfrm>
              <a:off x="3104854" y="2732926"/>
              <a:ext cx="1827598" cy="2286000"/>
            </p:xfrm>
            <a:graphic>
              <a:graphicData uri="http://schemas.openxmlformats.org/drawingml/2006/table">
                <a:tbl>
                  <a:tblPr firstRow="1" bandRow="1">
                    <a:tableStyleId>{5C22544A-7EE6-4342-B048-85BDC9FD1C3A}</a:tableStyleId>
                  </a:tblPr>
                  <a:tblGrid>
                    <a:gridCol w="1827598">
                      <a:extLst>
                        <a:ext uri="{9D8B030D-6E8A-4147-A177-3AD203B41FA5}">
                          <a16:colId xmlns:a16="http://schemas.microsoft.com/office/drawing/2014/main" val="20000"/>
                        </a:ext>
                      </a:extLst>
                    </a:gridCol>
                  </a:tblGrid>
                  <a:tr h="457200">
                    <a:tc>
                      <a:txBody>
                        <a:bodyPr/>
                        <a:lstStyle/>
                        <a:p>
                          <a:endParaRPr lang="en-US"/>
                        </a:p>
                      </a:txBody>
                      <a:tcPr>
                        <a:blipFill>
                          <a:blip r:embed="rId6"/>
                          <a:stretch>
                            <a:fillRect l="-332" t="-1333" r="-1329" b="-430667"/>
                          </a:stretch>
                        </a:blipFill>
                      </a:tcPr>
                    </a:tc>
                    <a:extLst>
                      <a:ext uri="{0D108BD9-81ED-4DB2-BD59-A6C34878D82A}">
                        <a16:rowId xmlns:a16="http://schemas.microsoft.com/office/drawing/2014/main" val="10000"/>
                      </a:ext>
                    </a:extLst>
                  </a:tr>
                  <a:tr h="457200">
                    <a:tc>
                      <a:txBody>
                        <a:bodyPr/>
                        <a:lstStyle/>
                        <a:p>
                          <a:pPr algn="ctr"/>
                          <a:r>
                            <a:rPr lang="en-GB" sz="2400" dirty="0"/>
                            <a:t>1</a:t>
                          </a:r>
                        </a:p>
                      </a:txBody>
                      <a:tcPr/>
                    </a:tc>
                    <a:extLst>
                      <a:ext uri="{0D108BD9-81ED-4DB2-BD59-A6C34878D82A}">
                        <a16:rowId xmlns:a16="http://schemas.microsoft.com/office/drawing/2014/main" val="10001"/>
                      </a:ext>
                    </a:extLst>
                  </a:tr>
                  <a:tr h="457200">
                    <a:tc>
                      <a:txBody>
                        <a:bodyPr/>
                        <a:lstStyle/>
                        <a:p>
                          <a:pPr algn="ctr"/>
                          <a:r>
                            <a:rPr lang="en-GB" sz="2400" dirty="0"/>
                            <a:t>1</a:t>
                          </a:r>
                        </a:p>
                      </a:txBody>
                      <a:tcPr/>
                    </a:tc>
                    <a:extLst>
                      <a:ext uri="{0D108BD9-81ED-4DB2-BD59-A6C34878D82A}">
                        <a16:rowId xmlns:a16="http://schemas.microsoft.com/office/drawing/2014/main" val="10002"/>
                      </a:ext>
                    </a:extLst>
                  </a:tr>
                  <a:tr h="457200">
                    <a:tc>
                      <a:txBody>
                        <a:bodyPr/>
                        <a:lstStyle/>
                        <a:p>
                          <a:pPr algn="ctr"/>
                          <a:r>
                            <a:rPr lang="en-GB" sz="2400" dirty="0"/>
                            <a:t>1</a:t>
                          </a:r>
                        </a:p>
                      </a:txBody>
                      <a:tcPr/>
                    </a:tc>
                    <a:extLst>
                      <a:ext uri="{0D108BD9-81ED-4DB2-BD59-A6C34878D82A}">
                        <a16:rowId xmlns:a16="http://schemas.microsoft.com/office/drawing/2014/main" val="10003"/>
                      </a:ext>
                    </a:extLst>
                  </a:tr>
                  <a:tr h="457200">
                    <a:tc>
                      <a:txBody>
                        <a:bodyPr/>
                        <a:lstStyle/>
                        <a:p>
                          <a:pPr algn="ctr"/>
                          <a:r>
                            <a:rPr lang="en-GB" sz="2400" dirty="0"/>
                            <a:t>0</a:t>
                          </a:r>
                        </a:p>
                      </a:txBody>
                      <a:tcPr/>
                    </a:tc>
                    <a:extLst>
                      <a:ext uri="{0D108BD9-81ED-4DB2-BD59-A6C34878D82A}">
                        <a16:rowId xmlns:a16="http://schemas.microsoft.com/office/drawing/2014/main" val="10004"/>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17" name="Table 16">
                <a:extLst>
                  <a:ext uri="{FF2B5EF4-FFF2-40B4-BE49-F238E27FC236}">
                    <a16:creationId xmlns:a16="http://schemas.microsoft.com/office/drawing/2014/main" id="{99B72A87-3CF1-4BB7-B614-DE6110524130}"/>
                  </a:ext>
                </a:extLst>
              </p:cNvPr>
              <p:cNvGraphicFramePr>
                <a:graphicFrameLocks noGrp="1"/>
              </p:cNvGraphicFramePr>
              <p:nvPr>
                <p:extLst>
                  <p:ext uri="{D42A27DB-BD31-4B8C-83A1-F6EECF244321}">
                    <p14:modId xmlns:p14="http://schemas.microsoft.com/office/powerpoint/2010/main" val="738750010"/>
                  </p:ext>
                </p:extLst>
              </p:nvPr>
            </p:nvGraphicFramePr>
            <p:xfrm>
              <a:off x="4953000" y="2743200"/>
              <a:ext cx="1676400" cy="2286000"/>
            </p:xfrm>
            <a:graphic>
              <a:graphicData uri="http://schemas.openxmlformats.org/drawingml/2006/table">
                <a:tbl>
                  <a:tblPr firstRow="1" bandRow="1">
                    <a:tableStyleId>{5C22544A-7EE6-4342-B048-85BDC9FD1C3A}</a:tableStyleId>
                  </a:tblPr>
                  <a:tblGrid>
                    <a:gridCol w="1676400">
                      <a:extLst>
                        <a:ext uri="{9D8B030D-6E8A-4147-A177-3AD203B41FA5}">
                          <a16:colId xmlns:a16="http://schemas.microsoft.com/office/drawing/2014/main" val="20000"/>
                        </a:ext>
                      </a:extLst>
                    </a:gridCol>
                  </a:tblGrid>
                  <a:tr h="441960">
                    <a:tc>
                      <a:txBody>
                        <a:bodyPr/>
                        <a:lstStyle/>
                        <a:p>
                          <a:pPr algn="ctr"/>
                          <a14:m>
                            <m:oMathPara xmlns:m="http://schemas.openxmlformats.org/officeDocument/2006/math">
                              <m:oMathParaPr>
                                <m:jc m:val="centerGroup"/>
                              </m:oMathParaPr>
                              <m:oMath xmlns:m="http://schemas.openxmlformats.org/officeDocument/2006/math">
                                <m:d>
                                  <m:d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ctrlPr>
                                  </m:dP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𝑝</m:t>
                                    </m:r>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𝑞</m:t>
                                    </m:r>
                                  </m:e>
                                </m:d>
                              </m:oMath>
                            </m:oMathPara>
                          </a14:m>
                          <a:endParaRPr lang="en-GB" sz="2400" dirty="0">
                            <a:solidFill>
                              <a:schemeClr val="tx1"/>
                            </a:solidFill>
                          </a:endParaRPr>
                        </a:p>
                      </a:txBody>
                      <a:tcPr/>
                    </a:tc>
                    <a:extLst>
                      <a:ext uri="{0D108BD9-81ED-4DB2-BD59-A6C34878D82A}">
                        <a16:rowId xmlns:a16="http://schemas.microsoft.com/office/drawing/2014/main" val="10000"/>
                      </a:ext>
                    </a:extLst>
                  </a:tr>
                  <a:tr h="441960">
                    <a:tc>
                      <a:txBody>
                        <a:bodyPr/>
                        <a:lstStyle/>
                        <a:p>
                          <a:pPr algn="ctr"/>
                          <a:r>
                            <a:rPr lang="en-GB" sz="2400" dirty="0"/>
                            <a:t>0</a:t>
                          </a:r>
                        </a:p>
                      </a:txBody>
                      <a:tcPr/>
                    </a:tc>
                    <a:extLst>
                      <a:ext uri="{0D108BD9-81ED-4DB2-BD59-A6C34878D82A}">
                        <a16:rowId xmlns:a16="http://schemas.microsoft.com/office/drawing/2014/main" val="10001"/>
                      </a:ext>
                    </a:extLst>
                  </a:tr>
                  <a:tr h="441960">
                    <a:tc>
                      <a:txBody>
                        <a:bodyPr/>
                        <a:lstStyle/>
                        <a:p>
                          <a:pPr algn="ctr"/>
                          <a:r>
                            <a:rPr lang="en-GB" sz="2400" dirty="0"/>
                            <a:t>1</a:t>
                          </a:r>
                        </a:p>
                      </a:txBody>
                      <a:tcPr/>
                    </a:tc>
                    <a:extLst>
                      <a:ext uri="{0D108BD9-81ED-4DB2-BD59-A6C34878D82A}">
                        <a16:rowId xmlns:a16="http://schemas.microsoft.com/office/drawing/2014/main" val="10002"/>
                      </a:ext>
                    </a:extLst>
                  </a:tr>
                  <a:tr h="441960">
                    <a:tc>
                      <a:txBody>
                        <a:bodyPr/>
                        <a:lstStyle/>
                        <a:p>
                          <a:pPr algn="ctr"/>
                          <a:r>
                            <a:rPr lang="en-GB" sz="2400" dirty="0"/>
                            <a:t>1</a:t>
                          </a:r>
                        </a:p>
                      </a:txBody>
                      <a:tcPr/>
                    </a:tc>
                    <a:extLst>
                      <a:ext uri="{0D108BD9-81ED-4DB2-BD59-A6C34878D82A}">
                        <a16:rowId xmlns:a16="http://schemas.microsoft.com/office/drawing/2014/main" val="10003"/>
                      </a:ext>
                    </a:extLst>
                  </a:tr>
                  <a:tr h="441960">
                    <a:tc>
                      <a:txBody>
                        <a:bodyPr/>
                        <a:lstStyle/>
                        <a:p>
                          <a:pPr algn="ctr"/>
                          <a:r>
                            <a:rPr lang="en-GB" sz="2400" dirty="0"/>
                            <a:t>0</a:t>
                          </a:r>
                        </a:p>
                      </a:txBody>
                      <a:tcPr/>
                    </a:tc>
                    <a:extLst>
                      <a:ext uri="{0D108BD9-81ED-4DB2-BD59-A6C34878D82A}">
                        <a16:rowId xmlns:a16="http://schemas.microsoft.com/office/drawing/2014/main" val="10004"/>
                      </a:ext>
                    </a:extLst>
                  </a:tr>
                </a:tbl>
              </a:graphicData>
            </a:graphic>
          </p:graphicFrame>
        </mc:Choice>
        <mc:Fallback xmlns="">
          <p:graphicFrame>
            <p:nvGraphicFramePr>
              <p:cNvPr id="17" name="Table 16">
                <a:extLst>
                  <a:ext uri="{FF2B5EF4-FFF2-40B4-BE49-F238E27FC236}">
                    <a16:creationId xmlns:a16="http://schemas.microsoft.com/office/drawing/2014/main" id="{99B72A87-3CF1-4BB7-B614-DE6110524130}"/>
                  </a:ext>
                </a:extLst>
              </p:cNvPr>
              <p:cNvGraphicFramePr>
                <a:graphicFrameLocks noGrp="1"/>
              </p:cNvGraphicFramePr>
              <p:nvPr>
                <p:extLst>
                  <p:ext uri="{D42A27DB-BD31-4B8C-83A1-F6EECF244321}">
                    <p14:modId xmlns:p14="http://schemas.microsoft.com/office/powerpoint/2010/main" val="738750010"/>
                  </p:ext>
                </p:extLst>
              </p:nvPr>
            </p:nvGraphicFramePr>
            <p:xfrm>
              <a:off x="4953000" y="2743200"/>
              <a:ext cx="1676400" cy="2286000"/>
            </p:xfrm>
            <a:graphic>
              <a:graphicData uri="http://schemas.openxmlformats.org/drawingml/2006/table">
                <a:tbl>
                  <a:tblPr firstRow="1" bandRow="1">
                    <a:tableStyleId>{5C22544A-7EE6-4342-B048-85BDC9FD1C3A}</a:tableStyleId>
                  </a:tblPr>
                  <a:tblGrid>
                    <a:gridCol w="1676400">
                      <a:extLst>
                        <a:ext uri="{9D8B030D-6E8A-4147-A177-3AD203B41FA5}">
                          <a16:colId xmlns:a16="http://schemas.microsoft.com/office/drawing/2014/main" val="20000"/>
                        </a:ext>
                      </a:extLst>
                    </a:gridCol>
                  </a:tblGrid>
                  <a:tr h="457200">
                    <a:tc>
                      <a:txBody>
                        <a:bodyPr/>
                        <a:lstStyle/>
                        <a:p>
                          <a:endParaRPr lang="en-US"/>
                        </a:p>
                      </a:txBody>
                      <a:tcPr>
                        <a:blipFill>
                          <a:blip r:embed="rId7"/>
                          <a:stretch>
                            <a:fillRect l="-362" t="-2667" r="-1449" b="-430667"/>
                          </a:stretch>
                        </a:blipFill>
                      </a:tcPr>
                    </a:tc>
                    <a:extLst>
                      <a:ext uri="{0D108BD9-81ED-4DB2-BD59-A6C34878D82A}">
                        <a16:rowId xmlns:a16="http://schemas.microsoft.com/office/drawing/2014/main" val="10000"/>
                      </a:ext>
                    </a:extLst>
                  </a:tr>
                  <a:tr h="457200">
                    <a:tc>
                      <a:txBody>
                        <a:bodyPr/>
                        <a:lstStyle/>
                        <a:p>
                          <a:pPr algn="ctr"/>
                          <a:r>
                            <a:rPr lang="en-GB" sz="2400" dirty="0"/>
                            <a:t>0</a:t>
                          </a:r>
                        </a:p>
                      </a:txBody>
                      <a:tcPr/>
                    </a:tc>
                    <a:extLst>
                      <a:ext uri="{0D108BD9-81ED-4DB2-BD59-A6C34878D82A}">
                        <a16:rowId xmlns:a16="http://schemas.microsoft.com/office/drawing/2014/main" val="10001"/>
                      </a:ext>
                    </a:extLst>
                  </a:tr>
                  <a:tr h="457200">
                    <a:tc>
                      <a:txBody>
                        <a:bodyPr/>
                        <a:lstStyle/>
                        <a:p>
                          <a:pPr algn="ctr"/>
                          <a:r>
                            <a:rPr lang="en-GB" sz="2400" dirty="0"/>
                            <a:t>1</a:t>
                          </a:r>
                        </a:p>
                      </a:txBody>
                      <a:tcPr/>
                    </a:tc>
                    <a:extLst>
                      <a:ext uri="{0D108BD9-81ED-4DB2-BD59-A6C34878D82A}">
                        <a16:rowId xmlns:a16="http://schemas.microsoft.com/office/drawing/2014/main" val="10002"/>
                      </a:ext>
                    </a:extLst>
                  </a:tr>
                  <a:tr h="457200">
                    <a:tc>
                      <a:txBody>
                        <a:bodyPr/>
                        <a:lstStyle/>
                        <a:p>
                          <a:pPr algn="ctr"/>
                          <a:r>
                            <a:rPr lang="en-GB" sz="2400" dirty="0"/>
                            <a:t>1</a:t>
                          </a:r>
                        </a:p>
                      </a:txBody>
                      <a:tcPr/>
                    </a:tc>
                    <a:extLst>
                      <a:ext uri="{0D108BD9-81ED-4DB2-BD59-A6C34878D82A}">
                        <a16:rowId xmlns:a16="http://schemas.microsoft.com/office/drawing/2014/main" val="10003"/>
                      </a:ext>
                    </a:extLst>
                  </a:tr>
                  <a:tr h="457200">
                    <a:tc>
                      <a:txBody>
                        <a:bodyPr/>
                        <a:lstStyle/>
                        <a:p>
                          <a:pPr algn="ctr"/>
                          <a:r>
                            <a:rPr lang="en-GB" sz="2400" dirty="0"/>
                            <a:t>0</a:t>
                          </a:r>
                        </a:p>
                      </a:txBody>
                      <a:tcPr/>
                    </a:tc>
                    <a:extLst>
                      <a:ext uri="{0D108BD9-81ED-4DB2-BD59-A6C34878D82A}">
                        <a16:rowId xmlns:a16="http://schemas.microsoft.com/office/drawing/2014/main" val="10004"/>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18" name="Table 17">
                <a:extLst>
                  <a:ext uri="{FF2B5EF4-FFF2-40B4-BE49-F238E27FC236}">
                    <a16:creationId xmlns:a16="http://schemas.microsoft.com/office/drawing/2014/main" id="{E15AF616-B2EC-4696-B7DF-B8A565EB5E54}"/>
                  </a:ext>
                </a:extLst>
              </p:cNvPr>
              <p:cNvGraphicFramePr>
                <a:graphicFrameLocks noGrp="1"/>
              </p:cNvGraphicFramePr>
              <p:nvPr>
                <p:extLst>
                  <p:ext uri="{D42A27DB-BD31-4B8C-83A1-F6EECF244321}">
                    <p14:modId xmlns:p14="http://schemas.microsoft.com/office/powerpoint/2010/main" val="1591432105"/>
                  </p:ext>
                </p:extLst>
              </p:nvPr>
            </p:nvGraphicFramePr>
            <p:xfrm>
              <a:off x="6649948" y="2722652"/>
              <a:ext cx="1676400" cy="2286000"/>
            </p:xfrm>
            <a:graphic>
              <a:graphicData uri="http://schemas.openxmlformats.org/drawingml/2006/table">
                <a:tbl>
                  <a:tblPr firstRow="1" bandRow="1">
                    <a:tableStyleId>{5C22544A-7EE6-4342-B048-85BDC9FD1C3A}</a:tableStyleId>
                  </a:tblPr>
                  <a:tblGrid>
                    <a:gridCol w="1676400">
                      <a:extLst>
                        <a:ext uri="{9D8B030D-6E8A-4147-A177-3AD203B41FA5}">
                          <a16:colId xmlns:a16="http://schemas.microsoft.com/office/drawing/2014/main" val="20000"/>
                        </a:ext>
                      </a:extLst>
                    </a:gridCol>
                  </a:tblGrid>
                  <a:tr h="441960">
                    <a:tc>
                      <a:txBody>
                        <a:bodyPr/>
                        <a:lstStyle/>
                        <a:p>
                          <a:pPr algn="ctr"/>
                          <a14:m>
                            <m:oMathPara xmlns:m="http://schemas.openxmlformats.org/officeDocument/2006/math">
                              <m:oMathParaPr>
                                <m:jc m:val="centerGroup"/>
                              </m:oMathParaPr>
                              <m:oMath xmlns:m="http://schemas.openxmlformats.org/officeDocument/2006/math">
                                <m:r>
                                  <a:rPr lang="en-US" sz="2400" b="1" i="1" smtClean="0">
                                    <a:solidFill>
                                      <a:schemeClr val="tx1"/>
                                    </a:solidFill>
                                    <a:latin typeface="Cambria Math" panose="02040503050406030204" pitchFamily="18" charset="0"/>
                                  </a:rPr>
                                  <m:t>𝒙</m:t>
                                </m:r>
                              </m:oMath>
                            </m:oMathPara>
                          </a14:m>
                          <a:endParaRPr lang="en-GB" sz="2400" dirty="0">
                            <a:solidFill>
                              <a:schemeClr val="tx1"/>
                            </a:solidFill>
                          </a:endParaRPr>
                        </a:p>
                      </a:txBody>
                      <a:tcPr/>
                    </a:tc>
                    <a:extLst>
                      <a:ext uri="{0D108BD9-81ED-4DB2-BD59-A6C34878D82A}">
                        <a16:rowId xmlns:a16="http://schemas.microsoft.com/office/drawing/2014/main" val="10000"/>
                      </a:ext>
                    </a:extLst>
                  </a:tr>
                  <a:tr h="441960">
                    <a:tc>
                      <a:txBody>
                        <a:bodyPr/>
                        <a:lstStyle/>
                        <a:p>
                          <a:pPr algn="ctr"/>
                          <a:r>
                            <a:rPr lang="en-GB" sz="2400" dirty="0"/>
                            <a:t>0</a:t>
                          </a:r>
                        </a:p>
                      </a:txBody>
                      <a:tcPr>
                        <a:solidFill>
                          <a:srgbClr val="00B0F0"/>
                        </a:solidFill>
                      </a:tcPr>
                    </a:tc>
                    <a:extLst>
                      <a:ext uri="{0D108BD9-81ED-4DB2-BD59-A6C34878D82A}">
                        <a16:rowId xmlns:a16="http://schemas.microsoft.com/office/drawing/2014/main" val="10001"/>
                      </a:ext>
                    </a:extLst>
                  </a:tr>
                  <a:tr h="441960">
                    <a:tc>
                      <a:txBody>
                        <a:bodyPr/>
                        <a:lstStyle/>
                        <a:p>
                          <a:pPr algn="ctr"/>
                          <a:r>
                            <a:rPr lang="en-GB" sz="2400" dirty="0"/>
                            <a:t>1</a:t>
                          </a:r>
                        </a:p>
                      </a:txBody>
                      <a:tcPr>
                        <a:solidFill>
                          <a:srgbClr val="00B0F0"/>
                        </a:solidFill>
                      </a:tcPr>
                    </a:tc>
                    <a:extLst>
                      <a:ext uri="{0D108BD9-81ED-4DB2-BD59-A6C34878D82A}">
                        <a16:rowId xmlns:a16="http://schemas.microsoft.com/office/drawing/2014/main" val="10002"/>
                      </a:ext>
                    </a:extLst>
                  </a:tr>
                  <a:tr h="441960">
                    <a:tc>
                      <a:txBody>
                        <a:bodyPr/>
                        <a:lstStyle/>
                        <a:p>
                          <a:pPr algn="ctr"/>
                          <a:r>
                            <a:rPr lang="en-GB" sz="2400" dirty="0"/>
                            <a:t>1</a:t>
                          </a:r>
                        </a:p>
                      </a:txBody>
                      <a:tcPr>
                        <a:solidFill>
                          <a:srgbClr val="00B0F0"/>
                        </a:solidFill>
                      </a:tcPr>
                    </a:tc>
                    <a:extLst>
                      <a:ext uri="{0D108BD9-81ED-4DB2-BD59-A6C34878D82A}">
                        <a16:rowId xmlns:a16="http://schemas.microsoft.com/office/drawing/2014/main" val="10003"/>
                      </a:ext>
                    </a:extLst>
                  </a:tr>
                  <a:tr h="441960">
                    <a:tc>
                      <a:txBody>
                        <a:bodyPr/>
                        <a:lstStyle/>
                        <a:p>
                          <a:pPr algn="ctr"/>
                          <a:r>
                            <a:rPr lang="en-GB" sz="2400" dirty="0"/>
                            <a:t>1</a:t>
                          </a:r>
                        </a:p>
                      </a:txBody>
                      <a:tcPr>
                        <a:solidFill>
                          <a:srgbClr val="00B0F0"/>
                        </a:solidFill>
                      </a:tcPr>
                    </a:tc>
                    <a:extLst>
                      <a:ext uri="{0D108BD9-81ED-4DB2-BD59-A6C34878D82A}">
                        <a16:rowId xmlns:a16="http://schemas.microsoft.com/office/drawing/2014/main" val="10004"/>
                      </a:ext>
                    </a:extLst>
                  </a:tr>
                </a:tbl>
              </a:graphicData>
            </a:graphic>
          </p:graphicFrame>
        </mc:Choice>
        <mc:Fallback xmlns="">
          <p:graphicFrame>
            <p:nvGraphicFramePr>
              <p:cNvPr id="18" name="Table 17">
                <a:extLst>
                  <a:ext uri="{FF2B5EF4-FFF2-40B4-BE49-F238E27FC236}">
                    <a16:creationId xmlns:a16="http://schemas.microsoft.com/office/drawing/2014/main" id="{E15AF616-B2EC-4696-B7DF-B8A565EB5E54}"/>
                  </a:ext>
                </a:extLst>
              </p:cNvPr>
              <p:cNvGraphicFramePr>
                <a:graphicFrameLocks noGrp="1"/>
              </p:cNvGraphicFramePr>
              <p:nvPr>
                <p:extLst>
                  <p:ext uri="{D42A27DB-BD31-4B8C-83A1-F6EECF244321}">
                    <p14:modId xmlns:p14="http://schemas.microsoft.com/office/powerpoint/2010/main" val="1591432105"/>
                  </p:ext>
                </p:extLst>
              </p:nvPr>
            </p:nvGraphicFramePr>
            <p:xfrm>
              <a:off x="6649948" y="2722652"/>
              <a:ext cx="1676400" cy="2286000"/>
            </p:xfrm>
            <a:graphic>
              <a:graphicData uri="http://schemas.openxmlformats.org/drawingml/2006/table">
                <a:tbl>
                  <a:tblPr firstRow="1" bandRow="1">
                    <a:tableStyleId>{5C22544A-7EE6-4342-B048-85BDC9FD1C3A}</a:tableStyleId>
                  </a:tblPr>
                  <a:tblGrid>
                    <a:gridCol w="1676400">
                      <a:extLst>
                        <a:ext uri="{9D8B030D-6E8A-4147-A177-3AD203B41FA5}">
                          <a16:colId xmlns:a16="http://schemas.microsoft.com/office/drawing/2014/main" val="20000"/>
                        </a:ext>
                      </a:extLst>
                    </a:gridCol>
                  </a:tblGrid>
                  <a:tr h="457200">
                    <a:tc>
                      <a:txBody>
                        <a:bodyPr/>
                        <a:lstStyle/>
                        <a:p>
                          <a:endParaRPr lang="en-US"/>
                        </a:p>
                      </a:txBody>
                      <a:tcPr>
                        <a:blipFill>
                          <a:blip r:embed="rId8"/>
                          <a:stretch>
                            <a:fillRect l="-362" t="-1333" r="-1812" b="-432000"/>
                          </a:stretch>
                        </a:blipFill>
                      </a:tcPr>
                    </a:tc>
                    <a:extLst>
                      <a:ext uri="{0D108BD9-81ED-4DB2-BD59-A6C34878D82A}">
                        <a16:rowId xmlns:a16="http://schemas.microsoft.com/office/drawing/2014/main" val="10000"/>
                      </a:ext>
                    </a:extLst>
                  </a:tr>
                  <a:tr h="457200">
                    <a:tc>
                      <a:txBody>
                        <a:bodyPr/>
                        <a:lstStyle/>
                        <a:p>
                          <a:pPr algn="ctr"/>
                          <a:r>
                            <a:rPr lang="en-GB" sz="2400" dirty="0"/>
                            <a:t>0</a:t>
                          </a:r>
                        </a:p>
                      </a:txBody>
                      <a:tcPr>
                        <a:solidFill>
                          <a:srgbClr val="00B0F0"/>
                        </a:solidFill>
                      </a:tcPr>
                    </a:tc>
                    <a:extLst>
                      <a:ext uri="{0D108BD9-81ED-4DB2-BD59-A6C34878D82A}">
                        <a16:rowId xmlns:a16="http://schemas.microsoft.com/office/drawing/2014/main" val="10001"/>
                      </a:ext>
                    </a:extLst>
                  </a:tr>
                  <a:tr h="457200">
                    <a:tc>
                      <a:txBody>
                        <a:bodyPr/>
                        <a:lstStyle/>
                        <a:p>
                          <a:pPr algn="ctr"/>
                          <a:r>
                            <a:rPr lang="en-GB" sz="2400" dirty="0"/>
                            <a:t>1</a:t>
                          </a:r>
                        </a:p>
                      </a:txBody>
                      <a:tcPr>
                        <a:solidFill>
                          <a:srgbClr val="00B0F0"/>
                        </a:solidFill>
                      </a:tcPr>
                    </a:tc>
                    <a:extLst>
                      <a:ext uri="{0D108BD9-81ED-4DB2-BD59-A6C34878D82A}">
                        <a16:rowId xmlns:a16="http://schemas.microsoft.com/office/drawing/2014/main" val="10002"/>
                      </a:ext>
                    </a:extLst>
                  </a:tr>
                  <a:tr h="457200">
                    <a:tc>
                      <a:txBody>
                        <a:bodyPr/>
                        <a:lstStyle/>
                        <a:p>
                          <a:pPr algn="ctr"/>
                          <a:r>
                            <a:rPr lang="en-GB" sz="2400" dirty="0"/>
                            <a:t>1</a:t>
                          </a:r>
                        </a:p>
                      </a:txBody>
                      <a:tcPr>
                        <a:solidFill>
                          <a:srgbClr val="00B0F0"/>
                        </a:solidFill>
                      </a:tcPr>
                    </a:tc>
                    <a:extLst>
                      <a:ext uri="{0D108BD9-81ED-4DB2-BD59-A6C34878D82A}">
                        <a16:rowId xmlns:a16="http://schemas.microsoft.com/office/drawing/2014/main" val="10003"/>
                      </a:ext>
                    </a:extLst>
                  </a:tr>
                  <a:tr h="457200">
                    <a:tc>
                      <a:txBody>
                        <a:bodyPr/>
                        <a:lstStyle/>
                        <a:p>
                          <a:pPr algn="ctr"/>
                          <a:r>
                            <a:rPr lang="en-GB" sz="2400" dirty="0"/>
                            <a:t>1</a:t>
                          </a:r>
                        </a:p>
                      </a:txBody>
                      <a:tcPr>
                        <a:solidFill>
                          <a:srgbClr val="00B0F0"/>
                        </a:solidFill>
                      </a:tcPr>
                    </a:tc>
                    <a:extLst>
                      <a:ext uri="{0D108BD9-81ED-4DB2-BD59-A6C34878D82A}">
                        <a16:rowId xmlns:a16="http://schemas.microsoft.com/office/drawing/2014/main" val="10004"/>
                      </a:ext>
                    </a:extLst>
                  </a:tr>
                </a:tbl>
              </a:graphicData>
            </a:graphic>
          </p:graphicFrame>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99C812A4-A6D6-4F68-A365-674D772705F8}"/>
                  </a:ext>
                </a:extLst>
              </p:cNvPr>
              <p:cNvSpPr txBox="1"/>
              <p:nvPr/>
            </p:nvSpPr>
            <p:spPr>
              <a:xfrm>
                <a:off x="457200" y="5421868"/>
                <a:ext cx="5105400" cy="369332"/>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400" i="1">
                          <a:latin typeface="Cambria Math" panose="02040503050406030204" pitchFamily="18" charset="0"/>
                        </a:rPr>
                        <m:t>𝑥</m:t>
                      </m:r>
                      <m:r>
                        <a:rPr lang="en-US" sz="2400" i="1">
                          <a:latin typeface="Cambria Math" panose="02040503050406030204" pitchFamily="18" charset="0"/>
                        </a:rPr>
                        <m:t>=</m:t>
                      </m:r>
                      <m:d>
                        <m:dPr>
                          <m:ctrlPr>
                            <a:rPr lang="en-US" sz="2400" i="1">
                              <a:latin typeface="Cambria Math" panose="02040503050406030204" pitchFamily="18" charset="0"/>
                            </a:rPr>
                          </m:ctrlPr>
                        </m:dPr>
                        <m:e>
                          <m:r>
                            <a:rPr lang="en-US" sz="2400" i="1">
                              <a:latin typeface="Cambria Math" panose="02040503050406030204" pitchFamily="18" charset="0"/>
                            </a:rPr>
                            <m:t>¬</m:t>
                          </m:r>
                          <m:r>
                            <a:rPr lang="en-US" sz="2400" i="1">
                              <a:latin typeface="Cambria Math" panose="02040503050406030204" pitchFamily="18" charset="0"/>
                            </a:rPr>
                            <m:t>𝑝</m:t>
                          </m:r>
                          <m:r>
                            <a:rPr lang="en-US" sz="2400" i="1">
                              <a:latin typeface="Cambria Math" panose="02040503050406030204" pitchFamily="18" charset="0"/>
                            </a:rPr>
                            <m:t>∧</m:t>
                          </m:r>
                          <m:r>
                            <m:rPr>
                              <m:sty m:val="p"/>
                            </m:rPr>
                            <a:rPr lang="en-US" sz="2400" i="1">
                              <a:latin typeface="Cambria Math" panose="02040503050406030204" pitchFamily="18" charset="0"/>
                            </a:rPr>
                            <m:t>q</m:t>
                          </m:r>
                        </m:e>
                      </m:d>
                      <m:r>
                        <a:rPr lang="en-US" sz="2400" i="1">
                          <a:latin typeface="Cambria Math" panose="02040503050406030204" pitchFamily="18" charset="0"/>
                        </a:rPr>
                        <m:t>∨</m:t>
                      </m:r>
                      <m:d>
                        <m:dPr>
                          <m:ctrlPr>
                            <a:rPr lang="en-US" sz="2400" i="1">
                              <a:latin typeface="Cambria Math" panose="02040503050406030204" pitchFamily="18" charset="0"/>
                            </a:rPr>
                          </m:ctrlPr>
                        </m:dPr>
                        <m:e>
                          <m:r>
                            <a:rPr lang="en-US" sz="2400" i="1">
                              <a:latin typeface="Cambria Math" panose="02040503050406030204" pitchFamily="18" charset="0"/>
                            </a:rPr>
                            <m:t>𝑝</m:t>
                          </m:r>
                          <m:r>
                            <a:rPr lang="en-US" sz="2400" i="1">
                              <a:latin typeface="Cambria Math" panose="02040503050406030204" pitchFamily="18" charset="0"/>
                            </a:rPr>
                            <m:t>∧¬</m:t>
                          </m:r>
                          <m:r>
                            <m:rPr>
                              <m:sty m:val="p"/>
                            </m:rPr>
                            <a:rPr lang="en-US" sz="2400" i="1">
                              <a:latin typeface="Cambria Math" panose="02040503050406030204" pitchFamily="18" charset="0"/>
                            </a:rPr>
                            <m:t>q</m:t>
                          </m:r>
                        </m:e>
                      </m:d>
                      <m:r>
                        <a:rPr lang="en-US" sz="2400" i="1">
                          <a:latin typeface="Cambria Math" panose="02040503050406030204" pitchFamily="18" charset="0"/>
                        </a:rPr>
                        <m:t>∨</m:t>
                      </m:r>
                      <m:d>
                        <m:dPr>
                          <m:ctrlPr>
                            <a:rPr lang="en-US" sz="2400" i="1">
                              <a:latin typeface="Cambria Math" panose="02040503050406030204" pitchFamily="18" charset="0"/>
                            </a:rPr>
                          </m:ctrlPr>
                        </m:dPr>
                        <m:e>
                          <m:r>
                            <a:rPr lang="en-US" sz="2400" i="1">
                              <a:latin typeface="Cambria Math" panose="02040503050406030204" pitchFamily="18" charset="0"/>
                            </a:rPr>
                            <m:t>𝑝</m:t>
                          </m:r>
                          <m:r>
                            <a:rPr lang="en-US" sz="2400" i="1">
                              <a:latin typeface="Cambria Math" panose="02040503050406030204" pitchFamily="18" charset="0"/>
                            </a:rPr>
                            <m:t>∧</m:t>
                          </m:r>
                          <m:r>
                            <m:rPr>
                              <m:sty m:val="p"/>
                            </m:rPr>
                            <a:rPr lang="en-US" sz="2400" i="1">
                              <a:latin typeface="Cambria Math" panose="02040503050406030204" pitchFamily="18" charset="0"/>
                            </a:rPr>
                            <m:t>q</m:t>
                          </m:r>
                        </m:e>
                      </m:d>
                      <m:r>
                        <a:rPr lang="en-US" sz="2400" i="1">
                          <a:latin typeface="Cambria Math" panose="02040503050406030204" pitchFamily="18" charset="0"/>
                        </a:rPr>
                        <m:t>.</m:t>
                      </m:r>
                    </m:oMath>
                  </m:oMathPara>
                </a14:m>
                <a:endParaRPr lang="en-US" sz="2400" i="1" dirty="0">
                  <a:latin typeface="Cambria Math" panose="02040503050406030204" pitchFamily="18" charset="0"/>
                </a:endParaRPr>
              </a:p>
            </p:txBody>
          </p:sp>
        </mc:Choice>
        <mc:Fallback xmlns="">
          <p:sp>
            <p:nvSpPr>
              <p:cNvPr id="3" name="TextBox 2">
                <a:extLst>
                  <a:ext uri="{FF2B5EF4-FFF2-40B4-BE49-F238E27FC236}">
                    <a16:creationId xmlns:a16="http://schemas.microsoft.com/office/drawing/2014/main" id="{99C812A4-A6D6-4F68-A365-674D772705F8}"/>
                  </a:ext>
                </a:extLst>
              </p:cNvPr>
              <p:cNvSpPr txBox="1">
                <a:spLocks noRot="1" noChangeAspect="1" noMove="1" noResize="1" noEditPoints="1" noAdjustHandles="1" noChangeArrowheads="1" noChangeShapeType="1" noTextEdit="1"/>
              </p:cNvSpPr>
              <p:nvPr/>
            </p:nvSpPr>
            <p:spPr>
              <a:xfrm>
                <a:off x="457200" y="5421868"/>
                <a:ext cx="5105400" cy="369332"/>
              </a:xfrm>
              <a:prstGeom prst="rect">
                <a:avLst/>
              </a:prstGeom>
              <a:blipFill>
                <a:blip r:embed="rId9"/>
                <a:stretch>
                  <a:fillRect b="-27869"/>
                </a:stretch>
              </a:blipFill>
            </p:spPr>
            <p:txBody>
              <a:bodyPr/>
              <a:lstStyle/>
              <a:p>
                <a:r>
                  <a:rPr lang="en-US">
                    <a:noFill/>
                  </a:rPr>
                  <a:t> </a:t>
                </a:r>
              </a:p>
            </p:txBody>
          </p:sp>
        </mc:Fallback>
      </mc:AlternateContent>
    </p:spTree>
    <p:extLst>
      <p:ext uri="{BB962C8B-B14F-4D97-AF65-F5344CB8AC3E}">
        <p14:creationId xmlns:p14="http://schemas.microsoft.com/office/powerpoint/2010/main" val="29613377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17C7DD-596D-4DD3-8824-1C696CBAD622}"/>
              </a:ext>
            </a:extLst>
          </p:cNvPr>
          <p:cNvSpPr>
            <a:spLocks noGrp="1"/>
          </p:cNvSpPr>
          <p:nvPr>
            <p:ph type="title"/>
          </p:nvPr>
        </p:nvSpPr>
        <p:spPr/>
        <p:txBody>
          <a:bodyPr/>
          <a:lstStyle/>
          <a:p>
            <a:r>
              <a:rPr lang="en-US" b="1" dirty="0">
                <a:solidFill>
                  <a:prstClr val="white"/>
                </a:solidFill>
              </a:rPr>
              <a:t>Example -2 (method -1)</a:t>
            </a:r>
            <a:endParaRPr lang="en-US" dirty="0"/>
          </a:p>
        </p:txBody>
      </p:sp>
      <p:sp>
        <p:nvSpPr>
          <p:cNvPr id="4" name="Date Placeholder 3">
            <a:extLst>
              <a:ext uri="{FF2B5EF4-FFF2-40B4-BE49-F238E27FC236}">
                <a16:creationId xmlns:a16="http://schemas.microsoft.com/office/drawing/2014/main" id="{B89490F5-2C2D-4084-9217-6D643381CF21}"/>
              </a:ext>
            </a:extLst>
          </p:cNvPr>
          <p:cNvSpPr>
            <a:spLocks noGrp="1"/>
          </p:cNvSpPr>
          <p:nvPr>
            <p:ph type="dt" sz="half" idx="10"/>
          </p:nvPr>
        </p:nvSpPr>
        <p:spPr/>
        <p:txBody>
          <a:bodyPr/>
          <a:lstStyle/>
          <a:p>
            <a:fld id="{0C3AE3B4-8F2E-435B-8D54-C1C837EA3FC8}" type="datetime3">
              <a:rPr lang="en-US" smtClean="0"/>
              <a:t>27 April 2026</a:t>
            </a:fld>
            <a:endParaRPr lang="en-US"/>
          </a:p>
        </p:txBody>
      </p:sp>
      <p:sp>
        <p:nvSpPr>
          <p:cNvPr id="5" name="Footer Placeholder 4">
            <a:extLst>
              <a:ext uri="{FF2B5EF4-FFF2-40B4-BE49-F238E27FC236}">
                <a16:creationId xmlns:a16="http://schemas.microsoft.com/office/drawing/2014/main" id="{2A56F35B-741D-4E9F-B5CB-8B9F22492337}"/>
              </a:ext>
            </a:extLst>
          </p:cNvPr>
          <p:cNvSpPr>
            <a:spLocks noGrp="1"/>
          </p:cNvSpPr>
          <p:nvPr>
            <p:ph type="ftr" sz="quarter" idx="11"/>
          </p:nvPr>
        </p:nvSpPr>
        <p:spPr/>
        <p:txBody>
          <a:bodyPr/>
          <a:lstStyle/>
          <a:p>
            <a:r>
              <a:rPr lang="en-US"/>
              <a:t>SCS 1302   Discrete Mathematics 1       Prof. D D Karunaratna</a:t>
            </a:r>
          </a:p>
        </p:txBody>
      </p:sp>
      <p:sp>
        <p:nvSpPr>
          <p:cNvPr id="6" name="Slide Number Placeholder 5">
            <a:extLst>
              <a:ext uri="{FF2B5EF4-FFF2-40B4-BE49-F238E27FC236}">
                <a16:creationId xmlns:a16="http://schemas.microsoft.com/office/drawing/2014/main" id="{8CA4906A-C3E9-4F31-BA7B-FC9E6A6DB18B}"/>
              </a:ext>
            </a:extLst>
          </p:cNvPr>
          <p:cNvSpPr>
            <a:spLocks noGrp="1"/>
          </p:cNvSpPr>
          <p:nvPr>
            <p:ph type="sldNum" sz="quarter" idx="12"/>
          </p:nvPr>
        </p:nvSpPr>
        <p:spPr/>
        <p:txBody>
          <a:bodyPr/>
          <a:lstStyle/>
          <a:p>
            <a:fld id="{0CA841A6-7C02-4C92-B6EE-5DBCC2AD53D0}" type="slidenum">
              <a:rPr lang="en-US" smtClean="0"/>
              <a:t>59</a:t>
            </a:fld>
            <a:endParaRPr lang="en-US"/>
          </a:p>
        </p:txBody>
      </p:sp>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id="{FF475157-9657-4156-B95A-E90B43F0C79F}"/>
                  </a:ext>
                </a:extLst>
              </p:cNvPr>
              <p:cNvSpPr/>
              <p:nvPr/>
            </p:nvSpPr>
            <p:spPr>
              <a:xfrm>
                <a:off x="228600" y="1676400"/>
                <a:ext cx="8534400" cy="830997"/>
              </a:xfrm>
              <a:prstGeom prst="rect">
                <a:avLst/>
              </a:prstGeom>
              <a:solidFill>
                <a:schemeClr val="bg2">
                  <a:lumMod val="20000"/>
                  <a:lumOff val="80000"/>
                </a:schemeClr>
              </a:solidFill>
            </p:spPr>
            <p:txBody>
              <a:bodyPr wrap="square">
                <a:spAutoFit/>
              </a:bodyPr>
              <a:lstStyle/>
              <a:p>
                <a:r>
                  <a:rPr lang="en-US" sz="2400" dirty="0"/>
                  <a:t>Find the conjunctive normal form of the formula </a:t>
                </a:r>
                <a:endParaRPr lang="en-US" sz="2400" b="0" i="0" dirty="0">
                  <a:latin typeface="Cambria Math" panose="02040503050406030204" pitchFamily="18" charset="0"/>
                </a:endParaRPr>
              </a:p>
              <a:p>
                <a14:m>
                  <m:oMath xmlns:m="http://schemas.openxmlformats.org/officeDocument/2006/math">
                    <m:r>
                      <m:rPr>
                        <m:sty m:val="p"/>
                      </m:rPr>
                      <a:rPr lang="en-US" sz="2400" b="0" i="0" smtClean="0">
                        <a:latin typeface="Cambria Math" panose="02040503050406030204" pitchFamily="18" charset="0"/>
                      </a:rPr>
                      <m:t>x</m:t>
                    </m:r>
                    <m:r>
                      <a:rPr lang="en-US" sz="2400" b="0" i="0" smtClean="0">
                        <a:latin typeface="Cambria Math" panose="02040503050406030204" pitchFamily="18" charset="0"/>
                      </a:rPr>
                      <m:t>=</m:t>
                    </m:r>
                    <m:d>
                      <m:dPr>
                        <m:ctrlPr>
                          <a:rPr lang="en-US" sz="2400" i="1">
                            <a:latin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𝑝</m:t>
                        </m:r>
                        <m:r>
                          <a:rPr lang="en-US" sz="2400" i="1">
                            <a:latin typeface="Cambria Math" panose="02040503050406030204" pitchFamily="18" charset="0"/>
                            <a:ea typeface="Cambria Math" panose="02040503050406030204" pitchFamily="18" charset="0"/>
                          </a:rPr>
                          <m:t>∨ ¬</m:t>
                        </m:r>
                        <m:r>
                          <a:rPr lang="en-US" sz="2400" i="1">
                            <a:latin typeface="Cambria Math" panose="02040503050406030204" pitchFamily="18" charset="0"/>
                            <a:ea typeface="Cambria Math" panose="02040503050406030204" pitchFamily="18" charset="0"/>
                          </a:rPr>
                          <m:t>𝑞</m:t>
                        </m:r>
                      </m:e>
                    </m:d>
                    <m:r>
                      <a:rPr lang="en-US" sz="2400" i="1">
                        <a:latin typeface="Cambria Math" panose="02040503050406030204" pitchFamily="18" charset="0"/>
                        <a:ea typeface="Cambria Math" panose="02040503050406030204" pitchFamily="18" charset="0"/>
                      </a:rPr>
                      <m:t>→</m:t>
                    </m:r>
                    <m:d>
                      <m:dPr>
                        <m:ctrlPr>
                          <a:rPr lang="en-US" sz="2400" i="1">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𝑝</m:t>
                        </m:r>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𝑞</m:t>
                        </m:r>
                      </m:e>
                    </m:d>
                  </m:oMath>
                </a14:m>
                <a:r>
                  <a:rPr lang="en-US" sz="2400" dirty="0"/>
                  <a:t>.</a:t>
                </a:r>
              </a:p>
            </p:txBody>
          </p:sp>
        </mc:Choice>
        <mc:Fallback xmlns="">
          <p:sp>
            <p:nvSpPr>
              <p:cNvPr id="7" name="Rectangle 6">
                <a:extLst>
                  <a:ext uri="{FF2B5EF4-FFF2-40B4-BE49-F238E27FC236}">
                    <a16:creationId xmlns:a16="http://schemas.microsoft.com/office/drawing/2014/main" id="{FF475157-9657-4156-B95A-E90B43F0C79F}"/>
                  </a:ext>
                </a:extLst>
              </p:cNvPr>
              <p:cNvSpPr>
                <a:spLocks noRot="1" noChangeAspect="1" noMove="1" noResize="1" noEditPoints="1" noAdjustHandles="1" noChangeArrowheads="1" noChangeShapeType="1" noTextEdit="1"/>
              </p:cNvSpPr>
              <p:nvPr/>
            </p:nvSpPr>
            <p:spPr>
              <a:xfrm>
                <a:off x="228600" y="1676400"/>
                <a:ext cx="8534400" cy="830997"/>
              </a:xfrm>
              <a:prstGeom prst="rect">
                <a:avLst/>
              </a:prstGeom>
              <a:blipFill>
                <a:blip r:embed="rId2"/>
                <a:stretch>
                  <a:fillRect l="-1143" t="-5882" b="-1617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2FD0404C-06EE-4E4D-A8DE-B22577F3E44C}"/>
                  </a:ext>
                </a:extLst>
              </p:cNvPr>
              <p:cNvSpPr/>
              <p:nvPr/>
            </p:nvSpPr>
            <p:spPr>
              <a:xfrm>
                <a:off x="457200" y="3195935"/>
                <a:ext cx="7924800" cy="461665"/>
              </a:xfrm>
              <a:prstGeom prst="rect">
                <a:avLst/>
              </a:prstGeom>
            </p:spPr>
            <p:txBody>
              <a:bodyPr wrap="square">
                <a:spAutoFit/>
              </a:bodyPr>
              <a:lstStyle/>
              <a:p>
                <a14:m>
                  <m:oMath xmlns:m="http://schemas.openxmlformats.org/officeDocument/2006/math">
                    <m:r>
                      <a:rPr lang="en-US" sz="2400" i="1">
                        <a:latin typeface="Cambria Math" panose="02040503050406030204" pitchFamily="18" charset="0"/>
                        <a:ea typeface="Cambria Math" panose="02040503050406030204" pitchFamily="18" charset="0"/>
                      </a:rPr>
                      <m:t>≡¬</m:t>
                    </m:r>
                    <m:d>
                      <m:dPr>
                        <m:ctrlPr>
                          <a:rPr lang="en-US" sz="2400" i="1">
                            <a:latin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𝑝</m:t>
                        </m:r>
                        <m:r>
                          <a:rPr lang="en-US" sz="2400" i="1">
                            <a:latin typeface="Cambria Math" panose="02040503050406030204" pitchFamily="18" charset="0"/>
                            <a:ea typeface="Cambria Math" panose="02040503050406030204" pitchFamily="18" charset="0"/>
                          </a:rPr>
                          <m:t>∨ ¬</m:t>
                        </m:r>
                        <m:r>
                          <a:rPr lang="en-US" sz="2400" i="1">
                            <a:latin typeface="Cambria Math" panose="02040503050406030204" pitchFamily="18" charset="0"/>
                            <a:ea typeface="Cambria Math" panose="02040503050406030204" pitchFamily="18" charset="0"/>
                          </a:rPr>
                          <m:t>𝑞</m:t>
                        </m:r>
                      </m:e>
                    </m:d>
                    <m:r>
                      <m:rPr>
                        <m:nor/>
                      </m:rPr>
                      <a:rPr lang="en-US" sz="2400" dirty="0">
                        <a:ea typeface="Cambria Math" panose="02040503050406030204" pitchFamily="18" charset="0"/>
                      </a:rPr>
                      <m:t> </m:t>
                    </m:r>
                    <m:r>
                      <a:rPr lang="en-US" sz="2400" i="1">
                        <a:latin typeface="Cambria Math" panose="02040503050406030204" pitchFamily="18" charset="0"/>
                        <a:ea typeface="Cambria Math" panose="02040503050406030204" pitchFamily="18" charset="0"/>
                      </a:rPr>
                      <m:t>∨</m:t>
                    </m:r>
                    <m:d>
                      <m:dPr>
                        <m:ctrlPr>
                          <a:rPr lang="en-US" sz="2400" i="1">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𝑝</m:t>
                        </m:r>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𝑞</m:t>
                        </m:r>
                      </m:e>
                    </m:d>
                  </m:oMath>
                </a14:m>
                <a:r>
                  <a:rPr lang="en-US" sz="2400" dirty="0"/>
                  <a:t> </a:t>
                </a:r>
              </a:p>
            </p:txBody>
          </p:sp>
        </mc:Choice>
        <mc:Fallback xmlns="">
          <p:sp>
            <p:nvSpPr>
              <p:cNvPr id="8" name="Rectangle 7">
                <a:extLst>
                  <a:ext uri="{FF2B5EF4-FFF2-40B4-BE49-F238E27FC236}">
                    <a16:creationId xmlns:a16="http://schemas.microsoft.com/office/drawing/2014/main" id="{2FD0404C-06EE-4E4D-A8DE-B22577F3E44C}"/>
                  </a:ext>
                </a:extLst>
              </p:cNvPr>
              <p:cNvSpPr>
                <a:spLocks noRot="1" noChangeAspect="1" noMove="1" noResize="1" noEditPoints="1" noAdjustHandles="1" noChangeArrowheads="1" noChangeShapeType="1" noTextEdit="1"/>
              </p:cNvSpPr>
              <p:nvPr/>
            </p:nvSpPr>
            <p:spPr>
              <a:xfrm>
                <a:off x="457200" y="3195935"/>
                <a:ext cx="7924800" cy="461665"/>
              </a:xfrm>
              <a:prstGeom prst="rect">
                <a:avLst/>
              </a:prstGeom>
              <a:blipFill>
                <a:blip r:embed="rId3"/>
                <a:stretch>
                  <a:fillRect b="-1052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3CF0C3E5-E3F7-4AC7-A82D-BA697C66B817}"/>
                  </a:ext>
                </a:extLst>
              </p:cNvPr>
              <p:cNvSpPr/>
              <p:nvPr/>
            </p:nvSpPr>
            <p:spPr>
              <a:xfrm>
                <a:off x="381000" y="3653135"/>
                <a:ext cx="8229599" cy="461665"/>
              </a:xfrm>
              <a:prstGeom prst="rect">
                <a:avLst/>
              </a:prstGeom>
            </p:spPr>
            <p:txBody>
              <a:bodyPr wrap="square">
                <a:spAutoFit/>
              </a:bodyPr>
              <a:lstStyle/>
              <a:p>
                <a14:m>
                  <m:oMath xmlns:m="http://schemas.openxmlformats.org/officeDocument/2006/math">
                    <m:r>
                      <a:rPr lang="en-US" sz="2400" b="0" i="0" smtClean="0">
                        <a:latin typeface="Cambria Math" panose="02040503050406030204" pitchFamily="18" charset="0"/>
                        <a:ea typeface="Cambria Math" panose="02040503050406030204" pitchFamily="18" charset="0"/>
                      </a:rPr>
                      <m:t> </m:t>
                    </m:r>
                    <m:r>
                      <a:rPr lang="en-US" sz="2400" i="1">
                        <a:latin typeface="Cambria Math" panose="02040503050406030204" pitchFamily="18" charset="0"/>
                        <a:ea typeface="Cambria Math" panose="02040503050406030204" pitchFamily="18" charset="0"/>
                      </a:rPr>
                      <m:t>≡ </m:t>
                    </m:r>
                    <m:d>
                      <m:dPr>
                        <m:ctrlPr>
                          <a:rPr lang="en-US" sz="2400" i="1">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𝑝</m:t>
                        </m:r>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𝑞</m:t>
                        </m:r>
                      </m:e>
                    </m:d>
                    <m:r>
                      <a:rPr lang="en-US" sz="2400" i="1">
                        <a:latin typeface="Cambria Math" panose="02040503050406030204" pitchFamily="18" charset="0"/>
                        <a:ea typeface="Cambria Math" panose="02040503050406030204" pitchFamily="18" charset="0"/>
                      </a:rPr>
                      <m:t>∨</m:t>
                    </m:r>
                    <m:d>
                      <m:dPr>
                        <m:begChr m:val="["/>
                        <m:endChr m:val="]"/>
                        <m:ctrlPr>
                          <a:rPr lang="en-US" sz="2400" i="1">
                            <a:latin typeface="Cambria Math" panose="02040503050406030204" pitchFamily="18" charset="0"/>
                            <a:ea typeface="Cambria Math" panose="02040503050406030204" pitchFamily="18" charset="0"/>
                          </a:rPr>
                        </m:ctrlPr>
                      </m:dPr>
                      <m:e>
                        <m:d>
                          <m:dPr>
                            <m:ctrlPr>
                              <a:rPr lang="en-US" sz="2400" i="1">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𝑝</m:t>
                            </m:r>
                            <m:r>
                              <a:rPr lang="en-US" sz="2400" i="1" smtClean="0">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𝑞</m:t>
                            </m:r>
                          </m:e>
                        </m:d>
                        <m:r>
                          <a:rPr lang="en-US" sz="2400" i="1">
                            <a:latin typeface="Cambria Math" panose="02040503050406030204" pitchFamily="18" charset="0"/>
                          </a:rPr>
                          <m:t>∧</m:t>
                        </m:r>
                        <m:r>
                          <a:rPr lang="en-US" sz="2400" b="0" i="1" smtClean="0">
                            <a:latin typeface="Cambria Math" panose="02040503050406030204" pitchFamily="18" charset="0"/>
                          </a:rPr>
                          <m:t>  </m:t>
                        </m:r>
                        <m:d>
                          <m:dPr>
                            <m:ctrlPr>
                              <a:rPr lang="en-US" sz="2400" b="0" i="1" smtClean="0">
                                <a:latin typeface="Cambria Math" panose="02040503050406030204" pitchFamily="18" charset="0"/>
                              </a:rPr>
                            </m:ctrlPr>
                          </m:dPr>
                          <m:e>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𝑞</m:t>
                            </m:r>
                            <m:r>
                              <a:rPr lang="en-US" sz="2400" b="0" i="1" smtClean="0">
                                <a:latin typeface="Cambria Math" panose="02040503050406030204" pitchFamily="18" charset="0"/>
                                <a:ea typeface="Cambria Math" panose="02040503050406030204" pitchFamily="18" charset="0"/>
                              </a:rPr>
                              <m:t> →</m:t>
                            </m:r>
                            <m:r>
                              <a:rPr lang="en-US" sz="2400" b="0" i="1" smtClean="0">
                                <a:latin typeface="Cambria Math" panose="02040503050406030204" pitchFamily="18" charset="0"/>
                                <a:ea typeface="Cambria Math" panose="02040503050406030204" pitchFamily="18" charset="0"/>
                              </a:rPr>
                              <m:t>𝑝</m:t>
                            </m:r>
                          </m:e>
                        </m:d>
                      </m:e>
                    </m:d>
                  </m:oMath>
                </a14:m>
                <a:r>
                  <a:rPr lang="en-GB" sz="2400" dirty="0"/>
                  <a:t> </a:t>
                </a:r>
              </a:p>
            </p:txBody>
          </p:sp>
        </mc:Choice>
        <mc:Fallback xmlns="">
          <p:sp>
            <p:nvSpPr>
              <p:cNvPr id="9" name="Rectangle 8">
                <a:extLst>
                  <a:ext uri="{FF2B5EF4-FFF2-40B4-BE49-F238E27FC236}">
                    <a16:creationId xmlns:a16="http://schemas.microsoft.com/office/drawing/2014/main" id="{3CF0C3E5-E3F7-4AC7-A82D-BA697C66B817}"/>
                  </a:ext>
                </a:extLst>
              </p:cNvPr>
              <p:cNvSpPr>
                <a:spLocks noRot="1" noChangeAspect="1" noMove="1" noResize="1" noEditPoints="1" noAdjustHandles="1" noChangeArrowheads="1" noChangeShapeType="1" noTextEdit="1"/>
              </p:cNvSpPr>
              <p:nvPr/>
            </p:nvSpPr>
            <p:spPr>
              <a:xfrm>
                <a:off x="381000" y="3653135"/>
                <a:ext cx="8229599" cy="461665"/>
              </a:xfrm>
              <a:prstGeom prst="rect">
                <a:avLst/>
              </a:prstGeom>
              <a:blipFill>
                <a:blip r:embed="rId4"/>
                <a:stretch>
                  <a:fillRect b="-1052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Rectangle 9">
                <a:extLst>
                  <a:ext uri="{FF2B5EF4-FFF2-40B4-BE49-F238E27FC236}">
                    <a16:creationId xmlns:a16="http://schemas.microsoft.com/office/drawing/2014/main" id="{ED5DAE97-7CA3-4B53-8C61-75FB2DB58CD6}"/>
                  </a:ext>
                </a:extLst>
              </p:cNvPr>
              <p:cNvSpPr/>
              <p:nvPr/>
            </p:nvSpPr>
            <p:spPr>
              <a:xfrm>
                <a:off x="381000" y="4110335"/>
                <a:ext cx="8229599" cy="461665"/>
              </a:xfrm>
              <a:prstGeom prst="rect">
                <a:avLst/>
              </a:prstGeom>
            </p:spPr>
            <p:txBody>
              <a:bodyPr wrap="square">
                <a:spAutoFit/>
              </a:bodyPr>
              <a:lstStyle/>
              <a:p>
                <a14:m>
                  <m:oMath xmlns:m="http://schemas.openxmlformats.org/officeDocument/2006/math">
                    <m:r>
                      <a:rPr lang="en-US" sz="2400" b="0" i="0" smtClean="0">
                        <a:latin typeface="Cambria Math" panose="02040503050406030204" pitchFamily="18" charset="0"/>
                        <a:ea typeface="Cambria Math" panose="02040503050406030204" pitchFamily="18" charset="0"/>
                      </a:rPr>
                      <m:t> </m:t>
                    </m:r>
                    <m:r>
                      <a:rPr lang="en-US" sz="2400" i="1">
                        <a:latin typeface="Cambria Math" panose="02040503050406030204" pitchFamily="18" charset="0"/>
                        <a:ea typeface="Cambria Math" panose="02040503050406030204" pitchFamily="18" charset="0"/>
                      </a:rPr>
                      <m:t>≡ </m:t>
                    </m:r>
                    <m:d>
                      <m:dPr>
                        <m:ctrlPr>
                          <a:rPr lang="en-US" sz="2400" i="1">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𝑝</m:t>
                        </m:r>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𝑞</m:t>
                        </m:r>
                      </m:e>
                    </m:d>
                    <m:r>
                      <a:rPr lang="en-US" sz="2400" i="1">
                        <a:latin typeface="Cambria Math" panose="02040503050406030204" pitchFamily="18" charset="0"/>
                        <a:ea typeface="Cambria Math" panose="02040503050406030204" pitchFamily="18" charset="0"/>
                      </a:rPr>
                      <m:t>∨</m:t>
                    </m:r>
                    <m:d>
                      <m:dPr>
                        <m:begChr m:val="["/>
                        <m:endChr m:val="]"/>
                        <m:ctrlPr>
                          <a:rPr lang="en-US" sz="2400" i="1">
                            <a:latin typeface="Cambria Math" panose="02040503050406030204" pitchFamily="18" charset="0"/>
                            <a:ea typeface="Cambria Math" panose="02040503050406030204" pitchFamily="18" charset="0"/>
                          </a:rPr>
                        </m:ctrlPr>
                      </m:dPr>
                      <m:e>
                        <m:d>
                          <m:dPr>
                            <m:ctrlPr>
                              <a:rPr lang="en-US" sz="2400" i="1">
                                <a:latin typeface="Cambria Math" panose="02040503050406030204" pitchFamily="18" charset="0"/>
                                <a:ea typeface="Cambria Math" panose="02040503050406030204" pitchFamily="18" charset="0"/>
                              </a:rPr>
                            </m:ctrlPr>
                          </m:dPr>
                          <m:e>
                            <m:r>
                              <a:rPr lang="en-US" sz="2400" i="1" smtClean="0">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𝑝</m:t>
                            </m:r>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𝑞</m:t>
                            </m:r>
                          </m:e>
                        </m:d>
                        <m:r>
                          <a:rPr lang="en-US" sz="2400" i="1">
                            <a:latin typeface="Cambria Math" panose="02040503050406030204" pitchFamily="18" charset="0"/>
                          </a:rPr>
                          <m:t>∧</m:t>
                        </m:r>
                        <m:r>
                          <a:rPr lang="en-US" sz="2400" b="0" i="1" smtClean="0">
                            <a:latin typeface="Cambria Math" panose="02040503050406030204" pitchFamily="18" charset="0"/>
                          </a:rPr>
                          <m:t>  </m:t>
                        </m:r>
                        <m:d>
                          <m:dPr>
                            <m:ctrlPr>
                              <a:rPr lang="en-US" sz="2400" b="0" i="1" smtClean="0">
                                <a:latin typeface="Cambria Math" panose="02040503050406030204" pitchFamily="18" charset="0"/>
                              </a:rPr>
                            </m:ctrlPr>
                          </m:dPr>
                          <m:e>
                            <m:r>
                              <a:rPr lang="en-US" sz="2400" b="0" i="1" smtClean="0">
                                <a:latin typeface="Cambria Math" panose="02040503050406030204" pitchFamily="18" charset="0"/>
                                <a:ea typeface="Cambria Math" panose="02040503050406030204" pitchFamily="18" charset="0"/>
                              </a:rPr>
                              <m:t>𝑞</m:t>
                            </m:r>
                            <m:r>
                              <a:rPr lang="en-US" sz="2400" i="1">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𝑝</m:t>
                            </m:r>
                          </m:e>
                        </m:d>
                      </m:e>
                    </m:d>
                  </m:oMath>
                </a14:m>
                <a:r>
                  <a:rPr lang="en-GB" sz="2400" dirty="0"/>
                  <a:t> </a:t>
                </a:r>
              </a:p>
            </p:txBody>
          </p:sp>
        </mc:Choice>
        <mc:Fallback xmlns="">
          <p:sp>
            <p:nvSpPr>
              <p:cNvPr id="10" name="Rectangle 9">
                <a:extLst>
                  <a:ext uri="{FF2B5EF4-FFF2-40B4-BE49-F238E27FC236}">
                    <a16:creationId xmlns:a16="http://schemas.microsoft.com/office/drawing/2014/main" id="{ED5DAE97-7CA3-4B53-8C61-75FB2DB58CD6}"/>
                  </a:ext>
                </a:extLst>
              </p:cNvPr>
              <p:cNvSpPr>
                <a:spLocks noRot="1" noChangeAspect="1" noMove="1" noResize="1" noEditPoints="1" noAdjustHandles="1" noChangeArrowheads="1" noChangeShapeType="1" noTextEdit="1"/>
              </p:cNvSpPr>
              <p:nvPr/>
            </p:nvSpPr>
            <p:spPr>
              <a:xfrm>
                <a:off x="381000" y="4110335"/>
                <a:ext cx="8229599" cy="461665"/>
              </a:xfrm>
              <a:prstGeom prst="rect">
                <a:avLst/>
              </a:prstGeom>
              <a:blipFill>
                <a:blip r:embed="rId5"/>
                <a:stretch>
                  <a:fillRect b="-1052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E5BA1461-2850-4AAF-AF2C-9EDDAE4F6571}"/>
                  </a:ext>
                </a:extLst>
              </p:cNvPr>
              <p:cNvSpPr/>
              <p:nvPr/>
            </p:nvSpPr>
            <p:spPr>
              <a:xfrm>
                <a:off x="187504" y="4572000"/>
                <a:ext cx="8763000" cy="509178"/>
              </a:xfrm>
              <a:prstGeom prst="rect">
                <a:avLst/>
              </a:prstGeom>
            </p:spPr>
            <p:txBody>
              <a:bodyPr wrap="square">
                <a:spAutoFit/>
              </a:bodyPr>
              <a:lstStyle/>
              <a:p>
                <a:r>
                  <a:rPr lang="en-US" sz="2400" dirty="0">
                    <a:ea typeface="Cambria Math" panose="02040503050406030204" pitchFamily="18" charset="0"/>
                  </a:rPr>
                  <a:t>    </a:t>
                </a:r>
                <a14:m>
                  <m:oMath xmlns:m="http://schemas.openxmlformats.org/officeDocument/2006/math">
                    <m:r>
                      <a:rPr lang="en-US" sz="2400" i="1">
                        <a:latin typeface="Cambria Math" panose="02040503050406030204" pitchFamily="18" charset="0"/>
                        <a:ea typeface="Cambria Math" panose="02040503050406030204" pitchFamily="18" charset="0"/>
                      </a:rPr>
                      <m:t>≡</m:t>
                    </m:r>
                    <m:d>
                      <m:dPr>
                        <m:begChr m:val="["/>
                        <m:endChr m:val="]"/>
                        <m:ctrlPr>
                          <a:rPr lang="en-US" sz="2400" i="1" smtClean="0">
                            <a:latin typeface="Cambria Math" panose="02040503050406030204" pitchFamily="18" charset="0"/>
                            <a:ea typeface="Cambria Math" panose="02040503050406030204" pitchFamily="18" charset="0"/>
                          </a:rPr>
                        </m:ctrlPr>
                      </m:dPr>
                      <m:e>
                        <m:r>
                          <a:rPr lang="en-US" sz="2400" b="0" i="1" smtClean="0">
                            <a:latin typeface="Cambria Math" panose="02040503050406030204" pitchFamily="18" charset="0"/>
                            <a:ea typeface="Cambria Math" panose="02040503050406030204" pitchFamily="18" charset="0"/>
                          </a:rPr>
                          <m:t>𝑝</m:t>
                        </m:r>
                        <m:r>
                          <a:rPr lang="en-US" sz="2400" i="1">
                            <a:latin typeface="Cambria Math" panose="02040503050406030204" pitchFamily="18" charset="0"/>
                            <a:ea typeface="Cambria Math" panose="02040503050406030204" pitchFamily="18" charset="0"/>
                          </a:rPr>
                          <m:t>∨</m:t>
                        </m:r>
                        <m:d>
                          <m:dPr>
                            <m:ctrlPr>
                              <a:rPr lang="en-US" sz="2400" i="1" smtClean="0">
                                <a:latin typeface="Cambria Math" panose="02040503050406030204" pitchFamily="18" charset="0"/>
                                <a:ea typeface="Cambria Math" panose="02040503050406030204" pitchFamily="18" charset="0"/>
                              </a:rPr>
                            </m:ctrlPr>
                          </m:dPr>
                          <m:e>
                            <m:d>
                              <m:dPr>
                                <m:ctrlPr>
                                  <a:rPr lang="en-US" sz="2400" i="1">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𝑝</m:t>
                                </m:r>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𝑞</m:t>
                                </m:r>
                              </m:e>
                            </m:d>
                            <m:r>
                              <a:rPr lang="en-US" sz="2400" i="1">
                                <a:latin typeface="Cambria Math" panose="02040503050406030204" pitchFamily="18" charset="0"/>
                              </a:rPr>
                              <m:t>∧  </m:t>
                            </m:r>
                            <m:d>
                              <m:dPr>
                                <m:ctrlPr>
                                  <a:rPr lang="en-US" sz="2400" i="1">
                                    <a:latin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𝑞</m:t>
                                </m:r>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𝑝</m:t>
                                </m:r>
                              </m:e>
                            </m:d>
                          </m:e>
                        </m:d>
                      </m:e>
                    </m:d>
                    <m:r>
                      <a:rPr lang="en-US" sz="2400" i="1">
                        <a:latin typeface="Cambria Math" panose="02040503050406030204" pitchFamily="18" charset="0"/>
                      </a:rPr>
                      <m:t>∧</m:t>
                    </m:r>
                    <m:d>
                      <m:dPr>
                        <m:begChr m:val="["/>
                        <m:endChr m:val="]"/>
                        <m:ctrlPr>
                          <a:rPr lang="en-US" sz="2400" i="1" smtClean="0">
                            <a:latin typeface="Cambria Math" panose="02040503050406030204" pitchFamily="18" charset="0"/>
                          </a:rPr>
                        </m:ctrlPr>
                      </m:dPr>
                      <m:e>
                        <m:r>
                          <a:rPr lang="en-US" sz="2400" b="0" i="1" smtClean="0">
                            <a:latin typeface="Cambria Math" panose="02040503050406030204" pitchFamily="18" charset="0"/>
                          </a:rPr>
                          <m:t>𝑞</m:t>
                        </m:r>
                        <m:r>
                          <a:rPr lang="en-US" sz="2400" i="1">
                            <a:latin typeface="Cambria Math" panose="02040503050406030204" pitchFamily="18" charset="0"/>
                            <a:ea typeface="Cambria Math" panose="02040503050406030204" pitchFamily="18" charset="0"/>
                          </a:rPr>
                          <m:t>∨</m:t>
                        </m:r>
                        <m:d>
                          <m:dPr>
                            <m:ctrlPr>
                              <a:rPr lang="en-US" sz="2400" i="1">
                                <a:latin typeface="Cambria Math" panose="02040503050406030204" pitchFamily="18" charset="0"/>
                                <a:ea typeface="Cambria Math" panose="02040503050406030204" pitchFamily="18" charset="0"/>
                              </a:rPr>
                            </m:ctrlPr>
                          </m:dPr>
                          <m:e>
                            <m:d>
                              <m:dPr>
                                <m:ctrlPr>
                                  <a:rPr lang="en-US" sz="2400" i="1">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𝑝</m:t>
                                </m:r>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𝑞</m:t>
                                </m:r>
                              </m:e>
                            </m:d>
                            <m:r>
                              <a:rPr lang="en-US" sz="2400" i="1">
                                <a:latin typeface="Cambria Math" panose="02040503050406030204" pitchFamily="18" charset="0"/>
                              </a:rPr>
                              <m:t>∧  </m:t>
                            </m:r>
                            <m:d>
                              <m:dPr>
                                <m:ctrlPr>
                                  <a:rPr lang="en-US" sz="2400" i="1">
                                    <a:latin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𝑞</m:t>
                                </m:r>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𝑝</m:t>
                                </m:r>
                              </m:e>
                            </m:d>
                          </m:e>
                        </m:d>
                      </m:e>
                    </m:d>
                  </m:oMath>
                </a14:m>
                <a:endParaRPr lang="en-GB" sz="2400" dirty="0"/>
              </a:p>
            </p:txBody>
          </p:sp>
        </mc:Choice>
        <mc:Fallback xmlns="">
          <p:sp>
            <p:nvSpPr>
              <p:cNvPr id="11" name="Rectangle 10">
                <a:extLst>
                  <a:ext uri="{FF2B5EF4-FFF2-40B4-BE49-F238E27FC236}">
                    <a16:creationId xmlns:a16="http://schemas.microsoft.com/office/drawing/2014/main" id="{E5BA1461-2850-4AAF-AF2C-9EDDAE4F6571}"/>
                  </a:ext>
                </a:extLst>
              </p:cNvPr>
              <p:cNvSpPr>
                <a:spLocks noRot="1" noChangeAspect="1" noMove="1" noResize="1" noEditPoints="1" noAdjustHandles="1" noChangeArrowheads="1" noChangeShapeType="1" noTextEdit="1"/>
              </p:cNvSpPr>
              <p:nvPr/>
            </p:nvSpPr>
            <p:spPr>
              <a:xfrm>
                <a:off x="187504" y="4572000"/>
                <a:ext cx="8763000" cy="509178"/>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Rectangle 11">
                <a:extLst>
                  <a:ext uri="{FF2B5EF4-FFF2-40B4-BE49-F238E27FC236}">
                    <a16:creationId xmlns:a16="http://schemas.microsoft.com/office/drawing/2014/main" id="{F4BC7761-B541-4BC0-A1AF-9C0F119E5CB1}"/>
                  </a:ext>
                </a:extLst>
              </p:cNvPr>
              <p:cNvSpPr/>
              <p:nvPr/>
            </p:nvSpPr>
            <p:spPr>
              <a:xfrm>
                <a:off x="152400" y="5105400"/>
                <a:ext cx="8915400" cy="461665"/>
              </a:xfrm>
              <a:prstGeom prst="rect">
                <a:avLst/>
              </a:prstGeom>
            </p:spPr>
            <p:txBody>
              <a:bodyPr wrap="square">
                <a:spAutoFit/>
              </a:bodyPr>
              <a:lstStyle/>
              <a:p>
                <a:r>
                  <a:rPr lang="en-US" sz="2400" dirty="0">
                    <a:ea typeface="Cambria Math" panose="02040503050406030204" pitchFamily="18" charset="0"/>
                  </a:rPr>
                  <a:t>    </a:t>
                </a:r>
                <a14:m>
                  <m:oMath xmlns:m="http://schemas.openxmlformats.org/officeDocument/2006/math">
                    <m:r>
                      <a:rPr lang="en-US" sz="2400" i="1">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 </m:t>
                    </m:r>
                    <m:d>
                      <m:dPr>
                        <m:begChr m:val="["/>
                        <m:endChr m:val="]"/>
                        <m:ctrlPr>
                          <a:rPr lang="en-US" sz="2400" b="0" i="1" smtClean="0">
                            <a:latin typeface="Cambria Math" panose="02040503050406030204" pitchFamily="18" charset="0"/>
                            <a:ea typeface="Cambria Math" panose="02040503050406030204" pitchFamily="18" charset="0"/>
                          </a:rPr>
                        </m:ctrlPr>
                      </m:dPr>
                      <m:e>
                        <m:d>
                          <m:dPr>
                            <m:ctrlPr>
                              <a:rPr lang="en-US" sz="2400" i="1">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𝑝</m:t>
                            </m:r>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𝑝</m:t>
                            </m:r>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𝑞</m:t>
                            </m:r>
                          </m:e>
                        </m:d>
                        <m:r>
                          <a:rPr lang="en-US" sz="2400" i="1">
                            <a:latin typeface="Cambria Math" panose="02040503050406030204" pitchFamily="18" charset="0"/>
                          </a:rPr>
                          <m:t>∧</m:t>
                        </m:r>
                        <m:r>
                          <a:rPr lang="en-US" sz="2400" b="0" i="1" smtClean="0">
                            <a:latin typeface="Cambria Math" panose="02040503050406030204" pitchFamily="18" charset="0"/>
                          </a:rPr>
                          <m:t> </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𝑝</m:t>
                            </m:r>
                            <m:r>
                              <a:rPr lang="en-US" sz="2400" i="1">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𝑞</m:t>
                            </m:r>
                            <m:r>
                              <a:rPr lang="en-US" sz="2400" i="1">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𝑝</m:t>
                            </m:r>
                          </m:e>
                        </m:d>
                      </m:e>
                    </m:d>
                    <m:r>
                      <a:rPr lang="en-US" sz="2400" i="1">
                        <a:latin typeface="Cambria Math" panose="02040503050406030204" pitchFamily="18" charset="0"/>
                      </a:rPr>
                      <m:t>∧</m:t>
                    </m:r>
                    <m:d>
                      <m:dPr>
                        <m:begChr m:val="["/>
                        <m:endChr m:val="]"/>
                        <m:ctrlPr>
                          <a:rPr lang="en-US" sz="2400" i="1" smtClean="0">
                            <a:latin typeface="Cambria Math" panose="02040503050406030204" pitchFamily="18" charset="0"/>
                          </a:rPr>
                        </m:ctrlPr>
                      </m:dPr>
                      <m:e>
                        <m:d>
                          <m:dPr>
                            <m:ctrlPr>
                              <a:rPr lang="en-US" sz="2400" i="1" smtClean="0">
                                <a:latin typeface="Cambria Math" panose="02040503050406030204" pitchFamily="18" charset="0"/>
                              </a:rPr>
                            </m:ctrlPr>
                          </m:dPr>
                          <m:e>
                            <m:r>
                              <a:rPr lang="en-US" sz="2400" b="0" i="1" smtClean="0">
                                <a:latin typeface="Cambria Math" panose="02040503050406030204" pitchFamily="18" charset="0"/>
                              </a:rPr>
                              <m:t>𝑞</m:t>
                            </m:r>
                            <m:r>
                              <a:rPr lang="en-US" sz="2400" i="1">
                                <a:latin typeface="Cambria Math" panose="02040503050406030204" pitchFamily="18" charset="0"/>
                                <a:ea typeface="Cambria Math" panose="02040503050406030204" pitchFamily="18" charset="0"/>
                              </a:rPr>
                              <m:t>∨</m:t>
                            </m:r>
                            <m:r>
                              <a:rPr lang="en-US" sz="240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𝑝</m:t>
                            </m:r>
                            <m:r>
                              <a:rPr lang="en-US" sz="2400" i="1">
                                <a:latin typeface="Cambria Math" panose="02040503050406030204" pitchFamily="18" charset="0"/>
                                <a:ea typeface="Cambria Math" panose="02040503050406030204" pitchFamily="18" charset="0"/>
                              </a:rPr>
                              <m:t>∨</m:t>
                            </m:r>
                            <m:r>
                              <a:rPr lang="en-US" sz="240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𝑞</m:t>
                            </m:r>
                          </m:e>
                        </m:d>
                        <m:r>
                          <a:rPr lang="en-US" sz="2400" i="1">
                            <a:latin typeface="Cambria Math" panose="02040503050406030204" pitchFamily="18" charset="0"/>
                          </a:rPr>
                          <m:t>∧</m:t>
                        </m:r>
                        <m:d>
                          <m:dPr>
                            <m:ctrlPr>
                              <a:rPr lang="en-US" sz="2400" i="1" smtClean="0">
                                <a:latin typeface="Cambria Math" panose="02040503050406030204" pitchFamily="18" charset="0"/>
                              </a:rPr>
                            </m:ctrlPr>
                          </m:dPr>
                          <m:e>
                            <m:r>
                              <a:rPr lang="en-US" sz="2400" b="0" i="1" smtClean="0">
                                <a:latin typeface="Cambria Math" panose="02040503050406030204" pitchFamily="18" charset="0"/>
                              </a:rPr>
                              <m:t>𝑞</m:t>
                            </m:r>
                            <m:r>
                              <a:rPr lang="en-US" sz="2400" i="1">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𝑞</m:t>
                            </m:r>
                            <m:r>
                              <a:rPr lang="en-US" sz="2400" i="1">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𝑝</m:t>
                            </m:r>
                          </m:e>
                        </m:d>
                      </m:e>
                    </m:d>
                  </m:oMath>
                </a14:m>
                <a:endParaRPr lang="en-GB" sz="2400" dirty="0"/>
              </a:p>
            </p:txBody>
          </p:sp>
        </mc:Choice>
        <mc:Fallback xmlns="">
          <p:sp>
            <p:nvSpPr>
              <p:cNvPr id="12" name="Rectangle 11">
                <a:extLst>
                  <a:ext uri="{FF2B5EF4-FFF2-40B4-BE49-F238E27FC236}">
                    <a16:creationId xmlns:a16="http://schemas.microsoft.com/office/drawing/2014/main" id="{F4BC7761-B541-4BC0-A1AF-9C0F119E5CB1}"/>
                  </a:ext>
                </a:extLst>
              </p:cNvPr>
              <p:cNvSpPr>
                <a:spLocks noRot="1" noChangeAspect="1" noMove="1" noResize="1" noEditPoints="1" noAdjustHandles="1" noChangeArrowheads="1" noChangeShapeType="1" noTextEdit="1"/>
              </p:cNvSpPr>
              <p:nvPr/>
            </p:nvSpPr>
            <p:spPr>
              <a:xfrm>
                <a:off x="152400" y="5105400"/>
                <a:ext cx="8915400" cy="461665"/>
              </a:xfrm>
              <a:prstGeom prst="rect">
                <a:avLst/>
              </a:prstGeom>
              <a:blipFill>
                <a:blip r:embed="rId7"/>
                <a:stretch>
                  <a:fillRect b="-10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Rectangle 12">
                <a:extLst>
                  <a:ext uri="{FF2B5EF4-FFF2-40B4-BE49-F238E27FC236}">
                    <a16:creationId xmlns:a16="http://schemas.microsoft.com/office/drawing/2014/main" id="{537A82A1-DBA1-4F48-B4C8-2B978549FDD1}"/>
                  </a:ext>
                </a:extLst>
              </p:cNvPr>
              <p:cNvSpPr/>
              <p:nvPr/>
            </p:nvSpPr>
            <p:spPr>
              <a:xfrm>
                <a:off x="694184" y="2667000"/>
                <a:ext cx="3420616"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d>
                        <m:dPr>
                          <m:ctrlPr>
                            <a:rPr lang="en-US" sz="2400" i="1">
                              <a:latin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𝑝</m:t>
                          </m:r>
                          <m:r>
                            <a:rPr lang="en-US" sz="2400" i="1">
                              <a:latin typeface="Cambria Math" panose="02040503050406030204" pitchFamily="18" charset="0"/>
                              <a:ea typeface="Cambria Math" panose="02040503050406030204" pitchFamily="18" charset="0"/>
                            </a:rPr>
                            <m:t>∨ ¬</m:t>
                          </m:r>
                          <m:r>
                            <a:rPr lang="en-US" sz="2400" i="1">
                              <a:latin typeface="Cambria Math" panose="02040503050406030204" pitchFamily="18" charset="0"/>
                              <a:ea typeface="Cambria Math" panose="02040503050406030204" pitchFamily="18" charset="0"/>
                            </a:rPr>
                            <m:t>𝑞</m:t>
                          </m:r>
                        </m:e>
                      </m:d>
                      <m:r>
                        <a:rPr lang="en-US" sz="2400" i="1">
                          <a:latin typeface="Cambria Math" panose="02040503050406030204" pitchFamily="18" charset="0"/>
                          <a:ea typeface="Cambria Math" panose="02040503050406030204" pitchFamily="18" charset="0"/>
                        </a:rPr>
                        <m:t>→</m:t>
                      </m:r>
                      <m:d>
                        <m:dPr>
                          <m:ctrlPr>
                            <a:rPr lang="en-US" sz="2400" i="1">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𝑝</m:t>
                          </m:r>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𝑞</m:t>
                          </m:r>
                        </m:e>
                      </m:d>
                    </m:oMath>
                  </m:oMathPara>
                </a14:m>
                <a:endParaRPr lang="en-US" sz="2400" dirty="0"/>
              </a:p>
            </p:txBody>
          </p:sp>
        </mc:Choice>
        <mc:Fallback xmlns="">
          <p:sp>
            <p:nvSpPr>
              <p:cNvPr id="13" name="Rectangle 12">
                <a:extLst>
                  <a:ext uri="{FF2B5EF4-FFF2-40B4-BE49-F238E27FC236}">
                    <a16:creationId xmlns:a16="http://schemas.microsoft.com/office/drawing/2014/main" id="{537A82A1-DBA1-4F48-B4C8-2B978549FDD1}"/>
                  </a:ext>
                </a:extLst>
              </p:cNvPr>
              <p:cNvSpPr>
                <a:spLocks noRot="1" noChangeAspect="1" noMove="1" noResize="1" noEditPoints="1" noAdjustHandles="1" noChangeArrowheads="1" noChangeShapeType="1" noTextEdit="1"/>
              </p:cNvSpPr>
              <p:nvPr/>
            </p:nvSpPr>
            <p:spPr>
              <a:xfrm>
                <a:off x="694184" y="2667000"/>
                <a:ext cx="3420616" cy="461665"/>
              </a:xfrm>
              <a:prstGeom prst="rect">
                <a:avLst/>
              </a:prstGeom>
              <a:blipFill>
                <a:blip r:embed="rId8"/>
                <a:stretch>
                  <a:fillRect b="-10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Rectangle 13">
                <a:extLst>
                  <a:ext uri="{FF2B5EF4-FFF2-40B4-BE49-F238E27FC236}">
                    <a16:creationId xmlns:a16="http://schemas.microsoft.com/office/drawing/2014/main" id="{644B93C5-DC6F-4538-B177-AD084AD6E677}"/>
                  </a:ext>
                </a:extLst>
              </p:cNvPr>
              <p:cNvSpPr/>
              <p:nvPr/>
            </p:nvSpPr>
            <p:spPr>
              <a:xfrm>
                <a:off x="152400" y="5558135"/>
                <a:ext cx="8915400" cy="461665"/>
              </a:xfrm>
              <a:prstGeom prst="rect">
                <a:avLst/>
              </a:prstGeom>
            </p:spPr>
            <p:txBody>
              <a:bodyPr wrap="square">
                <a:spAutoFit/>
              </a:bodyPr>
              <a:lstStyle/>
              <a:p>
                <a:r>
                  <a:rPr lang="en-US" sz="2400" dirty="0">
                    <a:ea typeface="Cambria Math" panose="02040503050406030204" pitchFamily="18" charset="0"/>
                  </a:rPr>
                  <a:t>    </a:t>
                </a:r>
                <a14:m>
                  <m:oMath xmlns:m="http://schemas.openxmlformats.org/officeDocument/2006/math">
                    <m:r>
                      <a:rPr lang="en-US" sz="2400" i="1">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 </m:t>
                    </m:r>
                    <m:d>
                      <m:dPr>
                        <m:begChr m:val="["/>
                        <m:endChr m:val="]"/>
                        <m:ctrlPr>
                          <a:rPr lang="en-US" sz="2400" b="0" i="1" smtClean="0">
                            <a:latin typeface="Cambria Math" panose="02040503050406030204" pitchFamily="18" charset="0"/>
                            <a:ea typeface="Cambria Math" panose="02040503050406030204" pitchFamily="18" charset="0"/>
                          </a:rPr>
                        </m:ctrlPr>
                      </m:dPr>
                      <m:e>
                        <m:r>
                          <a:rPr lang="en-US" sz="2400" b="0" i="1" smtClean="0">
                            <a:latin typeface="Cambria Math" panose="02040503050406030204" pitchFamily="18" charset="0"/>
                            <a:ea typeface="Cambria Math" panose="02040503050406030204" pitchFamily="18" charset="0"/>
                          </a:rPr>
                          <m:t>𝑇</m:t>
                        </m:r>
                        <m:r>
                          <a:rPr lang="en-US" sz="2400" b="0" i="1" smtClean="0">
                            <a:latin typeface="Cambria Math" panose="02040503050406030204" pitchFamily="18" charset="0"/>
                            <a:ea typeface="Cambria Math" panose="02040503050406030204" pitchFamily="18" charset="0"/>
                          </a:rPr>
                          <m:t> ∧ </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𝑝</m:t>
                            </m:r>
                            <m:r>
                              <a:rPr lang="en-US" sz="2400" i="1">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𝑞</m:t>
                            </m:r>
                          </m:e>
                        </m:d>
                      </m:e>
                    </m:d>
                    <m:r>
                      <a:rPr lang="en-US" sz="2400" i="1">
                        <a:latin typeface="Cambria Math" panose="02040503050406030204" pitchFamily="18" charset="0"/>
                      </a:rPr>
                      <m:t>∧</m:t>
                    </m:r>
                    <m:d>
                      <m:dPr>
                        <m:begChr m:val="["/>
                        <m:endChr m:val="]"/>
                        <m:ctrlPr>
                          <a:rPr lang="en-US" sz="2400" i="1" smtClean="0">
                            <a:latin typeface="Cambria Math" panose="02040503050406030204" pitchFamily="18" charset="0"/>
                          </a:rPr>
                        </m:ctrlPr>
                      </m:dPr>
                      <m:e>
                        <m:r>
                          <a:rPr lang="en-US" sz="2400" b="0" i="1" smtClean="0">
                            <a:latin typeface="Cambria Math" panose="02040503050406030204" pitchFamily="18" charset="0"/>
                          </a:rPr>
                          <m:t>𝑇</m:t>
                        </m:r>
                        <m:r>
                          <a:rPr lang="en-US" sz="2400" i="1">
                            <a:latin typeface="Cambria Math" panose="02040503050406030204" pitchFamily="18" charset="0"/>
                          </a:rPr>
                          <m:t>∧</m:t>
                        </m:r>
                        <m:d>
                          <m:dPr>
                            <m:ctrlPr>
                              <a:rPr lang="en-US" sz="2400" i="1" smtClean="0">
                                <a:latin typeface="Cambria Math" panose="02040503050406030204" pitchFamily="18" charset="0"/>
                              </a:rPr>
                            </m:ctrlPr>
                          </m:dPr>
                          <m:e>
                            <m:r>
                              <a:rPr lang="en-US" sz="2400" b="0" i="1" smtClean="0">
                                <a:latin typeface="Cambria Math" panose="02040503050406030204" pitchFamily="18" charset="0"/>
                              </a:rPr>
                              <m:t>𝑝</m:t>
                            </m:r>
                            <m:r>
                              <a:rPr lang="en-US" sz="2400" i="1">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𝑞</m:t>
                            </m:r>
                          </m:e>
                        </m:d>
                      </m:e>
                    </m:d>
                  </m:oMath>
                </a14:m>
                <a:endParaRPr lang="en-GB" sz="2400" dirty="0"/>
              </a:p>
            </p:txBody>
          </p:sp>
        </mc:Choice>
        <mc:Fallback xmlns="">
          <p:sp>
            <p:nvSpPr>
              <p:cNvPr id="14" name="Rectangle 13">
                <a:extLst>
                  <a:ext uri="{FF2B5EF4-FFF2-40B4-BE49-F238E27FC236}">
                    <a16:creationId xmlns:a16="http://schemas.microsoft.com/office/drawing/2014/main" id="{644B93C5-DC6F-4538-B177-AD084AD6E677}"/>
                  </a:ext>
                </a:extLst>
              </p:cNvPr>
              <p:cNvSpPr>
                <a:spLocks noRot="1" noChangeAspect="1" noMove="1" noResize="1" noEditPoints="1" noAdjustHandles="1" noChangeArrowheads="1" noChangeShapeType="1" noTextEdit="1"/>
              </p:cNvSpPr>
              <p:nvPr/>
            </p:nvSpPr>
            <p:spPr>
              <a:xfrm>
                <a:off x="152400" y="5558135"/>
                <a:ext cx="8915400" cy="461665"/>
              </a:xfrm>
              <a:prstGeom prst="rect">
                <a:avLst/>
              </a:prstGeom>
              <a:blipFill>
                <a:blip r:embed="rId9"/>
                <a:stretch>
                  <a:fillRect b="-92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Rectangle 14">
                <a:extLst>
                  <a:ext uri="{FF2B5EF4-FFF2-40B4-BE49-F238E27FC236}">
                    <a16:creationId xmlns:a16="http://schemas.microsoft.com/office/drawing/2014/main" id="{3D47C4AF-09EA-451F-96A2-A5B6A514CF87}"/>
                  </a:ext>
                </a:extLst>
              </p:cNvPr>
              <p:cNvSpPr/>
              <p:nvPr/>
            </p:nvSpPr>
            <p:spPr>
              <a:xfrm>
                <a:off x="152400" y="5939135"/>
                <a:ext cx="8915400" cy="461665"/>
              </a:xfrm>
              <a:prstGeom prst="rect">
                <a:avLst/>
              </a:prstGeom>
            </p:spPr>
            <p:txBody>
              <a:bodyPr wrap="square">
                <a:spAutoFit/>
              </a:bodyPr>
              <a:lstStyle/>
              <a:p>
                <a:r>
                  <a:rPr lang="en-US" sz="2400" dirty="0">
                    <a:ea typeface="Cambria Math" panose="02040503050406030204" pitchFamily="18" charset="0"/>
                  </a:rPr>
                  <a:t>    </a:t>
                </a:r>
                <a14:m>
                  <m:oMath xmlns:m="http://schemas.openxmlformats.org/officeDocument/2006/math">
                    <m:r>
                      <a:rPr lang="en-US" sz="2400" i="1">
                        <a:latin typeface="Cambria Math" panose="02040503050406030204" pitchFamily="18" charset="0"/>
                        <a:ea typeface="Cambria Math" panose="02040503050406030204" pitchFamily="18" charset="0"/>
                      </a:rPr>
                      <m:t>≡</m:t>
                    </m:r>
                    <m:d>
                      <m:dPr>
                        <m:ctrlPr>
                          <a:rPr lang="en-US" sz="2400" i="1">
                            <a:latin typeface="Cambria Math" panose="02040503050406030204" pitchFamily="18" charset="0"/>
                          </a:rPr>
                        </m:ctrlPr>
                      </m:dPr>
                      <m:e>
                        <m:r>
                          <a:rPr lang="en-US" sz="2400" i="1">
                            <a:latin typeface="Cambria Math" panose="02040503050406030204" pitchFamily="18" charset="0"/>
                          </a:rPr>
                          <m:t>𝑝</m:t>
                        </m:r>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𝑞</m:t>
                        </m:r>
                      </m:e>
                    </m:d>
                  </m:oMath>
                </a14:m>
                <a:r>
                  <a:rPr lang="en-GB" sz="2400" dirty="0"/>
                  <a:t>.</a:t>
                </a:r>
              </a:p>
            </p:txBody>
          </p:sp>
        </mc:Choice>
        <mc:Fallback xmlns="">
          <p:sp>
            <p:nvSpPr>
              <p:cNvPr id="15" name="Rectangle 14">
                <a:extLst>
                  <a:ext uri="{FF2B5EF4-FFF2-40B4-BE49-F238E27FC236}">
                    <a16:creationId xmlns:a16="http://schemas.microsoft.com/office/drawing/2014/main" id="{3D47C4AF-09EA-451F-96A2-A5B6A514CF87}"/>
                  </a:ext>
                </a:extLst>
              </p:cNvPr>
              <p:cNvSpPr>
                <a:spLocks noRot="1" noChangeAspect="1" noMove="1" noResize="1" noEditPoints="1" noAdjustHandles="1" noChangeArrowheads="1" noChangeShapeType="1" noTextEdit="1"/>
              </p:cNvSpPr>
              <p:nvPr/>
            </p:nvSpPr>
            <p:spPr>
              <a:xfrm>
                <a:off x="152400" y="5939135"/>
                <a:ext cx="8915400" cy="461665"/>
              </a:xfrm>
              <a:prstGeom prst="rect">
                <a:avLst/>
              </a:prstGeom>
              <a:blipFill>
                <a:blip r:embed="rId10"/>
                <a:stretch>
                  <a:fillRect t="-10526" b="-28947"/>
                </a:stretch>
              </a:blipFill>
            </p:spPr>
            <p:txBody>
              <a:bodyPr/>
              <a:lstStyle/>
              <a:p>
                <a:r>
                  <a:rPr lang="en-US">
                    <a:noFill/>
                  </a:rPr>
                  <a:t> </a:t>
                </a:r>
              </a:p>
            </p:txBody>
          </p:sp>
        </mc:Fallback>
      </mc:AlternateContent>
    </p:spTree>
    <p:extLst>
      <p:ext uri="{BB962C8B-B14F-4D97-AF65-F5344CB8AC3E}">
        <p14:creationId xmlns:p14="http://schemas.microsoft.com/office/powerpoint/2010/main" val="36355882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P spid="9" grpId="0"/>
      <p:bldP spid="10" grpId="0"/>
      <p:bldP spid="11" grpId="0"/>
      <p:bldP spid="12" grpId="0"/>
      <p:bldP spid="13" grpId="0"/>
      <p:bldP spid="14" grpId="0"/>
      <p:bldP spid="15"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Example (method 2)</a:t>
            </a:r>
            <a:endParaRPr lang="en-GB" dirty="0"/>
          </a:p>
        </p:txBody>
      </p:sp>
      <p:sp>
        <p:nvSpPr>
          <p:cNvPr id="4" name="Date Placeholder 3"/>
          <p:cNvSpPr>
            <a:spLocks noGrp="1"/>
          </p:cNvSpPr>
          <p:nvPr>
            <p:ph type="dt" sz="half" idx="10"/>
          </p:nvPr>
        </p:nvSpPr>
        <p:spPr/>
        <p:txBody>
          <a:bodyPr/>
          <a:lstStyle/>
          <a:p>
            <a:fld id="{03573CB2-9162-4A5A-A5A7-9BD53DDD9EAE}" type="datetime3">
              <a:rPr lang="en-US" smtClean="0"/>
              <a:t>27 April 2026</a:t>
            </a:fld>
            <a:endParaRPr lang="en-US"/>
          </a:p>
        </p:txBody>
      </p:sp>
      <p:sp>
        <p:nvSpPr>
          <p:cNvPr id="5" name="Footer Placeholder 4"/>
          <p:cNvSpPr>
            <a:spLocks noGrp="1"/>
          </p:cNvSpPr>
          <p:nvPr>
            <p:ph type="ftr" sz="quarter" idx="11"/>
          </p:nvPr>
        </p:nvSpPr>
        <p:spPr/>
        <p:txBody>
          <a:bodyPr/>
          <a:lstStyle/>
          <a:p>
            <a:r>
              <a:rPr lang="en-US"/>
              <a:t>SCS 1302   Discrete Mathematics 1       Prof. D D Karunaratna</a:t>
            </a:r>
          </a:p>
        </p:txBody>
      </p:sp>
      <p:sp>
        <p:nvSpPr>
          <p:cNvPr id="6" name="Slide Number Placeholder 5"/>
          <p:cNvSpPr>
            <a:spLocks noGrp="1"/>
          </p:cNvSpPr>
          <p:nvPr>
            <p:ph type="sldNum" sz="quarter" idx="12"/>
          </p:nvPr>
        </p:nvSpPr>
        <p:spPr/>
        <p:txBody>
          <a:bodyPr/>
          <a:lstStyle/>
          <a:p>
            <a:fld id="{0CA841A6-7C02-4C92-B6EE-5DBCC2AD53D0}" type="slidenum">
              <a:rPr lang="en-US" smtClean="0"/>
              <a:t>60</a:t>
            </a:fld>
            <a:endParaRPr lang="en-US"/>
          </a:p>
        </p:txBody>
      </p:sp>
      <mc:AlternateContent xmlns:mc="http://schemas.openxmlformats.org/markup-compatibility/2006" xmlns:a14="http://schemas.microsoft.com/office/drawing/2010/main">
        <mc:Choice Requires="a14">
          <p:sp>
            <p:nvSpPr>
              <p:cNvPr id="7" name="Rectangle 6"/>
              <p:cNvSpPr/>
              <p:nvPr/>
            </p:nvSpPr>
            <p:spPr>
              <a:xfrm>
                <a:off x="304800" y="1817322"/>
                <a:ext cx="8229600" cy="830997"/>
              </a:xfrm>
              <a:prstGeom prst="rect">
                <a:avLst/>
              </a:prstGeom>
            </p:spPr>
            <p:txBody>
              <a:bodyPr wrap="square">
                <a:spAutoFit/>
              </a:bodyPr>
              <a:lstStyle/>
              <a:p>
                <a:r>
                  <a:rPr lang="en-US" sz="2400" dirty="0"/>
                  <a:t>Find the conjunctive  normal form of the formula </a:t>
                </a:r>
              </a:p>
              <a:p>
                <a14:m>
                  <m:oMath xmlns:m="http://schemas.openxmlformats.org/officeDocument/2006/math">
                    <m:r>
                      <m:rPr>
                        <m:sty m:val="p"/>
                      </m:rPr>
                      <a:rPr lang="en-US" sz="2400" b="0" i="0" smtClean="0">
                        <a:latin typeface="Cambria Math" panose="02040503050406030204" pitchFamily="18" charset="0"/>
                      </a:rPr>
                      <m:t>x</m:t>
                    </m:r>
                    <m:r>
                      <a:rPr lang="en-US" sz="2400" b="0" i="0" smtClean="0">
                        <a:latin typeface="Cambria Math" panose="02040503050406030204" pitchFamily="18" charset="0"/>
                      </a:rPr>
                      <m:t>=</m:t>
                    </m:r>
                    <m:d>
                      <m:dPr>
                        <m:ctrlPr>
                          <a:rPr lang="en-US" sz="2400" i="1">
                            <a:latin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𝑝</m:t>
                        </m:r>
                        <m:r>
                          <a:rPr lang="en-US" sz="2400" i="1">
                            <a:latin typeface="Cambria Math" panose="02040503050406030204" pitchFamily="18" charset="0"/>
                            <a:ea typeface="Cambria Math" panose="02040503050406030204" pitchFamily="18" charset="0"/>
                          </a:rPr>
                          <m:t>∨ ¬</m:t>
                        </m:r>
                        <m:r>
                          <a:rPr lang="en-US" sz="2400" i="1">
                            <a:latin typeface="Cambria Math" panose="02040503050406030204" pitchFamily="18" charset="0"/>
                            <a:ea typeface="Cambria Math" panose="02040503050406030204" pitchFamily="18" charset="0"/>
                          </a:rPr>
                          <m:t>𝑞</m:t>
                        </m:r>
                      </m:e>
                    </m:d>
                    <m:r>
                      <a:rPr lang="en-US" sz="2400" i="1">
                        <a:latin typeface="Cambria Math" panose="02040503050406030204" pitchFamily="18" charset="0"/>
                        <a:ea typeface="Cambria Math" panose="02040503050406030204" pitchFamily="18" charset="0"/>
                      </a:rPr>
                      <m:t>→</m:t>
                    </m:r>
                    <m:d>
                      <m:dPr>
                        <m:ctrlPr>
                          <a:rPr lang="en-US" sz="2400" i="1">
                            <a:latin typeface="Cambria Math" panose="02040503050406030204" pitchFamily="18" charset="0"/>
                            <a:ea typeface="Cambria Math" panose="02040503050406030204" pitchFamily="18" charset="0"/>
                          </a:rPr>
                        </m:ctrlPr>
                      </m:dPr>
                      <m:e>
                        <m:r>
                          <a:rPr lang="en-US" sz="2400" i="1">
                            <a:latin typeface="Cambria Math" panose="02040503050406030204" pitchFamily="18" charset="0"/>
                            <a:ea typeface="Cambria Math" panose="02040503050406030204" pitchFamily="18" charset="0"/>
                          </a:rPr>
                          <m:t>𝑝</m:t>
                        </m:r>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𝑞</m:t>
                        </m:r>
                      </m:e>
                    </m:d>
                  </m:oMath>
                </a14:m>
                <a:r>
                  <a:rPr lang="en-US" sz="2400" dirty="0"/>
                  <a:t>.</a:t>
                </a:r>
              </a:p>
            </p:txBody>
          </p:sp>
        </mc:Choice>
        <mc:Fallback xmlns="">
          <p:sp>
            <p:nvSpPr>
              <p:cNvPr id="7" name="Rectangle 6"/>
              <p:cNvSpPr>
                <a:spLocks noRot="1" noChangeAspect="1" noMove="1" noResize="1" noEditPoints="1" noAdjustHandles="1" noChangeArrowheads="1" noChangeShapeType="1" noTextEdit="1"/>
              </p:cNvSpPr>
              <p:nvPr/>
            </p:nvSpPr>
            <p:spPr>
              <a:xfrm>
                <a:off x="304800" y="1817322"/>
                <a:ext cx="8229600" cy="830997"/>
              </a:xfrm>
              <a:prstGeom prst="rect">
                <a:avLst/>
              </a:prstGeom>
              <a:blipFill>
                <a:blip r:embed="rId2"/>
                <a:stretch>
                  <a:fillRect l="-1111" t="-5882" b="-1617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12" name="Table 11">
                <a:extLst>
                  <a:ext uri="{FF2B5EF4-FFF2-40B4-BE49-F238E27FC236}">
                    <a16:creationId xmlns:a16="http://schemas.microsoft.com/office/drawing/2014/main" id="{24691CC5-3B50-4B9E-B95E-A79C4437346E}"/>
                  </a:ext>
                </a:extLst>
              </p:cNvPr>
              <p:cNvGraphicFramePr>
                <a:graphicFrameLocks noGrp="1"/>
              </p:cNvGraphicFramePr>
              <p:nvPr/>
            </p:nvGraphicFramePr>
            <p:xfrm>
              <a:off x="228600" y="2743200"/>
              <a:ext cx="1524000" cy="2315756"/>
            </p:xfrm>
            <a:graphic>
              <a:graphicData uri="http://schemas.openxmlformats.org/drawingml/2006/table">
                <a:tbl>
                  <a:tblPr firstRow="1" bandRow="1">
                    <a:tableStyleId>{5C22544A-7EE6-4342-B048-85BDC9FD1C3A}</a:tableStyleId>
                  </a:tblPr>
                  <a:tblGrid>
                    <a:gridCol w="731520">
                      <a:extLst>
                        <a:ext uri="{9D8B030D-6E8A-4147-A177-3AD203B41FA5}">
                          <a16:colId xmlns:a16="http://schemas.microsoft.com/office/drawing/2014/main" val="20000"/>
                        </a:ext>
                      </a:extLst>
                    </a:gridCol>
                    <a:gridCol w="792480">
                      <a:extLst>
                        <a:ext uri="{9D8B030D-6E8A-4147-A177-3AD203B41FA5}">
                          <a16:colId xmlns:a16="http://schemas.microsoft.com/office/drawing/2014/main" val="20001"/>
                        </a:ext>
                      </a:extLst>
                    </a:gridCol>
                  </a:tblGrid>
                  <a:tr h="438116">
                    <a:tc>
                      <a:txBody>
                        <a:bodyPr/>
                        <a:lstStyle/>
                        <a:p>
                          <a:pPr algn="ctr"/>
                          <a14:m>
                            <m:oMathPara xmlns:m="http://schemas.openxmlformats.org/officeDocument/2006/math">
                              <m:oMathParaPr>
                                <m:jc m:val="centerGroup"/>
                              </m:oMathParaPr>
                              <m:oMath xmlns:m="http://schemas.openxmlformats.org/officeDocument/2006/math">
                                <m:r>
                                  <a:rPr lang="en-GB" sz="2200" b="1" i="1" smtClean="0">
                                    <a:solidFill>
                                      <a:schemeClr val="tx1"/>
                                    </a:solidFill>
                                    <a:latin typeface="Cambria Math" panose="02040503050406030204" pitchFamily="18" charset="0"/>
                                  </a:rPr>
                                  <m:t>𝒑</m:t>
                                </m:r>
                              </m:oMath>
                            </m:oMathPara>
                          </a14:m>
                          <a:endParaRPr lang="en-GB" sz="2200" dirty="0">
                            <a:solidFill>
                              <a:schemeClr val="tx1"/>
                            </a:solidFill>
                          </a:endParaRPr>
                        </a:p>
                      </a:txBody>
                      <a:tcPr/>
                    </a:tc>
                    <a:tc>
                      <a:txBody>
                        <a:bodyPr/>
                        <a:lstStyle/>
                        <a:p>
                          <a:pPr algn="ctr"/>
                          <a14:m>
                            <m:oMathPara xmlns:m="http://schemas.openxmlformats.org/officeDocument/2006/math">
                              <m:oMathParaPr>
                                <m:jc m:val="centerGroup"/>
                              </m:oMathParaPr>
                              <m:oMath xmlns:m="http://schemas.openxmlformats.org/officeDocument/2006/math">
                                <m:r>
                                  <a:rPr lang="en-GB" sz="2200" b="1" i="1" smtClean="0">
                                    <a:solidFill>
                                      <a:schemeClr val="tx1"/>
                                    </a:solidFill>
                                    <a:latin typeface="Cambria Math" panose="02040503050406030204" pitchFamily="18" charset="0"/>
                                  </a:rPr>
                                  <m:t>𝒒</m:t>
                                </m:r>
                              </m:oMath>
                            </m:oMathPara>
                          </a14:m>
                          <a:endParaRPr lang="en-GB" sz="2200" dirty="0">
                            <a:solidFill>
                              <a:schemeClr val="tx1"/>
                            </a:solidFill>
                          </a:endParaRPr>
                        </a:p>
                      </a:txBody>
                      <a:tcPr/>
                    </a:tc>
                    <a:extLst>
                      <a:ext uri="{0D108BD9-81ED-4DB2-BD59-A6C34878D82A}">
                        <a16:rowId xmlns:a16="http://schemas.microsoft.com/office/drawing/2014/main" val="10000"/>
                      </a:ext>
                    </a:extLst>
                  </a:tr>
                  <a:tr h="469410">
                    <a:tc>
                      <a:txBody>
                        <a:bodyPr/>
                        <a:lstStyle/>
                        <a:p>
                          <a:pPr algn="ctr"/>
                          <a:r>
                            <a:rPr lang="en-GB" sz="2400" dirty="0"/>
                            <a:t>0</a:t>
                          </a:r>
                        </a:p>
                      </a:txBody>
                      <a:tcPr/>
                    </a:tc>
                    <a:tc>
                      <a:txBody>
                        <a:bodyPr/>
                        <a:lstStyle/>
                        <a:p>
                          <a:pPr algn="ctr"/>
                          <a:r>
                            <a:rPr lang="en-GB" sz="2400" dirty="0"/>
                            <a:t>0</a:t>
                          </a:r>
                        </a:p>
                      </a:txBody>
                      <a:tcPr/>
                    </a:tc>
                    <a:extLst>
                      <a:ext uri="{0D108BD9-81ED-4DB2-BD59-A6C34878D82A}">
                        <a16:rowId xmlns:a16="http://schemas.microsoft.com/office/drawing/2014/main" val="10001"/>
                      </a:ext>
                    </a:extLst>
                  </a:tr>
                  <a:tr h="469410">
                    <a:tc>
                      <a:txBody>
                        <a:bodyPr/>
                        <a:lstStyle/>
                        <a:p>
                          <a:pPr algn="ctr"/>
                          <a:r>
                            <a:rPr lang="en-GB" sz="2400" dirty="0"/>
                            <a:t>0</a:t>
                          </a:r>
                        </a:p>
                      </a:txBody>
                      <a:tcPr/>
                    </a:tc>
                    <a:tc>
                      <a:txBody>
                        <a:bodyPr/>
                        <a:lstStyle/>
                        <a:p>
                          <a:pPr algn="ctr"/>
                          <a:r>
                            <a:rPr lang="en-GB" sz="2400" dirty="0"/>
                            <a:t>1</a:t>
                          </a:r>
                        </a:p>
                      </a:txBody>
                      <a:tcPr/>
                    </a:tc>
                    <a:extLst>
                      <a:ext uri="{0D108BD9-81ED-4DB2-BD59-A6C34878D82A}">
                        <a16:rowId xmlns:a16="http://schemas.microsoft.com/office/drawing/2014/main" val="10002"/>
                      </a:ext>
                    </a:extLst>
                  </a:tr>
                  <a:tr h="469410">
                    <a:tc>
                      <a:txBody>
                        <a:bodyPr/>
                        <a:lstStyle/>
                        <a:p>
                          <a:pPr algn="ctr"/>
                          <a:r>
                            <a:rPr lang="en-GB" sz="2400" dirty="0"/>
                            <a:t>1</a:t>
                          </a:r>
                        </a:p>
                      </a:txBody>
                      <a:tcPr/>
                    </a:tc>
                    <a:tc>
                      <a:txBody>
                        <a:bodyPr/>
                        <a:lstStyle/>
                        <a:p>
                          <a:pPr algn="ctr"/>
                          <a:r>
                            <a:rPr lang="en-GB" sz="2400" dirty="0"/>
                            <a:t>0</a:t>
                          </a:r>
                        </a:p>
                      </a:txBody>
                      <a:tcPr/>
                    </a:tc>
                    <a:extLst>
                      <a:ext uri="{0D108BD9-81ED-4DB2-BD59-A6C34878D82A}">
                        <a16:rowId xmlns:a16="http://schemas.microsoft.com/office/drawing/2014/main" val="10003"/>
                      </a:ext>
                    </a:extLst>
                  </a:tr>
                  <a:tr h="469410">
                    <a:tc>
                      <a:txBody>
                        <a:bodyPr/>
                        <a:lstStyle/>
                        <a:p>
                          <a:pPr algn="ctr"/>
                          <a:r>
                            <a:rPr lang="en-GB" sz="2400" dirty="0"/>
                            <a:t>1</a:t>
                          </a:r>
                        </a:p>
                      </a:txBody>
                      <a:tcPr/>
                    </a:tc>
                    <a:tc>
                      <a:txBody>
                        <a:bodyPr/>
                        <a:lstStyle/>
                        <a:p>
                          <a:pPr algn="ctr"/>
                          <a:r>
                            <a:rPr lang="en-GB" sz="2400" dirty="0" err="1"/>
                            <a:t>1</a:t>
                          </a:r>
                          <a:endParaRPr lang="en-GB" sz="2400" dirty="0"/>
                        </a:p>
                      </a:txBody>
                      <a:tcPr/>
                    </a:tc>
                    <a:extLst>
                      <a:ext uri="{0D108BD9-81ED-4DB2-BD59-A6C34878D82A}">
                        <a16:rowId xmlns:a16="http://schemas.microsoft.com/office/drawing/2014/main" val="10004"/>
                      </a:ext>
                    </a:extLst>
                  </a:tr>
                </a:tbl>
              </a:graphicData>
            </a:graphic>
          </p:graphicFrame>
        </mc:Choice>
        <mc:Fallback xmlns="">
          <p:graphicFrame>
            <p:nvGraphicFramePr>
              <p:cNvPr id="12" name="Table 11">
                <a:extLst>
                  <a:ext uri="{FF2B5EF4-FFF2-40B4-BE49-F238E27FC236}">
                    <a16:creationId xmlns:a16="http://schemas.microsoft.com/office/drawing/2014/main" id="{24691CC5-3B50-4B9E-B95E-A79C4437346E}"/>
                  </a:ext>
                </a:extLst>
              </p:cNvPr>
              <p:cNvGraphicFramePr>
                <a:graphicFrameLocks noGrp="1"/>
              </p:cNvGraphicFramePr>
              <p:nvPr>
                <p:extLst/>
              </p:nvPr>
            </p:nvGraphicFramePr>
            <p:xfrm>
              <a:off x="228600" y="2743200"/>
              <a:ext cx="1524000" cy="2315756"/>
            </p:xfrm>
            <a:graphic>
              <a:graphicData uri="http://schemas.openxmlformats.org/drawingml/2006/table">
                <a:tbl>
                  <a:tblPr firstRow="1" bandRow="1">
                    <a:tableStyleId>{5C22544A-7EE6-4342-B048-85BDC9FD1C3A}</a:tableStyleId>
                  </a:tblPr>
                  <a:tblGrid>
                    <a:gridCol w="731520">
                      <a:extLst>
                        <a:ext uri="{9D8B030D-6E8A-4147-A177-3AD203B41FA5}">
                          <a16:colId xmlns:a16="http://schemas.microsoft.com/office/drawing/2014/main" val="20000"/>
                        </a:ext>
                      </a:extLst>
                    </a:gridCol>
                    <a:gridCol w="792480">
                      <a:extLst>
                        <a:ext uri="{9D8B030D-6E8A-4147-A177-3AD203B41FA5}">
                          <a16:colId xmlns:a16="http://schemas.microsoft.com/office/drawing/2014/main" val="20001"/>
                        </a:ext>
                      </a:extLst>
                    </a:gridCol>
                  </a:tblGrid>
                  <a:tr h="438116">
                    <a:tc>
                      <a:txBody>
                        <a:bodyPr/>
                        <a:lstStyle/>
                        <a:p>
                          <a:endParaRPr lang="en-US"/>
                        </a:p>
                      </a:txBody>
                      <a:tcPr>
                        <a:blipFill>
                          <a:blip r:embed="rId3"/>
                          <a:stretch>
                            <a:fillRect l="-833" t="-2778" r="-112500" b="-456944"/>
                          </a:stretch>
                        </a:blipFill>
                      </a:tcPr>
                    </a:tc>
                    <a:tc>
                      <a:txBody>
                        <a:bodyPr/>
                        <a:lstStyle/>
                        <a:p>
                          <a:endParaRPr lang="en-US"/>
                        </a:p>
                      </a:txBody>
                      <a:tcPr>
                        <a:blipFill>
                          <a:blip r:embed="rId3"/>
                          <a:stretch>
                            <a:fillRect l="-92366" t="-2778" r="-3053" b="-456944"/>
                          </a:stretch>
                        </a:blipFill>
                      </a:tcPr>
                    </a:tc>
                    <a:extLst>
                      <a:ext uri="{0D108BD9-81ED-4DB2-BD59-A6C34878D82A}">
                        <a16:rowId xmlns:a16="http://schemas.microsoft.com/office/drawing/2014/main" val="10000"/>
                      </a:ext>
                    </a:extLst>
                  </a:tr>
                  <a:tr h="469410">
                    <a:tc>
                      <a:txBody>
                        <a:bodyPr/>
                        <a:lstStyle/>
                        <a:p>
                          <a:pPr algn="ctr"/>
                          <a:r>
                            <a:rPr lang="en-GB" sz="2400" dirty="0"/>
                            <a:t>0</a:t>
                          </a:r>
                        </a:p>
                      </a:txBody>
                      <a:tcPr/>
                    </a:tc>
                    <a:tc>
                      <a:txBody>
                        <a:bodyPr/>
                        <a:lstStyle/>
                        <a:p>
                          <a:pPr algn="ctr"/>
                          <a:r>
                            <a:rPr lang="en-GB" sz="2400" dirty="0"/>
                            <a:t>0</a:t>
                          </a:r>
                        </a:p>
                      </a:txBody>
                      <a:tcPr/>
                    </a:tc>
                    <a:extLst>
                      <a:ext uri="{0D108BD9-81ED-4DB2-BD59-A6C34878D82A}">
                        <a16:rowId xmlns:a16="http://schemas.microsoft.com/office/drawing/2014/main" val="10001"/>
                      </a:ext>
                    </a:extLst>
                  </a:tr>
                  <a:tr h="469410">
                    <a:tc>
                      <a:txBody>
                        <a:bodyPr/>
                        <a:lstStyle/>
                        <a:p>
                          <a:pPr algn="ctr"/>
                          <a:r>
                            <a:rPr lang="en-GB" sz="2400" dirty="0"/>
                            <a:t>0</a:t>
                          </a:r>
                        </a:p>
                      </a:txBody>
                      <a:tcPr/>
                    </a:tc>
                    <a:tc>
                      <a:txBody>
                        <a:bodyPr/>
                        <a:lstStyle/>
                        <a:p>
                          <a:pPr algn="ctr"/>
                          <a:r>
                            <a:rPr lang="en-GB" sz="2400" dirty="0"/>
                            <a:t>1</a:t>
                          </a:r>
                        </a:p>
                      </a:txBody>
                      <a:tcPr/>
                    </a:tc>
                    <a:extLst>
                      <a:ext uri="{0D108BD9-81ED-4DB2-BD59-A6C34878D82A}">
                        <a16:rowId xmlns:a16="http://schemas.microsoft.com/office/drawing/2014/main" val="10002"/>
                      </a:ext>
                    </a:extLst>
                  </a:tr>
                  <a:tr h="469410">
                    <a:tc>
                      <a:txBody>
                        <a:bodyPr/>
                        <a:lstStyle/>
                        <a:p>
                          <a:pPr algn="ctr"/>
                          <a:r>
                            <a:rPr lang="en-GB" sz="2400" dirty="0"/>
                            <a:t>1</a:t>
                          </a:r>
                        </a:p>
                      </a:txBody>
                      <a:tcPr/>
                    </a:tc>
                    <a:tc>
                      <a:txBody>
                        <a:bodyPr/>
                        <a:lstStyle/>
                        <a:p>
                          <a:pPr algn="ctr"/>
                          <a:r>
                            <a:rPr lang="en-GB" sz="2400" dirty="0"/>
                            <a:t>0</a:t>
                          </a:r>
                        </a:p>
                      </a:txBody>
                      <a:tcPr/>
                    </a:tc>
                    <a:extLst>
                      <a:ext uri="{0D108BD9-81ED-4DB2-BD59-A6C34878D82A}">
                        <a16:rowId xmlns:a16="http://schemas.microsoft.com/office/drawing/2014/main" val="10003"/>
                      </a:ext>
                    </a:extLst>
                  </a:tr>
                  <a:tr h="469410">
                    <a:tc>
                      <a:txBody>
                        <a:bodyPr/>
                        <a:lstStyle/>
                        <a:p>
                          <a:pPr algn="ctr"/>
                          <a:r>
                            <a:rPr lang="en-GB" sz="2400" dirty="0"/>
                            <a:t>1</a:t>
                          </a:r>
                        </a:p>
                      </a:txBody>
                      <a:tcPr/>
                    </a:tc>
                    <a:tc>
                      <a:txBody>
                        <a:bodyPr/>
                        <a:lstStyle/>
                        <a:p>
                          <a:pPr algn="ctr"/>
                          <a:r>
                            <a:rPr lang="en-GB" sz="2400" dirty="0" err="1"/>
                            <a:t>1</a:t>
                          </a:r>
                          <a:endParaRPr lang="en-GB" sz="2400" dirty="0"/>
                        </a:p>
                      </a:txBody>
                      <a:tcPr/>
                    </a:tc>
                    <a:extLst>
                      <a:ext uri="{0D108BD9-81ED-4DB2-BD59-A6C34878D82A}">
                        <a16:rowId xmlns:a16="http://schemas.microsoft.com/office/drawing/2014/main" val="10004"/>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13" name="Table 12">
                <a:extLst>
                  <a:ext uri="{FF2B5EF4-FFF2-40B4-BE49-F238E27FC236}">
                    <a16:creationId xmlns:a16="http://schemas.microsoft.com/office/drawing/2014/main" id="{466363EB-D714-4A2A-9503-02B3EBAD7AB2}"/>
                  </a:ext>
                </a:extLst>
              </p:cNvPr>
              <p:cNvGraphicFramePr>
                <a:graphicFrameLocks noGrp="1"/>
              </p:cNvGraphicFramePr>
              <p:nvPr/>
            </p:nvGraphicFramePr>
            <p:xfrm>
              <a:off x="1762874" y="2730654"/>
              <a:ext cx="657376" cy="2286000"/>
            </p:xfrm>
            <a:graphic>
              <a:graphicData uri="http://schemas.openxmlformats.org/drawingml/2006/table">
                <a:tbl>
                  <a:tblPr firstRow="1" bandRow="1">
                    <a:tableStyleId>{5C22544A-7EE6-4342-B048-85BDC9FD1C3A}</a:tableStyleId>
                  </a:tblPr>
                  <a:tblGrid>
                    <a:gridCol w="657376">
                      <a:extLst>
                        <a:ext uri="{9D8B030D-6E8A-4147-A177-3AD203B41FA5}">
                          <a16:colId xmlns:a16="http://schemas.microsoft.com/office/drawing/2014/main" val="20000"/>
                        </a:ext>
                      </a:extLst>
                    </a:gridCol>
                  </a:tblGrid>
                  <a:tr h="441960">
                    <a:tc>
                      <a:txBody>
                        <a:bodyPr/>
                        <a:lstStyle/>
                        <a:p>
                          <a:pPr algn="ctr"/>
                          <a14:m>
                            <m:oMathPara xmlns:m="http://schemas.openxmlformats.org/officeDocument/2006/math">
                              <m:oMathParaPr>
                                <m:jc m:val="centerGroup"/>
                              </m:oMathParaPr>
                              <m:oMath xmlns:m="http://schemas.openxmlformats.org/officeDocument/2006/math">
                                <m:r>
                                  <a:rPr lang="en-GB" sz="2400" b="1" i="1" smtClean="0">
                                    <a:solidFill>
                                      <a:schemeClr val="tx1"/>
                                    </a:solidFill>
                                    <a:latin typeface="Cambria Math" panose="02040503050406030204" pitchFamily="18" charset="0"/>
                                    <a:ea typeface="Cambria Math" panose="02040503050406030204" pitchFamily="18" charset="0"/>
                                  </a:rPr>
                                  <m:t>¬</m:t>
                                </m:r>
                                <m:r>
                                  <a:rPr lang="en-GB" sz="2400" b="1" i="1" smtClean="0">
                                    <a:solidFill>
                                      <a:schemeClr val="tx1"/>
                                    </a:solidFill>
                                    <a:latin typeface="Cambria Math" panose="02040503050406030204" pitchFamily="18" charset="0"/>
                                  </a:rPr>
                                  <m:t>𝒑</m:t>
                                </m:r>
                              </m:oMath>
                            </m:oMathPara>
                          </a14:m>
                          <a:endParaRPr lang="en-GB" sz="2400" dirty="0">
                            <a:solidFill>
                              <a:schemeClr val="tx1"/>
                            </a:solidFill>
                          </a:endParaRPr>
                        </a:p>
                      </a:txBody>
                      <a:tcPr/>
                    </a:tc>
                    <a:extLst>
                      <a:ext uri="{0D108BD9-81ED-4DB2-BD59-A6C34878D82A}">
                        <a16:rowId xmlns:a16="http://schemas.microsoft.com/office/drawing/2014/main" val="10000"/>
                      </a:ext>
                    </a:extLst>
                  </a:tr>
                  <a:tr h="441960">
                    <a:tc>
                      <a:txBody>
                        <a:bodyPr/>
                        <a:lstStyle/>
                        <a:p>
                          <a:pPr algn="ctr"/>
                          <a:r>
                            <a:rPr lang="en-GB" sz="2400" dirty="0"/>
                            <a:t>1</a:t>
                          </a:r>
                        </a:p>
                      </a:txBody>
                      <a:tcPr/>
                    </a:tc>
                    <a:extLst>
                      <a:ext uri="{0D108BD9-81ED-4DB2-BD59-A6C34878D82A}">
                        <a16:rowId xmlns:a16="http://schemas.microsoft.com/office/drawing/2014/main" val="10001"/>
                      </a:ext>
                    </a:extLst>
                  </a:tr>
                  <a:tr h="441960">
                    <a:tc>
                      <a:txBody>
                        <a:bodyPr/>
                        <a:lstStyle/>
                        <a:p>
                          <a:pPr algn="ctr"/>
                          <a:r>
                            <a:rPr lang="en-GB" sz="2400" dirty="0"/>
                            <a:t>1</a:t>
                          </a:r>
                        </a:p>
                      </a:txBody>
                      <a:tcPr/>
                    </a:tc>
                    <a:extLst>
                      <a:ext uri="{0D108BD9-81ED-4DB2-BD59-A6C34878D82A}">
                        <a16:rowId xmlns:a16="http://schemas.microsoft.com/office/drawing/2014/main" val="10002"/>
                      </a:ext>
                    </a:extLst>
                  </a:tr>
                  <a:tr h="441960">
                    <a:tc>
                      <a:txBody>
                        <a:bodyPr/>
                        <a:lstStyle/>
                        <a:p>
                          <a:pPr algn="ctr"/>
                          <a:r>
                            <a:rPr lang="en-GB" sz="2400" dirty="0"/>
                            <a:t>0</a:t>
                          </a:r>
                        </a:p>
                      </a:txBody>
                      <a:tcPr/>
                    </a:tc>
                    <a:extLst>
                      <a:ext uri="{0D108BD9-81ED-4DB2-BD59-A6C34878D82A}">
                        <a16:rowId xmlns:a16="http://schemas.microsoft.com/office/drawing/2014/main" val="10003"/>
                      </a:ext>
                    </a:extLst>
                  </a:tr>
                  <a:tr h="441960">
                    <a:tc>
                      <a:txBody>
                        <a:bodyPr/>
                        <a:lstStyle/>
                        <a:p>
                          <a:pPr algn="ctr"/>
                          <a:r>
                            <a:rPr lang="en-GB" sz="2400" dirty="0"/>
                            <a:t>0</a:t>
                          </a:r>
                        </a:p>
                      </a:txBody>
                      <a:tcPr/>
                    </a:tc>
                    <a:extLst>
                      <a:ext uri="{0D108BD9-81ED-4DB2-BD59-A6C34878D82A}">
                        <a16:rowId xmlns:a16="http://schemas.microsoft.com/office/drawing/2014/main" val="10004"/>
                      </a:ext>
                    </a:extLst>
                  </a:tr>
                </a:tbl>
              </a:graphicData>
            </a:graphic>
          </p:graphicFrame>
        </mc:Choice>
        <mc:Fallback xmlns="">
          <p:graphicFrame>
            <p:nvGraphicFramePr>
              <p:cNvPr id="13" name="Table 12">
                <a:extLst>
                  <a:ext uri="{FF2B5EF4-FFF2-40B4-BE49-F238E27FC236}">
                    <a16:creationId xmlns:a16="http://schemas.microsoft.com/office/drawing/2014/main" id="{466363EB-D714-4A2A-9503-02B3EBAD7AB2}"/>
                  </a:ext>
                </a:extLst>
              </p:cNvPr>
              <p:cNvGraphicFramePr>
                <a:graphicFrameLocks noGrp="1"/>
              </p:cNvGraphicFramePr>
              <p:nvPr>
                <p:extLst/>
              </p:nvPr>
            </p:nvGraphicFramePr>
            <p:xfrm>
              <a:off x="1762874" y="2730654"/>
              <a:ext cx="657376" cy="2286000"/>
            </p:xfrm>
            <a:graphic>
              <a:graphicData uri="http://schemas.openxmlformats.org/drawingml/2006/table">
                <a:tbl>
                  <a:tblPr firstRow="1" bandRow="1">
                    <a:tableStyleId>{5C22544A-7EE6-4342-B048-85BDC9FD1C3A}</a:tableStyleId>
                  </a:tblPr>
                  <a:tblGrid>
                    <a:gridCol w="657376">
                      <a:extLst>
                        <a:ext uri="{9D8B030D-6E8A-4147-A177-3AD203B41FA5}">
                          <a16:colId xmlns:a16="http://schemas.microsoft.com/office/drawing/2014/main" val="20000"/>
                        </a:ext>
                      </a:extLst>
                    </a:gridCol>
                  </a:tblGrid>
                  <a:tr h="457200">
                    <a:tc>
                      <a:txBody>
                        <a:bodyPr/>
                        <a:lstStyle/>
                        <a:p>
                          <a:endParaRPr lang="en-US"/>
                        </a:p>
                      </a:txBody>
                      <a:tcPr>
                        <a:blipFill>
                          <a:blip r:embed="rId4"/>
                          <a:stretch>
                            <a:fillRect l="-917" t="-1333" r="-3670" b="-432000"/>
                          </a:stretch>
                        </a:blipFill>
                      </a:tcPr>
                    </a:tc>
                    <a:extLst>
                      <a:ext uri="{0D108BD9-81ED-4DB2-BD59-A6C34878D82A}">
                        <a16:rowId xmlns:a16="http://schemas.microsoft.com/office/drawing/2014/main" val="10000"/>
                      </a:ext>
                    </a:extLst>
                  </a:tr>
                  <a:tr h="457200">
                    <a:tc>
                      <a:txBody>
                        <a:bodyPr/>
                        <a:lstStyle/>
                        <a:p>
                          <a:pPr algn="ctr"/>
                          <a:r>
                            <a:rPr lang="en-GB" sz="2400" dirty="0"/>
                            <a:t>1</a:t>
                          </a:r>
                        </a:p>
                      </a:txBody>
                      <a:tcPr/>
                    </a:tc>
                    <a:extLst>
                      <a:ext uri="{0D108BD9-81ED-4DB2-BD59-A6C34878D82A}">
                        <a16:rowId xmlns:a16="http://schemas.microsoft.com/office/drawing/2014/main" val="10001"/>
                      </a:ext>
                    </a:extLst>
                  </a:tr>
                  <a:tr h="457200">
                    <a:tc>
                      <a:txBody>
                        <a:bodyPr/>
                        <a:lstStyle/>
                        <a:p>
                          <a:pPr algn="ctr"/>
                          <a:r>
                            <a:rPr lang="en-GB" sz="2400" dirty="0"/>
                            <a:t>1</a:t>
                          </a:r>
                        </a:p>
                      </a:txBody>
                      <a:tcPr/>
                    </a:tc>
                    <a:extLst>
                      <a:ext uri="{0D108BD9-81ED-4DB2-BD59-A6C34878D82A}">
                        <a16:rowId xmlns:a16="http://schemas.microsoft.com/office/drawing/2014/main" val="10002"/>
                      </a:ext>
                    </a:extLst>
                  </a:tr>
                  <a:tr h="457200">
                    <a:tc>
                      <a:txBody>
                        <a:bodyPr/>
                        <a:lstStyle/>
                        <a:p>
                          <a:pPr algn="ctr"/>
                          <a:r>
                            <a:rPr lang="en-GB" sz="2400" dirty="0"/>
                            <a:t>0</a:t>
                          </a:r>
                        </a:p>
                      </a:txBody>
                      <a:tcPr/>
                    </a:tc>
                    <a:extLst>
                      <a:ext uri="{0D108BD9-81ED-4DB2-BD59-A6C34878D82A}">
                        <a16:rowId xmlns:a16="http://schemas.microsoft.com/office/drawing/2014/main" val="10003"/>
                      </a:ext>
                    </a:extLst>
                  </a:tr>
                  <a:tr h="457200">
                    <a:tc>
                      <a:txBody>
                        <a:bodyPr/>
                        <a:lstStyle/>
                        <a:p>
                          <a:pPr algn="ctr"/>
                          <a:r>
                            <a:rPr lang="en-GB" sz="2400" dirty="0"/>
                            <a:t>0</a:t>
                          </a:r>
                        </a:p>
                      </a:txBody>
                      <a:tcPr/>
                    </a:tc>
                    <a:extLst>
                      <a:ext uri="{0D108BD9-81ED-4DB2-BD59-A6C34878D82A}">
                        <a16:rowId xmlns:a16="http://schemas.microsoft.com/office/drawing/2014/main" val="10004"/>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14" name="Table 13">
                <a:extLst>
                  <a:ext uri="{FF2B5EF4-FFF2-40B4-BE49-F238E27FC236}">
                    <a16:creationId xmlns:a16="http://schemas.microsoft.com/office/drawing/2014/main" id="{9B96FE54-BF6B-463B-84EB-973FFA577669}"/>
                  </a:ext>
                </a:extLst>
              </p:cNvPr>
              <p:cNvGraphicFramePr>
                <a:graphicFrameLocks noGrp="1"/>
              </p:cNvGraphicFramePr>
              <p:nvPr/>
            </p:nvGraphicFramePr>
            <p:xfrm>
              <a:off x="2420250" y="2732926"/>
              <a:ext cx="657376" cy="2286000"/>
            </p:xfrm>
            <a:graphic>
              <a:graphicData uri="http://schemas.openxmlformats.org/drawingml/2006/table">
                <a:tbl>
                  <a:tblPr firstRow="1" bandRow="1">
                    <a:tableStyleId>{5C22544A-7EE6-4342-B048-85BDC9FD1C3A}</a:tableStyleId>
                  </a:tblPr>
                  <a:tblGrid>
                    <a:gridCol w="657376">
                      <a:extLst>
                        <a:ext uri="{9D8B030D-6E8A-4147-A177-3AD203B41FA5}">
                          <a16:colId xmlns:a16="http://schemas.microsoft.com/office/drawing/2014/main" val="20000"/>
                        </a:ext>
                      </a:extLst>
                    </a:gridCol>
                  </a:tblGrid>
                  <a:tr h="441960">
                    <a:tc>
                      <a:txBody>
                        <a:bodyPr/>
                        <a:lstStyle/>
                        <a:p>
                          <a:pPr algn="ctr"/>
                          <a14:m>
                            <m:oMathPara xmlns:m="http://schemas.openxmlformats.org/officeDocument/2006/math">
                              <m:oMathParaPr>
                                <m:jc m:val="centerGroup"/>
                              </m:oMathParaPr>
                              <m:oMath xmlns:m="http://schemas.openxmlformats.org/officeDocument/2006/math">
                                <m:r>
                                  <a:rPr lang="en-GB" sz="2400" b="1" i="1" smtClean="0">
                                    <a:solidFill>
                                      <a:schemeClr val="tx1"/>
                                    </a:solidFill>
                                    <a:latin typeface="Cambria Math" panose="02040503050406030204" pitchFamily="18" charset="0"/>
                                    <a:ea typeface="Cambria Math" panose="02040503050406030204" pitchFamily="18" charset="0"/>
                                  </a:rPr>
                                  <m:t>¬</m:t>
                                </m:r>
                                <m:r>
                                  <a:rPr lang="en-GB" sz="2400" b="1" i="1" smtClean="0">
                                    <a:solidFill>
                                      <a:schemeClr val="tx1"/>
                                    </a:solidFill>
                                    <a:latin typeface="Cambria Math" panose="02040503050406030204" pitchFamily="18" charset="0"/>
                                    <a:ea typeface="Cambria Math" panose="02040503050406030204" pitchFamily="18" charset="0"/>
                                  </a:rPr>
                                  <m:t>𝒒</m:t>
                                </m:r>
                              </m:oMath>
                            </m:oMathPara>
                          </a14:m>
                          <a:endParaRPr lang="en-GB" sz="2400" dirty="0">
                            <a:solidFill>
                              <a:schemeClr val="tx1"/>
                            </a:solidFill>
                          </a:endParaRPr>
                        </a:p>
                      </a:txBody>
                      <a:tcPr/>
                    </a:tc>
                    <a:extLst>
                      <a:ext uri="{0D108BD9-81ED-4DB2-BD59-A6C34878D82A}">
                        <a16:rowId xmlns:a16="http://schemas.microsoft.com/office/drawing/2014/main" val="10000"/>
                      </a:ext>
                    </a:extLst>
                  </a:tr>
                  <a:tr h="441960">
                    <a:tc>
                      <a:txBody>
                        <a:bodyPr/>
                        <a:lstStyle/>
                        <a:p>
                          <a:pPr algn="ctr"/>
                          <a:r>
                            <a:rPr lang="en-GB" sz="2400" dirty="0"/>
                            <a:t>1</a:t>
                          </a:r>
                        </a:p>
                      </a:txBody>
                      <a:tcPr/>
                    </a:tc>
                    <a:extLst>
                      <a:ext uri="{0D108BD9-81ED-4DB2-BD59-A6C34878D82A}">
                        <a16:rowId xmlns:a16="http://schemas.microsoft.com/office/drawing/2014/main" val="10001"/>
                      </a:ext>
                    </a:extLst>
                  </a:tr>
                  <a:tr h="441960">
                    <a:tc>
                      <a:txBody>
                        <a:bodyPr/>
                        <a:lstStyle/>
                        <a:p>
                          <a:pPr algn="ctr"/>
                          <a:r>
                            <a:rPr lang="en-GB" sz="2400" dirty="0"/>
                            <a:t>0</a:t>
                          </a:r>
                        </a:p>
                      </a:txBody>
                      <a:tcPr/>
                    </a:tc>
                    <a:extLst>
                      <a:ext uri="{0D108BD9-81ED-4DB2-BD59-A6C34878D82A}">
                        <a16:rowId xmlns:a16="http://schemas.microsoft.com/office/drawing/2014/main" val="10002"/>
                      </a:ext>
                    </a:extLst>
                  </a:tr>
                  <a:tr h="441960">
                    <a:tc>
                      <a:txBody>
                        <a:bodyPr/>
                        <a:lstStyle/>
                        <a:p>
                          <a:pPr algn="ctr"/>
                          <a:r>
                            <a:rPr lang="en-GB" sz="2400" dirty="0"/>
                            <a:t>1</a:t>
                          </a:r>
                        </a:p>
                      </a:txBody>
                      <a:tcPr/>
                    </a:tc>
                    <a:extLst>
                      <a:ext uri="{0D108BD9-81ED-4DB2-BD59-A6C34878D82A}">
                        <a16:rowId xmlns:a16="http://schemas.microsoft.com/office/drawing/2014/main" val="10003"/>
                      </a:ext>
                    </a:extLst>
                  </a:tr>
                  <a:tr h="441960">
                    <a:tc>
                      <a:txBody>
                        <a:bodyPr/>
                        <a:lstStyle/>
                        <a:p>
                          <a:pPr algn="ctr"/>
                          <a:r>
                            <a:rPr lang="en-GB" sz="2400" dirty="0"/>
                            <a:t>0</a:t>
                          </a:r>
                        </a:p>
                      </a:txBody>
                      <a:tcPr/>
                    </a:tc>
                    <a:extLst>
                      <a:ext uri="{0D108BD9-81ED-4DB2-BD59-A6C34878D82A}">
                        <a16:rowId xmlns:a16="http://schemas.microsoft.com/office/drawing/2014/main" val="10004"/>
                      </a:ext>
                    </a:extLst>
                  </a:tr>
                </a:tbl>
              </a:graphicData>
            </a:graphic>
          </p:graphicFrame>
        </mc:Choice>
        <mc:Fallback xmlns="">
          <p:graphicFrame>
            <p:nvGraphicFramePr>
              <p:cNvPr id="14" name="Table 13">
                <a:extLst>
                  <a:ext uri="{FF2B5EF4-FFF2-40B4-BE49-F238E27FC236}">
                    <a16:creationId xmlns:a16="http://schemas.microsoft.com/office/drawing/2014/main" id="{9B96FE54-BF6B-463B-84EB-973FFA577669}"/>
                  </a:ext>
                </a:extLst>
              </p:cNvPr>
              <p:cNvGraphicFramePr>
                <a:graphicFrameLocks noGrp="1"/>
              </p:cNvGraphicFramePr>
              <p:nvPr>
                <p:extLst/>
              </p:nvPr>
            </p:nvGraphicFramePr>
            <p:xfrm>
              <a:off x="2420250" y="2732926"/>
              <a:ext cx="657376" cy="2286000"/>
            </p:xfrm>
            <a:graphic>
              <a:graphicData uri="http://schemas.openxmlformats.org/drawingml/2006/table">
                <a:tbl>
                  <a:tblPr firstRow="1" bandRow="1">
                    <a:tableStyleId>{5C22544A-7EE6-4342-B048-85BDC9FD1C3A}</a:tableStyleId>
                  </a:tblPr>
                  <a:tblGrid>
                    <a:gridCol w="657376">
                      <a:extLst>
                        <a:ext uri="{9D8B030D-6E8A-4147-A177-3AD203B41FA5}">
                          <a16:colId xmlns:a16="http://schemas.microsoft.com/office/drawing/2014/main" val="20000"/>
                        </a:ext>
                      </a:extLst>
                    </a:gridCol>
                  </a:tblGrid>
                  <a:tr h="457200">
                    <a:tc>
                      <a:txBody>
                        <a:bodyPr/>
                        <a:lstStyle/>
                        <a:p>
                          <a:endParaRPr lang="en-US"/>
                        </a:p>
                      </a:txBody>
                      <a:tcPr>
                        <a:blipFill>
                          <a:blip r:embed="rId5"/>
                          <a:stretch>
                            <a:fillRect l="-1852" t="-1333" r="-4630" b="-430667"/>
                          </a:stretch>
                        </a:blipFill>
                      </a:tcPr>
                    </a:tc>
                    <a:extLst>
                      <a:ext uri="{0D108BD9-81ED-4DB2-BD59-A6C34878D82A}">
                        <a16:rowId xmlns:a16="http://schemas.microsoft.com/office/drawing/2014/main" val="10000"/>
                      </a:ext>
                    </a:extLst>
                  </a:tr>
                  <a:tr h="457200">
                    <a:tc>
                      <a:txBody>
                        <a:bodyPr/>
                        <a:lstStyle/>
                        <a:p>
                          <a:pPr algn="ctr"/>
                          <a:r>
                            <a:rPr lang="en-GB" sz="2400" dirty="0"/>
                            <a:t>1</a:t>
                          </a:r>
                        </a:p>
                      </a:txBody>
                      <a:tcPr/>
                    </a:tc>
                    <a:extLst>
                      <a:ext uri="{0D108BD9-81ED-4DB2-BD59-A6C34878D82A}">
                        <a16:rowId xmlns:a16="http://schemas.microsoft.com/office/drawing/2014/main" val="10001"/>
                      </a:ext>
                    </a:extLst>
                  </a:tr>
                  <a:tr h="457200">
                    <a:tc>
                      <a:txBody>
                        <a:bodyPr/>
                        <a:lstStyle/>
                        <a:p>
                          <a:pPr algn="ctr"/>
                          <a:r>
                            <a:rPr lang="en-GB" sz="2400" dirty="0"/>
                            <a:t>0</a:t>
                          </a:r>
                        </a:p>
                      </a:txBody>
                      <a:tcPr/>
                    </a:tc>
                    <a:extLst>
                      <a:ext uri="{0D108BD9-81ED-4DB2-BD59-A6C34878D82A}">
                        <a16:rowId xmlns:a16="http://schemas.microsoft.com/office/drawing/2014/main" val="10002"/>
                      </a:ext>
                    </a:extLst>
                  </a:tr>
                  <a:tr h="457200">
                    <a:tc>
                      <a:txBody>
                        <a:bodyPr/>
                        <a:lstStyle/>
                        <a:p>
                          <a:pPr algn="ctr"/>
                          <a:r>
                            <a:rPr lang="en-GB" sz="2400" dirty="0"/>
                            <a:t>1</a:t>
                          </a:r>
                        </a:p>
                      </a:txBody>
                      <a:tcPr/>
                    </a:tc>
                    <a:extLst>
                      <a:ext uri="{0D108BD9-81ED-4DB2-BD59-A6C34878D82A}">
                        <a16:rowId xmlns:a16="http://schemas.microsoft.com/office/drawing/2014/main" val="10003"/>
                      </a:ext>
                    </a:extLst>
                  </a:tr>
                  <a:tr h="457200">
                    <a:tc>
                      <a:txBody>
                        <a:bodyPr/>
                        <a:lstStyle/>
                        <a:p>
                          <a:pPr algn="ctr"/>
                          <a:r>
                            <a:rPr lang="en-GB" sz="2400" dirty="0"/>
                            <a:t>0</a:t>
                          </a:r>
                        </a:p>
                      </a:txBody>
                      <a:tcPr/>
                    </a:tc>
                    <a:extLst>
                      <a:ext uri="{0D108BD9-81ED-4DB2-BD59-A6C34878D82A}">
                        <a16:rowId xmlns:a16="http://schemas.microsoft.com/office/drawing/2014/main" val="10004"/>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15" name="Table 14">
                <a:extLst>
                  <a:ext uri="{FF2B5EF4-FFF2-40B4-BE49-F238E27FC236}">
                    <a16:creationId xmlns:a16="http://schemas.microsoft.com/office/drawing/2014/main" id="{7FA5BCEB-E25F-4026-9A77-F21BDAF225DF}"/>
                  </a:ext>
                </a:extLst>
              </p:cNvPr>
              <p:cNvGraphicFramePr>
                <a:graphicFrameLocks noGrp="1"/>
              </p:cNvGraphicFramePr>
              <p:nvPr/>
            </p:nvGraphicFramePr>
            <p:xfrm>
              <a:off x="3104854" y="2732926"/>
              <a:ext cx="1827598" cy="2286000"/>
            </p:xfrm>
            <a:graphic>
              <a:graphicData uri="http://schemas.openxmlformats.org/drawingml/2006/table">
                <a:tbl>
                  <a:tblPr firstRow="1" bandRow="1">
                    <a:tableStyleId>{5C22544A-7EE6-4342-B048-85BDC9FD1C3A}</a:tableStyleId>
                  </a:tblPr>
                  <a:tblGrid>
                    <a:gridCol w="1827598">
                      <a:extLst>
                        <a:ext uri="{9D8B030D-6E8A-4147-A177-3AD203B41FA5}">
                          <a16:colId xmlns:a16="http://schemas.microsoft.com/office/drawing/2014/main" val="20000"/>
                        </a:ext>
                      </a:extLst>
                    </a:gridCol>
                  </a:tblGrid>
                  <a:tr h="441960">
                    <a:tc>
                      <a:txBody>
                        <a:bodyPr/>
                        <a:lstStyle/>
                        <a:p>
                          <a:pPr algn="ctr"/>
                          <a14:m>
                            <m:oMathPara xmlns:m="http://schemas.openxmlformats.org/officeDocument/2006/math">
                              <m:oMathParaPr>
                                <m:jc m:val="centerGroup"/>
                              </m:oMathParaPr>
                              <m:oMath xmlns:m="http://schemas.openxmlformats.org/officeDocument/2006/math">
                                <m:d>
                                  <m:d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dP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𝑝</m:t>
                                    </m:r>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 ¬</m:t>
                                    </m:r>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𝑞</m:t>
                                    </m:r>
                                  </m:e>
                                </m:d>
                              </m:oMath>
                            </m:oMathPara>
                          </a14:m>
                          <a:endParaRPr lang="en-GB" sz="2400" dirty="0">
                            <a:solidFill>
                              <a:schemeClr val="tx1"/>
                            </a:solidFill>
                          </a:endParaRPr>
                        </a:p>
                      </a:txBody>
                      <a:tcPr/>
                    </a:tc>
                    <a:extLst>
                      <a:ext uri="{0D108BD9-81ED-4DB2-BD59-A6C34878D82A}">
                        <a16:rowId xmlns:a16="http://schemas.microsoft.com/office/drawing/2014/main" val="10000"/>
                      </a:ext>
                    </a:extLst>
                  </a:tr>
                  <a:tr h="441960">
                    <a:tc>
                      <a:txBody>
                        <a:bodyPr/>
                        <a:lstStyle/>
                        <a:p>
                          <a:pPr algn="ctr"/>
                          <a:r>
                            <a:rPr lang="en-GB" sz="2400" dirty="0"/>
                            <a:t>1</a:t>
                          </a:r>
                        </a:p>
                      </a:txBody>
                      <a:tcPr/>
                    </a:tc>
                    <a:extLst>
                      <a:ext uri="{0D108BD9-81ED-4DB2-BD59-A6C34878D82A}">
                        <a16:rowId xmlns:a16="http://schemas.microsoft.com/office/drawing/2014/main" val="10001"/>
                      </a:ext>
                    </a:extLst>
                  </a:tr>
                  <a:tr h="441960">
                    <a:tc>
                      <a:txBody>
                        <a:bodyPr/>
                        <a:lstStyle/>
                        <a:p>
                          <a:pPr algn="ctr"/>
                          <a:r>
                            <a:rPr lang="en-GB" sz="2400" dirty="0"/>
                            <a:t>1</a:t>
                          </a:r>
                        </a:p>
                      </a:txBody>
                      <a:tcPr/>
                    </a:tc>
                    <a:extLst>
                      <a:ext uri="{0D108BD9-81ED-4DB2-BD59-A6C34878D82A}">
                        <a16:rowId xmlns:a16="http://schemas.microsoft.com/office/drawing/2014/main" val="10002"/>
                      </a:ext>
                    </a:extLst>
                  </a:tr>
                  <a:tr h="441960">
                    <a:tc>
                      <a:txBody>
                        <a:bodyPr/>
                        <a:lstStyle/>
                        <a:p>
                          <a:pPr algn="ctr"/>
                          <a:r>
                            <a:rPr lang="en-GB" sz="2400" dirty="0"/>
                            <a:t>1</a:t>
                          </a:r>
                        </a:p>
                      </a:txBody>
                      <a:tcPr/>
                    </a:tc>
                    <a:extLst>
                      <a:ext uri="{0D108BD9-81ED-4DB2-BD59-A6C34878D82A}">
                        <a16:rowId xmlns:a16="http://schemas.microsoft.com/office/drawing/2014/main" val="10003"/>
                      </a:ext>
                    </a:extLst>
                  </a:tr>
                  <a:tr h="441960">
                    <a:tc>
                      <a:txBody>
                        <a:bodyPr/>
                        <a:lstStyle/>
                        <a:p>
                          <a:pPr algn="ctr"/>
                          <a:r>
                            <a:rPr lang="en-GB" sz="2400" dirty="0"/>
                            <a:t>0</a:t>
                          </a:r>
                        </a:p>
                      </a:txBody>
                      <a:tcPr/>
                    </a:tc>
                    <a:extLst>
                      <a:ext uri="{0D108BD9-81ED-4DB2-BD59-A6C34878D82A}">
                        <a16:rowId xmlns:a16="http://schemas.microsoft.com/office/drawing/2014/main" val="10004"/>
                      </a:ext>
                    </a:extLst>
                  </a:tr>
                </a:tbl>
              </a:graphicData>
            </a:graphic>
          </p:graphicFrame>
        </mc:Choice>
        <mc:Fallback xmlns="">
          <p:graphicFrame>
            <p:nvGraphicFramePr>
              <p:cNvPr id="15" name="Table 14">
                <a:extLst>
                  <a:ext uri="{FF2B5EF4-FFF2-40B4-BE49-F238E27FC236}">
                    <a16:creationId xmlns:a16="http://schemas.microsoft.com/office/drawing/2014/main" id="{7FA5BCEB-E25F-4026-9A77-F21BDAF225DF}"/>
                  </a:ext>
                </a:extLst>
              </p:cNvPr>
              <p:cNvGraphicFramePr>
                <a:graphicFrameLocks noGrp="1"/>
              </p:cNvGraphicFramePr>
              <p:nvPr>
                <p:extLst/>
              </p:nvPr>
            </p:nvGraphicFramePr>
            <p:xfrm>
              <a:off x="3104854" y="2732926"/>
              <a:ext cx="1827598" cy="2286000"/>
            </p:xfrm>
            <a:graphic>
              <a:graphicData uri="http://schemas.openxmlformats.org/drawingml/2006/table">
                <a:tbl>
                  <a:tblPr firstRow="1" bandRow="1">
                    <a:tableStyleId>{5C22544A-7EE6-4342-B048-85BDC9FD1C3A}</a:tableStyleId>
                  </a:tblPr>
                  <a:tblGrid>
                    <a:gridCol w="1827598">
                      <a:extLst>
                        <a:ext uri="{9D8B030D-6E8A-4147-A177-3AD203B41FA5}">
                          <a16:colId xmlns:a16="http://schemas.microsoft.com/office/drawing/2014/main" val="20000"/>
                        </a:ext>
                      </a:extLst>
                    </a:gridCol>
                  </a:tblGrid>
                  <a:tr h="457200">
                    <a:tc>
                      <a:txBody>
                        <a:bodyPr/>
                        <a:lstStyle/>
                        <a:p>
                          <a:endParaRPr lang="en-US"/>
                        </a:p>
                      </a:txBody>
                      <a:tcPr>
                        <a:blipFill>
                          <a:blip r:embed="rId6"/>
                          <a:stretch>
                            <a:fillRect l="-332" t="-1333" r="-1329" b="-430667"/>
                          </a:stretch>
                        </a:blipFill>
                      </a:tcPr>
                    </a:tc>
                    <a:extLst>
                      <a:ext uri="{0D108BD9-81ED-4DB2-BD59-A6C34878D82A}">
                        <a16:rowId xmlns:a16="http://schemas.microsoft.com/office/drawing/2014/main" val="10000"/>
                      </a:ext>
                    </a:extLst>
                  </a:tr>
                  <a:tr h="457200">
                    <a:tc>
                      <a:txBody>
                        <a:bodyPr/>
                        <a:lstStyle/>
                        <a:p>
                          <a:pPr algn="ctr"/>
                          <a:r>
                            <a:rPr lang="en-GB" sz="2400" dirty="0"/>
                            <a:t>1</a:t>
                          </a:r>
                        </a:p>
                      </a:txBody>
                      <a:tcPr/>
                    </a:tc>
                    <a:extLst>
                      <a:ext uri="{0D108BD9-81ED-4DB2-BD59-A6C34878D82A}">
                        <a16:rowId xmlns:a16="http://schemas.microsoft.com/office/drawing/2014/main" val="10001"/>
                      </a:ext>
                    </a:extLst>
                  </a:tr>
                  <a:tr h="457200">
                    <a:tc>
                      <a:txBody>
                        <a:bodyPr/>
                        <a:lstStyle/>
                        <a:p>
                          <a:pPr algn="ctr"/>
                          <a:r>
                            <a:rPr lang="en-GB" sz="2400" dirty="0"/>
                            <a:t>1</a:t>
                          </a:r>
                        </a:p>
                      </a:txBody>
                      <a:tcPr/>
                    </a:tc>
                    <a:extLst>
                      <a:ext uri="{0D108BD9-81ED-4DB2-BD59-A6C34878D82A}">
                        <a16:rowId xmlns:a16="http://schemas.microsoft.com/office/drawing/2014/main" val="10002"/>
                      </a:ext>
                    </a:extLst>
                  </a:tr>
                  <a:tr h="457200">
                    <a:tc>
                      <a:txBody>
                        <a:bodyPr/>
                        <a:lstStyle/>
                        <a:p>
                          <a:pPr algn="ctr"/>
                          <a:r>
                            <a:rPr lang="en-GB" sz="2400" dirty="0"/>
                            <a:t>1</a:t>
                          </a:r>
                        </a:p>
                      </a:txBody>
                      <a:tcPr/>
                    </a:tc>
                    <a:extLst>
                      <a:ext uri="{0D108BD9-81ED-4DB2-BD59-A6C34878D82A}">
                        <a16:rowId xmlns:a16="http://schemas.microsoft.com/office/drawing/2014/main" val="10003"/>
                      </a:ext>
                    </a:extLst>
                  </a:tr>
                  <a:tr h="457200">
                    <a:tc>
                      <a:txBody>
                        <a:bodyPr/>
                        <a:lstStyle/>
                        <a:p>
                          <a:pPr algn="ctr"/>
                          <a:r>
                            <a:rPr lang="en-GB" sz="2400" dirty="0"/>
                            <a:t>0</a:t>
                          </a:r>
                        </a:p>
                      </a:txBody>
                      <a:tcPr/>
                    </a:tc>
                    <a:extLst>
                      <a:ext uri="{0D108BD9-81ED-4DB2-BD59-A6C34878D82A}">
                        <a16:rowId xmlns:a16="http://schemas.microsoft.com/office/drawing/2014/main" val="10004"/>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17" name="Table 16">
                <a:extLst>
                  <a:ext uri="{FF2B5EF4-FFF2-40B4-BE49-F238E27FC236}">
                    <a16:creationId xmlns:a16="http://schemas.microsoft.com/office/drawing/2014/main" id="{99B72A87-3CF1-4BB7-B614-DE6110524130}"/>
                  </a:ext>
                </a:extLst>
              </p:cNvPr>
              <p:cNvGraphicFramePr>
                <a:graphicFrameLocks noGrp="1"/>
              </p:cNvGraphicFramePr>
              <p:nvPr/>
            </p:nvGraphicFramePr>
            <p:xfrm>
              <a:off x="4953000" y="2743200"/>
              <a:ext cx="1676400" cy="2286000"/>
            </p:xfrm>
            <a:graphic>
              <a:graphicData uri="http://schemas.openxmlformats.org/drawingml/2006/table">
                <a:tbl>
                  <a:tblPr firstRow="1" bandRow="1">
                    <a:tableStyleId>{5C22544A-7EE6-4342-B048-85BDC9FD1C3A}</a:tableStyleId>
                  </a:tblPr>
                  <a:tblGrid>
                    <a:gridCol w="1676400">
                      <a:extLst>
                        <a:ext uri="{9D8B030D-6E8A-4147-A177-3AD203B41FA5}">
                          <a16:colId xmlns:a16="http://schemas.microsoft.com/office/drawing/2014/main" val="20000"/>
                        </a:ext>
                      </a:extLst>
                    </a:gridCol>
                  </a:tblGrid>
                  <a:tr h="441960">
                    <a:tc>
                      <a:txBody>
                        <a:bodyPr/>
                        <a:lstStyle/>
                        <a:p>
                          <a:pPr algn="ctr"/>
                          <a14:m>
                            <m:oMathPara xmlns:m="http://schemas.openxmlformats.org/officeDocument/2006/math">
                              <m:oMathParaPr>
                                <m:jc m:val="centerGroup"/>
                              </m:oMathParaPr>
                              <m:oMath xmlns:m="http://schemas.openxmlformats.org/officeDocument/2006/math">
                                <m:d>
                                  <m:dPr>
                                    <m:ctrlPr>
                                      <a:rPr kumimoji="0" lang="en-US" sz="24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ctrlPr>
                                  </m:dPr>
                                  <m:e>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𝑝</m:t>
                                    </m:r>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r>
                                      <a:rPr kumimoji="0" lang="en-US" sz="24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𝑞</m:t>
                                    </m:r>
                                  </m:e>
                                </m:d>
                              </m:oMath>
                            </m:oMathPara>
                          </a14:m>
                          <a:endParaRPr lang="en-GB" sz="2400" dirty="0">
                            <a:solidFill>
                              <a:schemeClr val="tx1"/>
                            </a:solidFill>
                          </a:endParaRPr>
                        </a:p>
                      </a:txBody>
                      <a:tcPr/>
                    </a:tc>
                    <a:extLst>
                      <a:ext uri="{0D108BD9-81ED-4DB2-BD59-A6C34878D82A}">
                        <a16:rowId xmlns:a16="http://schemas.microsoft.com/office/drawing/2014/main" val="10000"/>
                      </a:ext>
                    </a:extLst>
                  </a:tr>
                  <a:tr h="441960">
                    <a:tc>
                      <a:txBody>
                        <a:bodyPr/>
                        <a:lstStyle/>
                        <a:p>
                          <a:pPr algn="ctr"/>
                          <a:r>
                            <a:rPr lang="en-GB" sz="2400" dirty="0"/>
                            <a:t>0</a:t>
                          </a:r>
                        </a:p>
                      </a:txBody>
                      <a:tcPr/>
                    </a:tc>
                    <a:extLst>
                      <a:ext uri="{0D108BD9-81ED-4DB2-BD59-A6C34878D82A}">
                        <a16:rowId xmlns:a16="http://schemas.microsoft.com/office/drawing/2014/main" val="10001"/>
                      </a:ext>
                    </a:extLst>
                  </a:tr>
                  <a:tr h="441960">
                    <a:tc>
                      <a:txBody>
                        <a:bodyPr/>
                        <a:lstStyle/>
                        <a:p>
                          <a:pPr algn="ctr"/>
                          <a:r>
                            <a:rPr lang="en-GB" sz="2400" dirty="0"/>
                            <a:t>1</a:t>
                          </a:r>
                        </a:p>
                      </a:txBody>
                      <a:tcPr/>
                    </a:tc>
                    <a:extLst>
                      <a:ext uri="{0D108BD9-81ED-4DB2-BD59-A6C34878D82A}">
                        <a16:rowId xmlns:a16="http://schemas.microsoft.com/office/drawing/2014/main" val="10002"/>
                      </a:ext>
                    </a:extLst>
                  </a:tr>
                  <a:tr h="441960">
                    <a:tc>
                      <a:txBody>
                        <a:bodyPr/>
                        <a:lstStyle/>
                        <a:p>
                          <a:pPr algn="ctr"/>
                          <a:r>
                            <a:rPr lang="en-GB" sz="2400" dirty="0"/>
                            <a:t>1</a:t>
                          </a:r>
                        </a:p>
                      </a:txBody>
                      <a:tcPr/>
                    </a:tc>
                    <a:extLst>
                      <a:ext uri="{0D108BD9-81ED-4DB2-BD59-A6C34878D82A}">
                        <a16:rowId xmlns:a16="http://schemas.microsoft.com/office/drawing/2014/main" val="10003"/>
                      </a:ext>
                    </a:extLst>
                  </a:tr>
                  <a:tr h="441960">
                    <a:tc>
                      <a:txBody>
                        <a:bodyPr/>
                        <a:lstStyle/>
                        <a:p>
                          <a:pPr algn="ctr"/>
                          <a:r>
                            <a:rPr lang="en-GB" sz="2400" dirty="0"/>
                            <a:t>0</a:t>
                          </a:r>
                        </a:p>
                      </a:txBody>
                      <a:tcPr/>
                    </a:tc>
                    <a:extLst>
                      <a:ext uri="{0D108BD9-81ED-4DB2-BD59-A6C34878D82A}">
                        <a16:rowId xmlns:a16="http://schemas.microsoft.com/office/drawing/2014/main" val="10004"/>
                      </a:ext>
                    </a:extLst>
                  </a:tr>
                </a:tbl>
              </a:graphicData>
            </a:graphic>
          </p:graphicFrame>
        </mc:Choice>
        <mc:Fallback xmlns="">
          <p:graphicFrame>
            <p:nvGraphicFramePr>
              <p:cNvPr id="17" name="Table 16">
                <a:extLst>
                  <a:ext uri="{FF2B5EF4-FFF2-40B4-BE49-F238E27FC236}">
                    <a16:creationId xmlns:a16="http://schemas.microsoft.com/office/drawing/2014/main" id="{99B72A87-3CF1-4BB7-B614-DE6110524130}"/>
                  </a:ext>
                </a:extLst>
              </p:cNvPr>
              <p:cNvGraphicFramePr>
                <a:graphicFrameLocks noGrp="1"/>
              </p:cNvGraphicFramePr>
              <p:nvPr>
                <p:extLst/>
              </p:nvPr>
            </p:nvGraphicFramePr>
            <p:xfrm>
              <a:off x="4953000" y="2743200"/>
              <a:ext cx="1676400" cy="2286000"/>
            </p:xfrm>
            <a:graphic>
              <a:graphicData uri="http://schemas.openxmlformats.org/drawingml/2006/table">
                <a:tbl>
                  <a:tblPr firstRow="1" bandRow="1">
                    <a:tableStyleId>{5C22544A-7EE6-4342-B048-85BDC9FD1C3A}</a:tableStyleId>
                  </a:tblPr>
                  <a:tblGrid>
                    <a:gridCol w="1676400">
                      <a:extLst>
                        <a:ext uri="{9D8B030D-6E8A-4147-A177-3AD203B41FA5}">
                          <a16:colId xmlns:a16="http://schemas.microsoft.com/office/drawing/2014/main" val="20000"/>
                        </a:ext>
                      </a:extLst>
                    </a:gridCol>
                  </a:tblGrid>
                  <a:tr h="457200">
                    <a:tc>
                      <a:txBody>
                        <a:bodyPr/>
                        <a:lstStyle/>
                        <a:p>
                          <a:endParaRPr lang="en-US"/>
                        </a:p>
                      </a:txBody>
                      <a:tcPr>
                        <a:blipFill>
                          <a:blip r:embed="rId7"/>
                          <a:stretch>
                            <a:fillRect l="-362" t="-2667" r="-1449" b="-430667"/>
                          </a:stretch>
                        </a:blipFill>
                      </a:tcPr>
                    </a:tc>
                    <a:extLst>
                      <a:ext uri="{0D108BD9-81ED-4DB2-BD59-A6C34878D82A}">
                        <a16:rowId xmlns:a16="http://schemas.microsoft.com/office/drawing/2014/main" val="10000"/>
                      </a:ext>
                    </a:extLst>
                  </a:tr>
                  <a:tr h="457200">
                    <a:tc>
                      <a:txBody>
                        <a:bodyPr/>
                        <a:lstStyle/>
                        <a:p>
                          <a:pPr algn="ctr"/>
                          <a:r>
                            <a:rPr lang="en-GB" sz="2400" dirty="0"/>
                            <a:t>0</a:t>
                          </a:r>
                        </a:p>
                      </a:txBody>
                      <a:tcPr/>
                    </a:tc>
                    <a:extLst>
                      <a:ext uri="{0D108BD9-81ED-4DB2-BD59-A6C34878D82A}">
                        <a16:rowId xmlns:a16="http://schemas.microsoft.com/office/drawing/2014/main" val="10001"/>
                      </a:ext>
                    </a:extLst>
                  </a:tr>
                  <a:tr h="457200">
                    <a:tc>
                      <a:txBody>
                        <a:bodyPr/>
                        <a:lstStyle/>
                        <a:p>
                          <a:pPr algn="ctr"/>
                          <a:r>
                            <a:rPr lang="en-GB" sz="2400" dirty="0"/>
                            <a:t>1</a:t>
                          </a:r>
                        </a:p>
                      </a:txBody>
                      <a:tcPr/>
                    </a:tc>
                    <a:extLst>
                      <a:ext uri="{0D108BD9-81ED-4DB2-BD59-A6C34878D82A}">
                        <a16:rowId xmlns:a16="http://schemas.microsoft.com/office/drawing/2014/main" val="10002"/>
                      </a:ext>
                    </a:extLst>
                  </a:tr>
                  <a:tr h="457200">
                    <a:tc>
                      <a:txBody>
                        <a:bodyPr/>
                        <a:lstStyle/>
                        <a:p>
                          <a:pPr algn="ctr"/>
                          <a:r>
                            <a:rPr lang="en-GB" sz="2400" dirty="0"/>
                            <a:t>1</a:t>
                          </a:r>
                        </a:p>
                      </a:txBody>
                      <a:tcPr/>
                    </a:tc>
                    <a:extLst>
                      <a:ext uri="{0D108BD9-81ED-4DB2-BD59-A6C34878D82A}">
                        <a16:rowId xmlns:a16="http://schemas.microsoft.com/office/drawing/2014/main" val="10003"/>
                      </a:ext>
                    </a:extLst>
                  </a:tr>
                  <a:tr h="457200">
                    <a:tc>
                      <a:txBody>
                        <a:bodyPr/>
                        <a:lstStyle/>
                        <a:p>
                          <a:pPr algn="ctr"/>
                          <a:r>
                            <a:rPr lang="en-GB" sz="2400" dirty="0"/>
                            <a:t>0</a:t>
                          </a:r>
                        </a:p>
                      </a:txBody>
                      <a:tcPr/>
                    </a:tc>
                    <a:extLst>
                      <a:ext uri="{0D108BD9-81ED-4DB2-BD59-A6C34878D82A}">
                        <a16:rowId xmlns:a16="http://schemas.microsoft.com/office/drawing/2014/main" val="10004"/>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18" name="Table 17">
                <a:extLst>
                  <a:ext uri="{FF2B5EF4-FFF2-40B4-BE49-F238E27FC236}">
                    <a16:creationId xmlns:a16="http://schemas.microsoft.com/office/drawing/2014/main" id="{E15AF616-B2EC-4696-B7DF-B8A565EB5E54}"/>
                  </a:ext>
                </a:extLst>
              </p:cNvPr>
              <p:cNvGraphicFramePr>
                <a:graphicFrameLocks noGrp="1"/>
              </p:cNvGraphicFramePr>
              <p:nvPr>
                <p:extLst>
                  <p:ext uri="{D42A27DB-BD31-4B8C-83A1-F6EECF244321}">
                    <p14:modId xmlns:p14="http://schemas.microsoft.com/office/powerpoint/2010/main" val="727064588"/>
                  </p:ext>
                </p:extLst>
              </p:nvPr>
            </p:nvGraphicFramePr>
            <p:xfrm>
              <a:off x="6649948" y="2722652"/>
              <a:ext cx="1092679" cy="2286000"/>
            </p:xfrm>
            <a:graphic>
              <a:graphicData uri="http://schemas.openxmlformats.org/drawingml/2006/table">
                <a:tbl>
                  <a:tblPr firstRow="1" bandRow="1">
                    <a:tableStyleId>{5C22544A-7EE6-4342-B048-85BDC9FD1C3A}</a:tableStyleId>
                  </a:tblPr>
                  <a:tblGrid>
                    <a:gridCol w="1092679">
                      <a:extLst>
                        <a:ext uri="{9D8B030D-6E8A-4147-A177-3AD203B41FA5}">
                          <a16:colId xmlns:a16="http://schemas.microsoft.com/office/drawing/2014/main" val="20000"/>
                        </a:ext>
                      </a:extLst>
                    </a:gridCol>
                  </a:tblGrid>
                  <a:tr h="441960">
                    <a:tc>
                      <a:txBody>
                        <a:bodyPr/>
                        <a:lstStyle/>
                        <a:p>
                          <a:pPr algn="ctr"/>
                          <a14:m>
                            <m:oMathPara xmlns:m="http://schemas.openxmlformats.org/officeDocument/2006/math">
                              <m:oMathParaPr>
                                <m:jc m:val="centerGroup"/>
                              </m:oMathParaPr>
                              <m:oMath xmlns:m="http://schemas.openxmlformats.org/officeDocument/2006/math">
                                <m:r>
                                  <a:rPr lang="en-US" sz="2400" b="1" i="1" smtClean="0">
                                    <a:solidFill>
                                      <a:schemeClr val="tx1"/>
                                    </a:solidFill>
                                    <a:latin typeface="Cambria Math" panose="02040503050406030204" pitchFamily="18" charset="0"/>
                                  </a:rPr>
                                  <m:t>𝒙</m:t>
                                </m:r>
                              </m:oMath>
                            </m:oMathPara>
                          </a14:m>
                          <a:endParaRPr lang="en-GB" sz="2400" dirty="0">
                            <a:solidFill>
                              <a:schemeClr val="tx1"/>
                            </a:solidFill>
                          </a:endParaRPr>
                        </a:p>
                      </a:txBody>
                      <a:tcPr/>
                    </a:tc>
                    <a:extLst>
                      <a:ext uri="{0D108BD9-81ED-4DB2-BD59-A6C34878D82A}">
                        <a16:rowId xmlns:a16="http://schemas.microsoft.com/office/drawing/2014/main" val="10000"/>
                      </a:ext>
                    </a:extLst>
                  </a:tr>
                  <a:tr h="441960">
                    <a:tc>
                      <a:txBody>
                        <a:bodyPr/>
                        <a:lstStyle/>
                        <a:p>
                          <a:pPr algn="ctr"/>
                          <a:r>
                            <a:rPr lang="en-GB" sz="2400" dirty="0"/>
                            <a:t>0</a:t>
                          </a:r>
                        </a:p>
                      </a:txBody>
                      <a:tcPr>
                        <a:solidFill>
                          <a:srgbClr val="00B0F0"/>
                        </a:solidFill>
                      </a:tcPr>
                    </a:tc>
                    <a:extLst>
                      <a:ext uri="{0D108BD9-81ED-4DB2-BD59-A6C34878D82A}">
                        <a16:rowId xmlns:a16="http://schemas.microsoft.com/office/drawing/2014/main" val="10001"/>
                      </a:ext>
                    </a:extLst>
                  </a:tr>
                  <a:tr h="441960">
                    <a:tc>
                      <a:txBody>
                        <a:bodyPr/>
                        <a:lstStyle/>
                        <a:p>
                          <a:pPr algn="ctr"/>
                          <a:r>
                            <a:rPr lang="en-GB" sz="2400" dirty="0"/>
                            <a:t>1</a:t>
                          </a:r>
                        </a:p>
                      </a:txBody>
                      <a:tcPr>
                        <a:solidFill>
                          <a:srgbClr val="00B0F0"/>
                        </a:solidFill>
                      </a:tcPr>
                    </a:tc>
                    <a:extLst>
                      <a:ext uri="{0D108BD9-81ED-4DB2-BD59-A6C34878D82A}">
                        <a16:rowId xmlns:a16="http://schemas.microsoft.com/office/drawing/2014/main" val="10002"/>
                      </a:ext>
                    </a:extLst>
                  </a:tr>
                  <a:tr h="441960">
                    <a:tc>
                      <a:txBody>
                        <a:bodyPr/>
                        <a:lstStyle/>
                        <a:p>
                          <a:pPr algn="ctr"/>
                          <a:r>
                            <a:rPr lang="en-GB" sz="2400" dirty="0"/>
                            <a:t>1</a:t>
                          </a:r>
                        </a:p>
                      </a:txBody>
                      <a:tcPr>
                        <a:solidFill>
                          <a:srgbClr val="00B0F0"/>
                        </a:solidFill>
                      </a:tcPr>
                    </a:tc>
                    <a:extLst>
                      <a:ext uri="{0D108BD9-81ED-4DB2-BD59-A6C34878D82A}">
                        <a16:rowId xmlns:a16="http://schemas.microsoft.com/office/drawing/2014/main" val="10003"/>
                      </a:ext>
                    </a:extLst>
                  </a:tr>
                  <a:tr h="441960">
                    <a:tc>
                      <a:txBody>
                        <a:bodyPr/>
                        <a:lstStyle/>
                        <a:p>
                          <a:pPr algn="ctr"/>
                          <a:r>
                            <a:rPr lang="en-GB" sz="2400" dirty="0"/>
                            <a:t>1</a:t>
                          </a:r>
                        </a:p>
                      </a:txBody>
                      <a:tcPr>
                        <a:solidFill>
                          <a:srgbClr val="00B0F0"/>
                        </a:solidFill>
                      </a:tcPr>
                    </a:tc>
                    <a:extLst>
                      <a:ext uri="{0D108BD9-81ED-4DB2-BD59-A6C34878D82A}">
                        <a16:rowId xmlns:a16="http://schemas.microsoft.com/office/drawing/2014/main" val="10004"/>
                      </a:ext>
                    </a:extLst>
                  </a:tr>
                </a:tbl>
              </a:graphicData>
            </a:graphic>
          </p:graphicFrame>
        </mc:Choice>
        <mc:Fallback xmlns="">
          <p:graphicFrame>
            <p:nvGraphicFramePr>
              <p:cNvPr id="18" name="Table 17">
                <a:extLst>
                  <a:ext uri="{FF2B5EF4-FFF2-40B4-BE49-F238E27FC236}">
                    <a16:creationId xmlns:a16="http://schemas.microsoft.com/office/drawing/2014/main" id="{E15AF616-B2EC-4696-B7DF-B8A565EB5E54}"/>
                  </a:ext>
                </a:extLst>
              </p:cNvPr>
              <p:cNvGraphicFramePr>
                <a:graphicFrameLocks noGrp="1"/>
              </p:cNvGraphicFramePr>
              <p:nvPr>
                <p:extLst>
                  <p:ext uri="{D42A27DB-BD31-4B8C-83A1-F6EECF244321}">
                    <p14:modId xmlns:p14="http://schemas.microsoft.com/office/powerpoint/2010/main" val="727064588"/>
                  </p:ext>
                </p:extLst>
              </p:nvPr>
            </p:nvGraphicFramePr>
            <p:xfrm>
              <a:off x="6649948" y="2722652"/>
              <a:ext cx="1092679" cy="2286000"/>
            </p:xfrm>
            <a:graphic>
              <a:graphicData uri="http://schemas.openxmlformats.org/drawingml/2006/table">
                <a:tbl>
                  <a:tblPr firstRow="1" bandRow="1">
                    <a:tableStyleId>{5C22544A-7EE6-4342-B048-85BDC9FD1C3A}</a:tableStyleId>
                  </a:tblPr>
                  <a:tblGrid>
                    <a:gridCol w="1092679">
                      <a:extLst>
                        <a:ext uri="{9D8B030D-6E8A-4147-A177-3AD203B41FA5}">
                          <a16:colId xmlns:a16="http://schemas.microsoft.com/office/drawing/2014/main" val="20000"/>
                        </a:ext>
                      </a:extLst>
                    </a:gridCol>
                  </a:tblGrid>
                  <a:tr h="457200">
                    <a:tc>
                      <a:txBody>
                        <a:bodyPr/>
                        <a:lstStyle/>
                        <a:p>
                          <a:endParaRPr lang="en-US"/>
                        </a:p>
                      </a:txBody>
                      <a:tcPr>
                        <a:blipFill>
                          <a:blip r:embed="rId8"/>
                          <a:stretch>
                            <a:fillRect l="-552" t="-1333" r="-2210" b="-432000"/>
                          </a:stretch>
                        </a:blipFill>
                      </a:tcPr>
                    </a:tc>
                    <a:extLst>
                      <a:ext uri="{0D108BD9-81ED-4DB2-BD59-A6C34878D82A}">
                        <a16:rowId xmlns:a16="http://schemas.microsoft.com/office/drawing/2014/main" val="10000"/>
                      </a:ext>
                    </a:extLst>
                  </a:tr>
                  <a:tr h="457200">
                    <a:tc>
                      <a:txBody>
                        <a:bodyPr/>
                        <a:lstStyle/>
                        <a:p>
                          <a:pPr algn="ctr"/>
                          <a:r>
                            <a:rPr lang="en-GB" sz="2400" dirty="0"/>
                            <a:t>0</a:t>
                          </a:r>
                        </a:p>
                      </a:txBody>
                      <a:tcPr>
                        <a:solidFill>
                          <a:srgbClr val="00B0F0"/>
                        </a:solidFill>
                      </a:tcPr>
                    </a:tc>
                    <a:extLst>
                      <a:ext uri="{0D108BD9-81ED-4DB2-BD59-A6C34878D82A}">
                        <a16:rowId xmlns:a16="http://schemas.microsoft.com/office/drawing/2014/main" val="10001"/>
                      </a:ext>
                    </a:extLst>
                  </a:tr>
                  <a:tr h="457200">
                    <a:tc>
                      <a:txBody>
                        <a:bodyPr/>
                        <a:lstStyle/>
                        <a:p>
                          <a:pPr algn="ctr"/>
                          <a:r>
                            <a:rPr lang="en-GB" sz="2400" dirty="0"/>
                            <a:t>1</a:t>
                          </a:r>
                        </a:p>
                      </a:txBody>
                      <a:tcPr>
                        <a:solidFill>
                          <a:srgbClr val="00B0F0"/>
                        </a:solidFill>
                      </a:tcPr>
                    </a:tc>
                    <a:extLst>
                      <a:ext uri="{0D108BD9-81ED-4DB2-BD59-A6C34878D82A}">
                        <a16:rowId xmlns:a16="http://schemas.microsoft.com/office/drawing/2014/main" val="10002"/>
                      </a:ext>
                    </a:extLst>
                  </a:tr>
                  <a:tr h="457200">
                    <a:tc>
                      <a:txBody>
                        <a:bodyPr/>
                        <a:lstStyle/>
                        <a:p>
                          <a:pPr algn="ctr"/>
                          <a:r>
                            <a:rPr lang="en-GB" sz="2400" dirty="0"/>
                            <a:t>1</a:t>
                          </a:r>
                        </a:p>
                      </a:txBody>
                      <a:tcPr>
                        <a:solidFill>
                          <a:srgbClr val="00B0F0"/>
                        </a:solidFill>
                      </a:tcPr>
                    </a:tc>
                    <a:extLst>
                      <a:ext uri="{0D108BD9-81ED-4DB2-BD59-A6C34878D82A}">
                        <a16:rowId xmlns:a16="http://schemas.microsoft.com/office/drawing/2014/main" val="10003"/>
                      </a:ext>
                    </a:extLst>
                  </a:tr>
                  <a:tr h="457200">
                    <a:tc>
                      <a:txBody>
                        <a:bodyPr/>
                        <a:lstStyle/>
                        <a:p>
                          <a:pPr algn="ctr"/>
                          <a:r>
                            <a:rPr lang="en-GB" sz="2400" dirty="0"/>
                            <a:t>1</a:t>
                          </a:r>
                        </a:p>
                      </a:txBody>
                      <a:tcPr>
                        <a:solidFill>
                          <a:srgbClr val="00B0F0"/>
                        </a:solidFill>
                      </a:tcPr>
                    </a:tc>
                    <a:extLst>
                      <a:ext uri="{0D108BD9-81ED-4DB2-BD59-A6C34878D82A}">
                        <a16:rowId xmlns:a16="http://schemas.microsoft.com/office/drawing/2014/main" val="10004"/>
                      </a:ext>
                    </a:extLst>
                  </a:tr>
                </a:tbl>
              </a:graphicData>
            </a:graphic>
          </p:graphicFrame>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99C812A4-A6D6-4F68-A365-674D772705F8}"/>
                  </a:ext>
                </a:extLst>
              </p:cNvPr>
              <p:cNvSpPr txBox="1"/>
              <p:nvPr/>
            </p:nvSpPr>
            <p:spPr>
              <a:xfrm>
                <a:off x="457200" y="5181600"/>
                <a:ext cx="5105400" cy="369332"/>
              </a:xfrm>
              <a:prstGeom prst="rect">
                <a:avLst/>
              </a:prstGeom>
              <a:noFill/>
            </p:spPr>
            <p:txBody>
              <a:bodyPr wrap="square" lIns="0" tIns="0" rIns="0" bIns="0" rtlCol="0">
                <a:spAutoFit/>
              </a:bodyPr>
              <a:lstStyle/>
              <a:p>
                <a14:m>
                  <m:oMath xmlns:m="http://schemas.openxmlformats.org/officeDocument/2006/math">
                    <m:r>
                      <a:rPr lang="en-US" sz="2400" i="1" smtClean="0">
                        <a:latin typeface="Cambria Math" panose="02040503050406030204" pitchFamily="18" charset="0"/>
                        <a:ea typeface="Cambria Math" panose="02040503050406030204" pitchFamily="18" charset="0"/>
                      </a:rPr>
                      <m:t>¬</m:t>
                    </m:r>
                    <m:r>
                      <a:rPr lang="en-US" sz="2400" i="1">
                        <a:latin typeface="Cambria Math" panose="02040503050406030204" pitchFamily="18" charset="0"/>
                      </a:rPr>
                      <m:t>𝑥</m:t>
                    </m:r>
                    <m:r>
                      <a:rPr lang="en-US" sz="2400" i="1">
                        <a:latin typeface="Cambria Math" panose="02040503050406030204" pitchFamily="18" charset="0"/>
                      </a:rPr>
                      <m:t>=</m:t>
                    </m:r>
                    <m:d>
                      <m:dPr>
                        <m:ctrlPr>
                          <a:rPr lang="en-US" sz="2400" i="1">
                            <a:latin typeface="Cambria Math" panose="02040503050406030204" pitchFamily="18" charset="0"/>
                          </a:rPr>
                        </m:ctrlPr>
                      </m:dPr>
                      <m:e>
                        <m:r>
                          <a:rPr lang="en-US" sz="2400" i="1">
                            <a:latin typeface="Cambria Math" panose="02040503050406030204" pitchFamily="18" charset="0"/>
                          </a:rPr>
                          <m:t>¬</m:t>
                        </m:r>
                        <m:r>
                          <a:rPr lang="en-US" sz="2400" i="1">
                            <a:latin typeface="Cambria Math" panose="02040503050406030204" pitchFamily="18" charset="0"/>
                          </a:rPr>
                          <m:t>𝑝</m:t>
                        </m:r>
                        <m:r>
                          <a:rPr lang="en-US" sz="2400" i="1">
                            <a:latin typeface="Cambria Math" panose="02040503050406030204" pitchFamily="18" charset="0"/>
                          </a:rPr>
                          <m:t>∧¬</m:t>
                        </m:r>
                        <m:r>
                          <m:rPr>
                            <m:sty m:val="p"/>
                          </m:rPr>
                          <a:rPr lang="en-US" sz="2400" i="1">
                            <a:latin typeface="Cambria Math" panose="02040503050406030204" pitchFamily="18" charset="0"/>
                          </a:rPr>
                          <m:t>q</m:t>
                        </m:r>
                      </m:e>
                    </m:d>
                    <m:r>
                      <a:rPr lang="en-US" sz="2400" b="0" i="1" smtClean="0">
                        <a:latin typeface="Cambria Math" panose="02040503050406030204" pitchFamily="18" charset="0"/>
                      </a:rPr>
                      <m:t> </m:t>
                    </m:r>
                  </m:oMath>
                </a14:m>
                <a:r>
                  <a:rPr lang="en-US" sz="2400" i="1" dirty="0">
                    <a:latin typeface="Cambria Math" panose="02040503050406030204" pitchFamily="18" charset="0"/>
                  </a:rPr>
                  <a:t> </a:t>
                </a:r>
              </a:p>
            </p:txBody>
          </p:sp>
        </mc:Choice>
        <mc:Fallback xmlns="">
          <p:sp>
            <p:nvSpPr>
              <p:cNvPr id="3" name="TextBox 2">
                <a:extLst>
                  <a:ext uri="{FF2B5EF4-FFF2-40B4-BE49-F238E27FC236}">
                    <a16:creationId xmlns:a16="http://schemas.microsoft.com/office/drawing/2014/main" id="{99C812A4-A6D6-4F68-A365-674D772705F8}"/>
                  </a:ext>
                </a:extLst>
              </p:cNvPr>
              <p:cNvSpPr txBox="1">
                <a:spLocks noRot="1" noChangeAspect="1" noMove="1" noResize="1" noEditPoints="1" noAdjustHandles="1" noChangeArrowheads="1" noChangeShapeType="1" noTextEdit="1"/>
              </p:cNvSpPr>
              <p:nvPr/>
            </p:nvSpPr>
            <p:spPr>
              <a:xfrm>
                <a:off x="457200" y="5181600"/>
                <a:ext cx="5105400" cy="369332"/>
              </a:xfrm>
              <a:prstGeom prst="rect">
                <a:avLst/>
              </a:prstGeom>
              <a:blipFill>
                <a:blip r:embed="rId9"/>
                <a:stretch>
                  <a:fillRect l="-1074" b="-2786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16" name="Table 15">
                <a:extLst>
                  <a:ext uri="{FF2B5EF4-FFF2-40B4-BE49-F238E27FC236}">
                    <a16:creationId xmlns:a16="http://schemas.microsoft.com/office/drawing/2014/main" id="{1801771C-0476-4342-BE43-5F87B82D9B33}"/>
                  </a:ext>
                </a:extLst>
              </p:cNvPr>
              <p:cNvGraphicFramePr>
                <a:graphicFrameLocks noGrp="1"/>
              </p:cNvGraphicFramePr>
              <p:nvPr>
                <p:extLst>
                  <p:ext uri="{D42A27DB-BD31-4B8C-83A1-F6EECF244321}">
                    <p14:modId xmlns:p14="http://schemas.microsoft.com/office/powerpoint/2010/main" val="1328545641"/>
                  </p:ext>
                </p:extLst>
              </p:nvPr>
            </p:nvGraphicFramePr>
            <p:xfrm>
              <a:off x="7898921" y="2743200"/>
              <a:ext cx="1092679" cy="2286000"/>
            </p:xfrm>
            <a:graphic>
              <a:graphicData uri="http://schemas.openxmlformats.org/drawingml/2006/table">
                <a:tbl>
                  <a:tblPr firstRow="1" bandRow="1">
                    <a:tableStyleId>{5C22544A-7EE6-4342-B048-85BDC9FD1C3A}</a:tableStyleId>
                  </a:tblPr>
                  <a:tblGrid>
                    <a:gridCol w="1092679">
                      <a:extLst>
                        <a:ext uri="{9D8B030D-6E8A-4147-A177-3AD203B41FA5}">
                          <a16:colId xmlns:a16="http://schemas.microsoft.com/office/drawing/2014/main" val="20000"/>
                        </a:ext>
                      </a:extLst>
                    </a:gridCol>
                  </a:tblGrid>
                  <a:tr h="441960">
                    <a:tc>
                      <a:txBody>
                        <a:bodyPr/>
                        <a:lstStyle/>
                        <a:p>
                          <a:pPr algn="ctr"/>
                          <a14:m>
                            <m:oMathPara xmlns:m="http://schemas.openxmlformats.org/officeDocument/2006/math">
                              <m:oMathParaPr>
                                <m:jc m:val="centerGroup"/>
                              </m:oMathParaPr>
                              <m:oMath xmlns:m="http://schemas.openxmlformats.org/officeDocument/2006/math">
                                <m:r>
                                  <a:rPr lang="en-US" sz="2400" b="1" i="1" smtClean="0">
                                    <a:solidFill>
                                      <a:schemeClr val="tx1"/>
                                    </a:solidFill>
                                    <a:latin typeface="Cambria Math" panose="02040503050406030204" pitchFamily="18" charset="0"/>
                                    <a:ea typeface="Cambria Math" panose="02040503050406030204" pitchFamily="18" charset="0"/>
                                  </a:rPr>
                                  <m:t>¬</m:t>
                                </m:r>
                                <m:r>
                                  <a:rPr lang="en-US" sz="2400" b="1" i="1" smtClean="0">
                                    <a:solidFill>
                                      <a:schemeClr val="tx1"/>
                                    </a:solidFill>
                                    <a:latin typeface="Cambria Math" panose="02040503050406030204" pitchFamily="18" charset="0"/>
                                  </a:rPr>
                                  <m:t>𝒙</m:t>
                                </m:r>
                              </m:oMath>
                            </m:oMathPara>
                          </a14:m>
                          <a:endParaRPr lang="en-GB" sz="2400" dirty="0">
                            <a:solidFill>
                              <a:schemeClr val="tx1"/>
                            </a:solidFill>
                          </a:endParaRPr>
                        </a:p>
                      </a:txBody>
                      <a:tcPr/>
                    </a:tc>
                    <a:extLst>
                      <a:ext uri="{0D108BD9-81ED-4DB2-BD59-A6C34878D82A}">
                        <a16:rowId xmlns:a16="http://schemas.microsoft.com/office/drawing/2014/main" val="10000"/>
                      </a:ext>
                    </a:extLst>
                  </a:tr>
                  <a:tr h="441960">
                    <a:tc>
                      <a:txBody>
                        <a:bodyPr/>
                        <a:lstStyle/>
                        <a:p>
                          <a:pPr algn="ctr"/>
                          <a:r>
                            <a:rPr lang="en-GB" sz="2400" dirty="0"/>
                            <a:t>1</a:t>
                          </a:r>
                        </a:p>
                      </a:txBody>
                      <a:tcPr>
                        <a:solidFill>
                          <a:srgbClr val="00B0F0"/>
                        </a:solidFill>
                      </a:tcPr>
                    </a:tc>
                    <a:extLst>
                      <a:ext uri="{0D108BD9-81ED-4DB2-BD59-A6C34878D82A}">
                        <a16:rowId xmlns:a16="http://schemas.microsoft.com/office/drawing/2014/main" val="10001"/>
                      </a:ext>
                    </a:extLst>
                  </a:tr>
                  <a:tr h="441960">
                    <a:tc>
                      <a:txBody>
                        <a:bodyPr/>
                        <a:lstStyle/>
                        <a:p>
                          <a:pPr algn="ctr"/>
                          <a:r>
                            <a:rPr lang="en-GB" sz="2400" dirty="0"/>
                            <a:t>0</a:t>
                          </a:r>
                        </a:p>
                      </a:txBody>
                      <a:tcPr>
                        <a:solidFill>
                          <a:srgbClr val="00B0F0"/>
                        </a:solidFill>
                      </a:tcPr>
                    </a:tc>
                    <a:extLst>
                      <a:ext uri="{0D108BD9-81ED-4DB2-BD59-A6C34878D82A}">
                        <a16:rowId xmlns:a16="http://schemas.microsoft.com/office/drawing/2014/main" val="10002"/>
                      </a:ext>
                    </a:extLst>
                  </a:tr>
                  <a:tr h="441960">
                    <a:tc>
                      <a:txBody>
                        <a:bodyPr/>
                        <a:lstStyle/>
                        <a:p>
                          <a:pPr algn="ctr"/>
                          <a:r>
                            <a:rPr lang="en-GB" sz="2400" dirty="0"/>
                            <a:t>0</a:t>
                          </a:r>
                        </a:p>
                      </a:txBody>
                      <a:tcPr>
                        <a:solidFill>
                          <a:srgbClr val="00B0F0"/>
                        </a:solidFill>
                      </a:tcPr>
                    </a:tc>
                    <a:extLst>
                      <a:ext uri="{0D108BD9-81ED-4DB2-BD59-A6C34878D82A}">
                        <a16:rowId xmlns:a16="http://schemas.microsoft.com/office/drawing/2014/main" val="10003"/>
                      </a:ext>
                    </a:extLst>
                  </a:tr>
                  <a:tr h="441960">
                    <a:tc>
                      <a:txBody>
                        <a:bodyPr/>
                        <a:lstStyle/>
                        <a:p>
                          <a:pPr algn="ctr"/>
                          <a:r>
                            <a:rPr lang="en-GB" sz="2400" dirty="0"/>
                            <a:t>0</a:t>
                          </a:r>
                        </a:p>
                      </a:txBody>
                      <a:tcPr>
                        <a:solidFill>
                          <a:srgbClr val="00B0F0"/>
                        </a:solidFill>
                      </a:tcPr>
                    </a:tc>
                    <a:extLst>
                      <a:ext uri="{0D108BD9-81ED-4DB2-BD59-A6C34878D82A}">
                        <a16:rowId xmlns:a16="http://schemas.microsoft.com/office/drawing/2014/main" val="10004"/>
                      </a:ext>
                    </a:extLst>
                  </a:tr>
                </a:tbl>
              </a:graphicData>
            </a:graphic>
          </p:graphicFrame>
        </mc:Choice>
        <mc:Fallback xmlns="">
          <p:graphicFrame>
            <p:nvGraphicFramePr>
              <p:cNvPr id="16" name="Table 15">
                <a:extLst>
                  <a:ext uri="{FF2B5EF4-FFF2-40B4-BE49-F238E27FC236}">
                    <a16:creationId xmlns:a16="http://schemas.microsoft.com/office/drawing/2014/main" id="{1801771C-0476-4342-BE43-5F87B82D9B33}"/>
                  </a:ext>
                </a:extLst>
              </p:cNvPr>
              <p:cNvGraphicFramePr>
                <a:graphicFrameLocks noGrp="1"/>
              </p:cNvGraphicFramePr>
              <p:nvPr>
                <p:extLst>
                  <p:ext uri="{D42A27DB-BD31-4B8C-83A1-F6EECF244321}">
                    <p14:modId xmlns:p14="http://schemas.microsoft.com/office/powerpoint/2010/main" val="1328545641"/>
                  </p:ext>
                </p:extLst>
              </p:nvPr>
            </p:nvGraphicFramePr>
            <p:xfrm>
              <a:off x="7898921" y="2743200"/>
              <a:ext cx="1092679" cy="2286000"/>
            </p:xfrm>
            <a:graphic>
              <a:graphicData uri="http://schemas.openxmlformats.org/drawingml/2006/table">
                <a:tbl>
                  <a:tblPr firstRow="1" bandRow="1">
                    <a:tableStyleId>{5C22544A-7EE6-4342-B048-85BDC9FD1C3A}</a:tableStyleId>
                  </a:tblPr>
                  <a:tblGrid>
                    <a:gridCol w="1092679">
                      <a:extLst>
                        <a:ext uri="{9D8B030D-6E8A-4147-A177-3AD203B41FA5}">
                          <a16:colId xmlns:a16="http://schemas.microsoft.com/office/drawing/2014/main" val="20000"/>
                        </a:ext>
                      </a:extLst>
                    </a:gridCol>
                  </a:tblGrid>
                  <a:tr h="457200">
                    <a:tc>
                      <a:txBody>
                        <a:bodyPr/>
                        <a:lstStyle/>
                        <a:p>
                          <a:endParaRPr lang="en-US"/>
                        </a:p>
                      </a:txBody>
                      <a:tcPr>
                        <a:blipFill>
                          <a:blip r:embed="rId10"/>
                          <a:stretch>
                            <a:fillRect l="-556" t="-2667" r="-2778" b="-430667"/>
                          </a:stretch>
                        </a:blipFill>
                      </a:tcPr>
                    </a:tc>
                    <a:extLst>
                      <a:ext uri="{0D108BD9-81ED-4DB2-BD59-A6C34878D82A}">
                        <a16:rowId xmlns:a16="http://schemas.microsoft.com/office/drawing/2014/main" val="10000"/>
                      </a:ext>
                    </a:extLst>
                  </a:tr>
                  <a:tr h="457200">
                    <a:tc>
                      <a:txBody>
                        <a:bodyPr/>
                        <a:lstStyle/>
                        <a:p>
                          <a:pPr algn="ctr"/>
                          <a:r>
                            <a:rPr lang="en-GB" sz="2400" dirty="0"/>
                            <a:t>1</a:t>
                          </a:r>
                        </a:p>
                      </a:txBody>
                      <a:tcPr>
                        <a:solidFill>
                          <a:srgbClr val="00B0F0"/>
                        </a:solidFill>
                      </a:tcPr>
                    </a:tc>
                    <a:extLst>
                      <a:ext uri="{0D108BD9-81ED-4DB2-BD59-A6C34878D82A}">
                        <a16:rowId xmlns:a16="http://schemas.microsoft.com/office/drawing/2014/main" val="10001"/>
                      </a:ext>
                    </a:extLst>
                  </a:tr>
                  <a:tr h="457200">
                    <a:tc>
                      <a:txBody>
                        <a:bodyPr/>
                        <a:lstStyle/>
                        <a:p>
                          <a:pPr algn="ctr"/>
                          <a:r>
                            <a:rPr lang="en-GB" sz="2400" dirty="0"/>
                            <a:t>0</a:t>
                          </a:r>
                        </a:p>
                      </a:txBody>
                      <a:tcPr>
                        <a:solidFill>
                          <a:srgbClr val="00B0F0"/>
                        </a:solidFill>
                      </a:tcPr>
                    </a:tc>
                    <a:extLst>
                      <a:ext uri="{0D108BD9-81ED-4DB2-BD59-A6C34878D82A}">
                        <a16:rowId xmlns:a16="http://schemas.microsoft.com/office/drawing/2014/main" val="10002"/>
                      </a:ext>
                    </a:extLst>
                  </a:tr>
                  <a:tr h="457200">
                    <a:tc>
                      <a:txBody>
                        <a:bodyPr/>
                        <a:lstStyle/>
                        <a:p>
                          <a:pPr algn="ctr"/>
                          <a:r>
                            <a:rPr lang="en-GB" sz="2400" dirty="0"/>
                            <a:t>0</a:t>
                          </a:r>
                        </a:p>
                      </a:txBody>
                      <a:tcPr>
                        <a:solidFill>
                          <a:srgbClr val="00B0F0"/>
                        </a:solidFill>
                      </a:tcPr>
                    </a:tc>
                    <a:extLst>
                      <a:ext uri="{0D108BD9-81ED-4DB2-BD59-A6C34878D82A}">
                        <a16:rowId xmlns:a16="http://schemas.microsoft.com/office/drawing/2014/main" val="10003"/>
                      </a:ext>
                    </a:extLst>
                  </a:tr>
                  <a:tr h="457200">
                    <a:tc>
                      <a:txBody>
                        <a:bodyPr/>
                        <a:lstStyle/>
                        <a:p>
                          <a:pPr algn="ctr"/>
                          <a:r>
                            <a:rPr lang="en-GB" sz="2400" dirty="0"/>
                            <a:t>0</a:t>
                          </a:r>
                        </a:p>
                      </a:txBody>
                      <a:tcPr>
                        <a:solidFill>
                          <a:srgbClr val="00B0F0"/>
                        </a:solidFill>
                      </a:tcPr>
                    </a:tc>
                    <a:extLst>
                      <a:ext uri="{0D108BD9-81ED-4DB2-BD59-A6C34878D82A}">
                        <a16:rowId xmlns:a16="http://schemas.microsoft.com/office/drawing/2014/main" val="10004"/>
                      </a:ext>
                    </a:extLst>
                  </a:tr>
                </a:tbl>
              </a:graphicData>
            </a:graphic>
          </p:graphicFrame>
        </mc:Fallback>
      </mc:AlternateContent>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A3ABCB81-5C50-4D10-A4CE-7527FB7D9D13}"/>
                  </a:ext>
                </a:extLst>
              </p:cNvPr>
              <p:cNvSpPr txBox="1"/>
              <p:nvPr/>
            </p:nvSpPr>
            <p:spPr>
              <a:xfrm>
                <a:off x="457200" y="5574268"/>
                <a:ext cx="1676400" cy="369332"/>
              </a:xfrm>
              <a:prstGeom prst="rect">
                <a:avLst/>
              </a:prstGeom>
              <a:noFill/>
            </p:spPr>
            <p:txBody>
              <a:bodyPr wrap="square" lIns="0" tIns="0" rIns="0" bIns="0" rtlCol="0">
                <a:spAutoFit/>
              </a:bodyPr>
              <a:lstStyle/>
              <a:p>
                <a14:m>
                  <m:oMath xmlns:m="http://schemas.openxmlformats.org/officeDocument/2006/math">
                    <m:r>
                      <a:rPr lang="en-US" sz="2400" b="0" i="1" smtClean="0">
                        <a:latin typeface="Cambria Math" panose="02040503050406030204" pitchFamily="18" charset="0"/>
                        <a:ea typeface="Cambria Math" panose="02040503050406030204" pitchFamily="18" charset="0"/>
                      </a:rPr>
                      <m:t>𝑥</m:t>
                    </m:r>
                    <m:r>
                      <a:rPr lang="en-US" sz="2400" b="0" i="1" smtClean="0">
                        <a:latin typeface="Cambria Math" panose="02040503050406030204" pitchFamily="18" charset="0"/>
                        <a:ea typeface="Cambria Math" panose="02040503050406030204" pitchFamily="18" charset="0"/>
                      </a:rPr>
                      <m:t>=¬(¬</m:t>
                    </m:r>
                    <m:r>
                      <a:rPr lang="en-US" sz="2400" i="1">
                        <a:latin typeface="Cambria Math" panose="02040503050406030204" pitchFamily="18" charset="0"/>
                      </a:rPr>
                      <m:t>𝑥</m:t>
                    </m:r>
                    <m:r>
                      <a:rPr lang="en-US" sz="2400" b="0" i="1" smtClean="0">
                        <a:latin typeface="Cambria Math" panose="02040503050406030204" pitchFamily="18" charset="0"/>
                      </a:rPr>
                      <m:t>)</m:t>
                    </m:r>
                  </m:oMath>
                </a14:m>
                <a:r>
                  <a:rPr lang="en-US" sz="2400" i="1" dirty="0">
                    <a:latin typeface="Cambria Math" panose="02040503050406030204" pitchFamily="18" charset="0"/>
                  </a:rPr>
                  <a:t> </a:t>
                </a:r>
              </a:p>
            </p:txBody>
          </p:sp>
        </mc:Choice>
        <mc:Fallback xmlns="">
          <p:sp>
            <p:nvSpPr>
              <p:cNvPr id="19" name="TextBox 18">
                <a:extLst>
                  <a:ext uri="{FF2B5EF4-FFF2-40B4-BE49-F238E27FC236}">
                    <a16:creationId xmlns:a16="http://schemas.microsoft.com/office/drawing/2014/main" id="{A3ABCB81-5C50-4D10-A4CE-7527FB7D9D13}"/>
                  </a:ext>
                </a:extLst>
              </p:cNvPr>
              <p:cNvSpPr txBox="1">
                <a:spLocks noRot="1" noChangeAspect="1" noMove="1" noResize="1" noEditPoints="1" noAdjustHandles="1" noChangeArrowheads="1" noChangeShapeType="1" noTextEdit="1"/>
              </p:cNvSpPr>
              <p:nvPr/>
            </p:nvSpPr>
            <p:spPr>
              <a:xfrm>
                <a:off x="457200" y="5574268"/>
                <a:ext cx="1676400" cy="369332"/>
              </a:xfrm>
              <a:prstGeom prst="rect">
                <a:avLst/>
              </a:prstGeom>
              <a:blipFill>
                <a:blip r:embed="rId11"/>
                <a:stretch>
                  <a:fillRect l="-4364" b="-3770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3609EA1D-CDF3-4087-9F12-A88DD11A0021}"/>
                  </a:ext>
                </a:extLst>
              </p:cNvPr>
              <p:cNvSpPr/>
              <p:nvPr/>
            </p:nvSpPr>
            <p:spPr>
              <a:xfrm>
                <a:off x="1905000" y="5558135"/>
                <a:ext cx="2240357" cy="461665"/>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sz="2400" b="0" i="1" smtClean="0">
                          <a:solidFill>
                            <a:prstClr val="black"/>
                          </a:solidFill>
                          <a:latin typeface="Cambria Math" panose="02040503050406030204" pitchFamily="18" charset="0"/>
                        </a:rPr>
                        <m:t>=</m:t>
                      </m:r>
                      <m:r>
                        <a:rPr lang="en-US" sz="2400" b="0" i="1" smtClean="0">
                          <a:solidFill>
                            <a:prstClr val="black"/>
                          </a:solidFill>
                          <a:latin typeface="Cambria Math" panose="02040503050406030204" pitchFamily="18" charset="0"/>
                          <a:ea typeface="Cambria Math" panose="02040503050406030204" pitchFamily="18" charset="0"/>
                        </a:rPr>
                        <m:t>¬</m:t>
                      </m:r>
                      <m:d>
                        <m:dPr>
                          <m:ctrlPr>
                            <a:rPr lang="en-US" sz="2400" i="1">
                              <a:solidFill>
                                <a:prstClr val="black"/>
                              </a:solidFill>
                              <a:latin typeface="Cambria Math" panose="02040503050406030204" pitchFamily="18" charset="0"/>
                            </a:rPr>
                          </m:ctrlPr>
                        </m:dPr>
                        <m:e>
                          <m:r>
                            <a:rPr lang="en-US" sz="2400" i="1">
                              <a:solidFill>
                                <a:prstClr val="black"/>
                              </a:solidFill>
                              <a:latin typeface="Cambria Math" panose="02040503050406030204" pitchFamily="18" charset="0"/>
                            </a:rPr>
                            <m:t>¬</m:t>
                          </m:r>
                          <m:r>
                            <a:rPr lang="en-US" sz="2400" i="1">
                              <a:solidFill>
                                <a:prstClr val="black"/>
                              </a:solidFill>
                              <a:latin typeface="Cambria Math" panose="02040503050406030204" pitchFamily="18" charset="0"/>
                            </a:rPr>
                            <m:t>𝑝</m:t>
                          </m:r>
                          <m:r>
                            <a:rPr lang="en-US" sz="2400" i="1">
                              <a:solidFill>
                                <a:prstClr val="black"/>
                              </a:solidFill>
                              <a:latin typeface="Cambria Math" panose="02040503050406030204" pitchFamily="18" charset="0"/>
                            </a:rPr>
                            <m:t>∧¬</m:t>
                          </m:r>
                          <m:r>
                            <m:rPr>
                              <m:sty m:val="p"/>
                            </m:rPr>
                            <a:rPr lang="en-US" sz="2400" i="1">
                              <a:solidFill>
                                <a:prstClr val="black"/>
                              </a:solidFill>
                              <a:latin typeface="Cambria Math" panose="02040503050406030204" pitchFamily="18" charset="0"/>
                            </a:rPr>
                            <m:t>q</m:t>
                          </m:r>
                        </m:e>
                      </m:d>
                      <m:r>
                        <a:rPr lang="en-US" sz="2400" i="1">
                          <a:solidFill>
                            <a:prstClr val="black"/>
                          </a:solidFill>
                          <a:latin typeface="Cambria Math" panose="02040503050406030204" pitchFamily="18" charset="0"/>
                        </a:rPr>
                        <m:t> </m:t>
                      </m:r>
                    </m:oMath>
                  </m:oMathPara>
                </a14:m>
                <a:endParaRPr lang="en-US" dirty="0"/>
              </a:p>
            </p:txBody>
          </p:sp>
        </mc:Choice>
        <mc:Fallback xmlns="">
          <p:sp>
            <p:nvSpPr>
              <p:cNvPr id="8" name="Rectangle 7">
                <a:extLst>
                  <a:ext uri="{FF2B5EF4-FFF2-40B4-BE49-F238E27FC236}">
                    <a16:creationId xmlns:a16="http://schemas.microsoft.com/office/drawing/2014/main" id="{3609EA1D-CDF3-4087-9F12-A88DD11A0021}"/>
                  </a:ext>
                </a:extLst>
              </p:cNvPr>
              <p:cNvSpPr>
                <a:spLocks noRot="1" noChangeAspect="1" noMove="1" noResize="1" noEditPoints="1" noAdjustHandles="1" noChangeArrowheads="1" noChangeShapeType="1" noTextEdit="1"/>
              </p:cNvSpPr>
              <p:nvPr/>
            </p:nvSpPr>
            <p:spPr>
              <a:xfrm>
                <a:off x="1905000" y="5558135"/>
                <a:ext cx="2240357" cy="461665"/>
              </a:xfrm>
              <a:prstGeom prst="rect">
                <a:avLst/>
              </a:prstGeom>
              <a:blipFill>
                <a:blip r:embed="rId12"/>
                <a:stretch>
                  <a:fillRect b="-92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0" name="Rectangle 19">
                <a:extLst>
                  <a:ext uri="{FF2B5EF4-FFF2-40B4-BE49-F238E27FC236}">
                    <a16:creationId xmlns:a16="http://schemas.microsoft.com/office/drawing/2014/main" id="{5E615C67-45AB-487E-B17E-66A7AFF91A02}"/>
                  </a:ext>
                </a:extLst>
              </p:cNvPr>
              <p:cNvSpPr/>
              <p:nvPr/>
            </p:nvSpPr>
            <p:spPr>
              <a:xfrm>
                <a:off x="4008043" y="5562600"/>
                <a:ext cx="1615186" cy="461665"/>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sz="2400" b="0" i="1" smtClean="0">
                          <a:solidFill>
                            <a:prstClr val="black"/>
                          </a:solidFill>
                          <a:latin typeface="Cambria Math" panose="02040503050406030204" pitchFamily="18" charset="0"/>
                        </a:rPr>
                        <m:t>=</m:t>
                      </m:r>
                      <m:d>
                        <m:dPr>
                          <m:ctrlPr>
                            <a:rPr lang="en-US" sz="2400" i="1">
                              <a:solidFill>
                                <a:prstClr val="black"/>
                              </a:solidFill>
                              <a:latin typeface="Cambria Math" panose="02040503050406030204" pitchFamily="18" charset="0"/>
                            </a:rPr>
                          </m:ctrlPr>
                        </m:dPr>
                        <m:e>
                          <m:r>
                            <a:rPr lang="en-US" sz="2400" i="1">
                              <a:solidFill>
                                <a:prstClr val="black"/>
                              </a:solidFill>
                              <a:latin typeface="Cambria Math" panose="02040503050406030204" pitchFamily="18" charset="0"/>
                            </a:rPr>
                            <m:t>𝑝</m:t>
                          </m:r>
                          <m:r>
                            <a:rPr lang="en-US" sz="2400" i="1">
                              <a:latin typeface="Cambria Math" panose="02040503050406030204" pitchFamily="18" charset="0"/>
                              <a:ea typeface="Cambria Math" panose="02040503050406030204" pitchFamily="18" charset="0"/>
                            </a:rPr>
                            <m:t>∨</m:t>
                          </m:r>
                          <m:r>
                            <m:rPr>
                              <m:sty m:val="p"/>
                            </m:rPr>
                            <a:rPr lang="en-US" sz="2400" i="1">
                              <a:solidFill>
                                <a:prstClr val="black"/>
                              </a:solidFill>
                              <a:latin typeface="Cambria Math" panose="02040503050406030204" pitchFamily="18" charset="0"/>
                            </a:rPr>
                            <m:t>q</m:t>
                          </m:r>
                        </m:e>
                      </m:d>
                      <m:r>
                        <a:rPr lang="en-US" sz="2400" b="0" i="1" smtClean="0">
                          <a:solidFill>
                            <a:prstClr val="black"/>
                          </a:solidFill>
                          <a:latin typeface="Cambria Math" panose="02040503050406030204" pitchFamily="18" charset="0"/>
                        </a:rPr>
                        <m:t>.</m:t>
                      </m:r>
                      <m:r>
                        <a:rPr lang="en-US" sz="2400" i="1">
                          <a:solidFill>
                            <a:prstClr val="black"/>
                          </a:solidFill>
                          <a:latin typeface="Cambria Math" panose="02040503050406030204" pitchFamily="18" charset="0"/>
                        </a:rPr>
                        <m:t> </m:t>
                      </m:r>
                    </m:oMath>
                  </m:oMathPara>
                </a14:m>
                <a:endParaRPr lang="en-US" dirty="0"/>
              </a:p>
            </p:txBody>
          </p:sp>
        </mc:Choice>
        <mc:Fallback xmlns="">
          <p:sp>
            <p:nvSpPr>
              <p:cNvPr id="20" name="Rectangle 19">
                <a:extLst>
                  <a:ext uri="{FF2B5EF4-FFF2-40B4-BE49-F238E27FC236}">
                    <a16:creationId xmlns:a16="http://schemas.microsoft.com/office/drawing/2014/main" id="{5E615C67-45AB-487E-B17E-66A7AFF91A02}"/>
                  </a:ext>
                </a:extLst>
              </p:cNvPr>
              <p:cNvSpPr>
                <a:spLocks noRot="1" noChangeAspect="1" noMove="1" noResize="1" noEditPoints="1" noAdjustHandles="1" noChangeArrowheads="1" noChangeShapeType="1" noTextEdit="1"/>
              </p:cNvSpPr>
              <p:nvPr/>
            </p:nvSpPr>
            <p:spPr>
              <a:xfrm>
                <a:off x="4008043" y="5562600"/>
                <a:ext cx="1615186" cy="461665"/>
              </a:xfrm>
              <a:prstGeom prst="rect">
                <a:avLst/>
              </a:prstGeom>
              <a:blipFill>
                <a:blip r:embed="rId13"/>
                <a:stretch>
                  <a:fillRect b="-10667"/>
                </a:stretch>
              </a:blipFill>
            </p:spPr>
            <p:txBody>
              <a:bodyPr/>
              <a:lstStyle/>
              <a:p>
                <a:r>
                  <a:rPr lang="en-US">
                    <a:noFill/>
                  </a:rPr>
                  <a:t> </a:t>
                </a:r>
              </a:p>
            </p:txBody>
          </p:sp>
        </mc:Fallback>
      </mc:AlternateContent>
    </p:spTree>
    <p:extLst>
      <p:ext uri="{BB962C8B-B14F-4D97-AF65-F5344CB8AC3E}">
        <p14:creationId xmlns:p14="http://schemas.microsoft.com/office/powerpoint/2010/main" val="37663628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8"/>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6"/>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9"/>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8"/>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3" grpId="0"/>
      <p:bldP spid="19" grpId="0"/>
      <p:bldP spid="8" grpId="0"/>
      <p:bldP spid="20"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Applications of Propositional Logic</a:t>
            </a:r>
            <a:endParaRPr lang="en-GB" dirty="0"/>
          </a:p>
        </p:txBody>
      </p:sp>
      <p:sp>
        <p:nvSpPr>
          <p:cNvPr id="4" name="Date Placeholder 3"/>
          <p:cNvSpPr>
            <a:spLocks noGrp="1"/>
          </p:cNvSpPr>
          <p:nvPr>
            <p:ph type="dt" sz="half" idx="10"/>
          </p:nvPr>
        </p:nvSpPr>
        <p:spPr/>
        <p:txBody>
          <a:bodyPr/>
          <a:lstStyle/>
          <a:p>
            <a:fld id="{6292CA6F-53FA-49C7-A272-B9FB8767ACD0}" type="datetime3">
              <a:rPr lang="en-US" smtClean="0"/>
              <a:t>27 April 2026</a:t>
            </a:fld>
            <a:endParaRPr lang="en-US"/>
          </a:p>
        </p:txBody>
      </p:sp>
      <p:sp>
        <p:nvSpPr>
          <p:cNvPr id="5" name="Footer Placeholder 4"/>
          <p:cNvSpPr>
            <a:spLocks noGrp="1"/>
          </p:cNvSpPr>
          <p:nvPr>
            <p:ph type="ftr" sz="quarter" idx="11"/>
          </p:nvPr>
        </p:nvSpPr>
        <p:spPr/>
        <p:txBody>
          <a:bodyPr/>
          <a:lstStyle/>
          <a:p>
            <a:r>
              <a:rPr lang="en-US"/>
              <a:t>SCS 1302   Discrete Mathematics 1       Prof. D D Karunaratna</a:t>
            </a:r>
          </a:p>
        </p:txBody>
      </p:sp>
      <p:sp>
        <p:nvSpPr>
          <p:cNvPr id="6" name="Slide Number Placeholder 5"/>
          <p:cNvSpPr>
            <a:spLocks noGrp="1"/>
          </p:cNvSpPr>
          <p:nvPr>
            <p:ph type="sldNum" sz="quarter" idx="12"/>
          </p:nvPr>
        </p:nvSpPr>
        <p:spPr/>
        <p:txBody>
          <a:bodyPr/>
          <a:lstStyle/>
          <a:p>
            <a:fld id="{0CA841A6-7C02-4C92-B6EE-5DBCC2AD53D0}" type="slidenum">
              <a:rPr lang="en-US" smtClean="0"/>
              <a:t>61</a:t>
            </a:fld>
            <a:endParaRPr lang="en-US"/>
          </a:p>
        </p:txBody>
      </p:sp>
      <p:sp>
        <p:nvSpPr>
          <p:cNvPr id="7" name="Content Placeholder 2"/>
          <p:cNvSpPr>
            <a:spLocks noGrp="1"/>
          </p:cNvSpPr>
          <p:nvPr>
            <p:ph idx="1"/>
          </p:nvPr>
        </p:nvSpPr>
        <p:spPr>
          <a:xfrm>
            <a:off x="457200" y="1951037"/>
            <a:ext cx="8229600" cy="4525963"/>
          </a:xfrm>
        </p:spPr>
        <p:txBody>
          <a:bodyPr>
            <a:normAutofit/>
          </a:bodyPr>
          <a:lstStyle/>
          <a:p>
            <a:r>
              <a:rPr lang="en-US" sz="2800" dirty="0"/>
              <a:t>Translating English sentences into expressions involving propositional variables and logical connectives.</a:t>
            </a:r>
          </a:p>
          <a:p>
            <a:r>
              <a:rPr lang="en-US" sz="2800" dirty="0"/>
              <a:t>Translating Logical Expressions into English Sentences</a:t>
            </a:r>
          </a:p>
          <a:p>
            <a:r>
              <a:rPr lang="en-US" sz="2800" dirty="0"/>
              <a:t>System specifications</a:t>
            </a:r>
          </a:p>
          <a:p>
            <a:r>
              <a:rPr lang="en-US" sz="2800" dirty="0"/>
              <a:t>Logic circuits</a:t>
            </a:r>
          </a:p>
          <a:p>
            <a:r>
              <a:rPr lang="en-US" sz="2800" dirty="0"/>
              <a:t>Logic puzzles</a:t>
            </a:r>
          </a:p>
        </p:txBody>
      </p:sp>
    </p:spTree>
    <p:extLst>
      <p:ext uri="{BB962C8B-B14F-4D97-AF65-F5344CB8AC3E}">
        <p14:creationId xmlns:p14="http://schemas.microsoft.com/office/powerpoint/2010/main" val="62330537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Translating English Sentences</a:t>
            </a:r>
            <a:endParaRPr lang="en-GB" dirty="0"/>
          </a:p>
        </p:txBody>
      </p:sp>
      <p:sp>
        <p:nvSpPr>
          <p:cNvPr id="4" name="Date Placeholder 3"/>
          <p:cNvSpPr>
            <a:spLocks noGrp="1"/>
          </p:cNvSpPr>
          <p:nvPr>
            <p:ph type="dt" sz="half" idx="10"/>
          </p:nvPr>
        </p:nvSpPr>
        <p:spPr/>
        <p:txBody>
          <a:bodyPr/>
          <a:lstStyle/>
          <a:p>
            <a:fld id="{BA8CC6DC-4E8C-4D04-B927-EF879534C361}" type="datetime3">
              <a:rPr lang="en-US" smtClean="0"/>
              <a:t>27 April 2026</a:t>
            </a:fld>
            <a:endParaRPr lang="en-US"/>
          </a:p>
        </p:txBody>
      </p:sp>
      <p:sp>
        <p:nvSpPr>
          <p:cNvPr id="5" name="Footer Placeholder 4"/>
          <p:cNvSpPr>
            <a:spLocks noGrp="1"/>
          </p:cNvSpPr>
          <p:nvPr>
            <p:ph type="ftr" sz="quarter" idx="11"/>
          </p:nvPr>
        </p:nvSpPr>
        <p:spPr/>
        <p:txBody>
          <a:bodyPr/>
          <a:lstStyle/>
          <a:p>
            <a:r>
              <a:rPr lang="en-US"/>
              <a:t>SCS 1302   Discrete Mathematics 1       Prof. D D Karunaratna</a:t>
            </a:r>
          </a:p>
        </p:txBody>
      </p:sp>
      <p:sp>
        <p:nvSpPr>
          <p:cNvPr id="6" name="Slide Number Placeholder 5"/>
          <p:cNvSpPr>
            <a:spLocks noGrp="1"/>
          </p:cNvSpPr>
          <p:nvPr>
            <p:ph type="sldNum" sz="quarter" idx="12"/>
          </p:nvPr>
        </p:nvSpPr>
        <p:spPr/>
        <p:txBody>
          <a:bodyPr/>
          <a:lstStyle/>
          <a:p>
            <a:fld id="{0CA841A6-7C02-4C92-B6EE-5DBCC2AD53D0}" type="slidenum">
              <a:rPr lang="en-US" smtClean="0"/>
              <a:t>62</a:t>
            </a:fld>
            <a:endParaRPr lang="en-US"/>
          </a:p>
        </p:txBody>
      </p:sp>
      <mc:AlternateContent xmlns:mc="http://schemas.openxmlformats.org/markup-compatibility/2006" xmlns:a14="http://schemas.microsoft.com/office/drawing/2010/main">
        <mc:Choice Requires="a14">
          <p:sp>
            <p:nvSpPr>
              <p:cNvPr id="7" name="Rectangle 6"/>
              <p:cNvSpPr/>
              <p:nvPr/>
            </p:nvSpPr>
            <p:spPr>
              <a:xfrm>
                <a:off x="533400" y="1676400"/>
                <a:ext cx="7924800" cy="4832092"/>
              </a:xfrm>
              <a:prstGeom prst="rect">
                <a:avLst/>
              </a:prstGeom>
            </p:spPr>
            <p:txBody>
              <a:bodyPr wrap="square">
                <a:spAutoFit/>
              </a:bodyPr>
              <a:lstStyle/>
              <a:p>
                <a:r>
                  <a:rPr lang="en-US" sz="2000" dirty="0"/>
                  <a:t>Translate the following English sentences into a logical expression:</a:t>
                </a:r>
                <a:endParaRPr lang="en-US" sz="2400" dirty="0"/>
              </a:p>
              <a:p>
                <a:endParaRPr lang="en-US" sz="2000" dirty="0"/>
              </a:p>
              <a:p>
                <a:r>
                  <a:rPr lang="en-US" sz="2000" dirty="0"/>
                  <a:t>“You can access the Internet from campus only if you are a computer science major or you are not a freshman.”</a:t>
                </a:r>
              </a:p>
              <a:p>
                <a:pPr marL="342900" indent="-342900">
                  <a:buFont typeface="Arial" panose="020B0604020202020204" pitchFamily="34" charset="0"/>
                  <a:buChar char="•"/>
                </a:pPr>
                <a:endParaRPr lang="en-US" sz="2400" dirty="0"/>
              </a:p>
              <a:p>
                <a:r>
                  <a:rPr lang="en-US" sz="2000" b="1" dirty="0"/>
                  <a:t>Solution:</a:t>
                </a:r>
              </a:p>
              <a:p>
                <a:r>
                  <a:rPr lang="en-US" sz="2000" dirty="0"/>
                  <a:t>Let a:= </a:t>
                </a:r>
                <a:r>
                  <a:rPr lang="en-GB" sz="2000" dirty="0"/>
                  <a:t>“You can access the Internet from campus”</a:t>
                </a:r>
              </a:p>
              <a:p>
                <a:r>
                  <a:rPr lang="en-GB" sz="2000" dirty="0"/>
                  <a:t>      c:= “You are a computer science major”, and</a:t>
                </a:r>
              </a:p>
              <a:p>
                <a:r>
                  <a:rPr lang="en-GB" sz="2000" dirty="0"/>
                  <a:t>      f := “You are a freshman”.</a:t>
                </a:r>
              </a:p>
              <a:p>
                <a:endParaRPr lang="en-GB" sz="2000" dirty="0"/>
              </a:p>
              <a:p>
                <a:r>
                  <a:rPr lang="en-GB" sz="2000" dirty="0"/>
                  <a:t>Given sentence can be represented as </a:t>
                </a:r>
                <a14:m>
                  <m:oMath xmlns:m="http://schemas.openxmlformats.org/officeDocument/2006/math">
                    <m:r>
                      <a:rPr lang="en-GB" sz="2000" b="0" i="1" smtClean="0">
                        <a:latin typeface="Cambria Math" panose="02040503050406030204" pitchFamily="18" charset="0"/>
                      </a:rPr>
                      <m:t>𝑎</m:t>
                    </m:r>
                    <m:r>
                      <a:rPr lang="en-GB" sz="2000" b="0" i="1" smtClean="0">
                        <a:latin typeface="Cambria Math" panose="02040503050406030204" pitchFamily="18" charset="0"/>
                        <a:ea typeface="Cambria Math" panose="02040503050406030204" pitchFamily="18" charset="0"/>
                      </a:rPr>
                      <m:t>→</m:t>
                    </m:r>
                    <m:d>
                      <m:dPr>
                        <m:ctrlPr>
                          <a:rPr lang="en-GB" sz="2000" b="0" i="1" smtClean="0">
                            <a:latin typeface="Cambria Math" panose="02040503050406030204" pitchFamily="18" charset="0"/>
                            <a:ea typeface="Cambria Math" panose="02040503050406030204" pitchFamily="18" charset="0"/>
                          </a:rPr>
                        </m:ctrlPr>
                      </m:dPr>
                      <m:e>
                        <m:r>
                          <a:rPr lang="en-GB" sz="2000" b="0" i="1" smtClean="0">
                            <a:latin typeface="Cambria Math" panose="02040503050406030204" pitchFamily="18" charset="0"/>
                            <a:ea typeface="Cambria Math" panose="02040503050406030204" pitchFamily="18" charset="0"/>
                          </a:rPr>
                          <m:t>𝑐</m:t>
                        </m:r>
                        <m:r>
                          <a:rPr lang="en-GB" sz="2000" b="0" i="1" smtClean="0">
                            <a:latin typeface="Cambria Math" panose="02040503050406030204" pitchFamily="18" charset="0"/>
                            <a:ea typeface="Cambria Math" panose="02040503050406030204" pitchFamily="18" charset="0"/>
                          </a:rPr>
                          <m:t>∨¬</m:t>
                        </m:r>
                        <m:r>
                          <a:rPr lang="en-GB" sz="2000" b="0" i="1" smtClean="0">
                            <a:latin typeface="Cambria Math" panose="02040503050406030204" pitchFamily="18" charset="0"/>
                            <a:ea typeface="Cambria Math" panose="02040503050406030204" pitchFamily="18" charset="0"/>
                          </a:rPr>
                          <m:t>𝑓</m:t>
                        </m:r>
                      </m:e>
                    </m:d>
                    <m:r>
                      <a:rPr lang="en-GB" sz="2000" b="0" i="1" smtClean="0">
                        <a:latin typeface="Cambria Math" panose="02040503050406030204" pitchFamily="18" charset="0"/>
                        <a:ea typeface="Cambria Math" panose="02040503050406030204" pitchFamily="18" charset="0"/>
                      </a:rPr>
                      <m:t>.</m:t>
                    </m:r>
                  </m:oMath>
                </a14:m>
                <a:endParaRPr lang="en-GB" sz="2000" dirty="0"/>
              </a:p>
              <a:p>
                <a:endParaRPr lang="en-GB" sz="2000" dirty="0"/>
              </a:p>
              <a:p>
                <a:r>
                  <a:rPr lang="en-GB" sz="2000" b="1" dirty="0"/>
                  <a:t>Note:</a:t>
                </a:r>
                <a:r>
                  <a:rPr lang="en-GB" sz="2000" dirty="0"/>
                  <a:t> </a:t>
                </a:r>
                <a:r>
                  <a:rPr lang="en-US" sz="2000" i="1" dirty="0"/>
                  <a:t>The conditional statement p → q  can also be expressed as     “ p  only if q”.</a:t>
                </a:r>
                <a:endParaRPr lang="en-GB" sz="2000" dirty="0"/>
              </a:p>
              <a:p>
                <a:r>
                  <a:rPr lang="en-GB" sz="2400" dirty="0"/>
                  <a:t>      </a:t>
                </a:r>
                <a:endParaRPr lang="en-US" sz="2400" dirty="0"/>
              </a:p>
            </p:txBody>
          </p:sp>
        </mc:Choice>
        <mc:Fallback xmlns="">
          <p:sp>
            <p:nvSpPr>
              <p:cNvPr id="7" name="Rectangle 6"/>
              <p:cNvSpPr>
                <a:spLocks noRot="1" noChangeAspect="1" noMove="1" noResize="1" noEditPoints="1" noAdjustHandles="1" noChangeArrowheads="1" noChangeShapeType="1" noTextEdit="1"/>
              </p:cNvSpPr>
              <p:nvPr/>
            </p:nvSpPr>
            <p:spPr>
              <a:xfrm>
                <a:off x="533400" y="1676400"/>
                <a:ext cx="7924800" cy="4832092"/>
              </a:xfrm>
              <a:prstGeom prst="rect">
                <a:avLst/>
              </a:prstGeom>
              <a:blipFill rotWithShape="0">
                <a:blip r:embed="rId2"/>
                <a:stretch>
                  <a:fillRect l="-846" t="-504" r="-1462"/>
                </a:stretch>
              </a:blipFill>
            </p:spPr>
            <p:txBody>
              <a:bodyPr/>
              <a:lstStyle/>
              <a:p>
                <a:r>
                  <a:rPr lang="en-GB">
                    <a:noFill/>
                  </a:rPr>
                  <a:t> </a:t>
                </a:r>
              </a:p>
            </p:txBody>
          </p:sp>
        </mc:Fallback>
      </mc:AlternateContent>
    </p:spTree>
    <p:extLst>
      <p:ext uri="{BB962C8B-B14F-4D97-AF65-F5344CB8AC3E}">
        <p14:creationId xmlns:p14="http://schemas.microsoft.com/office/powerpoint/2010/main" val="15599810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7">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xEl>
                                              <p:pRg st="9" end="9"/>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Exercise </a:t>
            </a:r>
          </a:p>
        </p:txBody>
      </p:sp>
      <p:sp>
        <p:nvSpPr>
          <p:cNvPr id="4" name="Date Placeholder 3"/>
          <p:cNvSpPr>
            <a:spLocks noGrp="1"/>
          </p:cNvSpPr>
          <p:nvPr>
            <p:ph type="dt" sz="half" idx="10"/>
          </p:nvPr>
        </p:nvSpPr>
        <p:spPr/>
        <p:txBody>
          <a:bodyPr/>
          <a:lstStyle/>
          <a:p>
            <a:fld id="{C0F009A4-CC4F-4BB1-BE97-096241AF4E29}" type="datetime3">
              <a:rPr lang="en-US" smtClean="0"/>
              <a:t>27 April 2026</a:t>
            </a:fld>
            <a:endParaRPr lang="en-US"/>
          </a:p>
        </p:txBody>
      </p:sp>
      <p:sp>
        <p:nvSpPr>
          <p:cNvPr id="5" name="Footer Placeholder 4"/>
          <p:cNvSpPr>
            <a:spLocks noGrp="1"/>
          </p:cNvSpPr>
          <p:nvPr>
            <p:ph type="ftr" sz="quarter" idx="11"/>
          </p:nvPr>
        </p:nvSpPr>
        <p:spPr/>
        <p:txBody>
          <a:bodyPr/>
          <a:lstStyle/>
          <a:p>
            <a:r>
              <a:rPr lang="en-US"/>
              <a:t>SCS 1302   Discrete Mathematics 1       Prof. D D Karunaratna</a:t>
            </a:r>
          </a:p>
        </p:txBody>
      </p:sp>
      <p:sp>
        <p:nvSpPr>
          <p:cNvPr id="6" name="Slide Number Placeholder 5"/>
          <p:cNvSpPr>
            <a:spLocks noGrp="1"/>
          </p:cNvSpPr>
          <p:nvPr>
            <p:ph type="sldNum" sz="quarter" idx="12"/>
          </p:nvPr>
        </p:nvSpPr>
        <p:spPr/>
        <p:txBody>
          <a:bodyPr/>
          <a:lstStyle/>
          <a:p>
            <a:fld id="{0CA841A6-7C02-4C92-B6EE-5DBCC2AD53D0}" type="slidenum">
              <a:rPr lang="en-US" smtClean="0"/>
              <a:t>63</a:t>
            </a:fld>
            <a:endParaRPr lang="en-US"/>
          </a:p>
        </p:txBody>
      </p:sp>
      <p:sp>
        <p:nvSpPr>
          <p:cNvPr id="7" name="Rectangle 6"/>
          <p:cNvSpPr/>
          <p:nvPr/>
        </p:nvSpPr>
        <p:spPr>
          <a:xfrm>
            <a:off x="457200" y="1828800"/>
            <a:ext cx="8229600" cy="3785652"/>
          </a:xfrm>
          <a:prstGeom prst="rect">
            <a:avLst/>
          </a:prstGeom>
        </p:spPr>
        <p:txBody>
          <a:bodyPr wrap="square">
            <a:spAutoFit/>
          </a:bodyPr>
          <a:lstStyle/>
          <a:p>
            <a:r>
              <a:rPr lang="en-US" sz="2400" dirty="0"/>
              <a:t>Translate the following English sentences into a logical expression:</a:t>
            </a:r>
          </a:p>
          <a:p>
            <a:endParaRPr lang="en-US" sz="2400" dirty="0"/>
          </a:p>
          <a:p>
            <a:pPr marL="342900" indent="-342900">
              <a:buFont typeface="Arial" panose="020B0604020202020204" pitchFamily="34" charset="0"/>
              <a:buChar char="•"/>
            </a:pPr>
            <a:r>
              <a:rPr lang="en-US" sz="2400" dirty="0"/>
              <a:t>“School is closed if more than 2 feet of snow falls or if the wind chill is below -100.”</a:t>
            </a:r>
          </a:p>
          <a:p>
            <a:endParaRPr lang="en-US" sz="2400" dirty="0"/>
          </a:p>
          <a:p>
            <a:pPr marL="342900" indent="-342900">
              <a:buFont typeface="Arial" panose="020B0604020202020204" pitchFamily="34" charset="0"/>
              <a:buChar char="•"/>
            </a:pPr>
            <a:r>
              <a:rPr lang="en-US" sz="2400" dirty="0"/>
              <a:t>“To take discrete mathematics, you must have taken calculus or a course in computer science.”</a:t>
            </a:r>
          </a:p>
          <a:p>
            <a:endParaRPr lang="en-US" sz="2400" dirty="0"/>
          </a:p>
          <a:p>
            <a:pPr marL="342900" indent="-342900">
              <a:buFont typeface="Arial" panose="020B0604020202020204" pitchFamily="34" charset="0"/>
              <a:buChar char="•"/>
            </a:pPr>
            <a:endParaRPr lang="en-US" sz="2400" dirty="0"/>
          </a:p>
        </p:txBody>
      </p:sp>
    </p:spTree>
    <p:extLst>
      <p:ext uri="{BB962C8B-B14F-4D97-AF65-F5344CB8AC3E}">
        <p14:creationId xmlns:p14="http://schemas.microsoft.com/office/powerpoint/2010/main" val="351142751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Translating Logical Expressions into English Sentences</a:t>
            </a:r>
            <a:endParaRPr lang="en-GB" dirty="0"/>
          </a:p>
        </p:txBody>
      </p:sp>
      <p:sp>
        <p:nvSpPr>
          <p:cNvPr id="4" name="Date Placeholder 3"/>
          <p:cNvSpPr>
            <a:spLocks noGrp="1"/>
          </p:cNvSpPr>
          <p:nvPr>
            <p:ph type="dt" sz="half" idx="10"/>
          </p:nvPr>
        </p:nvSpPr>
        <p:spPr/>
        <p:txBody>
          <a:bodyPr/>
          <a:lstStyle/>
          <a:p>
            <a:fld id="{1E24601E-AD3F-4CAE-A0E8-58B9DFE1FA44}" type="datetime3">
              <a:rPr lang="en-US" smtClean="0"/>
              <a:t>27 April 2026</a:t>
            </a:fld>
            <a:endParaRPr lang="en-US"/>
          </a:p>
        </p:txBody>
      </p:sp>
      <p:sp>
        <p:nvSpPr>
          <p:cNvPr id="5" name="Footer Placeholder 4"/>
          <p:cNvSpPr>
            <a:spLocks noGrp="1"/>
          </p:cNvSpPr>
          <p:nvPr>
            <p:ph type="ftr" sz="quarter" idx="11"/>
          </p:nvPr>
        </p:nvSpPr>
        <p:spPr/>
        <p:txBody>
          <a:bodyPr/>
          <a:lstStyle/>
          <a:p>
            <a:r>
              <a:rPr lang="en-US"/>
              <a:t>SCS 1302   Discrete Mathematics 1       Prof. D D Karunaratna</a:t>
            </a:r>
          </a:p>
        </p:txBody>
      </p:sp>
      <p:sp>
        <p:nvSpPr>
          <p:cNvPr id="6" name="Slide Number Placeholder 5"/>
          <p:cNvSpPr>
            <a:spLocks noGrp="1"/>
          </p:cNvSpPr>
          <p:nvPr>
            <p:ph type="sldNum" sz="quarter" idx="12"/>
          </p:nvPr>
        </p:nvSpPr>
        <p:spPr/>
        <p:txBody>
          <a:bodyPr/>
          <a:lstStyle/>
          <a:p>
            <a:fld id="{0CA841A6-7C02-4C92-B6EE-5DBCC2AD53D0}" type="slidenum">
              <a:rPr lang="en-US" smtClean="0"/>
              <a:t>64</a:t>
            </a:fld>
            <a:endParaRPr lang="en-US"/>
          </a:p>
        </p:txBody>
      </p:sp>
      <p:sp>
        <p:nvSpPr>
          <p:cNvPr id="7" name="TextBox 6"/>
          <p:cNvSpPr txBox="1"/>
          <p:nvPr/>
        </p:nvSpPr>
        <p:spPr>
          <a:xfrm>
            <a:off x="342900" y="1749861"/>
            <a:ext cx="8458200" cy="1200329"/>
          </a:xfrm>
          <a:prstGeom prst="rect">
            <a:avLst/>
          </a:prstGeom>
          <a:noFill/>
        </p:spPr>
        <p:txBody>
          <a:bodyPr wrap="square" rtlCol="0">
            <a:spAutoFit/>
          </a:bodyPr>
          <a:lstStyle/>
          <a:p>
            <a:r>
              <a:rPr lang="en-US" sz="2400" dirty="0"/>
              <a:t>Let  P be “ It is snowing”,</a:t>
            </a:r>
          </a:p>
          <a:p>
            <a:r>
              <a:rPr lang="en-US" sz="2400" dirty="0"/>
              <a:t>        q  be “ I will go to town” , and</a:t>
            </a:r>
          </a:p>
          <a:p>
            <a:r>
              <a:rPr lang="en-US" sz="2400" dirty="0"/>
              <a:t>        r   be  “ I have time”.</a:t>
            </a:r>
          </a:p>
        </p:txBody>
      </p:sp>
      <mc:AlternateContent xmlns:mc="http://schemas.openxmlformats.org/markup-compatibility/2006" xmlns:a14="http://schemas.microsoft.com/office/drawing/2010/main">
        <mc:Choice Requires="a14">
          <p:sp>
            <p:nvSpPr>
              <p:cNvPr id="8" name="TextBox 7"/>
              <p:cNvSpPr txBox="1"/>
              <p:nvPr/>
            </p:nvSpPr>
            <p:spPr>
              <a:xfrm>
                <a:off x="609600" y="3429000"/>
                <a:ext cx="8077200" cy="2308324"/>
              </a:xfrm>
              <a:prstGeom prst="rect">
                <a:avLst/>
              </a:prstGeom>
              <a:noFill/>
            </p:spPr>
            <p:txBody>
              <a:bodyPr wrap="square" rtlCol="0">
                <a:spAutoFit/>
              </a:bodyPr>
              <a:lstStyle/>
              <a:p>
                <a:r>
                  <a:rPr lang="en-US" sz="2400" dirty="0"/>
                  <a:t>Write a sentence in English corresponding to each of the following propositions:</a:t>
                </a:r>
              </a:p>
              <a:p>
                <a:pPr indent="-514350">
                  <a:buFont typeface="+mj-lt"/>
                  <a:buAutoNum type="arabicPeriod"/>
                </a:pPr>
                <a14:m>
                  <m:oMath xmlns:m="http://schemas.openxmlformats.org/officeDocument/2006/math">
                    <m:r>
                      <a:rPr lang="en-US" sz="2400">
                        <a:latin typeface="Cambria Math" panose="02040503050406030204" pitchFamily="18" charset="0"/>
                      </a:rPr>
                      <m:t>𝑟</m:t>
                    </m:r>
                    <m:r>
                      <a:rPr lang="en-US" sz="2400">
                        <a:latin typeface="Cambria Math" panose="02040503050406030204" pitchFamily="18" charset="0"/>
                      </a:rPr>
                      <m:t>∧</m:t>
                    </m:r>
                    <m:r>
                      <a:rPr lang="en-US" sz="2400">
                        <a:latin typeface="Cambria Math" panose="02040503050406030204" pitchFamily="18" charset="0"/>
                      </a:rPr>
                      <m:t>𝑞</m:t>
                    </m:r>
                  </m:oMath>
                </a14:m>
                <a:endParaRPr lang="en-US" sz="2400" dirty="0"/>
              </a:p>
              <a:p>
                <a:pPr indent="-514350">
                  <a:buFont typeface="+mj-lt"/>
                  <a:buAutoNum type="arabicPeriod"/>
                </a:pPr>
                <a14:m>
                  <m:oMath xmlns:m="http://schemas.openxmlformats.org/officeDocument/2006/math">
                    <m:r>
                      <a:rPr lang="en-US" sz="2400">
                        <a:latin typeface="Cambria Math" panose="02040503050406030204" pitchFamily="18" charset="0"/>
                      </a:rPr>
                      <m:t>𝑞</m:t>
                    </m:r>
                    <m:r>
                      <a:rPr lang="en-US" sz="2400">
                        <a:latin typeface="Cambria Math" panose="02040503050406030204" pitchFamily="18" charset="0"/>
                      </a:rPr>
                      <m:t> ⟷</m:t>
                    </m:r>
                    <m:d>
                      <m:dPr>
                        <m:ctrlPr>
                          <a:rPr lang="en-US" sz="2400" i="1">
                            <a:latin typeface="Cambria Math" panose="02040503050406030204" pitchFamily="18" charset="0"/>
                          </a:rPr>
                        </m:ctrlPr>
                      </m:dPr>
                      <m:e>
                        <m:r>
                          <a:rPr lang="en-US" sz="2400">
                            <a:latin typeface="Cambria Math" panose="02040503050406030204" pitchFamily="18" charset="0"/>
                          </a:rPr>
                          <m:t>𝑟</m:t>
                        </m:r>
                        <m:r>
                          <a:rPr lang="en-US" sz="2400">
                            <a:latin typeface="Cambria Math" panose="02040503050406030204" pitchFamily="18" charset="0"/>
                          </a:rPr>
                          <m:t> ∧ ⇁</m:t>
                        </m:r>
                        <m:r>
                          <a:rPr lang="en-US" sz="2400">
                            <a:latin typeface="Cambria Math" panose="02040503050406030204" pitchFamily="18" charset="0"/>
                          </a:rPr>
                          <m:t>𝑝</m:t>
                        </m:r>
                      </m:e>
                    </m:d>
                  </m:oMath>
                </a14:m>
                <a:endParaRPr lang="en-US" sz="2400" dirty="0"/>
              </a:p>
              <a:p>
                <a:pPr indent="-514350">
                  <a:buFont typeface="+mj-lt"/>
                  <a:buAutoNum type="arabicPeriod"/>
                </a:pPr>
                <a14:m>
                  <m:oMath xmlns:m="http://schemas.openxmlformats.org/officeDocument/2006/math">
                    <m:r>
                      <a:rPr lang="en-US" sz="2400">
                        <a:latin typeface="Cambria Math" panose="02040503050406030204" pitchFamily="18" charset="0"/>
                      </a:rPr>
                      <m:t>(</m:t>
                    </m:r>
                    <m:r>
                      <a:rPr lang="en-US" sz="2400">
                        <a:latin typeface="Cambria Math" panose="02040503050406030204" pitchFamily="18" charset="0"/>
                      </a:rPr>
                      <m:t>𝑞</m:t>
                    </m:r>
                    <m:r>
                      <a:rPr lang="en-US" sz="2400">
                        <a:latin typeface="Cambria Math" panose="02040503050406030204" pitchFamily="18" charset="0"/>
                      </a:rPr>
                      <m:t>⟶</m:t>
                    </m:r>
                    <m:r>
                      <a:rPr lang="en-US" sz="2400">
                        <a:latin typeface="Cambria Math" panose="02040503050406030204" pitchFamily="18" charset="0"/>
                      </a:rPr>
                      <m:t>𝑟</m:t>
                    </m:r>
                    <m:r>
                      <a:rPr lang="en-US" sz="2400">
                        <a:latin typeface="Cambria Math" panose="02040503050406030204" pitchFamily="18" charset="0"/>
                      </a:rPr>
                      <m:t>) ∧(</m:t>
                    </m:r>
                    <m:r>
                      <a:rPr lang="en-US" sz="2400">
                        <a:latin typeface="Cambria Math" panose="02040503050406030204" pitchFamily="18" charset="0"/>
                      </a:rPr>
                      <m:t>𝑟</m:t>
                    </m:r>
                    <m:r>
                      <a:rPr lang="en-US" sz="2400">
                        <a:latin typeface="Cambria Math" panose="02040503050406030204" pitchFamily="18" charset="0"/>
                      </a:rPr>
                      <m:t>⟶</m:t>
                    </m:r>
                    <m:r>
                      <a:rPr lang="en-US" sz="2400">
                        <a:latin typeface="Cambria Math" panose="02040503050406030204" pitchFamily="18" charset="0"/>
                      </a:rPr>
                      <m:t>𝑞</m:t>
                    </m:r>
                    <m:r>
                      <a:rPr lang="en-US" sz="2400">
                        <a:latin typeface="Cambria Math" panose="02040503050406030204" pitchFamily="18" charset="0"/>
                      </a:rPr>
                      <m:t>)</m:t>
                    </m:r>
                  </m:oMath>
                </a14:m>
                <a:endParaRPr lang="en-US" sz="2400" dirty="0"/>
              </a:p>
              <a:p>
                <a:pPr indent="-514350">
                  <a:buFont typeface="+mj-lt"/>
                  <a:buAutoNum type="arabicPeriod"/>
                </a:pPr>
                <a14:m>
                  <m:oMath xmlns:m="http://schemas.openxmlformats.org/officeDocument/2006/math">
                    <m:r>
                      <a:rPr lang="en-US" sz="2400">
                        <a:latin typeface="Cambria Math" panose="02040503050406030204" pitchFamily="18" charset="0"/>
                      </a:rPr>
                      <m:t>¬</m:t>
                    </m:r>
                    <m:d>
                      <m:dPr>
                        <m:ctrlPr>
                          <a:rPr lang="en-US" sz="2400" i="1">
                            <a:latin typeface="Cambria Math" panose="02040503050406030204" pitchFamily="18" charset="0"/>
                          </a:rPr>
                        </m:ctrlPr>
                      </m:dPr>
                      <m:e>
                        <m:r>
                          <a:rPr lang="en-US" sz="2400">
                            <a:latin typeface="Cambria Math" panose="02040503050406030204" pitchFamily="18" charset="0"/>
                          </a:rPr>
                          <m:t>𝑞</m:t>
                        </m:r>
                        <m:r>
                          <a:rPr lang="en-US" sz="2400">
                            <a:latin typeface="Cambria Math" panose="02040503050406030204" pitchFamily="18" charset="0"/>
                          </a:rPr>
                          <m:t> ∨</m:t>
                        </m:r>
                        <m:r>
                          <a:rPr lang="en-US" sz="2400">
                            <a:latin typeface="Cambria Math" panose="02040503050406030204" pitchFamily="18" charset="0"/>
                          </a:rPr>
                          <m:t>𝑟</m:t>
                        </m:r>
                      </m:e>
                    </m:d>
                    <m:r>
                      <a:rPr lang="en-US" sz="2400">
                        <a:latin typeface="Cambria Math" panose="02040503050406030204" pitchFamily="18" charset="0"/>
                      </a:rPr>
                      <m:t>.</m:t>
                    </m:r>
                  </m:oMath>
                </a14:m>
                <a:endParaRPr lang="en-US" sz="2400" dirty="0"/>
              </a:p>
            </p:txBody>
          </p:sp>
        </mc:Choice>
        <mc:Fallback xmlns="">
          <p:sp>
            <p:nvSpPr>
              <p:cNvPr id="8" name="TextBox 7"/>
              <p:cNvSpPr txBox="1">
                <a:spLocks noRot="1" noChangeAspect="1" noMove="1" noResize="1" noEditPoints="1" noAdjustHandles="1" noChangeArrowheads="1" noChangeShapeType="1" noTextEdit="1"/>
              </p:cNvSpPr>
              <p:nvPr/>
            </p:nvSpPr>
            <p:spPr>
              <a:xfrm>
                <a:off x="609600" y="3429000"/>
                <a:ext cx="8077200" cy="2308324"/>
              </a:xfrm>
              <a:prstGeom prst="rect">
                <a:avLst/>
              </a:prstGeom>
              <a:blipFill rotWithShape="0">
                <a:blip r:embed="rId2"/>
                <a:stretch>
                  <a:fillRect l="-1132" t="-1852" b="-4497"/>
                </a:stretch>
              </a:blipFill>
            </p:spPr>
            <p:txBody>
              <a:bodyPr/>
              <a:lstStyle/>
              <a:p>
                <a:r>
                  <a:rPr lang="en-GB">
                    <a:noFill/>
                  </a:rPr>
                  <a:t> </a:t>
                </a:r>
              </a:p>
            </p:txBody>
          </p:sp>
        </mc:Fallback>
      </mc:AlternateContent>
    </p:spTree>
    <p:extLst>
      <p:ext uri="{BB962C8B-B14F-4D97-AF65-F5344CB8AC3E}">
        <p14:creationId xmlns:p14="http://schemas.microsoft.com/office/powerpoint/2010/main" val="32835694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FBED7B-0AA1-2E27-3DA1-D0E26C9322FE}"/>
              </a:ext>
            </a:extLst>
          </p:cNvPr>
          <p:cNvSpPr>
            <a:spLocks noGrp="1"/>
          </p:cNvSpPr>
          <p:nvPr>
            <p:ph type="title"/>
          </p:nvPr>
        </p:nvSpPr>
        <p:spPr/>
        <p:txBody>
          <a:bodyPr>
            <a:normAutofit/>
          </a:bodyPr>
          <a:lstStyle/>
          <a:p>
            <a:r>
              <a:rPr lang="en-US" sz="2400" b="0" i="0" u="none" strike="noStrike" baseline="0" dirty="0">
                <a:solidFill>
                  <a:srgbClr val="FFFFFF"/>
                </a:solidFill>
                <a:latin typeface="CMSS12"/>
              </a:rPr>
              <a:t>Classification of Propositions – </a:t>
            </a:r>
            <a:br>
              <a:rPr lang="en-US" sz="2400" b="0" i="0" u="none" strike="noStrike" baseline="0" dirty="0">
                <a:solidFill>
                  <a:srgbClr val="FFFFFF"/>
                </a:solidFill>
                <a:latin typeface="CMSS12"/>
              </a:rPr>
            </a:br>
            <a:r>
              <a:rPr lang="en-US" sz="2400" b="0" i="0" u="none" strike="noStrike" baseline="0" dirty="0">
                <a:solidFill>
                  <a:srgbClr val="FFFFFF"/>
                </a:solidFill>
                <a:latin typeface="CMSS12"/>
              </a:rPr>
              <a:t>Satisfiable and Unsatisfiable</a:t>
            </a:r>
            <a:endParaRPr lang="si-LK" sz="2400"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93647322-3F02-3168-1097-D4A861D638F6}"/>
                  </a:ext>
                </a:extLst>
              </p:cNvPr>
              <p:cNvSpPr>
                <a:spLocks noGrp="1"/>
              </p:cNvSpPr>
              <p:nvPr>
                <p:ph idx="1"/>
              </p:nvPr>
            </p:nvSpPr>
            <p:spPr/>
            <p:txBody>
              <a:bodyPr/>
              <a:lstStyle/>
              <a:p>
                <a:pPr marL="0" indent="0" algn="l">
                  <a:buNone/>
                </a:pPr>
                <a:r>
                  <a:rPr lang="en-US" sz="1800" b="0" i="0" u="none" strike="noStrike" baseline="0" dirty="0">
                    <a:latin typeface="STIXGeneral-Regular"/>
                  </a:rPr>
                  <a:t>A formula</a:t>
                </a:r>
                <a:r>
                  <a:rPr lang="en-US" sz="1800" dirty="0">
                    <a:latin typeface="STIXGeneral-Regular"/>
                  </a:rPr>
                  <a:t> (proposition)</a:t>
                </a:r>
                <a:r>
                  <a:rPr lang="en-US" sz="1800" b="0" i="0" u="none" strike="noStrike" baseline="0" dirty="0">
                    <a:latin typeface="STIXGeneral-Regular"/>
                  </a:rPr>
                  <a:t>  is </a:t>
                </a:r>
                <a:r>
                  <a:rPr lang="en-US" sz="1800" b="1" i="0" u="none" strike="noStrike" baseline="0" dirty="0">
                    <a:latin typeface="STIXGeneral-Bold"/>
                  </a:rPr>
                  <a:t>satisfiable </a:t>
                </a:r>
                <a:r>
                  <a:rPr lang="en-US" sz="1800" b="0" i="0" u="none" strike="noStrike" baseline="0" dirty="0">
                    <a:latin typeface="STIXGeneral-Regular"/>
                  </a:rPr>
                  <a:t>if there is an assignment of truth values to its variables 9propositions) that makes it true (that is, when it is a tautology or a contingency)</a:t>
                </a:r>
                <a:endParaRPr lang="en-US" sz="1800" b="0" i="0" u="none" strike="noStrike" baseline="0" dirty="0">
                  <a:latin typeface="CMSSI10"/>
                </a:endParaRPr>
              </a:p>
              <a:p>
                <a:pPr marL="0" indent="0" algn="l">
                  <a:buNone/>
                </a:pPr>
                <a:r>
                  <a:rPr lang="en-US" sz="1800" b="0" i="0" u="none" strike="noStrike" baseline="0" dirty="0">
                    <a:latin typeface="CMSSBX10"/>
                  </a:rPr>
                  <a:t>Examples</a:t>
                </a:r>
              </a:p>
              <a:p>
                <a:pPr marL="0" indent="0">
                  <a:buNone/>
                </a:pPr>
                <a:r>
                  <a:rPr lang="en-US" sz="1800" b="0" i="0" u="none" strike="noStrike" baseline="0" dirty="0">
                    <a:latin typeface="CMSSI10"/>
                  </a:rPr>
                  <a:t>	p</a:t>
                </a:r>
                <a:r>
                  <a:rPr lang="en-US" sz="1800" b="0" i="0" u="none" strike="noStrike" baseline="0" dirty="0">
                    <a:latin typeface="CMSS10"/>
                  </a:rPr>
                  <a:t>, </a:t>
                </a:r>
                <a14:m>
                  <m:oMath xmlns:m="http://schemas.openxmlformats.org/officeDocument/2006/math">
                    <m:r>
                      <a:rPr lang="en-GB" sz="1800" b="0" i="1" smtClean="0">
                        <a:latin typeface="Cambria Math" panose="02040503050406030204" pitchFamily="18" charset="0"/>
                        <a:ea typeface="Cambria Math" panose="02040503050406030204" pitchFamily="18" charset="0"/>
                      </a:rPr>
                      <m:t>¬ </m:t>
                    </m:r>
                  </m:oMath>
                </a14:m>
                <a:r>
                  <a:rPr lang="en-US" sz="1800" b="0" i="0" u="none" strike="noStrike" baseline="0" dirty="0">
                    <a:latin typeface="CMSSI10"/>
                  </a:rPr>
                  <a:t>p</a:t>
                </a:r>
                <a:r>
                  <a:rPr lang="en-US" sz="1800" b="0" i="0" u="none" strike="noStrike" baseline="0" dirty="0">
                    <a:latin typeface="CMSS10"/>
                  </a:rPr>
                  <a:t>, </a:t>
                </a:r>
                <a:r>
                  <a:rPr lang="en-US" sz="1800" b="0" i="0" u="none" strike="noStrike" baseline="0" dirty="0">
                    <a:latin typeface="CMSSI10"/>
                  </a:rPr>
                  <a:t>p </a:t>
                </a:r>
                <a14:m>
                  <m:oMath xmlns:m="http://schemas.openxmlformats.org/officeDocument/2006/math">
                    <m:r>
                      <a:rPr lang="en-US" sz="1800">
                        <a:latin typeface="Cambria Math" panose="02040503050406030204" pitchFamily="18" charset="0"/>
                      </a:rPr>
                      <m:t>∧</m:t>
                    </m:r>
                  </m:oMath>
                </a14:m>
                <a:r>
                  <a:rPr lang="en-US" sz="1800" dirty="0">
                    <a:latin typeface="CMSY10"/>
                  </a:rPr>
                  <a:t> </a:t>
                </a:r>
                <a:r>
                  <a:rPr lang="en-US" sz="1800" b="0" i="0" u="none" strike="noStrike" baseline="0" dirty="0">
                    <a:latin typeface="CMSSI10"/>
                  </a:rPr>
                  <a:t>q</a:t>
                </a:r>
              </a:p>
              <a:p>
                <a:pPr marL="0" indent="0" algn="l">
                  <a:buNone/>
                </a:pPr>
                <a:endParaRPr lang="en-US" sz="1800" dirty="0">
                  <a:latin typeface="CMSSI10"/>
                </a:endParaRPr>
              </a:p>
              <a:p>
                <a:pPr marL="0" indent="0" algn="l">
                  <a:buNone/>
                </a:pPr>
                <a:r>
                  <a:rPr lang="en-US" sz="1800" b="0" i="0" u="none" strike="noStrike" baseline="0" dirty="0">
                    <a:latin typeface="CMSSI10"/>
                  </a:rPr>
                  <a:t>In Logic a PROPOSITION C is called UNSATISFIABLE if there are no output values T (true) in the truth table for C.</a:t>
                </a:r>
              </a:p>
              <a:p>
                <a:pPr marL="0" indent="0" algn="l">
                  <a:buNone/>
                </a:pPr>
                <a:endParaRPr lang="en-US" sz="1800" dirty="0">
                  <a:latin typeface="CMSSI10"/>
                </a:endParaRPr>
              </a:p>
              <a:p>
                <a:pPr marL="0" indent="0" algn="l">
                  <a:buNone/>
                </a:pPr>
                <a:r>
                  <a:rPr lang="en-US" sz="1800" b="0" i="0" u="none" strike="noStrike" baseline="0" dirty="0">
                    <a:latin typeface="CMSSBX10"/>
                  </a:rPr>
                  <a:t>Examples</a:t>
                </a:r>
              </a:p>
              <a:p>
                <a:r>
                  <a:rPr lang="en-US" sz="1800" b="0" i="0" u="none" strike="noStrike" baseline="0" dirty="0">
                    <a:latin typeface="CMSSI10"/>
                  </a:rPr>
                  <a:t>p </a:t>
                </a:r>
                <a14:m>
                  <m:oMath xmlns:m="http://schemas.openxmlformats.org/officeDocument/2006/math">
                    <m:r>
                      <a:rPr lang="en-US" sz="1800">
                        <a:latin typeface="Cambria Math" panose="02040503050406030204" pitchFamily="18" charset="0"/>
                      </a:rPr>
                      <m:t>∧</m:t>
                    </m:r>
                    <m:r>
                      <a:rPr lang="en-US" sz="1800" i="1">
                        <a:latin typeface="Cambria Math" panose="02040503050406030204" pitchFamily="18" charset="0"/>
                      </a:rPr>
                      <m:t> </m:t>
                    </m:r>
                    <m:r>
                      <a:rPr lang="en-GB" sz="1800" b="0" i="1" smtClean="0">
                        <a:latin typeface="Cambria Math" panose="02040503050406030204" pitchFamily="18" charset="0"/>
                        <a:ea typeface="Cambria Math" panose="02040503050406030204" pitchFamily="18" charset="0"/>
                      </a:rPr>
                      <m:t>¬ </m:t>
                    </m:r>
                  </m:oMath>
                </a14:m>
                <a:r>
                  <a:rPr lang="en-US" sz="1800" b="0" i="0" u="none" strike="noStrike" baseline="0" dirty="0">
                    <a:latin typeface="CMSSI10"/>
                  </a:rPr>
                  <a:t>p</a:t>
                </a:r>
              </a:p>
              <a:p>
                <a:pPr algn="l"/>
                <a:r>
                  <a:rPr lang="en-US" sz="1800" b="0" i="0" u="none" strike="noStrike" baseline="0" dirty="0">
                    <a:latin typeface="STIXGeneral-Regular"/>
                  </a:rPr>
                  <a:t>when the compound proposition is false for all assignments of truth values to its variables, the compound proposition is </a:t>
                </a:r>
                <a:r>
                  <a:rPr lang="en-US" sz="1800" b="1" i="0" u="none" strike="noStrike" baseline="0" dirty="0">
                    <a:latin typeface="STIXGeneral-Bold"/>
                  </a:rPr>
                  <a:t>unsatisfiable</a:t>
                </a:r>
                <a:endParaRPr lang="si-LK" dirty="0"/>
              </a:p>
            </p:txBody>
          </p:sp>
        </mc:Choice>
        <mc:Fallback xmlns="">
          <p:sp>
            <p:nvSpPr>
              <p:cNvPr id="3" name="Content Placeholder 2">
                <a:extLst>
                  <a:ext uri="{FF2B5EF4-FFF2-40B4-BE49-F238E27FC236}">
                    <a16:creationId xmlns:a16="http://schemas.microsoft.com/office/drawing/2014/main" id="{93647322-3F02-3168-1097-D4A861D638F6}"/>
                  </a:ext>
                </a:extLst>
              </p:cNvPr>
              <p:cNvSpPr>
                <a:spLocks noGrp="1" noRot="1" noChangeAspect="1" noMove="1" noResize="1" noEditPoints="1" noAdjustHandles="1" noChangeArrowheads="1" noChangeShapeType="1" noTextEdit="1"/>
              </p:cNvSpPr>
              <p:nvPr>
                <p:ph idx="1"/>
              </p:nvPr>
            </p:nvSpPr>
            <p:spPr>
              <a:blipFill>
                <a:blip r:embed="rId2"/>
                <a:stretch>
                  <a:fillRect l="-593" t="-685"/>
                </a:stretch>
              </a:blipFill>
            </p:spPr>
            <p:txBody>
              <a:bodyPr/>
              <a:lstStyle/>
              <a:p>
                <a:r>
                  <a:rPr lang="si-LK">
                    <a:noFill/>
                  </a:rPr>
                  <a:t> </a:t>
                </a:r>
              </a:p>
            </p:txBody>
          </p:sp>
        </mc:Fallback>
      </mc:AlternateContent>
      <p:sp>
        <p:nvSpPr>
          <p:cNvPr id="4" name="Date Placeholder 3">
            <a:extLst>
              <a:ext uri="{FF2B5EF4-FFF2-40B4-BE49-F238E27FC236}">
                <a16:creationId xmlns:a16="http://schemas.microsoft.com/office/drawing/2014/main" id="{20C50859-C76F-64D5-30B4-FF0C5C6778A1}"/>
              </a:ext>
            </a:extLst>
          </p:cNvPr>
          <p:cNvSpPr>
            <a:spLocks noGrp="1"/>
          </p:cNvSpPr>
          <p:nvPr>
            <p:ph type="dt" sz="half" idx="10"/>
          </p:nvPr>
        </p:nvSpPr>
        <p:spPr/>
        <p:txBody>
          <a:bodyPr/>
          <a:lstStyle/>
          <a:p>
            <a:fld id="{BF24600B-2BF8-4E1C-A264-746D659B1350}" type="datetime3">
              <a:rPr lang="en-US" smtClean="0"/>
              <a:t>27 April 2026</a:t>
            </a:fld>
            <a:endParaRPr lang="en-US"/>
          </a:p>
        </p:txBody>
      </p:sp>
      <p:sp>
        <p:nvSpPr>
          <p:cNvPr id="5" name="Footer Placeholder 4">
            <a:extLst>
              <a:ext uri="{FF2B5EF4-FFF2-40B4-BE49-F238E27FC236}">
                <a16:creationId xmlns:a16="http://schemas.microsoft.com/office/drawing/2014/main" id="{7FB742CE-6247-FF4A-FF23-FFB907556539}"/>
              </a:ext>
            </a:extLst>
          </p:cNvPr>
          <p:cNvSpPr>
            <a:spLocks noGrp="1"/>
          </p:cNvSpPr>
          <p:nvPr>
            <p:ph type="ftr" sz="quarter" idx="11"/>
          </p:nvPr>
        </p:nvSpPr>
        <p:spPr/>
        <p:txBody>
          <a:bodyPr/>
          <a:lstStyle/>
          <a:p>
            <a:r>
              <a:rPr lang="en-US"/>
              <a:t>SCS 1302   Discrete Mathematics 1       Prof. D D Karunaratna</a:t>
            </a:r>
          </a:p>
        </p:txBody>
      </p:sp>
      <p:sp>
        <p:nvSpPr>
          <p:cNvPr id="6" name="Slide Number Placeholder 5">
            <a:extLst>
              <a:ext uri="{FF2B5EF4-FFF2-40B4-BE49-F238E27FC236}">
                <a16:creationId xmlns:a16="http://schemas.microsoft.com/office/drawing/2014/main" id="{1C69EB44-FDC4-1856-6628-81BC8B99DF43}"/>
              </a:ext>
            </a:extLst>
          </p:cNvPr>
          <p:cNvSpPr>
            <a:spLocks noGrp="1"/>
          </p:cNvSpPr>
          <p:nvPr>
            <p:ph type="sldNum" sz="quarter" idx="12"/>
          </p:nvPr>
        </p:nvSpPr>
        <p:spPr/>
        <p:txBody>
          <a:bodyPr/>
          <a:lstStyle/>
          <a:p>
            <a:fld id="{0CA841A6-7C02-4C92-B6EE-5DBCC2AD53D0}" type="slidenum">
              <a:rPr lang="en-US" smtClean="0"/>
              <a:t>65</a:t>
            </a:fld>
            <a:endParaRPr lang="en-US"/>
          </a:p>
        </p:txBody>
      </p:sp>
    </p:spTree>
    <p:extLst>
      <p:ext uri="{BB962C8B-B14F-4D97-AF65-F5344CB8AC3E}">
        <p14:creationId xmlns:p14="http://schemas.microsoft.com/office/powerpoint/2010/main" val="364527463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F643E3-BDE1-8A98-E890-2BCC5C8CE932}"/>
              </a:ext>
            </a:extLst>
          </p:cNvPr>
          <p:cNvSpPr>
            <a:spLocks noGrp="1"/>
          </p:cNvSpPr>
          <p:nvPr>
            <p:ph type="title"/>
          </p:nvPr>
        </p:nvSpPr>
        <p:spPr/>
        <p:txBody>
          <a:bodyPr/>
          <a:lstStyle/>
          <a:p>
            <a:r>
              <a:rPr lang="en-US" sz="3600" b="0" i="0" u="none" strike="noStrike" baseline="0" dirty="0">
                <a:solidFill>
                  <a:srgbClr val="FFFFFF"/>
                </a:solidFill>
                <a:latin typeface="CMSS12"/>
              </a:rPr>
              <a:t>Satisfiable and Unsatisfiable</a:t>
            </a:r>
            <a:endParaRPr lang="si-LK" dirty="0"/>
          </a:p>
        </p:txBody>
      </p:sp>
      <p:sp>
        <p:nvSpPr>
          <p:cNvPr id="3" name="Content Placeholder 2">
            <a:extLst>
              <a:ext uri="{FF2B5EF4-FFF2-40B4-BE49-F238E27FC236}">
                <a16:creationId xmlns:a16="http://schemas.microsoft.com/office/drawing/2014/main" id="{50D9FB02-FF02-0306-DC75-55BFCCE039FE}"/>
              </a:ext>
            </a:extLst>
          </p:cNvPr>
          <p:cNvSpPr>
            <a:spLocks noGrp="1"/>
          </p:cNvSpPr>
          <p:nvPr>
            <p:ph idx="1"/>
          </p:nvPr>
        </p:nvSpPr>
        <p:spPr/>
        <p:txBody>
          <a:bodyPr/>
          <a:lstStyle/>
          <a:p>
            <a:pPr algn="l"/>
            <a:r>
              <a:rPr lang="en-US" sz="1800" dirty="0">
                <a:latin typeface="STIXGeneral-Regular"/>
              </a:rPr>
              <a:t>T</a:t>
            </a:r>
            <a:r>
              <a:rPr lang="en-US" sz="1800" b="0" i="0" u="none" strike="noStrike" baseline="0" dirty="0">
                <a:latin typeface="STIXGeneral-Regular"/>
              </a:rPr>
              <a:t>o show that a compound proposition is </a:t>
            </a:r>
            <a:r>
              <a:rPr lang="en-US" sz="1800" b="0" i="0" u="none" strike="noStrike" baseline="0">
                <a:latin typeface="STIXGeneral-Regular"/>
              </a:rPr>
              <a:t>unsatisfiable need to </a:t>
            </a:r>
            <a:r>
              <a:rPr lang="en-US" sz="1800" b="0" i="0" u="none" strike="noStrike" baseline="0" dirty="0">
                <a:latin typeface="STIXGeneral-Regular"/>
              </a:rPr>
              <a:t>show that </a:t>
            </a:r>
            <a:r>
              <a:rPr lang="en-US" sz="1800" b="0" i="1" u="none" strike="noStrike" baseline="0" dirty="0">
                <a:latin typeface="STIXGeneral-Italic"/>
              </a:rPr>
              <a:t>every </a:t>
            </a:r>
            <a:r>
              <a:rPr lang="en-US" sz="1800" b="0" i="0" u="none" strike="noStrike" baseline="0" dirty="0">
                <a:latin typeface="STIXGeneral-Regular"/>
              </a:rPr>
              <a:t>assignment of truth values to its variables makes it false.</a:t>
            </a:r>
            <a:endParaRPr lang="si-LK" dirty="0"/>
          </a:p>
        </p:txBody>
      </p:sp>
      <p:sp>
        <p:nvSpPr>
          <p:cNvPr id="4" name="Date Placeholder 3">
            <a:extLst>
              <a:ext uri="{FF2B5EF4-FFF2-40B4-BE49-F238E27FC236}">
                <a16:creationId xmlns:a16="http://schemas.microsoft.com/office/drawing/2014/main" id="{CB41E3FA-384D-6A5E-C659-4FE23E8C2460}"/>
              </a:ext>
            </a:extLst>
          </p:cNvPr>
          <p:cNvSpPr>
            <a:spLocks noGrp="1"/>
          </p:cNvSpPr>
          <p:nvPr>
            <p:ph type="dt" sz="half" idx="10"/>
          </p:nvPr>
        </p:nvSpPr>
        <p:spPr/>
        <p:txBody>
          <a:bodyPr/>
          <a:lstStyle/>
          <a:p>
            <a:fld id="{4833C929-C9DD-4C66-BDC9-0D85DE389F8F}" type="datetime3">
              <a:rPr lang="en-US" smtClean="0"/>
              <a:t>27 April 2026</a:t>
            </a:fld>
            <a:endParaRPr lang="en-US"/>
          </a:p>
        </p:txBody>
      </p:sp>
      <p:sp>
        <p:nvSpPr>
          <p:cNvPr id="5" name="Footer Placeholder 4">
            <a:extLst>
              <a:ext uri="{FF2B5EF4-FFF2-40B4-BE49-F238E27FC236}">
                <a16:creationId xmlns:a16="http://schemas.microsoft.com/office/drawing/2014/main" id="{9F36A587-4C98-4016-6B0C-31B66CFB87C4}"/>
              </a:ext>
            </a:extLst>
          </p:cNvPr>
          <p:cNvSpPr>
            <a:spLocks noGrp="1"/>
          </p:cNvSpPr>
          <p:nvPr>
            <p:ph type="ftr" sz="quarter" idx="11"/>
          </p:nvPr>
        </p:nvSpPr>
        <p:spPr/>
        <p:txBody>
          <a:bodyPr/>
          <a:lstStyle/>
          <a:p>
            <a:r>
              <a:rPr lang="en-US"/>
              <a:t>SCS 1302   Discrete Mathematics 1       Prof. D D Karunaratna</a:t>
            </a:r>
          </a:p>
        </p:txBody>
      </p:sp>
      <p:sp>
        <p:nvSpPr>
          <p:cNvPr id="6" name="Slide Number Placeholder 5">
            <a:extLst>
              <a:ext uri="{FF2B5EF4-FFF2-40B4-BE49-F238E27FC236}">
                <a16:creationId xmlns:a16="http://schemas.microsoft.com/office/drawing/2014/main" id="{21538E7A-DABC-CFA2-246C-CA4BBCC2BDBD}"/>
              </a:ext>
            </a:extLst>
          </p:cNvPr>
          <p:cNvSpPr>
            <a:spLocks noGrp="1"/>
          </p:cNvSpPr>
          <p:nvPr>
            <p:ph type="sldNum" sz="quarter" idx="12"/>
          </p:nvPr>
        </p:nvSpPr>
        <p:spPr/>
        <p:txBody>
          <a:bodyPr/>
          <a:lstStyle/>
          <a:p>
            <a:fld id="{0CA841A6-7C02-4C92-B6EE-5DBCC2AD53D0}" type="slidenum">
              <a:rPr lang="en-US" smtClean="0"/>
              <a:t>66</a:t>
            </a:fld>
            <a:endParaRPr lang="en-US"/>
          </a:p>
        </p:txBody>
      </p:sp>
    </p:spTree>
    <p:extLst>
      <p:ext uri="{BB962C8B-B14F-4D97-AF65-F5344CB8AC3E}">
        <p14:creationId xmlns:p14="http://schemas.microsoft.com/office/powerpoint/2010/main" val="308303394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BC563D-63EB-AC1D-6439-B25740BB14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A2A3D1-5081-C01A-B481-CDC794C288E2}"/>
              </a:ext>
            </a:extLst>
          </p:cNvPr>
          <p:cNvSpPr>
            <a:spLocks noGrp="1"/>
          </p:cNvSpPr>
          <p:nvPr>
            <p:ph type="title"/>
          </p:nvPr>
        </p:nvSpPr>
        <p:spPr/>
        <p:txBody>
          <a:bodyPr>
            <a:normAutofit/>
          </a:bodyPr>
          <a:lstStyle/>
          <a:p>
            <a:r>
              <a:rPr lang="en-US" sz="2400" b="0" i="0" u="none" strike="noStrike" baseline="0" dirty="0">
                <a:solidFill>
                  <a:srgbClr val="FFFFFF"/>
                </a:solidFill>
                <a:latin typeface="CMSS12"/>
              </a:rPr>
              <a:t>Classification of Propositions – </a:t>
            </a:r>
            <a:br>
              <a:rPr lang="en-US" sz="2400" b="0" i="0" u="none" strike="noStrike" baseline="0" dirty="0">
                <a:solidFill>
                  <a:srgbClr val="FFFFFF"/>
                </a:solidFill>
                <a:latin typeface="CMSS12"/>
              </a:rPr>
            </a:br>
            <a:r>
              <a:rPr lang="en-US" sz="2400" b="0" i="0" u="none" strike="noStrike" baseline="0" dirty="0">
                <a:solidFill>
                  <a:srgbClr val="FFFFFF"/>
                </a:solidFill>
                <a:latin typeface="CMSS12"/>
              </a:rPr>
              <a:t>Valid</a:t>
            </a:r>
            <a:endParaRPr lang="si-LK" sz="2400" dirty="0"/>
          </a:p>
        </p:txBody>
      </p:sp>
      <p:sp>
        <p:nvSpPr>
          <p:cNvPr id="3" name="Content Placeholder 2">
            <a:extLst>
              <a:ext uri="{FF2B5EF4-FFF2-40B4-BE49-F238E27FC236}">
                <a16:creationId xmlns:a16="http://schemas.microsoft.com/office/drawing/2014/main" id="{C9A1887E-AB74-838C-2EFA-56F59CDF951A}"/>
              </a:ext>
            </a:extLst>
          </p:cNvPr>
          <p:cNvSpPr>
            <a:spLocks noGrp="1"/>
          </p:cNvSpPr>
          <p:nvPr>
            <p:ph idx="1"/>
          </p:nvPr>
        </p:nvSpPr>
        <p:spPr/>
        <p:txBody>
          <a:bodyPr/>
          <a:lstStyle/>
          <a:p>
            <a:pPr marL="0" indent="0" algn="l">
              <a:buNone/>
            </a:pPr>
            <a:r>
              <a:rPr lang="en-US" sz="1800" b="0" i="0" u="none" strike="noStrike" baseline="0" dirty="0">
                <a:latin typeface="CMSSI10"/>
              </a:rPr>
              <a:t>In Logic a proposition C is called VALID if its output values in the truth table are all T (true)- </a:t>
            </a:r>
          </a:p>
          <a:p>
            <a:pPr marL="0" indent="0" algn="l">
              <a:buNone/>
            </a:pPr>
            <a:r>
              <a:rPr lang="en-US" sz="1800" dirty="0">
                <a:latin typeface="CMSSI10"/>
              </a:rPr>
              <a:t>Example;</a:t>
            </a:r>
          </a:p>
          <a:p>
            <a:pPr marL="0" indent="0">
              <a:buNone/>
            </a:pPr>
            <a:r>
              <a:rPr kumimoji="0" lang="en-US" sz="3200" b="0" i="1" u="none" strike="noStrike" cap="none" normalizeH="0" baseline="0" dirty="0">
                <a:ln>
                  <a:noFill/>
                </a:ln>
                <a:solidFill>
                  <a:schemeClr val="tx1"/>
                </a:solidFill>
                <a:effectLst/>
                <a:latin typeface="Comic Sans MS" pitchFamily="1" charset="0"/>
                <a:ea typeface="ＭＳ Ｐゴシック" pitchFamily="1" charset="-128"/>
              </a:rPr>
              <a:t>p </a:t>
            </a:r>
            <a:r>
              <a:rPr kumimoji="0" lang="en-US" sz="3200" b="0" i="0" u="none" strike="noStrike" cap="none" normalizeH="0" baseline="0" dirty="0">
                <a:ln>
                  <a:noFill/>
                </a:ln>
                <a:solidFill>
                  <a:schemeClr val="tx1"/>
                </a:solidFill>
                <a:effectLst/>
                <a:latin typeface="Arial" charset="0"/>
                <a:ea typeface="ＭＳ Ｐゴシック" pitchFamily="1" charset="-128"/>
                <a:sym typeface="Symbol" pitchFamily="1" charset="2"/>
              </a:rPr>
              <a:t></a:t>
            </a:r>
            <a:r>
              <a:rPr kumimoji="0" lang="en-US" sz="3200" b="0" i="1" u="none" strike="noStrike" cap="none" normalizeH="0" baseline="0" dirty="0">
                <a:ln>
                  <a:noFill/>
                </a:ln>
                <a:solidFill>
                  <a:schemeClr val="tx1"/>
                </a:solidFill>
                <a:effectLst/>
                <a:latin typeface="Comic Sans MS" pitchFamily="1" charset="0"/>
                <a:ea typeface="ＭＳ Ｐゴシック" pitchFamily="1" charset="-128"/>
              </a:rPr>
              <a:t> </a:t>
            </a:r>
            <a:r>
              <a:rPr kumimoji="0" lang="en-US" sz="3200" b="0" i="1" u="none" strike="noStrike" cap="none" normalizeH="0" baseline="0" dirty="0">
                <a:ln>
                  <a:noFill/>
                </a:ln>
                <a:solidFill>
                  <a:schemeClr val="tx1"/>
                </a:solidFill>
                <a:effectLst/>
                <a:latin typeface="Comic Sans MS" pitchFamily="1" charset="0"/>
                <a:ea typeface="ＭＳ Ｐゴシック" pitchFamily="1" charset="-128"/>
                <a:sym typeface="Symbol" pitchFamily="1" charset="2"/>
              </a:rPr>
              <a:t> p</a:t>
            </a:r>
            <a:endParaRPr kumimoji="0" lang="en-US" sz="3200" b="0" i="0" u="none" strike="noStrike" cap="none" normalizeH="0" baseline="0" dirty="0">
              <a:ln>
                <a:noFill/>
              </a:ln>
              <a:solidFill>
                <a:schemeClr val="tx1"/>
              </a:solidFill>
              <a:effectLst/>
              <a:latin typeface="Comic Sans MS" pitchFamily="1" charset="0"/>
              <a:ea typeface="ＭＳ Ｐゴシック" pitchFamily="1" charset="-128"/>
              <a:sym typeface="Symbol" pitchFamily="1" charset="2"/>
            </a:endParaRPr>
          </a:p>
          <a:p>
            <a:pPr marL="0" indent="0" algn="l">
              <a:buNone/>
            </a:pPr>
            <a:endParaRPr lang="si-LK" dirty="0"/>
          </a:p>
        </p:txBody>
      </p:sp>
      <p:sp>
        <p:nvSpPr>
          <p:cNvPr id="4" name="Date Placeholder 3">
            <a:extLst>
              <a:ext uri="{FF2B5EF4-FFF2-40B4-BE49-F238E27FC236}">
                <a16:creationId xmlns:a16="http://schemas.microsoft.com/office/drawing/2014/main" id="{2B225891-8858-BC8A-8D69-DBD05955BFB9}"/>
              </a:ext>
            </a:extLst>
          </p:cNvPr>
          <p:cNvSpPr>
            <a:spLocks noGrp="1"/>
          </p:cNvSpPr>
          <p:nvPr>
            <p:ph type="dt" sz="half" idx="10"/>
          </p:nvPr>
        </p:nvSpPr>
        <p:spPr/>
        <p:txBody>
          <a:bodyPr/>
          <a:lstStyle/>
          <a:p>
            <a:fld id="{8E32CDCC-777E-4535-A7E3-5466ACE29E8D}" type="datetime3">
              <a:rPr lang="en-US" smtClean="0"/>
              <a:t>27 April 2026</a:t>
            </a:fld>
            <a:endParaRPr lang="en-US"/>
          </a:p>
        </p:txBody>
      </p:sp>
      <p:sp>
        <p:nvSpPr>
          <p:cNvPr id="5" name="Footer Placeholder 4">
            <a:extLst>
              <a:ext uri="{FF2B5EF4-FFF2-40B4-BE49-F238E27FC236}">
                <a16:creationId xmlns:a16="http://schemas.microsoft.com/office/drawing/2014/main" id="{F2704BD1-7C1E-A6F5-DFD1-07937486ECEC}"/>
              </a:ext>
            </a:extLst>
          </p:cNvPr>
          <p:cNvSpPr>
            <a:spLocks noGrp="1"/>
          </p:cNvSpPr>
          <p:nvPr>
            <p:ph type="ftr" sz="quarter" idx="11"/>
          </p:nvPr>
        </p:nvSpPr>
        <p:spPr/>
        <p:txBody>
          <a:bodyPr/>
          <a:lstStyle/>
          <a:p>
            <a:r>
              <a:rPr lang="en-US"/>
              <a:t>SCS 1302   Discrete Mathematics 1       Prof. D D Karunaratna</a:t>
            </a:r>
          </a:p>
        </p:txBody>
      </p:sp>
      <p:sp>
        <p:nvSpPr>
          <p:cNvPr id="6" name="Slide Number Placeholder 5">
            <a:extLst>
              <a:ext uri="{FF2B5EF4-FFF2-40B4-BE49-F238E27FC236}">
                <a16:creationId xmlns:a16="http://schemas.microsoft.com/office/drawing/2014/main" id="{12C63DF0-29B7-84C7-AF55-72456516B2EB}"/>
              </a:ext>
            </a:extLst>
          </p:cNvPr>
          <p:cNvSpPr>
            <a:spLocks noGrp="1"/>
          </p:cNvSpPr>
          <p:nvPr>
            <p:ph type="sldNum" sz="quarter" idx="12"/>
          </p:nvPr>
        </p:nvSpPr>
        <p:spPr/>
        <p:txBody>
          <a:bodyPr/>
          <a:lstStyle/>
          <a:p>
            <a:fld id="{0CA841A6-7C02-4C92-B6EE-5DBCC2AD53D0}" type="slidenum">
              <a:rPr lang="en-US" smtClean="0"/>
              <a:t>67</a:t>
            </a:fld>
            <a:endParaRPr lang="en-US"/>
          </a:p>
        </p:txBody>
      </p:sp>
    </p:spTree>
    <p:extLst>
      <p:ext uri="{BB962C8B-B14F-4D97-AF65-F5344CB8AC3E}">
        <p14:creationId xmlns:p14="http://schemas.microsoft.com/office/powerpoint/2010/main" val="78230510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9890BF-6625-8B18-02A7-ECBCC94BD010}"/>
              </a:ext>
            </a:extLst>
          </p:cNvPr>
          <p:cNvSpPr>
            <a:spLocks noGrp="1"/>
          </p:cNvSpPr>
          <p:nvPr>
            <p:ph type="title"/>
          </p:nvPr>
        </p:nvSpPr>
        <p:spPr/>
        <p:txBody>
          <a:bodyPr>
            <a:normAutofit/>
          </a:bodyPr>
          <a:lstStyle/>
          <a:p>
            <a:r>
              <a:rPr lang="en-US" sz="4400" b="0" i="0" u="none" strike="noStrike" baseline="0" dirty="0">
                <a:solidFill>
                  <a:srgbClr val="FFFFFF"/>
                </a:solidFill>
                <a:latin typeface="CMSS12"/>
              </a:rPr>
              <a:t>Logical Consequence</a:t>
            </a:r>
            <a:endParaRPr lang="si-LK" sz="4400"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35D3A97-855C-9281-9482-2582A0DD32E3}"/>
                  </a:ext>
                </a:extLst>
              </p:cNvPr>
              <p:cNvSpPr>
                <a:spLocks noGrp="1"/>
              </p:cNvSpPr>
              <p:nvPr>
                <p:ph idx="1"/>
              </p:nvPr>
            </p:nvSpPr>
            <p:spPr/>
            <p:txBody>
              <a:bodyPr>
                <a:normAutofit/>
              </a:bodyPr>
              <a:lstStyle/>
              <a:p>
                <a:pPr marL="0" indent="0">
                  <a:buNone/>
                </a:pPr>
                <a:r>
                  <a:rPr lang="en-US" sz="2800" b="0" i="0" u="none" strike="noStrike" baseline="0" dirty="0">
                    <a:latin typeface="CMSSI10"/>
                  </a:rPr>
                  <a:t>A proposition B is a logical consequence of a  collection of propositions  A</a:t>
                </a:r>
                <a:r>
                  <a:rPr lang="en-US" sz="2800" b="0" i="0" u="none" strike="noStrike" baseline="0" dirty="0">
                    <a:latin typeface="CMSS8"/>
                  </a:rPr>
                  <a:t>1</a:t>
                </a:r>
                <a:r>
                  <a:rPr lang="en-US" sz="2800" b="0" i="0" u="none" strike="noStrike" baseline="0" dirty="0">
                    <a:latin typeface="CMMI10"/>
                  </a:rPr>
                  <a:t>;</a:t>
                </a:r>
                <a:r>
                  <a:rPr lang="en-US" sz="2800" b="0" i="0" u="none" strike="noStrike" baseline="0" dirty="0">
                    <a:latin typeface="CMSSI10"/>
                  </a:rPr>
                  <a:t>A</a:t>
                </a:r>
                <a:r>
                  <a:rPr lang="en-US" sz="2800" b="0" i="0" u="none" strike="noStrike" baseline="0" dirty="0">
                    <a:latin typeface="CMSS8"/>
                  </a:rPr>
                  <a:t>2</a:t>
                </a:r>
                <a:r>
                  <a:rPr lang="en-US" sz="2800" b="0" i="0" u="none" strike="noStrike" baseline="0" dirty="0">
                    <a:latin typeface="CMMI10"/>
                  </a:rPr>
                  <a:t>;</a:t>
                </a:r>
                <a:r>
                  <a:rPr lang="en-US" sz="2800" b="0" i="0" u="none" strike="noStrike" baseline="0" dirty="0">
                    <a:latin typeface="CMSSI10"/>
                  </a:rPr>
                  <a:t>A</a:t>
                </a:r>
                <a:r>
                  <a:rPr lang="en-US" sz="2800" b="0" i="0" u="none" strike="noStrike" baseline="0" dirty="0">
                    <a:latin typeface="CMSS8"/>
                  </a:rPr>
                  <a:t>3</a:t>
                </a:r>
                <a:r>
                  <a:rPr lang="en-US" sz="2800" b="0" i="0" u="none" strike="noStrike" baseline="0" dirty="0">
                    <a:latin typeface="CMMI10"/>
                  </a:rPr>
                  <a:t>; :::</a:t>
                </a:r>
                <a:r>
                  <a:rPr lang="en-US" sz="2800" b="0" i="0" u="none" strike="noStrike" baseline="0" dirty="0">
                    <a:latin typeface="CMSSI10"/>
                  </a:rPr>
                  <a:t>A</a:t>
                </a:r>
                <a:r>
                  <a:rPr lang="en-US" sz="2800" b="0" i="0" u="none" strike="noStrike" baseline="0" dirty="0">
                    <a:latin typeface="CMSSI8"/>
                  </a:rPr>
                  <a:t>n </a:t>
                </a:r>
                <a:r>
                  <a:rPr lang="en-US" sz="2800" b="0" i="0" u="none" strike="noStrike" baseline="0" dirty="0">
                    <a:latin typeface="CMSSI10"/>
                  </a:rPr>
                  <a:t>if the proposition (A</a:t>
                </a:r>
                <a:r>
                  <a:rPr lang="en-US" sz="2800" b="0" i="0" u="none" strike="noStrike" baseline="0" dirty="0">
                    <a:latin typeface="CMSS8"/>
                  </a:rPr>
                  <a:t>1 </a:t>
                </a:r>
                <a14:m>
                  <m:oMath xmlns:m="http://schemas.openxmlformats.org/officeDocument/2006/math">
                    <m:r>
                      <a:rPr lang="en-US" sz="2800" smtClean="0">
                        <a:latin typeface="Cambria Math" panose="02040503050406030204" pitchFamily="18" charset="0"/>
                      </a:rPr>
                      <m:t>∧</m:t>
                    </m:r>
                    <m:r>
                      <a:rPr lang="en-US" sz="2800" i="1">
                        <a:latin typeface="Cambria Math" panose="02040503050406030204" pitchFamily="18" charset="0"/>
                      </a:rPr>
                      <m:t> </m:t>
                    </m:r>
                  </m:oMath>
                </a14:m>
                <a:r>
                  <a:rPr lang="en-US" sz="2800" b="0" i="0" u="none" strike="noStrike" baseline="0" dirty="0">
                    <a:latin typeface="CMSSI10"/>
                  </a:rPr>
                  <a:t>A</a:t>
                </a:r>
                <a:r>
                  <a:rPr lang="en-US" sz="2800" b="0" i="0" u="none" strike="noStrike" baseline="0" dirty="0">
                    <a:latin typeface="CMSS8"/>
                  </a:rPr>
                  <a:t>2 </a:t>
                </a:r>
                <a14:m>
                  <m:oMath xmlns:m="http://schemas.openxmlformats.org/officeDocument/2006/math">
                    <m:r>
                      <a:rPr lang="en-US" sz="2800">
                        <a:latin typeface="Cambria Math" panose="02040503050406030204" pitchFamily="18" charset="0"/>
                      </a:rPr>
                      <m:t>∧</m:t>
                    </m:r>
                  </m:oMath>
                </a14:m>
                <a:r>
                  <a:rPr lang="en-US" sz="2800" b="0" i="0" u="none" strike="noStrike" baseline="0" dirty="0">
                    <a:latin typeface="CMSS8"/>
                  </a:rPr>
                  <a:t> </a:t>
                </a:r>
                <a:r>
                  <a:rPr lang="en-US" sz="2800" b="0" i="0" u="none" strike="noStrike" baseline="0" dirty="0">
                    <a:latin typeface="CMSSI10"/>
                  </a:rPr>
                  <a:t>A</a:t>
                </a:r>
                <a:r>
                  <a:rPr lang="en-US" sz="2800" b="0" i="0" u="none" strike="noStrike" baseline="0" dirty="0">
                    <a:latin typeface="CMSS8"/>
                  </a:rPr>
                  <a:t>3 </a:t>
                </a:r>
                <a14:m>
                  <m:oMath xmlns:m="http://schemas.openxmlformats.org/officeDocument/2006/math">
                    <m:r>
                      <a:rPr lang="en-US" sz="2800">
                        <a:latin typeface="Cambria Math" panose="02040503050406030204" pitchFamily="18" charset="0"/>
                      </a:rPr>
                      <m:t>∧</m:t>
                    </m:r>
                    <m:r>
                      <a:rPr lang="en-US" sz="2800" i="1">
                        <a:latin typeface="Cambria Math" panose="02040503050406030204" pitchFamily="18" charset="0"/>
                      </a:rPr>
                      <m:t> </m:t>
                    </m:r>
                  </m:oMath>
                </a14:m>
                <a:r>
                  <a:rPr lang="en-US" sz="2800" b="0" i="0" u="none" strike="noStrike" baseline="0" dirty="0">
                    <a:latin typeface="CMMI10"/>
                  </a:rPr>
                  <a:t>:::</a:t>
                </a:r>
                <a:r>
                  <a:rPr lang="en-US" sz="2800" b="0" i="0" u="none" strike="noStrike" baseline="0" dirty="0">
                    <a:latin typeface="CMSSI10"/>
                  </a:rPr>
                  <a:t>A</a:t>
                </a:r>
                <a:r>
                  <a:rPr lang="en-US" sz="2800" b="0" i="0" u="none" strike="noStrike" baseline="0" dirty="0">
                    <a:latin typeface="CMSSI8"/>
                  </a:rPr>
                  <a:t>n</a:t>
                </a:r>
                <a:r>
                  <a:rPr lang="en-US" sz="2800" b="0" i="0" u="none" strike="noStrike" baseline="0" dirty="0">
                    <a:latin typeface="CMSS10"/>
                  </a:rPr>
                  <a:t> -&gt;</a:t>
                </a:r>
                <a:r>
                  <a:rPr lang="en-US" sz="2800" b="0" i="0" u="none" strike="noStrike" baseline="0" dirty="0">
                    <a:latin typeface="CMSY10"/>
                  </a:rPr>
                  <a:t> </a:t>
                </a:r>
                <a:r>
                  <a:rPr lang="en-US" sz="2800" b="0" i="0" u="none" strike="noStrike" baseline="0" dirty="0">
                    <a:latin typeface="CMSSI10"/>
                  </a:rPr>
                  <a:t>B</a:t>
                </a:r>
                <a:r>
                  <a:rPr lang="en-US" sz="2800" b="0" i="0" u="none" strike="noStrike" baseline="0" dirty="0">
                    <a:latin typeface="CMMI10"/>
                  </a:rPr>
                  <a:t>: is valid</a:t>
                </a:r>
              </a:p>
              <a:p>
                <a:pPr marL="0" indent="0" algn="l">
                  <a:buNone/>
                </a:pPr>
                <a:endParaRPr lang="en-US" sz="2800" dirty="0">
                  <a:latin typeface="CMMI10"/>
                </a:endParaRPr>
              </a:p>
              <a:p>
                <a:pPr marL="0" indent="0" algn="l">
                  <a:buNone/>
                </a:pPr>
                <a:r>
                  <a:rPr lang="en-US" b="0" i="0" u="none" strike="noStrike" baseline="0" dirty="0">
                    <a:solidFill>
                      <a:srgbClr val="000000"/>
                    </a:solidFill>
                    <a:latin typeface="CMSS10"/>
                  </a:rPr>
                  <a:t>Example: </a:t>
                </a:r>
              </a:p>
              <a:p>
                <a:pPr marL="0" indent="0" algn="l">
                  <a:buNone/>
                </a:pPr>
                <a:r>
                  <a:rPr lang="en-US" b="0" i="0" u="none" strike="noStrike" baseline="0" dirty="0">
                    <a:solidFill>
                      <a:srgbClr val="000000"/>
                    </a:solidFill>
                    <a:latin typeface="CMSS10"/>
                  </a:rPr>
                  <a:t>	</a:t>
                </a:r>
                <a:r>
                  <a:rPr lang="en-US" b="0" i="0" u="none" strike="noStrike" baseline="0" dirty="0">
                    <a:latin typeface="CMSS10"/>
                  </a:rPr>
                  <a:t>From </a:t>
                </a:r>
                <a:r>
                  <a:rPr lang="en-US" b="0" i="0" u="none" strike="noStrike" baseline="0" dirty="0">
                    <a:latin typeface="CMSSI10"/>
                  </a:rPr>
                  <a:t>p </a:t>
                </a:r>
                <a:r>
                  <a:rPr lang="en-US" b="0" i="0" u="none" strike="noStrike" baseline="0" dirty="0">
                    <a:latin typeface="CMSS10"/>
                  </a:rPr>
                  <a:t>and </a:t>
                </a:r>
                <a:r>
                  <a:rPr lang="en-US" b="0" i="0" u="none" strike="noStrike" baseline="0" dirty="0">
                    <a:latin typeface="CMSSI10"/>
                  </a:rPr>
                  <a:t>p -</a:t>
                </a:r>
                <a:r>
                  <a:rPr lang="en-US" dirty="0">
                    <a:latin typeface="CMSS10"/>
                  </a:rPr>
                  <a:t>&gt;</a:t>
                </a:r>
                <a:r>
                  <a:rPr lang="en-US" b="0" i="0" u="none" strike="noStrike" baseline="0" dirty="0">
                    <a:latin typeface="CMSY10"/>
                  </a:rPr>
                  <a:t> </a:t>
                </a:r>
                <a:r>
                  <a:rPr lang="en-US" b="0" i="0" u="none" strike="noStrike" baseline="0" dirty="0">
                    <a:latin typeface="CMSSI10"/>
                  </a:rPr>
                  <a:t>q can </a:t>
                </a:r>
                <a:r>
                  <a:rPr lang="en-US" b="0" i="0" u="none" strike="noStrike" baseline="0" dirty="0">
                    <a:latin typeface="CMSS10"/>
                  </a:rPr>
                  <a:t>we conclude </a:t>
                </a:r>
                <a:r>
                  <a:rPr lang="en-US" b="0" i="0" u="none" strike="noStrike" baseline="0" dirty="0">
                    <a:latin typeface="CMSSI10"/>
                  </a:rPr>
                  <a:t>q</a:t>
                </a:r>
                <a:r>
                  <a:rPr lang="en-US" dirty="0">
                    <a:latin typeface="CMMI10"/>
                  </a:rPr>
                  <a:t>?</a:t>
                </a:r>
                <a:endParaRPr lang="si-LK" dirty="0"/>
              </a:p>
            </p:txBody>
          </p:sp>
        </mc:Choice>
        <mc:Fallback xmlns="">
          <p:sp>
            <p:nvSpPr>
              <p:cNvPr id="3" name="Content Placeholder 2">
                <a:extLst>
                  <a:ext uri="{FF2B5EF4-FFF2-40B4-BE49-F238E27FC236}">
                    <a16:creationId xmlns:a16="http://schemas.microsoft.com/office/drawing/2014/main" id="{735D3A97-855C-9281-9482-2582A0DD32E3}"/>
                  </a:ext>
                </a:extLst>
              </p:cNvPr>
              <p:cNvSpPr>
                <a:spLocks noGrp="1" noRot="1" noChangeAspect="1" noMove="1" noResize="1" noEditPoints="1" noAdjustHandles="1" noChangeArrowheads="1" noChangeShapeType="1" noTextEdit="1"/>
              </p:cNvSpPr>
              <p:nvPr>
                <p:ph idx="1"/>
              </p:nvPr>
            </p:nvSpPr>
            <p:spPr>
              <a:blipFill>
                <a:blip r:embed="rId2"/>
                <a:stretch>
                  <a:fillRect l="-1852" t="-1233" r="-1259"/>
                </a:stretch>
              </a:blipFill>
            </p:spPr>
            <p:txBody>
              <a:bodyPr/>
              <a:lstStyle/>
              <a:p>
                <a:r>
                  <a:rPr lang="si-LK">
                    <a:noFill/>
                  </a:rPr>
                  <a:t> </a:t>
                </a:r>
              </a:p>
            </p:txBody>
          </p:sp>
        </mc:Fallback>
      </mc:AlternateContent>
      <p:sp>
        <p:nvSpPr>
          <p:cNvPr id="4" name="Date Placeholder 3">
            <a:extLst>
              <a:ext uri="{FF2B5EF4-FFF2-40B4-BE49-F238E27FC236}">
                <a16:creationId xmlns:a16="http://schemas.microsoft.com/office/drawing/2014/main" id="{217B96B3-541F-823B-B4A5-33FE2719B49A}"/>
              </a:ext>
            </a:extLst>
          </p:cNvPr>
          <p:cNvSpPr>
            <a:spLocks noGrp="1"/>
          </p:cNvSpPr>
          <p:nvPr>
            <p:ph type="dt" sz="half" idx="10"/>
          </p:nvPr>
        </p:nvSpPr>
        <p:spPr/>
        <p:txBody>
          <a:bodyPr/>
          <a:lstStyle/>
          <a:p>
            <a:fld id="{89474D2D-D022-466F-8300-2EAF2E37FD5C}" type="datetime3">
              <a:rPr lang="en-US" smtClean="0"/>
              <a:t>27 April 2026</a:t>
            </a:fld>
            <a:endParaRPr lang="en-US"/>
          </a:p>
        </p:txBody>
      </p:sp>
      <p:sp>
        <p:nvSpPr>
          <p:cNvPr id="5" name="Footer Placeholder 4">
            <a:extLst>
              <a:ext uri="{FF2B5EF4-FFF2-40B4-BE49-F238E27FC236}">
                <a16:creationId xmlns:a16="http://schemas.microsoft.com/office/drawing/2014/main" id="{704B230B-A2D0-4CDA-5464-F8B8D68875DD}"/>
              </a:ext>
            </a:extLst>
          </p:cNvPr>
          <p:cNvSpPr>
            <a:spLocks noGrp="1"/>
          </p:cNvSpPr>
          <p:nvPr>
            <p:ph type="ftr" sz="quarter" idx="11"/>
          </p:nvPr>
        </p:nvSpPr>
        <p:spPr/>
        <p:txBody>
          <a:bodyPr/>
          <a:lstStyle/>
          <a:p>
            <a:r>
              <a:rPr lang="en-US"/>
              <a:t>SCS 1302   Discrete Mathematics 1       Prof. D D Karunaratna</a:t>
            </a:r>
          </a:p>
        </p:txBody>
      </p:sp>
      <p:sp>
        <p:nvSpPr>
          <p:cNvPr id="6" name="Slide Number Placeholder 5">
            <a:extLst>
              <a:ext uri="{FF2B5EF4-FFF2-40B4-BE49-F238E27FC236}">
                <a16:creationId xmlns:a16="http://schemas.microsoft.com/office/drawing/2014/main" id="{CDC8F2EB-CE8E-B9A0-C00A-7FBDF1142209}"/>
              </a:ext>
            </a:extLst>
          </p:cNvPr>
          <p:cNvSpPr>
            <a:spLocks noGrp="1"/>
          </p:cNvSpPr>
          <p:nvPr>
            <p:ph type="sldNum" sz="quarter" idx="12"/>
          </p:nvPr>
        </p:nvSpPr>
        <p:spPr/>
        <p:txBody>
          <a:bodyPr/>
          <a:lstStyle/>
          <a:p>
            <a:fld id="{0CA841A6-7C02-4C92-B6EE-5DBCC2AD53D0}" type="slidenum">
              <a:rPr lang="en-US" smtClean="0"/>
              <a:t>68</a:t>
            </a:fld>
            <a:endParaRPr lang="en-US"/>
          </a:p>
        </p:txBody>
      </p:sp>
    </p:spTree>
    <p:extLst>
      <p:ext uri="{BB962C8B-B14F-4D97-AF65-F5344CB8AC3E}">
        <p14:creationId xmlns:p14="http://schemas.microsoft.com/office/powerpoint/2010/main" val="312885416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1F05DD-FEAD-0661-EDAF-47F9A36198B8}"/>
              </a:ext>
            </a:extLst>
          </p:cNvPr>
          <p:cNvSpPr>
            <a:spLocks noGrp="1"/>
          </p:cNvSpPr>
          <p:nvPr>
            <p:ph type="title"/>
          </p:nvPr>
        </p:nvSpPr>
        <p:spPr/>
        <p:txBody>
          <a:bodyPr/>
          <a:lstStyle/>
          <a:p>
            <a:r>
              <a:rPr lang="en-US" dirty="0"/>
              <a:t>Example</a:t>
            </a:r>
            <a:endParaRPr lang="si-LK" dirty="0"/>
          </a:p>
        </p:txBody>
      </p:sp>
      <mc:AlternateContent xmlns:mc="http://schemas.openxmlformats.org/markup-compatibility/2006" xmlns:a14="http://schemas.microsoft.com/office/drawing/2010/main">
        <mc:Choice Requires="a14">
          <p:graphicFrame>
            <p:nvGraphicFramePr>
              <p:cNvPr id="7" name="Content Placeholder 6">
                <a:extLst>
                  <a:ext uri="{FF2B5EF4-FFF2-40B4-BE49-F238E27FC236}">
                    <a16:creationId xmlns:a16="http://schemas.microsoft.com/office/drawing/2014/main" id="{26D3C02A-9D97-182E-9854-E25F97AF8219}"/>
                  </a:ext>
                </a:extLst>
              </p:cNvPr>
              <p:cNvGraphicFramePr>
                <a:graphicFrameLocks noGrp="1"/>
              </p:cNvGraphicFramePr>
              <p:nvPr>
                <p:ph idx="1"/>
                <p:extLst>
                  <p:ext uri="{D42A27DB-BD31-4B8C-83A1-F6EECF244321}">
                    <p14:modId xmlns:p14="http://schemas.microsoft.com/office/powerpoint/2010/main" val="142903059"/>
                  </p:ext>
                </p:extLst>
              </p:nvPr>
            </p:nvGraphicFramePr>
            <p:xfrm>
              <a:off x="457200" y="2123281"/>
              <a:ext cx="6781798" cy="1828800"/>
            </p:xfrm>
            <a:graphic>
              <a:graphicData uri="http://schemas.openxmlformats.org/drawingml/2006/table">
                <a:tbl>
                  <a:tblPr firstRow="1" bandRow="1">
                    <a:tableStyleId>{5940675A-B579-460E-94D1-54222C63F5DA}</a:tableStyleId>
                  </a:tblPr>
                  <a:tblGrid>
                    <a:gridCol w="1408527">
                      <a:extLst>
                        <a:ext uri="{9D8B030D-6E8A-4147-A177-3AD203B41FA5}">
                          <a16:colId xmlns:a16="http://schemas.microsoft.com/office/drawing/2014/main" val="3003738431"/>
                        </a:ext>
                      </a:extLst>
                    </a:gridCol>
                    <a:gridCol w="1408527">
                      <a:extLst>
                        <a:ext uri="{9D8B030D-6E8A-4147-A177-3AD203B41FA5}">
                          <a16:colId xmlns:a16="http://schemas.microsoft.com/office/drawing/2014/main" val="3912423140"/>
                        </a:ext>
                      </a:extLst>
                    </a:gridCol>
                    <a:gridCol w="1147689">
                      <a:extLst>
                        <a:ext uri="{9D8B030D-6E8A-4147-A177-3AD203B41FA5}">
                          <a16:colId xmlns:a16="http://schemas.microsoft.com/office/drawing/2014/main" val="3892512029"/>
                        </a:ext>
                      </a:extLst>
                    </a:gridCol>
                    <a:gridCol w="1147689">
                      <a:extLst>
                        <a:ext uri="{9D8B030D-6E8A-4147-A177-3AD203B41FA5}">
                          <a16:colId xmlns:a16="http://schemas.microsoft.com/office/drawing/2014/main" val="137740297"/>
                        </a:ext>
                      </a:extLst>
                    </a:gridCol>
                    <a:gridCol w="1669366">
                      <a:extLst>
                        <a:ext uri="{9D8B030D-6E8A-4147-A177-3AD203B41FA5}">
                          <a16:colId xmlns:a16="http://schemas.microsoft.com/office/drawing/2014/main" val="379578469"/>
                        </a:ext>
                      </a:extLst>
                    </a:gridCol>
                  </a:tblGrid>
                  <a:tr h="352584">
                    <a:tc>
                      <a:txBody>
                        <a:bodyPr/>
                        <a:lstStyle/>
                        <a:p>
                          <a:r>
                            <a:rPr lang="en-US" dirty="0"/>
                            <a:t>p</a:t>
                          </a:r>
                          <a:endParaRPr lang="si-LK" dirty="0"/>
                        </a:p>
                      </a:txBody>
                      <a:tcPr/>
                    </a:tc>
                    <a:tc>
                      <a:txBody>
                        <a:bodyPr/>
                        <a:lstStyle/>
                        <a:p>
                          <a:r>
                            <a:rPr lang="en-US" dirty="0"/>
                            <a:t>q</a:t>
                          </a:r>
                          <a:endParaRPr lang="si-LK" dirty="0"/>
                        </a:p>
                      </a:txBody>
                      <a:tcPr/>
                    </a:tc>
                    <a:tc>
                      <a:txBody>
                        <a:bodyPr/>
                        <a:lstStyle/>
                        <a:p>
                          <a:r>
                            <a:rPr lang="en-US" dirty="0"/>
                            <a:t>p-&gt;q</a:t>
                          </a:r>
                          <a:endParaRPr lang="si-LK" dirty="0"/>
                        </a:p>
                      </a:txBody>
                      <a:tcPr/>
                    </a:tc>
                    <a:tc>
                      <a:txBody>
                        <a:bodyPr/>
                        <a:lstStyle/>
                        <a:p>
                          <a:r>
                            <a:rPr lang="en-US" dirty="0"/>
                            <a:t>p</a:t>
                          </a:r>
                          <a14:m>
                            <m:oMath xmlns:m="http://schemas.openxmlformats.org/officeDocument/2006/math">
                              <m:r>
                                <a:rPr lang="en-US" sz="1800" b="0" i="0" smtClean="0">
                                  <a:latin typeface="Cambria Math" panose="02040503050406030204" pitchFamily="18" charset="0"/>
                                </a:rPr>
                                <m:t> </m:t>
                              </m:r>
                              <m:r>
                                <a:rPr lang="en-US" sz="1800" smtClean="0">
                                  <a:latin typeface="Cambria Math" panose="02040503050406030204" pitchFamily="18" charset="0"/>
                                </a:rPr>
                                <m:t>∧</m:t>
                              </m:r>
                            </m:oMath>
                          </a14:m>
                          <a:r>
                            <a:rPr lang="en-US" dirty="0"/>
                            <a:t> (p-&gt;q)</a:t>
                          </a:r>
                          <a:endParaRPr lang="si-LK" dirty="0"/>
                        </a:p>
                      </a:txBody>
                      <a:tcPr/>
                    </a:tc>
                    <a:tc>
                      <a:txBody>
                        <a:bodyPr/>
                        <a:lstStyle/>
                        <a:p>
                          <a:r>
                            <a:rPr lang="en-US" dirty="0"/>
                            <a:t>(p</a:t>
                          </a:r>
                          <a14:m>
                            <m:oMath xmlns:m="http://schemas.openxmlformats.org/officeDocument/2006/math">
                              <m:r>
                                <a:rPr lang="en-US" sz="1800" b="0" i="0" smtClean="0">
                                  <a:latin typeface="Cambria Math" panose="02040503050406030204" pitchFamily="18" charset="0"/>
                                </a:rPr>
                                <m:t> </m:t>
                              </m:r>
                              <m:r>
                                <a:rPr lang="en-US" sz="1800" smtClean="0">
                                  <a:latin typeface="Cambria Math" panose="02040503050406030204" pitchFamily="18" charset="0"/>
                                </a:rPr>
                                <m:t>∧</m:t>
                              </m:r>
                            </m:oMath>
                          </a14:m>
                          <a:r>
                            <a:rPr lang="en-US" dirty="0"/>
                            <a:t> (p-&gt;q))-&gt;q</a:t>
                          </a:r>
                          <a:endParaRPr lang="si-LK" dirty="0"/>
                        </a:p>
                      </a:txBody>
                      <a:tcPr/>
                    </a:tc>
                    <a:extLst>
                      <a:ext uri="{0D108BD9-81ED-4DB2-BD59-A6C34878D82A}">
                        <a16:rowId xmlns:a16="http://schemas.microsoft.com/office/drawing/2014/main" val="2718003620"/>
                      </a:ext>
                    </a:extLst>
                  </a:tr>
                  <a:tr h="352584">
                    <a:tc>
                      <a:txBody>
                        <a:bodyPr/>
                        <a:lstStyle/>
                        <a:p>
                          <a:r>
                            <a:rPr lang="en-US" dirty="0"/>
                            <a:t>T</a:t>
                          </a:r>
                          <a:endParaRPr lang="si-LK" dirty="0"/>
                        </a:p>
                      </a:txBody>
                      <a:tcPr/>
                    </a:tc>
                    <a:tc>
                      <a:txBody>
                        <a:bodyPr/>
                        <a:lstStyle/>
                        <a:p>
                          <a:r>
                            <a:rPr lang="en-US" dirty="0"/>
                            <a:t>T</a:t>
                          </a:r>
                          <a:endParaRPr lang="si-LK" dirty="0"/>
                        </a:p>
                      </a:txBody>
                      <a:tcPr/>
                    </a:tc>
                    <a:tc>
                      <a:txBody>
                        <a:bodyPr/>
                        <a:lstStyle/>
                        <a:p>
                          <a:r>
                            <a:rPr lang="en-US" dirty="0"/>
                            <a:t>T</a:t>
                          </a:r>
                          <a:endParaRPr lang="si-LK" dirty="0"/>
                        </a:p>
                      </a:txBody>
                      <a:tcPr/>
                    </a:tc>
                    <a:tc>
                      <a:txBody>
                        <a:bodyPr/>
                        <a:lstStyle/>
                        <a:p>
                          <a:r>
                            <a:rPr lang="en-US" dirty="0"/>
                            <a:t>T</a:t>
                          </a:r>
                          <a:endParaRPr lang="si-LK" dirty="0"/>
                        </a:p>
                      </a:txBody>
                      <a:tcPr/>
                    </a:tc>
                    <a:tc>
                      <a:txBody>
                        <a:bodyPr/>
                        <a:lstStyle/>
                        <a:p>
                          <a:r>
                            <a:rPr lang="en-US" dirty="0"/>
                            <a:t>T</a:t>
                          </a:r>
                          <a:endParaRPr lang="si-LK" dirty="0"/>
                        </a:p>
                      </a:txBody>
                      <a:tcPr/>
                    </a:tc>
                    <a:extLst>
                      <a:ext uri="{0D108BD9-81ED-4DB2-BD59-A6C34878D82A}">
                        <a16:rowId xmlns:a16="http://schemas.microsoft.com/office/drawing/2014/main" val="2418513923"/>
                      </a:ext>
                    </a:extLst>
                  </a:tr>
                  <a:tr h="352584">
                    <a:tc>
                      <a:txBody>
                        <a:bodyPr/>
                        <a:lstStyle/>
                        <a:p>
                          <a:r>
                            <a:rPr lang="en-US" dirty="0"/>
                            <a:t>T</a:t>
                          </a:r>
                          <a:endParaRPr lang="si-LK" dirty="0"/>
                        </a:p>
                      </a:txBody>
                      <a:tcPr/>
                    </a:tc>
                    <a:tc>
                      <a:txBody>
                        <a:bodyPr/>
                        <a:lstStyle/>
                        <a:p>
                          <a:r>
                            <a:rPr lang="en-US" dirty="0"/>
                            <a:t>F</a:t>
                          </a:r>
                          <a:endParaRPr lang="si-LK" dirty="0"/>
                        </a:p>
                      </a:txBody>
                      <a:tcPr/>
                    </a:tc>
                    <a:tc>
                      <a:txBody>
                        <a:bodyPr/>
                        <a:lstStyle/>
                        <a:p>
                          <a:r>
                            <a:rPr lang="en-US" dirty="0"/>
                            <a:t>F</a:t>
                          </a:r>
                          <a:endParaRPr lang="si-LK" dirty="0"/>
                        </a:p>
                      </a:txBody>
                      <a:tcPr/>
                    </a:tc>
                    <a:tc>
                      <a:txBody>
                        <a:bodyPr/>
                        <a:lstStyle/>
                        <a:p>
                          <a:r>
                            <a:rPr lang="en-US" dirty="0"/>
                            <a:t>F</a:t>
                          </a:r>
                          <a:endParaRPr lang="si-LK" dirty="0"/>
                        </a:p>
                      </a:txBody>
                      <a:tcPr/>
                    </a:tc>
                    <a:tc>
                      <a:txBody>
                        <a:bodyPr/>
                        <a:lstStyle/>
                        <a:p>
                          <a:r>
                            <a:rPr lang="en-US" dirty="0"/>
                            <a:t>T</a:t>
                          </a:r>
                          <a:endParaRPr lang="si-LK" dirty="0"/>
                        </a:p>
                      </a:txBody>
                      <a:tcPr/>
                    </a:tc>
                    <a:extLst>
                      <a:ext uri="{0D108BD9-81ED-4DB2-BD59-A6C34878D82A}">
                        <a16:rowId xmlns:a16="http://schemas.microsoft.com/office/drawing/2014/main" val="1070933352"/>
                      </a:ext>
                    </a:extLst>
                  </a:tr>
                  <a:tr h="352584">
                    <a:tc>
                      <a:txBody>
                        <a:bodyPr/>
                        <a:lstStyle/>
                        <a:p>
                          <a:r>
                            <a:rPr lang="en-US" dirty="0"/>
                            <a:t>F</a:t>
                          </a:r>
                          <a:endParaRPr lang="si-LK" dirty="0"/>
                        </a:p>
                      </a:txBody>
                      <a:tcPr/>
                    </a:tc>
                    <a:tc>
                      <a:txBody>
                        <a:bodyPr/>
                        <a:lstStyle/>
                        <a:p>
                          <a:r>
                            <a:rPr lang="en-US" dirty="0"/>
                            <a:t>T</a:t>
                          </a:r>
                          <a:endParaRPr lang="si-LK" dirty="0"/>
                        </a:p>
                      </a:txBody>
                      <a:tcPr/>
                    </a:tc>
                    <a:tc>
                      <a:txBody>
                        <a:bodyPr/>
                        <a:lstStyle/>
                        <a:p>
                          <a:r>
                            <a:rPr lang="en-US" dirty="0"/>
                            <a:t>T</a:t>
                          </a:r>
                          <a:endParaRPr lang="si-LK" dirty="0"/>
                        </a:p>
                      </a:txBody>
                      <a:tcPr/>
                    </a:tc>
                    <a:tc>
                      <a:txBody>
                        <a:bodyPr/>
                        <a:lstStyle/>
                        <a:p>
                          <a:r>
                            <a:rPr lang="en-US" dirty="0"/>
                            <a:t>F</a:t>
                          </a:r>
                          <a:endParaRPr lang="si-LK" dirty="0"/>
                        </a:p>
                      </a:txBody>
                      <a:tcPr/>
                    </a:tc>
                    <a:tc>
                      <a:txBody>
                        <a:bodyPr/>
                        <a:lstStyle/>
                        <a:p>
                          <a:r>
                            <a:rPr lang="en-US" dirty="0"/>
                            <a:t>T</a:t>
                          </a:r>
                          <a:endParaRPr lang="si-LK" dirty="0"/>
                        </a:p>
                      </a:txBody>
                      <a:tcPr/>
                    </a:tc>
                    <a:extLst>
                      <a:ext uri="{0D108BD9-81ED-4DB2-BD59-A6C34878D82A}">
                        <a16:rowId xmlns:a16="http://schemas.microsoft.com/office/drawing/2014/main" val="372486759"/>
                      </a:ext>
                    </a:extLst>
                  </a:tr>
                  <a:tr h="352584">
                    <a:tc>
                      <a:txBody>
                        <a:bodyPr/>
                        <a:lstStyle/>
                        <a:p>
                          <a:r>
                            <a:rPr lang="en-US" dirty="0"/>
                            <a:t>F</a:t>
                          </a:r>
                          <a:endParaRPr lang="si-LK" dirty="0"/>
                        </a:p>
                      </a:txBody>
                      <a:tcPr/>
                    </a:tc>
                    <a:tc>
                      <a:txBody>
                        <a:bodyPr/>
                        <a:lstStyle/>
                        <a:p>
                          <a:r>
                            <a:rPr lang="en-US" dirty="0"/>
                            <a:t>F</a:t>
                          </a:r>
                          <a:endParaRPr lang="si-LK" dirty="0"/>
                        </a:p>
                      </a:txBody>
                      <a:tcPr/>
                    </a:tc>
                    <a:tc>
                      <a:txBody>
                        <a:bodyPr/>
                        <a:lstStyle/>
                        <a:p>
                          <a:r>
                            <a:rPr lang="en-US" dirty="0"/>
                            <a:t>T</a:t>
                          </a:r>
                          <a:endParaRPr lang="si-LK" dirty="0"/>
                        </a:p>
                      </a:txBody>
                      <a:tcPr/>
                    </a:tc>
                    <a:tc>
                      <a:txBody>
                        <a:bodyPr/>
                        <a:lstStyle/>
                        <a:p>
                          <a:r>
                            <a:rPr lang="en-US" dirty="0"/>
                            <a:t>F</a:t>
                          </a:r>
                          <a:endParaRPr lang="si-LK" dirty="0"/>
                        </a:p>
                      </a:txBody>
                      <a:tcPr/>
                    </a:tc>
                    <a:tc>
                      <a:txBody>
                        <a:bodyPr/>
                        <a:lstStyle/>
                        <a:p>
                          <a:r>
                            <a:rPr lang="en-US" dirty="0"/>
                            <a:t>T</a:t>
                          </a:r>
                          <a:endParaRPr lang="si-LK" dirty="0"/>
                        </a:p>
                      </a:txBody>
                      <a:tcPr/>
                    </a:tc>
                    <a:extLst>
                      <a:ext uri="{0D108BD9-81ED-4DB2-BD59-A6C34878D82A}">
                        <a16:rowId xmlns:a16="http://schemas.microsoft.com/office/drawing/2014/main" val="1339943326"/>
                      </a:ext>
                    </a:extLst>
                  </a:tr>
                </a:tbl>
              </a:graphicData>
            </a:graphic>
          </p:graphicFrame>
        </mc:Choice>
        <mc:Fallback xmlns="">
          <p:graphicFrame>
            <p:nvGraphicFramePr>
              <p:cNvPr id="7" name="Content Placeholder 6">
                <a:extLst>
                  <a:ext uri="{FF2B5EF4-FFF2-40B4-BE49-F238E27FC236}">
                    <a16:creationId xmlns:a16="http://schemas.microsoft.com/office/drawing/2014/main" id="{26D3C02A-9D97-182E-9854-E25F97AF8219}"/>
                  </a:ext>
                </a:extLst>
              </p:cNvPr>
              <p:cNvGraphicFramePr>
                <a:graphicFrameLocks noGrp="1"/>
              </p:cNvGraphicFramePr>
              <p:nvPr>
                <p:ph idx="1"/>
                <p:extLst>
                  <p:ext uri="{D42A27DB-BD31-4B8C-83A1-F6EECF244321}">
                    <p14:modId xmlns:p14="http://schemas.microsoft.com/office/powerpoint/2010/main" val="142903059"/>
                  </p:ext>
                </p:extLst>
              </p:nvPr>
            </p:nvGraphicFramePr>
            <p:xfrm>
              <a:off x="457200" y="2123281"/>
              <a:ext cx="6781798" cy="1828800"/>
            </p:xfrm>
            <a:graphic>
              <a:graphicData uri="http://schemas.openxmlformats.org/drawingml/2006/table">
                <a:tbl>
                  <a:tblPr firstRow="1" bandRow="1">
                    <a:tableStyleId>{5940675A-B579-460E-94D1-54222C63F5DA}</a:tableStyleId>
                  </a:tblPr>
                  <a:tblGrid>
                    <a:gridCol w="1408527">
                      <a:extLst>
                        <a:ext uri="{9D8B030D-6E8A-4147-A177-3AD203B41FA5}">
                          <a16:colId xmlns:a16="http://schemas.microsoft.com/office/drawing/2014/main" val="3003738431"/>
                        </a:ext>
                      </a:extLst>
                    </a:gridCol>
                    <a:gridCol w="1408527">
                      <a:extLst>
                        <a:ext uri="{9D8B030D-6E8A-4147-A177-3AD203B41FA5}">
                          <a16:colId xmlns:a16="http://schemas.microsoft.com/office/drawing/2014/main" val="3912423140"/>
                        </a:ext>
                      </a:extLst>
                    </a:gridCol>
                    <a:gridCol w="1147689">
                      <a:extLst>
                        <a:ext uri="{9D8B030D-6E8A-4147-A177-3AD203B41FA5}">
                          <a16:colId xmlns:a16="http://schemas.microsoft.com/office/drawing/2014/main" val="3892512029"/>
                        </a:ext>
                      </a:extLst>
                    </a:gridCol>
                    <a:gridCol w="1147689">
                      <a:extLst>
                        <a:ext uri="{9D8B030D-6E8A-4147-A177-3AD203B41FA5}">
                          <a16:colId xmlns:a16="http://schemas.microsoft.com/office/drawing/2014/main" val="137740297"/>
                        </a:ext>
                      </a:extLst>
                    </a:gridCol>
                    <a:gridCol w="1669366">
                      <a:extLst>
                        <a:ext uri="{9D8B030D-6E8A-4147-A177-3AD203B41FA5}">
                          <a16:colId xmlns:a16="http://schemas.microsoft.com/office/drawing/2014/main" val="379578469"/>
                        </a:ext>
                      </a:extLst>
                    </a:gridCol>
                  </a:tblGrid>
                  <a:tr h="365760">
                    <a:tc>
                      <a:txBody>
                        <a:bodyPr/>
                        <a:lstStyle/>
                        <a:p>
                          <a:r>
                            <a:rPr lang="en-US" dirty="0"/>
                            <a:t>p</a:t>
                          </a:r>
                          <a:endParaRPr lang="si-LK" dirty="0"/>
                        </a:p>
                      </a:txBody>
                      <a:tcPr/>
                    </a:tc>
                    <a:tc>
                      <a:txBody>
                        <a:bodyPr/>
                        <a:lstStyle/>
                        <a:p>
                          <a:r>
                            <a:rPr lang="en-US" dirty="0"/>
                            <a:t>q</a:t>
                          </a:r>
                          <a:endParaRPr lang="si-LK" dirty="0"/>
                        </a:p>
                      </a:txBody>
                      <a:tcPr/>
                    </a:tc>
                    <a:tc>
                      <a:txBody>
                        <a:bodyPr/>
                        <a:lstStyle/>
                        <a:p>
                          <a:r>
                            <a:rPr lang="en-US" dirty="0"/>
                            <a:t>p-&gt;q</a:t>
                          </a:r>
                          <a:endParaRPr lang="si-LK" dirty="0"/>
                        </a:p>
                      </a:txBody>
                      <a:tcPr/>
                    </a:tc>
                    <a:tc>
                      <a:txBody>
                        <a:bodyPr/>
                        <a:lstStyle/>
                        <a:p>
                          <a:endParaRPr lang="si-LK"/>
                        </a:p>
                      </a:txBody>
                      <a:tcPr>
                        <a:blipFill>
                          <a:blip r:embed="rId2"/>
                          <a:stretch>
                            <a:fillRect l="-347340" t="-8333" r="-146809" b="-426667"/>
                          </a:stretch>
                        </a:blipFill>
                      </a:tcPr>
                    </a:tc>
                    <a:tc>
                      <a:txBody>
                        <a:bodyPr/>
                        <a:lstStyle/>
                        <a:p>
                          <a:endParaRPr lang="si-LK"/>
                        </a:p>
                      </a:txBody>
                      <a:tcPr>
                        <a:blipFill>
                          <a:blip r:embed="rId2"/>
                          <a:stretch>
                            <a:fillRect l="-306934" t="-8333" r="-730" b="-426667"/>
                          </a:stretch>
                        </a:blipFill>
                      </a:tcPr>
                    </a:tc>
                    <a:extLst>
                      <a:ext uri="{0D108BD9-81ED-4DB2-BD59-A6C34878D82A}">
                        <a16:rowId xmlns:a16="http://schemas.microsoft.com/office/drawing/2014/main" val="2718003620"/>
                      </a:ext>
                    </a:extLst>
                  </a:tr>
                  <a:tr h="365760">
                    <a:tc>
                      <a:txBody>
                        <a:bodyPr/>
                        <a:lstStyle/>
                        <a:p>
                          <a:r>
                            <a:rPr lang="en-US" dirty="0"/>
                            <a:t>T</a:t>
                          </a:r>
                          <a:endParaRPr lang="si-LK" dirty="0"/>
                        </a:p>
                      </a:txBody>
                      <a:tcPr/>
                    </a:tc>
                    <a:tc>
                      <a:txBody>
                        <a:bodyPr/>
                        <a:lstStyle/>
                        <a:p>
                          <a:r>
                            <a:rPr lang="en-US" dirty="0"/>
                            <a:t>T</a:t>
                          </a:r>
                          <a:endParaRPr lang="si-LK" dirty="0"/>
                        </a:p>
                      </a:txBody>
                      <a:tcPr/>
                    </a:tc>
                    <a:tc>
                      <a:txBody>
                        <a:bodyPr/>
                        <a:lstStyle/>
                        <a:p>
                          <a:r>
                            <a:rPr lang="en-US" dirty="0"/>
                            <a:t>T</a:t>
                          </a:r>
                          <a:endParaRPr lang="si-LK" dirty="0"/>
                        </a:p>
                      </a:txBody>
                      <a:tcPr/>
                    </a:tc>
                    <a:tc>
                      <a:txBody>
                        <a:bodyPr/>
                        <a:lstStyle/>
                        <a:p>
                          <a:r>
                            <a:rPr lang="en-US" dirty="0"/>
                            <a:t>T</a:t>
                          </a:r>
                          <a:endParaRPr lang="si-LK" dirty="0"/>
                        </a:p>
                      </a:txBody>
                      <a:tcPr/>
                    </a:tc>
                    <a:tc>
                      <a:txBody>
                        <a:bodyPr/>
                        <a:lstStyle/>
                        <a:p>
                          <a:r>
                            <a:rPr lang="en-US" dirty="0"/>
                            <a:t>T</a:t>
                          </a:r>
                          <a:endParaRPr lang="si-LK" dirty="0"/>
                        </a:p>
                      </a:txBody>
                      <a:tcPr/>
                    </a:tc>
                    <a:extLst>
                      <a:ext uri="{0D108BD9-81ED-4DB2-BD59-A6C34878D82A}">
                        <a16:rowId xmlns:a16="http://schemas.microsoft.com/office/drawing/2014/main" val="2418513923"/>
                      </a:ext>
                    </a:extLst>
                  </a:tr>
                  <a:tr h="365760">
                    <a:tc>
                      <a:txBody>
                        <a:bodyPr/>
                        <a:lstStyle/>
                        <a:p>
                          <a:r>
                            <a:rPr lang="en-US" dirty="0"/>
                            <a:t>T</a:t>
                          </a:r>
                          <a:endParaRPr lang="si-LK" dirty="0"/>
                        </a:p>
                      </a:txBody>
                      <a:tcPr/>
                    </a:tc>
                    <a:tc>
                      <a:txBody>
                        <a:bodyPr/>
                        <a:lstStyle/>
                        <a:p>
                          <a:r>
                            <a:rPr lang="en-US" dirty="0"/>
                            <a:t>F</a:t>
                          </a:r>
                          <a:endParaRPr lang="si-LK" dirty="0"/>
                        </a:p>
                      </a:txBody>
                      <a:tcPr/>
                    </a:tc>
                    <a:tc>
                      <a:txBody>
                        <a:bodyPr/>
                        <a:lstStyle/>
                        <a:p>
                          <a:r>
                            <a:rPr lang="en-US" dirty="0"/>
                            <a:t>F</a:t>
                          </a:r>
                          <a:endParaRPr lang="si-LK" dirty="0"/>
                        </a:p>
                      </a:txBody>
                      <a:tcPr/>
                    </a:tc>
                    <a:tc>
                      <a:txBody>
                        <a:bodyPr/>
                        <a:lstStyle/>
                        <a:p>
                          <a:r>
                            <a:rPr lang="en-US" dirty="0"/>
                            <a:t>F</a:t>
                          </a:r>
                          <a:endParaRPr lang="si-LK" dirty="0"/>
                        </a:p>
                      </a:txBody>
                      <a:tcPr/>
                    </a:tc>
                    <a:tc>
                      <a:txBody>
                        <a:bodyPr/>
                        <a:lstStyle/>
                        <a:p>
                          <a:r>
                            <a:rPr lang="en-US" dirty="0"/>
                            <a:t>T</a:t>
                          </a:r>
                          <a:endParaRPr lang="si-LK" dirty="0"/>
                        </a:p>
                      </a:txBody>
                      <a:tcPr/>
                    </a:tc>
                    <a:extLst>
                      <a:ext uri="{0D108BD9-81ED-4DB2-BD59-A6C34878D82A}">
                        <a16:rowId xmlns:a16="http://schemas.microsoft.com/office/drawing/2014/main" val="1070933352"/>
                      </a:ext>
                    </a:extLst>
                  </a:tr>
                  <a:tr h="365760">
                    <a:tc>
                      <a:txBody>
                        <a:bodyPr/>
                        <a:lstStyle/>
                        <a:p>
                          <a:r>
                            <a:rPr lang="en-US" dirty="0"/>
                            <a:t>F</a:t>
                          </a:r>
                          <a:endParaRPr lang="si-LK" dirty="0"/>
                        </a:p>
                      </a:txBody>
                      <a:tcPr/>
                    </a:tc>
                    <a:tc>
                      <a:txBody>
                        <a:bodyPr/>
                        <a:lstStyle/>
                        <a:p>
                          <a:r>
                            <a:rPr lang="en-US" dirty="0"/>
                            <a:t>T</a:t>
                          </a:r>
                          <a:endParaRPr lang="si-LK" dirty="0"/>
                        </a:p>
                      </a:txBody>
                      <a:tcPr/>
                    </a:tc>
                    <a:tc>
                      <a:txBody>
                        <a:bodyPr/>
                        <a:lstStyle/>
                        <a:p>
                          <a:r>
                            <a:rPr lang="en-US" dirty="0"/>
                            <a:t>T</a:t>
                          </a:r>
                          <a:endParaRPr lang="si-LK" dirty="0"/>
                        </a:p>
                      </a:txBody>
                      <a:tcPr/>
                    </a:tc>
                    <a:tc>
                      <a:txBody>
                        <a:bodyPr/>
                        <a:lstStyle/>
                        <a:p>
                          <a:r>
                            <a:rPr lang="en-US" dirty="0"/>
                            <a:t>F</a:t>
                          </a:r>
                          <a:endParaRPr lang="si-LK" dirty="0"/>
                        </a:p>
                      </a:txBody>
                      <a:tcPr/>
                    </a:tc>
                    <a:tc>
                      <a:txBody>
                        <a:bodyPr/>
                        <a:lstStyle/>
                        <a:p>
                          <a:r>
                            <a:rPr lang="en-US" dirty="0"/>
                            <a:t>T</a:t>
                          </a:r>
                          <a:endParaRPr lang="si-LK" dirty="0"/>
                        </a:p>
                      </a:txBody>
                      <a:tcPr/>
                    </a:tc>
                    <a:extLst>
                      <a:ext uri="{0D108BD9-81ED-4DB2-BD59-A6C34878D82A}">
                        <a16:rowId xmlns:a16="http://schemas.microsoft.com/office/drawing/2014/main" val="372486759"/>
                      </a:ext>
                    </a:extLst>
                  </a:tr>
                  <a:tr h="365760">
                    <a:tc>
                      <a:txBody>
                        <a:bodyPr/>
                        <a:lstStyle/>
                        <a:p>
                          <a:r>
                            <a:rPr lang="en-US" dirty="0"/>
                            <a:t>F</a:t>
                          </a:r>
                          <a:endParaRPr lang="si-LK" dirty="0"/>
                        </a:p>
                      </a:txBody>
                      <a:tcPr/>
                    </a:tc>
                    <a:tc>
                      <a:txBody>
                        <a:bodyPr/>
                        <a:lstStyle/>
                        <a:p>
                          <a:r>
                            <a:rPr lang="en-US" dirty="0"/>
                            <a:t>F</a:t>
                          </a:r>
                          <a:endParaRPr lang="si-LK" dirty="0"/>
                        </a:p>
                      </a:txBody>
                      <a:tcPr/>
                    </a:tc>
                    <a:tc>
                      <a:txBody>
                        <a:bodyPr/>
                        <a:lstStyle/>
                        <a:p>
                          <a:r>
                            <a:rPr lang="en-US" dirty="0"/>
                            <a:t>T</a:t>
                          </a:r>
                          <a:endParaRPr lang="si-LK" dirty="0"/>
                        </a:p>
                      </a:txBody>
                      <a:tcPr/>
                    </a:tc>
                    <a:tc>
                      <a:txBody>
                        <a:bodyPr/>
                        <a:lstStyle/>
                        <a:p>
                          <a:r>
                            <a:rPr lang="en-US" dirty="0"/>
                            <a:t>F</a:t>
                          </a:r>
                          <a:endParaRPr lang="si-LK" dirty="0"/>
                        </a:p>
                      </a:txBody>
                      <a:tcPr/>
                    </a:tc>
                    <a:tc>
                      <a:txBody>
                        <a:bodyPr/>
                        <a:lstStyle/>
                        <a:p>
                          <a:r>
                            <a:rPr lang="en-US" dirty="0"/>
                            <a:t>T</a:t>
                          </a:r>
                          <a:endParaRPr lang="si-LK" dirty="0"/>
                        </a:p>
                      </a:txBody>
                      <a:tcPr/>
                    </a:tc>
                    <a:extLst>
                      <a:ext uri="{0D108BD9-81ED-4DB2-BD59-A6C34878D82A}">
                        <a16:rowId xmlns:a16="http://schemas.microsoft.com/office/drawing/2014/main" val="1339943326"/>
                      </a:ext>
                    </a:extLst>
                  </a:tr>
                </a:tbl>
              </a:graphicData>
            </a:graphic>
          </p:graphicFrame>
        </mc:Fallback>
      </mc:AlternateContent>
      <p:sp>
        <p:nvSpPr>
          <p:cNvPr id="4" name="Date Placeholder 3">
            <a:extLst>
              <a:ext uri="{FF2B5EF4-FFF2-40B4-BE49-F238E27FC236}">
                <a16:creationId xmlns:a16="http://schemas.microsoft.com/office/drawing/2014/main" id="{607FDB73-F591-0568-4DBA-70477F8BC37B}"/>
              </a:ext>
            </a:extLst>
          </p:cNvPr>
          <p:cNvSpPr>
            <a:spLocks noGrp="1"/>
          </p:cNvSpPr>
          <p:nvPr>
            <p:ph type="dt" sz="half" idx="10"/>
          </p:nvPr>
        </p:nvSpPr>
        <p:spPr/>
        <p:txBody>
          <a:bodyPr/>
          <a:lstStyle/>
          <a:p>
            <a:fld id="{F44D14C4-310A-41A1-90DF-190870EDC40C}" type="datetime3">
              <a:rPr lang="en-US" smtClean="0"/>
              <a:t>27 April 2026</a:t>
            </a:fld>
            <a:endParaRPr lang="en-US"/>
          </a:p>
        </p:txBody>
      </p:sp>
      <p:sp>
        <p:nvSpPr>
          <p:cNvPr id="5" name="Footer Placeholder 4">
            <a:extLst>
              <a:ext uri="{FF2B5EF4-FFF2-40B4-BE49-F238E27FC236}">
                <a16:creationId xmlns:a16="http://schemas.microsoft.com/office/drawing/2014/main" id="{55F74FDA-8AF3-1F99-7A8E-34A25B838400}"/>
              </a:ext>
            </a:extLst>
          </p:cNvPr>
          <p:cNvSpPr>
            <a:spLocks noGrp="1"/>
          </p:cNvSpPr>
          <p:nvPr>
            <p:ph type="ftr" sz="quarter" idx="11"/>
          </p:nvPr>
        </p:nvSpPr>
        <p:spPr/>
        <p:txBody>
          <a:bodyPr/>
          <a:lstStyle/>
          <a:p>
            <a:r>
              <a:rPr lang="en-US"/>
              <a:t>SCS 1302   Discrete Mathematics 1       Prof. D D Karunaratna</a:t>
            </a:r>
          </a:p>
        </p:txBody>
      </p:sp>
      <p:sp>
        <p:nvSpPr>
          <p:cNvPr id="6" name="Slide Number Placeholder 5">
            <a:extLst>
              <a:ext uri="{FF2B5EF4-FFF2-40B4-BE49-F238E27FC236}">
                <a16:creationId xmlns:a16="http://schemas.microsoft.com/office/drawing/2014/main" id="{DF0C68A8-F94D-FC75-8E89-A603CAE800C2}"/>
              </a:ext>
            </a:extLst>
          </p:cNvPr>
          <p:cNvSpPr>
            <a:spLocks noGrp="1"/>
          </p:cNvSpPr>
          <p:nvPr>
            <p:ph type="sldNum" sz="quarter" idx="12"/>
          </p:nvPr>
        </p:nvSpPr>
        <p:spPr/>
        <p:txBody>
          <a:bodyPr/>
          <a:lstStyle/>
          <a:p>
            <a:fld id="{0CA841A6-7C02-4C92-B6EE-5DBCC2AD53D0}" type="slidenum">
              <a:rPr lang="en-US" smtClean="0"/>
              <a:t>69</a:t>
            </a:fld>
            <a:endParaRPr lang="en-US"/>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6C6BBF39-35E5-6BE6-F04F-32B07B5B8A82}"/>
                  </a:ext>
                </a:extLst>
              </p:cNvPr>
              <p:cNvSpPr txBox="1"/>
              <p:nvPr/>
            </p:nvSpPr>
            <p:spPr>
              <a:xfrm>
                <a:off x="457200" y="4521200"/>
                <a:ext cx="7620000" cy="707886"/>
              </a:xfrm>
              <a:prstGeom prst="rect">
                <a:avLst/>
              </a:prstGeom>
              <a:noFill/>
            </p:spPr>
            <p:txBody>
              <a:bodyPr wrap="square">
                <a:spAutoFit/>
              </a:bodyPr>
              <a:lstStyle/>
              <a:p>
                <a:r>
                  <a:rPr lang="en-US" sz="2000" b="0" i="0" u="none" strike="noStrike" baseline="0" dirty="0">
                    <a:latin typeface="CMSS10"/>
                  </a:rPr>
                  <a:t>Since </a:t>
                </a:r>
                <a:r>
                  <a:rPr lang="en-US" sz="2000" dirty="0"/>
                  <a:t>(p</a:t>
                </a:r>
                <a14:m>
                  <m:oMath xmlns:m="http://schemas.openxmlformats.org/officeDocument/2006/math">
                    <m:r>
                      <a:rPr lang="en-US" sz="2000" b="0" i="0" smtClean="0">
                        <a:latin typeface="Cambria Math" panose="02040503050406030204" pitchFamily="18" charset="0"/>
                      </a:rPr>
                      <m:t> </m:t>
                    </m:r>
                    <m:r>
                      <a:rPr lang="en-US" sz="2000" smtClean="0">
                        <a:latin typeface="Cambria Math" panose="02040503050406030204" pitchFamily="18" charset="0"/>
                      </a:rPr>
                      <m:t>∧</m:t>
                    </m:r>
                  </m:oMath>
                </a14:m>
                <a:r>
                  <a:rPr lang="en-US" sz="2000" dirty="0"/>
                  <a:t> (p-&gt;q))-&gt;q is a valid proposition q can be deduced from the propositions  </a:t>
                </a:r>
                <a:r>
                  <a:rPr lang="en-US" sz="2000" b="0" i="0" u="none" strike="noStrike" baseline="0" dirty="0">
                    <a:latin typeface="CMSSI10"/>
                  </a:rPr>
                  <a:t>p </a:t>
                </a:r>
                <a:r>
                  <a:rPr lang="en-US" sz="2000" b="0" i="0" u="none" strike="noStrike" baseline="0" dirty="0">
                    <a:latin typeface="CMSS10"/>
                  </a:rPr>
                  <a:t>and </a:t>
                </a:r>
                <a:r>
                  <a:rPr lang="en-US" sz="2000" b="0" i="0" u="none" strike="noStrike" baseline="0" dirty="0">
                    <a:latin typeface="CMSSI10"/>
                  </a:rPr>
                  <a:t>p -</a:t>
                </a:r>
                <a:r>
                  <a:rPr lang="en-US" sz="2000" dirty="0">
                    <a:latin typeface="CMSS10"/>
                  </a:rPr>
                  <a:t>&gt;</a:t>
                </a:r>
                <a:r>
                  <a:rPr lang="en-US" sz="2000" b="0" i="0" u="none" strike="noStrike" baseline="0" dirty="0">
                    <a:latin typeface="CMSY10"/>
                  </a:rPr>
                  <a:t> </a:t>
                </a:r>
                <a:r>
                  <a:rPr lang="en-US" sz="2000" b="0" i="0" u="none" strike="noStrike" baseline="0" dirty="0">
                    <a:latin typeface="CMSSI10"/>
                  </a:rPr>
                  <a:t>q</a:t>
                </a:r>
                <a:endParaRPr lang="si-LK" sz="2000" dirty="0"/>
              </a:p>
            </p:txBody>
          </p:sp>
        </mc:Choice>
        <mc:Fallback xmlns="">
          <p:sp>
            <p:nvSpPr>
              <p:cNvPr id="9" name="TextBox 8">
                <a:extLst>
                  <a:ext uri="{FF2B5EF4-FFF2-40B4-BE49-F238E27FC236}">
                    <a16:creationId xmlns:a16="http://schemas.microsoft.com/office/drawing/2014/main" id="{6C6BBF39-35E5-6BE6-F04F-32B07B5B8A82}"/>
                  </a:ext>
                </a:extLst>
              </p:cNvPr>
              <p:cNvSpPr txBox="1">
                <a:spLocks noRot="1" noChangeAspect="1" noMove="1" noResize="1" noEditPoints="1" noAdjustHandles="1" noChangeArrowheads="1" noChangeShapeType="1" noTextEdit="1"/>
              </p:cNvSpPr>
              <p:nvPr/>
            </p:nvSpPr>
            <p:spPr>
              <a:xfrm>
                <a:off x="457200" y="4521200"/>
                <a:ext cx="7620000" cy="707886"/>
              </a:xfrm>
              <a:prstGeom prst="rect">
                <a:avLst/>
              </a:prstGeom>
              <a:blipFill>
                <a:blip r:embed="rId3"/>
                <a:stretch>
                  <a:fillRect l="-800" t="-5172" b="-14655"/>
                </a:stretch>
              </a:blipFill>
            </p:spPr>
            <p:txBody>
              <a:bodyPr/>
              <a:lstStyle/>
              <a:p>
                <a:r>
                  <a:rPr lang="si-LK">
                    <a:noFill/>
                  </a:rPr>
                  <a:t> </a:t>
                </a:r>
              </a:p>
            </p:txBody>
          </p:sp>
        </mc:Fallback>
      </mc:AlternateContent>
    </p:spTree>
    <p:extLst>
      <p:ext uri="{BB962C8B-B14F-4D97-AF65-F5344CB8AC3E}">
        <p14:creationId xmlns:p14="http://schemas.microsoft.com/office/powerpoint/2010/main" val="2604499786"/>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B4A4E4-4A68-30CF-DA58-BC77923969D4}"/>
              </a:ext>
            </a:extLst>
          </p:cNvPr>
          <p:cNvSpPr>
            <a:spLocks noGrp="1"/>
          </p:cNvSpPr>
          <p:nvPr>
            <p:ph type="title"/>
          </p:nvPr>
        </p:nvSpPr>
        <p:spPr/>
        <p:txBody>
          <a:bodyPr/>
          <a:lstStyle/>
          <a:p>
            <a:r>
              <a:rPr lang="en-US" dirty="0"/>
              <a:t>Consistency of propositions</a:t>
            </a:r>
            <a:endParaRPr lang="si-LK"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C225770-9739-57A8-7F6E-48D484AF45ED}"/>
                  </a:ext>
                </a:extLst>
              </p:cNvPr>
              <p:cNvSpPr>
                <a:spLocks noGrp="1"/>
              </p:cNvSpPr>
              <p:nvPr>
                <p:ph idx="1"/>
              </p:nvPr>
            </p:nvSpPr>
            <p:spPr/>
            <p:txBody>
              <a:bodyPr/>
              <a:lstStyle/>
              <a:p>
                <a:r>
                  <a:rPr lang="en-US" sz="3200" dirty="0"/>
                  <a:t>A set of propositions are consistent if and only if  there exists an</a:t>
                </a:r>
                <a:r>
                  <a:rPr lang="en-GB" sz="3200" dirty="0"/>
                  <a:t> assignment of truth values for </a:t>
                </a:r>
                <a14:m>
                  <m:oMath xmlns:m="http://schemas.openxmlformats.org/officeDocument/2006/math">
                    <m:r>
                      <a:rPr lang="en-US" sz="3200" b="0" i="1" smtClean="0">
                        <a:latin typeface="Cambria Math" panose="02040503050406030204" pitchFamily="18" charset="0"/>
                      </a:rPr>
                      <m:t>𝑎𝑙𝑙</m:t>
                    </m:r>
                    <m:r>
                      <a:rPr lang="en-US" sz="3200" b="0" i="1" smtClean="0">
                        <a:latin typeface="Cambria Math" panose="02040503050406030204" pitchFamily="18" charset="0"/>
                      </a:rPr>
                      <m:t> </m:t>
                    </m:r>
                    <m:r>
                      <a:rPr lang="en-US" sz="3200" b="0" i="1" smtClean="0">
                        <a:latin typeface="Cambria Math" panose="02040503050406030204" pitchFamily="18" charset="0"/>
                      </a:rPr>
                      <m:t>𝑖𝑡𝑠</m:t>
                    </m:r>
                    <m:r>
                      <a:rPr lang="en-US" sz="3200" b="0" i="1" smtClean="0">
                        <a:latin typeface="Cambria Math" panose="02040503050406030204" pitchFamily="18" charset="0"/>
                      </a:rPr>
                      <m:t> </m:t>
                    </m:r>
                    <m:r>
                      <a:rPr lang="en-US" sz="3200" b="0" i="1" smtClean="0">
                        <a:latin typeface="Cambria Math" panose="02040503050406030204" pitchFamily="18" charset="0"/>
                      </a:rPr>
                      <m:t>𝑝𝑟𝑜𝑝𝑜𝑠𝑖𝑡𝑖𝑜𝑛𝑎𝑙</m:t>
                    </m:r>
                    <m:r>
                      <a:rPr lang="en-US" sz="3200" b="0" i="1" smtClean="0">
                        <a:latin typeface="Cambria Math" panose="02040503050406030204" pitchFamily="18" charset="0"/>
                      </a:rPr>
                      <m:t> </m:t>
                    </m:r>
                    <m:r>
                      <a:rPr lang="en-US" sz="3200" b="0" i="1" smtClean="0">
                        <a:latin typeface="Cambria Math" panose="02040503050406030204" pitchFamily="18" charset="0"/>
                      </a:rPr>
                      <m:t>𝑣𝑎𝑟𝑖𝑎𝑏𝑙𝑒𝑠</m:t>
                    </m:r>
                    <m:r>
                      <a:rPr lang="en-US" sz="3200" b="0" i="1" smtClean="0">
                        <a:latin typeface="Cambria Math" panose="02040503050406030204" pitchFamily="18" charset="0"/>
                      </a:rPr>
                      <m:t> </m:t>
                    </m:r>
                  </m:oMath>
                </a14:m>
                <a:r>
                  <a:rPr lang="en-GB" sz="3200" dirty="0"/>
                  <a:t>that makes all </a:t>
                </a:r>
                <a:r>
                  <a:rPr lang="en-GB" dirty="0"/>
                  <a:t>propositions are</a:t>
                </a:r>
                <a:r>
                  <a:rPr lang="en-GB" sz="3200" dirty="0"/>
                  <a:t> true at the </a:t>
                </a:r>
                <a:r>
                  <a:rPr lang="en-GB" sz="3200"/>
                  <a:t>same time.</a:t>
                </a:r>
                <a:endParaRPr lang="si-LK" dirty="0"/>
              </a:p>
            </p:txBody>
          </p:sp>
        </mc:Choice>
        <mc:Fallback xmlns="">
          <p:sp>
            <p:nvSpPr>
              <p:cNvPr id="3" name="Content Placeholder 2">
                <a:extLst>
                  <a:ext uri="{FF2B5EF4-FFF2-40B4-BE49-F238E27FC236}">
                    <a16:creationId xmlns:a16="http://schemas.microsoft.com/office/drawing/2014/main" id="{7C225770-9739-57A8-7F6E-48D484AF45ED}"/>
                  </a:ext>
                </a:extLst>
              </p:cNvPr>
              <p:cNvSpPr>
                <a:spLocks noGrp="1" noRot="1" noChangeAspect="1" noMove="1" noResize="1" noEditPoints="1" noAdjustHandles="1" noChangeArrowheads="1" noChangeShapeType="1" noTextEdit="1"/>
              </p:cNvSpPr>
              <p:nvPr>
                <p:ph idx="1"/>
              </p:nvPr>
            </p:nvSpPr>
            <p:spPr>
              <a:blipFill>
                <a:blip r:embed="rId2"/>
                <a:stretch>
                  <a:fillRect l="-1704" t="-1781" r="-2074"/>
                </a:stretch>
              </a:blipFill>
            </p:spPr>
            <p:txBody>
              <a:bodyPr/>
              <a:lstStyle/>
              <a:p>
                <a:r>
                  <a:rPr lang="si-LK">
                    <a:noFill/>
                  </a:rPr>
                  <a:t> </a:t>
                </a:r>
              </a:p>
            </p:txBody>
          </p:sp>
        </mc:Fallback>
      </mc:AlternateContent>
      <p:sp>
        <p:nvSpPr>
          <p:cNvPr id="4" name="Date Placeholder 3">
            <a:extLst>
              <a:ext uri="{FF2B5EF4-FFF2-40B4-BE49-F238E27FC236}">
                <a16:creationId xmlns:a16="http://schemas.microsoft.com/office/drawing/2014/main" id="{A3719E0B-9FCF-AF30-7E80-830D3340C187}"/>
              </a:ext>
            </a:extLst>
          </p:cNvPr>
          <p:cNvSpPr>
            <a:spLocks noGrp="1"/>
          </p:cNvSpPr>
          <p:nvPr>
            <p:ph type="dt" sz="half" idx="10"/>
          </p:nvPr>
        </p:nvSpPr>
        <p:spPr/>
        <p:txBody>
          <a:bodyPr/>
          <a:lstStyle/>
          <a:p>
            <a:fld id="{29A2FE65-73D6-4AA2-9AE2-C553C5B1A502}" type="datetime3">
              <a:rPr lang="en-US" smtClean="0"/>
              <a:t>27 April 2026</a:t>
            </a:fld>
            <a:endParaRPr lang="en-US"/>
          </a:p>
        </p:txBody>
      </p:sp>
      <p:sp>
        <p:nvSpPr>
          <p:cNvPr id="5" name="Footer Placeholder 4">
            <a:extLst>
              <a:ext uri="{FF2B5EF4-FFF2-40B4-BE49-F238E27FC236}">
                <a16:creationId xmlns:a16="http://schemas.microsoft.com/office/drawing/2014/main" id="{219E48C3-5BD5-A2D6-8F33-3FEAD384EF2C}"/>
              </a:ext>
            </a:extLst>
          </p:cNvPr>
          <p:cNvSpPr>
            <a:spLocks noGrp="1"/>
          </p:cNvSpPr>
          <p:nvPr>
            <p:ph type="ftr" sz="quarter" idx="11"/>
          </p:nvPr>
        </p:nvSpPr>
        <p:spPr/>
        <p:txBody>
          <a:bodyPr/>
          <a:lstStyle/>
          <a:p>
            <a:r>
              <a:rPr lang="en-US"/>
              <a:t>SCS 1302   Discrete Mathematics 1       Prof. D D Karunaratna</a:t>
            </a:r>
          </a:p>
        </p:txBody>
      </p:sp>
      <p:sp>
        <p:nvSpPr>
          <p:cNvPr id="6" name="Slide Number Placeholder 5">
            <a:extLst>
              <a:ext uri="{FF2B5EF4-FFF2-40B4-BE49-F238E27FC236}">
                <a16:creationId xmlns:a16="http://schemas.microsoft.com/office/drawing/2014/main" id="{0E43B489-A37A-0670-BF56-1170F1D63D11}"/>
              </a:ext>
            </a:extLst>
          </p:cNvPr>
          <p:cNvSpPr>
            <a:spLocks noGrp="1"/>
          </p:cNvSpPr>
          <p:nvPr>
            <p:ph type="sldNum" sz="quarter" idx="12"/>
          </p:nvPr>
        </p:nvSpPr>
        <p:spPr/>
        <p:txBody>
          <a:bodyPr/>
          <a:lstStyle/>
          <a:p>
            <a:fld id="{0CA841A6-7C02-4C92-B6EE-5DBCC2AD53D0}" type="slidenum">
              <a:rPr lang="en-US" smtClean="0"/>
              <a:t>70</a:t>
            </a:fld>
            <a:endParaRPr lang="en-US"/>
          </a:p>
        </p:txBody>
      </p:sp>
    </p:spTree>
    <p:extLst>
      <p:ext uri="{BB962C8B-B14F-4D97-AF65-F5344CB8AC3E}">
        <p14:creationId xmlns:p14="http://schemas.microsoft.com/office/powerpoint/2010/main" val="386477852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System Speciﬁcations - Example</a:t>
            </a:r>
            <a:endParaRPr lang="en-GB" dirty="0"/>
          </a:p>
        </p:txBody>
      </p:sp>
      <p:sp>
        <p:nvSpPr>
          <p:cNvPr id="4" name="Date Placeholder 3"/>
          <p:cNvSpPr>
            <a:spLocks noGrp="1"/>
          </p:cNvSpPr>
          <p:nvPr>
            <p:ph type="dt" sz="half" idx="10"/>
          </p:nvPr>
        </p:nvSpPr>
        <p:spPr/>
        <p:txBody>
          <a:bodyPr/>
          <a:lstStyle/>
          <a:p>
            <a:fld id="{C466345A-0C36-4FB7-B3CA-3D1E618519D6}" type="datetime3">
              <a:rPr lang="en-US" smtClean="0"/>
              <a:t>27 April 2026</a:t>
            </a:fld>
            <a:endParaRPr lang="en-US"/>
          </a:p>
        </p:txBody>
      </p:sp>
      <p:sp>
        <p:nvSpPr>
          <p:cNvPr id="5" name="Footer Placeholder 4"/>
          <p:cNvSpPr>
            <a:spLocks noGrp="1"/>
          </p:cNvSpPr>
          <p:nvPr>
            <p:ph type="ftr" sz="quarter" idx="11"/>
          </p:nvPr>
        </p:nvSpPr>
        <p:spPr/>
        <p:txBody>
          <a:bodyPr/>
          <a:lstStyle/>
          <a:p>
            <a:r>
              <a:rPr lang="en-US"/>
              <a:t>SCS 1302   Discrete Mathematics 1       Prof. D D Karunaratna</a:t>
            </a:r>
          </a:p>
        </p:txBody>
      </p:sp>
      <p:sp>
        <p:nvSpPr>
          <p:cNvPr id="6" name="Slide Number Placeholder 5"/>
          <p:cNvSpPr>
            <a:spLocks noGrp="1"/>
          </p:cNvSpPr>
          <p:nvPr>
            <p:ph type="sldNum" sz="quarter" idx="12"/>
          </p:nvPr>
        </p:nvSpPr>
        <p:spPr/>
        <p:txBody>
          <a:bodyPr/>
          <a:lstStyle/>
          <a:p>
            <a:fld id="{0CA841A6-7C02-4C92-B6EE-5DBCC2AD53D0}" type="slidenum">
              <a:rPr lang="en-US" smtClean="0"/>
              <a:t>71</a:t>
            </a:fld>
            <a:endParaRPr lang="en-US"/>
          </a:p>
        </p:txBody>
      </p:sp>
      <p:sp>
        <p:nvSpPr>
          <p:cNvPr id="7" name="Rectangle 6"/>
          <p:cNvSpPr/>
          <p:nvPr/>
        </p:nvSpPr>
        <p:spPr>
          <a:xfrm>
            <a:off x="381000" y="1654076"/>
            <a:ext cx="8534400" cy="1631216"/>
          </a:xfrm>
          <a:prstGeom prst="rect">
            <a:avLst/>
          </a:prstGeom>
        </p:spPr>
        <p:txBody>
          <a:bodyPr wrap="square">
            <a:spAutoFit/>
          </a:bodyPr>
          <a:lstStyle/>
          <a:p>
            <a:r>
              <a:rPr lang="en-US" sz="2000" dirty="0"/>
              <a:t>Determine whether these system speciﬁcations are consistent:</a:t>
            </a:r>
          </a:p>
          <a:p>
            <a:pPr marL="285750" indent="-285750">
              <a:buFont typeface="Arial" panose="020B0604020202020204" pitchFamily="34" charset="0"/>
              <a:buChar char="•"/>
            </a:pPr>
            <a:r>
              <a:rPr lang="en-US" sz="2000" dirty="0"/>
              <a:t>“The diagnostic message is stored in the buffer or it is retransmitted.” </a:t>
            </a:r>
          </a:p>
          <a:p>
            <a:pPr marL="285750" indent="-285750">
              <a:buFont typeface="Arial" panose="020B0604020202020204" pitchFamily="34" charset="0"/>
              <a:buChar char="•"/>
            </a:pPr>
            <a:r>
              <a:rPr lang="en-US" sz="2000" dirty="0"/>
              <a:t>“The diagnostic message is not stored in the buffer.” </a:t>
            </a:r>
          </a:p>
          <a:p>
            <a:pPr marL="285750" indent="-285750">
              <a:buFont typeface="Arial" panose="020B0604020202020204" pitchFamily="34" charset="0"/>
              <a:buChar char="•"/>
            </a:pPr>
            <a:r>
              <a:rPr lang="en-US" sz="2000" dirty="0"/>
              <a:t>“If the diagnostic message is stored in the buffer, then it is retransmitted.”</a:t>
            </a:r>
          </a:p>
        </p:txBody>
      </p:sp>
      <mc:AlternateContent xmlns:mc="http://schemas.openxmlformats.org/markup-compatibility/2006" xmlns:a14="http://schemas.microsoft.com/office/drawing/2010/main">
        <mc:Choice Requires="a14">
          <p:sp>
            <p:nvSpPr>
              <p:cNvPr id="8" name="Rectangle 7"/>
              <p:cNvSpPr/>
              <p:nvPr/>
            </p:nvSpPr>
            <p:spPr>
              <a:xfrm>
                <a:off x="381000" y="3352800"/>
                <a:ext cx="8458200" cy="2862322"/>
              </a:xfrm>
              <a:prstGeom prst="rect">
                <a:avLst/>
              </a:prstGeom>
            </p:spPr>
            <p:txBody>
              <a:bodyPr wrap="square">
                <a:spAutoFit/>
              </a:bodyPr>
              <a:lstStyle/>
              <a:p>
                <a:pPr>
                  <a:lnSpc>
                    <a:spcPct val="150000"/>
                  </a:lnSpc>
                </a:pPr>
                <a:r>
                  <a:rPr lang="en-US" dirty="0"/>
                  <a:t> </a:t>
                </a:r>
                <a:r>
                  <a:rPr lang="en-US" sz="2000" dirty="0"/>
                  <a:t>Let p denote “The diagnostic message is stored in the buffer”, and</a:t>
                </a:r>
              </a:p>
              <a:p>
                <a:pPr>
                  <a:lnSpc>
                    <a:spcPct val="150000"/>
                  </a:lnSpc>
                </a:pPr>
                <a:r>
                  <a:rPr lang="en-US" sz="2000" dirty="0"/>
                  <a:t>  let q denote “The diagnostic message is retransmitted.”</a:t>
                </a:r>
              </a:p>
              <a:p>
                <a:pPr>
                  <a:lnSpc>
                    <a:spcPct val="150000"/>
                  </a:lnSpc>
                </a:pPr>
                <a:r>
                  <a:rPr lang="en-US" sz="2000" dirty="0"/>
                  <a:t>Specifications as logical expressions are </a:t>
                </a:r>
                <a14:m>
                  <m:oMath xmlns:m="http://schemas.openxmlformats.org/officeDocument/2006/math">
                    <m:r>
                      <a:rPr lang="en-GB" sz="2000" b="0" i="1" smtClean="0">
                        <a:latin typeface="Cambria Math" panose="02040503050406030204" pitchFamily="18" charset="0"/>
                      </a:rPr>
                      <m:t>𝑝</m:t>
                    </m:r>
                    <m:r>
                      <a:rPr lang="en-GB" sz="2000" b="0" i="1" smtClean="0">
                        <a:latin typeface="Cambria Math" panose="02040503050406030204" pitchFamily="18" charset="0"/>
                        <a:ea typeface="Cambria Math" panose="02040503050406030204" pitchFamily="18" charset="0"/>
                      </a:rPr>
                      <m:t>∨</m:t>
                    </m:r>
                    <m:r>
                      <a:rPr lang="en-GB" sz="2000" b="0" i="1" smtClean="0">
                        <a:latin typeface="Cambria Math" panose="02040503050406030204" pitchFamily="18" charset="0"/>
                        <a:ea typeface="Cambria Math" panose="02040503050406030204" pitchFamily="18" charset="0"/>
                      </a:rPr>
                      <m:t>𝑞</m:t>
                    </m:r>
                    <m:r>
                      <a:rPr lang="en-GB" sz="2000" b="0" i="1" smtClean="0">
                        <a:latin typeface="Cambria Math" panose="02040503050406030204" pitchFamily="18" charset="0"/>
                        <a:ea typeface="Cambria Math" panose="02040503050406030204" pitchFamily="18" charset="0"/>
                      </a:rPr>
                      <m:t>, ¬</m:t>
                    </m:r>
                    <m:r>
                      <a:rPr lang="en-GB" sz="2000" b="0" i="1" smtClean="0">
                        <a:latin typeface="Cambria Math" panose="02040503050406030204" pitchFamily="18" charset="0"/>
                        <a:ea typeface="Cambria Math" panose="02040503050406030204" pitchFamily="18" charset="0"/>
                      </a:rPr>
                      <m:t>𝑝</m:t>
                    </m:r>
                  </m:oMath>
                </a14:m>
                <a:r>
                  <a:rPr lang="en-US" sz="2000" dirty="0"/>
                  <a:t>, and </a:t>
                </a:r>
                <a14:m>
                  <m:oMath xmlns:m="http://schemas.openxmlformats.org/officeDocument/2006/math">
                    <m:r>
                      <a:rPr lang="en-GB" sz="2000" b="0" i="1" smtClean="0">
                        <a:latin typeface="Cambria Math" panose="02040503050406030204" pitchFamily="18" charset="0"/>
                      </a:rPr>
                      <m:t>𝑝</m:t>
                    </m:r>
                    <m:r>
                      <a:rPr lang="en-GB" sz="2000" b="0" i="1" smtClean="0">
                        <a:latin typeface="Cambria Math" panose="02040503050406030204" pitchFamily="18" charset="0"/>
                        <a:ea typeface="Cambria Math" panose="02040503050406030204" pitchFamily="18" charset="0"/>
                      </a:rPr>
                      <m:t>→</m:t>
                    </m:r>
                    <m:r>
                      <a:rPr lang="en-GB" sz="2000" b="0" i="1" smtClean="0">
                        <a:latin typeface="Cambria Math" panose="02040503050406030204" pitchFamily="18" charset="0"/>
                        <a:ea typeface="Cambria Math" panose="02040503050406030204" pitchFamily="18" charset="0"/>
                      </a:rPr>
                      <m:t>𝑞</m:t>
                    </m:r>
                  </m:oMath>
                </a14:m>
                <a:r>
                  <a:rPr lang="en-US" sz="2000" dirty="0"/>
                  <a:t>.</a:t>
                </a:r>
              </a:p>
              <a:p>
                <a:pPr>
                  <a:lnSpc>
                    <a:spcPct val="150000"/>
                  </a:lnSpc>
                </a:pPr>
                <a:endParaRPr lang="en-US" sz="2000" dirty="0"/>
              </a:p>
              <a:p>
                <a:r>
                  <a:rPr lang="en-US" sz="2000" dirty="0"/>
                  <a:t>These system speciﬁcations are consistent if and only if  there exists an</a:t>
                </a:r>
                <a:r>
                  <a:rPr lang="en-GB" sz="2000" dirty="0"/>
                  <a:t> assignment of truth values for </a:t>
                </a:r>
                <a14:m>
                  <m:oMath xmlns:m="http://schemas.openxmlformats.org/officeDocument/2006/math">
                    <m:r>
                      <a:rPr lang="en-GB" sz="2000" i="1" dirty="0" smtClean="0">
                        <a:latin typeface="Cambria Math" panose="02040503050406030204" pitchFamily="18" charset="0"/>
                      </a:rPr>
                      <m:t>𝑝</m:t>
                    </m:r>
                  </m:oMath>
                </a14:m>
                <a:r>
                  <a:rPr lang="en-GB" sz="2000" dirty="0"/>
                  <a:t> and </a:t>
                </a:r>
                <a14:m>
                  <m:oMath xmlns:m="http://schemas.openxmlformats.org/officeDocument/2006/math">
                    <m:r>
                      <a:rPr lang="en-GB" sz="2000" i="1" dirty="0" smtClean="0">
                        <a:latin typeface="Cambria Math" panose="02040503050406030204" pitchFamily="18" charset="0"/>
                      </a:rPr>
                      <m:t>𝑞</m:t>
                    </m:r>
                  </m:oMath>
                </a14:m>
                <a:r>
                  <a:rPr lang="en-GB" sz="2000" dirty="0"/>
                  <a:t> that makes all three specifications true.</a:t>
                </a:r>
                <a:endParaRPr lang="en-US" sz="2000" dirty="0"/>
              </a:p>
            </p:txBody>
          </p:sp>
        </mc:Choice>
        <mc:Fallback xmlns="">
          <p:sp>
            <p:nvSpPr>
              <p:cNvPr id="8" name="Rectangle 7"/>
              <p:cNvSpPr>
                <a:spLocks noRot="1" noChangeAspect="1" noMove="1" noResize="1" noEditPoints="1" noAdjustHandles="1" noChangeArrowheads="1" noChangeShapeType="1" noTextEdit="1"/>
              </p:cNvSpPr>
              <p:nvPr/>
            </p:nvSpPr>
            <p:spPr>
              <a:xfrm>
                <a:off x="381000" y="3352800"/>
                <a:ext cx="8458200" cy="2862322"/>
              </a:xfrm>
              <a:prstGeom prst="rect">
                <a:avLst/>
              </a:prstGeom>
              <a:blipFill rotWithShape="0">
                <a:blip r:embed="rId2"/>
                <a:stretch>
                  <a:fillRect l="-793" b="-2979"/>
                </a:stretch>
              </a:blipFill>
            </p:spPr>
            <p:txBody>
              <a:bodyPr/>
              <a:lstStyle/>
              <a:p>
                <a:r>
                  <a:rPr lang="en-GB">
                    <a:noFill/>
                  </a:rPr>
                  <a:t> </a:t>
                </a:r>
              </a:p>
            </p:txBody>
          </p:sp>
        </mc:Fallback>
      </mc:AlternateContent>
    </p:spTree>
    <p:extLst>
      <p:ext uri="{BB962C8B-B14F-4D97-AF65-F5344CB8AC3E}">
        <p14:creationId xmlns:p14="http://schemas.microsoft.com/office/powerpoint/2010/main" val="36805054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Example Continued</a:t>
            </a:r>
          </a:p>
        </p:txBody>
      </p:sp>
      <p:sp>
        <p:nvSpPr>
          <p:cNvPr id="4" name="Date Placeholder 3"/>
          <p:cNvSpPr>
            <a:spLocks noGrp="1"/>
          </p:cNvSpPr>
          <p:nvPr>
            <p:ph type="dt" sz="half" idx="10"/>
          </p:nvPr>
        </p:nvSpPr>
        <p:spPr/>
        <p:txBody>
          <a:bodyPr/>
          <a:lstStyle/>
          <a:p>
            <a:fld id="{7705FE24-3824-428D-AE0A-3565585DE066}" type="datetime3">
              <a:rPr lang="en-US" smtClean="0"/>
              <a:t>27 April 2026</a:t>
            </a:fld>
            <a:endParaRPr lang="en-US"/>
          </a:p>
        </p:txBody>
      </p:sp>
      <p:sp>
        <p:nvSpPr>
          <p:cNvPr id="5" name="Footer Placeholder 4"/>
          <p:cNvSpPr>
            <a:spLocks noGrp="1"/>
          </p:cNvSpPr>
          <p:nvPr>
            <p:ph type="ftr" sz="quarter" idx="11"/>
          </p:nvPr>
        </p:nvSpPr>
        <p:spPr/>
        <p:txBody>
          <a:bodyPr/>
          <a:lstStyle/>
          <a:p>
            <a:r>
              <a:rPr lang="en-US"/>
              <a:t>SCS 1302   Discrete Mathematics 1       Prof. D D Karunaratna</a:t>
            </a:r>
          </a:p>
        </p:txBody>
      </p:sp>
      <p:sp>
        <p:nvSpPr>
          <p:cNvPr id="6" name="Slide Number Placeholder 5"/>
          <p:cNvSpPr>
            <a:spLocks noGrp="1"/>
          </p:cNvSpPr>
          <p:nvPr>
            <p:ph type="sldNum" sz="quarter" idx="12"/>
          </p:nvPr>
        </p:nvSpPr>
        <p:spPr/>
        <p:txBody>
          <a:bodyPr/>
          <a:lstStyle/>
          <a:p>
            <a:fld id="{0CA841A6-7C02-4C92-B6EE-5DBCC2AD53D0}" type="slidenum">
              <a:rPr lang="en-US" smtClean="0"/>
              <a:t>72</a:t>
            </a:fld>
            <a:endParaRPr lang="en-US"/>
          </a:p>
        </p:txBody>
      </p:sp>
      <mc:AlternateContent xmlns:mc="http://schemas.openxmlformats.org/markup-compatibility/2006" xmlns:a14="http://schemas.microsoft.com/office/drawing/2010/main">
        <mc:Choice Requires="a14">
          <p:graphicFrame>
            <p:nvGraphicFramePr>
              <p:cNvPr id="7" name="Table 6"/>
              <p:cNvGraphicFramePr>
                <a:graphicFrameLocks noGrp="1"/>
              </p:cNvGraphicFramePr>
              <p:nvPr>
                <p:extLst>
                  <p:ext uri="{D42A27DB-BD31-4B8C-83A1-F6EECF244321}">
                    <p14:modId xmlns:p14="http://schemas.microsoft.com/office/powerpoint/2010/main" val="1687108209"/>
                  </p:ext>
                </p:extLst>
              </p:nvPr>
            </p:nvGraphicFramePr>
            <p:xfrm>
              <a:off x="304800" y="1641144"/>
              <a:ext cx="1524000" cy="1981200"/>
            </p:xfrm>
            <a:graphic>
              <a:graphicData uri="http://schemas.openxmlformats.org/drawingml/2006/table">
                <a:tbl>
                  <a:tblPr firstRow="1" bandRow="1">
                    <a:tableStyleId>{5C22544A-7EE6-4342-B048-85BDC9FD1C3A}</a:tableStyleId>
                  </a:tblPr>
                  <a:tblGrid>
                    <a:gridCol w="731520">
                      <a:extLst>
                        <a:ext uri="{9D8B030D-6E8A-4147-A177-3AD203B41FA5}">
                          <a16:colId xmlns:a16="http://schemas.microsoft.com/office/drawing/2014/main" val="20000"/>
                        </a:ext>
                      </a:extLst>
                    </a:gridCol>
                    <a:gridCol w="792480">
                      <a:extLst>
                        <a:ext uri="{9D8B030D-6E8A-4147-A177-3AD203B41FA5}">
                          <a16:colId xmlns:a16="http://schemas.microsoft.com/office/drawing/2014/main" val="20001"/>
                        </a:ext>
                      </a:extLst>
                    </a:gridCol>
                  </a:tblGrid>
                  <a:tr h="333946">
                    <a:tc>
                      <a:txBody>
                        <a:bodyPr/>
                        <a:lstStyle/>
                        <a:p>
                          <a:pPr algn="ctr"/>
                          <a14:m>
                            <m:oMathPara xmlns:m="http://schemas.openxmlformats.org/officeDocument/2006/math">
                              <m:oMathParaPr>
                                <m:jc m:val="centerGroup"/>
                              </m:oMathParaPr>
                              <m:oMath xmlns:m="http://schemas.openxmlformats.org/officeDocument/2006/math">
                                <m:r>
                                  <a:rPr lang="en-GB" sz="2000" b="1" i="1" smtClean="0">
                                    <a:solidFill>
                                      <a:schemeClr val="tx1"/>
                                    </a:solidFill>
                                    <a:latin typeface="Cambria Math" panose="02040503050406030204" pitchFamily="18" charset="0"/>
                                  </a:rPr>
                                  <m:t>𝒑</m:t>
                                </m:r>
                              </m:oMath>
                            </m:oMathPara>
                          </a14:m>
                          <a:endParaRPr lang="en-GB" sz="2000" dirty="0">
                            <a:solidFill>
                              <a:schemeClr val="tx1"/>
                            </a:solidFill>
                          </a:endParaRPr>
                        </a:p>
                      </a:txBody>
                      <a:tcPr/>
                    </a:tc>
                    <a:tc>
                      <a:txBody>
                        <a:bodyPr/>
                        <a:lstStyle/>
                        <a:p>
                          <a:pPr algn="ctr"/>
                          <a14:m>
                            <m:oMathPara xmlns:m="http://schemas.openxmlformats.org/officeDocument/2006/math">
                              <m:oMathParaPr>
                                <m:jc m:val="centerGroup"/>
                              </m:oMathParaPr>
                              <m:oMath xmlns:m="http://schemas.openxmlformats.org/officeDocument/2006/math">
                                <m:r>
                                  <a:rPr lang="en-GB" sz="2000" b="1" i="1" smtClean="0">
                                    <a:solidFill>
                                      <a:schemeClr val="tx1"/>
                                    </a:solidFill>
                                    <a:latin typeface="Cambria Math" panose="02040503050406030204" pitchFamily="18" charset="0"/>
                                  </a:rPr>
                                  <m:t>𝒒</m:t>
                                </m:r>
                              </m:oMath>
                            </m:oMathPara>
                          </a14:m>
                          <a:endParaRPr lang="en-GB" sz="2000" dirty="0">
                            <a:solidFill>
                              <a:schemeClr val="tx1"/>
                            </a:solidFill>
                          </a:endParaRPr>
                        </a:p>
                      </a:txBody>
                      <a:tcPr/>
                    </a:tc>
                    <a:extLst>
                      <a:ext uri="{0D108BD9-81ED-4DB2-BD59-A6C34878D82A}">
                        <a16:rowId xmlns:a16="http://schemas.microsoft.com/office/drawing/2014/main" val="10000"/>
                      </a:ext>
                    </a:extLst>
                  </a:tr>
                  <a:tr h="357799">
                    <a:tc>
                      <a:txBody>
                        <a:bodyPr/>
                        <a:lstStyle/>
                        <a:p>
                          <a:pPr algn="ctr"/>
                          <a:r>
                            <a:rPr lang="en-GB" sz="2000" dirty="0"/>
                            <a:t>0</a:t>
                          </a:r>
                        </a:p>
                      </a:txBody>
                      <a:tcPr/>
                    </a:tc>
                    <a:tc>
                      <a:txBody>
                        <a:bodyPr/>
                        <a:lstStyle/>
                        <a:p>
                          <a:pPr algn="ctr"/>
                          <a:r>
                            <a:rPr lang="en-GB" sz="2000" dirty="0"/>
                            <a:t>0</a:t>
                          </a:r>
                        </a:p>
                      </a:txBody>
                      <a:tcPr/>
                    </a:tc>
                    <a:extLst>
                      <a:ext uri="{0D108BD9-81ED-4DB2-BD59-A6C34878D82A}">
                        <a16:rowId xmlns:a16="http://schemas.microsoft.com/office/drawing/2014/main" val="10001"/>
                      </a:ext>
                    </a:extLst>
                  </a:tr>
                  <a:tr h="357799">
                    <a:tc>
                      <a:txBody>
                        <a:bodyPr/>
                        <a:lstStyle/>
                        <a:p>
                          <a:pPr algn="ctr"/>
                          <a:r>
                            <a:rPr lang="en-GB" sz="2000" dirty="0"/>
                            <a:t>0</a:t>
                          </a:r>
                        </a:p>
                      </a:txBody>
                      <a:tcPr>
                        <a:solidFill>
                          <a:srgbClr val="FFFF00"/>
                        </a:solidFill>
                      </a:tcPr>
                    </a:tc>
                    <a:tc>
                      <a:txBody>
                        <a:bodyPr/>
                        <a:lstStyle/>
                        <a:p>
                          <a:pPr algn="ctr"/>
                          <a:r>
                            <a:rPr lang="en-GB" sz="2000" dirty="0"/>
                            <a:t>1</a:t>
                          </a:r>
                        </a:p>
                      </a:txBody>
                      <a:tcPr>
                        <a:solidFill>
                          <a:srgbClr val="FFFF00"/>
                        </a:solidFill>
                      </a:tcPr>
                    </a:tc>
                    <a:extLst>
                      <a:ext uri="{0D108BD9-81ED-4DB2-BD59-A6C34878D82A}">
                        <a16:rowId xmlns:a16="http://schemas.microsoft.com/office/drawing/2014/main" val="10002"/>
                      </a:ext>
                    </a:extLst>
                  </a:tr>
                  <a:tr h="357799">
                    <a:tc>
                      <a:txBody>
                        <a:bodyPr/>
                        <a:lstStyle/>
                        <a:p>
                          <a:pPr algn="ctr"/>
                          <a:r>
                            <a:rPr lang="en-GB" sz="2000" dirty="0"/>
                            <a:t>1</a:t>
                          </a:r>
                        </a:p>
                      </a:txBody>
                      <a:tcPr/>
                    </a:tc>
                    <a:tc>
                      <a:txBody>
                        <a:bodyPr/>
                        <a:lstStyle/>
                        <a:p>
                          <a:pPr algn="ctr"/>
                          <a:r>
                            <a:rPr lang="en-GB" sz="2000" dirty="0"/>
                            <a:t>0</a:t>
                          </a:r>
                        </a:p>
                      </a:txBody>
                      <a:tcPr/>
                    </a:tc>
                    <a:extLst>
                      <a:ext uri="{0D108BD9-81ED-4DB2-BD59-A6C34878D82A}">
                        <a16:rowId xmlns:a16="http://schemas.microsoft.com/office/drawing/2014/main" val="10003"/>
                      </a:ext>
                    </a:extLst>
                  </a:tr>
                  <a:tr h="357799">
                    <a:tc>
                      <a:txBody>
                        <a:bodyPr/>
                        <a:lstStyle/>
                        <a:p>
                          <a:pPr algn="ctr"/>
                          <a:r>
                            <a:rPr lang="en-GB" sz="2000" dirty="0"/>
                            <a:t>1</a:t>
                          </a:r>
                        </a:p>
                      </a:txBody>
                      <a:tcPr/>
                    </a:tc>
                    <a:tc>
                      <a:txBody>
                        <a:bodyPr/>
                        <a:lstStyle/>
                        <a:p>
                          <a:pPr algn="ctr"/>
                          <a:r>
                            <a:rPr lang="en-GB" sz="2000" dirty="0" err="1"/>
                            <a:t>1</a:t>
                          </a:r>
                          <a:endParaRPr lang="en-GB" sz="2000" dirty="0"/>
                        </a:p>
                      </a:txBody>
                      <a:tcPr/>
                    </a:tc>
                    <a:extLst>
                      <a:ext uri="{0D108BD9-81ED-4DB2-BD59-A6C34878D82A}">
                        <a16:rowId xmlns:a16="http://schemas.microsoft.com/office/drawing/2014/main" val="10004"/>
                      </a:ext>
                    </a:extLst>
                  </a:tr>
                </a:tbl>
              </a:graphicData>
            </a:graphic>
          </p:graphicFrame>
        </mc:Choice>
        <mc:Fallback xmlns="">
          <p:graphicFrame>
            <p:nvGraphicFramePr>
              <p:cNvPr id="7" name="Table 6"/>
              <p:cNvGraphicFramePr>
                <a:graphicFrameLocks noGrp="1"/>
              </p:cNvGraphicFramePr>
              <p:nvPr>
                <p:extLst>
                  <p:ext uri="{D42A27DB-BD31-4B8C-83A1-F6EECF244321}">
                    <p14:modId xmlns:p14="http://schemas.microsoft.com/office/powerpoint/2010/main" val="1687108209"/>
                  </p:ext>
                </p:extLst>
              </p:nvPr>
            </p:nvGraphicFramePr>
            <p:xfrm>
              <a:off x="304800" y="1641144"/>
              <a:ext cx="1524000" cy="1981200"/>
            </p:xfrm>
            <a:graphic>
              <a:graphicData uri="http://schemas.openxmlformats.org/drawingml/2006/table">
                <a:tbl>
                  <a:tblPr firstRow="1" bandRow="1">
                    <a:tableStyleId>{5C22544A-7EE6-4342-B048-85BDC9FD1C3A}</a:tableStyleId>
                  </a:tblPr>
                  <a:tblGrid>
                    <a:gridCol w="731520"/>
                    <a:gridCol w="792480"/>
                  </a:tblGrid>
                  <a:tr h="396240">
                    <a:tc>
                      <a:txBody>
                        <a:bodyPr/>
                        <a:lstStyle/>
                        <a:p>
                          <a:endParaRPr lang="en-US"/>
                        </a:p>
                      </a:txBody>
                      <a:tcPr>
                        <a:blipFill rotWithShape="0">
                          <a:blip r:embed="rId2"/>
                          <a:stretch>
                            <a:fillRect l="-1667" t="-1538" r="-112500" b="-429231"/>
                          </a:stretch>
                        </a:blipFill>
                      </a:tcPr>
                    </a:tc>
                    <a:tc>
                      <a:txBody>
                        <a:bodyPr/>
                        <a:lstStyle/>
                        <a:p>
                          <a:endParaRPr lang="en-US"/>
                        </a:p>
                      </a:txBody>
                      <a:tcPr>
                        <a:blipFill rotWithShape="0">
                          <a:blip r:embed="rId2"/>
                          <a:stretch>
                            <a:fillRect l="-93846" t="-1538" r="-3846" b="-429231"/>
                          </a:stretch>
                        </a:blipFill>
                      </a:tcPr>
                    </a:tc>
                  </a:tr>
                  <a:tr h="396240">
                    <a:tc>
                      <a:txBody>
                        <a:bodyPr/>
                        <a:lstStyle/>
                        <a:p>
                          <a:pPr algn="ctr"/>
                          <a:r>
                            <a:rPr lang="en-GB" sz="2000" dirty="0" smtClean="0"/>
                            <a:t>0</a:t>
                          </a:r>
                          <a:endParaRPr lang="en-GB" sz="2000" dirty="0"/>
                        </a:p>
                      </a:txBody>
                      <a:tcPr/>
                    </a:tc>
                    <a:tc>
                      <a:txBody>
                        <a:bodyPr/>
                        <a:lstStyle/>
                        <a:p>
                          <a:pPr algn="ctr"/>
                          <a:r>
                            <a:rPr lang="en-GB" sz="2000" dirty="0" smtClean="0"/>
                            <a:t>0</a:t>
                          </a:r>
                          <a:endParaRPr lang="en-GB" sz="2000" dirty="0"/>
                        </a:p>
                      </a:txBody>
                      <a:tcPr/>
                    </a:tc>
                  </a:tr>
                  <a:tr h="396240">
                    <a:tc>
                      <a:txBody>
                        <a:bodyPr/>
                        <a:lstStyle/>
                        <a:p>
                          <a:pPr algn="ctr"/>
                          <a:r>
                            <a:rPr lang="en-GB" sz="2000" dirty="0" smtClean="0"/>
                            <a:t>0</a:t>
                          </a:r>
                          <a:endParaRPr lang="en-GB" sz="2000" dirty="0"/>
                        </a:p>
                      </a:txBody>
                      <a:tcPr>
                        <a:solidFill>
                          <a:srgbClr val="FFFF00"/>
                        </a:solidFill>
                      </a:tcPr>
                    </a:tc>
                    <a:tc>
                      <a:txBody>
                        <a:bodyPr/>
                        <a:lstStyle/>
                        <a:p>
                          <a:pPr algn="ctr"/>
                          <a:r>
                            <a:rPr lang="en-GB" sz="2000" dirty="0" smtClean="0"/>
                            <a:t>1</a:t>
                          </a:r>
                          <a:endParaRPr lang="en-GB" sz="2000" dirty="0"/>
                        </a:p>
                      </a:txBody>
                      <a:tcPr>
                        <a:solidFill>
                          <a:srgbClr val="FFFF00"/>
                        </a:solidFill>
                      </a:tcPr>
                    </a:tc>
                  </a:tr>
                  <a:tr h="396240">
                    <a:tc>
                      <a:txBody>
                        <a:bodyPr/>
                        <a:lstStyle/>
                        <a:p>
                          <a:pPr algn="ctr"/>
                          <a:r>
                            <a:rPr lang="en-GB" sz="2000" dirty="0" smtClean="0"/>
                            <a:t>1</a:t>
                          </a:r>
                          <a:endParaRPr lang="en-GB" sz="2000" dirty="0"/>
                        </a:p>
                      </a:txBody>
                      <a:tcPr/>
                    </a:tc>
                    <a:tc>
                      <a:txBody>
                        <a:bodyPr/>
                        <a:lstStyle/>
                        <a:p>
                          <a:pPr algn="ctr"/>
                          <a:r>
                            <a:rPr lang="en-GB" sz="2000" dirty="0" smtClean="0"/>
                            <a:t>0</a:t>
                          </a:r>
                          <a:endParaRPr lang="en-GB" sz="2000" dirty="0"/>
                        </a:p>
                      </a:txBody>
                      <a:tcPr/>
                    </a:tc>
                  </a:tr>
                  <a:tr h="396240">
                    <a:tc>
                      <a:txBody>
                        <a:bodyPr/>
                        <a:lstStyle/>
                        <a:p>
                          <a:pPr algn="ctr"/>
                          <a:r>
                            <a:rPr lang="en-GB" sz="2000" dirty="0" smtClean="0"/>
                            <a:t>1</a:t>
                          </a:r>
                          <a:endParaRPr lang="en-GB" sz="2000" dirty="0"/>
                        </a:p>
                      </a:txBody>
                      <a:tcPr/>
                    </a:tc>
                    <a:tc>
                      <a:txBody>
                        <a:bodyPr/>
                        <a:lstStyle/>
                        <a:p>
                          <a:pPr algn="ctr"/>
                          <a:r>
                            <a:rPr lang="en-GB" sz="2000" dirty="0" err="1" smtClean="0"/>
                            <a:t>1</a:t>
                          </a:r>
                          <a:endParaRPr lang="en-GB" sz="2000" dirty="0"/>
                        </a:p>
                      </a:txBody>
                      <a:tcPr/>
                    </a:tc>
                  </a:tr>
                </a:tbl>
              </a:graphicData>
            </a:graphic>
          </p:graphicFrame>
        </mc:Fallback>
      </mc:AlternateContent>
      <mc:AlternateContent xmlns:mc="http://schemas.openxmlformats.org/markup-compatibility/2006" xmlns:a14="http://schemas.microsoft.com/office/drawing/2010/main">
        <mc:Choice Requires="a14">
          <p:graphicFrame>
            <p:nvGraphicFramePr>
              <p:cNvPr id="8" name="Table 7"/>
              <p:cNvGraphicFramePr>
                <a:graphicFrameLocks noGrp="1"/>
              </p:cNvGraphicFramePr>
              <p:nvPr>
                <p:extLst>
                  <p:ext uri="{D42A27DB-BD31-4B8C-83A1-F6EECF244321}">
                    <p14:modId xmlns:p14="http://schemas.microsoft.com/office/powerpoint/2010/main" val="2453916113"/>
                  </p:ext>
                </p:extLst>
              </p:nvPr>
            </p:nvGraphicFramePr>
            <p:xfrm>
              <a:off x="1798320" y="1641144"/>
              <a:ext cx="792480" cy="1981200"/>
            </p:xfrm>
            <a:graphic>
              <a:graphicData uri="http://schemas.openxmlformats.org/drawingml/2006/table">
                <a:tbl>
                  <a:tblPr firstRow="1" bandRow="1">
                    <a:tableStyleId>{5C22544A-7EE6-4342-B048-85BDC9FD1C3A}</a:tableStyleId>
                  </a:tblPr>
                  <a:tblGrid>
                    <a:gridCol w="792480">
                      <a:extLst>
                        <a:ext uri="{9D8B030D-6E8A-4147-A177-3AD203B41FA5}">
                          <a16:colId xmlns:a16="http://schemas.microsoft.com/office/drawing/2014/main" val="20000"/>
                        </a:ext>
                      </a:extLst>
                    </a:gridCol>
                  </a:tblGrid>
                  <a:tr h="333946">
                    <a:tc>
                      <a:txBody>
                        <a:bodyPr/>
                        <a:lstStyle/>
                        <a:p>
                          <a:pPr algn="ctr"/>
                          <a14:m>
                            <m:oMathPara xmlns:m="http://schemas.openxmlformats.org/officeDocument/2006/math">
                              <m:oMathParaPr>
                                <m:jc m:val="centerGroup"/>
                              </m:oMathParaPr>
                              <m:oMath xmlns:m="http://schemas.openxmlformats.org/officeDocument/2006/math">
                                <m:r>
                                  <a:rPr lang="en-GB" sz="2000" b="1" i="1" smtClean="0">
                                    <a:solidFill>
                                      <a:schemeClr val="tx1"/>
                                    </a:solidFill>
                                    <a:latin typeface="Cambria Math" panose="02040503050406030204" pitchFamily="18" charset="0"/>
                                    <a:ea typeface="Cambria Math" panose="02040503050406030204" pitchFamily="18" charset="0"/>
                                  </a:rPr>
                                  <m:t>¬</m:t>
                                </m:r>
                                <m:r>
                                  <a:rPr lang="en-GB" sz="2000" b="1" i="1" smtClean="0">
                                    <a:solidFill>
                                      <a:schemeClr val="tx1"/>
                                    </a:solidFill>
                                    <a:latin typeface="Cambria Math" panose="02040503050406030204" pitchFamily="18" charset="0"/>
                                    <a:ea typeface="Cambria Math" panose="02040503050406030204" pitchFamily="18" charset="0"/>
                                  </a:rPr>
                                  <m:t>𝒑</m:t>
                                </m:r>
                              </m:oMath>
                            </m:oMathPara>
                          </a14:m>
                          <a:endParaRPr lang="en-GB" sz="2000" dirty="0">
                            <a:solidFill>
                              <a:schemeClr val="tx1"/>
                            </a:solidFill>
                          </a:endParaRPr>
                        </a:p>
                      </a:txBody>
                      <a:tcPr/>
                    </a:tc>
                    <a:extLst>
                      <a:ext uri="{0D108BD9-81ED-4DB2-BD59-A6C34878D82A}">
                        <a16:rowId xmlns:a16="http://schemas.microsoft.com/office/drawing/2014/main" val="10000"/>
                      </a:ext>
                    </a:extLst>
                  </a:tr>
                  <a:tr h="357799">
                    <a:tc>
                      <a:txBody>
                        <a:bodyPr/>
                        <a:lstStyle/>
                        <a:p>
                          <a:pPr algn="ctr"/>
                          <a:r>
                            <a:rPr lang="en-GB" sz="2000" dirty="0"/>
                            <a:t>1</a:t>
                          </a:r>
                        </a:p>
                      </a:txBody>
                      <a:tcPr/>
                    </a:tc>
                    <a:extLst>
                      <a:ext uri="{0D108BD9-81ED-4DB2-BD59-A6C34878D82A}">
                        <a16:rowId xmlns:a16="http://schemas.microsoft.com/office/drawing/2014/main" val="10001"/>
                      </a:ext>
                    </a:extLst>
                  </a:tr>
                  <a:tr h="357799">
                    <a:tc>
                      <a:txBody>
                        <a:bodyPr/>
                        <a:lstStyle/>
                        <a:p>
                          <a:pPr algn="ctr"/>
                          <a:r>
                            <a:rPr lang="en-GB" sz="2000" dirty="0"/>
                            <a:t>1</a:t>
                          </a:r>
                        </a:p>
                      </a:txBody>
                      <a:tcPr/>
                    </a:tc>
                    <a:extLst>
                      <a:ext uri="{0D108BD9-81ED-4DB2-BD59-A6C34878D82A}">
                        <a16:rowId xmlns:a16="http://schemas.microsoft.com/office/drawing/2014/main" val="10002"/>
                      </a:ext>
                    </a:extLst>
                  </a:tr>
                  <a:tr h="357799">
                    <a:tc>
                      <a:txBody>
                        <a:bodyPr/>
                        <a:lstStyle/>
                        <a:p>
                          <a:pPr algn="ctr"/>
                          <a:r>
                            <a:rPr lang="en-GB" sz="2000" dirty="0"/>
                            <a:t>0</a:t>
                          </a:r>
                        </a:p>
                      </a:txBody>
                      <a:tcPr/>
                    </a:tc>
                    <a:extLst>
                      <a:ext uri="{0D108BD9-81ED-4DB2-BD59-A6C34878D82A}">
                        <a16:rowId xmlns:a16="http://schemas.microsoft.com/office/drawing/2014/main" val="10003"/>
                      </a:ext>
                    </a:extLst>
                  </a:tr>
                  <a:tr h="357799">
                    <a:tc>
                      <a:txBody>
                        <a:bodyPr/>
                        <a:lstStyle/>
                        <a:p>
                          <a:pPr algn="ctr"/>
                          <a:r>
                            <a:rPr lang="en-GB" sz="2000" dirty="0" err="1"/>
                            <a:t>0</a:t>
                          </a:r>
                          <a:endParaRPr lang="en-GB" sz="2000" dirty="0"/>
                        </a:p>
                      </a:txBody>
                      <a:tcPr/>
                    </a:tc>
                    <a:extLst>
                      <a:ext uri="{0D108BD9-81ED-4DB2-BD59-A6C34878D82A}">
                        <a16:rowId xmlns:a16="http://schemas.microsoft.com/office/drawing/2014/main" val="10004"/>
                      </a:ext>
                    </a:extLst>
                  </a:tr>
                </a:tbl>
              </a:graphicData>
            </a:graphic>
          </p:graphicFrame>
        </mc:Choice>
        <mc:Fallback xmlns="">
          <p:graphicFrame>
            <p:nvGraphicFramePr>
              <p:cNvPr id="8" name="Table 7"/>
              <p:cNvGraphicFramePr>
                <a:graphicFrameLocks noGrp="1"/>
              </p:cNvGraphicFramePr>
              <p:nvPr>
                <p:extLst>
                  <p:ext uri="{D42A27DB-BD31-4B8C-83A1-F6EECF244321}">
                    <p14:modId xmlns:p14="http://schemas.microsoft.com/office/powerpoint/2010/main" val="2453916113"/>
                  </p:ext>
                </p:extLst>
              </p:nvPr>
            </p:nvGraphicFramePr>
            <p:xfrm>
              <a:off x="1798320" y="1641144"/>
              <a:ext cx="792480" cy="1981200"/>
            </p:xfrm>
            <a:graphic>
              <a:graphicData uri="http://schemas.openxmlformats.org/drawingml/2006/table">
                <a:tbl>
                  <a:tblPr firstRow="1" bandRow="1">
                    <a:tableStyleId>{5C22544A-7EE6-4342-B048-85BDC9FD1C3A}</a:tableStyleId>
                  </a:tblPr>
                  <a:tblGrid>
                    <a:gridCol w="792480"/>
                  </a:tblGrid>
                  <a:tr h="396240">
                    <a:tc>
                      <a:txBody>
                        <a:bodyPr/>
                        <a:lstStyle/>
                        <a:p>
                          <a:endParaRPr lang="en-US"/>
                        </a:p>
                      </a:txBody>
                      <a:tcPr>
                        <a:blipFill rotWithShape="0">
                          <a:blip r:embed="rId3"/>
                          <a:stretch>
                            <a:fillRect l="-1538" t="-1538" r="-3846" b="-429231"/>
                          </a:stretch>
                        </a:blipFill>
                      </a:tcPr>
                    </a:tc>
                  </a:tr>
                  <a:tr h="396240">
                    <a:tc>
                      <a:txBody>
                        <a:bodyPr/>
                        <a:lstStyle/>
                        <a:p>
                          <a:pPr algn="ctr"/>
                          <a:r>
                            <a:rPr lang="en-GB" sz="2000" dirty="0" smtClean="0"/>
                            <a:t>1</a:t>
                          </a:r>
                          <a:endParaRPr lang="en-GB" sz="2000" dirty="0"/>
                        </a:p>
                      </a:txBody>
                      <a:tcPr/>
                    </a:tc>
                  </a:tr>
                  <a:tr h="396240">
                    <a:tc>
                      <a:txBody>
                        <a:bodyPr/>
                        <a:lstStyle/>
                        <a:p>
                          <a:pPr algn="ctr"/>
                          <a:r>
                            <a:rPr lang="en-GB" sz="2000" dirty="0" smtClean="0"/>
                            <a:t>1</a:t>
                          </a:r>
                          <a:endParaRPr lang="en-GB" sz="2000" dirty="0"/>
                        </a:p>
                      </a:txBody>
                      <a:tcPr/>
                    </a:tc>
                  </a:tr>
                  <a:tr h="396240">
                    <a:tc>
                      <a:txBody>
                        <a:bodyPr/>
                        <a:lstStyle/>
                        <a:p>
                          <a:pPr algn="ctr"/>
                          <a:r>
                            <a:rPr lang="en-GB" sz="2000" dirty="0" smtClean="0"/>
                            <a:t>0</a:t>
                          </a:r>
                          <a:endParaRPr lang="en-GB" sz="2000" dirty="0"/>
                        </a:p>
                      </a:txBody>
                      <a:tcPr/>
                    </a:tc>
                  </a:tr>
                  <a:tr h="396240">
                    <a:tc>
                      <a:txBody>
                        <a:bodyPr/>
                        <a:lstStyle/>
                        <a:p>
                          <a:pPr algn="ctr"/>
                          <a:r>
                            <a:rPr lang="en-GB" sz="2000" dirty="0" err="1" smtClean="0"/>
                            <a:t>0</a:t>
                          </a:r>
                          <a:endParaRPr lang="en-GB" sz="2000" dirty="0"/>
                        </a:p>
                      </a:txBody>
                      <a:tcPr/>
                    </a:tc>
                  </a:tr>
                </a:tbl>
              </a:graphicData>
            </a:graphic>
          </p:graphicFrame>
        </mc:Fallback>
      </mc:AlternateContent>
      <mc:AlternateContent xmlns:mc="http://schemas.openxmlformats.org/markup-compatibility/2006" xmlns:a14="http://schemas.microsoft.com/office/drawing/2010/main">
        <mc:Choice Requires="a14">
          <p:graphicFrame>
            <p:nvGraphicFramePr>
              <p:cNvPr id="9" name="Table 8"/>
              <p:cNvGraphicFramePr>
                <a:graphicFrameLocks noGrp="1"/>
              </p:cNvGraphicFramePr>
              <p:nvPr>
                <p:extLst>
                  <p:ext uri="{D42A27DB-BD31-4B8C-83A1-F6EECF244321}">
                    <p14:modId xmlns:p14="http://schemas.microsoft.com/office/powerpoint/2010/main" val="3459458208"/>
                  </p:ext>
                </p:extLst>
              </p:nvPr>
            </p:nvGraphicFramePr>
            <p:xfrm>
              <a:off x="2590800" y="1641144"/>
              <a:ext cx="762000" cy="1981200"/>
            </p:xfrm>
            <a:graphic>
              <a:graphicData uri="http://schemas.openxmlformats.org/drawingml/2006/table">
                <a:tbl>
                  <a:tblPr firstRow="1" bandRow="1">
                    <a:tableStyleId>{5C22544A-7EE6-4342-B048-85BDC9FD1C3A}</a:tableStyleId>
                  </a:tblPr>
                  <a:tblGrid>
                    <a:gridCol w="762000">
                      <a:extLst>
                        <a:ext uri="{9D8B030D-6E8A-4147-A177-3AD203B41FA5}">
                          <a16:colId xmlns:a16="http://schemas.microsoft.com/office/drawing/2014/main" val="20000"/>
                        </a:ext>
                      </a:extLst>
                    </a:gridCol>
                  </a:tblGrid>
                  <a:tr h="333946">
                    <a:tc>
                      <a:txBody>
                        <a:bodyPr/>
                        <a:lstStyle/>
                        <a:p>
                          <a:pPr algn="ctr"/>
                          <a14:m>
                            <m:oMathPara xmlns:m="http://schemas.openxmlformats.org/officeDocument/2006/math">
                              <m:oMathParaPr>
                                <m:jc m:val="centerGroup"/>
                              </m:oMathParaPr>
                              <m:oMath xmlns:m="http://schemas.openxmlformats.org/officeDocument/2006/math">
                                <m:r>
                                  <a:rPr lang="en-GB" sz="2000" b="1" i="1" smtClean="0">
                                    <a:solidFill>
                                      <a:schemeClr val="tx1"/>
                                    </a:solidFill>
                                    <a:latin typeface="Cambria Math" panose="02040503050406030204" pitchFamily="18" charset="0"/>
                                  </a:rPr>
                                  <m:t>𝒑</m:t>
                                </m:r>
                                <m:r>
                                  <a:rPr lang="en-GB" sz="2000" b="1" i="1" smtClean="0">
                                    <a:solidFill>
                                      <a:schemeClr val="tx1"/>
                                    </a:solidFill>
                                    <a:latin typeface="Cambria Math" panose="02040503050406030204" pitchFamily="18" charset="0"/>
                                    <a:ea typeface="Cambria Math" panose="02040503050406030204" pitchFamily="18" charset="0"/>
                                  </a:rPr>
                                  <m:t>∨</m:t>
                                </m:r>
                                <m:r>
                                  <a:rPr lang="en-GB" sz="2000" b="1" i="1" smtClean="0">
                                    <a:solidFill>
                                      <a:schemeClr val="tx1"/>
                                    </a:solidFill>
                                    <a:latin typeface="Cambria Math" panose="02040503050406030204" pitchFamily="18" charset="0"/>
                                  </a:rPr>
                                  <m:t>𝒒</m:t>
                                </m:r>
                              </m:oMath>
                            </m:oMathPara>
                          </a14:m>
                          <a:endParaRPr lang="en-GB" sz="2000" dirty="0">
                            <a:solidFill>
                              <a:schemeClr val="tx1"/>
                            </a:solidFill>
                          </a:endParaRPr>
                        </a:p>
                      </a:txBody>
                      <a:tcPr/>
                    </a:tc>
                    <a:extLst>
                      <a:ext uri="{0D108BD9-81ED-4DB2-BD59-A6C34878D82A}">
                        <a16:rowId xmlns:a16="http://schemas.microsoft.com/office/drawing/2014/main" val="10000"/>
                      </a:ext>
                    </a:extLst>
                  </a:tr>
                  <a:tr h="357799">
                    <a:tc>
                      <a:txBody>
                        <a:bodyPr/>
                        <a:lstStyle/>
                        <a:p>
                          <a:pPr algn="ctr"/>
                          <a:r>
                            <a:rPr lang="en-GB" sz="2000" dirty="0"/>
                            <a:t>0</a:t>
                          </a:r>
                        </a:p>
                      </a:txBody>
                      <a:tcPr/>
                    </a:tc>
                    <a:extLst>
                      <a:ext uri="{0D108BD9-81ED-4DB2-BD59-A6C34878D82A}">
                        <a16:rowId xmlns:a16="http://schemas.microsoft.com/office/drawing/2014/main" val="10001"/>
                      </a:ext>
                    </a:extLst>
                  </a:tr>
                  <a:tr h="357799">
                    <a:tc>
                      <a:txBody>
                        <a:bodyPr/>
                        <a:lstStyle/>
                        <a:p>
                          <a:pPr algn="ctr"/>
                          <a:r>
                            <a:rPr lang="en-GB" sz="2000" dirty="0"/>
                            <a:t>1</a:t>
                          </a:r>
                        </a:p>
                      </a:txBody>
                      <a:tcPr/>
                    </a:tc>
                    <a:extLst>
                      <a:ext uri="{0D108BD9-81ED-4DB2-BD59-A6C34878D82A}">
                        <a16:rowId xmlns:a16="http://schemas.microsoft.com/office/drawing/2014/main" val="10002"/>
                      </a:ext>
                    </a:extLst>
                  </a:tr>
                  <a:tr h="357799">
                    <a:tc>
                      <a:txBody>
                        <a:bodyPr/>
                        <a:lstStyle/>
                        <a:p>
                          <a:pPr algn="ctr"/>
                          <a:r>
                            <a:rPr lang="en-GB" sz="2000" dirty="0"/>
                            <a:t>1</a:t>
                          </a:r>
                        </a:p>
                      </a:txBody>
                      <a:tcPr/>
                    </a:tc>
                    <a:extLst>
                      <a:ext uri="{0D108BD9-81ED-4DB2-BD59-A6C34878D82A}">
                        <a16:rowId xmlns:a16="http://schemas.microsoft.com/office/drawing/2014/main" val="10003"/>
                      </a:ext>
                    </a:extLst>
                  </a:tr>
                  <a:tr h="357799">
                    <a:tc>
                      <a:txBody>
                        <a:bodyPr/>
                        <a:lstStyle/>
                        <a:p>
                          <a:pPr algn="ctr"/>
                          <a:r>
                            <a:rPr lang="en-GB" sz="2000" dirty="0" err="1"/>
                            <a:t>1</a:t>
                          </a:r>
                          <a:endParaRPr lang="en-GB" sz="2000" dirty="0"/>
                        </a:p>
                      </a:txBody>
                      <a:tcPr/>
                    </a:tc>
                    <a:extLst>
                      <a:ext uri="{0D108BD9-81ED-4DB2-BD59-A6C34878D82A}">
                        <a16:rowId xmlns:a16="http://schemas.microsoft.com/office/drawing/2014/main" val="10004"/>
                      </a:ext>
                    </a:extLst>
                  </a:tr>
                </a:tbl>
              </a:graphicData>
            </a:graphic>
          </p:graphicFrame>
        </mc:Choice>
        <mc:Fallback xmlns="">
          <p:graphicFrame>
            <p:nvGraphicFramePr>
              <p:cNvPr id="9" name="Table 8"/>
              <p:cNvGraphicFramePr>
                <a:graphicFrameLocks noGrp="1"/>
              </p:cNvGraphicFramePr>
              <p:nvPr>
                <p:extLst>
                  <p:ext uri="{D42A27DB-BD31-4B8C-83A1-F6EECF244321}">
                    <p14:modId xmlns:p14="http://schemas.microsoft.com/office/powerpoint/2010/main" val="3459458208"/>
                  </p:ext>
                </p:extLst>
              </p:nvPr>
            </p:nvGraphicFramePr>
            <p:xfrm>
              <a:off x="2590800" y="1641144"/>
              <a:ext cx="762000" cy="1981200"/>
            </p:xfrm>
            <a:graphic>
              <a:graphicData uri="http://schemas.openxmlformats.org/drawingml/2006/table">
                <a:tbl>
                  <a:tblPr firstRow="1" bandRow="1">
                    <a:tableStyleId>{5C22544A-7EE6-4342-B048-85BDC9FD1C3A}</a:tableStyleId>
                  </a:tblPr>
                  <a:tblGrid>
                    <a:gridCol w="762000"/>
                  </a:tblGrid>
                  <a:tr h="396240">
                    <a:tc>
                      <a:txBody>
                        <a:bodyPr/>
                        <a:lstStyle/>
                        <a:p>
                          <a:endParaRPr lang="en-US"/>
                        </a:p>
                      </a:txBody>
                      <a:tcPr>
                        <a:blipFill rotWithShape="0">
                          <a:blip r:embed="rId4"/>
                          <a:stretch>
                            <a:fillRect l="-1600" t="-1538" r="-4000" b="-429231"/>
                          </a:stretch>
                        </a:blipFill>
                      </a:tcPr>
                    </a:tc>
                  </a:tr>
                  <a:tr h="396240">
                    <a:tc>
                      <a:txBody>
                        <a:bodyPr/>
                        <a:lstStyle/>
                        <a:p>
                          <a:pPr algn="ctr"/>
                          <a:r>
                            <a:rPr lang="en-GB" sz="2000" dirty="0" smtClean="0"/>
                            <a:t>0</a:t>
                          </a:r>
                          <a:endParaRPr lang="en-GB" sz="2000" dirty="0"/>
                        </a:p>
                      </a:txBody>
                      <a:tcPr/>
                    </a:tc>
                  </a:tr>
                  <a:tr h="396240">
                    <a:tc>
                      <a:txBody>
                        <a:bodyPr/>
                        <a:lstStyle/>
                        <a:p>
                          <a:pPr algn="ctr"/>
                          <a:r>
                            <a:rPr lang="en-GB" sz="2000" dirty="0" smtClean="0"/>
                            <a:t>1</a:t>
                          </a:r>
                          <a:endParaRPr lang="en-GB" sz="2000" dirty="0"/>
                        </a:p>
                      </a:txBody>
                      <a:tcPr/>
                    </a:tc>
                  </a:tr>
                  <a:tr h="396240">
                    <a:tc>
                      <a:txBody>
                        <a:bodyPr/>
                        <a:lstStyle/>
                        <a:p>
                          <a:pPr algn="ctr"/>
                          <a:r>
                            <a:rPr lang="en-GB" sz="2000" dirty="0" smtClean="0"/>
                            <a:t>1</a:t>
                          </a:r>
                          <a:endParaRPr lang="en-GB" sz="2000" dirty="0"/>
                        </a:p>
                      </a:txBody>
                      <a:tcPr/>
                    </a:tc>
                  </a:tr>
                  <a:tr h="396240">
                    <a:tc>
                      <a:txBody>
                        <a:bodyPr/>
                        <a:lstStyle/>
                        <a:p>
                          <a:pPr algn="ctr"/>
                          <a:r>
                            <a:rPr lang="en-GB" sz="2000" dirty="0" err="1" smtClean="0"/>
                            <a:t>1</a:t>
                          </a:r>
                          <a:endParaRPr lang="en-GB" sz="2000" dirty="0"/>
                        </a:p>
                      </a:txBody>
                      <a:tcPr/>
                    </a:tc>
                  </a:tr>
                </a:tbl>
              </a:graphicData>
            </a:graphic>
          </p:graphicFrame>
        </mc:Fallback>
      </mc:AlternateContent>
      <mc:AlternateContent xmlns:mc="http://schemas.openxmlformats.org/markup-compatibility/2006" xmlns:a14="http://schemas.microsoft.com/office/drawing/2010/main">
        <mc:Choice Requires="a14">
          <p:graphicFrame>
            <p:nvGraphicFramePr>
              <p:cNvPr id="10" name="Table 9"/>
              <p:cNvGraphicFramePr>
                <a:graphicFrameLocks noGrp="1"/>
              </p:cNvGraphicFramePr>
              <p:nvPr>
                <p:extLst>
                  <p:ext uri="{D42A27DB-BD31-4B8C-83A1-F6EECF244321}">
                    <p14:modId xmlns:p14="http://schemas.microsoft.com/office/powerpoint/2010/main" val="1976235297"/>
                  </p:ext>
                </p:extLst>
              </p:nvPr>
            </p:nvGraphicFramePr>
            <p:xfrm>
              <a:off x="3352800" y="1641144"/>
              <a:ext cx="914400" cy="1981200"/>
            </p:xfrm>
            <a:graphic>
              <a:graphicData uri="http://schemas.openxmlformats.org/drawingml/2006/table">
                <a:tbl>
                  <a:tblPr firstRow="1" bandRow="1">
                    <a:tableStyleId>{5C22544A-7EE6-4342-B048-85BDC9FD1C3A}</a:tableStyleId>
                  </a:tblPr>
                  <a:tblGrid>
                    <a:gridCol w="914400">
                      <a:extLst>
                        <a:ext uri="{9D8B030D-6E8A-4147-A177-3AD203B41FA5}">
                          <a16:colId xmlns:a16="http://schemas.microsoft.com/office/drawing/2014/main" val="20000"/>
                        </a:ext>
                      </a:extLst>
                    </a:gridCol>
                  </a:tblGrid>
                  <a:tr h="333946">
                    <a:tc>
                      <a:txBody>
                        <a:bodyPr/>
                        <a:lstStyle/>
                        <a:p>
                          <a:pPr algn="ctr"/>
                          <a14:m>
                            <m:oMathPara xmlns:m="http://schemas.openxmlformats.org/officeDocument/2006/math">
                              <m:oMathParaPr>
                                <m:jc m:val="centerGroup"/>
                              </m:oMathParaPr>
                              <m:oMath xmlns:m="http://schemas.openxmlformats.org/officeDocument/2006/math">
                                <m:r>
                                  <a:rPr lang="en-GB" sz="2000" b="1" i="1" smtClean="0">
                                    <a:solidFill>
                                      <a:schemeClr val="tx1"/>
                                    </a:solidFill>
                                    <a:latin typeface="Cambria Math" panose="02040503050406030204" pitchFamily="18" charset="0"/>
                                  </a:rPr>
                                  <m:t>𝒑</m:t>
                                </m:r>
                                <m:r>
                                  <a:rPr lang="en-GB" sz="2000" b="1" i="1" smtClean="0">
                                    <a:solidFill>
                                      <a:schemeClr val="tx1"/>
                                    </a:solidFill>
                                    <a:latin typeface="Cambria Math" panose="02040503050406030204" pitchFamily="18" charset="0"/>
                                    <a:ea typeface="Cambria Math" panose="02040503050406030204" pitchFamily="18" charset="0"/>
                                  </a:rPr>
                                  <m:t>→</m:t>
                                </m:r>
                                <m:r>
                                  <a:rPr lang="en-GB" sz="2000" b="1" i="1" smtClean="0">
                                    <a:solidFill>
                                      <a:schemeClr val="tx1"/>
                                    </a:solidFill>
                                    <a:latin typeface="Cambria Math" panose="02040503050406030204" pitchFamily="18" charset="0"/>
                                  </a:rPr>
                                  <m:t>𝒒</m:t>
                                </m:r>
                              </m:oMath>
                            </m:oMathPara>
                          </a14:m>
                          <a:endParaRPr lang="en-GB" sz="2000" dirty="0">
                            <a:solidFill>
                              <a:schemeClr val="tx1"/>
                            </a:solidFill>
                          </a:endParaRPr>
                        </a:p>
                      </a:txBody>
                      <a:tcPr/>
                    </a:tc>
                    <a:extLst>
                      <a:ext uri="{0D108BD9-81ED-4DB2-BD59-A6C34878D82A}">
                        <a16:rowId xmlns:a16="http://schemas.microsoft.com/office/drawing/2014/main" val="10000"/>
                      </a:ext>
                    </a:extLst>
                  </a:tr>
                  <a:tr h="357799">
                    <a:tc>
                      <a:txBody>
                        <a:bodyPr/>
                        <a:lstStyle/>
                        <a:p>
                          <a:pPr algn="ctr"/>
                          <a:r>
                            <a:rPr lang="en-GB" sz="2000" dirty="0"/>
                            <a:t>1</a:t>
                          </a:r>
                        </a:p>
                      </a:txBody>
                      <a:tcPr/>
                    </a:tc>
                    <a:extLst>
                      <a:ext uri="{0D108BD9-81ED-4DB2-BD59-A6C34878D82A}">
                        <a16:rowId xmlns:a16="http://schemas.microsoft.com/office/drawing/2014/main" val="10001"/>
                      </a:ext>
                    </a:extLst>
                  </a:tr>
                  <a:tr h="357799">
                    <a:tc>
                      <a:txBody>
                        <a:bodyPr/>
                        <a:lstStyle/>
                        <a:p>
                          <a:pPr algn="ctr"/>
                          <a:r>
                            <a:rPr lang="en-GB" sz="2000" dirty="0"/>
                            <a:t>1</a:t>
                          </a:r>
                        </a:p>
                      </a:txBody>
                      <a:tcPr/>
                    </a:tc>
                    <a:extLst>
                      <a:ext uri="{0D108BD9-81ED-4DB2-BD59-A6C34878D82A}">
                        <a16:rowId xmlns:a16="http://schemas.microsoft.com/office/drawing/2014/main" val="10002"/>
                      </a:ext>
                    </a:extLst>
                  </a:tr>
                  <a:tr h="357799">
                    <a:tc>
                      <a:txBody>
                        <a:bodyPr/>
                        <a:lstStyle/>
                        <a:p>
                          <a:pPr algn="ctr"/>
                          <a:r>
                            <a:rPr lang="en-GB" sz="2000" dirty="0"/>
                            <a:t>0</a:t>
                          </a:r>
                        </a:p>
                      </a:txBody>
                      <a:tcPr/>
                    </a:tc>
                    <a:extLst>
                      <a:ext uri="{0D108BD9-81ED-4DB2-BD59-A6C34878D82A}">
                        <a16:rowId xmlns:a16="http://schemas.microsoft.com/office/drawing/2014/main" val="10003"/>
                      </a:ext>
                    </a:extLst>
                  </a:tr>
                  <a:tr h="357799">
                    <a:tc>
                      <a:txBody>
                        <a:bodyPr/>
                        <a:lstStyle/>
                        <a:p>
                          <a:pPr algn="ctr"/>
                          <a:r>
                            <a:rPr lang="en-GB" sz="2000" dirty="0" err="1"/>
                            <a:t>1</a:t>
                          </a:r>
                          <a:endParaRPr lang="en-GB" sz="2000" dirty="0"/>
                        </a:p>
                      </a:txBody>
                      <a:tcPr/>
                    </a:tc>
                    <a:extLst>
                      <a:ext uri="{0D108BD9-81ED-4DB2-BD59-A6C34878D82A}">
                        <a16:rowId xmlns:a16="http://schemas.microsoft.com/office/drawing/2014/main" val="10004"/>
                      </a:ext>
                    </a:extLst>
                  </a:tr>
                </a:tbl>
              </a:graphicData>
            </a:graphic>
          </p:graphicFrame>
        </mc:Choice>
        <mc:Fallback xmlns="">
          <p:graphicFrame>
            <p:nvGraphicFramePr>
              <p:cNvPr id="10" name="Table 9"/>
              <p:cNvGraphicFramePr>
                <a:graphicFrameLocks noGrp="1"/>
              </p:cNvGraphicFramePr>
              <p:nvPr>
                <p:extLst>
                  <p:ext uri="{D42A27DB-BD31-4B8C-83A1-F6EECF244321}">
                    <p14:modId xmlns:p14="http://schemas.microsoft.com/office/powerpoint/2010/main" val="1976235297"/>
                  </p:ext>
                </p:extLst>
              </p:nvPr>
            </p:nvGraphicFramePr>
            <p:xfrm>
              <a:off x="3352800" y="1641144"/>
              <a:ext cx="914400" cy="1981200"/>
            </p:xfrm>
            <a:graphic>
              <a:graphicData uri="http://schemas.openxmlformats.org/drawingml/2006/table">
                <a:tbl>
                  <a:tblPr firstRow="1" bandRow="1">
                    <a:tableStyleId>{5C22544A-7EE6-4342-B048-85BDC9FD1C3A}</a:tableStyleId>
                  </a:tblPr>
                  <a:tblGrid>
                    <a:gridCol w="914400"/>
                  </a:tblGrid>
                  <a:tr h="396240">
                    <a:tc>
                      <a:txBody>
                        <a:bodyPr/>
                        <a:lstStyle/>
                        <a:p>
                          <a:endParaRPr lang="en-US"/>
                        </a:p>
                      </a:txBody>
                      <a:tcPr>
                        <a:blipFill rotWithShape="0">
                          <a:blip r:embed="rId5"/>
                          <a:stretch>
                            <a:fillRect l="-1333" t="-1538" r="-3333" b="-429231"/>
                          </a:stretch>
                        </a:blipFill>
                      </a:tcPr>
                    </a:tc>
                  </a:tr>
                  <a:tr h="396240">
                    <a:tc>
                      <a:txBody>
                        <a:bodyPr/>
                        <a:lstStyle/>
                        <a:p>
                          <a:pPr algn="ctr"/>
                          <a:r>
                            <a:rPr lang="en-GB" sz="2000" dirty="0" smtClean="0"/>
                            <a:t>1</a:t>
                          </a:r>
                          <a:endParaRPr lang="en-GB" sz="2000" dirty="0"/>
                        </a:p>
                      </a:txBody>
                      <a:tcPr/>
                    </a:tc>
                  </a:tr>
                  <a:tr h="396240">
                    <a:tc>
                      <a:txBody>
                        <a:bodyPr/>
                        <a:lstStyle/>
                        <a:p>
                          <a:pPr algn="ctr"/>
                          <a:r>
                            <a:rPr lang="en-GB" sz="2000" dirty="0" smtClean="0"/>
                            <a:t>1</a:t>
                          </a:r>
                          <a:endParaRPr lang="en-GB" sz="2000" dirty="0"/>
                        </a:p>
                      </a:txBody>
                      <a:tcPr/>
                    </a:tc>
                  </a:tr>
                  <a:tr h="396240">
                    <a:tc>
                      <a:txBody>
                        <a:bodyPr/>
                        <a:lstStyle/>
                        <a:p>
                          <a:pPr algn="ctr"/>
                          <a:r>
                            <a:rPr lang="en-GB" sz="2000" dirty="0" smtClean="0"/>
                            <a:t>0</a:t>
                          </a:r>
                          <a:endParaRPr lang="en-GB" sz="2000" dirty="0"/>
                        </a:p>
                      </a:txBody>
                      <a:tcPr/>
                    </a:tc>
                  </a:tr>
                  <a:tr h="396240">
                    <a:tc>
                      <a:txBody>
                        <a:bodyPr/>
                        <a:lstStyle/>
                        <a:p>
                          <a:pPr algn="ctr"/>
                          <a:r>
                            <a:rPr lang="en-GB" sz="2000" dirty="0" err="1" smtClean="0"/>
                            <a:t>1</a:t>
                          </a:r>
                          <a:endParaRPr lang="en-GB" sz="2000" dirty="0"/>
                        </a:p>
                      </a:txBody>
                      <a:tcPr/>
                    </a:tc>
                  </a:tr>
                </a:tbl>
              </a:graphicData>
            </a:graphic>
          </p:graphicFrame>
        </mc:Fallback>
      </mc:AlternateContent>
      <mc:AlternateContent xmlns:mc="http://schemas.openxmlformats.org/markup-compatibility/2006" xmlns:a14="http://schemas.microsoft.com/office/drawing/2010/main">
        <mc:Choice Requires="a14">
          <p:graphicFrame>
            <p:nvGraphicFramePr>
              <p:cNvPr id="11" name="Table 10"/>
              <p:cNvGraphicFramePr>
                <a:graphicFrameLocks noGrp="1"/>
              </p:cNvGraphicFramePr>
              <p:nvPr>
                <p:extLst>
                  <p:ext uri="{D42A27DB-BD31-4B8C-83A1-F6EECF244321}">
                    <p14:modId xmlns:p14="http://schemas.microsoft.com/office/powerpoint/2010/main" val="4265473140"/>
                  </p:ext>
                </p:extLst>
              </p:nvPr>
            </p:nvGraphicFramePr>
            <p:xfrm>
              <a:off x="4267200" y="1641144"/>
              <a:ext cx="2895601" cy="1981200"/>
            </p:xfrm>
            <a:graphic>
              <a:graphicData uri="http://schemas.openxmlformats.org/drawingml/2006/table">
                <a:tbl>
                  <a:tblPr firstRow="1" bandRow="1">
                    <a:tableStyleId>{5C22544A-7EE6-4342-B048-85BDC9FD1C3A}</a:tableStyleId>
                  </a:tblPr>
                  <a:tblGrid>
                    <a:gridCol w="2895601">
                      <a:extLst>
                        <a:ext uri="{9D8B030D-6E8A-4147-A177-3AD203B41FA5}">
                          <a16:colId xmlns:a16="http://schemas.microsoft.com/office/drawing/2014/main" val="20000"/>
                        </a:ext>
                      </a:extLst>
                    </a:gridCol>
                  </a:tblGrid>
                  <a:tr h="333946">
                    <a:tc>
                      <a:txBody>
                        <a:bodyPr/>
                        <a:lstStyle/>
                        <a:p>
                          <a:pPr algn="ctr"/>
                          <a14:m>
                            <m:oMathPara xmlns:m="http://schemas.openxmlformats.org/officeDocument/2006/math">
                              <m:oMathParaPr>
                                <m:jc m:val="centerGroup"/>
                              </m:oMathParaPr>
                              <m:oMath xmlns:m="http://schemas.openxmlformats.org/officeDocument/2006/math">
                                <m:r>
                                  <a:rPr lang="en-GB" sz="2000" b="1" i="1" smtClean="0">
                                    <a:solidFill>
                                      <a:schemeClr val="tx1"/>
                                    </a:solidFill>
                                    <a:latin typeface="Cambria Math" panose="02040503050406030204" pitchFamily="18" charset="0"/>
                                    <a:ea typeface="Cambria Math" panose="02040503050406030204" pitchFamily="18" charset="0"/>
                                  </a:rPr>
                                  <m:t>¬</m:t>
                                </m:r>
                                <m:r>
                                  <a:rPr lang="en-GB" sz="2000" b="1" i="1" smtClean="0">
                                    <a:solidFill>
                                      <a:schemeClr val="tx1"/>
                                    </a:solidFill>
                                    <a:latin typeface="Cambria Math" panose="02040503050406030204" pitchFamily="18" charset="0"/>
                                    <a:ea typeface="Cambria Math" panose="02040503050406030204" pitchFamily="18" charset="0"/>
                                  </a:rPr>
                                  <m:t>𝒑</m:t>
                                </m:r>
                                <m:r>
                                  <a:rPr lang="en-GB" sz="2000" b="1" i="1" smtClean="0">
                                    <a:solidFill>
                                      <a:schemeClr val="tx1"/>
                                    </a:solidFill>
                                    <a:latin typeface="Cambria Math" panose="02040503050406030204" pitchFamily="18" charset="0"/>
                                    <a:ea typeface="Cambria Math" panose="02040503050406030204" pitchFamily="18" charset="0"/>
                                  </a:rPr>
                                  <m:t> ∧(</m:t>
                                </m:r>
                                <m:r>
                                  <a:rPr lang="en-GB" sz="2000" b="1" i="1" smtClean="0">
                                    <a:solidFill>
                                      <a:schemeClr val="tx1"/>
                                    </a:solidFill>
                                    <a:latin typeface="Cambria Math" panose="02040503050406030204" pitchFamily="18" charset="0"/>
                                    <a:ea typeface="Cambria Math" panose="02040503050406030204" pitchFamily="18" charset="0"/>
                                  </a:rPr>
                                  <m:t>𝒑</m:t>
                                </m:r>
                                <m:r>
                                  <a:rPr lang="en-GB" sz="2000" b="1" i="1" smtClean="0">
                                    <a:solidFill>
                                      <a:schemeClr val="tx1"/>
                                    </a:solidFill>
                                    <a:latin typeface="Cambria Math" panose="02040503050406030204" pitchFamily="18" charset="0"/>
                                    <a:ea typeface="Cambria Math" panose="02040503050406030204" pitchFamily="18" charset="0"/>
                                  </a:rPr>
                                  <m:t>∨</m:t>
                                </m:r>
                                <m:r>
                                  <a:rPr lang="en-GB" sz="2000" b="1" i="1" smtClean="0">
                                    <a:solidFill>
                                      <a:schemeClr val="tx1"/>
                                    </a:solidFill>
                                    <a:latin typeface="Cambria Math" panose="02040503050406030204" pitchFamily="18" charset="0"/>
                                  </a:rPr>
                                  <m:t>𝒒</m:t>
                                </m:r>
                                <m:r>
                                  <a:rPr lang="en-GB" sz="2000" b="1" i="1" smtClean="0">
                                    <a:solidFill>
                                      <a:schemeClr val="tx1"/>
                                    </a:solidFill>
                                    <a:latin typeface="Cambria Math" panose="02040503050406030204" pitchFamily="18" charset="0"/>
                                  </a:rPr>
                                  <m:t>)∧(</m:t>
                                </m:r>
                                <m:r>
                                  <a:rPr lang="en-GB" sz="2000" b="1" i="1" smtClean="0">
                                    <a:solidFill>
                                      <a:schemeClr val="tx1"/>
                                    </a:solidFill>
                                    <a:latin typeface="Cambria Math" panose="02040503050406030204" pitchFamily="18" charset="0"/>
                                    <a:ea typeface="Cambria Math" panose="02040503050406030204" pitchFamily="18" charset="0"/>
                                  </a:rPr>
                                  <m:t>𝒑</m:t>
                                </m:r>
                                <m:r>
                                  <a:rPr lang="en-GB" sz="2000" b="1" i="1" smtClean="0">
                                    <a:solidFill>
                                      <a:schemeClr val="tx1"/>
                                    </a:solidFill>
                                    <a:latin typeface="Cambria Math" panose="02040503050406030204" pitchFamily="18" charset="0"/>
                                    <a:ea typeface="Cambria Math" panose="02040503050406030204" pitchFamily="18" charset="0"/>
                                  </a:rPr>
                                  <m:t>→</m:t>
                                </m:r>
                                <m:r>
                                  <a:rPr lang="en-GB" sz="2000" b="1" i="1" smtClean="0">
                                    <a:solidFill>
                                      <a:schemeClr val="tx1"/>
                                    </a:solidFill>
                                    <a:latin typeface="Cambria Math" panose="02040503050406030204" pitchFamily="18" charset="0"/>
                                    <a:ea typeface="Cambria Math" panose="02040503050406030204" pitchFamily="18" charset="0"/>
                                  </a:rPr>
                                  <m:t>𝒒</m:t>
                                </m:r>
                                <m:r>
                                  <a:rPr lang="en-GB" sz="2000" b="1" i="1" smtClean="0">
                                    <a:solidFill>
                                      <a:schemeClr val="tx1"/>
                                    </a:solidFill>
                                    <a:latin typeface="Cambria Math" panose="02040503050406030204" pitchFamily="18" charset="0"/>
                                    <a:ea typeface="Cambria Math" panose="02040503050406030204" pitchFamily="18" charset="0"/>
                                  </a:rPr>
                                  <m:t>)</m:t>
                                </m:r>
                              </m:oMath>
                            </m:oMathPara>
                          </a14:m>
                          <a:endParaRPr lang="en-GB" sz="2000" dirty="0">
                            <a:solidFill>
                              <a:schemeClr val="tx1"/>
                            </a:solidFill>
                          </a:endParaRPr>
                        </a:p>
                      </a:txBody>
                      <a:tcPr/>
                    </a:tc>
                    <a:extLst>
                      <a:ext uri="{0D108BD9-81ED-4DB2-BD59-A6C34878D82A}">
                        <a16:rowId xmlns:a16="http://schemas.microsoft.com/office/drawing/2014/main" val="10000"/>
                      </a:ext>
                    </a:extLst>
                  </a:tr>
                  <a:tr h="357799">
                    <a:tc>
                      <a:txBody>
                        <a:bodyPr/>
                        <a:lstStyle/>
                        <a:p>
                          <a:pPr algn="ctr"/>
                          <a:r>
                            <a:rPr lang="en-GB" sz="2000" dirty="0"/>
                            <a:t>0</a:t>
                          </a:r>
                        </a:p>
                      </a:txBody>
                      <a:tcPr/>
                    </a:tc>
                    <a:extLst>
                      <a:ext uri="{0D108BD9-81ED-4DB2-BD59-A6C34878D82A}">
                        <a16:rowId xmlns:a16="http://schemas.microsoft.com/office/drawing/2014/main" val="10001"/>
                      </a:ext>
                    </a:extLst>
                  </a:tr>
                  <a:tr h="357799">
                    <a:tc>
                      <a:txBody>
                        <a:bodyPr/>
                        <a:lstStyle/>
                        <a:p>
                          <a:pPr algn="ctr"/>
                          <a:r>
                            <a:rPr lang="en-GB" sz="2000" dirty="0"/>
                            <a:t>1</a:t>
                          </a:r>
                        </a:p>
                      </a:txBody>
                      <a:tcPr>
                        <a:solidFill>
                          <a:srgbClr val="FFFF00"/>
                        </a:solidFill>
                      </a:tcPr>
                    </a:tc>
                    <a:extLst>
                      <a:ext uri="{0D108BD9-81ED-4DB2-BD59-A6C34878D82A}">
                        <a16:rowId xmlns:a16="http://schemas.microsoft.com/office/drawing/2014/main" val="10002"/>
                      </a:ext>
                    </a:extLst>
                  </a:tr>
                  <a:tr h="357799">
                    <a:tc>
                      <a:txBody>
                        <a:bodyPr/>
                        <a:lstStyle/>
                        <a:p>
                          <a:pPr algn="ctr"/>
                          <a:r>
                            <a:rPr lang="en-GB" sz="2000" dirty="0"/>
                            <a:t>0</a:t>
                          </a:r>
                        </a:p>
                      </a:txBody>
                      <a:tcPr/>
                    </a:tc>
                    <a:extLst>
                      <a:ext uri="{0D108BD9-81ED-4DB2-BD59-A6C34878D82A}">
                        <a16:rowId xmlns:a16="http://schemas.microsoft.com/office/drawing/2014/main" val="10003"/>
                      </a:ext>
                    </a:extLst>
                  </a:tr>
                  <a:tr h="357799">
                    <a:tc>
                      <a:txBody>
                        <a:bodyPr/>
                        <a:lstStyle/>
                        <a:p>
                          <a:pPr algn="ctr"/>
                          <a:r>
                            <a:rPr lang="en-GB" sz="2000" dirty="0" err="1"/>
                            <a:t>0</a:t>
                          </a:r>
                          <a:endParaRPr lang="en-GB" sz="2000" dirty="0"/>
                        </a:p>
                      </a:txBody>
                      <a:tcPr/>
                    </a:tc>
                    <a:extLst>
                      <a:ext uri="{0D108BD9-81ED-4DB2-BD59-A6C34878D82A}">
                        <a16:rowId xmlns:a16="http://schemas.microsoft.com/office/drawing/2014/main" val="10004"/>
                      </a:ext>
                    </a:extLst>
                  </a:tr>
                </a:tbl>
              </a:graphicData>
            </a:graphic>
          </p:graphicFrame>
        </mc:Choice>
        <mc:Fallback xmlns="">
          <p:graphicFrame>
            <p:nvGraphicFramePr>
              <p:cNvPr id="11" name="Table 10"/>
              <p:cNvGraphicFramePr>
                <a:graphicFrameLocks noGrp="1"/>
              </p:cNvGraphicFramePr>
              <p:nvPr>
                <p:extLst>
                  <p:ext uri="{D42A27DB-BD31-4B8C-83A1-F6EECF244321}">
                    <p14:modId xmlns:p14="http://schemas.microsoft.com/office/powerpoint/2010/main" val="4265473140"/>
                  </p:ext>
                </p:extLst>
              </p:nvPr>
            </p:nvGraphicFramePr>
            <p:xfrm>
              <a:off x="4267200" y="1641144"/>
              <a:ext cx="2895601" cy="1981200"/>
            </p:xfrm>
            <a:graphic>
              <a:graphicData uri="http://schemas.openxmlformats.org/drawingml/2006/table">
                <a:tbl>
                  <a:tblPr firstRow="1" bandRow="1">
                    <a:tableStyleId>{5C22544A-7EE6-4342-B048-85BDC9FD1C3A}</a:tableStyleId>
                  </a:tblPr>
                  <a:tblGrid>
                    <a:gridCol w="2895601"/>
                  </a:tblGrid>
                  <a:tr h="396240">
                    <a:tc>
                      <a:txBody>
                        <a:bodyPr/>
                        <a:lstStyle/>
                        <a:p>
                          <a:endParaRPr lang="en-US"/>
                        </a:p>
                      </a:txBody>
                      <a:tcPr>
                        <a:blipFill rotWithShape="0">
                          <a:blip r:embed="rId6"/>
                          <a:stretch>
                            <a:fillRect l="-420" t="-1538" r="-840" b="-429231"/>
                          </a:stretch>
                        </a:blipFill>
                      </a:tcPr>
                    </a:tc>
                  </a:tr>
                  <a:tr h="396240">
                    <a:tc>
                      <a:txBody>
                        <a:bodyPr/>
                        <a:lstStyle/>
                        <a:p>
                          <a:pPr algn="ctr"/>
                          <a:r>
                            <a:rPr lang="en-GB" sz="2000" dirty="0" smtClean="0"/>
                            <a:t>0</a:t>
                          </a:r>
                          <a:endParaRPr lang="en-GB" sz="2000" dirty="0"/>
                        </a:p>
                      </a:txBody>
                      <a:tcPr/>
                    </a:tc>
                  </a:tr>
                  <a:tr h="396240">
                    <a:tc>
                      <a:txBody>
                        <a:bodyPr/>
                        <a:lstStyle/>
                        <a:p>
                          <a:pPr algn="ctr"/>
                          <a:r>
                            <a:rPr lang="en-GB" sz="2000" dirty="0" smtClean="0"/>
                            <a:t>1</a:t>
                          </a:r>
                          <a:endParaRPr lang="en-GB" sz="2000" dirty="0"/>
                        </a:p>
                      </a:txBody>
                      <a:tcPr>
                        <a:solidFill>
                          <a:srgbClr val="FFFF00"/>
                        </a:solidFill>
                      </a:tcPr>
                    </a:tc>
                  </a:tr>
                  <a:tr h="396240">
                    <a:tc>
                      <a:txBody>
                        <a:bodyPr/>
                        <a:lstStyle/>
                        <a:p>
                          <a:pPr algn="ctr"/>
                          <a:r>
                            <a:rPr lang="en-GB" sz="2000" dirty="0" smtClean="0"/>
                            <a:t>0</a:t>
                          </a:r>
                          <a:endParaRPr lang="en-GB" sz="2000" dirty="0"/>
                        </a:p>
                      </a:txBody>
                      <a:tcPr/>
                    </a:tc>
                  </a:tr>
                  <a:tr h="396240">
                    <a:tc>
                      <a:txBody>
                        <a:bodyPr/>
                        <a:lstStyle/>
                        <a:p>
                          <a:pPr algn="ctr"/>
                          <a:r>
                            <a:rPr lang="en-GB" sz="2000" dirty="0" err="1" smtClean="0"/>
                            <a:t>0</a:t>
                          </a:r>
                          <a:endParaRPr lang="en-GB" sz="2000" dirty="0"/>
                        </a:p>
                      </a:txBody>
                      <a:tcPr/>
                    </a:tc>
                  </a:tr>
                </a:tbl>
              </a:graphicData>
            </a:graphic>
          </p:graphicFrame>
        </mc:Fallback>
      </mc:AlternateContent>
      <mc:AlternateContent xmlns:mc="http://schemas.openxmlformats.org/markup-compatibility/2006" xmlns:a14="http://schemas.microsoft.com/office/drawing/2010/main">
        <mc:Choice Requires="a14">
          <p:sp>
            <p:nvSpPr>
              <p:cNvPr id="12" name="TextBox 11"/>
              <p:cNvSpPr txBox="1"/>
              <p:nvPr/>
            </p:nvSpPr>
            <p:spPr>
              <a:xfrm>
                <a:off x="152400" y="3745468"/>
                <a:ext cx="8534400" cy="369332"/>
              </a:xfrm>
              <a:prstGeom prst="rect">
                <a:avLst/>
              </a:prstGeom>
              <a:noFill/>
            </p:spPr>
            <p:txBody>
              <a:bodyPr wrap="square" rtlCol="0">
                <a:spAutoFit/>
              </a:bodyPr>
              <a:lstStyle/>
              <a:p>
                <a:r>
                  <a:rPr lang="en-GB" dirty="0"/>
                  <a:t>When </a:t>
                </a:r>
                <a14:m>
                  <m:oMath xmlns:m="http://schemas.openxmlformats.org/officeDocument/2006/math">
                    <m:r>
                      <a:rPr lang="en-GB" i="1" dirty="0" smtClean="0">
                        <a:latin typeface="Cambria Math" panose="02040503050406030204" pitchFamily="18" charset="0"/>
                      </a:rPr>
                      <m:t>𝑝</m:t>
                    </m:r>
                  </m:oMath>
                </a14:m>
                <a:r>
                  <a:rPr lang="en-GB" dirty="0"/>
                  <a:t> is false and </a:t>
                </a:r>
                <a14:m>
                  <m:oMath xmlns:m="http://schemas.openxmlformats.org/officeDocument/2006/math">
                    <m:r>
                      <a:rPr lang="en-GB" i="1" dirty="0" smtClean="0">
                        <a:latin typeface="Cambria Math" panose="02040503050406030204" pitchFamily="18" charset="0"/>
                      </a:rPr>
                      <m:t>𝑞</m:t>
                    </m:r>
                  </m:oMath>
                </a14:m>
                <a:r>
                  <a:rPr lang="en-GB" dirty="0"/>
                  <a:t> is true all the specifications are true. System is consistent. </a:t>
                </a:r>
              </a:p>
            </p:txBody>
          </p:sp>
        </mc:Choice>
        <mc:Fallback xmlns="">
          <p:sp>
            <p:nvSpPr>
              <p:cNvPr id="12" name="TextBox 11"/>
              <p:cNvSpPr txBox="1">
                <a:spLocks noRot="1" noChangeAspect="1" noMove="1" noResize="1" noEditPoints="1" noAdjustHandles="1" noChangeArrowheads="1" noChangeShapeType="1" noTextEdit="1"/>
              </p:cNvSpPr>
              <p:nvPr/>
            </p:nvSpPr>
            <p:spPr>
              <a:xfrm>
                <a:off x="152400" y="3745468"/>
                <a:ext cx="8534400" cy="369332"/>
              </a:xfrm>
              <a:prstGeom prst="rect">
                <a:avLst/>
              </a:prstGeom>
              <a:blipFill rotWithShape="0">
                <a:blip r:embed="rId7"/>
                <a:stretch>
                  <a:fillRect l="-571" t="-8197" b="-24590"/>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13" name="TextBox 12"/>
              <p:cNvSpPr txBox="1"/>
              <p:nvPr/>
            </p:nvSpPr>
            <p:spPr>
              <a:xfrm>
                <a:off x="304800" y="4495800"/>
                <a:ext cx="8229600" cy="2031325"/>
              </a:xfrm>
              <a:prstGeom prst="rect">
                <a:avLst/>
              </a:prstGeom>
              <a:noFill/>
            </p:spPr>
            <p:txBody>
              <a:bodyPr wrap="square" rtlCol="0">
                <a:spAutoFit/>
              </a:bodyPr>
              <a:lstStyle/>
              <a:p>
                <a:r>
                  <a:rPr lang="en-GB" b="1" dirty="0"/>
                  <a:t>Method 2:</a:t>
                </a:r>
                <a:r>
                  <a:rPr lang="en-GB" dirty="0"/>
                  <a:t> Suppose that </a:t>
                </a:r>
                <a14:m>
                  <m:oMath xmlns:m="http://schemas.openxmlformats.org/officeDocument/2006/math">
                    <m:r>
                      <a:rPr lang="en-GB" i="1">
                        <a:latin typeface="Cambria Math" panose="02040503050406030204" pitchFamily="18" charset="0"/>
                        <a:ea typeface="Cambria Math" panose="02040503050406030204" pitchFamily="18" charset="0"/>
                      </a:rPr>
                      <m:t>¬</m:t>
                    </m:r>
                    <m:r>
                      <a:rPr lang="en-GB" i="1">
                        <a:latin typeface="Cambria Math" panose="02040503050406030204" pitchFamily="18" charset="0"/>
                        <a:ea typeface="Cambria Math" panose="02040503050406030204" pitchFamily="18" charset="0"/>
                      </a:rPr>
                      <m:t>𝑝</m:t>
                    </m:r>
                  </m:oMath>
                </a14:m>
                <a:r>
                  <a:rPr lang="en-GB" dirty="0"/>
                  <a:t> and </a:t>
                </a:r>
                <a14:m>
                  <m:oMath xmlns:m="http://schemas.openxmlformats.org/officeDocument/2006/math">
                    <m:r>
                      <a:rPr lang="en-GB" i="1">
                        <a:latin typeface="Cambria Math" panose="02040503050406030204" pitchFamily="18" charset="0"/>
                      </a:rPr>
                      <m:t>𝑝</m:t>
                    </m:r>
                    <m:r>
                      <a:rPr lang="en-GB" i="1">
                        <a:latin typeface="Cambria Math" panose="02040503050406030204" pitchFamily="18" charset="0"/>
                        <a:ea typeface="Cambria Math" panose="02040503050406030204" pitchFamily="18" charset="0"/>
                      </a:rPr>
                      <m:t>∨</m:t>
                    </m:r>
                    <m:r>
                      <a:rPr lang="en-GB" i="1">
                        <a:latin typeface="Cambria Math" panose="02040503050406030204" pitchFamily="18" charset="0"/>
                        <a:ea typeface="Cambria Math" panose="02040503050406030204" pitchFamily="18" charset="0"/>
                      </a:rPr>
                      <m:t>𝑞</m:t>
                    </m:r>
                    <m:r>
                      <a:rPr lang="en-GB" i="1">
                        <a:latin typeface="Cambria Math" panose="02040503050406030204" pitchFamily="18" charset="0"/>
                        <a:ea typeface="Cambria Math" panose="02040503050406030204" pitchFamily="18" charset="0"/>
                      </a:rPr>
                      <m:t> </m:t>
                    </m:r>
                  </m:oMath>
                </a14:m>
                <a:r>
                  <a:rPr lang="en-GB" dirty="0"/>
                  <a:t>are true. Then </a:t>
                </a:r>
              </a:p>
              <a:p>
                <a:r>
                  <a:rPr lang="en-GB" b="0" dirty="0"/>
                  <a:t>         </a:t>
                </a:r>
                <a14:m>
                  <m:oMath xmlns:m="http://schemas.openxmlformats.org/officeDocument/2006/math">
                    <m:r>
                      <a:rPr lang="en-GB" b="0" i="1" smtClean="0">
                        <a:latin typeface="Cambria Math" panose="02040503050406030204" pitchFamily="18" charset="0"/>
                      </a:rPr>
                      <m:t>𝑝</m:t>
                    </m:r>
                  </m:oMath>
                </a14:m>
                <a:r>
                  <a:rPr lang="en-GB" dirty="0"/>
                  <a:t> is false ( </a:t>
                </a:r>
                <a14:m>
                  <m:oMath xmlns:m="http://schemas.openxmlformats.org/officeDocument/2006/math">
                    <m:r>
                      <a:rPr lang="en-GB" i="1" smtClean="0">
                        <a:latin typeface="Cambria Math" panose="02040503050406030204" pitchFamily="18" charset="0"/>
                        <a:ea typeface="Cambria Math" panose="02040503050406030204" pitchFamily="18" charset="0"/>
                      </a:rPr>
                      <m:t>∵</m:t>
                    </m:r>
                    <m:r>
                      <a:rPr lang="en-GB" b="0" i="1" smtClean="0">
                        <a:latin typeface="Cambria Math" panose="02040503050406030204" pitchFamily="18" charset="0"/>
                        <a:ea typeface="Cambria Math" panose="02040503050406030204" pitchFamily="18" charset="0"/>
                      </a:rPr>
                      <m:t>  ¬</m:t>
                    </m:r>
                    <m:r>
                      <a:rPr lang="en-GB" b="0" i="1" smtClean="0">
                        <a:latin typeface="Cambria Math" panose="02040503050406030204" pitchFamily="18" charset="0"/>
                        <a:ea typeface="Cambria Math" panose="02040503050406030204" pitchFamily="18" charset="0"/>
                      </a:rPr>
                      <m:t>𝑝</m:t>
                    </m:r>
                  </m:oMath>
                </a14:m>
                <a:r>
                  <a:rPr lang="en-GB" dirty="0"/>
                  <a:t> is true)</a:t>
                </a:r>
              </a:p>
              <a:p>
                <a:r>
                  <a:rPr lang="en-GB" dirty="0"/>
                  <a:t>    </a:t>
                </a:r>
                <a14:m>
                  <m:oMath xmlns:m="http://schemas.openxmlformats.org/officeDocument/2006/math">
                    <m:r>
                      <a:rPr lang="en-GB" b="0" i="1" smtClean="0">
                        <a:latin typeface="Cambria Math" panose="02040503050406030204" pitchFamily="18" charset="0"/>
                        <a:ea typeface="Cambria Math" panose="02040503050406030204" pitchFamily="18" charset="0"/>
                      </a:rPr>
                      <m:t>⟹</m:t>
                    </m:r>
                    <m:r>
                      <a:rPr lang="en-GB" b="0" i="1" smtClean="0">
                        <a:latin typeface="Cambria Math" panose="02040503050406030204" pitchFamily="18" charset="0"/>
                      </a:rPr>
                      <m:t>𝑞</m:t>
                    </m:r>
                  </m:oMath>
                </a14:m>
                <a:r>
                  <a:rPr lang="en-GB" dirty="0"/>
                  <a:t> is true   (</a:t>
                </a:r>
                <a14:m>
                  <m:oMath xmlns:m="http://schemas.openxmlformats.org/officeDocument/2006/math">
                    <m:r>
                      <a:rPr lang="en-GB" i="1">
                        <a:latin typeface="Cambria Math" panose="02040503050406030204" pitchFamily="18" charset="0"/>
                      </a:rPr>
                      <m:t>∵ </m:t>
                    </m:r>
                    <m:r>
                      <a:rPr lang="en-GB" i="1">
                        <a:latin typeface="Cambria Math" panose="02040503050406030204" pitchFamily="18" charset="0"/>
                      </a:rPr>
                      <m:t>𝒑</m:t>
                    </m:r>
                    <m:r>
                      <a:rPr lang="en-GB" i="1">
                        <a:latin typeface="Cambria Math" panose="02040503050406030204" pitchFamily="18" charset="0"/>
                      </a:rPr>
                      <m:t>∨</m:t>
                    </m:r>
                    <m:r>
                      <a:rPr lang="en-GB" i="1">
                        <a:latin typeface="Cambria Math" panose="02040503050406030204" pitchFamily="18" charset="0"/>
                      </a:rPr>
                      <m:t>𝒒</m:t>
                    </m:r>
                  </m:oMath>
                </a14:m>
                <a:r>
                  <a:rPr lang="en-GB" i="1" dirty="0">
                    <a:latin typeface="Cambria Math" panose="02040503050406030204" pitchFamily="18" charset="0"/>
                  </a:rPr>
                  <a:t> </a:t>
                </a:r>
                <a:r>
                  <a:rPr lang="en-GB" dirty="0"/>
                  <a:t>is true)</a:t>
                </a:r>
              </a:p>
              <a:p>
                <a:r>
                  <a:rPr lang="en-GB" dirty="0">
                    <a:ea typeface="Cambria Math" panose="02040503050406030204" pitchFamily="18" charset="0"/>
                  </a:rPr>
                  <a:t>    </a:t>
                </a:r>
                <a14:m>
                  <m:oMath xmlns:m="http://schemas.openxmlformats.org/officeDocument/2006/math">
                    <m:r>
                      <a:rPr lang="en-GB" i="1">
                        <a:latin typeface="Cambria Math" panose="02040503050406030204" pitchFamily="18" charset="0"/>
                        <a:ea typeface="Cambria Math" panose="02040503050406030204" pitchFamily="18" charset="0"/>
                      </a:rPr>
                      <m:t>⟹</m:t>
                    </m:r>
                  </m:oMath>
                </a14:m>
                <a:r>
                  <a:rPr lang="en-GB" dirty="0"/>
                  <a:t> </a:t>
                </a:r>
                <a14:m>
                  <m:oMath xmlns:m="http://schemas.openxmlformats.org/officeDocument/2006/math">
                    <m:r>
                      <a:rPr lang="en-GB" i="1">
                        <a:latin typeface="Cambria Math" panose="02040503050406030204" pitchFamily="18" charset="0"/>
                      </a:rPr>
                      <m:t>𝑝</m:t>
                    </m:r>
                    <m:r>
                      <a:rPr lang="en-GB" i="1">
                        <a:latin typeface="Cambria Math" panose="02040503050406030204" pitchFamily="18" charset="0"/>
                        <a:ea typeface="Cambria Math" panose="02040503050406030204" pitchFamily="18" charset="0"/>
                      </a:rPr>
                      <m:t>→</m:t>
                    </m:r>
                    <m:r>
                      <a:rPr lang="en-GB" i="1">
                        <a:latin typeface="Cambria Math" panose="02040503050406030204" pitchFamily="18" charset="0"/>
                        <a:ea typeface="Cambria Math" panose="02040503050406030204" pitchFamily="18" charset="0"/>
                      </a:rPr>
                      <m:t>𝑞</m:t>
                    </m:r>
                  </m:oMath>
                </a14:m>
                <a:r>
                  <a:rPr lang="en-GB" dirty="0"/>
                  <a:t> is true</a:t>
                </a:r>
              </a:p>
              <a:p>
                <a:r>
                  <a:rPr lang="en-GB" dirty="0">
                    <a:ea typeface="Cambria Math" panose="02040503050406030204" pitchFamily="18" charset="0"/>
                  </a:rPr>
                  <a:t>    </a:t>
                </a:r>
                <a14:m>
                  <m:oMath xmlns:m="http://schemas.openxmlformats.org/officeDocument/2006/math">
                    <m:r>
                      <a:rPr lang="en-GB" i="1">
                        <a:latin typeface="Cambria Math" panose="02040503050406030204" pitchFamily="18" charset="0"/>
                        <a:ea typeface="Cambria Math" panose="02040503050406030204" pitchFamily="18" charset="0"/>
                      </a:rPr>
                      <m:t>⟹</m:t>
                    </m:r>
                  </m:oMath>
                </a14:m>
                <a:r>
                  <a:rPr lang="en-GB" dirty="0"/>
                  <a:t> When </a:t>
                </a:r>
                <a14:m>
                  <m:oMath xmlns:m="http://schemas.openxmlformats.org/officeDocument/2006/math">
                    <m:r>
                      <a:rPr lang="en-GB" i="1" dirty="0">
                        <a:latin typeface="Cambria Math" panose="02040503050406030204" pitchFamily="18" charset="0"/>
                      </a:rPr>
                      <m:t>𝑝</m:t>
                    </m:r>
                  </m:oMath>
                </a14:m>
                <a:r>
                  <a:rPr lang="en-GB" dirty="0"/>
                  <a:t> is false and </a:t>
                </a:r>
                <a14:m>
                  <m:oMath xmlns:m="http://schemas.openxmlformats.org/officeDocument/2006/math">
                    <m:r>
                      <a:rPr lang="en-GB" i="1" dirty="0">
                        <a:latin typeface="Cambria Math" panose="02040503050406030204" pitchFamily="18" charset="0"/>
                      </a:rPr>
                      <m:t>𝑞</m:t>
                    </m:r>
                  </m:oMath>
                </a14:m>
                <a:r>
                  <a:rPr lang="en-GB" dirty="0"/>
                  <a:t> is true all the specifications are true. System of specifications are consistent. </a:t>
                </a:r>
              </a:p>
              <a:p>
                <a:endParaRPr lang="en-GB" dirty="0"/>
              </a:p>
            </p:txBody>
          </p:sp>
        </mc:Choice>
        <mc:Fallback xmlns="">
          <p:sp>
            <p:nvSpPr>
              <p:cNvPr id="13" name="TextBox 12"/>
              <p:cNvSpPr txBox="1">
                <a:spLocks noRot="1" noChangeAspect="1" noMove="1" noResize="1" noEditPoints="1" noAdjustHandles="1" noChangeArrowheads="1" noChangeShapeType="1" noTextEdit="1"/>
              </p:cNvSpPr>
              <p:nvPr/>
            </p:nvSpPr>
            <p:spPr>
              <a:xfrm>
                <a:off x="304800" y="4495800"/>
                <a:ext cx="8229600" cy="2031325"/>
              </a:xfrm>
              <a:prstGeom prst="rect">
                <a:avLst/>
              </a:prstGeom>
              <a:blipFill rotWithShape="0">
                <a:blip r:embed="rId8"/>
                <a:stretch>
                  <a:fillRect l="-593" t="-1802"/>
                </a:stretch>
              </a:blipFill>
            </p:spPr>
            <p:txBody>
              <a:bodyPr/>
              <a:lstStyle/>
              <a:p>
                <a:r>
                  <a:rPr lang="en-GB">
                    <a:noFill/>
                  </a:rPr>
                  <a:t> </a:t>
                </a:r>
              </a:p>
            </p:txBody>
          </p:sp>
        </mc:Fallback>
      </mc:AlternateContent>
    </p:spTree>
    <p:extLst>
      <p:ext uri="{BB962C8B-B14F-4D97-AF65-F5344CB8AC3E}">
        <p14:creationId xmlns:p14="http://schemas.microsoft.com/office/powerpoint/2010/main" val="28603489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3">
                                            <p:txEl>
                                              <p:pRg st="0" end="0"/>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3">
                                            <p:txEl>
                                              <p:pRg st="1" end="1"/>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3">
                                            <p:txEl>
                                              <p:pRg st="2" end="2"/>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3">
                                            <p:txEl>
                                              <p:pRg st="3" end="3"/>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System Speciﬁcations</a:t>
            </a:r>
            <a:endParaRPr lang="en-GB" dirty="0"/>
          </a:p>
        </p:txBody>
      </p:sp>
      <p:sp>
        <p:nvSpPr>
          <p:cNvPr id="4" name="Date Placeholder 3"/>
          <p:cNvSpPr>
            <a:spLocks noGrp="1"/>
          </p:cNvSpPr>
          <p:nvPr>
            <p:ph type="dt" sz="half" idx="10"/>
          </p:nvPr>
        </p:nvSpPr>
        <p:spPr/>
        <p:txBody>
          <a:bodyPr/>
          <a:lstStyle/>
          <a:p>
            <a:fld id="{909B11BD-665F-435D-AB5F-58F2D5A118E4}" type="datetime3">
              <a:rPr lang="en-US" smtClean="0"/>
              <a:t>27 April 2026</a:t>
            </a:fld>
            <a:endParaRPr lang="en-US"/>
          </a:p>
        </p:txBody>
      </p:sp>
      <p:sp>
        <p:nvSpPr>
          <p:cNvPr id="5" name="Footer Placeholder 4"/>
          <p:cNvSpPr>
            <a:spLocks noGrp="1"/>
          </p:cNvSpPr>
          <p:nvPr>
            <p:ph type="ftr" sz="quarter" idx="11"/>
          </p:nvPr>
        </p:nvSpPr>
        <p:spPr/>
        <p:txBody>
          <a:bodyPr/>
          <a:lstStyle/>
          <a:p>
            <a:r>
              <a:rPr lang="en-US"/>
              <a:t>SCS 1302   Discrete Mathematics 1       Prof. D D Karunaratna</a:t>
            </a:r>
          </a:p>
        </p:txBody>
      </p:sp>
      <p:sp>
        <p:nvSpPr>
          <p:cNvPr id="6" name="Slide Number Placeholder 5"/>
          <p:cNvSpPr>
            <a:spLocks noGrp="1"/>
          </p:cNvSpPr>
          <p:nvPr>
            <p:ph type="sldNum" sz="quarter" idx="12"/>
          </p:nvPr>
        </p:nvSpPr>
        <p:spPr/>
        <p:txBody>
          <a:bodyPr/>
          <a:lstStyle/>
          <a:p>
            <a:fld id="{0CA841A6-7C02-4C92-B6EE-5DBCC2AD53D0}" type="slidenum">
              <a:rPr lang="en-US" smtClean="0"/>
              <a:t>73</a:t>
            </a:fld>
            <a:endParaRPr lang="en-US"/>
          </a:p>
        </p:txBody>
      </p:sp>
      <p:sp>
        <p:nvSpPr>
          <p:cNvPr id="7" name="Rectangle 6"/>
          <p:cNvSpPr/>
          <p:nvPr/>
        </p:nvSpPr>
        <p:spPr>
          <a:xfrm>
            <a:off x="457200" y="1676400"/>
            <a:ext cx="8229600" cy="1938992"/>
          </a:xfrm>
          <a:prstGeom prst="rect">
            <a:avLst/>
          </a:prstGeom>
        </p:spPr>
        <p:txBody>
          <a:bodyPr wrap="square">
            <a:spAutoFit/>
          </a:bodyPr>
          <a:lstStyle/>
          <a:p>
            <a:pPr marL="342900" indent="-342900">
              <a:buFont typeface="Arial" panose="020B0604020202020204" pitchFamily="34" charset="0"/>
              <a:buChar char="•"/>
            </a:pPr>
            <a:r>
              <a:rPr lang="en-US" sz="2000" dirty="0"/>
              <a:t>System specifications should be consistent, that is, they should not contain conflicting requirements that could be used to derive a contradiction.</a:t>
            </a:r>
          </a:p>
          <a:p>
            <a:endParaRPr lang="en-US" sz="2000" dirty="0"/>
          </a:p>
          <a:p>
            <a:pPr marL="342900" indent="-342900">
              <a:buFont typeface="Arial" panose="020B0604020202020204" pitchFamily="34" charset="0"/>
              <a:buChar char="•"/>
            </a:pPr>
            <a:r>
              <a:rPr lang="en-US" sz="2000" dirty="0"/>
              <a:t> When specifications are not consistent, there would be no way to develop a system that satisfies all specifications.</a:t>
            </a:r>
          </a:p>
        </p:txBody>
      </p:sp>
    </p:spTree>
    <p:extLst>
      <p:ext uri="{BB962C8B-B14F-4D97-AF65-F5344CB8AC3E}">
        <p14:creationId xmlns:p14="http://schemas.microsoft.com/office/powerpoint/2010/main" val="186781938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Example</a:t>
            </a:r>
            <a:endParaRPr lang="en-GB" dirty="0"/>
          </a:p>
        </p:txBody>
      </p:sp>
      <p:sp>
        <p:nvSpPr>
          <p:cNvPr id="4" name="Date Placeholder 3"/>
          <p:cNvSpPr>
            <a:spLocks noGrp="1"/>
          </p:cNvSpPr>
          <p:nvPr>
            <p:ph type="dt" sz="half" idx="10"/>
          </p:nvPr>
        </p:nvSpPr>
        <p:spPr/>
        <p:txBody>
          <a:bodyPr/>
          <a:lstStyle/>
          <a:p>
            <a:fld id="{D5F57497-4CAC-4964-BC7A-6555193F47ED}" type="datetime3">
              <a:rPr lang="en-US" smtClean="0"/>
              <a:t>27 April 2026</a:t>
            </a:fld>
            <a:endParaRPr lang="en-US"/>
          </a:p>
        </p:txBody>
      </p:sp>
      <p:sp>
        <p:nvSpPr>
          <p:cNvPr id="5" name="Footer Placeholder 4"/>
          <p:cNvSpPr>
            <a:spLocks noGrp="1"/>
          </p:cNvSpPr>
          <p:nvPr>
            <p:ph type="ftr" sz="quarter" idx="11"/>
          </p:nvPr>
        </p:nvSpPr>
        <p:spPr/>
        <p:txBody>
          <a:bodyPr/>
          <a:lstStyle/>
          <a:p>
            <a:r>
              <a:rPr lang="en-US"/>
              <a:t>SCS 1302   Discrete Mathematics 1       Prof. D D Karunaratna</a:t>
            </a:r>
          </a:p>
        </p:txBody>
      </p:sp>
      <p:sp>
        <p:nvSpPr>
          <p:cNvPr id="6" name="Slide Number Placeholder 5"/>
          <p:cNvSpPr>
            <a:spLocks noGrp="1"/>
          </p:cNvSpPr>
          <p:nvPr>
            <p:ph type="sldNum" sz="quarter" idx="12"/>
          </p:nvPr>
        </p:nvSpPr>
        <p:spPr/>
        <p:txBody>
          <a:bodyPr/>
          <a:lstStyle/>
          <a:p>
            <a:fld id="{0CA841A6-7C02-4C92-B6EE-5DBCC2AD53D0}" type="slidenum">
              <a:rPr lang="en-US" smtClean="0"/>
              <a:t>74</a:t>
            </a:fld>
            <a:endParaRPr lang="en-US"/>
          </a:p>
        </p:txBody>
      </p:sp>
      <p:sp>
        <p:nvSpPr>
          <p:cNvPr id="7" name="Rectangle 6"/>
          <p:cNvSpPr/>
          <p:nvPr/>
        </p:nvSpPr>
        <p:spPr>
          <a:xfrm>
            <a:off x="457200" y="1652587"/>
            <a:ext cx="8229600" cy="2246769"/>
          </a:xfrm>
          <a:prstGeom prst="rect">
            <a:avLst/>
          </a:prstGeom>
        </p:spPr>
        <p:txBody>
          <a:bodyPr wrap="square">
            <a:spAutoFit/>
          </a:bodyPr>
          <a:lstStyle/>
          <a:p>
            <a:r>
              <a:rPr lang="en-US" sz="2000" dirty="0"/>
              <a:t>Determine whether the following system specifications are consistent:</a:t>
            </a:r>
          </a:p>
          <a:p>
            <a:endParaRPr lang="en-US" sz="2000" dirty="0"/>
          </a:p>
          <a:p>
            <a:r>
              <a:rPr lang="en-US" sz="2000" dirty="0"/>
              <a:t>The system is in multiuser state if and only if it is operating normally. If the system is operating normally, then the kernel is functioning. The kernel is not functioning or the system is in interrupt mode. If the system is not in multiuser state, then it is in interrupt mode. The system is not in interrupt mode.</a:t>
            </a:r>
          </a:p>
        </p:txBody>
      </p:sp>
      <p:sp>
        <p:nvSpPr>
          <p:cNvPr id="8" name="Rectangle 7"/>
          <p:cNvSpPr/>
          <p:nvPr/>
        </p:nvSpPr>
        <p:spPr>
          <a:xfrm>
            <a:off x="457200" y="3962400"/>
            <a:ext cx="8229600" cy="1693477"/>
          </a:xfrm>
          <a:prstGeom prst="rect">
            <a:avLst/>
          </a:prstGeom>
        </p:spPr>
        <p:txBody>
          <a:bodyPr wrap="square">
            <a:spAutoFit/>
          </a:bodyPr>
          <a:lstStyle/>
          <a:p>
            <a:pPr marR="0">
              <a:lnSpc>
                <a:spcPct val="107000"/>
              </a:lnSpc>
              <a:spcBef>
                <a:spcPts val="0"/>
              </a:spcBef>
              <a:spcAft>
                <a:spcPts val="800"/>
              </a:spcAft>
            </a:pPr>
            <a:r>
              <a:rPr lang="en-US" sz="2000" dirty="0"/>
              <a:t>Let p denote “The system is in multiuser state”;</a:t>
            </a:r>
          </a:p>
          <a:p>
            <a:pPr marR="0">
              <a:lnSpc>
                <a:spcPct val="107000"/>
              </a:lnSpc>
              <a:spcBef>
                <a:spcPts val="0"/>
              </a:spcBef>
              <a:spcAft>
                <a:spcPts val="800"/>
              </a:spcAft>
            </a:pPr>
            <a:r>
              <a:rPr lang="en-US" sz="2000" dirty="0"/>
              <a:t>       q denote “The system is operating normally”;</a:t>
            </a:r>
          </a:p>
          <a:p>
            <a:pPr marR="0">
              <a:lnSpc>
                <a:spcPct val="107000"/>
              </a:lnSpc>
              <a:spcBef>
                <a:spcPts val="0"/>
              </a:spcBef>
              <a:spcAft>
                <a:spcPts val="800"/>
              </a:spcAft>
            </a:pPr>
            <a:r>
              <a:rPr lang="en-US" sz="2000" dirty="0"/>
              <a:t>       r denote “The kernel is functioning” ; and</a:t>
            </a:r>
          </a:p>
          <a:p>
            <a:pPr marR="0">
              <a:lnSpc>
                <a:spcPct val="107000"/>
              </a:lnSpc>
              <a:spcBef>
                <a:spcPts val="0"/>
              </a:spcBef>
              <a:spcAft>
                <a:spcPts val="800"/>
              </a:spcAft>
            </a:pPr>
            <a:r>
              <a:rPr lang="en-US" sz="2000" dirty="0"/>
              <a:t>       s denote  “The system is in interrupt mode.”</a:t>
            </a:r>
          </a:p>
        </p:txBody>
      </p:sp>
      <mc:AlternateContent xmlns:mc="http://schemas.openxmlformats.org/markup-compatibility/2006" xmlns:a14="http://schemas.microsoft.com/office/drawing/2010/main">
        <mc:Choice Requires="a14">
          <p:sp>
            <p:nvSpPr>
              <p:cNvPr id="3" name="Rectangle 2"/>
              <p:cNvSpPr/>
              <p:nvPr/>
            </p:nvSpPr>
            <p:spPr>
              <a:xfrm>
                <a:off x="457200" y="5664369"/>
                <a:ext cx="8458200" cy="505523"/>
              </a:xfrm>
              <a:prstGeom prst="rect">
                <a:avLst/>
              </a:prstGeom>
            </p:spPr>
            <p:txBody>
              <a:bodyPr wrap="square">
                <a:spAutoFit/>
              </a:bodyPr>
              <a:lstStyle/>
              <a:p>
                <a:pPr>
                  <a:lnSpc>
                    <a:spcPct val="150000"/>
                  </a:lnSpc>
                </a:pPr>
                <a:r>
                  <a:rPr lang="en-US" sz="2000" dirty="0"/>
                  <a:t>Specifications as logical expressions are </a:t>
                </a:r>
                <a14:m>
                  <m:oMath xmlns:m="http://schemas.openxmlformats.org/officeDocument/2006/math">
                    <m:r>
                      <a:rPr lang="en-GB" sz="2000" i="1">
                        <a:latin typeface="Cambria Math" panose="02040503050406030204" pitchFamily="18" charset="0"/>
                      </a:rPr>
                      <m:t>𝑝</m:t>
                    </m:r>
                    <m:r>
                      <a:rPr lang="en-GB" sz="2000" i="1" smtClean="0">
                        <a:latin typeface="Cambria Math" panose="02040503050406030204" pitchFamily="18" charset="0"/>
                        <a:ea typeface="Cambria Math" panose="02040503050406030204" pitchFamily="18" charset="0"/>
                      </a:rPr>
                      <m:t>⟷</m:t>
                    </m:r>
                    <m:r>
                      <a:rPr lang="en-GB" sz="2000" i="1">
                        <a:latin typeface="Cambria Math" panose="02040503050406030204" pitchFamily="18" charset="0"/>
                        <a:ea typeface="Cambria Math" panose="02040503050406030204" pitchFamily="18" charset="0"/>
                      </a:rPr>
                      <m:t>𝑞</m:t>
                    </m:r>
                    <m:r>
                      <a:rPr lang="en-GB" sz="2000" i="1">
                        <a:latin typeface="Cambria Math" panose="02040503050406030204" pitchFamily="18" charset="0"/>
                        <a:ea typeface="Cambria Math" panose="02040503050406030204" pitchFamily="18" charset="0"/>
                      </a:rPr>
                      <m:t>, </m:t>
                    </m:r>
                    <m:r>
                      <a:rPr lang="en-GB" sz="2000" b="0" i="1" smtClean="0">
                        <a:latin typeface="Cambria Math" panose="02040503050406030204" pitchFamily="18" charset="0"/>
                        <a:ea typeface="Cambria Math" panose="02040503050406030204" pitchFamily="18" charset="0"/>
                      </a:rPr>
                      <m:t>𝑞</m:t>
                    </m:r>
                    <m:r>
                      <a:rPr lang="en-GB" sz="2000" b="0" i="1" smtClean="0">
                        <a:latin typeface="Cambria Math" panose="02040503050406030204" pitchFamily="18" charset="0"/>
                        <a:ea typeface="Cambria Math" panose="02040503050406030204" pitchFamily="18" charset="0"/>
                      </a:rPr>
                      <m:t>→</m:t>
                    </m:r>
                    <m:r>
                      <a:rPr lang="en-GB" sz="2000" b="0" i="1" smtClean="0">
                        <a:latin typeface="Cambria Math" panose="02040503050406030204" pitchFamily="18" charset="0"/>
                        <a:ea typeface="Cambria Math" panose="02040503050406030204" pitchFamily="18" charset="0"/>
                      </a:rPr>
                      <m:t>𝑟</m:t>
                    </m:r>
                  </m:oMath>
                </a14:m>
                <a:r>
                  <a:rPr lang="en-US" sz="2000" dirty="0"/>
                  <a:t>, </a:t>
                </a:r>
                <a14:m>
                  <m:oMath xmlns:m="http://schemas.openxmlformats.org/officeDocument/2006/math">
                    <m:r>
                      <a:rPr lang="en-US" sz="2000" i="1" smtClean="0">
                        <a:latin typeface="Cambria Math" panose="02040503050406030204" pitchFamily="18" charset="0"/>
                        <a:ea typeface="Cambria Math" panose="02040503050406030204" pitchFamily="18" charset="0"/>
                      </a:rPr>
                      <m:t>¬</m:t>
                    </m:r>
                    <m:r>
                      <a:rPr lang="en-GB" sz="2000" b="0" i="1" smtClean="0">
                        <a:latin typeface="Cambria Math" panose="02040503050406030204" pitchFamily="18" charset="0"/>
                        <a:ea typeface="Cambria Math" panose="02040503050406030204" pitchFamily="18" charset="0"/>
                      </a:rPr>
                      <m:t>𝑟</m:t>
                    </m:r>
                    <m:r>
                      <a:rPr lang="en-GB" sz="2000" b="0" i="1" smtClean="0">
                        <a:latin typeface="Cambria Math" panose="02040503050406030204" pitchFamily="18" charset="0"/>
                        <a:ea typeface="Cambria Math" panose="02040503050406030204" pitchFamily="18" charset="0"/>
                      </a:rPr>
                      <m:t>∨</m:t>
                    </m:r>
                    <m:r>
                      <a:rPr lang="en-GB" sz="2000" b="0" i="1" smtClean="0">
                        <a:latin typeface="Cambria Math" panose="02040503050406030204" pitchFamily="18" charset="0"/>
                        <a:ea typeface="Cambria Math" panose="02040503050406030204" pitchFamily="18" charset="0"/>
                      </a:rPr>
                      <m:t>𝑠</m:t>
                    </m:r>
                  </m:oMath>
                </a14:m>
                <a:r>
                  <a:rPr lang="en-US" sz="2000" dirty="0"/>
                  <a:t> </a:t>
                </a:r>
                <a14:m>
                  <m:oMath xmlns:m="http://schemas.openxmlformats.org/officeDocument/2006/math">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𝑝</m:t>
                    </m:r>
                    <m:r>
                      <a:rPr lang="en-GB" sz="2000" i="1">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𝑠</m:t>
                    </m:r>
                    <m:r>
                      <a:rPr lang="en-GB" sz="2000" i="1">
                        <a:latin typeface="Cambria Math" panose="02040503050406030204" pitchFamily="18" charset="0"/>
                        <a:ea typeface="Cambria Math" panose="02040503050406030204" pitchFamily="18" charset="0"/>
                      </a:rPr>
                      <m:t> </m:t>
                    </m:r>
                  </m:oMath>
                </a14:m>
                <a:r>
                  <a:rPr lang="en-US" sz="2000" dirty="0"/>
                  <a:t>and </a:t>
                </a:r>
                <a14:m>
                  <m:oMath xmlns:m="http://schemas.openxmlformats.org/officeDocument/2006/math">
                    <m:r>
                      <a:rPr lang="en-GB" sz="2000" i="1" smtClean="0">
                        <a:latin typeface="Cambria Math" panose="02040503050406030204" pitchFamily="18" charset="0"/>
                        <a:ea typeface="Cambria Math" panose="02040503050406030204" pitchFamily="18" charset="0"/>
                      </a:rPr>
                      <m:t>¬</m:t>
                    </m:r>
                    <m:r>
                      <a:rPr lang="en-GB" sz="2000" b="0" i="1" smtClean="0">
                        <a:latin typeface="Cambria Math" panose="02040503050406030204" pitchFamily="18" charset="0"/>
                        <a:ea typeface="Cambria Math" panose="02040503050406030204" pitchFamily="18" charset="0"/>
                      </a:rPr>
                      <m:t>𝑠</m:t>
                    </m:r>
                  </m:oMath>
                </a14:m>
                <a:r>
                  <a:rPr lang="en-US" sz="2000" dirty="0"/>
                  <a:t>.</a:t>
                </a:r>
              </a:p>
            </p:txBody>
          </p:sp>
        </mc:Choice>
        <mc:Fallback xmlns="">
          <p:sp>
            <p:nvSpPr>
              <p:cNvPr id="3" name="Rectangle 2"/>
              <p:cNvSpPr>
                <a:spLocks noRot="1" noChangeAspect="1" noMove="1" noResize="1" noEditPoints="1" noAdjustHandles="1" noChangeArrowheads="1" noChangeShapeType="1" noTextEdit="1"/>
              </p:cNvSpPr>
              <p:nvPr/>
            </p:nvSpPr>
            <p:spPr>
              <a:xfrm>
                <a:off x="457200" y="5664369"/>
                <a:ext cx="8458200" cy="505523"/>
              </a:xfrm>
              <a:prstGeom prst="rect">
                <a:avLst/>
              </a:prstGeom>
              <a:blipFill>
                <a:blip r:embed="rId2"/>
                <a:stretch>
                  <a:fillRect l="-720" b="-20482"/>
                </a:stretch>
              </a:blipFill>
            </p:spPr>
            <p:txBody>
              <a:bodyPr/>
              <a:lstStyle/>
              <a:p>
                <a:r>
                  <a:rPr lang="en-US">
                    <a:noFill/>
                  </a:rPr>
                  <a:t> </a:t>
                </a:r>
              </a:p>
            </p:txBody>
          </p:sp>
        </mc:Fallback>
      </mc:AlternateContent>
    </p:spTree>
    <p:extLst>
      <p:ext uri="{BB962C8B-B14F-4D97-AF65-F5344CB8AC3E}">
        <p14:creationId xmlns:p14="http://schemas.microsoft.com/office/powerpoint/2010/main" val="11983923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3" grpId="0"/>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a:t>Last Example of Topic -1</a:t>
            </a:r>
          </a:p>
        </p:txBody>
      </p:sp>
      <p:sp>
        <p:nvSpPr>
          <p:cNvPr id="4" name="Date Placeholder 3"/>
          <p:cNvSpPr>
            <a:spLocks noGrp="1"/>
          </p:cNvSpPr>
          <p:nvPr>
            <p:ph type="dt" sz="half" idx="10"/>
          </p:nvPr>
        </p:nvSpPr>
        <p:spPr/>
        <p:txBody>
          <a:bodyPr/>
          <a:lstStyle/>
          <a:p>
            <a:fld id="{04106592-E39F-47B2-8095-9DFD2F5FA8F7}" type="datetime3">
              <a:rPr lang="en-US" smtClean="0"/>
              <a:t>27 April 2026</a:t>
            </a:fld>
            <a:endParaRPr lang="en-US"/>
          </a:p>
        </p:txBody>
      </p:sp>
      <p:sp>
        <p:nvSpPr>
          <p:cNvPr id="5" name="Footer Placeholder 4"/>
          <p:cNvSpPr>
            <a:spLocks noGrp="1"/>
          </p:cNvSpPr>
          <p:nvPr>
            <p:ph type="ftr" sz="quarter" idx="11"/>
          </p:nvPr>
        </p:nvSpPr>
        <p:spPr/>
        <p:txBody>
          <a:bodyPr/>
          <a:lstStyle/>
          <a:p>
            <a:r>
              <a:rPr lang="en-US"/>
              <a:t>SCS 1302   Discrete Mathematics 1       Prof. D D Karunaratna</a:t>
            </a:r>
          </a:p>
        </p:txBody>
      </p:sp>
      <p:sp>
        <p:nvSpPr>
          <p:cNvPr id="6" name="Slide Number Placeholder 5"/>
          <p:cNvSpPr>
            <a:spLocks noGrp="1"/>
          </p:cNvSpPr>
          <p:nvPr>
            <p:ph type="sldNum" sz="quarter" idx="12"/>
          </p:nvPr>
        </p:nvSpPr>
        <p:spPr/>
        <p:txBody>
          <a:bodyPr/>
          <a:lstStyle/>
          <a:p>
            <a:fld id="{0CA841A6-7C02-4C92-B6EE-5DBCC2AD53D0}" type="slidenum">
              <a:rPr lang="en-US" smtClean="0"/>
              <a:t>75</a:t>
            </a:fld>
            <a:endParaRPr lang="en-US"/>
          </a:p>
        </p:txBody>
      </p:sp>
      <mc:AlternateContent xmlns:mc="http://schemas.openxmlformats.org/markup-compatibility/2006" xmlns:a14="http://schemas.microsoft.com/office/drawing/2010/main">
        <mc:Choice Requires="a14">
          <p:sp>
            <p:nvSpPr>
              <p:cNvPr id="7" name="Rectangle 6"/>
              <p:cNvSpPr/>
              <p:nvPr/>
            </p:nvSpPr>
            <p:spPr>
              <a:xfrm>
                <a:off x="304800" y="1676400"/>
                <a:ext cx="8610600" cy="530915"/>
              </a:xfrm>
              <a:prstGeom prst="rect">
                <a:avLst/>
              </a:prstGeom>
            </p:spPr>
            <p:txBody>
              <a:bodyPr wrap="square">
                <a:spAutoFit/>
              </a:bodyPr>
              <a:lstStyle/>
              <a:p>
                <a:pPr>
                  <a:lnSpc>
                    <a:spcPct val="150000"/>
                  </a:lnSpc>
                </a:pPr>
                <a:r>
                  <a:rPr lang="en-US" sz="1900" dirty="0"/>
                  <a:t>Specifications as logical expressions are </a:t>
                </a:r>
                <a14:m>
                  <m:oMath xmlns:m="http://schemas.openxmlformats.org/officeDocument/2006/math">
                    <m:r>
                      <a:rPr lang="en-GB" sz="1900" i="1">
                        <a:latin typeface="Cambria Math" panose="02040503050406030204" pitchFamily="18" charset="0"/>
                      </a:rPr>
                      <m:t>𝑝</m:t>
                    </m:r>
                    <m:r>
                      <a:rPr lang="en-GB" sz="1900" i="1" smtClean="0">
                        <a:latin typeface="Cambria Math" panose="02040503050406030204" pitchFamily="18" charset="0"/>
                        <a:ea typeface="Cambria Math" panose="02040503050406030204" pitchFamily="18" charset="0"/>
                      </a:rPr>
                      <m:t>⟷</m:t>
                    </m:r>
                    <m:r>
                      <a:rPr lang="en-GB" sz="1900" i="1">
                        <a:latin typeface="Cambria Math" panose="02040503050406030204" pitchFamily="18" charset="0"/>
                        <a:ea typeface="Cambria Math" panose="02040503050406030204" pitchFamily="18" charset="0"/>
                      </a:rPr>
                      <m:t>𝑞</m:t>
                    </m:r>
                    <m:r>
                      <a:rPr lang="en-GB" sz="1900" i="1">
                        <a:latin typeface="Cambria Math" panose="02040503050406030204" pitchFamily="18" charset="0"/>
                        <a:ea typeface="Cambria Math" panose="02040503050406030204" pitchFamily="18" charset="0"/>
                      </a:rPr>
                      <m:t>, </m:t>
                    </m:r>
                    <m:r>
                      <a:rPr lang="en-GB" sz="1900" b="0" i="1" smtClean="0">
                        <a:latin typeface="Cambria Math" panose="02040503050406030204" pitchFamily="18" charset="0"/>
                        <a:ea typeface="Cambria Math" panose="02040503050406030204" pitchFamily="18" charset="0"/>
                      </a:rPr>
                      <m:t>𝑞</m:t>
                    </m:r>
                    <m:r>
                      <a:rPr lang="en-GB" sz="1900" b="0" i="1" smtClean="0">
                        <a:latin typeface="Cambria Math" panose="02040503050406030204" pitchFamily="18" charset="0"/>
                        <a:ea typeface="Cambria Math" panose="02040503050406030204" pitchFamily="18" charset="0"/>
                      </a:rPr>
                      <m:t>→</m:t>
                    </m:r>
                    <m:r>
                      <a:rPr lang="en-GB" sz="1900" b="0" i="1" smtClean="0">
                        <a:latin typeface="Cambria Math" panose="02040503050406030204" pitchFamily="18" charset="0"/>
                        <a:ea typeface="Cambria Math" panose="02040503050406030204" pitchFamily="18" charset="0"/>
                      </a:rPr>
                      <m:t>𝑟</m:t>
                    </m:r>
                  </m:oMath>
                </a14:m>
                <a:r>
                  <a:rPr lang="en-US" sz="1900" dirty="0"/>
                  <a:t>, </a:t>
                </a:r>
                <a14:m>
                  <m:oMath xmlns:m="http://schemas.openxmlformats.org/officeDocument/2006/math">
                    <m:r>
                      <a:rPr lang="en-US" sz="1900" i="1" smtClean="0">
                        <a:latin typeface="Cambria Math" panose="02040503050406030204" pitchFamily="18" charset="0"/>
                        <a:ea typeface="Cambria Math" panose="02040503050406030204" pitchFamily="18" charset="0"/>
                      </a:rPr>
                      <m:t>¬</m:t>
                    </m:r>
                    <m:r>
                      <a:rPr lang="en-GB" sz="1900" b="0" i="1" smtClean="0">
                        <a:latin typeface="Cambria Math" panose="02040503050406030204" pitchFamily="18" charset="0"/>
                        <a:ea typeface="Cambria Math" panose="02040503050406030204" pitchFamily="18" charset="0"/>
                      </a:rPr>
                      <m:t>𝑟</m:t>
                    </m:r>
                    <m:r>
                      <a:rPr lang="en-GB" sz="1900" b="0" i="1" smtClean="0">
                        <a:latin typeface="Cambria Math" panose="02040503050406030204" pitchFamily="18" charset="0"/>
                        <a:ea typeface="Cambria Math" panose="02040503050406030204" pitchFamily="18" charset="0"/>
                      </a:rPr>
                      <m:t>∨</m:t>
                    </m:r>
                    <m:r>
                      <a:rPr lang="en-GB" sz="1900" b="0" i="1" smtClean="0">
                        <a:latin typeface="Cambria Math" panose="02040503050406030204" pitchFamily="18" charset="0"/>
                        <a:ea typeface="Cambria Math" panose="02040503050406030204" pitchFamily="18" charset="0"/>
                      </a:rPr>
                      <m:t>𝑠</m:t>
                    </m:r>
                  </m:oMath>
                </a14:m>
                <a:r>
                  <a:rPr lang="en-US" sz="1900" dirty="0"/>
                  <a:t>, </a:t>
                </a:r>
                <a14:m>
                  <m:oMath xmlns:m="http://schemas.openxmlformats.org/officeDocument/2006/math">
                    <m:r>
                      <a:rPr lang="en-US" sz="1900" i="1" smtClean="0">
                        <a:latin typeface="Cambria Math" panose="02040503050406030204" pitchFamily="18" charset="0"/>
                        <a:ea typeface="Cambria Math" panose="02040503050406030204" pitchFamily="18" charset="0"/>
                      </a:rPr>
                      <m:t>¬</m:t>
                    </m:r>
                    <m:r>
                      <a:rPr lang="en-GB" sz="1900" b="0" i="1" smtClean="0">
                        <a:latin typeface="Cambria Math" panose="02040503050406030204" pitchFamily="18" charset="0"/>
                        <a:ea typeface="Cambria Math" panose="02040503050406030204" pitchFamily="18" charset="0"/>
                      </a:rPr>
                      <m:t>𝑝</m:t>
                    </m:r>
                    <m:r>
                      <a:rPr lang="en-GB" sz="1900" b="0" i="1" smtClean="0">
                        <a:latin typeface="Cambria Math" panose="02040503050406030204" pitchFamily="18" charset="0"/>
                        <a:ea typeface="Cambria Math" panose="02040503050406030204" pitchFamily="18" charset="0"/>
                      </a:rPr>
                      <m:t>→</m:t>
                    </m:r>
                    <m:r>
                      <a:rPr lang="en-GB" sz="1900" b="0" i="1" smtClean="0">
                        <a:latin typeface="Cambria Math" panose="02040503050406030204" pitchFamily="18" charset="0"/>
                        <a:ea typeface="Cambria Math" panose="02040503050406030204" pitchFamily="18" charset="0"/>
                      </a:rPr>
                      <m:t>𝑠</m:t>
                    </m:r>
                  </m:oMath>
                </a14:m>
                <a:r>
                  <a:rPr lang="en-US" sz="1900" dirty="0"/>
                  <a:t> and </a:t>
                </a:r>
                <a14:m>
                  <m:oMath xmlns:m="http://schemas.openxmlformats.org/officeDocument/2006/math">
                    <m:r>
                      <a:rPr lang="en-GB" sz="1900" i="1" smtClean="0">
                        <a:latin typeface="Cambria Math" panose="02040503050406030204" pitchFamily="18" charset="0"/>
                        <a:ea typeface="Cambria Math" panose="02040503050406030204" pitchFamily="18" charset="0"/>
                      </a:rPr>
                      <m:t>¬</m:t>
                    </m:r>
                    <m:r>
                      <a:rPr lang="en-GB" sz="1900" b="0" i="1" smtClean="0">
                        <a:latin typeface="Cambria Math" panose="02040503050406030204" pitchFamily="18" charset="0"/>
                        <a:ea typeface="Cambria Math" panose="02040503050406030204" pitchFamily="18" charset="0"/>
                      </a:rPr>
                      <m:t>𝑠</m:t>
                    </m:r>
                  </m:oMath>
                </a14:m>
                <a:r>
                  <a:rPr lang="en-US" sz="1900" dirty="0"/>
                  <a:t>.</a:t>
                </a:r>
              </a:p>
            </p:txBody>
          </p:sp>
        </mc:Choice>
        <mc:Fallback xmlns="">
          <p:sp>
            <p:nvSpPr>
              <p:cNvPr id="7" name="Rectangle 6"/>
              <p:cNvSpPr>
                <a:spLocks noRot="1" noChangeAspect="1" noMove="1" noResize="1" noEditPoints="1" noAdjustHandles="1" noChangeArrowheads="1" noChangeShapeType="1" noTextEdit="1"/>
              </p:cNvSpPr>
              <p:nvPr/>
            </p:nvSpPr>
            <p:spPr>
              <a:xfrm>
                <a:off x="304800" y="1676400"/>
                <a:ext cx="8610600" cy="530915"/>
              </a:xfrm>
              <a:prstGeom prst="rect">
                <a:avLst/>
              </a:prstGeom>
              <a:blipFill rotWithShape="0">
                <a:blip r:embed="rId2"/>
                <a:stretch>
                  <a:fillRect l="-637" r="-212" b="-8046"/>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8" name="TextBox 7"/>
              <p:cNvSpPr txBox="1"/>
              <p:nvPr/>
            </p:nvSpPr>
            <p:spPr>
              <a:xfrm>
                <a:off x="304800" y="2590800"/>
                <a:ext cx="8610600" cy="3440365"/>
              </a:xfrm>
              <a:prstGeom prst="rect">
                <a:avLst/>
              </a:prstGeom>
              <a:noFill/>
            </p:spPr>
            <p:txBody>
              <a:bodyPr wrap="square" rtlCol="0">
                <a:spAutoFit/>
              </a:bodyPr>
              <a:lstStyle/>
              <a:p>
                <a:r>
                  <a:rPr lang="en-GB" dirty="0"/>
                  <a:t>Suppose that </a:t>
                </a:r>
                <a14:m>
                  <m:oMath xmlns:m="http://schemas.openxmlformats.org/officeDocument/2006/math">
                    <m:r>
                      <a:rPr lang="en-GB" sz="1900" i="1">
                        <a:solidFill>
                          <a:prstClr val="black"/>
                        </a:solidFill>
                        <a:latin typeface="Cambria Math" panose="02040503050406030204" pitchFamily="18" charset="0"/>
                        <a:ea typeface="Cambria Math" panose="02040503050406030204" pitchFamily="18" charset="0"/>
                      </a:rPr>
                      <m:t>𝑞</m:t>
                    </m:r>
                    <m:r>
                      <a:rPr lang="en-GB" sz="1900" i="1">
                        <a:solidFill>
                          <a:prstClr val="black"/>
                        </a:solidFill>
                        <a:latin typeface="Cambria Math" panose="02040503050406030204" pitchFamily="18" charset="0"/>
                        <a:ea typeface="Cambria Math" panose="02040503050406030204" pitchFamily="18" charset="0"/>
                      </a:rPr>
                      <m:t>→</m:t>
                    </m:r>
                    <m:r>
                      <a:rPr lang="en-GB" sz="1900" i="1">
                        <a:solidFill>
                          <a:prstClr val="black"/>
                        </a:solidFill>
                        <a:latin typeface="Cambria Math" panose="02040503050406030204" pitchFamily="18" charset="0"/>
                        <a:ea typeface="Cambria Math" panose="02040503050406030204" pitchFamily="18" charset="0"/>
                      </a:rPr>
                      <m:t>𝑟</m:t>
                    </m:r>
                  </m:oMath>
                </a14:m>
                <a:r>
                  <a:rPr lang="en-US" sz="1900" dirty="0">
                    <a:solidFill>
                      <a:prstClr val="black"/>
                    </a:solidFill>
                  </a:rPr>
                  <a:t>, </a:t>
                </a:r>
                <a14:m>
                  <m:oMath xmlns:m="http://schemas.openxmlformats.org/officeDocument/2006/math">
                    <m:r>
                      <a:rPr lang="en-US" sz="1900" i="1">
                        <a:solidFill>
                          <a:prstClr val="black"/>
                        </a:solidFill>
                        <a:latin typeface="Cambria Math" panose="02040503050406030204" pitchFamily="18" charset="0"/>
                        <a:ea typeface="Cambria Math" panose="02040503050406030204" pitchFamily="18" charset="0"/>
                      </a:rPr>
                      <m:t>¬</m:t>
                    </m:r>
                    <m:r>
                      <a:rPr lang="en-GB" sz="1900" i="1">
                        <a:solidFill>
                          <a:prstClr val="black"/>
                        </a:solidFill>
                        <a:latin typeface="Cambria Math" panose="02040503050406030204" pitchFamily="18" charset="0"/>
                        <a:ea typeface="Cambria Math" panose="02040503050406030204" pitchFamily="18" charset="0"/>
                      </a:rPr>
                      <m:t>𝑟</m:t>
                    </m:r>
                    <m:r>
                      <a:rPr lang="en-GB" sz="1900" i="1">
                        <a:solidFill>
                          <a:prstClr val="black"/>
                        </a:solidFill>
                        <a:latin typeface="Cambria Math" panose="02040503050406030204" pitchFamily="18" charset="0"/>
                        <a:ea typeface="Cambria Math" panose="02040503050406030204" pitchFamily="18" charset="0"/>
                      </a:rPr>
                      <m:t>∨</m:t>
                    </m:r>
                    <m:r>
                      <a:rPr lang="en-GB" sz="1900" i="1">
                        <a:solidFill>
                          <a:prstClr val="black"/>
                        </a:solidFill>
                        <a:latin typeface="Cambria Math" panose="02040503050406030204" pitchFamily="18" charset="0"/>
                        <a:ea typeface="Cambria Math" panose="02040503050406030204" pitchFamily="18" charset="0"/>
                      </a:rPr>
                      <m:t>𝑠</m:t>
                    </m:r>
                  </m:oMath>
                </a14:m>
                <a:r>
                  <a:rPr lang="en-US" sz="1900" dirty="0">
                    <a:solidFill>
                      <a:prstClr val="black"/>
                    </a:solidFill>
                  </a:rPr>
                  <a:t>, </a:t>
                </a:r>
                <a14:m>
                  <m:oMath xmlns:m="http://schemas.openxmlformats.org/officeDocument/2006/math">
                    <m:r>
                      <a:rPr lang="en-US" sz="1900" i="1">
                        <a:solidFill>
                          <a:prstClr val="black"/>
                        </a:solidFill>
                        <a:latin typeface="Cambria Math" panose="02040503050406030204" pitchFamily="18" charset="0"/>
                        <a:ea typeface="Cambria Math" panose="02040503050406030204" pitchFamily="18" charset="0"/>
                      </a:rPr>
                      <m:t>¬</m:t>
                    </m:r>
                    <m:r>
                      <a:rPr lang="en-GB" sz="1900" i="1">
                        <a:solidFill>
                          <a:prstClr val="black"/>
                        </a:solidFill>
                        <a:latin typeface="Cambria Math" panose="02040503050406030204" pitchFamily="18" charset="0"/>
                        <a:ea typeface="Cambria Math" panose="02040503050406030204" pitchFamily="18" charset="0"/>
                      </a:rPr>
                      <m:t>𝑝</m:t>
                    </m:r>
                    <m:r>
                      <a:rPr lang="en-GB" sz="1900" i="1">
                        <a:solidFill>
                          <a:prstClr val="black"/>
                        </a:solidFill>
                        <a:latin typeface="Cambria Math" panose="02040503050406030204" pitchFamily="18" charset="0"/>
                        <a:ea typeface="Cambria Math" panose="02040503050406030204" pitchFamily="18" charset="0"/>
                      </a:rPr>
                      <m:t>→</m:t>
                    </m:r>
                    <m:r>
                      <a:rPr lang="en-GB" sz="1900" i="1">
                        <a:solidFill>
                          <a:prstClr val="black"/>
                        </a:solidFill>
                        <a:latin typeface="Cambria Math" panose="02040503050406030204" pitchFamily="18" charset="0"/>
                        <a:ea typeface="Cambria Math" panose="02040503050406030204" pitchFamily="18" charset="0"/>
                      </a:rPr>
                      <m:t>𝑠</m:t>
                    </m:r>
                  </m:oMath>
                </a14:m>
                <a:r>
                  <a:rPr lang="en-US" sz="1900" dirty="0">
                    <a:solidFill>
                      <a:prstClr val="black"/>
                    </a:solidFill>
                  </a:rPr>
                  <a:t> and </a:t>
                </a:r>
                <a14:m>
                  <m:oMath xmlns:m="http://schemas.openxmlformats.org/officeDocument/2006/math">
                    <m:r>
                      <a:rPr lang="en-GB" sz="1900" i="1">
                        <a:solidFill>
                          <a:prstClr val="black"/>
                        </a:solidFill>
                        <a:latin typeface="Cambria Math" panose="02040503050406030204" pitchFamily="18" charset="0"/>
                        <a:ea typeface="Cambria Math" panose="02040503050406030204" pitchFamily="18" charset="0"/>
                      </a:rPr>
                      <m:t>¬</m:t>
                    </m:r>
                    <m:r>
                      <a:rPr lang="en-GB" sz="1900" i="1">
                        <a:solidFill>
                          <a:prstClr val="black"/>
                        </a:solidFill>
                        <a:latin typeface="Cambria Math" panose="02040503050406030204" pitchFamily="18" charset="0"/>
                        <a:ea typeface="Cambria Math" panose="02040503050406030204" pitchFamily="18" charset="0"/>
                      </a:rPr>
                      <m:t>𝑠</m:t>
                    </m:r>
                  </m:oMath>
                </a14:m>
                <a:r>
                  <a:rPr lang="en-GB" dirty="0"/>
                  <a:t> are true. Then</a:t>
                </a:r>
              </a:p>
              <a:p>
                <a:r>
                  <a:rPr lang="en-GB" dirty="0">
                    <a:solidFill>
                      <a:prstClr val="black"/>
                    </a:solidFill>
                  </a:rPr>
                  <a:t>   </a:t>
                </a:r>
                <a14:m>
                  <m:oMath xmlns:m="http://schemas.openxmlformats.org/officeDocument/2006/math">
                    <m:r>
                      <a:rPr lang="en-GB" b="0" i="1" smtClean="0">
                        <a:solidFill>
                          <a:prstClr val="black"/>
                        </a:solidFill>
                        <a:latin typeface="Cambria Math" panose="02040503050406030204" pitchFamily="18" charset="0"/>
                      </a:rPr>
                      <m:t>𝑠</m:t>
                    </m:r>
                  </m:oMath>
                </a14:m>
                <a:r>
                  <a:rPr lang="en-GB" dirty="0">
                    <a:solidFill>
                      <a:prstClr val="black"/>
                    </a:solidFill>
                  </a:rPr>
                  <a:t> is false ( </a:t>
                </a:r>
                <a14:m>
                  <m:oMath xmlns:m="http://schemas.openxmlformats.org/officeDocument/2006/math">
                    <m:r>
                      <a:rPr lang="en-GB" i="1">
                        <a:solidFill>
                          <a:prstClr val="black"/>
                        </a:solidFill>
                        <a:latin typeface="Cambria Math" panose="02040503050406030204" pitchFamily="18" charset="0"/>
                        <a:ea typeface="Cambria Math" panose="02040503050406030204" pitchFamily="18" charset="0"/>
                      </a:rPr>
                      <m:t>∵  ¬</m:t>
                    </m:r>
                    <m:r>
                      <a:rPr lang="en-GB" b="0" i="1" smtClean="0">
                        <a:solidFill>
                          <a:prstClr val="black"/>
                        </a:solidFill>
                        <a:latin typeface="Cambria Math" panose="02040503050406030204" pitchFamily="18" charset="0"/>
                        <a:ea typeface="Cambria Math" panose="02040503050406030204" pitchFamily="18" charset="0"/>
                      </a:rPr>
                      <m:t> </m:t>
                    </m:r>
                    <m:r>
                      <a:rPr lang="en-GB" b="0" i="1" smtClean="0">
                        <a:solidFill>
                          <a:prstClr val="black"/>
                        </a:solidFill>
                        <a:latin typeface="Cambria Math" panose="02040503050406030204" pitchFamily="18" charset="0"/>
                        <a:ea typeface="Cambria Math" panose="02040503050406030204" pitchFamily="18" charset="0"/>
                      </a:rPr>
                      <m:t>𝑠</m:t>
                    </m:r>
                  </m:oMath>
                </a14:m>
                <a:r>
                  <a:rPr lang="en-GB" dirty="0">
                    <a:solidFill>
                      <a:prstClr val="black"/>
                    </a:solidFill>
                  </a:rPr>
                  <a:t> is true)</a:t>
                </a:r>
              </a:p>
              <a:p>
                <a:pPr lvl="0"/>
                <a:r>
                  <a:rPr lang="en-GB" dirty="0">
                    <a:solidFill>
                      <a:prstClr val="black"/>
                    </a:solidFill>
                  </a:rPr>
                  <a:t> Also </a:t>
                </a:r>
                <a14:m>
                  <m:oMath xmlns:m="http://schemas.openxmlformats.org/officeDocument/2006/math">
                    <m:r>
                      <a:rPr lang="en-GB" i="1" dirty="0" smtClean="0">
                        <a:solidFill>
                          <a:prstClr val="black"/>
                        </a:solidFill>
                        <a:latin typeface="Cambria Math" panose="02040503050406030204" pitchFamily="18" charset="0"/>
                        <a:ea typeface="Cambria Math" panose="02040503050406030204" pitchFamily="18" charset="0"/>
                      </a:rPr>
                      <m:t> </m:t>
                    </m:r>
                    <m:r>
                      <a:rPr lang="en-GB" i="1" smtClean="0">
                        <a:solidFill>
                          <a:prstClr val="black"/>
                        </a:solidFill>
                        <a:latin typeface="Cambria Math" panose="02040503050406030204" pitchFamily="18" charset="0"/>
                        <a:ea typeface="Cambria Math" panose="02040503050406030204" pitchFamily="18" charset="0"/>
                      </a:rPr>
                      <m:t>¬</m:t>
                    </m:r>
                    <m:r>
                      <a:rPr lang="en-GB" b="0" i="1" smtClean="0">
                        <a:solidFill>
                          <a:prstClr val="black"/>
                        </a:solidFill>
                        <a:latin typeface="Cambria Math" panose="02040503050406030204" pitchFamily="18" charset="0"/>
                        <a:ea typeface="Cambria Math" panose="02040503050406030204" pitchFamily="18" charset="0"/>
                      </a:rPr>
                      <m:t> </m:t>
                    </m:r>
                    <m:r>
                      <a:rPr lang="en-GB" b="0" i="1" smtClean="0">
                        <a:solidFill>
                          <a:prstClr val="black"/>
                        </a:solidFill>
                        <a:latin typeface="Cambria Math" panose="02040503050406030204" pitchFamily="18" charset="0"/>
                        <a:ea typeface="Cambria Math" panose="02040503050406030204" pitchFamily="18" charset="0"/>
                      </a:rPr>
                      <m:t>𝑝</m:t>
                    </m:r>
                  </m:oMath>
                </a14:m>
                <a:r>
                  <a:rPr lang="en-GB" dirty="0">
                    <a:solidFill>
                      <a:prstClr val="black"/>
                    </a:solidFill>
                  </a:rPr>
                  <a:t> is false   (</a:t>
                </a:r>
                <a14:m>
                  <m:oMath xmlns:m="http://schemas.openxmlformats.org/officeDocument/2006/math">
                    <m:r>
                      <a:rPr lang="en-GB" i="1">
                        <a:solidFill>
                          <a:prstClr val="black"/>
                        </a:solidFill>
                        <a:latin typeface="Cambria Math" panose="02040503050406030204" pitchFamily="18" charset="0"/>
                      </a:rPr>
                      <m:t>∵</m:t>
                    </m:r>
                    <m:r>
                      <a:rPr lang="en-US" i="1">
                        <a:solidFill>
                          <a:prstClr val="black"/>
                        </a:solidFill>
                        <a:latin typeface="Cambria Math" panose="02040503050406030204" pitchFamily="18" charset="0"/>
                        <a:ea typeface="Cambria Math" panose="02040503050406030204" pitchFamily="18" charset="0"/>
                      </a:rPr>
                      <m:t>¬</m:t>
                    </m:r>
                    <m:r>
                      <a:rPr lang="en-GB" i="1">
                        <a:solidFill>
                          <a:prstClr val="black"/>
                        </a:solidFill>
                        <a:latin typeface="Cambria Math" panose="02040503050406030204" pitchFamily="18" charset="0"/>
                        <a:ea typeface="Cambria Math" panose="02040503050406030204" pitchFamily="18" charset="0"/>
                      </a:rPr>
                      <m:t>𝑝</m:t>
                    </m:r>
                    <m:r>
                      <a:rPr lang="en-GB" i="1">
                        <a:solidFill>
                          <a:prstClr val="black"/>
                        </a:solidFill>
                        <a:latin typeface="Cambria Math" panose="02040503050406030204" pitchFamily="18" charset="0"/>
                        <a:ea typeface="Cambria Math" panose="02040503050406030204" pitchFamily="18" charset="0"/>
                      </a:rPr>
                      <m:t>→</m:t>
                    </m:r>
                    <m:r>
                      <a:rPr lang="en-GB" i="1">
                        <a:solidFill>
                          <a:prstClr val="black"/>
                        </a:solidFill>
                        <a:latin typeface="Cambria Math" panose="02040503050406030204" pitchFamily="18" charset="0"/>
                        <a:ea typeface="Cambria Math" panose="02040503050406030204" pitchFamily="18" charset="0"/>
                      </a:rPr>
                      <m:t>𝑠</m:t>
                    </m:r>
                  </m:oMath>
                </a14:m>
                <a:r>
                  <a:rPr lang="en-GB" dirty="0">
                    <a:solidFill>
                      <a:prstClr val="black"/>
                    </a:solidFill>
                  </a:rPr>
                  <a:t> is true) and hence </a:t>
                </a:r>
                <a14:m>
                  <m:oMath xmlns:m="http://schemas.openxmlformats.org/officeDocument/2006/math">
                    <m:r>
                      <a:rPr lang="en-GB" i="1" dirty="0" smtClean="0">
                        <a:solidFill>
                          <a:prstClr val="black"/>
                        </a:solidFill>
                        <a:latin typeface="Cambria Math" panose="02040503050406030204" pitchFamily="18" charset="0"/>
                      </a:rPr>
                      <m:t>𝑝</m:t>
                    </m:r>
                  </m:oMath>
                </a14:m>
                <a:r>
                  <a:rPr lang="en-GB" dirty="0">
                    <a:solidFill>
                      <a:prstClr val="black"/>
                    </a:solidFill>
                  </a:rPr>
                  <a:t> is true.</a:t>
                </a:r>
              </a:p>
              <a:p>
                <a:pPr lvl="0"/>
                <a:r>
                  <a:rPr lang="en-GB" dirty="0">
                    <a:solidFill>
                      <a:prstClr val="black"/>
                    </a:solidFill>
                  </a:rPr>
                  <a:t>Since </a:t>
                </a:r>
                <a14:m>
                  <m:oMath xmlns:m="http://schemas.openxmlformats.org/officeDocument/2006/math">
                    <m:r>
                      <a:rPr lang="en-US" sz="1900" i="1">
                        <a:solidFill>
                          <a:prstClr val="black"/>
                        </a:solidFill>
                        <a:latin typeface="Cambria Math" panose="02040503050406030204" pitchFamily="18" charset="0"/>
                        <a:ea typeface="Cambria Math" panose="02040503050406030204" pitchFamily="18" charset="0"/>
                      </a:rPr>
                      <m:t>¬</m:t>
                    </m:r>
                    <m:r>
                      <a:rPr lang="en-GB" sz="1900" i="1">
                        <a:solidFill>
                          <a:prstClr val="black"/>
                        </a:solidFill>
                        <a:latin typeface="Cambria Math" panose="02040503050406030204" pitchFamily="18" charset="0"/>
                        <a:ea typeface="Cambria Math" panose="02040503050406030204" pitchFamily="18" charset="0"/>
                      </a:rPr>
                      <m:t>𝑟</m:t>
                    </m:r>
                    <m:r>
                      <a:rPr lang="en-GB" sz="1900" i="1">
                        <a:solidFill>
                          <a:prstClr val="black"/>
                        </a:solidFill>
                        <a:latin typeface="Cambria Math" panose="02040503050406030204" pitchFamily="18" charset="0"/>
                        <a:ea typeface="Cambria Math" panose="02040503050406030204" pitchFamily="18" charset="0"/>
                      </a:rPr>
                      <m:t>∨</m:t>
                    </m:r>
                    <m:r>
                      <a:rPr lang="en-GB" sz="1900" i="1">
                        <a:solidFill>
                          <a:prstClr val="black"/>
                        </a:solidFill>
                        <a:latin typeface="Cambria Math" panose="02040503050406030204" pitchFamily="18" charset="0"/>
                        <a:ea typeface="Cambria Math" panose="02040503050406030204" pitchFamily="18" charset="0"/>
                      </a:rPr>
                      <m:t>𝑠</m:t>
                    </m:r>
                  </m:oMath>
                </a14:m>
                <a:r>
                  <a:rPr lang="en-GB" dirty="0">
                    <a:solidFill>
                      <a:prstClr val="black"/>
                    </a:solidFill>
                  </a:rPr>
                  <a:t> is true and s is false, </a:t>
                </a:r>
                <a14:m>
                  <m:oMath xmlns:m="http://schemas.openxmlformats.org/officeDocument/2006/math">
                    <m:r>
                      <a:rPr lang="en-US" i="1">
                        <a:solidFill>
                          <a:prstClr val="black"/>
                        </a:solidFill>
                        <a:latin typeface="Cambria Math" panose="02040503050406030204" pitchFamily="18" charset="0"/>
                        <a:ea typeface="Cambria Math" panose="02040503050406030204" pitchFamily="18" charset="0"/>
                      </a:rPr>
                      <m:t>¬</m:t>
                    </m:r>
                    <m:r>
                      <a:rPr lang="en-GB" i="1">
                        <a:solidFill>
                          <a:prstClr val="black"/>
                        </a:solidFill>
                        <a:latin typeface="Cambria Math" panose="02040503050406030204" pitchFamily="18" charset="0"/>
                        <a:ea typeface="Cambria Math" panose="02040503050406030204" pitchFamily="18" charset="0"/>
                      </a:rPr>
                      <m:t>𝑟</m:t>
                    </m:r>
                  </m:oMath>
                </a14:m>
                <a:r>
                  <a:rPr lang="en-GB" dirty="0">
                    <a:solidFill>
                      <a:prstClr val="black"/>
                    </a:solidFill>
                  </a:rPr>
                  <a:t> must be true and hence </a:t>
                </a:r>
                <a14:m>
                  <m:oMath xmlns:m="http://schemas.openxmlformats.org/officeDocument/2006/math">
                    <m:r>
                      <a:rPr lang="en-GB" i="1" dirty="0" smtClean="0">
                        <a:solidFill>
                          <a:prstClr val="black"/>
                        </a:solidFill>
                        <a:latin typeface="Cambria Math" panose="02040503050406030204" pitchFamily="18" charset="0"/>
                      </a:rPr>
                      <m:t>𝑟</m:t>
                    </m:r>
                  </m:oMath>
                </a14:m>
                <a:r>
                  <a:rPr lang="en-GB" dirty="0">
                    <a:solidFill>
                      <a:prstClr val="black"/>
                    </a:solidFill>
                  </a:rPr>
                  <a:t> is false.</a:t>
                </a:r>
              </a:p>
              <a:p>
                <a:pPr lvl="0"/>
                <a:r>
                  <a:rPr lang="en-GB" dirty="0">
                    <a:solidFill>
                      <a:prstClr val="black"/>
                    </a:solidFill>
                  </a:rPr>
                  <a:t>Since </a:t>
                </a:r>
                <a14:m>
                  <m:oMath xmlns:m="http://schemas.openxmlformats.org/officeDocument/2006/math">
                    <m:r>
                      <a:rPr lang="en-GB" i="1">
                        <a:latin typeface="Cambria Math" panose="02040503050406030204" pitchFamily="18" charset="0"/>
                        <a:ea typeface="Cambria Math" panose="02040503050406030204" pitchFamily="18" charset="0"/>
                      </a:rPr>
                      <m:t>𝑞</m:t>
                    </m:r>
                    <m:r>
                      <a:rPr lang="en-GB" i="1">
                        <a:latin typeface="Cambria Math" panose="02040503050406030204" pitchFamily="18" charset="0"/>
                        <a:ea typeface="Cambria Math" panose="02040503050406030204" pitchFamily="18" charset="0"/>
                      </a:rPr>
                      <m:t>→</m:t>
                    </m:r>
                    <m:r>
                      <a:rPr lang="en-GB" i="1">
                        <a:latin typeface="Cambria Math" panose="02040503050406030204" pitchFamily="18" charset="0"/>
                        <a:ea typeface="Cambria Math" panose="02040503050406030204" pitchFamily="18" charset="0"/>
                      </a:rPr>
                      <m:t>𝑟</m:t>
                    </m:r>
                  </m:oMath>
                </a14:m>
                <a:r>
                  <a:rPr lang="en-GB" dirty="0">
                    <a:solidFill>
                      <a:prstClr val="black"/>
                    </a:solidFill>
                  </a:rPr>
                  <a:t> is true and </a:t>
                </a:r>
                <a14:m>
                  <m:oMath xmlns:m="http://schemas.openxmlformats.org/officeDocument/2006/math">
                    <m:r>
                      <a:rPr lang="en-GB" i="1" dirty="0" smtClean="0">
                        <a:solidFill>
                          <a:prstClr val="black"/>
                        </a:solidFill>
                        <a:latin typeface="Cambria Math" panose="02040503050406030204" pitchFamily="18" charset="0"/>
                      </a:rPr>
                      <m:t>𝑟</m:t>
                    </m:r>
                  </m:oMath>
                </a14:m>
                <a:r>
                  <a:rPr lang="en-GB" dirty="0">
                    <a:solidFill>
                      <a:prstClr val="black"/>
                    </a:solidFill>
                  </a:rPr>
                  <a:t> is false, </a:t>
                </a:r>
                <a14:m>
                  <m:oMath xmlns:m="http://schemas.openxmlformats.org/officeDocument/2006/math">
                    <m:r>
                      <a:rPr lang="en-GB" i="1" dirty="0" smtClean="0">
                        <a:solidFill>
                          <a:prstClr val="black"/>
                        </a:solidFill>
                        <a:latin typeface="Cambria Math" panose="02040503050406030204" pitchFamily="18" charset="0"/>
                      </a:rPr>
                      <m:t>𝑞</m:t>
                    </m:r>
                  </m:oMath>
                </a14:m>
                <a:r>
                  <a:rPr lang="en-GB" dirty="0">
                    <a:solidFill>
                      <a:prstClr val="black"/>
                    </a:solidFill>
                  </a:rPr>
                  <a:t> must be false.</a:t>
                </a:r>
              </a:p>
              <a:p>
                <a:pPr lvl="0"/>
                <a:endParaRPr lang="en-GB" dirty="0">
                  <a:solidFill>
                    <a:prstClr val="black"/>
                  </a:solidFill>
                </a:endParaRPr>
              </a:p>
              <a:p>
                <a:pPr lvl="0"/>
                <a:r>
                  <a:rPr lang="en-GB" dirty="0">
                    <a:solidFill>
                      <a:prstClr val="black"/>
                    </a:solidFill>
                  </a:rPr>
                  <a:t>Now </a:t>
                </a:r>
                <a14:m>
                  <m:oMath xmlns:m="http://schemas.openxmlformats.org/officeDocument/2006/math">
                    <m:r>
                      <a:rPr lang="en-GB" i="1" dirty="0">
                        <a:solidFill>
                          <a:prstClr val="black"/>
                        </a:solidFill>
                        <a:latin typeface="Cambria Math" panose="02040503050406030204" pitchFamily="18" charset="0"/>
                      </a:rPr>
                      <m:t>𝑝</m:t>
                    </m:r>
                  </m:oMath>
                </a14:m>
                <a:r>
                  <a:rPr lang="en-GB" dirty="0">
                    <a:solidFill>
                      <a:prstClr val="black"/>
                    </a:solidFill>
                  </a:rPr>
                  <a:t> is true and </a:t>
                </a:r>
                <a14:m>
                  <m:oMath xmlns:m="http://schemas.openxmlformats.org/officeDocument/2006/math">
                    <m:r>
                      <a:rPr lang="en-GB" i="1" dirty="0">
                        <a:solidFill>
                          <a:prstClr val="black"/>
                        </a:solidFill>
                        <a:latin typeface="Cambria Math" panose="02040503050406030204" pitchFamily="18" charset="0"/>
                      </a:rPr>
                      <m:t>𝑞</m:t>
                    </m:r>
                  </m:oMath>
                </a14:m>
                <a:r>
                  <a:rPr lang="en-GB" dirty="0">
                    <a:solidFill>
                      <a:prstClr val="black"/>
                    </a:solidFill>
                  </a:rPr>
                  <a:t> is false. Therefore, </a:t>
                </a:r>
                <a14:m>
                  <m:oMath xmlns:m="http://schemas.openxmlformats.org/officeDocument/2006/math">
                    <m:r>
                      <a:rPr lang="en-GB" i="1">
                        <a:latin typeface="Cambria Math" panose="02040503050406030204" pitchFamily="18" charset="0"/>
                      </a:rPr>
                      <m:t>𝑝</m:t>
                    </m:r>
                    <m:r>
                      <a:rPr lang="en-GB" i="1">
                        <a:latin typeface="Cambria Math" panose="02040503050406030204" pitchFamily="18" charset="0"/>
                        <a:ea typeface="Cambria Math" panose="02040503050406030204" pitchFamily="18" charset="0"/>
                      </a:rPr>
                      <m:t>⟷</m:t>
                    </m:r>
                    <m:r>
                      <a:rPr lang="en-GB" i="1">
                        <a:latin typeface="Cambria Math" panose="02040503050406030204" pitchFamily="18" charset="0"/>
                        <a:ea typeface="Cambria Math" panose="02040503050406030204" pitchFamily="18" charset="0"/>
                      </a:rPr>
                      <m:t>𝑞</m:t>
                    </m:r>
                  </m:oMath>
                </a14:m>
                <a:r>
                  <a:rPr lang="en-GB" dirty="0">
                    <a:solidFill>
                      <a:prstClr val="black"/>
                    </a:solidFill>
                  </a:rPr>
                  <a:t> is false.</a:t>
                </a:r>
              </a:p>
              <a:p>
                <a:pPr lvl="0"/>
                <a:endParaRPr lang="en-GB" dirty="0">
                  <a:solidFill>
                    <a:prstClr val="black"/>
                  </a:solidFill>
                </a:endParaRPr>
              </a:p>
              <a:p>
                <a:pPr lvl="0"/>
                <a:r>
                  <a:rPr lang="en-GB" dirty="0">
                    <a:solidFill>
                      <a:prstClr val="black"/>
                    </a:solidFill>
                  </a:rPr>
                  <a:t>That is, whenever </a:t>
                </a:r>
                <a14:m>
                  <m:oMath xmlns:m="http://schemas.openxmlformats.org/officeDocument/2006/math">
                    <m:r>
                      <a:rPr lang="en-GB" i="1">
                        <a:solidFill>
                          <a:prstClr val="black"/>
                        </a:solidFill>
                        <a:latin typeface="Cambria Math" panose="02040503050406030204" pitchFamily="18" charset="0"/>
                        <a:ea typeface="Cambria Math" panose="02040503050406030204" pitchFamily="18" charset="0"/>
                      </a:rPr>
                      <m:t>𝑞</m:t>
                    </m:r>
                    <m:r>
                      <a:rPr lang="en-GB" i="1">
                        <a:solidFill>
                          <a:prstClr val="black"/>
                        </a:solidFill>
                        <a:latin typeface="Cambria Math" panose="02040503050406030204" pitchFamily="18" charset="0"/>
                        <a:ea typeface="Cambria Math" panose="02040503050406030204" pitchFamily="18" charset="0"/>
                      </a:rPr>
                      <m:t>→</m:t>
                    </m:r>
                    <m:r>
                      <a:rPr lang="en-GB" i="1">
                        <a:solidFill>
                          <a:prstClr val="black"/>
                        </a:solidFill>
                        <a:latin typeface="Cambria Math" panose="02040503050406030204" pitchFamily="18" charset="0"/>
                        <a:ea typeface="Cambria Math" panose="02040503050406030204" pitchFamily="18" charset="0"/>
                      </a:rPr>
                      <m:t>𝑟</m:t>
                    </m:r>
                  </m:oMath>
                </a14:m>
                <a:r>
                  <a:rPr lang="en-US" dirty="0">
                    <a:solidFill>
                      <a:prstClr val="black"/>
                    </a:solidFill>
                  </a:rPr>
                  <a:t>, </a:t>
                </a:r>
                <a14:m>
                  <m:oMath xmlns:m="http://schemas.openxmlformats.org/officeDocument/2006/math">
                    <m:r>
                      <a:rPr lang="en-US" i="1">
                        <a:solidFill>
                          <a:prstClr val="black"/>
                        </a:solidFill>
                        <a:latin typeface="Cambria Math" panose="02040503050406030204" pitchFamily="18" charset="0"/>
                        <a:ea typeface="Cambria Math" panose="02040503050406030204" pitchFamily="18" charset="0"/>
                      </a:rPr>
                      <m:t>¬</m:t>
                    </m:r>
                    <m:r>
                      <a:rPr lang="en-GB" i="1">
                        <a:solidFill>
                          <a:prstClr val="black"/>
                        </a:solidFill>
                        <a:latin typeface="Cambria Math" panose="02040503050406030204" pitchFamily="18" charset="0"/>
                        <a:ea typeface="Cambria Math" panose="02040503050406030204" pitchFamily="18" charset="0"/>
                      </a:rPr>
                      <m:t>𝑟</m:t>
                    </m:r>
                    <m:r>
                      <a:rPr lang="en-GB" i="1">
                        <a:solidFill>
                          <a:prstClr val="black"/>
                        </a:solidFill>
                        <a:latin typeface="Cambria Math" panose="02040503050406030204" pitchFamily="18" charset="0"/>
                        <a:ea typeface="Cambria Math" panose="02040503050406030204" pitchFamily="18" charset="0"/>
                      </a:rPr>
                      <m:t>∨</m:t>
                    </m:r>
                    <m:r>
                      <a:rPr lang="en-GB" i="1">
                        <a:solidFill>
                          <a:prstClr val="black"/>
                        </a:solidFill>
                        <a:latin typeface="Cambria Math" panose="02040503050406030204" pitchFamily="18" charset="0"/>
                        <a:ea typeface="Cambria Math" panose="02040503050406030204" pitchFamily="18" charset="0"/>
                      </a:rPr>
                      <m:t>𝑠</m:t>
                    </m:r>
                  </m:oMath>
                </a14:m>
                <a:r>
                  <a:rPr lang="en-US" dirty="0">
                    <a:solidFill>
                      <a:prstClr val="black"/>
                    </a:solidFill>
                  </a:rPr>
                  <a:t>, </a:t>
                </a:r>
                <a14:m>
                  <m:oMath xmlns:m="http://schemas.openxmlformats.org/officeDocument/2006/math">
                    <m:r>
                      <a:rPr lang="en-US" i="1">
                        <a:solidFill>
                          <a:prstClr val="black"/>
                        </a:solidFill>
                        <a:latin typeface="Cambria Math" panose="02040503050406030204" pitchFamily="18" charset="0"/>
                        <a:ea typeface="Cambria Math" panose="02040503050406030204" pitchFamily="18" charset="0"/>
                      </a:rPr>
                      <m:t>¬</m:t>
                    </m:r>
                    <m:r>
                      <a:rPr lang="en-GB" i="1">
                        <a:solidFill>
                          <a:prstClr val="black"/>
                        </a:solidFill>
                        <a:latin typeface="Cambria Math" panose="02040503050406030204" pitchFamily="18" charset="0"/>
                        <a:ea typeface="Cambria Math" panose="02040503050406030204" pitchFamily="18" charset="0"/>
                      </a:rPr>
                      <m:t>𝑝</m:t>
                    </m:r>
                    <m:r>
                      <a:rPr lang="en-GB" i="1">
                        <a:solidFill>
                          <a:prstClr val="black"/>
                        </a:solidFill>
                        <a:latin typeface="Cambria Math" panose="02040503050406030204" pitchFamily="18" charset="0"/>
                        <a:ea typeface="Cambria Math" panose="02040503050406030204" pitchFamily="18" charset="0"/>
                      </a:rPr>
                      <m:t>→</m:t>
                    </m:r>
                    <m:r>
                      <a:rPr lang="en-GB" i="1">
                        <a:solidFill>
                          <a:prstClr val="black"/>
                        </a:solidFill>
                        <a:latin typeface="Cambria Math" panose="02040503050406030204" pitchFamily="18" charset="0"/>
                        <a:ea typeface="Cambria Math" panose="02040503050406030204" pitchFamily="18" charset="0"/>
                      </a:rPr>
                      <m:t>𝑠</m:t>
                    </m:r>
                  </m:oMath>
                </a14:m>
                <a:r>
                  <a:rPr lang="en-US" dirty="0">
                    <a:solidFill>
                      <a:prstClr val="black"/>
                    </a:solidFill>
                  </a:rPr>
                  <a:t> and </a:t>
                </a:r>
                <a14:m>
                  <m:oMath xmlns:m="http://schemas.openxmlformats.org/officeDocument/2006/math">
                    <m:r>
                      <a:rPr lang="en-GB" i="1">
                        <a:solidFill>
                          <a:prstClr val="black"/>
                        </a:solidFill>
                        <a:latin typeface="Cambria Math" panose="02040503050406030204" pitchFamily="18" charset="0"/>
                        <a:ea typeface="Cambria Math" panose="02040503050406030204" pitchFamily="18" charset="0"/>
                      </a:rPr>
                      <m:t>¬</m:t>
                    </m:r>
                    <m:r>
                      <a:rPr lang="en-GB" i="1">
                        <a:solidFill>
                          <a:prstClr val="black"/>
                        </a:solidFill>
                        <a:latin typeface="Cambria Math" panose="02040503050406030204" pitchFamily="18" charset="0"/>
                        <a:ea typeface="Cambria Math" panose="02040503050406030204" pitchFamily="18" charset="0"/>
                      </a:rPr>
                      <m:t>𝑠</m:t>
                    </m:r>
                  </m:oMath>
                </a14:m>
                <a:r>
                  <a:rPr lang="en-GB" dirty="0"/>
                  <a:t> are all true, </a:t>
                </a:r>
                <a14:m>
                  <m:oMath xmlns:m="http://schemas.openxmlformats.org/officeDocument/2006/math">
                    <m:r>
                      <a:rPr lang="en-GB" i="1">
                        <a:latin typeface="Cambria Math" panose="02040503050406030204" pitchFamily="18" charset="0"/>
                      </a:rPr>
                      <m:t>𝑝</m:t>
                    </m:r>
                    <m:r>
                      <a:rPr lang="en-GB" i="1">
                        <a:latin typeface="Cambria Math" panose="02040503050406030204" pitchFamily="18" charset="0"/>
                        <a:ea typeface="Cambria Math" panose="02040503050406030204" pitchFamily="18" charset="0"/>
                      </a:rPr>
                      <m:t>⟷</m:t>
                    </m:r>
                    <m:r>
                      <a:rPr lang="en-GB" i="1">
                        <a:latin typeface="Cambria Math" panose="02040503050406030204" pitchFamily="18" charset="0"/>
                        <a:ea typeface="Cambria Math" panose="02040503050406030204" pitchFamily="18" charset="0"/>
                      </a:rPr>
                      <m:t>𝑞</m:t>
                    </m:r>
                  </m:oMath>
                </a14:m>
                <a:r>
                  <a:rPr lang="en-GB" dirty="0">
                    <a:solidFill>
                      <a:prstClr val="black"/>
                    </a:solidFill>
                  </a:rPr>
                  <a:t> is </a:t>
                </a:r>
                <a:r>
                  <a:rPr lang="en-GB" b="1" dirty="0">
                    <a:solidFill>
                      <a:prstClr val="black"/>
                    </a:solidFill>
                  </a:rPr>
                  <a:t>not</a:t>
                </a:r>
                <a:r>
                  <a:rPr lang="en-GB" dirty="0">
                    <a:solidFill>
                      <a:prstClr val="black"/>
                    </a:solidFill>
                  </a:rPr>
                  <a:t> true.</a:t>
                </a:r>
              </a:p>
              <a:p>
                <a:pPr lvl="0"/>
                <a:endParaRPr lang="en-GB" dirty="0">
                  <a:solidFill>
                    <a:prstClr val="black"/>
                  </a:solidFill>
                </a:endParaRPr>
              </a:p>
              <a:p>
                <a:r>
                  <a:rPr lang="en-GB" dirty="0"/>
                  <a:t>Therefore, this system of specifications is </a:t>
                </a:r>
                <a:r>
                  <a:rPr lang="en-GB" b="1" dirty="0"/>
                  <a:t>not consistent</a:t>
                </a:r>
                <a:r>
                  <a:rPr lang="en-GB" dirty="0"/>
                  <a:t>.</a:t>
                </a:r>
              </a:p>
              <a:p>
                <a:endParaRPr lang="en-GB" dirty="0"/>
              </a:p>
            </p:txBody>
          </p:sp>
        </mc:Choice>
        <mc:Fallback xmlns="">
          <p:sp>
            <p:nvSpPr>
              <p:cNvPr id="8" name="TextBox 7"/>
              <p:cNvSpPr txBox="1">
                <a:spLocks noRot="1" noChangeAspect="1" noMove="1" noResize="1" noEditPoints="1" noAdjustHandles="1" noChangeArrowheads="1" noChangeShapeType="1" noTextEdit="1"/>
              </p:cNvSpPr>
              <p:nvPr/>
            </p:nvSpPr>
            <p:spPr>
              <a:xfrm>
                <a:off x="304800" y="2590800"/>
                <a:ext cx="8610600" cy="3440365"/>
              </a:xfrm>
              <a:prstGeom prst="rect">
                <a:avLst/>
              </a:prstGeom>
              <a:blipFill rotWithShape="0">
                <a:blip r:embed="rId3"/>
                <a:stretch>
                  <a:fillRect l="-566" t="-1064"/>
                </a:stretch>
              </a:blipFill>
            </p:spPr>
            <p:txBody>
              <a:bodyPr/>
              <a:lstStyle/>
              <a:p>
                <a:r>
                  <a:rPr lang="en-GB">
                    <a:noFill/>
                  </a:rPr>
                  <a:t> </a:t>
                </a:r>
              </a:p>
            </p:txBody>
          </p:sp>
        </mc:Fallback>
      </mc:AlternateContent>
    </p:spTree>
    <p:extLst>
      <p:ext uri="{BB962C8B-B14F-4D97-AF65-F5344CB8AC3E}">
        <p14:creationId xmlns:p14="http://schemas.microsoft.com/office/powerpoint/2010/main" val="135424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8">
                                            <p:txEl>
                                              <p:pRg st="6" end="6"/>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8">
                                            <p:txEl>
                                              <p:pRg st="8" end="8"/>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8">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29DD84-E138-0CE6-4B2A-191B099F3679}"/>
              </a:ext>
            </a:extLst>
          </p:cNvPr>
          <p:cNvSpPr>
            <a:spLocks noGrp="1"/>
          </p:cNvSpPr>
          <p:nvPr>
            <p:ph type="title"/>
          </p:nvPr>
        </p:nvSpPr>
        <p:spPr/>
        <p:txBody>
          <a:bodyPr/>
          <a:lstStyle/>
          <a:p>
            <a:r>
              <a:rPr lang="en-US" dirty="0"/>
              <a:t>Theorem???</a:t>
            </a:r>
            <a:endParaRPr lang="si-LK" dirty="0"/>
          </a:p>
        </p:txBody>
      </p:sp>
      <p:sp>
        <p:nvSpPr>
          <p:cNvPr id="3" name="Content Placeholder 2">
            <a:extLst>
              <a:ext uri="{FF2B5EF4-FFF2-40B4-BE49-F238E27FC236}">
                <a16:creationId xmlns:a16="http://schemas.microsoft.com/office/drawing/2014/main" id="{00A077DE-0F00-F687-036E-28375ABDC235}"/>
              </a:ext>
            </a:extLst>
          </p:cNvPr>
          <p:cNvSpPr>
            <a:spLocks noGrp="1"/>
          </p:cNvSpPr>
          <p:nvPr>
            <p:ph idx="1"/>
          </p:nvPr>
        </p:nvSpPr>
        <p:spPr/>
        <p:txBody>
          <a:bodyPr/>
          <a:lstStyle/>
          <a:p>
            <a:r>
              <a:rPr lang="en-US" dirty="0"/>
              <a:t>Once we prove a mathematical statement is true, we call it a theorem.</a:t>
            </a:r>
          </a:p>
          <a:p>
            <a:r>
              <a:rPr lang="en-US" dirty="0"/>
              <a:t>Knowing the proof of a theorem often makes it </a:t>
            </a:r>
            <a:r>
              <a:rPr lang="en-US"/>
              <a:t>possible to modify </a:t>
            </a:r>
            <a:r>
              <a:rPr lang="en-US" dirty="0"/>
              <a:t>the result to fit new situations.</a:t>
            </a:r>
            <a:endParaRPr lang="si-LK" dirty="0"/>
          </a:p>
        </p:txBody>
      </p:sp>
      <p:sp>
        <p:nvSpPr>
          <p:cNvPr id="4" name="Date Placeholder 3">
            <a:extLst>
              <a:ext uri="{FF2B5EF4-FFF2-40B4-BE49-F238E27FC236}">
                <a16:creationId xmlns:a16="http://schemas.microsoft.com/office/drawing/2014/main" id="{B0DF9B9E-3566-00B0-D8ED-63FC86F4855B}"/>
              </a:ext>
            </a:extLst>
          </p:cNvPr>
          <p:cNvSpPr>
            <a:spLocks noGrp="1"/>
          </p:cNvSpPr>
          <p:nvPr>
            <p:ph type="dt" sz="half" idx="10"/>
          </p:nvPr>
        </p:nvSpPr>
        <p:spPr/>
        <p:txBody>
          <a:bodyPr/>
          <a:lstStyle/>
          <a:p>
            <a:fld id="{4833C929-C9DD-4C66-BDC9-0D85DE389F8F}" type="datetime3">
              <a:rPr lang="en-US" smtClean="0"/>
              <a:t>27 April 2026</a:t>
            </a:fld>
            <a:endParaRPr lang="en-US"/>
          </a:p>
        </p:txBody>
      </p:sp>
      <p:sp>
        <p:nvSpPr>
          <p:cNvPr id="5" name="Footer Placeholder 4">
            <a:extLst>
              <a:ext uri="{FF2B5EF4-FFF2-40B4-BE49-F238E27FC236}">
                <a16:creationId xmlns:a16="http://schemas.microsoft.com/office/drawing/2014/main" id="{522F91C9-A50C-51FF-F7F1-22D78EBED9DF}"/>
              </a:ext>
            </a:extLst>
          </p:cNvPr>
          <p:cNvSpPr>
            <a:spLocks noGrp="1"/>
          </p:cNvSpPr>
          <p:nvPr>
            <p:ph type="ftr" sz="quarter" idx="11"/>
          </p:nvPr>
        </p:nvSpPr>
        <p:spPr/>
        <p:txBody>
          <a:bodyPr/>
          <a:lstStyle/>
          <a:p>
            <a:r>
              <a:rPr lang="en-US"/>
              <a:t>SCS 1302   Discrete Mathematics 1       Prof. D D Karunaratna</a:t>
            </a:r>
          </a:p>
        </p:txBody>
      </p:sp>
      <p:sp>
        <p:nvSpPr>
          <p:cNvPr id="6" name="Slide Number Placeholder 5">
            <a:extLst>
              <a:ext uri="{FF2B5EF4-FFF2-40B4-BE49-F238E27FC236}">
                <a16:creationId xmlns:a16="http://schemas.microsoft.com/office/drawing/2014/main" id="{DF4E66B4-D731-735F-06F2-6F6384286C25}"/>
              </a:ext>
            </a:extLst>
          </p:cNvPr>
          <p:cNvSpPr>
            <a:spLocks noGrp="1"/>
          </p:cNvSpPr>
          <p:nvPr>
            <p:ph type="sldNum" sz="quarter" idx="12"/>
          </p:nvPr>
        </p:nvSpPr>
        <p:spPr/>
        <p:txBody>
          <a:bodyPr/>
          <a:lstStyle/>
          <a:p>
            <a:fld id="{0CA841A6-7C02-4C92-B6EE-5DBCC2AD53D0}" type="slidenum">
              <a:rPr lang="en-US" smtClean="0"/>
              <a:t>76</a:t>
            </a:fld>
            <a:endParaRPr lang="en-US"/>
          </a:p>
        </p:txBody>
      </p:sp>
    </p:spTree>
    <p:extLst>
      <p:ext uri="{BB962C8B-B14F-4D97-AF65-F5344CB8AC3E}">
        <p14:creationId xmlns:p14="http://schemas.microsoft.com/office/powerpoint/2010/main" val="2227450341"/>
      </p:ext>
    </p:extLst>
  </p:cSld>
  <p:clrMapOvr>
    <a:masterClrMapping/>
  </p:clrMapOvr>
</p:sld>
</file>

<file path=ppt/theme/theme1.xml><?xml version="1.0" encoding="utf-8"?>
<a:theme xmlns:a="http://schemas.openxmlformats.org/drawingml/2006/main" name="Office Theme">
  <a:themeElements>
    <a:clrScheme name="Apex">
      <a:dk1>
        <a:sysClr val="windowText" lastClr="000000"/>
      </a:dk1>
      <a:lt1>
        <a:sysClr val="window" lastClr="FFFFFF"/>
      </a:lt1>
      <a:dk2>
        <a:srgbClr val="69676D"/>
      </a:dk2>
      <a:lt2>
        <a:srgbClr val="C9C2D1"/>
      </a:lt2>
      <a:accent1>
        <a:srgbClr val="CEB966"/>
      </a:accent1>
      <a:accent2>
        <a:srgbClr val="9CB084"/>
      </a:accent2>
      <a:accent3>
        <a:srgbClr val="6BB1C9"/>
      </a:accent3>
      <a:accent4>
        <a:srgbClr val="6585CF"/>
      </a:accent4>
      <a:accent5>
        <a:srgbClr val="7E6BC9"/>
      </a:accent5>
      <a:accent6>
        <a:srgbClr val="A379BB"/>
      </a:accent6>
      <a:hlink>
        <a:srgbClr val="410082"/>
      </a:hlink>
      <a:folHlink>
        <a:srgbClr val="932968"/>
      </a:folHlink>
    </a:clrScheme>
    <a:fontScheme name="UCSC Masters 1">
      <a:majorFont>
        <a:latin typeface="DINPro-Bold"/>
        <a:ea typeface=""/>
        <a:cs typeface=""/>
      </a:majorFont>
      <a:minorFont>
        <a:latin typeface="DINPro-Ligh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6431</TotalTime>
  <Words>6351</Words>
  <Application>Microsoft Office PowerPoint</Application>
  <PresentationFormat>On-screen Show (4:3)</PresentationFormat>
  <Paragraphs>1374</Paragraphs>
  <Slides>76</Slides>
  <Notes>2</Notes>
  <HiddenSlides>0</HiddenSlides>
  <MMClips>0</MMClips>
  <ScaleCrop>false</ScaleCrop>
  <HeadingPairs>
    <vt:vector size="6" baseType="variant">
      <vt:variant>
        <vt:lpstr>Fonts Used</vt:lpstr>
      </vt:variant>
      <vt:variant>
        <vt:i4>21</vt:i4>
      </vt:variant>
      <vt:variant>
        <vt:lpstr>Theme</vt:lpstr>
      </vt:variant>
      <vt:variant>
        <vt:i4>1</vt:i4>
      </vt:variant>
      <vt:variant>
        <vt:lpstr>Slide Titles</vt:lpstr>
      </vt:variant>
      <vt:variant>
        <vt:i4>76</vt:i4>
      </vt:variant>
    </vt:vector>
  </HeadingPairs>
  <TitlesOfParts>
    <vt:vector size="98" baseType="lpstr">
      <vt:lpstr>MS PGothic</vt:lpstr>
      <vt:lpstr>Arial</vt:lpstr>
      <vt:lpstr>Calibri</vt:lpstr>
      <vt:lpstr>Cambria Math</vt:lpstr>
      <vt:lpstr>CMMI10</vt:lpstr>
      <vt:lpstr>CMSS10</vt:lpstr>
      <vt:lpstr>CMSS12</vt:lpstr>
      <vt:lpstr>CMSS8</vt:lpstr>
      <vt:lpstr>CMSSBX10</vt:lpstr>
      <vt:lpstr>CMSSI10</vt:lpstr>
      <vt:lpstr>CMSSI8</vt:lpstr>
      <vt:lpstr>CMSY10</vt:lpstr>
      <vt:lpstr>Comic Sans MS</vt:lpstr>
      <vt:lpstr>DINPro-Black</vt:lpstr>
      <vt:lpstr>DINPro-Bold</vt:lpstr>
      <vt:lpstr>DINPro-Light</vt:lpstr>
      <vt:lpstr>Google Sans</vt:lpstr>
      <vt:lpstr>STIXGeneral-Bold</vt:lpstr>
      <vt:lpstr>STIXGeneral-Italic</vt:lpstr>
      <vt:lpstr>STIXGeneral-Regular</vt:lpstr>
      <vt:lpstr>Symbol</vt:lpstr>
      <vt:lpstr>Office Theme</vt:lpstr>
      <vt:lpstr>Bachelor of Science in Computer Science University of Colombo School of Computing</vt:lpstr>
      <vt:lpstr>Discrete Mathematics </vt:lpstr>
      <vt:lpstr>Textbook</vt:lpstr>
      <vt:lpstr> Lesson 1:  Propositional Logic</vt:lpstr>
      <vt:lpstr>Propositions</vt:lpstr>
      <vt:lpstr>Examples</vt:lpstr>
      <vt:lpstr>Atomic proposition (Primitive proposition).</vt:lpstr>
      <vt:lpstr>Atomic proposition (Primitive proposition).</vt:lpstr>
      <vt:lpstr>Propositional Variables</vt:lpstr>
      <vt:lpstr>Composite (or compound) propositions</vt:lpstr>
      <vt:lpstr>Logical operators (connectors)</vt:lpstr>
      <vt:lpstr>Compound Propositions using propositional variables</vt:lpstr>
      <vt:lpstr>Compound Propositions - Examples</vt:lpstr>
      <vt:lpstr>Truth Tables</vt:lpstr>
      <vt:lpstr>Negation</vt:lpstr>
      <vt:lpstr>Conjunction &amp; Disjunction</vt:lpstr>
      <vt:lpstr>Conjunctions</vt:lpstr>
      <vt:lpstr>Examples</vt:lpstr>
      <vt:lpstr>Exclusive Disjunction (exclusive or)</vt:lpstr>
      <vt:lpstr>Conditional Statement or Implication</vt:lpstr>
      <vt:lpstr>Example</vt:lpstr>
      <vt:lpstr>Example</vt:lpstr>
      <vt:lpstr>Example</vt:lpstr>
      <vt:lpstr>Example</vt:lpstr>
      <vt:lpstr>Examples of a conditional statement</vt:lpstr>
      <vt:lpstr>Propositions Vs. Formula</vt:lpstr>
      <vt:lpstr>Equivalent propositions</vt:lpstr>
      <vt:lpstr>Equivalent propositions</vt:lpstr>
      <vt:lpstr>Equivalence </vt:lpstr>
      <vt:lpstr>Bi-conditionals or Bi-implications</vt:lpstr>
      <vt:lpstr>Precedence of Logical Operators</vt:lpstr>
      <vt:lpstr>Precedence of Logical Operators</vt:lpstr>
      <vt:lpstr>Precedence of Logical Operators</vt:lpstr>
      <vt:lpstr>Construction of truth tables for compound propositions</vt:lpstr>
      <vt:lpstr>Example</vt:lpstr>
      <vt:lpstr>Example</vt:lpstr>
      <vt:lpstr>Example</vt:lpstr>
      <vt:lpstr>Example</vt:lpstr>
      <vt:lpstr>Truth Tables of Compound Propositions</vt:lpstr>
      <vt:lpstr>Construction of truth tables</vt:lpstr>
      <vt:lpstr>Construction of truth tables</vt:lpstr>
      <vt:lpstr>Construction of truth tables</vt:lpstr>
      <vt:lpstr>Tautology and Contradiction</vt:lpstr>
      <vt:lpstr>p → q ≡¬p ∨ q </vt:lpstr>
      <vt:lpstr>Logical Equivalences </vt:lpstr>
      <vt:lpstr>Logical Equivalences </vt:lpstr>
      <vt:lpstr>Principle of Duality</vt:lpstr>
      <vt:lpstr>Examples</vt:lpstr>
      <vt:lpstr>Distributive Law:  p ∨ (q ∧ r) ≡ (p ∨ q) ∧ (p ∨ r)</vt:lpstr>
      <vt:lpstr>More Logical Equivalences </vt:lpstr>
      <vt:lpstr>Examples</vt:lpstr>
      <vt:lpstr>Do we need all logical operators?</vt:lpstr>
      <vt:lpstr>Functionally Complete</vt:lpstr>
      <vt:lpstr>Normal Forms</vt:lpstr>
      <vt:lpstr>Normal Forms</vt:lpstr>
      <vt:lpstr>Normal Forms</vt:lpstr>
      <vt:lpstr>Example -1 (method 1)</vt:lpstr>
      <vt:lpstr>Example -1 (method 2)</vt:lpstr>
      <vt:lpstr>Example -2 (method -1)</vt:lpstr>
      <vt:lpstr>Example (method 2)</vt:lpstr>
      <vt:lpstr>Applications of Propositional Logic</vt:lpstr>
      <vt:lpstr>Translating English Sentences</vt:lpstr>
      <vt:lpstr>Exercise </vt:lpstr>
      <vt:lpstr>Translating Logical Expressions into English Sentences</vt:lpstr>
      <vt:lpstr>Classification of Propositions –  Satisfiable and Unsatisfiable</vt:lpstr>
      <vt:lpstr>Satisfiable and Unsatisfiable</vt:lpstr>
      <vt:lpstr>Classification of Propositions –  Valid</vt:lpstr>
      <vt:lpstr>Logical Consequence</vt:lpstr>
      <vt:lpstr>Example</vt:lpstr>
      <vt:lpstr>Consistency of propositions</vt:lpstr>
      <vt:lpstr>System Speciﬁcations - Example</vt:lpstr>
      <vt:lpstr>Example Continued</vt:lpstr>
      <vt:lpstr>System Speciﬁcations</vt:lpstr>
      <vt:lpstr>Example</vt:lpstr>
      <vt:lpstr>Last Example of Topic -1</vt:lpstr>
      <vt:lpstr>Theorem???</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ucsc</dc:creator>
  <cp:lastModifiedBy>Lab1 SC</cp:lastModifiedBy>
  <cp:revision>526</cp:revision>
  <dcterms:created xsi:type="dcterms:W3CDTF">2019-07-04T09:03:38Z</dcterms:created>
  <dcterms:modified xsi:type="dcterms:W3CDTF">2026-04-27T06:28:40Z</dcterms:modified>
</cp:coreProperties>
</file>