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319" r:id="rId2"/>
    <p:sldId id="352" r:id="rId3"/>
    <p:sldId id="353" r:id="rId4"/>
    <p:sldId id="354" r:id="rId5"/>
    <p:sldId id="355" r:id="rId6"/>
    <p:sldId id="380" r:id="rId7"/>
    <p:sldId id="356" r:id="rId8"/>
    <p:sldId id="357" r:id="rId9"/>
    <p:sldId id="382" r:id="rId10"/>
    <p:sldId id="385" r:id="rId11"/>
    <p:sldId id="384" r:id="rId12"/>
    <p:sldId id="383" r:id="rId13"/>
    <p:sldId id="358" r:id="rId14"/>
    <p:sldId id="359" r:id="rId15"/>
    <p:sldId id="375" r:id="rId16"/>
    <p:sldId id="360" r:id="rId17"/>
    <p:sldId id="361" r:id="rId18"/>
    <p:sldId id="376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8" r:id="rId28"/>
    <p:sldId id="379" r:id="rId29"/>
    <p:sldId id="370" r:id="rId30"/>
    <p:sldId id="371" r:id="rId31"/>
    <p:sldId id="372" r:id="rId32"/>
    <p:sldId id="377" r:id="rId33"/>
    <p:sldId id="373" r:id="rId34"/>
    <p:sldId id="374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49" d="100"/>
          <a:sy n="49" d="100"/>
        </p:scale>
        <p:origin x="1258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78639-0D19-45B0-A86B-EC65E962A62A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4BB1-ADCC-4275-BBC4-8A0D6065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26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86000"/>
            <a:ext cx="7772400" cy="46037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r>
              <a:rPr lang="en-US" dirty="0"/>
              <a:t>&lt;COURSE CODE &amp; COURSE NAME&gt;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52800"/>
            <a:ext cx="7772400" cy="381000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&lt;Handout #&gt; - &lt;Topic&gt;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85800" y="457200"/>
            <a:ext cx="7772400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COMPUTER SCIENCE/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SCIENCE IN COMPUTER SCIENCE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85800" y="6074282"/>
            <a:ext cx="777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UNIVERSITY OF COLOMBO SCHOOL OF COMPUTING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436882"/>
            <a:ext cx="1269999" cy="9524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410200"/>
            <a:ext cx="800872" cy="94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15AE-525C-4F89-845E-F1E8ECD0D757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3429000"/>
            <a:ext cx="9144000" cy="2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446087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94F-0991-4CD1-BE4E-CB8011C67B0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A972-70F2-4BCF-873C-7A825E6A7149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DCA22-174E-438D-BEE9-BBDAF854AD51}" type="datetime3">
              <a:rPr lang="en-US" smtClean="0"/>
              <a:t>21 July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1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8DB9-7284-47DE-891E-BADAC8E14F29}" type="datetime3">
              <a:rPr lang="en-US" smtClean="0"/>
              <a:t>21 July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1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6907-4E69-438D-809F-5148BB96AA93}" type="datetime3">
              <a:rPr lang="en-US" smtClean="0"/>
              <a:t>21 July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449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6F75-A878-4F13-8252-5AF5EAFAC569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696A-65AF-4693-BFBB-EE4ECCAF9430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4CE48-C55E-4483-B0BC-6D3A88890D10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0344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4C45-C1BE-4A05-BEE3-546483B1DD80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70027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A54-74A6-4A2B-8142-9277CA09C48B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3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019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52658-C2B0-4253-A2B8-168CAB9F1992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2413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4192C-1C7F-404A-83A8-D98CE9D61048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166901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B33-3690-4EE7-A28D-71361599600F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martArt Placeholder 9"/>
          <p:cNvSpPr>
            <a:spLocks noGrp="1"/>
          </p:cNvSpPr>
          <p:nvPr>
            <p:ph type="dgm" sz="quarter" idx="15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20359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2084-CB0F-4B55-9924-AC1CE50FC85E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martArt Placeholder 7"/>
          <p:cNvSpPr>
            <a:spLocks noGrp="1"/>
          </p:cNvSpPr>
          <p:nvPr>
            <p:ph type="dgm" sz="quarter" idx="16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050892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D2F3-27D6-45B8-B87A-0B3E825E1FD5}" type="datetime3">
              <a:rPr lang="en-US" smtClean="0"/>
              <a:t>21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6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064351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82C6-1138-4550-8199-862C138F6E05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7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2139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E7E0-A688-4439-801C-20E9A23DFF1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72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67600" y="0"/>
            <a:ext cx="1371600" cy="6172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7543800" y="274638"/>
            <a:ext cx="12954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9342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4E58-13B7-40D4-9B8F-2D110C92A45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066800" y="6454833"/>
            <a:ext cx="4495800" cy="2507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49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2121" y="6400800"/>
            <a:ext cx="1092679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75A343-8EBF-43F2-A6F1-72BEC20FEE30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00800"/>
            <a:ext cx="44958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SCS 1302   Discrete Mathematics      Prof. D  D Karunaratna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400800"/>
            <a:ext cx="7620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| 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226233"/>
            <a:ext cx="609600" cy="457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1066800" y="6400800"/>
            <a:ext cx="80772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52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3" r:id="rId11"/>
    <p:sldLayoutId id="2147483660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58" r:id="rId19"/>
    <p:sldLayoutId id="2147483659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Lesson 4:  Introduction to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Topics to be covered. </a:t>
            </a:r>
          </a:p>
          <a:p>
            <a:pPr lvl="1"/>
            <a:r>
              <a:rPr lang="en-GB" b="1" dirty="0"/>
              <a:t>Methods of Proving Theorems</a:t>
            </a:r>
          </a:p>
          <a:p>
            <a:pPr lvl="1"/>
            <a:r>
              <a:rPr lang="en-GB" b="1" dirty="0"/>
              <a:t>Direct Proof</a:t>
            </a:r>
          </a:p>
          <a:p>
            <a:pPr lvl="1"/>
            <a:r>
              <a:rPr lang="en-GB" b="1" dirty="0"/>
              <a:t>Proof by Contraposition</a:t>
            </a:r>
          </a:p>
          <a:p>
            <a:pPr lvl="1"/>
            <a:r>
              <a:rPr lang="en-GB" b="1" dirty="0"/>
              <a:t>Proofs by Contradiction</a:t>
            </a:r>
          </a:p>
          <a:p>
            <a:pPr lvl="1"/>
            <a:r>
              <a:rPr lang="en-GB" b="1" dirty="0"/>
              <a:t>Proof by Cases</a:t>
            </a:r>
          </a:p>
          <a:p>
            <a:pPr lvl="1"/>
            <a:r>
              <a:rPr lang="en-GB" b="1" dirty="0"/>
              <a:t>Existence Proofs</a:t>
            </a:r>
          </a:p>
          <a:p>
            <a:pPr lvl="1"/>
            <a:r>
              <a:rPr lang="en-GB" b="1" dirty="0"/>
              <a:t>Proof Strategies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BB87F-80B3-43FB-B0A6-279D90966264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0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 of a Theorem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1CA38-D3D5-4793-8AC7-C5D7365FE18A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744662"/>
            <a:ext cx="8229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 proof is a valid argument that establishes the truth of a mathematical statement.</a:t>
            </a:r>
          </a:p>
          <a:p>
            <a:pPr marL="0" indent="0">
              <a:buNone/>
            </a:pPr>
            <a:r>
              <a:rPr lang="en-US" sz="2200" dirty="0"/>
              <a:t>A proof can use axioms, statements assumed to be true, and previously proven </a:t>
            </a:r>
            <a:r>
              <a:rPr lang="en-US" sz="2200"/>
              <a:t>theorems. Using </a:t>
            </a:r>
            <a:r>
              <a:rPr lang="en-US" sz="2200" dirty="0"/>
              <a:t>these ingredients and rules of inference, the ﬁnal step of the proof establishes the truth of the statement being proved.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4555697"/>
            <a:ext cx="8153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Note: </a:t>
            </a:r>
            <a:r>
              <a:rPr lang="en-US" sz="2200" dirty="0"/>
              <a:t>Formal proofs of theorems can be extremely long and hard to follow. In practice, the proofs of theorems designed for human consumption are almost always informal proof.</a:t>
            </a:r>
          </a:p>
        </p:txBody>
      </p:sp>
    </p:spTree>
    <p:extLst>
      <p:ext uri="{BB962C8B-B14F-4D97-AF65-F5344CB8AC3E}">
        <p14:creationId xmlns:p14="http://schemas.microsoft.com/office/powerpoint/2010/main" val="38314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620CA-C05C-46CD-AF86-EBD6E98D7730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736229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200" dirty="0">
                <a:sym typeface="Symbol" panose="05050102010706020507" pitchFamily="18" charset="2"/>
              </a:rPr>
              <a:t>We can use a proof to demonstrate that a particular statement is true. A proof consists of a sequence of statements that form an argument.</a:t>
            </a:r>
          </a:p>
          <a:p>
            <a:pPr>
              <a:spcBef>
                <a:spcPct val="0"/>
              </a:spcBef>
              <a:defRPr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defRPr/>
            </a:pPr>
            <a:r>
              <a:rPr lang="en-US" sz="2200" dirty="0">
                <a:sym typeface="Symbol" panose="05050102010706020507" pitchFamily="18" charset="2"/>
              </a:rPr>
              <a:t>The steps that connect the statements in such a sequence are the rules of inference.</a:t>
            </a:r>
          </a:p>
          <a:p>
            <a:pPr>
              <a:spcBef>
                <a:spcPct val="0"/>
              </a:spcBef>
              <a:defRPr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defRPr/>
            </a:pPr>
            <a:r>
              <a:rPr lang="en-US" sz="2200" dirty="0">
                <a:sym typeface="Symbol" panose="05050102010706020507" pitchFamily="18" charset="2"/>
              </a:rPr>
              <a:t>Cases of incorrect reasoning are called </a:t>
            </a:r>
            <a:r>
              <a:rPr lang="en-US" sz="2200" b="1" dirty="0">
                <a:sym typeface="Symbol" panose="05050102010706020507" pitchFamily="18" charset="2"/>
              </a:rPr>
              <a:t>fallacies</a:t>
            </a:r>
            <a:r>
              <a:rPr lang="en-US" sz="2200" dirty="0">
                <a:sym typeface="Symbol" panose="05050102010706020507" pitchFamily="18" charset="2"/>
              </a:rPr>
              <a:t>.</a:t>
            </a:r>
          </a:p>
          <a:p>
            <a:pPr>
              <a:spcBef>
                <a:spcPct val="0"/>
              </a:spcBef>
              <a:defRPr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defRPr/>
            </a:pPr>
            <a:endParaRPr lang="en-US" sz="22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4597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Terminology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EE22-E5AF-4867-92C0-DFD675658122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919275"/>
            <a:ext cx="822960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dirty="0">
                <a:sym typeface="Symbol" panose="05050102010706020507" pitchFamily="18" charset="2"/>
              </a:rPr>
              <a:t>A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Theorem</a:t>
            </a:r>
            <a:r>
              <a:rPr lang="en-US" sz="2400" dirty="0">
                <a:sym typeface="Symbol" panose="05050102010706020507" pitchFamily="18" charset="2"/>
              </a:rPr>
              <a:t> is a statement that can be shown to be true.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40941"/>
            <a:ext cx="82296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dirty="0">
                <a:sym typeface="Symbol" panose="05050102010706020507" pitchFamily="18" charset="2"/>
              </a:rPr>
              <a:t>A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lemma</a:t>
            </a:r>
            <a:r>
              <a:rPr lang="en-US" sz="2400" dirty="0">
                <a:sym typeface="Symbol" panose="05050102010706020507" pitchFamily="18" charset="2"/>
              </a:rPr>
              <a:t> is a simple theorem used as an intermediate result in the proof of another theorem.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232" y="3666931"/>
            <a:ext cx="82296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dirty="0">
                <a:sym typeface="Symbol" panose="05050102010706020507" pitchFamily="18" charset="2"/>
              </a:rPr>
              <a:t>A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Corollary</a:t>
            </a:r>
            <a:r>
              <a:rPr lang="en-US" sz="2400" dirty="0">
                <a:sym typeface="Symbol" panose="05050102010706020507" pitchFamily="18" charset="2"/>
              </a:rPr>
              <a:t> is a proposition that follows directly from a theorem that has been proved.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233" y="4617680"/>
            <a:ext cx="8229599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dirty="0">
                <a:sym typeface="Symbol" panose="05050102010706020507" pitchFamily="18" charset="2"/>
              </a:rPr>
              <a:t>A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Conjecture</a:t>
            </a:r>
            <a:r>
              <a:rPr lang="en-US" sz="2400" dirty="0">
                <a:sym typeface="Symbol" panose="05050102010706020507" pitchFamily="18" charset="2"/>
              </a:rPr>
              <a:t> is a statement whose truth value is unknown. Once it is proven, it becomes a theorem.</a:t>
            </a:r>
          </a:p>
        </p:txBody>
      </p:sp>
    </p:spTree>
    <p:extLst>
      <p:ext uri="{BB962C8B-B14F-4D97-AF65-F5344CB8AC3E}">
        <p14:creationId xmlns:p14="http://schemas.microsoft.com/office/powerpoint/2010/main" val="255293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Informal Proofs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F315-704F-4B0F-9E58-616C13110BEC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665744"/>
            <a:ext cx="82295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Mathematics, Computer Science,  and other disciplines, informal proofs are generally used. Informal proofs are easy to understand and to explain to people.</a:t>
            </a:r>
          </a:p>
          <a:p>
            <a:endParaRPr lang="en-US" sz="2000" dirty="0"/>
          </a:p>
          <a:p>
            <a:r>
              <a:rPr lang="en-US" sz="2000" dirty="0"/>
              <a:t>In informal proofs: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More than one rule of inference may be used in a step.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Steps may be skipped.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axioms being assumed and the rules of inference used are not explicitly stated. </a:t>
            </a:r>
          </a:p>
        </p:txBody>
      </p:sp>
    </p:spTree>
    <p:extLst>
      <p:ext uri="{BB962C8B-B14F-4D97-AF65-F5344CB8AC3E}">
        <p14:creationId xmlns:p14="http://schemas.microsoft.com/office/powerpoint/2010/main" val="334494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86D1-F003-0E0A-449B-E7A65EF4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A03C-D4D5-0C3B-22B1-6DE75411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Practical Applications of Proof</a:t>
            </a:r>
            <a:r>
              <a:rPr lang="en-GB" sz="3600" b="1" dirty="0"/>
              <a:t>s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C1D33-0EFA-B62C-C4DC-BB10DDC9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FDD5-3A8A-4A66-959B-A961A9D1FC32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DAC7-869A-2F94-8560-6F305DE9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2C3A6-B0BF-679C-F380-7C856101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54F70-A5BF-D4E4-7CD3-1A17FF923726}"/>
              </a:ext>
            </a:extLst>
          </p:cNvPr>
          <p:cNvSpPr txBox="1"/>
          <p:nvPr/>
        </p:nvSpPr>
        <p:spPr>
          <a:xfrm>
            <a:off x="304800" y="1976933"/>
            <a:ext cx="8229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anose="020B0600070205080204" pitchFamily="34" charset="-128"/>
              </a:rPr>
              <a:t>Verifying that computer programs are correct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anose="020B0600070205080204" pitchFamily="34" charset="-128"/>
              </a:rPr>
              <a:t>Establishing that operating systems are secure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anose="020B0600070205080204" pitchFamily="34" charset="-128"/>
              </a:rPr>
              <a:t>Making inferences in artiﬁcial intelligence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panose="020B0600070205080204" pitchFamily="34" charset="-128"/>
              </a:rPr>
              <a:t>Showing that system speciﬁcations are consistent.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511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Understanding How Theorems Are Stated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430C-6A09-436D-ABE0-4243CD090C8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712893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of the theorems are conditional statement or quantified conditional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150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Usual way of stating theorem (Example):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52800"/>
            <a:ext cx="8229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ea typeface="ＭＳ Ｐゴシック" panose="020B0600070205080204" pitchFamily="34" charset="-128"/>
              </a:rPr>
              <a:t>The sum of two odd integers is even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Formal way of stating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000" y="4592196"/>
                <a:ext cx="7924799" cy="3608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are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odd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  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even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592196"/>
                <a:ext cx="7924799" cy="360804"/>
              </a:xfrm>
              <a:prstGeom prst="rect">
                <a:avLst/>
              </a:prstGeom>
              <a:blipFill rotWithShape="0">
                <a:blip r:embed="rId2"/>
                <a:stretch>
                  <a:fillRect l="-1231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5800" y="5201796"/>
                <a:ext cx="7924799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GB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→¬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 , where</a:t>
                </a:r>
              </a:p>
              <a:p>
                <a:r>
                  <a:rPr lang="en-US" sz="2400" dirty="0"/>
                  <a:t>O(n) is the predicate “ n is odd”.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201796"/>
                <a:ext cx="7924799" cy="738664"/>
              </a:xfrm>
              <a:prstGeom prst="rect">
                <a:avLst/>
              </a:prstGeom>
              <a:blipFill rotWithShape="0">
                <a:blip r:embed="rId3"/>
                <a:stretch>
                  <a:fillRect l="-2386" t="-11570" b="-256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5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Methods of Proving Theorems of the form</a:t>
            </a:r>
            <a:r>
              <a:rPr lang="en-GB" dirty="0"/>
              <a:t> 𝒑→𝒒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33B1-D922-4C41-896A-1663BF4FBCA6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1706463"/>
                <a:ext cx="8229600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b="1" dirty="0"/>
                  <a:t>Vacuous Proof</a:t>
                </a:r>
                <a:r>
                  <a:rPr lang="en-US" sz="2200" dirty="0"/>
                  <a:t>-  Showing that p is false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b="1" dirty="0"/>
                  <a:t>Trivial Proof </a:t>
                </a:r>
                <a:r>
                  <a:rPr lang="en-US" sz="2200" dirty="0"/>
                  <a:t>-  Showing that q is true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b="1" dirty="0"/>
                  <a:t>Direct Proof </a:t>
                </a:r>
                <a:r>
                  <a:rPr lang="en-US" sz="2200" dirty="0"/>
                  <a:t>- In a direct proof, we assume that p is true and use axioms, deﬁnitions, and previously proven theorems, together with rules of inference, to show that q must also be true.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b="1" dirty="0"/>
                  <a:t>Indirect Proof </a:t>
                </a:r>
                <a:r>
                  <a:rPr lang="en-US" sz="2200" dirty="0"/>
                  <a:t>–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200" b="1" dirty="0"/>
                  <a:t>Proof by Contraposition</a:t>
                </a:r>
                <a:r>
                  <a:rPr lang="en-US" sz="2200" dirty="0"/>
                  <a:t>:  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/>
                  <a:t>the conditional statement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can be proved by showing that its contrapositive,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/>
                  <a:t>, is true.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200" b="1" dirty="0"/>
                  <a:t>Proof by Contradiction</a:t>
                </a:r>
                <a:r>
                  <a:rPr lang="en-US" sz="2200" dirty="0"/>
                  <a:t>: To prove that q is true whenever p is true, we assume that q is false and derive a contradiction.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06463"/>
                <a:ext cx="8229600" cy="4770537"/>
              </a:xfrm>
              <a:prstGeom prst="rect">
                <a:avLst/>
              </a:prstGeom>
              <a:blipFill rotWithShape="0">
                <a:blip r:embed="rId2"/>
                <a:stretch>
                  <a:fillRect l="-815" t="-766" r="-1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64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1F254-CDD4-41AE-81C0-BF1D8CB9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C54D-51FC-0E93-7BD6-A18858A0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Vacuous Proof</a:t>
            </a:r>
            <a:r>
              <a:rPr lang="en-US" b="1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94CBB1F-CA5B-7214-0798-D7E80783F6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57904112"/>
                  </p:ext>
                </p:extLst>
              </p:nvPr>
            </p:nvGraphicFramePr>
            <p:xfrm>
              <a:off x="609600" y="1676400"/>
              <a:ext cx="4343400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46200">
                      <a:extLst>
                        <a:ext uri="{9D8B030D-6E8A-4147-A177-3AD203B41FA5}">
                          <a16:colId xmlns:a16="http://schemas.microsoft.com/office/drawing/2014/main" val="341545076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1884356546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396536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714012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40708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5357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3205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481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94CBB1F-CA5B-7214-0798-D7E80783F6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57904112"/>
                  </p:ext>
                </p:extLst>
              </p:nvPr>
            </p:nvGraphicFramePr>
            <p:xfrm>
              <a:off x="609600" y="1676400"/>
              <a:ext cx="4343400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46200">
                      <a:extLst>
                        <a:ext uri="{9D8B030D-6E8A-4147-A177-3AD203B41FA5}">
                          <a16:colId xmlns:a16="http://schemas.microsoft.com/office/drawing/2014/main" val="341545076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1884356546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3965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650" t="-8333" r="-1220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71401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40708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5357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3205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481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ABDB-DCAF-C256-7C02-A8ED90FB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B706-502E-436D-BCCD-8EBAD0A72F38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04E2E-72B4-FE05-D593-44365C5B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7FCDB-09EA-6382-7882-FE288A0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BB5A73-24F7-88DD-9D13-488A1FCFAEEE}"/>
                  </a:ext>
                </a:extLst>
              </p:cNvPr>
              <p:cNvSpPr txBox="1"/>
              <p:nvPr/>
            </p:nvSpPr>
            <p:spPr>
              <a:xfrm>
                <a:off x="457200" y="3886200"/>
                <a:ext cx="8229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When p is false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𝑖𝑟𝑟𝑒𝑠𝑝𝑒𝑐𝑡𝑖𝑣𝑒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𝑡𝑟𝑢𝑡h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𝑣𝑎𝑙𝑢𝑒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 𝑇ℎ𝑒𝑒𝑓𝑜𝑟𝑒 𝑖𝑡 𝑖𝑠 𝑠𝑢𝑓𝑓𝑖𝑐𝑖𝑒𝑛𝑡 𝑡𝑜 𝑝𝑟𝑜𝑣𝑒 𝑡hat p is false to prove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BB5A73-24F7-88DD-9D13-488A1FCFA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86200"/>
                <a:ext cx="8229600" cy="923330"/>
              </a:xfrm>
              <a:prstGeom prst="rect">
                <a:avLst/>
              </a:prstGeom>
              <a:blipFill>
                <a:blip r:embed="rId3"/>
                <a:stretch>
                  <a:fillRect l="-593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9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215B-9A5C-BD28-E92C-817BE355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Vacuous Proof</a:t>
            </a:r>
            <a:r>
              <a:rPr lang="en-US" b="1" dirty="0"/>
              <a:t>  -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6ABAE-A1BC-AB2F-F449-685A5F3534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3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3600" b="0" i="0" baseline="420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&lt; −1 </m:t>
                          </m:r>
                          <m:r>
                            <a:rPr lang="en-US" sz="3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 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3600" b="0" i="0" baseline="300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  <m:r>
                            <a:rPr lang="en-US" sz="3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 0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36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300" dirty="0"/>
                  <a:t>   x</a:t>
                </a:r>
                <a:r>
                  <a:rPr lang="en-US" sz="3300" baseline="30000" dirty="0"/>
                  <a:t>2</a:t>
                </a:r>
                <a:r>
                  <a:rPr lang="en-US" sz="3300" dirty="0"/>
                  <a:t> &lt; -1  is False</a:t>
                </a:r>
              </a:p>
              <a:p>
                <a:pPr marL="0" indent="0">
                  <a:buNone/>
                </a:pPr>
                <a:r>
                  <a:rPr lang="en-US" sz="3300" dirty="0"/>
                  <a:t>Therefore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200" b="0" i="0" baseline="420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&lt; −1 </m:t>
                        </m:r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  </m:t>
                        </m:r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200" b="0" i="0" baseline="300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+1 </m:t>
                        </m:r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 0</m:t>
                        </m:r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3300" dirty="0"/>
                  <a:t>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6ABAE-A1BC-AB2F-F449-685A5F353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7723E-65D3-3E7C-5FE9-3EC0DE24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FBC-353B-4536-B3AC-618C6D07B849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CE26C-BD8A-A35F-76CE-FAD299B1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ED224-B2E1-4ADA-8722-FDFC6AA7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6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1462-5EC2-7126-AF00-57A336B2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C6F0-6650-A6B4-BC6E-163D3EAE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Trivial </a:t>
            </a:r>
            <a:r>
              <a:rPr lang="en-US" sz="3600" b="1" dirty="0"/>
              <a:t>Proof</a:t>
            </a:r>
            <a:r>
              <a:rPr lang="en-US" b="1" dirty="0"/>
              <a:t> -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2E5BEFE2-A102-915E-633D-7C87183F126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96555548"/>
                  </p:ext>
                </p:extLst>
              </p:nvPr>
            </p:nvGraphicFramePr>
            <p:xfrm>
              <a:off x="457200" y="1676400"/>
              <a:ext cx="4495800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498600">
                      <a:extLst>
                        <a:ext uri="{9D8B030D-6E8A-4147-A177-3AD203B41FA5}">
                          <a16:colId xmlns:a16="http://schemas.microsoft.com/office/drawing/2014/main" val="341545076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1884356546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396536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714012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40708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5357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3205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481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2E5BEFE2-A102-915E-633D-7C87183F126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96555548"/>
                  </p:ext>
                </p:extLst>
              </p:nvPr>
            </p:nvGraphicFramePr>
            <p:xfrm>
              <a:off x="457200" y="1676400"/>
              <a:ext cx="4495800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498600">
                      <a:extLst>
                        <a:ext uri="{9D8B030D-6E8A-4147-A177-3AD203B41FA5}">
                          <a16:colId xmlns:a16="http://schemas.microsoft.com/office/drawing/2014/main" val="3415450762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1884356546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396536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813" t="-8333" r="-1220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71401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40708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5357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63205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481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0ECEA-7749-3875-9769-DDE2289B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8A98-1586-4FB7-B224-9B2AF0A68E46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E78F-6E1E-3ABE-278A-0FC9DC6F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8F564-E073-8F49-1816-29D5929F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1803-5271-46F4-2FFA-78C5DDAB6AB0}"/>
                  </a:ext>
                </a:extLst>
              </p:cNvPr>
              <p:cNvSpPr txBox="1"/>
              <p:nvPr/>
            </p:nvSpPr>
            <p:spPr>
              <a:xfrm>
                <a:off x="457200" y="3886200"/>
                <a:ext cx="8229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When q is true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𝑖𝑟𝑟𝑒𝑠𝑝𝑒𝑐𝑡𝑖𝑣𝑒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𝑡𝑟𝑢𝑡h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𝑣𝑎𝑙𝑢𝑒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 𝑇ℎ𝑒𝑒𝑓𝑜𝑟𝑒 𝑖𝑡 𝑖𝑠 𝑠𝑢𝑓𝑓𝑖𝑐𝑖𝑒𝑛𝑡 𝑡𝑜 𝑝𝑟𝑜𝑣𝑒 𝑡hat q is true to prove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1803-5271-46F4-2FFA-78C5DDAB6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86200"/>
                <a:ext cx="8229600" cy="923330"/>
              </a:xfrm>
              <a:prstGeom prst="rect">
                <a:avLst/>
              </a:prstGeom>
              <a:blipFill>
                <a:blip r:embed="rId3"/>
                <a:stretch>
                  <a:fillRect l="-593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653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9780-0E13-37B9-4563-03938F4B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410-D795-6815-D9D0-8095EBC1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Trivial </a:t>
            </a:r>
            <a:r>
              <a:rPr lang="en-US" sz="3600" b="1" dirty="0"/>
              <a:t>Proof</a:t>
            </a:r>
            <a:r>
              <a:rPr lang="en-US" b="1" dirty="0"/>
              <a:t> - Examples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77241-B4E5-8D2E-EDD3-7631EB3E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F1E4-2F97-4EB7-81EA-ACFC4664AE62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2395A-DB6B-970D-C477-9C237DF5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FD35-6813-4C24-9165-8088009F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FA4FE50-077B-3A76-B7B9-CA60FB4A5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960" y="1752599"/>
                <a:ext cx="8229600" cy="4449763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1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1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≥=0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 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baseline="300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r>
                  <a:rPr lang="en-US" sz="11200" dirty="0"/>
                  <a:t>Proof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1200" baseline="44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 = (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1200" baseline="300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+1)2</m:t>
                    </m:r>
                  </m:oMath>
                </a14:m>
                <a:r>
                  <a:rPr lang="en-US" sz="11200" baseline="420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US" sz="11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&gt;= 0 </a:t>
                </a:r>
                <a14:m>
                  <m:oMath xmlns:m="http://schemas.openxmlformats.org/officeDocument/2006/math">
                    <m:r>
                      <a:rPr lang="en-US" sz="1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1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1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1200" baseline="420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2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1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Therefore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en-US" sz="1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1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1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≥=0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 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baseline="300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</m:t>
                          </m:r>
                          <m:r>
                            <a:rPr lang="en-US" sz="1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  <m:r>
                            <m:rPr>
                              <m:nor/>
                            </m:rPr>
                            <a:rPr lang="en-US" sz="11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1200" dirty="0"/>
              </a:p>
              <a:p>
                <a:pPr marL="0" indent="0">
                  <a:buNone/>
                </a:pPr>
                <a:endParaRPr lang="en-US" sz="11200" baseline="420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200" baseline="420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200" baseline="420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200" baseline="30000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sz="112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FA4FE50-077B-3A76-B7B9-CA60FB4A5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960" y="1752599"/>
                <a:ext cx="8229600" cy="4449763"/>
              </a:xfrm>
              <a:blipFill>
                <a:blip r:embed="rId2"/>
                <a:stretch>
                  <a:fillRect l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99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Direct Proofs: Example 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9919-B2D0-4CCA-92DB-3D46C2016ABB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1578114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2200" b="1" dirty="0">
                <a:ea typeface="ＭＳ Ｐゴシック" panose="020B0600070205080204" pitchFamily="34" charset="-128"/>
              </a:rPr>
              <a:t>Theorem: </a:t>
            </a:r>
            <a:r>
              <a:rPr lang="en-US" sz="2200" i="1" dirty="0">
                <a:ea typeface="ＭＳ Ｐゴシック" panose="020B0600070205080204" pitchFamily="34" charset="-128"/>
              </a:rPr>
              <a:t>The sum of two odd integers is even.</a:t>
            </a:r>
          </a:p>
          <a:p>
            <a:endParaRPr lang="en-US" b="1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93000" y="1981200"/>
                <a:ext cx="6593600" cy="3613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2200" b="1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Proof:</a:t>
                </a: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   Let n, m be two arbitrary integers.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Suppose that </a:t>
                </a:r>
                <a:r>
                  <a:rPr lang="en-US" sz="2200" i="1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n</a:t>
                </a: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 and </a:t>
                </a:r>
                <a:r>
                  <a:rPr lang="en-US" sz="2200" i="1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m</a:t>
                </a: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 are odd.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 &amp; 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some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a typeface="ＭＳ Ｐゴシック" panose="020B0600070205080204" pitchFamily="34" charset="-128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a typeface="ＭＳ Ｐゴシック" panose="020B0600070205080204" pitchFamily="34" charset="-128"/>
                </a:endParaRP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                       =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a typeface="ＭＳ Ｐゴシック" panose="020B0600070205080204" pitchFamily="34" charset="-128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                       =2(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𝑘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+1)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a typeface="ＭＳ Ｐゴシック" panose="020B0600070205080204" pitchFamily="34" charset="-128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where</m:t>
                      </m:r>
                      <m:r>
                        <a:rPr lang="en-US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is an even integer 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00" y="1981200"/>
                <a:ext cx="6593600" cy="3613297"/>
              </a:xfrm>
              <a:prstGeom prst="rect">
                <a:avLst/>
              </a:prstGeom>
              <a:blipFill rotWithShape="0">
                <a:blip r:embed="rId2"/>
                <a:stretch>
                  <a:fillRect l="-1201" t="-1012" b="-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58364" y="5562600"/>
            <a:ext cx="83094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Since n, m are arbitrary we have, the sum of any two odd integers is even.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791200" y="3429000"/>
                <a:ext cx="3276600" cy="1015663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Definition:</a:t>
                </a:r>
                <a:r>
                  <a:rPr lang="en-GB" sz="2000" dirty="0"/>
                  <a:t> An integer n is odd if there exists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such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+1.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429000"/>
                <a:ext cx="327660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1859" t="-3012" b="-10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44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Direct Proofs: Example 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9E8-B266-4D7A-BD35-90229C5E4737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687965"/>
            <a:ext cx="8229600" cy="36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80000"/>
              </a:lnSpc>
              <a:buClr>
                <a:srgbClr val="9BBB59"/>
              </a:buClr>
            </a:pPr>
            <a:r>
              <a:rPr lang="en-US" sz="2200" dirty="0">
                <a:ea typeface="ＭＳ Ｐゴシック" panose="020B0600070205080204" pitchFamily="34" charset="-128"/>
              </a:rPr>
              <a:t>Prove that the sum of two rational numbers is rational.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93000" y="2179043"/>
                <a:ext cx="6999930" cy="37645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2200" b="1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Proof:</a:t>
                </a: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   Let p, q be two arbitrary rational numbers.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𝑝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f>
                      <m:fPr>
                        <m:ctrlP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fPr>
                      <m:num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num>
                      <m:den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𝑏</m:t>
                        </m:r>
                      </m:den>
                    </m:f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𝑞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f>
                      <m:fPr>
                        <m:ctrlP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fPr>
                      <m:num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𝑐</m:t>
                        </m:r>
                      </m:num>
                      <m:den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𝑑</m:t>
                        </m:r>
                      </m:den>
                    </m:f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𝑤h𝑒𝑟𝑒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𝑎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𝑐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&amp;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GB" sz="22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</m:t>
                        </m:r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𝑏𝑐</m:t>
                        </m:r>
                      </m:num>
                      <m:den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𝑏𝑑</m:t>
                        </m:r>
                      </m:den>
                    </m:f>
                    <m:r>
                      <m:rPr>
                        <m:nor/>
                      </m:rPr>
                      <a:rPr 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GB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where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𝑏𝑐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&amp; </m:t>
                    </m:r>
                    <m:r>
                      <a:rPr lang="en-GB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  <m:r>
                      <a:rPr lang="en-GB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prstClr val="black"/>
                    </a:solidFill>
                    <a:ea typeface="ＭＳ Ｐゴシック" panose="020B0600070205080204" pitchFamily="34" charset="-128"/>
                  </a:rPr>
                  <a:t>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GB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is a rational number.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22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2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Hence the </a:t>
                </a:r>
                <a:r>
                  <a:rPr lang="en-US" sz="2200" dirty="0">
                    <a:ea typeface="ＭＳ Ｐゴシック" panose="020B0600070205080204" pitchFamily="34" charset="-128"/>
                  </a:rPr>
                  <a:t>sum of two rational numbers is rational.</a:t>
                </a:r>
              </a:p>
              <a:p>
                <a:pPr lvl="0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22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00" y="2179043"/>
                <a:ext cx="6999930" cy="3764557"/>
              </a:xfrm>
              <a:prstGeom prst="rect">
                <a:avLst/>
              </a:prstGeom>
              <a:blipFill rotWithShape="0">
                <a:blip r:embed="rId2"/>
                <a:stretch>
                  <a:fillRect l="-1132" t="-809" r="-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80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Direct Proofs: Example 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0630-7F68-42EE-8570-98A123A2975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4440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Prove that “If </a:t>
                </a:r>
                <a14:m>
                  <m:oMath xmlns:m="http://schemas.openxmlformats.org/officeDocument/2006/math">
                    <m:r>
                      <a:rPr lang="en-GB" sz="2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an odd integer,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is odd.”</a:t>
                </a:r>
              </a:p>
              <a:p>
                <a:endParaRPr lang="en-GB" sz="2000" dirty="0">
                  <a:latin typeface="Times New Roman" panose="02020603050405020304" pitchFamily="18" charset="0"/>
                </a:endParaRPr>
              </a:p>
              <a:p>
                <a:r>
                  <a:rPr lang="en-GB" sz="2000" dirty="0">
                    <a:latin typeface="Times New Roman" panose="02020603050405020304" pitchFamily="18" charset="0"/>
                  </a:rPr>
                  <a:t>Let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be the predicate “ n is odd”. Then the statement that we have to prove is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2000" b="1" dirty="0"/>
                  <a:t>Proof:</a:t>
                </a:r>
                <a:r>
                  <a:rPr lang="en-GB" sz="2000" dirty="0"/>
                  <a:t> 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be arbitrary.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000" dirty="0"/>
                  <a:t>Suppose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odd.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for some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+1.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+1=2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</m:oMath>
                </a14:m>
                <a:r>
                  <a:rPr lang="en-GB" sz="20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is odd.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440831"/>
              </a:xfrm>
              <a:prstGeom prst="rect">
                <a:avLst/>
              </a:prstGeom>
              <a:blipFill rotWithShape="0">
                <a:blip r:embed="rId2"/>
                <a:stretch>
                  <a:fillRect l="-741" t="-549" b="-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75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Indirect Proofs: Example 1                     </a:t>
            </a:r>
            <a:r>
              <a:rPr lang="en-GB" dirty="0"/>
              <a:t>(Proof by contraposition)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EAB5-87B4-4AF9-9B1B-25F3294C5548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764165"/>
            <a:ext cx="838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80000"/>
              </a:lnSpc>
              <a:buClr>
                <a:srgbClr val="9BBB59"/>
              </a:buClr>
            </a:pPr>
            <a:r>
              <a:rPr lang="en-US" sz="2000" dirty="0">
                <a:ea typeface="ＭＳ Ｐゴシック" panose="020B0600070205080204" pitchFamily="34" charset="-128"/>
              </a:rPr>
              <a:t>Prove that for an integer </a:t>
            </a:r>
            <a:r>
              <a:rPr lang="en-US" sz="2000" i="1" dirty="0">
                <a:ea typeface="ＭＳ Ｐゴシック" panose="020B0600070205080204" pitchFamily="34" charset="-128"/>
              </a:rPr>
              <a:t>n,</a:t>
            </a:r>
            <a:r>
              <a:rPr lang="en-US" sz="2000" dirty="0">
                <a:ea typeface="ＭＳ Ｐゴシック" panose="020B0600070205080204" pitchFamily="34" charset="-128"/>
              </a:rPr>
              <a:t> if </a:t>
            </a:r>
            <a:r>
              <a:rPr lang="en-US" sz="2000" i="1" dirty="0">
                <a:ea typeface="ＭＳ Ｐゴシック" panose="020B0600070205080204" pitchFamily="34" charset="-128"/>
              </a:rPr>
              <a:t>n</a:t>
            </a:r>
            <a:r>
              <a:rPr lang="en-US" sz="2000" baseline="30000" dirty="0">
                <a:latin typeface="Cambria Math" panose="02040503050406030204" pitchFamily="18" charset="0"/>
                <a:ea typeface="ＭＳ Ｐゴシック" panose="020B0600070205080204" pitchFamily="34" charset="-128"/>
              </a:rPr>
              <a:t>2</a:t>
            </a:r>
            <a:r>
              <a:rPr lang="en-US" sz="2000" baseline="30000" dirty="0"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ea typeface="ＭＳ Ｐゴシック" panose="020B0600070205080204" pitchFamily="34" charset="-128"/>
              </a:rPr>
              <a:t> is odd, then </a:t>
            </a:r>
            <a:r>
              <a:rPr lang="en-US" sz="2000" i="1" dirty="0">
                <a:ea typeface="ＭＳ Ｐゴシック" panose="020B0600070205080204" pitchFamily="34" charset="-128"/>
              </a:rPr>
              <a:t>n</a:t>
            </a:r>
            <a:r>
              <a:rPr lang="en-US" sz="2000" dirty="0">
                <a:ea typeface="ＭＳ Ｐゴシック" panose="020B0600070205080204" pitchFamily="34" charset="-128"/>
              </a:rPr>
              <a:t> is odd.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57200" y="2286000"/>
                <a:ext cx="8229600" cy="6819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</a:rPr>
                  <a:t>Let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be the predicate “ n is odd”. Then the statement that we have to prove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That is equivalent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86000"/>
                <a:ext cx="8229600" cy="681982"/>
              </a:xfrm>
              <a:prstGeom prst="rect">
                <a:avLst/>
              </a:prstGeom>
              <a:blipFill rotWithShape="0">
                <a:blip r:embed="rId2"/>
                <a:stretch>
                  <a:fillRect l="-593" t="-4464" r="-370"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3048000"/>
                <a:ext cx="822960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b="1" dirty="0"/>
                  <a:t>Proof:</a:t>
                </a:r>
                <a:r>
                  <a:rPr lang="en-GB" dirty="0"/>
                  <a:t> 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dirty="0"/>
                  <a:t> be arbitrary.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even.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for some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48000"/>
                <a:ext cx="8229600" cy="2585323"/>
              </a:xfrm>
              <a:prstGeom prst="rect">
                <a:avLst/>
              </a:prstGeom>
              <a:blipFill rotWithShape="0">
                <a:blip r:embed="rId3"/>
                <a:stretch>
                  <a:fillRect l="-593" b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95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 by contraposition – Example-2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499-CBCD-48C0-8B8B-2FB8D602CD90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1" y="1636693"/>
                <a:ext cx="8229599" cy="5491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200" dirty="0"/>
                  <a:t>Prove that if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GB" sz="2200" dirty="0"/>
                  <a:t>, where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200" dirty="0"/>
                  <a:t> or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2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nor/>
                      </m:rPr>
                      <a:rPr lang="en-GB" sz="2200" dirty="0"/>
                      <m:t> </m:t>
                    </m:r>
                    <m:r>
                      <m:rPr>
                        <m:nor/>
                      </m:rPr>
                      <a:rPr lang="en-GB" sz="2200" dirty="0"/>
                      <m:t>or</m:t>
                    </m:r>
                    <m:r>
                      <m:rPr>
                        <m:nor/>
                      </m:rPr>
                      <a:rPr lang="en-GB" sz="2200" dirty="0"/>
                      <m:t> 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pPr>
                  <a:lnSpc>
                    <a:spcPct val="150000"/>
                  </a:lnSpc>
                </a:pPr>
                <a:r>
                  <a:rPr lang="en-GB" sz="2200" b="1" dirty="0"/>
                  <a:t>Proof:</a:t>
                </a:r>
                <a:r>
                  <a:rPr lang="en-GB" sz="2200" dirty="0"/>
                  <a:t> Suppose that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nor/>
                      </m:rPr>
                      <a:rPr lang="en-GB" sz="2200" dirty="0"/>
                      <m:t> </m:t>
                    </m:r>
                    <m:r>
                      <m:rPr>
                        <m:nor/>
                      </m:rPr>
                      <a:rPr lang="en-GB" sz="2200" dirty="0"/>
                      <m:t>or</m:t>
                    </m:r>
                    <m:r>
                      <m:rPr>
                        <m:nor/>
                      </m:rPr>
                      <a:rPr lang="en-GB" sz="2200" dirty="0"/>
                      <m:t> 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true.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¬ 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true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200" dirty="0"/>
                  <a:t> and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GB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200" dirty="0"/>
                  <a:t> 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Hence, we have proved by contraposition that if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GB" sz="2200" dirty="0"/>
                  <a:t>, where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200" dirty="0"/>
                  <a:t> or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endParaRPr lang="en-GB" sz="2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36693"/>
                <a:ext cx="8229599" cy="5491440"/>
              </a:xfrm>
              <a:prstGeom prst="rect">
                <a:avLst/>
              </a:prstGeom>
              <a:blipFill>
                <a:blip r:embed="rId2"/>
                <a:stretch>
                  <a:fillRect l="-963" t="-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8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Proofs by Contradiction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F051-1593-4D99-81D2-A74E29B7C783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SCS 1302   Discrete Mathematics      Prof. D  </a:t>
            </a:r>
            <a:r>
              <a:rPr lang="en-US" dirty="0" err="1"/>
              <a:t>D</a:t>
            </a:r>
            <a:r>
              <a:rPr lang="en-US" dirty="0"/>
              <a:t>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" y="1752600"/>
                <a:ext cx="82296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Suppose we want to prove that a statement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000" dirty="0"/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Now find a contradiction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such that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000" dirty="0"/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Because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000" dirty="0"/>
                  <a:t> is false, but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000" dirty="0"/>
                  <a:t> is true, we can conclude that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000" dirty="0"/>
                  <a:t> is false, which means that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000" dirty="0"/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Because the statement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2000" dirty="0"/>
                  <a:t> is a contradiction whenever r is a proposition, we can prove that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000" dirty="0"/>
                  <a:t> is true if we can show that            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∧¬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GB" sz="2000" dirty="0"/>
                  <a:t> is true for some proposition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Proofs of this type are called proofs by contradiction.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52600"/>
                <a:ext cx="8229600" cy="3785652"/>
              </a:xfrm>
              <a:prstGeom prst="rect">
                <a:avLst/>
              </a:prstGeom>
              <a:blipFill>
                <a:blip r:embed="rId2"/>
                <a:stretch>
                  <a:fillRect l="-667" t="-966" b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05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 by Contradiction – Example 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DC6-339E-45E3-8C7B-8101F2CA3CC8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04800" y="1676400"/>
                <a:ext cx="8382000" cy="5123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3050" indent="-273050">
                  <a:lnSpc>
                    <a:spcPct val="70000"/>
                  </a:lnSpc>
                  <a:buClr>
                    <a:srgbClr val="9BBB59"/>
                  </a:buClr>
                </a:pPr>
                <a:r>
                  <a:rPr lang="en-US" sz="2000" dirty="0">
                    <a:ea typeface="ＭＳ Ｐゴシック" panose="020B0600070205080204" pitchFamily="34" charset="-128"/>
                  </a:rPr>
                  <a:t>Use a proof by contradiction method to give a proof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 is irrational.</a:t>
                </a:r>
              </a:p>
              <a:p>
                <a:pPr marL="273050" indent="-273050">
                  <a:lnSpc>
                    <a:spcPct val="150000"/>
                  </a:lnSpc>
                  <a:buClr>
                    <a:srgbClr val="9BBB59"/>
                  </a:buClr>
                </a:pPr>
                <a:r>
                  <a:rPr lang="en-US" sz="2000" b="1" dirty="0">
                    <a:ea typeface="ＭＳ Ｐゴシック" panose="020B0600070205080204" pitchFamily="34" charset="-128"/>
                  </a:rPr>
                  <a:t>Proof:</a:t>
                </a:r>
                <a:r>
                  <a:rPr lang="en-US" sz="2000" dirty="0">
                    <a:ea typeface="ＭＳ Ｐゴシック" panose="020B0600070205080204" pitchFamily="34" charset="-128"/>
                  </a:rPr>
                  <a:t> </a:t>
                </a:r>
                <a:r>
                  <a:rPr lang="en-GB" sz="2000" dirty="0">
                    <a:ea typeface="ＭＳ Ｐゴシック" panose="020B0600070205080204" pitchFamily="34" charset="-128"/>
                  </a:rPr>
                  <a:t>Let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𝑝</m:t>
                    </m:r>
                  </m:oMath>
                </a14:m>
                <a:r>
                  <a:rPr lang="en-GB" sz="2000" dirty="0">
                    <a:ea typeface="ＭＳ Ｐゴシック" panose="020B0600070205080204" pitchFamily="34" charset="-128"/>
                  </a:rPr>
                  <a:t> be the proposition “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sz="2000" dirty="0">
                    <a:ea typeface="ＭＳ Ｐゴシック" panose="020B0600070205080204" pitchFamily="34" charset="-128"/>
                  </a:rPr>
                  <a:t>  is irrational.”</a:t>
                </a:r>
              </a:p>
              <a:p>
                <a:pPr marL="273050" indent="-273050">
                  <a:buClr>
                    <a:srgbClr val="9BBB59"/>
                  </a:buClr>
                </a:pPr>
                <a:r>
                  <a:rPr lang="en-GB" sz="2000" dirty="0">
                    <a:ea typeface="ＭＳ Ｐゴシック" panose="020B0600070205080204" pitchFamily="34" charset="-128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true. That is;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rational.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𝑏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 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.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even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is even ( It can be proved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 is even implies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𝑎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even)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for some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.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(2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even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is even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≠1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GB" sz="2000" b="0" dirty="0">
                    <a:ea typeface="Cambria Math" panose="02040503050406030204" pitchFamily="18" charset="0"/>
                  </a:rPr>
                  <a:t>(a Contradiction!)</a:t>
                </a:r>
              </a:p>
              <a:p>
                <a:pPr marL="273050" indent="-273050">
                  <a:buClr>
                    <a:srgbClr val="9BBB59"/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¬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000" b="0" dirty="0">
                    <a:ea typeface="Cambria Math" panose="02040503050406030204" pitchFamily="18" charset="0"/>
                  </a:rPr>
                  <a:t> is false. That is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>
                    <a:ea typeface="ＭＳ Ｐゴシック" panose="020B0600070205080204" pitchFamily="34" charset="-128"/>
                  </a:rPr>
                  <a:t>  is irrational.</a:t>
                </a:r>
                <a:r>
                  <a:rPr lang="en-GB" sz="2000" b="0" dirty="0">
                    <a:ea typeface="Cambria Math" panose="02040503050406030204" pitchFamily="18" charset="0"/>
                  </a:rPr>
                  <a:t>  </a:t>
                </a:r>
              </a:p>
              <a:p>
                <a:pPr marL="273050" indent="-273050">
                  <a:lnSpc>
                    <a:spcPct val="70000"/>
                  </a:lnSpc>
                  <a:buClr>
                    <a:srgbClr val="9BBB59"/>
                  </a:buClr>
                </a:pPr>
                <a:r>
                  <a:rPr lang="en-US" sz="2000" dirty="0">
                    <a:ea typeface="ＭＳ Ｐゴシック" panose="020B0600070205080204" pitchFamily="34" charset="-128"/>
                  </a:rPr>
                  <a:t> </a:t>
                </a:r>
              </a:p>
              <a:p>
                <a:pPr marL="273050" indent="-273050">
                  <a:lnSpc>
                    <a:spcPct val="70000"/>
                  </a:lnSpc>
                  <a:buClr>
                    <a:srgbClr val="9BBB59"/>
                  </a:buClr>
                </a:pPr>
                <a:r>
                  <a:rPr lang="en-US" sz="2000" dirty="0"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76400"/>
                <a:ext cx="8382000" cy="5123839"/>
              </a:xfrm>
              <a:prstGeom prst="rect">
                <a:avLst/>
              </a:prstGeom>
              <a:blipFill>
                <a:blip r:embed="rId2"/>
                <a:stretch>
                  <a:fillRect l="-727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66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Proofs of Equivalence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0A82-4641-49FF-9D66-A1A6677FA5B9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0761" y="1676400"/>
                <a:ext cx="82360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Some of the Mathematical theorems are bi-conditional statements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61" y="1676400"/>
                <a:ext cx="8236039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184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0761" y="2703493"/>
                <a:ext cx="82360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 prove a statement of the form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, we have to show both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&amp;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 are true. This is because of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61" y="2703493"/>
                <a:ext cx="8236040" cy="1200329"/>
              </a:xfrm>
              <a:prstGeom prst="rect">
                <a:avLst/>
              </a:prstGeom>
              <a:blipFill>
                <a:blip r:embed="rId3"/>
                <a:stretch>
                  <a:fillRect l="-1184" t="-4061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50761" y="4151293"/>
            <a:ext cx="82360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b="1" dirty="0"/>
              <a:t>Example:</a:t>
            </a:r>
            <a:r>
              <a:rPr lang="en-US" sz="2400" dirty="0"/>
              <a:t>  Prove the theorem “If n is an integer, then n is odd if and only if n</a:t>
            </a:r>
            <a:r>
              <a:rPr lang="en-US" sz="2400" baseline="30000" dirty="0"/>
              <a:t>2</a:t>
            </a:r>
            <a:r>
              <a:rPr lang="en-US" sz="2400" dirty="0"/>
              <a:t> is odd.”</a:t>
            </a:r>
          </a:p>
        </p:txBody>
      </p:sp>
    </p:spTree>
    <p:extLst>
      <p:ext uri="{BB962C8B-B14F-4D97-AF65-F5344CB8AC3E}">
        <p14:creationId xmlns:p14="http://schemas.microsoft.com/office/powerpoint/2010/main" val="187767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Proofs of Equivalence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C171A-59B6-4EB8-82C4-23B4645DCE61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Sometimes a theorem states that several propositions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/>
                  <a:t> are equivalent. This can be written as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↔⋯ 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769441"/>
              </a:xfrm>
              <a:prstGeom prst="rect">
                <a:avLst/>
              </a:prstGeom>
              <a:blipFill>
                <a:blip r:embed="rId2"/>
                <a:stretch>
                  <a:fillRect l="-963" t="-5556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1" y="2979681"/>
                <a:ext cx="8229600" cy="11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On way of proving this theorem is to show that the following  nx(n-1)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conditional statements are true: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𝑤𝑖𝑡h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1≤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1≤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2979681"/>
                <a:ext cx="8229600" cy="1135119"/>
              </a:xfrm>
              <a:prstGeom prst="rect">
                <a:avLst/>
              </a:prstGeom>
              <a:blipFill>
                <a:blip r:embed="rId3"/>
                <a:stretch>
                  <a:fillRect l="-963" t="-3763" r="-1185" b="-3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1" y="4343400"/>
                <a:ext cx="822959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However the following identity shows that if the </a:t>
                </a:r>
                <a:r>
                  <a:rPr lang="en-US" sz="2200" i="1" dirty="0"/>
                  <a:t>n</a:t>
                </a:r>
                <a:r>
                  <a:rPr lang="en-US" sz="2200" dirty="0"/>
                  <a:t> conditional statements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. . . 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can be shown to be true, then the propositions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 . . . 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/>
                  <a:t> are all equivalent: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4343400"/>
                <a:ext cx="8229599" cy="1107996"/>
              </a:xfrm>
              <a:prstGeom prst="rect">
                <a:avLst/>
              </a:prstGeom>
              <a:blipFill rotWithShape="0">
                <a:blip r:embed="rId4"/>
                <a:stretch>
                  <a:fillRect l="-963" t="-3315" b="-110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1" y="5715000"/>
                <a:ext cx="807719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↔⋯ ↔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⋀⋯⋀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5715000"/>
                <a:ext cx="8077199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23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90D-EBFC-4658-8212-8FA0B7D18959}" type="datetime3">
              <a:rPr lang="en-US" smtClean="0"/>
              <a:t>21 July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1" y="1600200"/>
            <a:ext cx="8229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Show that these statements about the integer n are equivalent:</a:t>
            </a:r>
          </a:p>
          <a:p>
            <a:r>
              <a:rPr lang="en-US" sz="2000" dirty="0"/>
              <a:t>p</a:t>
            </a:r>
            <a:r>
              <a:rPr lang="en-US" sz="2000" baseline="-25000" dirty="0"/>
              <a:t>1</a:t>
            </a:r>
            <a:r>
              <a:rPr lang="en-US" sz="2000" dirty="0"/>
              <a:t>: n is even.</a:t>
            </a:r>
          </a:p>
          <a:p>
            <a:r>
              <a:rPr lang="en-US" sz="2000" dirty="0"/>
              <a:t>p</a:t>
            </a:r>
            <a:r>
              <a:rPr lang="en-US" sz="2000" baseline="-25000" dirty="0"/>
              <a:t>2</a:t>
            </a:r>
            <a:r>
              <a:rPr lang="en-US" sz="2000" dirty="0"/>
              <a:t>: n−1 is odd. </a:t>
            </a:r>
          </a:p>
          <a:p>
            <a:r>
              <a:rPr lang="en-US" sz="2000" dirty="0"/>
              <a:t>p</a:t>
            </a:r>
            <a:r>
              <a:rPr lang="en-US" sz="2000" baseline="-25000" dirty="0"/>
              <a:t>3</a:t>
            </a:r>
            <a:r>
              <a:rPr lang="en-US" sz="2000" dirty="0"/>
              <a:t>: n</a:t>
            </a:r>
            <a:r>
              <a:rPr lang="en-US" sz="2000" baseline="30000" dirty="0"/>
              <a:t>2</a:t>
            </a:r>
            <a:r>
              <a:rPr lang="en-US" sz="2000" dirty="0"/>
              <a:t> is even.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3471208"/>
                <a:ext cx="3657600" cy="17543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Proof: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Suppose that n is even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some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GB" dirty="0"/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is odd.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471208"/>
                <a:ext cx="3657600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1163" t="-137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0" y="2057400"/>
                <a:ext cx="4343400" cy="2031325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Proof: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is odd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some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r>
                  <a:rPr lang="en-GB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+2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+4=2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is even.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57400"/>
                <a:ext cx="4343400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1122" t="-1802" b="-3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95800" y="4217075"/>
                <a:ext cx="4572000" cy="2031325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Proof: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odd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+1,  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some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dirty="0"/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+1   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</m:oMath>
                </a14:m>
                <a:r>
                  <a:rPr lang="en-GB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GB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</a:t>
                </a:r>
                <a:r>
                  <a:rPr lang="en-GB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is odd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217075"/>
                <a:ext cx="4572000" cy="2031325"/>
              </a:xfrm>
              <a:prstGeom prst="rect">
                <a:avLst/>
              </a:prstGeom>
              <a:blipFill rotWithShape="0">
                <a:blip r:embed="rId4"/>
                <a:stretch>
                  <a:fillRect l="-1200" t="-18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Counter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E98C-14EB-4B2E-9C1A-C746CCE7511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1712890"/>
                <a:ext cx="8229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Prove or disprove the following statement.</a:t>
                </a:r>
              </a:p>
              <a:p>
                <a:r>
                  <a:rPr lang="en-US" sz="2400" dirty="0"/>
                  <a:t>For any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is positive,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positive.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12890"/>
                <a:ext cx="8229600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111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2895600"/>
                <a:ext cx="8229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P(n) be “n is positive ” and Q(n) be 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positive”.</a:t>
                </a:r>
              </a:p>
              <a:p>
                <a:endParaRPr lang="en-GB" dirty="0"/>
              </a:p>
              <a:p>
                <a:r>
                  <a:rPr lang="en-GB" dirty="0"/>
                  <a:t>Given statement is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This is not a true statement. Counter example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95600"/>
                <a:ext cx="8229600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593" t="-206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80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Exhaustive Proof and Proof by Cases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4174-9EC4-4D0B-9506-A059FAD3F38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739205"/>
                <a:ext cx="8229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We now introduce a method that can be used to prove a theorem, by considering different cases separately. That is; theorems of the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⋁⋯⋁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39205"/>
                <a:ext cx="8229600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41" t="-2395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2819400"/>
                <a:ext cx="82296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⋁⋯⋁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⋁⋯⋁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19400"/>
                <a:ext cx="822960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14800" y="3364468"/>
                <a:ext cx="36270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64468"/>
                <a:ext cx="362708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185" r="-1849" b="-278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38600" y="3897868"/>
                <a:ext cx="4897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⋁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⋁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897868"/>
                <a:ext cx="489717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74" b="-278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14800" y="4343400"/>
                <a:ext cx="498040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⋀⋯⋀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343400"/>
                <a:ext cx="498040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200" y="4988004"/>
                <a:ext cx="82296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This shows that the statement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⋁⋯⋁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can be proved by proving each of the  n conditional statement </a:t>
                </a:r>
              </a:p>
              <a:p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=1,2, . . .  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88004"/>
                <a:ext cx="8229600" cy="1107996"/>
              </a:xfrm>
              <a:prstGeom prst="rect">
                <a:avLst/>
              </a:prstGeom>
              <a:blipFill>
                <a:blip r:embed="rId7"/>
                <a:stretch>
                  <a:fillRect l="-963" t="-3846" b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31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Cases – Example 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B6811-EC5A-423F-A926-870F4AC02790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9093" y="1663005"/>
                <a:ext cx="837770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</m:oMath>
                </a14:m>
                <a:r>
                  <a:rPr lang="en-US" sz="2000" dirty="0"/>
                  <a:t> be an operator defined by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𝑀𝑖𝑛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Show that</a:t>
                </a:r>
              </a:p>
              <a:p>
                <a:pPr algn="ctr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3" y="1663005"/>
                <a:ext cx="8377707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801" t="-3012" b="-10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9093" y="2743200"/>
                <a:ext cx="8377707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Solution:</a:t>
                </a:r>
                <a:r>
                  <a:rPr lang="en-GB" sz="2000" dirty="0"/>
                  <a:t>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be arbitrary. There are 6 =(3 x 2 x 1)possible cases: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/>
              </a:p>
              <a:p>
                <a:r>
                  <a:rPr lang="en-GB" sz="2000" b="1" dirty="0"/>
                  <a:t>Case 1: </a:t>
                </a:r>
                <a:r>
                  <a:rPr lang="en-GB" sz="2000" dirty="0"/>
                  <a:t>Suppose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. Then</a:t>
                </a:r>
              </a:p>
              <a:p>
                <a:r>
                  <a:rPr lang="en-GB" sz="2000" dirty="0"/>
                  <a:t>       LHS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  and  RHS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       Therefore, the result is true for case 1.</a:t>
                </a:r>
              </a:p>
              <a:p>
                <a:r>
                  <a:rPr lang="en-GB" sz="2000" dirty="0"/>
                  <a:t>          Other cases can be proved similarly.</a:t>
                </a:r>
              </a:p>
              <a:p>
                <a:r>
                  <a:rPr lang="en-GB" dirty="0"/>
                  <a:t>             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dirty="0"/>
              </a:p>
              <a:p>
                <a:pPr marL="342900" indent="-342900">
                  <a:buFont typeface="+mj-lt"/>
                  <a:buAutoNum type="arabicPeriod"/>
                </a:pPr>
                <a:endParaRPr lang="en-GB" dirty="0"/>
              </a:p>
              <a:p>
                <a:pPr marL="342900" indent="-342900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3" y="2743200"/>
                <a:ext cx="8377707" cy="4893647"/>
              </a:xfrm>
              <a:prstGeom prst="rect">
                <a:avLst/>
              </a:prstGeom>
              <a:blipFill>
                <a:blip r:embed="rId3"/>
                <a:stretch>
                  <a:fillRect l="-801" t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65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Cases – Example - 2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B11D-3546-4B43-920B-391EB772C63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752600"/>
            <a:ext cx="838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Show that there are no solutions in integers x and y of x</a:t>
            </a:r>
            <a:r>
              <a:rPr lang="en-US" sz="2200" baseline="30000" dirty="0"/>
              <a:t>2 </a:t>
            </a:r>
            <a:r>
              <a:rPr lang="en-US" sz="2200" dirty="0"/>
              <a:t>+3y</a:t>
            </a:r>
            <a:r>
              <a:rPr lang="en-US" sz="2200" baseline="30000" dirty="0"/>
              <a:t>2</a:t>
            </a:r>
            <a:r>
              <a:rPr lang="en-US" sz="2200" dirty="0"/>
              <a:t> = 8.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2438400"/>
                <a:ext cx="8229600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</a:t>
                </a:r>
                <a:r>
                  <a:rPr lang="en-GB" sz="2000" b="1" dirty="0"/>
                  <a:t>olution:</a:t>
                </a:r>
                <a:r>
                  <a:rPr lang="en-GB" sz="2000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&gt;8</m:t>
                    </m:r>
                  </m:oMath>
                </a14:m>
                <a:r>
                  <a:rPr lang="en-GB" sz="2000" dirty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&gt;8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Hence it is enough to consider the cases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=−2, −1, 0, 1, 2   &amp;    </m:t>
                    </m:r>
                  </m:oMath>
                </a14:m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=−1, 0, 1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Possible values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0, 1, 4</m:t>
                    </m:r>
                  </m:oMath>
                </a14:m>
                <a:r>
                  <a:rPr lang="en-GB" sz="2000" dirty="0"/>
                  <a:t>   and possible values for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0, 3</m:t>
                    </m:r>
                  </m:oMath>
                </a14:m>
                <a:r>
                  <a:rPr lang="en-GB" sz="2000" dirty="0"/>
                  <a:t>  and the largest sum of possible values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is 7.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Consequently, it is impossible for </a:t>
                </a:r>
                <a:r>
                  <a:rPr lang="en-US" sz="2000" dirty="0"/>
                  <a:t>x</a:t>
                </a:r>
                <a:r>
                  <a:rPr lang="en-US" sz="2000" baseline="30000" dirty="0"/>
                  <a:t>2 </a:t>
                </a:r>
                <a:r>
                  <a:rPr lang="en-US" sz="2000" dirty="0"/>
                  <a:t>+3y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= 8 </a:t>
                </a:r>
                <a:r>
                  <a:rPr lang="en-GB" sz="2000" dirty="0"/>
                  <a:t>to hold when x and y are integers.</a:t>
                </a:r>
              </a:p>
              <a:p>
                <a:endParaRPr lang="en-GB" sz="20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38400"/>
                <a:ext cx="8229600" cy="3754874"/>
              </a:xfrm>
              <a:prstGeom prst="rect">
                <a:avLst/>
              </a:prstGeom>
              <a:blipFill rotWithShape="0">
                <a:blip r:embed="rId2"/>
                <a:stretch>
                  <a:fillRect l="-741" t="-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14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434A-5035-450A-9425-08D31BFF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325562"/>
          </a:xfrm>
        </p:spPr>
        <p:txBody>
          <a:bodyPr/>
          <a:lstStyle/>
          <a:p>
            <a:r>
              <a:rPr lang="en-GB" dirty="0"/>
              <a:t>Proof by Cases – Example - 3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3CD4-8A0B-4BB6-97B5-F3569BD0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28B5-81F9-44C0-AAC7-4C40FD188E65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012C1-8408-4EBC-AFA5-CFBEC17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53915-0DF5-4AF8-9A34-C62E449D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61DA15-2734-496A-ADF1-5F8374C4EC74}"/>
                  </a:ext>
                </a:extLst>
              </p:cNvPr>
              <p:cNvSpPr/>
              <p:nvPr/>
            </p:nvSpPr>
            <p:spPr>
              <a:xfrm>
                <a:off x="190500" y="1802387"/>
                <a:ext cx="8763000" cy="984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Prove that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,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≤5.</m:t>
                    </m:r>
                  </m:oMath>
                </a14:m>
                <a:endParaRPr lang="en-US" sz="2000" dirty="0"/>
              </a:p>
              <a:p>
                <a:r>
                  <a:rPr lang="en-US" sz="2000" b="1" dirty="0"/>
                  <a:t>Proof:</a:t>
                </a:r>
                <a:r>
                  <a:rPr lang="en-US" sz="2000" dirty="0"/>
                  <a:t> 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61DA15-2734-496A-ADF1-5F8374C4E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802387"/>
                <a:ext cx="8763000" cy="984885"/>
              </a:xfrm>
              <a:prstGeom prst="rect">
                <a:avLst/>
              </a:prstGeom>
              <a:blipFill>
                <a:blip r:embed="rId2"/>
                <a:stretch>
                  <a:fillRect l="-695" t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09211E9-B311-4A1F-911C-DE97F0C9CD8A}"/>
                  </a:ext>
                </a:extLst>
              </p:cNvPr>
              <p:cNvSpPr/>
              <p:nvPr/>
            </p:nvSpPr>
            <p:spPr>
              <a:xfrm>
                <a:off x="533400" y="2362200"/>
                <a:ext cx="341093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+2 , 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&lt;−2.</m:t>
                              </m:r>
                            </m:e>
                          </m:eqAr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09211E9-B311-4A1F-911C-DE97F0C9CD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362200"/>
                <a:ext cx="3410934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0AC088-1E4F-4795-9CD5-1E6A3F2A4FBC}"/>
                  </a:ext>
                </a:extLst>
              </p:cNvPr>
              <p:cNvSpPr/>
              <p:nvPr/>
            </p:nvSpPr>
            <p:spPr>
              <a:xfrm>
                <a:off x="4971066" y="2362200"/>
                <a:ext cx="3237809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−3 , 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&lt;3.</m:t>
                              </m:r>
                            </m:e>
                          </m:eqAr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0AC088-1E4F-4795-9CD5-1E6A3F2A4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066" y="2362200"/>
                <a:ext cx="3237809" cy="710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42A6E52-E77A-4BD6-81E0-454C7849DF94}"/>
                  </a:ext>
                </a:extLst>
              </p:cNvPr>
              <p:cNvSpPr/>
              <p:nvPr/>
            </p:nvSpPr>
            <p:spPr>
              <a:xfrm>
                <a:off x="304800" y="3163669"/>
                <a:ext cx="85344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the way the functions are broken apart, we shall consider the cases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&lt;−2,   −2≤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&lt;3,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≥3.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42A6E52-E77A-4BD6-81E0-454C7849D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163669"/>
                <a:ext cx="8534400" cy="646331"/>
              </a:xfrm>
              <a:prstGeom prst="rect">
                <a:avLst/>
              </a:prstGeom>
              <a:blipFill>
                <a:blip r:embed="rId5"/>
                <a:stretch>
                  <a:fillRect l="-571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307E9AA-092B-4C2F-8C8A-3EF76E035F06}"/>
                  </a:ext>
                </a:extLst>
              </p:cNvPr>
              <p:cNvSpPr/>
              <p:nvPr/>
            </p:nvSpPr>
            <p:spPr>
              <a:xfrm>
                <a:off x="190500" y="3886200"/>
                <a:ext cx="8496300" cy="958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Case 1:</a:t>
                </a:r>
                <a:r>
                  <a:rPr lang="en-US" dirty="0"/>
                  <a:t>  Suppose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&lt;−2</m:t>
                    </m:r>
                  </m:oMath>
                </a14:m>
                <a:r>
                  <a:rPr lang="en-US" dirty="0"/>
                  <a:t>. Then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=−5.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307E9AA-092B-4C2F-8C8A-3EF76E035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886200"/>
                <a:ext cx="8496300" cy="958980"/>
              </a:xfrm>
              <a:prstGeom prst="rect">
                <a:avLst/>
              </a:prstGeom>
              <a:blipFill>
                <a:blip r:embed="rId6"/>
                <a:stretch>
                  <a:fillRect l="-574" t="-3822" b="-8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17469F-DB1E-49AF-9CD7-B28310766419}"/>
                  </a:ext>
                </a:extLst>
              </p:cNvPr>
              <p:cNvSpPr/>
              <p:nvPr/>
            </p:nvSpPr>
            <p:spPr>
              <a:xfrm>
                <a:off x="190500" y="5052970"/>
                <a:ext cx="5372100" cy="958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Case 2:</a:t>
                </a:r>
                <a:r>
                  <a:rPr lang="en-US" dirty="0"/>
                  <a:t>  Suppose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US" dirty="0"/>
                  <a:t>. Then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−1. 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17469F-DB1E-49AF-9CD7-B28310766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5052970"/>
                <a:ext cx="5372100" cy="958980"/>
              </a:xfrm>
              <a:prstGeom prst="rect">
                <a:avLst/>
              </a:prstGeom>
              <a:blipFill>
                <a:blip r:embed="rId7"/>
                <a:stretch>
                  <a:fillRect l="-907" t="-3822" b="-9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55FAC4-740D-4459-BD66-BBB7BD75048E}"/>
                  </a:ext>
                </a:extLst>
              </p:cNvPr>
              <p:cNvSpPr/>
              <p:nvPr/>
            </p:nvSpPr>
            <p:spPr>
              <a:xfrm>
                <a:off x="6324601" y="5029200"/>
                <a:ext cx="2362200" cy="92333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−4≤2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55FAC4-740D-4459-BD66-BBB7BD7504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1" y="5029200"/>
                <a:ext cx="2362200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07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9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6162-0C70-4079-A411-30F064C6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49362"/>
          </a:xfrm>
        </p:spPr>
        <p:txBody>
          <a:bodyPr/>
          <a:lstStyle/>
          <a:p>
            <a:r>
              <a:rPr lang="en-GB" dirty="0"/>
              <a:t>Example – 3 Cont.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01A00-858F-4C86-91F3-33A51384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733C-4B81-4C83-B787-92AF46AF0A56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06A77-0C5C-4033-AFD8-46953D35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C6FB2-B5F7-47B2-969C-A6CE0E0D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AC71B7-2D33-40C4-95E5-9A93E7021CD5}"/>
                  </a:ext>
                </a:extLst>
              </p:cNvPr>
              <p:cNvSpPr/>
              <p:nvPr/>
            </p:nvSpPr>
            <p:spPr>
              <a:xfrm>
                <a:off x="190500" y="1981200"/>
                <a:ext cx="5372100" cy="958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Case 2:</a:t>
                </a:r>
                <a:r>
                  <a:rPr lang="en-US" dirty="0"/>
                  <a:t>  Suppose that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. Then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−3)=5.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AC71B7-2D33-40C4-95E5-9A93E7021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981200"/>
                <a:ext cx="5372100" cy="958980"/>
              </a:xfrm>
              <a:prstGeom prst="rect">
                <a:avLst/>
              </a:prstGeom>
              <a:blipFill>
                <a:blip r:embed="rId2"/>
                <a:stretch>
                  <a:fillRect l="-907" t="-318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9A1F4B5-65BD-40E0-B931-939453560376}"/>
                  </a:ext>
                </a:extLst>
              </p:cNvPr>
              <p:cNvSpPr/>
              <p:nvPr/>
            </p:nvSpPr>
            <p:spPr>
              <a:xfrm>
                <a:off x="228600" y="3135868"/>
                <a:ext cx="84582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US" dirty="0"/>
                  <a:t>   holds all three cases, we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−5 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9A1F4B5-65BD-40E0-B931-939453560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135868"/>
                <a:ext cx="8458200" cy="646331"/>
              </a:xfrm>
              <a:prstGeom prst="rect">
                <a:avLst/>
              </a:prstGeom>
              <a:blipFill>
                <a:blip r:embed="rId3"/>
                <a:stretch>
                  <a:fillRect l="-64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CCEE86-CA4C-40C1-83DC-EA5627497BC3}"/>
                  </a:ext>
                </a:extLst>
              </p:cNvPr>
              <p:cNvSpPr txBox="1"/>
              <p:nvPr/>
            </p:nvSpPr>
            <p:spPr>
              <a:xfrm>
                <a:off x="228600" y="4495800"/>
                <a:ext cx="8686800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Exercise:</a:t>
                </a:r>
              </a:p>
              <a:p>
                <a:r>
                  <a:rPr lang="en-US" sz="2400" dirty="0"/>
                  <a:t>Using Proof by cases, show that the following statement is true.</a:t>
                </a:r>
              </a:p>
              <a:p>
                <a:r>
                  <a:rPr lang="en-US" sz="2400" dirty="0"/>
                  <a:t>If n is an integer,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is not divisible by 3.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CCEE86-CA4C-40C1-83DC-EA562749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495800"/>
                <a:ext cx="8686800" cy="1200329"/>
              </a:xfrm>
              <a:prstGeom prst="rect">
                <a:avLst/>
              </a:prstGeom>
              <a:blipFill>
                <a:blip r:embed="rId4"/>
                <a:stretch>
                  <a:fillRect l="-1051" t="-3535" b="-1010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53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Existence Proofs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3E21-91AA-41BA-A7D1-81536C211C1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1" y="1524000"/>
                <a:ext cx="822959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Many theorems are assertions that objects of a particular type exist. A theorem of this type is a proposition of the form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P is a predicate. A proof of a proposition of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called an existence proof.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524000"/>
                <a:ext cx="8229599" cy="1323439"/>
              </a:xfrm>
              <a:prstGeom prst="rect">
                <a:avLst/>
              </a:prstGeom>
              <a:blipFill rotWithShape="0">
                <a:blip r:embed="rId2"/>
                <a:stretch>
                  <a:fillRect l="-741" t="-1843" b="-78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1" y="2819400"/>
                <a:ext cx="82296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Constructive Existence Proof: </a:t>
                </a:r>
                <a:r>
                  <a:rPr lang="en-US" sz="2000" dirty="0"/>
                  <a:t>Finding an element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Non-constructive Existence Proof:  </a:t>
                </a:r>
                <a:r>
                  <a:rPr lang="en-US" sz="2000" dirty="0"/>
                  <a:t>In this, we do not ﬁnd an element </a:t>
                </a:r>
                <a:r>
                  <a:rPr lang="en-US" sz="2000" i="1" dirty="0"/>
                  <a:t>a </a:t>
                </a:r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true, but rather prove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in some other way.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2819400"/>
                <a:ext cx="8229600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667" t="-1873" r="-593" b="-59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4495800"/>
                <a:ext cx="8229600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An Example of a Constructive Existence Proof:  </a:t>
                </a:r>
                <a:r>
                  <a:rPr lang="en-US" sz="2000" dirty="0"/>
                  <a:t>Show that there is a positive integer that can be written as the sum of cubes of positive integers in two different ways.</a:t>
                </a:r>
                <a:endParaRPr lang="en-US" sz="2000" b="1" dirty="0"/>
              </a:p>
              <a:p>
                <a:r>
                  <a:rPr lang="en-US" sz="2000" b="1" dirty="0"/>
                  <a:t>Solution: </a:t>
                </a:r>
                <a:r>
                  <a:rPr lang="en-US" sz="2000" dirty="0"/>
                  <a:t>1729 is an integer that can be written as a sum of cubes of two positive integers in two different ways. </a:t>
                </a:r>
              </a:p>
              <a:p>
                <a:r>
                  <a:rPr lang="en-US" sz="20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1729=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95800"/>
                <a:ext cx="8229600" cy="2000548"/>
              </a:xfrm>
              <a:prstGeom prst="rect">
                <a:avLst/>
              </a:prstGeom>
              <a:blipFill rotWithShape="0">
                <a:blip r:embed="rId4"/>
                <a:stretch>
                  <a:fillRect l="-741" t="-1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56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 of a Non-constructive Existence Proof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89F43-AE4D-4AB1-AD5D-55D9342BA987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1" y="1821359"/>
                <a:ext cx="8229599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en-US" sz="2200" dirty="0"/>
                  <a:t>Show that there exist irrational numbers </a:t>
                </a:r>
                <a:r>
                  <a:rPr lang="en-US" sz="2200" i="1" dirty="0"/>
                  <a:t>x </a:t>
                </a:r>
                <a:r>
                  <a:rPr lang="en-US" sz="2200" dirty="0"/>
                  <a:t>and </a:t>
                </a:r>
                <a:r>
                  <a:rPr lang="en-US" sz="2200" i="1" dirty="0"/>
                  <a:t>y </a:t>
                </a:r>
                <a:r>
                  <a:rPr lang="en-US" sz="2200" dirty="0"/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200" dirty="0"/>
                  <a:t> is rational.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821359"/>
                <a:ext cx="8229599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963" t="-4762" b="-15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4800" y="2769718"/>
                <a:ext cx="8534400" cy="3173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 </a:t>
                </a:r>
                <a:r>
                  <a:rPr lang="en-US" sz="2200" b="1" dirty="0"/>
                  <a:t>Solution: </a:t>
                </a:r>
                <a:r>
                  <a:rPr lang="en-US" sz="2200" dirty="0"/>
                  <a:t>we know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200" dirty="0"/>
                  <a:t> is irrational. Consider the real number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ad>
                          <m:radPr>
                            <m:deg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p>
                  </m:oMath>
                </a14:m>
                <a:r>
                  <a:rPr lang="en-US" sz="2200" dirty="0"/>
                  <a:t>.</a:t>
                </a:r>
              </a:p>
              <a:p>
                <a:endParaRPr lang="en-US" sz="2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If it is rational, we have two irrational numbers </a:t>
                </a:r>
                <a:r>
                  <a:rPr lang="en-US" sz="2200" i="1" dirty="0"/>
                  <a:t>x</a:t>
                </a:r>
                <a:r>
                  <a:rPr lang="en-US" sz="2200" dirty="0"/>
                  <a:t> and </a:t>
                </a:r>
                <a:r>
                  <a:rPr lang="en-US" sz="2200" i="1" dirty="0"/>
                  <a:t>y</a:t>
                </a:r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200" dirty="0"/>
                  <a:t>rational, namely,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2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On the other hand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ad>
                          <m:radPr>
                            <m:degHide m:val="on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p>
                  </m:oMath>
                </a14:m>
                <a:r>
                  <a:rPr lang="en-US" sz="2200" dirty="0"/>
                  <a:t> is irrational, then we can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ad>
                          <m:radPr>
                            <m:degHide m:val="on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p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200" dirty="0"/>
                  <a:t>  so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sup>
                            </m:sSup>
                          </m:e>
                        </m:d>
                      </m:e>
                      <m:sup>
                        <m:rad>
                          <m:radPr>
                            <m:deg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769718"/>
                <a:ext cx="8534400" cy="3173882"/>
              </a:xfrm>
              <a:prstGeom prst="rect">
                <a:avLst/>
              </a:prstGeom>
              <a:blipFill rotWithShape="0">
                <a:blip r:embed="rId3"/>
                <a:stretch>
                  <a:fillRect l="-786" b="-3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67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Uniqueness Proofs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02187-18D9-4654-AA87-F6F54D7550E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0129" y="1686479"/>
                <a:ext cx="8266671" cy="34638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ＭＳ Ｐゴシック" panose="020B0600070205080204" pitchFamily="34" charset="-128"/>
                  </a:rPr>
                  <a:t>Some theorems asset the existence of a unique element with a particular property (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!</a:t>
                </a:r>
                <a:r>
                  <a:rPr lang="en-US" sz="2400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x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 </a:t>
                </a:r>
                <a:r>
                  <a:rPr lang="en-US" sz="2400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P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(</a:t>
                </a:r>
                <a:r>
                  <a:rPr lang="en-US" sz="2400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x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)).</a:t>
                </a:r>
              </a:p>
              <a:p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The two parts of a </a:t>
                </a:r>
                <a:r>
                  <a:rPr lang="en-US" sz="2400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uniqueness proof 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are</a:t>
                </a:r>
              </a:p>
              <a:p>
                <a:pPr lvl="1" indent="-457200">
                  <a:buFont typeface="+mj-lt"/>
                  <a:buAutoNum type="arabicPeriod"/>
                </a:pPr>
                <a:r>
                  <a:rPr lang="en-US" sz="2400" b="1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Existence</a:t>
                </a:r>
                <a:r>
                  <a:rPr lang="en-US" sz="2400" b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: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 We show that an element x with the property exists.</a:t>
                </a:r>
              </a:p>
              <a:p>
                <a:pPr lvl="1" indent="-457200">
                  <a:buFont typeface="+mj-lt"/>
                  <a:buAutoNum type="arabicPeriod"/>
                </a:pPr>
                <a:r>
                  <a:rPr lang="en-US" sz="2400" b="1" i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Uniqueness</a:t>
                </a:r>
                <a:r>
                  <a:rPr lang="en-US" sz="2400" b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:</a:t>
                </a:r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 We show that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  <a:sym typeface="Symbol" panose="05050102010706020507" pitchFamily="18" charset="2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then </a:t>
                </a:r>
                <a:r>
                  <a:rPr lang="en-US" sz="2400" i="1" dirty="0">
                    <a:latin typeface="Cambria Math" panose="02040503050406030204" pitchFamily="18" charset="0"/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y</a:t>
                </a:r>
                <a:r>
                  <a:rPr lang="en-US" sz="2400" dirty="0">
                    <a:latin typeface="Cambria Math" panose="02040503050406030204" pitchFamily="18" charset="0"/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  does not have the property.</a:t>
                </a:r>
              </a:p>
              <a:p>
                <a:pPr marL="0" lvl="1"/>
                <a:r>
                  <a:rPr lang="en-US" sz="2400" dirty="0">
                    <a:latin typeface="Cambria Math" panose="02040503050406030204" pitchFamily="18" charset="0"/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That is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!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→¬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ea typeface="ＭＳ Ｐゴシック" panose="020B0600070205080204" pitchFamily="34" charset="-128"/>
                  <a:sym typeface="Symbol" panose="05050102010706020507" pitchFamily="18" charset="2"/>
                </a:endParaRPr>
              </a:p>
              <a:p>
                <a:pPr marL="0" lvl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                                    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29" y="1686479"/>
                <a:ext cx="8266671" cy="3463833"/>
              </a:xfrm>
              <a:prstGeom prst="rect">
                <a:avLst/>
              </a:prstGeom>
              <a:blipFill rotWithShape="0">
                <a:blip r:embed="rId2"/>
                <a:stretch>
                  <a:fillRect l="-1180" t="-1232" r="-2065" b="-1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0129" y="5188803"/>
                <a:ext cx="841907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Show that if </a:t>
                </a:r>
                <a:r>
                  <a:rPr lang="en-US" sz="2400" i="1" dirty="0"/>
                  <a:t>a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b</a:t>
                </a:r>
                <a:r>
                  <a:rPr lang="en-US" sz="2400" dirty="0"/>
                  <a:t> are real numbers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n-US" sz="2400" dirty="0"/>
                  <a:t>, then there is a unique real number </a:t>
                </a:r>
                <a:r>
                  <a:rPr lang="en-US" sz="2400" i="1" dirty="0"/>
                  <a:t>r</a:t>
                </a:r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29" y="5188803"/>
                <a:ext cx="8419071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159" t="-5109" r="-1231" b="-16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81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E15C-0DEF-47EE-9C41-C36DDE7F50AA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0129" y="1600200"/>
                <a:ext cx="841907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Show that if </a:t>
                </a:r>
                <a:r>
                  <a:rPr lang="en-US" sz="2400" i="1" dirty="0"/>
                  <a:t>a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b</a:t>
                </a:r>
                <a:r>
                  <a:rPr lang="en-US" sz="2400" dirty="0"/>
                  <a:t> are real numbers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n-US" sz="2400" dirty="0"/>
                  <a:t>, then there is a unique real number </a:t>
                </a:r>
                <a:r>
                  <a:rPr lang="en-US" sz="2400" i="1" dirty="0"/>
                  <a:t>r</a:t>
                </a:r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29" y="1600200"/>
                <a:ext cx="8419071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159" t="-5147" r="-1231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0129" y="2590800"/>
                <a:ext cx="8419071" cy="2364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Solution:</a:t>
                </a:r>
                <a:r>
                  <a:rPr lang="en-GB" sz="2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First we shall show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000" dirty="0"/>
                  <a:t>, satisfies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GB" sz="2000" dirty="0"/>
                  <a:t>  </a:t>
                </a:r>
              </a:p>
              <a:p>
                <a:pPr algn="ctr"/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Suppose that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r>
                  <a:rPr lang="en-GB" sz="2000" dirty="0"/>
                  <a:t>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29" y="2590800"/>
                <a:ext cx="8419071" cy="2364686"/>
              </a:xfrm>
              <a:prstGeom prst="rect">
                <a:avLst/>
              </a:prstGeom>
              <a:blipFill rotWithShape="0">
                <a:blip r:embed="rId3"/>
                <a:stretch>
                  <a:fillRect l="-797" t="-1031" r="-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50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Reasoning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BCA5-3BCE-46E4-A2CC-F9EE577BB24D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857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Example: </a:t>
                </a:r>
                <a:r>
                  <a:rPr lang="en-US" sz="2000" dirty="0"/>
                  <a:t>Prove that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rad>
                  </m:oMath>
                </a14:m>
                <a:r>
                  <a:rPr lang="en-US" sz="2000" dirty="0"/>
                  <a:t>  when x and y are distinct positive real numbers.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857158"/>
              </a:xfrm>
              <a:prstGeom prst="rect">
                <a:avLst/>
              </a:prstGeom>
              <a:blipFill rotWithShape="0">
                <a:blip r:embed="rId2"/>
                <a:stretch>
                  <a:fillRect l="-741" b="-120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" y="2514600"/>
                <a:ext cx="3429000" cy="375525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&gt;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GB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</m:t>
                      </m:r>
                    </m:oMath>
                  </m:oMathPara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               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514600"/>
                <a:ext cx="3429000" cy="37552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91000" y="2504364"/>
                <a:ext cx="4495800" cy="371537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Proof:</a:t>
                </a:r>
                <a:r>
                  <a:rPr lang="en-GB" sz="2000" dirty="0"/>
                  <a:t> Suppose that </a:t>
                </a:r>
                <a:r>
                  <a:rPr lang="en-US" sz="2000" dirty="0"/>
                  <a:t>x and y are distinct positive real numbers.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&gt;4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&gt;4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 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rad>
                  </m:oMath>
                </a14:m>
                <a:r>
                  <a:rPr lang="en-GB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rad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504364"/>
                <a:ext cx="4495800" cy="3715376"/>
              </a:xfrm>
              <a:prstGeom prst="rect">
                <a:avLst/>
              </a:prstGeom>
              <a:blipFill rotWithShape="0">
                <a:blip r:embed="rId4"/>
                <a:stretch>
                  <a:fillRect l="-1353" t="-6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8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3x +1 Conjecture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16D2-4E52-4BF2-A25B-14922C4C0146}" type="datetime3">
              <a:rPr lang="en-US" smtClean="0"/>
              <a:t>21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 1302   Discrete Mathematics      Prof. D  D Karunaratna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04800" y="1738537"/>
                <a:ext cx="8229600" cy="1998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ym typeface="Symbol" panose="05050102010706020507" pitchFamily="18" charset="2"/>
                  </a:rPr>
                  <a:t>A </a:t>
                </a:r>
                <a:r>
                  <a:rPr lang="en-US" sz="20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Conjecture</a:t>
                </a:r>
                <a:r>
                  <a:rPr lang="en-US" sz="2000" dirty="0">
                    <a:sym typeface="Symbol" panose="05050102010706020507" pitchFamily="18" charset="2"/>
                  </a:rPr>
                  <a:t> is a statement whose truth value is unknown. Once it is proven, it becomes a theorem.</a:t>
                </a:r>
                <a:endParaRPr lang="en-US" sz="2000" dirty="0"/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be a function 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𝑒𝑣𝑒𝑛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𝑜𝑑𝑑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738537"/>
                <a:ext cx="8229600" cy="1998239"/>
              </a:xfrm>
              <a:prstGeom prst="rect">
                <a:avLst/>
              </a:prstGeom>
              <a:blipFill>
                <a:blip r:embed="rId2"/>
                <a:stretch>
                  <a:fillRect l="-741" t="-1524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04649" y="3691903"/>
                <a:ext cx="8229599" cy="1363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This is a famous conjecture, sometimes known as the 3x +1 conjecture, states that for all positive integers x, when we repeatedly apply the transformation T , we will eventually reach the integer 1.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49" y="3691903"/>
                <a:ext cx="8229599" cy="1363065"/>
              </a:xfrm>
              <a:prstGeom prst="rect">
                <a:avLst/>
              </a:prstGeom>
              <a:blipFill>
                <a:blip r:embed="rId3"/>
                <a:stretch>
                  <a:fillRect l="-741" t="-2691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3552" y="5054968"/>
                <a:ext cx="8458200" cy="1271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    ⟹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(2)=1.</m:t>
                      </m:r>
                    </m:oMath>
                  </m:oMathPara>
                </a14:m>
                <a:endParaRPr lang="en-GB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+1 </m:t>
                    </m:r>
                  </m:oMath>
                </a14:m>
                <a:r>
                  <a:rPr lang="en-US" dirty="0"/>
                  <a:t>conjecture has been veriﬁed using computers for all integers x up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5.6·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52" y="5054968"/>
                <a:ext cx="8458200" cy="1271630"/>
              </a:xfrm>
              <a:prstGeom prst="rect">
                <a:avLst/>
              </a:prstGeom>
              <a:blipFill>
                <a:blip r:embed="rId4"/>
                <a:stretch>
                  <a:fillRect l="-576" b="-6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UCSC Masters 1">
      <a:majorFont>
        <a:latin typeface="DINPro-Bold"/>
        <a:ea typeface=""/>
        <a:cs typeface=""/>
      </a:majorFont>
      <a:minorFont>
        <a:latin typeface="DINPro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4640</TotalTime>
  <Words>3871</Words>
  <Application>Microsoft Office PowerPoint</Application>
  <PresentationFormat>On-screen Show (4:3)</PresentationFormat>
  <Paragraphs>455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ＭＳ Ｐゴシック</vt:lpstr>
      <vt:lpstr>Arial</vt:lpstr>
      <vt:lpstr>Calibri</vt:lpstr>
      <vt:lpstr>Cambria Math</vt:lpstr>
      <vt:lpstr>DINPro-Black</vt:lpstr>
      <vt:lpstr>DINPro-Bold</vt:lpstr>
      <vt:lpstr>DINPro-Light</vt:lpstr>
      <vt:lpstr>Symbol</vt:lpstr>
      <vt:lpstr>Times New Roman</vt:lpstr>
      <vt:lpstr>Office Theme</vt:lpstr>
      <vt:lpstr> Lesson 4:  Introduction to Proofs</vt:lpstr>
      <vt:lpstr>Proof of a Theorem</vt:lpstr>
      <vt:lpstr>Proofs</vt:lpstr>
      <vt:lpstr>Terminology</vt:lpstr>
      <vt:lpstr>Informal Proofs</vt:lpstr>
      <vt:lpstr>Practical Applications of Proofs</vt:lpstr>
      <vt:lpstr>Understanding How Theorems Are Stated</vt:lpstr>
      <vt:lpstr>Methods of Proving Theorems of the form 𝒑→𝒒</vt:lpstr>
      <vt:lpstr>Vacuous Proof </vt:lpstr>
      <vt:lpstr>Vacuous Proof  - Example</vt:lpstr>
      <vt:lpstr>Trivial Proof - Examples</vt:lpstr>
      <vt:lpstr>Trivial Proof - Examples</vt:lpstr>
      <vt:lpstr>Direct Proofs: Example 1</vt:lpstr>
      <vt:lpstr>Direct Proofs: Example 1</vt:lpstr>
      <vt:lpstr>Direct Proofs: Example 3</vt:lpstr>
      <vt:lpstr>Indirect Proofs: Example 1                     (Proof by contraposition)</vt:lpstr>
      <vt:lpstr>Proof by contraposition – Example-2</vt:lpstr>
      <vt:lpstr>Proofs by Contradiction</vt:lpstr>
      <vt:lpstr>Proof by Contradiction – Example -1</vt:lpstr>
      <vt:lpstr>Proofs of Equivalence</vt:lpstr>
      <vt:lpstr>Proofs of Equivalence</vt:lpstr>
      <vt:lpstr>Example</vt:lpstr>
      <vt:lpstr>Counter Example</vt:lpstr>
      <vt:lpstr>Exhaustive Proof and Proof by Cases</vt:lpstr>
      <vt:lpstr>Proof by Cases – Example -1</vt:lpstr>
      <vt:lpstr>Proof by Cases – Example - 2</vt:lpstr>
      <vt:lpstr>Proof by Cases – Example - 3</vt:lpstr>
      <vt:lpstr>Example – 3 Cont. </vt:lpstr>
      <vt:lpstr>Existence Proofs</vt:lpstr>
      <vt:lpstr>An Example of a Non-constructive Existence Proof</vt:lpstr>
      <vt:lpstr>Uniqueness Proofs</vt:lpstr>
      <vt:lpstr>Example</vt:lpstr>
      <vt:lpstr>Backward Reasoning</vt:lpstr>
      <vt:lpstr>The 3x +1 Conjecture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ucsc</dc:creator>
  <cp:lastModifiedBy>damitha ravisha</cp:lastModifiedBy>
  <cp:revision>382</cp:revision>
  <dcterms:created xsi:type="dcterms:W3CDTF">2019-07-04T09:03:38Z</dcterms:created>
  <dcterms:modified xsi:type="dcterms:W3CDTF">2025-07-21T07:02:37Z</dcterms:modified>
</cp:coreProperties>
</file>