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368" r:id="rId2"/>
    <p:sldId id="319" r:id="rId3"/>
    <p:sldId id="343" r:id="rId4"/>
    <p:sldId id="371" r:id="rId5"/>
    <p:sldId id="369" r:id="rId6"/>
    <p:sldId id="370" r:id="rId7"/>
    <p:sldId id="344" r:id="rId8"/>
    <p:sldId id="345" r:id="rId9"/>
    <p:sldId id="346" r:id="rId10"/>
    <p:sldId id="347" r:id="rId11"/>
    <p:sldId id="348" r:id="rId12"/>
    <p:sldId id="349" r:id="rId13"/>
    <p:sldId id="375" r:id="rId14"/>
    <p:sldId id="376" r:id="rId15"/>
    <p:sldId id="366" r:id="rId16"/>
    <p:sldId id="372" r:id="rId17"/>
    <p:sldId id="374" r:id="rId18"/>
    <p:sldId id="373" r:id="rId19"/>
    <p:sldId id="350" r:id="rId20"/>
    <p:sldId id="377" r:id="rId21"/>
    <p:sldId id="352" r:id="rId22"/>
    <p:sldId id="353" r:id="rId23"/>
    <p:sldId id="361" r:id="rId24"/>
    <p:sldId id="354" r:id="rId25"/>
    <p:sldId id="362" r:id="rId26"/>
    <p:sldId id="378" r:id="rId27"/>
    <p:sldId id="355" r:id="rId28"/>
    <p:sldId id="356" r:id="rId29"/>
    <p:sldId id="357" r:id="rId30"/>
    <p:sldId id="358" r:id="rId31"/>
    <p:sldId id="363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howGuides="1">
      <p:cViewPr varScale="1">
        <p:scale>
          <a:sx n="103" d="100"/>
          <a:sy n="103" d="100"/>
        </p:scale>
        <p:origin x="172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78639-0D19-45B0-A86B-EC65E962A62A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D4BB1-ADCC-4275-BBC4-8A0D6065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1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426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86000"/>
            <a:ext cx="7772400" cy="460375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r>
              <a:rPr lang="en-US" dirty="0"/>
              <a:t>&lt;COURSE CODE &amp; COURSE NAME&gt;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352800"/>
            <a:ext cx="7772400" cy="381000"/>
          </a:xfrm>
        </p:spPr>
        <p:txBody>
          <a:bodyPr anchor="b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</a:rPr>
              <a:t>&lt;Handout #&gt; - &lt;Topic&gt;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85800" y="457200"/>
            <a:ext cx="7772400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MASTER</a:t>
            </a:r>
            <a:r>
              <a:rPr lang="en-US" sz="2400" baseline="0" dirty="0">
                <a:solidFill>
                  <a:schemeClr val="bg1"/>
                </a:solidFill>
                <a:latin typeface="+mn-lt"/>
              </a:rPr>
              <a:t> OF COMPUTER SCIENCE/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MASTER</a:t>
            </a:r>
            <a:r>
              <a:rPr lang="en-US" sz="2400" baseline="0" dirty="0">
                <a:solidFill>
                  <a:schemeClr val="bg1"/>
                </a:solidFill>
                <a:latin typeface="+mn-lt"/>
              </a:rPr>
              <a:t> OF SCIENCE IN COMPUTER SCIENCE</a:t>
            </a:r>
            <a:endParaRPr lang="en-US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85800" y="6074282"/>
            <a:ext cx="7772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UNIVERSITY OF COLOMBO SCHOOL OF COMPUTING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5436882"/>
            <a:ext cx="1269999" cy="95249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410200"/>
            <a:ext cx="800872" cy="94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9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6AA81-06CF-44D7-9202-6D3A8D40DF67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3429000"/>
            <a:ext cx="9144000" cy="254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446087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C385-DEB6-4711-B69F-250028484382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6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7DA1-E2CB-4F7B-B60B-606823107AF9}" type="datetime3">
              <a:rPr lang="en-US" smtClean="0"/>
              <a:t>17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1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8DC16-3F1E-429E-8B24-8F875E80CE0C}" type="datetime3">
              <a:rPr lang="en-US" smtClean="0"/>
              <a:t>17 May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1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53462-715B-49AB-923E-AF39E5E9598D}" type="datetime3">
              <a:rPr lang="en-US" smtClean="0"/>
              <a:t>17 May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1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E48C9-030E-4494-9630-BCC422761E2A}" type="datetime3">
              <a:rPr lang="en-US" smtClean="0"/>
              <a:t>17 May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79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76400"/>
            <a:ext cx="3008313" cy="4449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A136C-5390-4AA7-9DDD-9BFC7F6E816B}" type="datetime3">
              <a:rPr lang="en-US" smtClean="0"/>
              <a:t>17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1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DF29-3028-4801-8FCC-8A2271F57AEA}" type="datetime3">
              <a:rPr lang="en-US" smtClean="0"/>
              <a:t>17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6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36F7-5B91-4B6E-B4DA-6977309DB9E4}" type="datetime3">
              <a:rPr lang="en-US" smtClean="0"/>
              <a:t>17 May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0344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A7CBA-3A0B-413B-AA08-1E58E7531609}" type="datetime3">
              <a:rPr lang="en-US" smtClean="0"/>
              <a:t>17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700273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A47EF-10B9-4C2E-818F-6D823DCF85D6}" type="datetime3">
              <a:rPr lang="en-US" smtClean="0"/>
              <a:t>17 May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3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0196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B530-AD46-4CB1-935C-3FC09F4D8B50}" type="datetime3">
              <a:rPr lang="en-US" smtClean="0"/>
              <a:t>17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4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324139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17512-0A92-47C5-BDCF-5C43535FD032}" type="datetime3">
              <a:rPr lang="en-US" smtClean="0"/>
              <a:t>17 May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5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4166901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94E6-40CA-4493-9D7B-63C171AE8571}" type="datetime3">
              <a:rPr lang="en-US" smtClean="0"/>
              <a:t>17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martArt Placeholder 9"/>
          <p:cNvSpPr>
            <a:spLocks noGrp="1"/>
          </p:cNvSpPr>
          <p:nvPr>
            <p:ph type="dgm" sz="quarter" idx="15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Click icon to add SmartArt</a:t>
            </a:r>
          </a:p>
        </p:txBody>
      </p:sp>
    </p:spTree>
    <p:extLst>
      <p:ext uri="{BB962C8B-B14F-4D97-AF65-F5344CB8AC3E}">
        <p14:creationId xmlns:p14="http://schemas.microsoft.com/office/powerpoint/2010/main" val="1203592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FDC0D-FA86-49E3-9C44-A65BF9D1545C}" type="datetime3">
              <a:rPr lang="en-US" smtClean="0"/>
              <a:t>17 May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martArt Placeholder 7"/>
          <p:cNvSpPr>
            <a:spLocks noGrp="1"/>
          </p:cNvSpPr>
          <p:nvPr>
            <p:ph type="dgm" sz="quarter" idx="16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SmartArt</a:t>
            </a:r>
          </a:p>
        </p:txBody>
      </p:sp>
    </p:spTree>
    <p:extLst>
      <p:ext uri="{BB962C8B-B14F-4D97-AF65-F5344CB8AC3E}">
        <p14:creationId xmlns:p14="http://schemas.microsoft.com/office/powerpoint/2010/main" val="1050892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EF17-E3F6-4A62-B00A-89CB56DBBDAB}" type="datetime3">
              <a:rPr lang="en-US" smtClean="0"/>
              <a:t>17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8"/>
          <p:cNvSpPr>
            <a:spLocks noGrp="1"/>
          </p:cNvSpPr>
          <p:nvPr>
            <p:ph type="media" sz="quarter" idx="16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4064351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7680-3B49-4447-90F3-D9178F0D1E0B}" type="datetime3">
              <a:rPr lang="en-US" smtClean="0"/>
              <a:t>17 May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Media Placeholder 6"/>
          <p:cNvSpPr>
            <a:spLocks noGrp="1"/>
          </p:cNvSpPr>
          <p:nvPr>
            <p:ph type="media" sz="quarter" idx="17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921398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8092-BFB2-4D62-95CB-5F60DEA75CA5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72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7467600" y="0"/>
            <a:ext cx="1371600" cy="6172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7543800" y="274638"/>
            <a:ext cx="1295400" cy="5851525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9342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9E3A-72BA-4779-B8D4-1F08FFED4CD3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0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1066800" y="6454833"/>
            <a:ext cx="4495800" cy="2507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2493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2121" y="6400800"/>
            <a:ext cx="1092679" cy="320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3A0C4C29-FB7F-4A85-A29A-B11D8DD1EAD6}" type="datetime3">
              <a:rPr lang="en-US" smtClean="0"/>
              <a:t>17 May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00800"/>
            <a:ext cx="4495800" cy="320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SCS 1302   Discrete Mathematics         Prof. D D Karunaratna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24800" y="6400800"/>
            <a:ext cx="762000" cy="320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| 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226233"/>
            <a:ext cx="609600" cy="457200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1066800" y="6400800"/>
            <a:ext cx="80772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52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2" r:id="rId10"/>
    <p:sldLayoutId id="2147483663" r:id="rId11"/>
    <p:sldLayoutId id="2147483660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58" r:id="rId19"/>
    <p:sldLayoutId id="2147483659" r:id="rId2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1.png"/><Relationship Id="rId7" Type="http://schemas.openxmlformats.org/officeDocument/2006/relationships/image" Target="../media/image25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b="1" dirty="0"/>
              <a:t>Bachelor of Science in Computer Science</a:t>
            </a:r>
            <a:br>
              <a:rPr lang="en-GB" sz="3200" b="1" dirty="0"/>
            </a:br>
            <a:r>
              <a:rPr lang="en-GB" sz="3200" b="1" dirty="0"/>
              <a:t>University of Colombo School of Computing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0C841-59AA-4F72-97DE-65CE5051CDB7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14400" y="2438400"/>
            <a:ext cx="7010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SCS 1204 – Discrete Mathematics I</a:t>
            </a:r>
          </a:p>
          <a:p>
            <a:endParaRPr lang="en-GB" sz="3200" b="1" dirty="0"/>
          </a:p>
          <a:p>
            <a:r>
              <a:rPr lang="en-GB" sz="3200" b="1" dirty="0"/>
              <a:t>Topic -2: Predicate Logic</a:t>
            </a:r>
          </a:p>
          <a:p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428621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Topic – 2: Predicate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Topics to be covered. </a:t>
            </a:r>
          </a:p>
          <a:p>
            <a:pPr lvl="1"/>
            <a:r>
              <a:rPr lang="en-GB" b="1" dirty="0"/>
              <a:t>Predicates and Quantifiers</a:t>
            </a:r>
          </a:p>
          <a:p>
            <a:pPr lvl="1"/>
            <a:r>
              <a:rPr lang="en-GB" b="1" dirty="0"/>
              <a:t>Logical Equivalences Involving Quantifiers</a:t>
            </a:r>
          </a:p>
          <a:p>
            <a:pPr lvl="1"/>
            <a:r>
              <a:rPr lang="en-GB" b="1" dirty="0"/>
              <a:t>Nested Quantifiers</a:t>
            </a:r>
          </a:p>
          <a:p>
            <a:pPr lvl="1"/>
            <a:r>
              <a:rPr lang="en-GB" b="1" dirty="0"/>
              <a:t>The Order of Quantifiers</a:t>
            </a:r>
          </a:p>
          <a:p>
            <a:pPr lvl="1"/>
            <a:r>
              <a:rPr lang="en-GB" b="1" dirty="0"/>
              <a:t>Negating Nested Quantifiers</a:t>
            </a:r>
          </a:p>
          <a:p>
            <a:pPr lvl="1"/>
            <a:r>
              <a:rPr lang="en-GB" b="1" dirty="0"/>
              <a:t>Applications of Predicate logic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3315-150C-4C62-9CF8-212CCC14B9B1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09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Predicates (</a:t>
            </a:r>
            <a:r>
              <a:rPr lang="en-US" b="1" dirty="0"/>
              <a:t>Propositional functions)</a:t>
            </a:r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926C-4BDB-4890-8348-551B4FC02B54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04949" y="1607911"/>
                <a:ext cx="82296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Predicates (Propositional functions)</a:t>
                </a:r>
                <a:r>
                  <a:rPr lang="en-US" sz="2000" dirty="0"/>
                  <a:t> are expressions with variables. </a:t>
                </a:r>
              </a:p>
              <a:p>
                <a:r>
                  <a:rPr lang="en-US" sz="2000" dirty="0"/>
                  <a:t>Example 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∷="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=3"</m:t>
                    </m:r>
                  </m:oMath>
                </a14:m>
                <a:r>
                  <a:rPr lang="en-US" sz="2000" dirty="0"/>
                  <a:t> 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49" y="1607911"/>
                <a:ext cx="8229600" cy="1015663"/>
              </a:xfrm>
              <a:prstGeom prst="rect">
                <a:avLst/>
              </a:prstGeom>
              <a:blipFill>
                <a:blip r:embed="rId2"/>
                <a:stretch>
                  <a:fillRect l="-741" t="-3614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1074" y="2636860"/>
                <a:ext cx="8177349" cy="249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dirty="0"/>
                  <a:t>x</a:t>
                </a:r>
                <a:r>
                  <a:rPr lang="en-US" sz="2000" dirty="0"/>
                  <a:t> and </a:t>
                </a:r>
                <a:r>
                  <a:rPr lang="en-US" sz="2000" i="1" dirty="0"/>
                  <a:t>y</a:t>
                </a:r>
                <a:r>
                  <a:rPr lang="en-US" sz="2000" dirty="0"/>
                  <a:t> are called the variables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=3“</m:t>
                    </m:r>
                  </m:oMath>
                </a14:m>
                <a:r>
                  <a:rPr lang="en-US" sz="2000" dirty="0"/>
                  <a:t> is called the predicate . The expression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also said to be the value of the propositional function </a:t>
                </a:r>
                <a:r>
                  <a:rPr lang="en-US" sz="2000" i="1" dirty="0"/>
                  <a:t>P</a:t>
                </a:r>
                <a:r>
                  <a:rPr lang="en-US" sz="2000" dirty="0"/>
                  <a:t>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A predicate is not a proposition since it cannot be assigned with a truth values without knowing the actual values of its variables. Typically, predicates are represented by capital letters and its variables with simple letters.</a:t>
                </a:r>
              </a:p>
              <a:p>
                <a:r>
                  <a:rPr lang="en-US" dirty="0"/>
                  <a:t>Predicates are neither true nor false when the values of the variables are not specified – not propositions</a:t>
                </a:r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74" y="2636860"/>
                <a:ext cx="8177349" cy="2492990"/>
              </a:xfrm>
              <a:prstGeom prst="rect">
                <a:avLst/>
              </a:prstGeom>
              <a:blipFill>
                <a:blip r:embed="rId3"/>
                <a:stretch>
                  <a:fillRect l="-820" t="-1467" b="-2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9649" y="5119989"/>
                <a:ext cx="817734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Once the </a:t>
                </a:r>
                <a:r>
                  <a:rPr lang="en-US" sz="2000" b="1" dirty="0"/>
                  <a:t>values have been assigned </a:t>
                </a:r>
                <a:r>
                  <a:rPr lang="en-US" sz="2000" dirty="0"/>
                  <a:t>to the variables x and y,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/>
                  <a:t> becomes a proposition and has a truth value.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49" y="5119989"/>
                <a:ext cx="8177349" cy="707886"/>
              </a:xfrm>
              <a:prstGeom prst="rect">
                <a:avLst/>
              </a:prstGeom>
              <a:blipFill>
                <a:blip r:embed="rId4"/>
                <a:stretch>
                  <a:fillRect l="-745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52600" y="5827875"/>
                <a:ext cx="46476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𝐹𝑎𝑙𝑠𝑒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5827875"/>
                <a:ext cx="4647618" cy="307777"/>
              </a:xfrm>
              <a:prstGeom prst="rect">
                <a:avLst/>
              </a:prstGeom>
              <a:blipFill>
                <a:blip r:embed="rId5"/>
                <a:stretch>
                  <a:fillRect l="-787" r="-52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678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A1A5A-CAE8-81A2-1235-1FE3CCDB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si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ACCA0-CCB0-70DE-87AB-7FC1CD8E7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STIXGeneral-Regular"/>
              </a:rPr>
              <a:t>The statement “</a:t>
            </a:r>
            <a:r>
              <a:rPr lang="en-US" sz="1800" b="0" i="1" u="sng" strike="noStrike" baseline="0" dirty="0">
                <a:latin typeface="STIXGeneral-Italic"/>
              </a:rPr>
              <a:t>x</a:t>
            </a:r>
            <a:r>
              <a:rPr lang="en-US" sz="1800" b="0" i="1" strike="noStrike" baseline="0" dirty="0">
                <a:latin typeface="STIXGeneral-Italic"/>
              </a:rPr>
              <a:t>  </a:t>
            </a:r>
            <a:r>
              <a:rPr lang="en-US" sz="1800" b="0" i="1" u="sng" strike="noStrike" baseline="0" dirty="0">
                <a:latin typeface="STIXGeneral-Italic"/>
              </a:rPr>
              <a:t> </a:t>
            </a:r>
            <a:r>
              <a:rPr lang="en-US" sz="1800" b="0" i="0" u="none" strike="noStrike" baseline="0" dirty="0">
                <a:latin typeface="STIXGeneral-Regular"/>
              </a:rPr>
              <a:t>i</a:t>
            </a:r>
            <a:r>
              <a:rPr lang="en-US" sz="1800" b="0" i="0" u="sng" strike="noStrike" baseline="0" dirty="0">
                <a:latin typeface="STIXGeneral-Regular"/>
              </a:rPr>
              <a:t>s greater than 3</a:t>
            </a:r>
            <a:r>
              <a:rPr lang="en-US" sz="1800" b="0" i="0" u="none" strike="noStrike" baseline="0" dirty="0">
                <a:latin typeface="STIXGeneral-Regular"/>
              </a:rPr>
              <a:t>” has two parts. The first part, the variable 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, is the subject of the statement. The second part—the </a:t>
            </a:r>
            <a:r>
              <a:rPr lang="en-US" sz="1800" b="1" i="0" u="none" strike="noStrike" baseline="0" dirty="0">
                <a:latin typeface="STIXGeneral-Bold"/>
              </a:rPr>
              <a:t>predicate</a:t>
            </a:r>
            <a:r>
              <a:rPr lang="en-US" sz="1800" b="0" i="0" u="none" strike="noStrike" baseline="0" dirty="0">
                <a:latin typeface="STIXGeneral-Regular"/>
              </a:rPr>
              <a:t>, “is greater than 3”—refers to </a:t>
            </a:r>
            <a:r>
              <a:rPr lang="en-US" sz="1800" b="1" i="0" u="none" strike="noStrike" baseline="0" dirty="0">
                <a:latin typeface="STIXGeneral-Regular"/>
              </a:rPr>
              <a:t>a property </a:t>
            </a:r>
            <a:r>
              <a:rPr lang="en-US" sz="1800" b="0" i="0" u="none" strike="noStrike" baseline="0" dirty="0">
                <a:latin typeface="STIXGeneral-Regular"/>
              </a:rPr>
              <a:t>that the subject of the statement can have.</a:t>
            </a:r>
          </a:p>
          <a:p>
            <a:pPr algn="l"/>
            <a:r>
              <a:rPr lang="en-US" sz="1800" b="0" i="0" u="none" strike="noStrike" baseline="0" dirty="0">
                <a:latin typeface="STIXGeneral-Regular"/>
              </a:rPr>
              <a:t>In general, a </a:t>
            </a:r>
            <a:r>
              <a:rPr lang="en-US" sz="1800" dirty="0">
                <a:latin typeface="STIXGeneral-Regular"/>
              </a:rPr>
              <a:t>predicate </a:t>
            </a:r>
            <a:r>
              <a:rPr lang="en-US" sz="1800" b="0" i="0" u="none" strike="noStrike" baseline="0" dirty="0">
                <a:latin typeface="STIXGeneral-Regular"/>
              </a:rPr>
              <a:t>involving the </a:t>
            </a:r>
            <a:r>
              <a:rPr lang="en-US" sz="1800" b="0" i="1" u="none" strike="noStrike" baseline="0" dirty="0">
                <a:latin typeface="STIXGeneral-Italic"/>
              </a:rPr>
              <a:t>n </a:t>
            </a:r>
            <a:r>
              <a:rPr lang="en-US" sz="1800" b="0" i="0" u="none" strike="noStrike" baseline="0" dirty="0">
                <a:latin typeface="STIXGeneral-Regular"/>
              </a:rPr>
              <a:t>variables 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1</a:t>
            </a:r>
            <a:r>
              <a:rPr lang="en-US" sz="1800" b="0" i="1" u="none" strike="noStrike" baseline="0" dirty="0">
                <a:latin typeface="STIXGeneral-Italic"/>
              </a:rPr>
              <a:t>, x</a:t>
            </a:r>
            <a:r>
              <a:rPr lang="en-US" sz="1800" b="0" i="0" u="none" strike="noStrike" baseline="0" dirty="0">
                <a:latin typeface="STIXGeneral-Regular"/>
              </a:rPr>
              <a:t>2</a:t>
            </a:r>
            <a:r>
              <a:rPr lang="en-US" sz="1800" b="0" i="1" u="none" strike="noStrike" baseline="0" dirty="0">
                <a:latin typeface="STIXGeneral-Italic"/>
              </a:rPr>
              <a:t>,</a:t>
            </a:r>
            <a:r>
              <a:rPr lang="en-US" sz="1800" b="0" i="0" u="none" strike="noStrike" baseline="0" dirty="0">
                <a:latin typeface="STIXMath-Regular"/>
              </a:rPr>
              <a:t>…</a:t>
            </a:r>
            <a:r>
              <a:rPr lang="en-US" sz="1800" b="0" i="1" u="none" strike="noStrike" baseline="0" dirty="0">
                <a:latin typeface="STIXGeneral-Italic"/>
              </a:rPr>
              <a:t>, </a:t>
            </a:r>
            <a:r>
              <a:rPr lang="en-US" sz="1800" b="0" i="1" u="none" strike="noStrike" baseline="0" dirty="0" err="1">
                <a:latin typeface="STIXGeneral-Italic"/>
              </a:rPr>
              <a:t>xn</a:t>
            </a:r>
            <a:r>
              <a:rPr lang="en-US" sz="1800" b="0" i="1" u="none" strike="noStrike" baseline="0" dirty="0">
                <a:latin typeface="STIXGeneral-Italic"/>
              </a:rPr>
              <a:t> </a:t>
            </a:r>
            <a:r>
              <a:rPr lang="en-US" sz="1800" b="0" i="0" u="none" strike="noStrike" baseline="0" dirty="0">
                <a:latin typeface="STIXGeneral-Regular"/>
              </a:rPr>
              <a:t>can be denoted as</a:t>
            </a:r>
          </a:p>
          <a:p>
            <a:pPr marL="0" indent="0" algn="l">
              <a:buNone/>
            </a:pPr>
            <a:r>
              <a:rPr lang="en-US" sz="1800" b="0" i="1" u="none" strike="noStrike" baseline="0" dirty="0">
                <a:latin typeface="STIXGeneral-Italic"/>
              </a:rPr>
              <a:t>	P</a:t>
            </a:r>
            <a:r>
              <a:rPr lang="en-US" sz="1800" b="0" i="0" u="none" strike="noStrike" baseline="0" dirty="0">
                <a:latin typeface="STIXGeneral-Regular"/>
              </a:rPr>
              <a:t>(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1</a:t>
            </a:r>
            <a:r>
              <a:rPr lang="en-US" sz="1800" b="0" i="1" u="none" strike="noStrike" baseline="0" dirty="0">
                <a:latin typeface="STIXGeneral-Italic"/>
              </a:rPr>
              <a:t>, x</a:t>
            </a:r>
            <a:r>
              <a:rPr lang="en-US" sz="1800" b="0" i="0" u="none" strike="noStrike" baseline="0" dirty="0">
                <a:latin typeface="STIXGeneral-Regular"/>
              </a:rPr>
              <a:t>2</a:t>
            </a:r>
            <a:r>
              <a:rPr lang="en-US" sz="1800" b="0" i="1" u="none" strike="noStrike" baseline="0" dirty="0">
                <a:latin typeface="STIXGeneral-Italic"/>
              </a:rPr>
              <a:t>,</a:t>
            </a:r>
            <a:r>
              <a:rPr lang="en-US" sz="1800" b="0" i="0" u="none" strike="noStrike" baseline="0" dirty="0">
                <a:latin typeface="STIXMath-Regular"/>
              </a:rPr>
              <a:t>…</a:t>
            </a:r>
            <a:r>
              <a:rPr lang="en-US" sz="1800" b="0" i="1" u="none" strike="noStrike" baseline="0" dirty="0">
                <a:latin typeface="STIXGeneral-Italic"/>
              </a:rPr>
              <a:t>, </a:t>
            </a:r>
            <a:r>
              <a:rPr lang="en-US" sz="1800" b="0" i="1" u="none" strike="noStrike" baseline="0" dirty="0" err="1">
                <a:latin typeface="STIXGeneral-Italic"/>
              </a:rPr>
              <a:t>xn</a:t>
            </a:r>
            <a:r>
              <a:rPr lang="en-US" sz="1800" b="0" i="0" u="none" strike="noStrike" baseline="0" dirty="0">
                <a:latin typeface="STIXGeneral-Regular"/>
              </a:rPr>
              <a:t>)</a:t>
            </a:r>
            <a:r>
              <a:rPr lang="en-US" sz="1800" b="0" i="1" u="none" strike="noStrike" baseline="0" dirty="0">
                <a:latin typeface="STIXMath-Italic"/>
              </a:rPr>
              <a:t>.</a:t>
            </a:r>
          </a:p>
          <a:p>
            <a:pPr marL="0" indent="0" algn="l">
              <a:buNone/>
            </a:pPr>
            <a:r>
              <a:rPr lang="en-US" sz="1800" i="1" dirty="0">
                <a:latin typeface="STIXMath-Italic"/>
              </a:rPr>
              <a:t>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latin typeface="STIXGeneral-Regular"/>
              </a:rPr>
              <a:t>  </a:t>
            </a:r>
            <a:r>
              <a:rPr lang="en-US" sz="1800" b="0" i="1" u="none" strike="noStrike" baseline="0" dirty="0">
                <a:latin typeface="STIXGeneral-Italic"/>
              </a:rPr>
              <a:t>P</a:t>
            </a:r>
            <a:r>
              <a:rPr lang="en-US" sz="1800" b="0" i="0" u="none" strike="noStrike" baseline="0" dirty="0">
                <a:latin typeface="STIXGeneral-Regular"/>
              </a:rPr>
              <a:t>(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1</a:t>
            </a:r>
            <a:r>
              <a:rPr lang="en-US" sz="1800" b="0" i="1" u="none" strike="noStrike" baseline="0" dirty="0">
                <a:latin typeface="STIXGeneral-Italic"/>
              </a:rPr>
              <a:t>, x</a:t>
            </a:r>
            <a:r>
              <a:rPr lang="en-US" sz="1800" b="0" i="0" u="none" strike="noStrike" baseline="0" dirty="0">
                <a:latin typeface="STIXGeneral-Regular"/>
              </a:rPr>
              <a:t>2</a:t>
            </a:r>
            <a:r>
              <a:rPr lang="en-US" sz="1800" b="0" i="1" u="none" strike="noStrike" baseline="0" dirty="0">
                <a:latin typeface="STIXGeneral-Italic"/>
              </a:rPr>
              <a:t>,</a:t>
            </a:r>
            <a:r>
              <a:rPr lang="en-US" sz="1800" b="0" i="0" u="none" strike="noStrike" baseline="0" dirty="0">
                <a:latin typeface="STIXMath-Regular"/>
              </a:rPr>
              <a:t>…</a:t>
            </a:r>
            <a:r>
              <a:rPr lang="en-US" sz="1800" b="0" i="1" u="none" strike="noStrike" baseline="0" dirty="0">
                <a:latin typeface="STIXGeneral-Italic"/>
              </a:rPr>
              <a:t>, </a:t>
            </a:r>
            <a:r>
              <a:rPr lang="en-US" sz="1800" b="0" i="1" u="none" strike="noStrike" baseline="0" dirty="0" err="1">
                <a:latin typeface="STIXGeneral-Italic"/>
              </a:rPr>
              <a:t>xn</a:t>
            </a:r>
            <a:r>
              <a:rPr lang="en-US" sz="1800" b="0" i="0" u="none" strike="noStrike" baseline="0" dirty="0">
                <a:latin typeface="STIXGeneral-Regular"/>
              </a:rPr>
              <a:t>)</a:t>
            </a:r>
            <a:r>
              <a:rPr lang="en-US" sz="1800" b="0" i="1" u="none" strike="noStrike" baseline="0" dirty="0">
                <a:latin typeface="STIXMath-Italic"/>
              </a:rPr>
              <a:t>. </a:t>
            </a:r>
            <a:r>
              <a:rPr lang="en-US" sz="1800" b="0" i="0" u="none" strike="noStrike" baseline="0" dirty="0">
                <a:latin typeface="STIXGeneral-Regular"/>
              </a:rPr>
              <a:t>is also called an </a:t>
            </a:r>
            <a:r>
              <a:rPr lang="en-US" sz="1800" b="0" i="1" u="none" strike="noStrike" baseline="0" dirty="0">
                <a:latin typeface="STIXGeneral-Italic"/>
              </a:rPr>
              <a:t>n</a:t>
            </a:r>
            <a:r>
              <a:rPr lang="en-US" sz="1800" b="1" i="0" u="none" strike="noStrike" baseline="0" dirty="0">
                <a:latin typeface="STIXGeneral-Bold"/>
              </a:rPr>
              <a:t>-place predicate </a:t>
            </a:r>
            <a:r>
              <a:rPr lang="en-US" sz="1800" b="0" i="0" u="none" strike="noStrike" baseline="0" dirty="0">
                <a:latin typeface="STIXGeneral-Regular"/>
              </a:rPr>
              <a:t>or an </a:t>
            </a:r>
            <a:r>
              <a:rPr lang="en-US" sz="1800" b="0" i="1" u="none" strike="noStrike" baseline="0" dirty="0">
                <a:latin typeface="STIXGeneral-Italic"/>
              </a:rPr>
              <a:t>n</a:t>
            </a:r>
            <a:r>
              <a:rPr lang="en-US" sz="1800" b="1" i="0" u="none" strike="noStrike" baseline="0" dirty="0">
                <a:latin typeface="STIXGeneral-Bold"/>
              </a:rPr>
              <a:t>-</a:t>
            </a:r>
            <a:r>
              <a:rPr lang="en-US" sz="1800" b="1" i="0" u="none" strike="noStrike" baseline="0" dirty="0" err="1">
                <a:latin typeface="STIXGeneral-Bold"/>
              </a:rPr>
              <a:t>ary</a:t>
            </a:r>
            <a:r>
              <a:rPr lang="en-US" sz="1800" b="1" i="0" u="none" strike="noStrike" baseline="0" dirty="0">
                <a:latin typeface="STIXGeneral-Bold"/>
              </a:rPr>
              <a:t> predicate.</a:t>
            </a:r>
          </a:p>
          <a:p>
            <a:pPr marL="0" indent="0">
              <a:buNone/>
            </a:pPr>
            <a:endParaRPr lang="en-US" sz="1800" b="1" dirty="0">
              <a:latin typeface="STIXGeneral-Bold"/>
            </a:endParaRPr>
          </a:p>
          <a:p>
            <a:pPr algn="l"/>
            <a:r>
              <a:rPr lang="en-US" sz="1800" b="0" i="0" u="none" strike="noStrike" baseline="0" dirty="0">
                <a:latin typeface="STIXGeneral-Regular"/>
              </a:rPr>
              <a:t>In computer programming the statements that describe valid input  for a program are known as </a:t>
            </a:r>
            <a:r>
              <a:rPr lang="en-US" sz="1800" b="1" i="0" u="none" strike="noStrike" baseline="0" dirty="0">
                <a:latin typeface="STIXGeneral-Bold"/>
              </a:rPr>
              <a:t>preconditions </a:t>
            </a:r>
            <a:r>
              <a:rPr lang="en-US" sz="1800" b="0" i="0" u="none" strike="noStrike" baseline="0" dirty="0">
                <a:latin typeface="STIXGeneral-Regular"/>
              </a:rPr>
              <a:t>and the conditions that the output should satisfy when the program has run are known as </a:t>
            </a:r>
            <a:r>
              <a:rPr lang="en-US" sz="1800" b="1" i="0" u="none" strike="noStrike" baseline="0" dirty="0">
                <a:latin typeface="STIXGeneral-Bold"/>
              </a:rPr>
              <a:t>postconditions</a:t>
            </a:r>
            <a:r>
              <a:rPr lang="en-US" sz="1800" dirty="0">
                <a:latin typeface="STIXGeneral-Regular"/>
              </a:rPr>
              <a:t> of the program.</a:t>
            </a:r>
          </a:p>
          <a:p>
            <a:pPr algn="l"/>
            <a:r>
              <a:rPr lang="en-US" sz="1800" b="0" i="0" u="none" strike="noStrike" baseline="0" dirty="0">
                <a:latin typeface="STIXGeneral-Regular"/>
              </a:rPr>
              <a:t>When the variables in a predicate(propositional function) are assigned values, the resulting statement becomes a proposition with a certain truth value</a:t>
            </a:r>
            <a:endParaRPr lang="si-L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96EE8-09AB-0FA5-0E49-E0E7C250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6AA81-06CF-44D7-9202-6D3A8D40DF67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BDFEF-7020-8F50-B2BC-171660245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63E58-B113-3D74-E935-5230316E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88DE8-ED86-95C8-AC04-5DD81D792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6444-12F5-C5F3-0835-27F5903E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Predicates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D01C8-E05C-9325-A4DC-3720B9151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926C-4BDB-4890-8348-551B4FC02B54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6EEBA-6D3D-DB0E-A332-ADB7147F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E5D36-41A8-8FA8-CB7C-D2CD5BA2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28AD24-9921-1D4A-D26A-26D9D57E9AF0}"/>
                  </a:ext>
                </a:extLst>
              </p:cNvPr>
              <p:cNvSpPr txBox="1"/>
              <p:nvPr/>
            </p:nvSpPr>
            <p:spPr>
              <a:xfrm>
                <a:off x="425824" y="2105561"/>
                <a:ext cx="8177349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∷="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=3"</m:t>
                    </m:r>
                  </m:oMath>
                </a14:m>
                <a:r>
                  <a:rPr lang="en-US" sz="2000" dirty="0"/>
                  <a:t> 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 possible values variables in a predicate can assume are called the Domains of the variables and are called the </a:t>
                </a:r>
                <a:r>
                  <a:rPr lang="en-US" sz="2000" b="1" dirty="0"/>
                  <a:t>domain of discourse </a:t>
                </a:r>
                <a:r>
                  <a:rPr lang="en-US" sz="2000" dirty="0"/>
                  <a:t>( or </a:t>
                </a:r>
                <a:r>
                  <a:rPr lang="en-US" sz="2000" b="1" dirty="0"/>
                  <a:t>universe of discourse</a:t>
                </a:r>
                <a:r>
                  <a:rPr lang="en-US" sz="2000" dirty="0"/>
                  <a:t>). In this example we may consider the domain of discourse for both the variables as the set of Real numbers 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Thus the predicate  P can be represented as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𝑇𝑟𝑢𝑒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𝐹𝑎𝑙𝑠𝑒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28AD24-9921-1D4A-D26A-26D9D57E9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24" y="2105561"/>
                <a:ext cx="8177349" cy="2246769"/>
              </a:xfrm>
              <a:prstGeom prst="rect">
                <a:avLst/>
              </a:prstGeom>
              <a:blipFill>
                <a:blip r:embed="rId2"/>
                <a:stretch>
                  <a:fillRect l="-820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461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B3396-D291-3633-C018-738AD7B61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5D2CE-8444-484C-A840-E6275BBE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Predicates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02C5D-403F-2BFB-74CA-E16448F38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926C-4BDB-4890-8348-551B4FC02B54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E37A2-CB58-B1E6-BEF8-EA699DB7C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251D4-6B39-878A-E4B0-9FABEB00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58A5C0-1A86-8799-566D-7A61AED3D294}"/>
              </a:ext>
            </a:extLst>
          </p:cNvPr>
          <p:cNvSpPr txBox="1"/>
          <p:nvPr/>
        </p:nvSpPr>
        <p:spPr>
          <a:xfrm>
            <a:off x="457200" y="1821253"/>
            <a:ext cx="822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Predicates  enables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assert that a certain property holds for all objects of a certain type and/or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assert the existence of an object with a particular property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Relationship among objects.</a:t>
            </a:r>
          </a:p>
        </p:txBody>
      </p:sp>
    </p:spTree>
    <p:extLst>
      <p:ext uri="{BB962C8B-B14F-4D97-AF65-F5344CB8AC3E}">
        <p14:creationId xmlns:p14="http://schemas.microsoft.com/office/powerpoint/2010/main" val="31666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Examples of Predicates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6F751-0307-40A7-8064-64C4EBFBA097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66700" y="1768465"/>
                <a:ext cx="8610600" cy="1446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/>
                  <a:t>The animal x is a dog.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/>
                  <a:t>Let us consider the predicate (propositional function) </a:t>
                </a:r>
                <a:br>
                  <a:rPr lang="en-US" sz="2200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>
                        <a:latin typeface="Cambria Math" panose="02040503050406030204" pitchFamily="18" charset="0"/>
                      </a:rPr>
                      <m:t>Q</m:t>
                    </m:r>
                    <m:d>
                      <m:d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20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2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20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GB" sz="2200">
                        <a:latin typeface="Cambria Math" panose="02040503050406030204" pitchFamily="18" charset="0"/>
                      </a:rPr>
                      <m:t>∷=</m:t>
                    </m:r>
                    <m:r>
                      <a:rPr lang="en-GB" sz="22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/>
                  <a:t>Here, Q is the predicate and x, y, and z are the variables over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1768465"/>
                <a:ext cx="8610600" cy="1446550"/>
              </a:xfrm>
              <a:prstGeom prst="rect">
                <a:avLst/>
              </a:prstGeom>
              <a:blipFill>
                <a:blip r:embed="rId2"/>
                <a:stretch>
                  <a:fillRect l="-992" t="-3376" b="-8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066800" y="3186440"/>
            <a:ext cx="715337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65000"/>
              </a:spcBef>
              <a:defRPr/>
            </a:pPr>
            <a:r>
              <a:rPr lang="en-US" sz="2200" dirty="0"/>
              <a:t>What is the truth value of Q(2, 3, 5) ?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0316" y="4038600"/>
            <a:ext cx="713494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65000"/>
              </a:spcBef>
              <a:defRPr/>
            </a:pPr>
            <a:r>
              <a:rPr lang="en-US" sz="2200" dirty="0"/>
              <a:t>What is the truth value of Q(0, 1, 2)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42701"/>
            <a:ext cx="8077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A propositional function (predicate) becomes a proposition when all its variables are given values (instantiated).</a:t>
            </a:r>
          </a:p>
        </p:txBody>
      </p:sp>
    </p:spTree>
    <p:extLst>
      <p:ext uri="{BB962C8B-B14F-4D97-AF65-F5344CB8AC3E}">
        <p14:creationId xmlns:p14="http://schemas.microsoft.com/office/powerpoint/2010/main" val="133055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Truth set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C550-CAE1-4A5D-AB78-C0BAB5B467B4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4800" y="1582737"/>
            <a:ext cx="833311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/>
              <a:t>Let P(x) be a predicate over the domain of discourse U.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P(x) could be true for all elements of U,  for some elements of U, or for no elements of U.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The set of values in U for which P(x) is true is called the </a:t>
            </a:r>
            <a:r>
              <a:rPr lang="en-US" sz="2200" b="1" dirty="0"/>
              <a:t>truth set </a:t>
            </a:r>
            <a:r>
              <a:rPr lang="en-US" sz="2200" dirty="0"/>
              <a:t>of the predicate P(x).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28625" y="3367841"/>
                <a:ext cx="8534400" cy="30777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b="1" dirty="0"/>
                  <a:t>Examples: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Find the truth set of the unary predicate P(x) ::= x + 5 &gt; 10, where the domain of x is the set of positive integers(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200" dirty="0"/>
                  <a:t>).</a:t>
                </a:r>
              </a:p>
              <a:p>
                <a:r>
                  <a:rPr lang="en-US" sz="2200" dirty="0"/>
                  <a:t>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 </m:t>
                        </m:r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is</m:t>
                        </m:r>
                        <m:r>
                          <a:rPr lang="en-GB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true</m:t>
                        </m:r>
                      </m:e>
                    </m:d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GB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GB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&gt;5</m:t>
                        </m:r>
                      </m:e>
                    </m:d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Find the truth set of the predicate P(x)::=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00" dirty="0"/>
                  <a:t>, where the domain of x is the set of positive integers.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Find the truth set of the unary predicate P(x)::=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+2=0</m:t>
                    </m:r>
                  </m:oMath>
                </a14:m>
                <a:r>
                  <a:rPr lang="en-US" sz="2200" dirty="0"/>
                  <a:t>, where the domain of x is the set of real numbers.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+2=0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1, 2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5" y="3367841"/>
                <a:ext cx="8534400" cy="3077766"/>
              </a:xfrm>
              <a:prstGeom prst="rect">
                <a:avLst/>
              </a:prstGeom>
              <a:blipFill>
                <a:blip r:embed="rId2"/>
                <a:stretch>
                  <a:fillRect l="-929" t="-1188" b="-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67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Some Common Sets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F122-9EB2-4102-BA73-916F3D2E057A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7201" y="1795639"/>
                <a:ext cx="8229600" cy="4011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200" dirty="0"/>
                  <a:t> the set of all non-negative integers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0, 1, 2, 3,    . . .  ,       </m:t>
                        </m:r>
                      </m:e>
                    </m:d>
                  </m:oMath>
                </a14:m>
                <a:endParaRPr lang="en-US" sz="2200" dirty="0"/>
              </a:p>
              <a:p>
                <a:endParaRPr lang="en-US" sz="22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dirty="0"/>
                  <a:t> the set of all positive integers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3, 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4,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 . . .  ,       </m:t>
                        </m:r>
                      </m:e>
                    </m:d>
                  </m:oMath>
                </a14:m>
                <a:endParaRPr lang="en-US" sz="2200" dirty="0"/>
              </a:p>
              <a:p>
                <a:endParaRPr lang="en-US" sz="2200" dirty="0"/>
              </a:p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en-US" sz="2200" dirty="0"/>
                  <a:t>the set of all integers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  . . .  ,  −3, −2, −1,  0,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3, 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. . .  ,       </m:t>
                        </m:r>
                      </m:e>
                    </m:d>
                  </m:oMath>
                </a14:m>
                <a:endParaRPr lang="en-US" sz="2200" dirty="0"/>
              </a:p>
              <a:p>
                <a:endParaRPr lang="en-US" sz="2200" dirty="0"/>
              </a:p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en-US" sz="2200" dirty="0"/>
                  <a:t>the set of all rational numbers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 :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ℇ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ℇ</m:t>
                        </m:r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endParaRPr lang="en-US" sz="2200" dirty="0"/>
              </a:p>
              <a:p>
                <a:endParaRPr lang="en-US" sz="2200" dirty="0"/>
              </a:p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en-US" sz="2200" dirty="0"/>
                  <a:t>the set of all real numbers</a:t>
                </a:r>
              </a:p>
              <a:p>
                <a:endParaRPr lang="en-US" sz="2200" dirty="0"/>
              </a:p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en-US" sz="2200" dirty="0"/>
                  <a:t>the set of all complex numbers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𝑖𝑦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: 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ℇ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795639"/>
                <a:ext cx="8229600" cy="4011932"/>
              </a:xfrm>
              <a:prstGeom prst="rect">
                <a:avLst/>
              </a:prstGeom>
              <a:blipFill rotWithShape="0">
                <a:blip r:embed="rId2"/>
                <a:stretch>
                  <a:fillRect l="-74" t="-912" b="-2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01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Quantifiers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91E8-3AEC-43C0-ABA8-20D198249B44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1" y="1683603"/>
            <a:ext cx="8229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Quantiﬁcation expresses the extent to which a predicate is true over a range of elements. Using quantifiers  propositions can be created from propositional functions. </a:t>
            </a:r>
          </a:p>
        </p:txBody>
      </p:sp>
      <p:sp>
        <p:nvSpPr>
          <p:cNvPr id="8" name="Rectangle 7"/>
          <p:cNvSpPr/>
          <p:nvPr/>
        </p:nvSpPr>
        <p:spPr>
          <a:xfrm>
            <a:off x="485774" y="2699266"/>
            <a:ext cx="81032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In English, the words all, some, many, none, and few are used in quantiﬁcations.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50233" y="3309997"/>
                <a:ext cx="8255617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 </a:t>
                </a:r>
                <a:r>
                  <a:rPr lang="en-US" sz="2000" dirty="0"/>
                  <a:t>Two types of quantiﬁcation used frequently in logic: </a:t>
                </a:r>
              </a:p>
              <a:p>
                <a:pPr marL="457200" indent="-457200">
                  <a:buAutoNum type="arabicPeriod"/>
                </a:pPr>
                <a:r>
                  <a:rPr lang="en-US" sz="2000" b="1" dirty="0"/>
                  <a:t>Universal quantiﬁcation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</m:oMath>
                </a14:m>
                <a:r>
                  <a:rPr lang="en-US" sz="2000" dirty="0"/>
                  <a:t>): tells us that a predicate is true for every element </a:t>
                </a:r>
                <a:r>
                  <a:rPr lang="en-US" sz="2000" b="1" dirty="0"/>
                  <a:t>under consideration(domain)</a:t>
                </a:r>
                <a:r>
                  <a:rPr lang="en-US" sz="2000" dirty="0"/>
                  <a:t>, and</a:t>
                </a:r>
              </a:p>
              <a:p>
                <a:pPr marL="457200" indent="-457200">
                  <a:buAutoNum type="arabicPeriod"/>
                </a:pPr>
                <a:r>
                  <a:rPr lang="en-US" sz="2000" b="1" dirty="0"/>
                  <a:t>Existential quantiﬁcation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/>
                  <a:t>) : tells us that there is one or more element (at least one element) </a:t>
                </a:r>
                <a:r>
                  <a:rPr lang="en-US" sz="2000" b="1" dirty="0"/>
                  <a:t>under consideration </a:t>
                </a:r>
                <a:r>
                  <a:rPr lang="en-US" sz="2000" dirty="0"/>
                  <a:t>for which the predicate is true.</a:t>
                </a:r>
              </a:p>
              <a:p>
                <a:r>
                  <a:rPr lang="en-US" sz="2000" dirty="0"/>
                  <a:t>Specifying the domain is mandatory when quantifiers are used.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33" y="3309997"/>
                <a:ext cx="8255617" cy="2246769"/>
              </a:xfrm>
              <a:prstGeom prst="rect">
                <a:avLst/>
              </a:prstGeom>
              <a:blipFill>
                <a:blip r:embed="rId2"/>
                <a:stretch>
                  <a:fillRect l="-812" t="-1626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691375" y="5540514"/>
            <a:ext cx="814782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area of logic that deals with predicates and quantiﬁers is called the predicate calculus (predicate logic or first order logic).</a:t>
            </a:r>
          </a:p>
        </p:txBody>
      </p:sp>
    </p:spTree>
    <p:extLst>
      <p:ext uri="{BB962C8B-B14F-4D97-AF65-F5344CB8AC3E}">
        <p14:creationId xmlns:p14="http://schemas.microsoft.com/office/powerpoint/2010/main" val="101984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Universal Quantifier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CC14-C0A0-4477-8AAD-47E6C1243074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689080"/>
                <a:ext cx="8458200" cy="28007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Let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be a propositional function. The universal quantiﬁcation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is the statement “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is true for all values of x in the </a:t>
                </a:r>
                <a:r>
                  <a:rPr lang="en-US" sz="2000" b="1" dirty="0"/>
                  <a:t>domain</a:t>
                </a:r>
                <a:r>
                  <a:rPr lang="en-US" sz="2000" dirty="0"/>
                  <a:t>.”  </a:t>
                </a:r>
              </a:p>
              <a:p>
                <a:r>
                  <a:rPr lang="en-US" sz="2000" dirty="0"/>
                  <a:t>The notation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denotes the  universal quantiﬁcation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. </a:t>
                </a:r>
              </a:p>
              <a:p>
                <a:r>
                  <a:rPr lang="en-US" dirty="0"/>
                  <a:t>The domain must always be specified when quantifiers are used; without that, the universal quantification of a statement is not  properly defined.</a:t>
                </a:r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Here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called the universal quantiﬁer. </a:t>
                </a:r>
              </a:p>
              <a:p>
                <a:r>
                  <a:rPr lang="en-US" sz="2000" dirty="0"/>
                  <a:t>We read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as “for all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sz="2000" dirty="0"/>
                  <a:t>” or “for every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sz="2000" dirty="0"/>
                  <a:t>. ”</a:t>
                </a:r>
              </a:p>
              <a:p>
                <a:r>
                  <a:rPr lang="en-US" sz="2000" dirty="0"/>
                  <a:t>An element for which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false is called a counterexample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89080"/>
                <a:ext cx="8458200" cy="2800767"/>
              </a:xfrm>
              <a:prstGeom prst="rect">
                <a:avLst/>
              </a:prstGeom>
              <a:blipFill>
                <a:blip r:embed="rId2"/>
                <a:stretch>
                  <a:fillRect l="-720" t="-1087" r="-937" b="-2826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3580" y="4788068"/>
                <a:ext cx="8205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Examples:    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 is a True proposition.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80" y="4788068"/>
                <a:ext cx="8205439" cy="400110"/>
              </a:xfrm>
              <a:prstGeom prst="rect">
                <a:avLst/>
              </a:prstGeom>
              <a:blipFill>
                <a:blip r:embed="rId3"/>
                <a:stretch>
                  <a:fillRect l="-817" t="-7576" b="-25758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43001" y="5181207"/>
                <a:ext cx="730312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 is not a True proposition. (.2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     =.04 &gt; .2 is False)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1" y="5181207"/>
                <a:ext cx="7303120" cy="307777"/>
              </a:xfrm>
              <a:prstGeom prst="rect">
                <a:avLst/>
              </a:prstGeom>
              <a:blipFill>
                <a:blip r:embed="rId4"/>
                <a:stretch>
                  <a:fillRect l="-1169" t="-26000" b="-50000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90601" y="5712023"/>
                <a:ext cx="678179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However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 is  a True proposition.   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1" y="5712023"/>
                <a:ext cx="6781799" cy="307777"/>
              </a:xfrm>
              <a:prstGeom prst="rect">
                <a:avLst/>
              </a:prstGeom>
              <a:blipFill>
                <a:blip r:embed="rId5"/>
                <a:stretch>
                  <a:fillRect l="-1349" t="-25490" b="-49020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61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Existential Quantifier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92EB-4EF7-40D1-B9F0-F52105EDC431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28600" y="1668889"/>
                <a:ext cx="8458200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Let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be a propositional function. The existential quantiﬁcation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is the proposition “ there exists an element in the domain such 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(is true).”  </a:t>
                </a:r>
              </a:p>
              <a:p>
                <a:r>
                  <a:rPr lang="en-US" dirty="0"/>
                  <a:t>The domains specify  possible values of variables in the predicate.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 notation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denotes the  existential quantiﬁcation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. </a:t>
                </a:r>
              </a:p>
              <a:p>
                <a:r>
                  <a:rPr lang="en-US" sz="2000" dirty="0"/>
                  <a:t>Here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called the </a:t>
                </a:r>
                <a:r>
                  <a:rPr lang="en-US" sz="2000" b="1" dirty="0"/>
                  <a:t>existential quantiﬁer</a:t>
                </a:r>
                <a:r>
                  <a:rPr lang="en-US" sz="2000" dirty="0"/>
                  <a:t>.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We read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as “there exists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(is true)” or “for some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 ( Is true)”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668889"/>
                <a:ext cx="8458200" cy="3139321"/>
              </a:xfrm>
              <a:prstGeom prst="rect">
                <a:avLst/>
              </a:prstGeom>
              <a:blipFill>
                <a:blip r:embed="rId2"/>
                <a:stretch>
                  <a:fillRect l="-793" t="-1165" b="-2524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28600" y="4734492"/>
                <a:ext cx="84582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 proposition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false if and only if there is no element </a:t>
                </a:r>
                <a:r>
                  <a:rPr lang="en-US" sz="2000" i="1" dirty="0"/>
                  <a:t>x</a:t>
                </a:r>
                <a:r>
                  <a:rPr lang="en-US" sz="2000" dirty="0"/>
                  <a:t> in the domain for which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is true. 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734492"/>
                <a:ext cx="8458200" cy="707886"/>
              </a:xfrm>
              <a:prstGeom prst="rect">
                <a:avLst/>
              </a:prstGeom>
              <a:blipFill>
                <a:blip r:embed="rId3"/>
                <a:stretch>
                  <a:fillRect l="-793" t="-5172" b="-14655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80999" y="5390853"/>
                <a:ext cx="73611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Examples: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en-US" sz="2000" dirty="0"/>
                  <a:t>   is a True proposition.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5390853"/>
                <a:ext cx="7361106" cy="400110"/>
              </a:xfrm>
              <a:prstGeom prst="rect">
                <a:avLst/>
              </a:prstGeom>
              <a:blipFill>
                <a:blip r:embed="rId4"/>
                <a:stretch>
                  <a:fillRect l="-828" t="-7576" b="-25758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87157" y="5934670"/>
                <a:ext cx="49487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000" dirty="0"/>
                  <a:t>  is not a True proposition</a:t>
                </a:r>
                <a:r>
                  <a:rPr lang="en-US" sz="2400" dirty="0"/>
                  <a:t>.  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157" y="5934670"/>
                <a:ext cx="4948791" cy="369332"/>
              </a:xfrm>
              <a:prstGeom prst="rect">
                <a:avLst/>
              </a:prstGeom>
              <a:blipFill>
                <a:blip r:embed="rId5"/>
                <a:stretch>
                  <a:fillRect l="-1601" t="-26667" b="-50000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97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E0420-77E4-27AA-59ED-A1F42AECC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C081-1AEF-FD73-944A-18E01142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Existential Quantifier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B3022-1C4A-7CC5-B7AC-2AAAF301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92EB-4EF7-40D1-B9F0-F52105EDC431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467C1-AA12-B935-2F77-1E704FD5D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DB506-1CAE-0198-F55F-F857C95E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E157E-B75D-4919-E670-D19367B4616E}"/>
              </a:ext>
            </a:extLst>
          </p:cNvPr>
          <p:cNvSpPr/>
          <p:nvPr/>
        </p:nvSpPr>
        <p:spPr>
          <a:xfrm>
            <a:off x="228600" y="1794808"/>
            <a:ext cx="845820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meaning of ∃</a:t>
            </a:r>
            <a:r>
              <a:rPr lang="en-US" i="1" dirty="0" err="1"/>
              <a:t>xP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changes when the domain changes. Without specifying the domain, the statement ∃</a:t>
            </a:r>
            <a:r>
              <a:rPr lang="en-US" i="1" dirty="0" err="1"/>
              <a:t>xP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has no meaning.</a:t>
            </a:r>
          </a:p>
          <a:p>
            <a:endParaRPr lang="en-US" sz="2000" dirty="0"/>
          </a:p>
          <a:p>
            <a:r>
              <a:rPr lang="en-US" sz="2000" dirty="0"/>
              <a:t>Example:</a:t>
            </a:r>
          </a:p>
          <a:p>
            <a:endParaRPr lang="en-US" sz="2000" dirty="0"/>
          </a:p>
          <a:p>
            <a:r>
              <a:rPr lang="en-US" sz="2000" dirty="0"/>
              <a:t>    x</a:t>
            </a:r>
            <a:r>
              <a:rPr lang="en-US" sz="2000" baseline="30000" dirty="0"/>
              <a:t>2</a:t>
            </a:r>
            <a:r>
              <a:rPr lang="en-US" sz="2000" dirty="0"/>
              <a:t> &gt;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30BCD8-5D0C-0A9D-E02D-6B7D6D5B8F3A}"/>
                  </a:ext>
                </a:extLst>
              </p:cNvPr>
              <p:cNvSpPr txBox="1"/>
              <p:nvPr/>
            </p:nvSpPr>
            <p:spPr>
              <a:xfrm>
                <a:off x="342900" y="3686890"/>
                <a:ext cx="8458200" cy="24929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𝑇h𝑖𝑠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𝑤h𝑒𝑛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𝑖𝑛𝑡𝑒𝑔𝑒𝑟𝑠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𝑏𝑢𝑡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𝑓𝑎𝑙𝑠𝑒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𝑤h𝑒𝑛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𝑖𝑠</m:t>
                      </m:r>
                    </m:oMath>
                  </m:oMathPara>
                </a14:m>
                <a:endParaRPr lang="en-US" sz="2400" b="0" dirty="0"/>
              </a:p>
              <a:p>
                <a:r>
                  <a:rPr lang="en-US" sz="2400" dirty="0"/>
                  <a:t>a real numbers (x = 0.2)</a:t>
                </a:r>
              </a:p>
              <a:p>
                <a:endParaRPr lang="en-US" sz="2400" dirty="0"/>
              </a:p>
              <a:p>
                <a:r>
                  <a:rPr lang="en-US" dirty="0"/>
                  <a:t>The existential quantifier may be stated as “for some,” “for at least one,” or “there is.”</a:t>
                </a:r>
              </a:p>
              <a:p>
                <a:endParaRPr lang="en-US" dirty="0"/>
              </a:p>
              <a:p>
                <a:r>
                  <a:rPr lang="en-US" dirty="0"/>
                  <a:t>If the domain is empty, then ∃</a:t>
                </a:r>
                <a:r>
                  <a:rPr lang="en-US" i="1" dirty="0" err="1"/>
                  <a:t>xQ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is false whenever </a:t>
                </a:r>
                <a:r>
                  <a:rPr lang="en-US" i="1" dirty="0"/>
                  <a:t>Q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is a propositional function because when the domain is empty, there can be no element </a:t>
                </a:r>
                <a:r>
                  <a:rPr lang="en-US" i="1" dirty="0"/>
                  <a:t>x </a:t>
                </a:r>
                <a:r>
                  <a:rPr lang="en-US" dirty="0"/>
                  <a:t>in the domain for which</a:t>
                </a:r>
              </a:p>
              <a:p>
                <a:r>
                  <a:rPr lang="en-US" i="1" dirty="0"/>
                  <a:t>Q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 is true.</a:t>
                </a:r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30BCD8-5D0C-0A9D-E02D-6B7D6D5B8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3686890"/>
                <a:ext cx="8458200" cy="2492990"/>
              </a:xfrm>
              <a:prstGeom prst="rect">
                <a:avLst/>
              </a:prstGeom>
              <a:blipFill>
                <a:blip r:embed="rId2"/>
                <a:stretch>
                  <a:fillRect l="-2161" b="-4645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34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E728C-E9CD-1569-B96B-B8253864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C670B-3AEC-8303-0C00-59E7BE68C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Existential Quantifier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AE459-F14E-BAEF-DB06-4B14ADF2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92EB-4EF7-40D1-B9F0-F52105EDC431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0F367-D502-B65D-CB4E-6CA6875F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0B999-4D7F-24D6-B45C-2385AADE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E87474-5451-81E6-F094-38DFD50AE222}"/>
              </a:ext>
            </a:extLst>
          </p:cNvPr>
          <p:cNvSpPr/>
          <p:nvPr/>
        </p:nvSpPr>
        <p:spPr>
          <a:xfrm>
            <a:off x="228600" y="1794808"/>
            <a:ext cx="84582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∃</a:t>
            </a:r>
            <a:r>
              <a:rPr lang="en-US" sz="2000" i="1" dirty="0" err="1"/>
              <a:t>xP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  can be  read as</a:t>
            </a:r>
          </a:p>
          <a:p>
            <a:endParaRPr lang="en-US" sz="2000" dirty="0"/>
          </a:p>
          <a:p>
            <a:r>
              <a:rPr lang="en-US" sz="2000" dirty="0"/>
              <a:t>“There is an </a:t>
            </a:r>
            <a:r>
              <a:rPr lang="en-US" sz="2000" i="1" dirty="0"/>
              <a:t>x (in the domain) </a:t>
            </a:r>
            <a:r>
              <a:rPr lang="en-US" sz="2000" dirty="0"/>
              <a:t>such that </a:t>
            </a:r>
            <a:r>
              <a:rPr lang="en-US" sz="2000" i="1" dirty="0"/>
              <a:t>P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 (is true)”</a:t>
            </a:r>
          </a:p>
          <a:p>
            <a:r>
              <a:rPr lang="en-US" sz="2000" dirty="0"/>
              <a:t>“There is at least one </a:t>
            </a:r>
            <a:r>
              <a:rPr lang="en-US" sz="2000" i="1" dirty="0"/>
              <a:t>x (in the domain) </a:t>
            </a:r>
            <a:r>
              <a:rPr lang="en-US" sz="2000" dirty="0"/>
              <a:t>such that </a:t>
            </a:r>
            <a:r>
              <a:rPr lang="en-US" sz="2000" i="1" dirty="0"/>
              <a:t>P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 (true)”</a:t>
            </a:r>
          </a:p>
          <a:p>
            <a:r>
              <a:rPr lang="en-US" dirty="0"/>
              <a:t>“For some </a:t>
            </a:r>
            <a:r>
              <a:rPr lang="en-US" i="1" dirty="0"/>
              <a:t>x P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).”</a:t>
            </a:r>
          </a:p>
          <a:p>
            <a:endParaRPr lang="en-US" sz="2000" dirty="0"/>
          </a:p>
          <a:p>
            <a:r>
              <a:rPr lang="en-US" dirty="0"/>
              <a:t>If the domain is empty, then ∃</a:t>
            </a:r>
            <a:r>
              <a:rPr lang="en-US" i="1" dirty="0" err="1"/>
              <a:t>xQ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is false whenever </a:t>
            </a:r>
            <a:r>
              <a:rPr lang="en-US" i="1" dirty="0"/>
              <a:t>Q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is a propositional function because when the domain is empty, there can be no element </a:t>
            </a:r>
            <a:r>
              <a:rPr lang="en-US" i="1" dirty="0"/>
              <a:t>x </a:t>
            </a:r>
            <a:r>
              <a:rPr lang="en-US" dirty="0"/>
              <a:t>in the domain for which </a:t>
            </a:r>
            <a:r>
              <a:rPr lang="en-US" i="1" dirty="0"/>
              <a:t>Q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is true.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8164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Meaning of the universal and Existential Quantifiers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E8F-85D2-4F9E-9BD9-AC74A5F3BA5E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784902"/>
                  </p:ext>
                </p:extLst>
              </p:nvPr>
            </p:nvGraphicFramePr>
            <p:xfrm>
              <a:off x="228600" y="2880360"/>
              <a:ext cx="8763000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33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81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 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There is an </a:t>
                          </a:r>
                          <a:r>
                            <a:rPr lang="en-GB" sz="1800" b="0" i="1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 </a:t>
                          </a:r>
                          <a:r>
                            <a:rPr lang="en-GB" sz="18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for which </a:t>
                          </a:r>
                          <a:r>
                            <a:rPr lang="en-GB" sz="1800" b="0" i="1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P(x) </a:t>
                          </a:r>
                          <a:r>
                            <a:rPr lang="en-GB" sz="18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is true.</a:t>
                          </a:r>
                          <a:endParaRPr lang="en-GB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i="1" u="none" strike="noStrike" baseline="0" dirty="0">
                              <a:solidFill>
                                <a:schemeClr val="tx1"/>
                              </a:solidFill>
                              <a:latin typeface="MTMI"/>
                            </a:rPr>
                            <a:t>P(x) </a:t>
                          </a:r>
                          <a:r>
                            <a:rPr lang="en-GB" sz="1800" b="0" i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rPr>
                            <a:t>is false for every </a:t>
                          </a:r>
                          <a:r>
                            <a:rPr lang="en-GB" sz="1800" b="0" i="1" u="none" strike="noStrike" baseline="0" dirty="0">
                              <a:solidFill>
                                <a:schemeClr val="tx1"/>
                              </a:solidFill>
                              <a:latin typeface="MTMI"/>
                            </a:rPr>
                            <a:t>x.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784902"/>
                  </p:ext>
                </p:extLst>
              </p:nvPr>
            </p:nvGraphicFramePr>
            <p:xfrm>
              <a:off x="228600" y="2880360"/>
              <a:ext cx="8763000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/>
                    <a:gridCol w="3733800"/>
                    <a:gridCol w="35814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420" t="-7576" r="-506303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There is an </a:t>
                          </a:r>
                          <a:r>
                            <a:rPr lang="en-GB" sz="1800" b="0" i="1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 </a:t>
                          </a:r>
                          <a:r>
                            <a:rPr lang="en-GB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for which </a:t>
                          </a:r>
                          <a:r>
                            <a:rPr lang="en-GB" sz="1800" b="0" i="1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P(x) </a:t>
                          </a:r>
                          <a:r>
                            <a:rPr lang="en-GB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is true.</a:t>
                          </a:r>
                          <a:endParaRPr lang="en-GB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i="1" u="none" strike="noStrike" baseline="0" dirty="0" smtClean="0">
                              <a:solidFill>
                                <a:schemeClr val="tx1"/>
                              </a:solidFill>
                              <a:latin typeface="MTMI"/>
                            </a:rPr>
                            <a:t>P(x) </a:t>
                          </a:r>
                          <a:r>
                            <a:rPr lang="en-GB" sz="1800" b="0" i="0" u="none" strike="noStrike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rPr>
                            <a:t>is false for every </a:t>
                          </a:r>
                          <a:r>
                            <a:rPr lang="en-GB" sz="1800" b="0" i="1" u="none" strike="noStrike" baseline="0" dirty="0" smtClean="0">
                              <a:solidFill>
                                <a:schemeClr val="tx1"/>
                              </a:solidFill>
                              <a:latin typeface="MTMI"/>
                            </a:rPr>
                            <a:t>x.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28600" y="3581400"/>
                <a:ext cx="8686800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b="1" dirty="0"/>
                  <a:t>Exercise:</a:t>
                </a:r>
                <a:r>
                  <a:rPr lang="en-GB" sz="2000" dirty="0"/>
                  <a:t> Determine the truth value of each of these statements if the domain consists of all integers.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+1&gt;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;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(2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;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GB" sz="2000" dirty="0"/>
                  <a:t> and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≤4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581400"/>
                <a:ext cx="8686800" cy="1938992"/>
              </a:xfrm>
              <a:prstGeom prst="rect">
                <a:avLst/>
              </a:prstGeom>
              <a:blipFill rotWithShape="0">
                <a:blip r:embed="rId3"/>
                <a:stretch>
                  <a:fillRect l="-772" t="-1572" b="-40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3309684"/>
                  </p:ext>
                </p:extLst>
              </p:nvPr>
            </p:nvGraphicFramePr>
            <p:xfrm>
              <a:off x="228600" y="2034509"/>
              <a:ext cx="8763000" cy="828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33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81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400" b="1" i="1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rPr>
                            <a:t>Statement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n-GB" sz="2400" b="1" i="1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+mn-cs"/>
                            </a:rPr>
                            <a:t>When True?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n-GB" sz="2400" b="1" i="1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+mn-cs"/>
                            </a:rPr>
                            <a:t>When False?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i="1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P(x) </a:t>
                          </a:r>
                          <a:r>
                            <a:rPr lang="en-GB" sz="18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is true for every </a:t>
                          </a:r>
                          <a:r>
                            <a:rPr lang="en-GB" sz="1800" b="0" i="1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r>
                            <a:rPr lang="en-GB" sz="18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i="0" u="none" strike="noStrike" baseline="0" dirty="0">
                              <a:latin typeface="Times New Roman" panose="02020603050405020304" pitchFamily="18" charset="0"/>
                            </a:rPr>
                            <a:t>There is an </a:t>
                          </a:r>
                          <a:r>
                            <a:rPr lang="en-GB" sz="1800" b="0" i="1" u="none" strike="noStrike" baseline="0" dirty="0">
                              <a:latin typeface="MTMI"/>
                            </a:rPr>
                            <a:t>x </a:t>
                          </a:r>
                          <a:r>
                            <a:rPr lang="en-GB" sz="1800" b="0" i="0" u="none" strike="noStrike" baseline="0" dirty="0">
                              <a:latin typeface="Times New Roman" panose="02020603050405020304" pitchFamily="18" charset="0"/>
                            </a:rPr>
                            <a:t>for which </a:t>
                          </a:r>
                          <a:r>
                            <a:rPr lang="en-GB" sz="1800" b="0" i="1" u="none" strike="noStrike" baseline="0" dirty="0">
                              <a:latin typeface="MTMI"/>
                            </a:rPr>
                            <a:t>P(x) </a:t>
                          </a:r>
                          <a:r>
                            <a:rPr lang="en-GB" sz="1800" b="0" i="0" u="none" strike="noStrike" baseline="0" dirty="0">
                              <a:latin typeface="Times New Roman" panose="02020603050405020304" pitchFamily="18" charset="0"/>
                            </a:rPr>
                            <a:t>is false.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3309684"/>
                  </p:ext>
                </p:extLst>
              </p:nvPr>
            </p:nvGraphicFramePr>
            <p:xfrm>
              <a:off x="228600" y="2034509"/>
              <a:ext cx="8763000" cy="828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/>
                    <a:gridCol w="3733800"/>
                    <a:gridCol w="3581400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sz="2400" b="1" i="1" u="none" strike="noStrike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rPr>
                            <a:t>Statement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n-GB" sz="2400" b="1" i="1" u="none" strike="noStrike" kern="120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+mn-cs"/>
                            </a:rPr>
                            <a:t>When True?</a:t>
                          </a:r>
                          <a:endParaRPr lang="en-GB" sz="2400" b="1" i="1" u="none" strike="noStrike" kern="1200" baseline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n-GB" sz="2400" b="1" i="1" u="none" strike="noStrike" kern="120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+mn-cs"/>
                            </a:rPr>
                            <a:t>When False?</a:t>
                          </a:r>
                          <a:endParaRPr lang="en-GB" sz="2400" b="1" i="1" u="none" strike="noStrike" kern="1200" baseline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20" t="-136066" r="-50630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i="1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P(x) </a:t>
                          </a:r>
                          <a:r>
                            <a:rPr lang="en-GB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is true for every </a:t>
                          </a:r>
                          <a:r>
                            <a:rPr lang="en-GB" sz="1800" b="0" i="1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r>
                            <a:rPr lang="en-GB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i="0" u="none" strike="noStrike" baseline="0" dirty="0" smtClean="0">
                              <a:latin typeface="Times New Roman" panose="02020603050405020304" pitchFamily="18" charset="0"/>
                            </a:rPr>
                            <a:t>There is an </a:t>
                          </a:r>
                          <a:r>
                            <a:rPr lang="en-GB" sz="1800" b="0" i="1" u="none" strike="noStrike" baseline="0" dirty="0" smtClean="0">
                              <a:latin typeface="MTMI"/>
                            </a:rPr>
                            <a:t>x </a:t>
                          </a:r>
                          <a:r>
                            <a:rPr lang="en-GB" sz="1800" b="0" i="0" u="none" strike="noStrike" baseline="0" dirty="0" smtClean="0">
                              <a:latin typeface="Times New Roman" panose="02020603050405020304" pitchFamily="18" charset="0"/>
                            </a:rPr>
                            <a:t>for which </a:t>
                          </a:r>
                          <a:r>
                            <a:rPr lang="en-GB" sz="1800" b="0" i="1" u="none" strike="noStrike" baseline="0" dirty="0" smtClean="0">
                              <a:latin typeface="MTMI"/>
                            </a:rPr>
                            <a:t>P(x) </a:t>
                          </a:r>
                          <a:r>
                            <a:rPr lang="en-GB" sz="1800" b="0" i="0" u="none" strike="noStrike" baseline="0" dirty="0" smtClean="0">
                              <a:latin typeface="Times New Roman" panose="02020603050405020304" pitchFamily="18" charset="0"/>
                            </a:rPr>
                            <a:t>is false.</a:t>
                          </a:r>
                          <a:endParaRPr lang="en-GB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6613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1F290-7335-9184-E9FE-3E17F729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si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953E1-ED79-0AE6-DF05-70884FB81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STIXGeneral-Regular"/>
              </a:rPr>
              <a:t>Let </a:t>
            </a:r>
            <a:r>
              <a:rPr lang="en-US" sz="1800" b="0" i="1" u="none" strike="noStrike" baseline="0" dirty="0">
                <a:latin typeface="STIXGeneral-Italic"/>
              </a:rPr>
              <a:t>P</a:t>
            </a:r>
            <a:r>
              <a:rPr lang="en-US" sz="1800" b="0" i="0" u="none" strike="noStrike" baseline="0" dirty="0">
                <a:latin typeface="STIXGeneral-Regular"/>
              </a:rPr>
              <a:t>(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) be the statement “</a:t>
            </a:r>
            <a:r>
              <a:rPr lang="en-US" sz="1800" b="0" i="1" u="none" strike="noStrike" baseline="0" dirty="0">
                <a:latin typeface="STIXGeneral-Italic"/>
              </a:rPr>
              <a:t>x </a:t>
            </a:r>
            <a:r>
              <a:rPr lang="en-US" sz="1800" b="0" i="0" u="none" strike="noStrike" baseline="0" dirty="0">
                <a:latin typeface="STIXMath-Regular"/>
              </a:rPr>
              <a:t>+ </a:t>
            </a:r>
            <a:r>
              <a:rPr lang="en-US" sz="1800" b="0" i="0" u="none" strike="noStrike" baseline="0" dirty="0">
                <a:latin typeface="STIXGeneral-Regular"/>
              </a:rPr>
              <a:t>1 </a:t>
            </a:r>
            <a:r>
              <a:rPr lang="en-US" sz="1800" b="0" i="1" u="none" strike="noStrike" baseline="0" dirty="0">
                <a:latin typeface="STIXMath-Italic"/>
              </a:rPr>
              <a:t>&gt; 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.” What is the truth value of the quantification </a:t>
            </a:r>
            <a:r>
              <a:rPr lang="en-US" sz="1800" b="0" i="0" u="none" strike="noStrike" baseline="0" dirty="0">
                <a:latin typeface="STIXMath-Regular"/>
              </a:rPr>
              <a:t>∀</a:t>
            </a:r>
            <a:r>
              <a:rPr lang="en-US" sz="1800" b="0" i="1" u="none" strike="noStrike" baseline="0" dirty="0" err="1">
                <a:latin typeface="STIXGeneral-Italic"/>
              </a:rPr>
              <a:t>xP</a:t>
            </a:r>
            <a:r>
              <a:rPr lang="en-US" sz="1800" b="0" i="0" u="none" strike="noStrike" baseline="0" dirty="0">
                <a:latin typeface="STIXGeneral-Regular"/>
              </a:rPr>
              <a:t>(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), where the domain consists of all real numbers?</a:t>
            </a:r>
          </a:p>
          <a:p>
            <a:pPr marL="0" indent="0" algn="l">
              <a:buNone/>
            </a:pPr>
            <a:endParaRPr lang="en-US" sz="1800" dirty="0">
              <a:latin typeface="STIXGeneral-Regular"/>
            </a:endParaRP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STIXGeneral-Regular"/>
              </a:rPr>
              <a:t>Because </a:t>
            </a:r>
            <a:r>
              <a:rPr lang="en-US" sz="1800" b="0" i="1" u="none" strike="noStrike" baseline="0" dirty="0">
                <a:latin typeface="STIXGeneral-Italic"/>
              </a:rPr>
              <a:t>P</a:t>
            </a:r>
            <a:r>
              <a:rPr lang="en-US" sz="1800" b="0" i="0" u="none" strike="noStrike" baseline="0" dirty="0">
                <a:latin typeface="STIXGeneral-Regular"/>
              </a:rPr>
              <a:t>(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) is true for all real numbers 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, the quantification </a:t>
            </a:r>
            <a:r>
              <a:rPr lang="en-US" sz="1800" b="0" i="0" u="none" strike="noStrike" baseline="0" dirty="0">
                <a:latin typeface="STIXMath-Regular"/>
              </a:rPr>
              <a:t>∀</a:t>
            </a:r>
            <a:r>
              <a:rPr lang="en-US" sz="1800" b="0" i="1" u="none" strike="noStrike" baseline="0" dirty="0">
                <a:latin typeface="STIXGeneral-Italic"/>
              </a:rPr>
              <a:t>x P</a:t>
            </a:r>
            <a:r>
              <a:rPr lang="en-US" sz="1800" b="0" i="0" u="none" strike="noStrike" baseline="0" dirty="0">
                <a:latin typeface="STIXGeneral-Regular"/>
              </a:rPr>
              <a:t>(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) is true</a:t>
            </a:r>
          </a:p>
          <a:p>
            <a:pPr marL="0" indent="0" algn="l">
              <a:buNone/>
            </a:pPr>
            <a:endParaRPr lang="en-US" sz="1800" b="0" i="0" u="none" strike="noStrike" baseline="0" dirty="0">
              <a:latin typeface="STIXGeneral-Regular"/>
            </a:endParaRPr>
          </a:p>
          <a:p>
            <a:pPr algn="l"/>
            <a:r>
              <a:rPr lang="en-US" sz="1800" b="0" i="0" u="none" strike="noStrike" baseline="0" dirty="0">
                <a:latin typeface="STIXGeneral-Regular"/>
              </a:rPr>
              <a:t>Generally, an implicit assumption is made that all domains of discourse for quantifiers are nonempty. Note that if the domain is empty, then </a:t>
            </a:r>
            <a:r>
              <a:rPr lang="en-US" sz="1800" b="0" i="0" u="none" strike="noStrike" baseline="0" dirty="0">
                <a:latin typeface="STIXMath-Regular"/>
              </a:rPr>
              <a:t>∀</a:t>
            </a:r>
            <a:r>
              <a:rPr lang="en-US" sz="1800" b="0" i="1" u="none" strike="noStrike" baseline="0" dirty="0" err="1">
                <a:latin typeface="STIXGeneral-Italic"/>
              </a:rPr>
              <a:t>xP</a:t>
            </a:r>
            <a:r>
              <a:rPr lang="en-US" sz="1800" b="0" i="0" u="none" strike="noStrike" baseline="0" dirty="0">
                <a:latin typeface="STIXGeneral-Regular"/>
              </a:rPr>
              <a:t>(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) is true for any propositional function </a:t>
            </a:r>
            <a:r>
              <a:rPr lang="en-US" sz="1800" b="0" i="1" u="none" strike="noStrike" baseline="0" dirty="0">
                <a:latin typeface="STIXGeneral-Italic"/>
              </a:rPr>
              <a:t>P</a:t>
            </a:r>
            <a:r>
              <a:rPr lang="en-US" sz="1800" b="0" i="0" u="none" strike="noStrike" baseline="0" dirty="0">
                <a:latin typeface="STIXGeneral-Regular"/>
              </a:rPr>
              <a:t>(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) because there are no elements </a:t>
            </a:r>
            <a:r>
              <a:rPr lang="en-US" sz="1800" b="0" i="1" u="none" strike="noStrike" baseline="0" dirty="0">
                <a:latin typeface="STIXGeneral-Italic"/>
              </a:rPr>
              <a:t>x </a:t>
            </a:r>
            <a:r>
              <a:rPr lang="en-US" sz="1800" b="0" i="0" u="none" strike="noStrike" baseline="0" dirty="0">
                <a:latin typeface="STIXGeneral-Regular"/>
              </a:rPr>
              <a:t>in the domain for which </a:t>
            </a:r>
            <a:r>
              <a:rPr lang="en-US" sz="1800" b="0" i="1" u="none" strike="noStrike" baseline="0" dirty="0">
                <a:latin typeface="STIXGeneral-Italic"/>
              </a:rPr>
              <a:t>P</a:t>
            </a:r>
            <a:r>
              <a:rPr lang="en-US" sz="1800" b="0" i="0" u="none" strike="noStrike" baseline="0" dirty="0">
                <a:latin typeface="STIXGeneral-Regular"/>
              </a:rPr>
              <a:t>(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) is false.</a:t>
            </a:r>
          </a:p>
          <a:p>
            <a:pPr algn="l"/>
            <a:endParaRPr lang="en-US" sz="1800" b="0" i="0" u="none" strike="noStrike" baseline="0" dirty="0">
              <a:latin typeface="STIXGeneral-Regular"/>
            </a:endParaRPr>
          </a:p>
          <a:p>
            <a:pPr algn="l"/>
            <a:r>
              <a:rPr lang="en-US" sz="1800" b="0" i="0" u="none" strike="noStrike" baseline="0" dirty="0">
                <a:latin typeface="STIXGeneral-Regular"/>
              </a:rPr>
              <a:t>universal quantification can be expressed in many other ways such as  “all of,” “for each,” “given any,” “for arbitrary,” “for each,” and “for any”.</a:t>
            </a:r>
            <a:endParaRPr lang="si-L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579A1-3DDE-D947-A39A-C6C4A83D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6AA81-06CF-44D7-9202-6D3A8D40DF67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58899-BB84-1CB2-AA4A-176D83189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76775-DEEF-968F-C1BF-0214B5DA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16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7D20E-B403-A44E-E779-8073A11A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si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E48E0-1F6B-75AC-FB06-5EFC0CF39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STIXGeneral-Regular"/>
              </a:rPr>
              <a:t>Suppose that </a:t>
            </a:r>
            <a:r>
              <a:rPr lang="en-US" sz="1800" b="0" i="1" u="none" strike="noStrike" baseline="0" dirty="0">
                <a:latin typeface="STIXGeneral-Italic"/>
              </a:rPr>
              <a:t>P</a:t>
            </a:r>
            <a:r>
              <a:rPr lang="en-US" sz="1800" b="0" i="0" u="none" strike="noStrike" baseline="0" dirty="0">
                <a:latin typeface="STIXGeneral-Regular"/>
              </a:rPr>
              <a:t>(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) is “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30000" dirty="0">
                <a:latin typeface="STIXGeneral-Regular"/>
              </a:rPr>
              <a:t>2</a:t>
            </a:r>
            <a:r>
              <a:rPr lang="en-US" sz="1800" b="0" i="0" u="none" strike="noStrike" baseline="0" dirty="0">
                <a:latin typeface="STIXGeneral-Regular"/>
              </a:rPr>
              <a:t> </a:t>
            </a:r>
            <a:r>
              <a:rPr lang="en-US" sz="1800" b="0" i="1" u="none" strike="noStrike" baseline="0" dirty="0">
                <a:latin typeface="STIXMath-Italic"/>
              </a:rPr>
              <a:t>&gt; </a:t>
            </a:r>
            <a:r>
              <a:rPr lang="en-US" sz="1800" b="0" i="0" u="none" strike="noStrike" baseline="0" dirty="0">
                <a:latin typeface="STIXGeneral-Regular"/>
              </a:rPr>
              <a:t>0.” . Show that the statement </a:t>
            </a:r>
            <a:r>
              <a:rPr lang="en-US" sz="1800" b="0" i="0" u="none" strike="noStrike" baseline="0" dirty="0">
                <a:latin typeface="STIXMath-Regular"/>
              </a:rPr>
              <a:t>∀</a:t>
            </a:r>
            <a:r>
              <a:rPr lang="en-US" sz="1800" b="0" i="1" u="none" strike="noStrike" baseline="0" dirty="0" err="1">
                <a:latin typeface="STIXGeneral-Italic"/>
              </a:rPr>
              <a:t>xP</a:t>
            </a:r>
            <a:r>
              <a:rPr lang="en-US" sz="1800" b="0" i="0" u="none" strike="noStrike" baseline="0" dirty="0">
                <a:latin typeface="STIXGeneral-Regular"/>
              </a:rPr>
              <a:t>(</a:t>
            </a:r>
            <a:r>
              <a:rPr lang="en-US" sz="1800" b="0" i="1" u="none" strike="noStrike" baseline="0" dirty="0">
                <a:latin typeface="STIXGeneral-Italic"/>
              </a:rPr>
              <a:t>x</a:t>
            </a:r>
            <a:r>
              <a:rPr lang="en-US" sz="1800" b="0" i="0" u="none" strike="noStrike" baseline="0" dirty="0">
                <a:latin typeface="STIXGeneral-Regular"/>
              </a:rPr>
              <a:t>) is false where the universe of discourse consists of all integers.</a:t>
            </a:r>
          </a:p>
          <a:p>
            <a:pPr algn="l"/>
            <a:endParaRPr lang="en-US" sz="1800" dirty="0">
              <a:latin typeface="STIXGeneral-Regular"/>
            </a:endParaRPr>
          </a:p>
          <a:p>
            <a:pPr marL="0" indent="0" algn="l">
              <a:buNone/>
            </a:pPr>
            <a:r>
              <a:rPr lang="en-US" sz="1800" dirty="0">
                <a:latin typeface="STIXGeneral-Regular"/>
              </a:rPr>
              <a:t>Giving the c</a:t>
            </a:r>
            <a:r>
              <a:rPr lang="en-US" sz="1800" b="0" i="0" u="none" strike="noStrike" baseline="0" dirty="0">
                <a:latin typeface="STIXGeneral-Regular"/>
              </a:rPr>
              <a:t>ounter example </a:t>
            </a:r>
            <a:r>
              <a:rPr lang="en-US" sz="1800" dirty="0">
                <a:latin typeface="STIXGeneral-Regular"/>
              </a:rPr>
              <a:t>example </a:t>
            </a:r>
            <a:r>
              <a:rPr lang="en-US" sz="1800" b="0" i="1" u="none" strike="noStrike" baseline="0" dirty="0">
                <a:latin typeface="STIXGeneral-Italic"/>
              </a:rPr>
              <a:t>x </a:t>
            </a:r>
            <a:r>
              <a:rPr lang="en-US" sz="1800" b="0" i="0" u="none" strike="noStrike" baseline="0" dirty="0">
                <a:latin typeface="STIXMath-Regular"/>
              </a:rPr>
              <a:t>= </a:t>
            </a:r>
            <a:r>
              <a:rPr lang="en-US" sz="1800" b="0" i="0" u="none" strike="noStrike" baseline="0" dirty="0">
                <a:latin typeface="STIXGeneral-Regular"/>
              </a:rPr>
              <a:t>0  is sufficient to prove that </a:t>
            </a:r>
            <a:r>
              <a:rPr lang="en-US" sz="1800" dirty="0">
                <a:latin typeface="STIXGeneral-Regular"/>
              </a:rPr>
              <a:t>∀</a:t>
            </a:r>
            <a:r>
              <a:rPr lang="en-US" sz="1800" dirty="0" err="1">
                <a:latin typeface="STIXGeneral-Regular"/>
              </a:rPr>
              <a:t>xP</a:t>
            </a:r>
            <a:r>
              <a:rPr lang="en-US" sz="1800" dirty="0">
                <a:latin typeface="STIXGeneral-Regular"/>
              </a:rPr>
              <a:t>(x)  is false.</a:t>
            </a:r>
            <a:endParaRPr lang="si-LK" sz="1800" dirty="0">
              <a:latin typeface="STIXGeneral-Regular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6E4A5-A9B5-177C-F3B0-6379479D0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6AA81-06CF-44D7-9202-6D3A8D40DF67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64A31-F432-D682-169F-3600C14E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56EE1-E690-ECF2-10FA-15876D0D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84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0CD65-DE4E-CA65-1519-2B5FE839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 - Summary</a:t>
            </a:r>
            <a:endParaRPr lang="si-LK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36EF93B-84AA-88A6-D6CC-2145F92E4C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1348559"/>
              </p:ext>
            </p:extLst>
          </p:nvPr>
        </p:nvGraphicFramePr>
        <p:xfrm>
          <a:off x="457200" y="1676400"/>
          <a:ext cx="8229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414637758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6212564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94319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Statement</a:t>
                      </a:r>
                      <a:endParaRPr lang="si-L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When True</a:t>
                      </a:r>
                      <a:endParaRPr lang="si-L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When False</a:t>
                      </a:r>
                      <a:endParaRPr lang="si-L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467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∀</a:t>
                      </a:r>
                      <a:r>
                        <a:rPr lang="en-US" sz="1800" b="0" i="1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xP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i-L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is true for every </a:t>
                      </a:r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si-L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 is an </a:t>
                      </a:r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which </a:t>
                      </a:r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is false.</a:t>
                      </a:r>
                      <a:endParaRPr lang="si-L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623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∃</a:t>
                      </a:r>
                      <a:r>
                        <a:rPr lang="en-US" sz="1800" b="0" i="1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xP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i-L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 is an </a:t>
                      </a:r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which </a:t>
                      </a:r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is true.</a:t>
                      </a:r>
                      <a:endParaRPr lang="si-L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is false for every </a:t>
                      </a:r>
                      <a:r>
                        <a:rPr lang="en-US" sz="18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x.</a:t>
                      </a:r>
                      <a:endParaRPr lang="si-L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64646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28957-B5F7-07F8-BF11-8EF0CD25E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6AA81-06CF-44D7-9202-6D3A8D40DF67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D6898-033A-39A3-BEA2-6CCE680D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CFAA4-7DF3-1EA0-7B60-396BFF22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48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6782-E228-4C93-B827-5DF66C58736F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1" y="1797784"/>
            <a:ext cx="83058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Let the universe be the set of integers and let</a:t>
            </a:r>
          </a:p>
          <a:p>
            <a:r>
              <a:rPr lang="en-US" sz="2200" dirty="0"/>
              <a:t> N(x) := “ x is a non-negative integer”,     E(x): =  “ x is even”, </a:t>
            </a:r>
          </a:p>
          <a:p>
            <a:r>
              <a:rPr lang="en-US" sz="2200" dirty="0"/>
              <a:t> O(x): = “ x is odd” , and                           P(x): = “ x is prime”.  </a:t>
            </a:r>
          </a:p>
          <a:p>
            <a:r>
              <a:rPr lang="en-US" sz="2200" dirty="0"/>
              <a:t>Express each of these statements in terms of N(x), E(x), O(x), P(x), quantiﬁers, and logical connectives.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619" y="3733800"/>
            <a:ext cx="791718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/>
              <a:t>There exists an even integer.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All prime integers are non-negative.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Every integer is even or odd.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200" dirty="0"/>
              <a:t>Not all integers are odd.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200" dirty="0"/>
              <a:t>Not all primes are odd.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200" dirty="0"/>
              <a:t>If an integer is not odd, then it is even.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200" dirty="0"/>
              <a:t>The only even prime is 2.   </a:t>
            </a:r>
          </a:p>
          <a:p>
            <a:pPr marL="514350" indent="-514350">
              <a:buFont typeface="+mj-lt"/>
              <a:buAutoNum type="arabicPeriod"/>
            </a:pP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562600" y="3733800"/>
                <a:ext cx="2590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733800"/>
                <a:ext cx="2590800" cy="430887"/>
              </a:xfrm>
              <a:prstGeom prst="rect">
                <a:avLst/>
              </a:prstGeom>
              <a:blipFill rotWithShape="0">
                <a:blip r:embed="rId2"/>
                <a:stretch>
                  <a:fillRect b="-1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21758" y="4064913"/>
                <a:ext cx="2590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∀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758" y="4064913"/>
                <a:ext cx="2590800" cy="430887"/>
              </a:xfrm>
              <a:prstGeom prst="rect">
                <a:avLst/>
              </a:prstGeom>
              <a:blipFill rotWithShape="0">
                <a:blip r:embed="rId3"/>
                <a:stretch>
                  <a:fillRect r="-941" b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096000" y="4369713"/>
                <a:ext cx="2590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∀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369713"/>
                <a:ext cx="2590800" cy="430887"/>
              </a:xfrm>
              <a:prstGeom prst="rect">
                <a:avLst/>
              </a:prstGeom>
              <a:blipFill rotWithShape="0">
                <a:blip r:embed="rId4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715000" y="4674513"/>
                <a:ext cx="2590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¬[∀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4674513"/>
                <a:ext cx="2590800" cy="430887"/>
              </a:xfrm>
              <a:prstGeom prst="rect">
                <a:avLst/>
              </a:prstGeom>
              <a:blipFill rotWithShape="0">
                <a:blip r:embed="rId5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867400" y="5055513"/>
                <a:ext cx="2971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¬[∀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)→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5055513"/>
                <a:ext cx="2971800" cy="430887"/>
              </a:xfrm>
              <a:prstGeom prst="rect">
                <a:avLst/>
              </a:prstGeom>
              <a:blipFill rotWithShape="0">
                <a:blip r:embed="rId6"/>
                <a:stretch>
                  <a:fillRect b="-197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302072" y="5421868"/>
                <a:ext cx="277146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(¬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072" y="5421868"/>
                <a:ext cx="2771464" cy="430887"/>
              </a:xfrm>
              <a:prstGeom prst="rect">
                <a:avLst/>
              </a:prstGeom>
              <a:blipFill rotWithShape="0">
                <a:blip r:embed="rId7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334000" y="5791200"/>
                <a:ext cx="3696525" cy="4744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GB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GB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5791200"/>
                <a:ext cx="3696525" cy="47448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96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10" grpId="0"/>
      <p:bldP spid="11" grpId="0"/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DFD1-73B5-8E19-DA63-B1332F36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of quantifiers</a:t>
            </a:r>
            <a:endParaRPr lang="si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A7FAE-D68B-CCF9-643F-A021F19E4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0" i="0" u="none" strike="noStrike" baseline="0" dirty="0">
                <a:latin typeface="STIXGeneral-Regular"/>
              </a:rPr>
              <a:t>The quantifiers </a:t>
            </a:r>
            <a:r>
              <a:rPr lang="en-US" sz="2000" b="0" i="0" u="none" strike="noStrike" baseline="0" dirty="0">
                <a:latin typeface="STIXMath-Regular"/>
              </a:rPr>
              <a:t>∀ </a:t>
            </a:r>
            <a:r>
              <a:rPr lang="en-US" sz="2000" b="0" i="0" u="none" strike="noStrike" baseline="0" dirty="0">
                <a:latin typeface="STIXGeneral-Regular"/>
              </a:rPr>
              <a:t>and </a:t>
            </a:r>
            <a:r>
              <a:rPr lang="en-US" sz="2000" b="0" i="0" u="none" strike="noStrike" baseline="0" dirty="0">
                <a:latin typeface="STIXMath-Regular"/>
              </a:rPr>
              <a:t>∃ </a:t>
            </a:r>
            <a:r>
              <a:rPr lang="en-US" sz="2000" b="0" i="0" u="none" strike="noStrike" baseline="0" dirty="0">
                <a:latin typeface="STIXGeneral-Regular"/>
              </a:rPr>
              <a:t>have higher precedence than all logical operators.</a:t>
            </a:r>
          </a:p>
          <a:p>
            <a:pPr algn="l"/>
            <a:endParaRPr lang="en-US" sz="2000" b="0" i="0" u="none" strike="noStrike" baseline="0" dirty="0">
              <a:latin typeface="STIXGeneral-Regular"/>
            </a:endParaRP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STIXGeneral-Regular"/>
              </a:rPr>
              <a:t> example:</a:t>
            </a:r>
          </a:p>
          <a:p>
            <a:pPr marL="0" indent="0" algn="l">
              <a:buNone/>
            </a:pPr>
            <a:r>
              <a:rPr lang="en-US" sz="2000" dirty="0">
                <a:latin typeface="STIXGeneral-Regular"/>
              </a:rPr>
              <a:t>	</a:t>
            </a:r>
            <a:r>
              <a:rPr lang="en-US" sz="2000" b="0" i="0" u="none" strike="noStrike" baseline="0" dirty="0">
                <a:latin typeface="STIXMath-Regular"/>
              </a:rPr>
              <a:t>∀</a:t>
            </a:r>
            <a:r>
              <a:rPr lang="en-US" sz="2000" b="0" i="1" u="none" strike="noStrike" baseline="0" dirty="0" err="1">
                <a:latin typeface="STIXGeneral-Italic"/>
              </a:rPr>
              <a:t>xP</a:t>
            </a:r>
            <a:r>
              <a:rPr lang="en-US" sz="2000" b="0" i="0" u="none" strike="noStrike" baseline="0" dirty="0">
                <a:latin typeface="STIXGeneral-Regular"/>
              </a:rPr>
              <a:t>(</a:t>
            </a:r>
            <a:r>
              <a:rPr lang="en-US" sz="2000" b="0" i="1" u="none" strike="noStrike" baseline="0" dirty="0">
                <a:latin typeface="STIXGeneral-Italic"/>
              </a:rPr>
              <a:t>x</a:t>
            </a:r>
            <a:r>
              <a:rPr lang="en-US" sz="2000" b="0" i="0" u="none" strike="noStrike" baseline="0" dirty="0">
                <a:latin typeface="STIXGeneral-Regular"/>
              </a:rPr>
              <a:t>) </a:t>
            </a:r>
            <a:r>
              <a:rPr lang="en-US" sz="2000" b="0" i="0" u="none" strike="noStrike" baseline="0" dirty="0">
                <a:latin typeface="STIXMath-Regular"/>
              </a:rPr>
              <a:t>∨ </a:t>
            </a:r>
            <a:r>
              <a:rPr lang="en-US" sz="2000" b="0" i="1" u="none" strike="noStrike" baseline="0" dirty="0">
                <a:latin typeface="STIXGeneral-Italic"/>
              </a:rPr>
              <a:t>Q</a:t>
            </a:r>
            <a:r>
              <a:rPr lang="en-US" sz="2000" b="0" i="0" u="none" strike="noStrike" baseline="0" dirty="0">
                <a:latin typeface="STIXGeneral-Regular"/>
              </a:rPr>
              <a:t>(</a:t>
            </a:r>
            <a:r>
              <a:rPr lang="en-US" sz="2000" b="0" i="1" u="none" strike="noStrike" baseline="0" dirty="0">
                <a:latin typeface="STIXGeneral-Italic"/>
              </a:rPr>
              <a:t>x</a:t>
            </a:r>
            <a:r>
              <a:rPr lang="en-US" sz="2000" b="0" i="0" u="none" strike="noStrike" baseline="0" dirty="0">
                <a:latin typeface="STIXGeneral-Regular"/>
              </a:rPr>
              <a:t>) is the disjunction of </a:t>
            </a:r>
            <a:r>
              <a:rPr lang="en-US" sz="2000" b="0" i="0" u="none" strike="noStrike" baseline="0" dirty="0">
                <a:latin typeface="STIXMath-Regular"/>
              </a:rPr>
              <a:t>∀</a:t>
            </a:r>
            <a:r>
              <a:rPr lang="en-US" sz="2000" b="0" i="1" u="none" strike="noStrike" baseline="0" dirty="0" err="1">
                <a:latin typeface="STIXGeneral-Italic"/>
              </a:rPr>
              <a:t>xP</a:t>
            </a:r>
            <a:r>
              <a:rPr lang="en-US" sz="2000" b="0" i="0" u="none" strike="noStrike" baseline="0" dirty="0">
                <a:latin typeface="STIXGeneral-Regular"/>
              </a:rPr>
              <a:t>(</a:t>
            </a:r>
            <a:r>
              <a:rPr lang="en-US" sz="2000" b="0" i="1" u="none" strike="noStrike" baseline="0" dirty="0">
                <a:latin typeface="STIXGeneral-Italic"/>
              </a:rPr>
              <a:t>x</a:t>
            </a:r>
            <a:r>
              <a:rPr lang="en-US" sz="2000" b="0" i="0" u="none" strike="noStrike" baseline="0" dirty="0">
                <a:latin typeface="STIXGeneral-Regular"/>
              </a:rPr>
              <a:t>) and </a:t>
            </a:r>
            <a:r>
              <a:rPr lang="en-US" sz="2000" b="0" i="1" u="none" strike="noStrike" baseline="0" dirty="0">
                <a:latin typeface="STIXGeneral-Italic"/>
              </a:rPr>
              <a:t>Q</a:t>
            </a:r>
            <a:r>
              <a:rPr lang="en-US" sz="2000" b="0" i="0" u="none" strike="noStrike" baseline="0" dirty="0">
                <a:latin typeface="STIXGeneral-Regular"/>
              </a:rPr>
              <a:t>(</a:t>
            </a:r>
            <a:r>
              <a:rPr lang="en-US" sz="2000" b="0" i="1" u="none" strike="noStrike" baseline="0" dirty="0">
                <a:latin typeface="STIXGeneral-Italic"/>
              </a:rPr>
              <a:t>x</a:t>
            </a:r>
            <a:r>
              <a:rPr lang="en-US" sz="2000" b="0" i="0" u="none" strike="noStrike" baseline="0" dirty="0">
                <a:latin typeface="STIXGeneral-Regular"/>
              </a:rPr>
              <a:t>). </a:t>
            </a:r>
          </a:p>
          <a:p>
            <a:pPr marL="0" indent="0" algn="l">
              <a:buNone/>
            </a:pPr>
            <a:r>
              <a:rPr lang="en-US" sz="2000" dirty="0">
                <a:latin typeface="STIXGeneral-Regular"/>
              </a:rPr>
              <a:t>	this </a:t>
            </a:r>
            <a:r>
              <a:rPr lang="en-US" sz="2000" b="0" i="0" u="none" strike="noStrike" baseline="0" dirty="0">
                <a:latin typeface="STIXGeneral-Regular"/>
              </a:rPr>
              <a:t>means (</a:t>
            </a:r>
            <a:r>
              <a:rPr lang="en-US" sz="2000" b="0" i="0" u="none" strike="noStrike" baseline="0" dirty="0">
                <a:latin typeface="STIXMath-Regular"/>
              </a:rPr>
              <a:t>∀</a:t>
            </a:r>
            <a:r>
              <a:rPr lang="en-US" sz="2000" b="0" i="1" u="none" strike="noStrike" baseline="0" dirty="0" err="1">
                <a:latin typeface="STIXGeneral-Italic"/>
              </a:rPr>
              <a:t>xP</a:t>
            </a:r>
            <a:r>
              <a:rPr lang="en-US" sz="2000" b="0" i="0" u="none" strike="noStrike" baseline="0" dirty="0">
                <a:latin typeface="STIXGeneral-Regular"/>
              </a:rPr>
              <a:t>(</a:t>
            </a:r>
            <a:r>
              <a:rPr lang="en-US" sz="2000" b="0" i="1" u="none" strike="noStrike" baseline="0" dirty="0">
                <a:latin typeface="STIXGeneral-Italic"/>
              </a:rPr>
              <a:t>x</a:t>
            </a:r>
            <a:r>
              <a:rPr lang="en-US" sz="2000" b="0" i="0" u="none" strike="noStrike" baseline="0" dirty="0">
                <a:latin typeface="STIXGeneral-Regular"/>
              </a:rPr>
              <a:t>)) </a:t>
            </a:r>
            <a:r>
              <a:rPr lang="en-US" sz="2000" b="0" i="0" u="none" strike="noStrike" baseline="0" dirty="0">
                <a:latin typeface="STIXMath-Regular"/>
              </a:rPr>
              <a:t>∨ </a:t>
            </a:r>
            <a:r>
              <a:rPr lang="en-US" sz="2000" b="0" i="1" u="none" strike="noStrike" baseline="0" dirty="0">
                <a:latin typeface="STIXGeneral-Italic"/>
              </a:rPr>
              <a:t>Q</a:t>
            </a:r>
            <a:r>
              <a:rPr lang="en-US" sz="2000" b="0" i="0" u="none" strike="noStrike" baseline="0" dirty="0">
                <a:latin typeface="STIXGeneral-Regular"/>
              </a:rPr>
              <a:t>(</a:t>
            </a:r>
            <a:r>
              <a:rPr lang="en-US" sz="2000" b="0" i="1" u="none" strike="noStrike" baseline="0" dirty="0">
                <a:latin typeface="STIXGeneral-Italic"/>
              </a:rPr>
              <a:t>x</a:t>
            </a:r>
            <a:r>
              <a:rPr lang="en-US" sz="2000" b="0" i="0" u="none" strike="noStrike" baseline="0" dirty="0">
                <a:latin typeface="STIXGeneral-Regular"/>
              </a:rPr>
              <a:t>) not </a:t>
            </a:r>
            <a:r>
              <a:rPr lang="en-US" sz="2000" b="0" i="0" u="none" strike="noStrike" baseline="0" dirty="0">
                <a:latin typeface="STIXMath-Regular"/>
              </a:rPr>
              <a:t>∀</a:t>
            </a:r>
            <a:r>
              <a:rPr lang="en-US" sz="2000" b="0" i="1" u="none" strike="noStrike" baseline="0" dirty="0">
                <a:latin typeface="STIXGeneral-Italic"/>
              </a:rPr>
              <a:t>x</a:t>
            </a:r>
            <a:r>
              <a:rPr lang="en-US" sz="2000" b="0" i="0" u="none" strike="noStrike" baseline="0" dirty="0">
                <a:latin typeface="STIXGeneral-Regular"/>
              </a:rPr>
              <a:t>(</a:t>
            </a:r>
            <a:r>
              <a:rPr lang="en-US" sz="2000" b="0" i="1" u="none" strike="noStrike" baseline="0" dirty="0">
                <a:latin typeface="STIXGeneral-Italic"/>
              </a:rPr>
              <a:t>P</a:t>
            </a:r>
            <a:r>
              <a:rPr lang="en-US" sz="2000" b="0" i="0" u="none" strike="noStrike" baseline="0" dirty="0">
                <a:latin typeface="STIXGeneral-Regular"/>
              </a:rPr>
              <a:t>(</a:t>
            </a:r>
            <a:r>
              <a:rPr lang="en-US" sz="2000" b="0" i="1" u="none" strike="noStrike" baseline="0" dirty="0">
                <a:latin typeface="STIXGeneral-Italic"/>
              </a:rPr>
              <a:t>x</a:t>
            </a:r>
            <a:r>
              <a:rPr lang="en-US" sz="2000" b="0" i="0" u="none" strike="noStrike" baseline="0" dirty="0">
                <a:latin typeface="STIXGeneral-Regular"/>
              </a:rPr>
              <a:t>) </a:t>
            </a:r>
            <a:r>
              <a:rPr lang="en-US" sz="2000" b="0" i="0" u="none" strike="noStrike" baseline="0" dirty="0">
                <a:latin typeface="STIXMath-Regular"/>
              </a:rPr>
              <a:t>∨ </a:t>
            </a:r>
            <a:r>
              <a:rPr lang="en-US" sz="2000" b="0" i="1" u="none" strike="noStrike" baseline="0" dirty="0">
                <a:latin typeface="STIXGeneral-Italic"/>
              </a:rPr>
              <a:t>Q</a:t>
            </a:r>
            <a:r>
              <a:rPr lang="en-US" sz="2000" b="0" i="0" u="none" strike="noStrike" baseline="0" dirty="0">
                <a:latin typeface="STIXGeneral-Regular"/>
              </a:rPr>
              <a:t>(</a:t>
            </a:r>
            <a:r>
              <a:rPr lang="en-US" sz="2000" b="0" i="1" u="none" strike="noStrike" baseline="0" dirty="0">
                <a:latin typeface="STIXGeneral-Italic"/>
              </a:rPr>
              <a:t>x</a:t>
            </a:r>
            <a:r>
              <a:rPr lang="en-US" sz="2000" b="0" i="0" u="none" strike="noStrike" baseline="0" dirty="0">
                <a:latin typeface="STIXGeneral-Regular"/>
              </a:rPr>
              <a:t>)).</a:t>
            </a:r>
            <a:endParaRPr lang="si-L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B7BD5-87E6-9E63-343F-AA28B6D96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6AA81-06CF-44D7-9202-6D3A8D40DF67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A51A0-34BA-2E8E-2CC3-04CE182FB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F5B72-B25B-67C9-014D-0F8CE21C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76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Negations of Quantified Statements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F5451-9773-4DAD-A3CE-28AB5EBF46E0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80972" y="1828800"/>
            <a:ext cx="830582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200" dirty="0"/>
              <a:t>Everyone likes football.</a:t>
            </a:r>
          </a:p>
          <a:p>
            <a:pPr>
              <a:spcBef>
                <a:spcPct val="0"/>
              </a:spcBef>
            </a:pPr>
            <a:r>
              <a:rPr lang="en-US" altLang="zh-TW" sz="2200" dirty="0"/>
              <a:t>What is the negation of this proposition?</a:t>
            </a:r>
          </a:p>
          <a:p>
            <a:pPr>
              <a:spcBef>
                <a:spcPct val="0"/>
              </a:spcBef>
            </a:pPr>
            <a:r>
              <a:rPr lang="en-US" altLang="zh-TW" sz="2200" dirty="0"/>
              <a:t>Not everyone likes football = There exists someone who doesn’t like football.</a:t>
            </a:r>
          </a:p>
          <a:p>
            <a:pPr>
              <a:spcBef>
                <a:spcPct val="0"/>
              </a:spcBef>
            </a:pPr>
            <a:endParaRPr lang="en-US" altLang="zh-TW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70371" y="3247448"/>
                <a:ext cx="3242619" cy="382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≡∃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¬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371" y="3247448"/>
                <a:ext cx="3242619" cy="382156"/>
              </a:xfrm>
              <a:prstGeom prst="rect">
                <a:avLst/>
              </a:prstGeom>
              <a:blipFill rotWithShape="0">
                <a:blip r:embed="rId2"/>
                <a:stretch>
                  <a:fillRect r="-2256" b="-25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81837" y="4145846"/>
            <a:ext cx="6843412" cy="30931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TW" sz="2200" dirty="0"/>
              <a:t>There is a plant that can fly.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TW" sz="2200" dirty="0"/>
              <a:t>What is the negation of this proposition?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TW" sz="2200" dirty="0"/>
              <a:t>Not exists a plant that can fly = every plant cannot fly.</a:t>
            </a:r>
          </a:p>
          <a:p>
            <a:pPr>
              <a:spcBef>
                <a:spcPct val="0"/>
              </a:spcBef>
            </a:pPr>
            <a:endParaRPr lang="en-US" altLang="zh-TW" sz="2400" dirty="0"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</a:pPr>
            <a:endParaRPr lang="en-US" altLang="zh-TW" sz="2400" dirty="0"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</a:pPr>
            <a:endParaRPr lang="en-US" altLang="zh-TW" sz="2400" dirty="0"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</a:pPr>
            <a:endParaRPr lang="en-US" altLang="zh-TW" sz="2400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542734" y="5866244"/>
                <a:ext cx="3226589" cy="382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 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≡∀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¬ 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734" y="5866244"/>
                <a:ext cx="3226589" cy="382156"/>
              </a:xfrm>
              <a:prstGeom prst="rect">
                <a:avLst/>
              </a:prstGeom>
              <a:blipFill rotWithShape="0">
                <a:blip r:embed="rId3"/>
                <a:stretch>
                  <a:fillRect r="-2836" b="-253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01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Binding and Scope of Variables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4637-833E-4B50-8ED7-2FFEDFDAE53C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76992" y="1776253"/>
                <a:ext cx="837770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In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/>
                  <a:t> the variable x is bound by the existential quantifier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, but the variable y is not bound (free) by a quantifier. This is not a proposition in predicate logic</a:t>
                </a:r>
                <a:r>
                  <a:rPr lang="en-US" sz="2000" dirty="0">
                    <a:solidFill>
                      <a:prstClr val="black"/>
                    </a:solidFill>
                    <a:latin typeface="Calibri" panose="020F0502020204030204"/>
                  </a:rPr>
                  <a:t>.</a:t>
                </a:r>
              </a:p>
              <a:p>
                <a:endParaRPr lang="en-US" sz="20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US" sz="2000" dirty="0"/>
                  <a:t>However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+10=1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sz="2000" dirty="0"/>
                  <a:t> are propositions in predicate logic.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92" y="1776253"/>
                <a:ext cx="8377707" cy="1938992"/>
              </a:xfrm>
              <a:prstGeom prst="rect">
                <a:avLst/>
              </a:prstGeom>
              <a:blipFill rotWithShape="0">
                <a:blip r:embed="rId2"/>
                <a:stretch>
                  <a:fillRect l="-727" t="-1258" r="-1309" b="-50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9093" y="3937337"/>
                <a:ext cx="8377708" cy="1459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</a:pPr>
                <a:endParaRPr lang="en-US" sz="2000" dirty="0"/>
              </a:p>
              <a:p>
                <a:pPr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∀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limLow>
                                    <m:limLow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groupChr>
                                        <m:groupChrPr>
                                          <m:chr m:val="⏟"/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groupChr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𝑥𝑦</m:t>
                                          </m:r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groupChr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→</m:t>
                                      </m:r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=0</m:t>
                                      </m:r>
                                    </m:e>
                                    <m:lim>
                                      <m:r>
                                        <m:rPr>
                                          <m:sty m:val="p"/>
                                        </m:rPr>
                                        <a:rPr lang="en-GB" sz="24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scope</m:t>
                                      </m:r>
                                      <m:r>
                                        <a:rPr lang="en-GB" sz="24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GB" sz="24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for</m:t>
                                      </m:r>
                                      <m:r>
                                        <a:rPr lang="en-GB" sz="24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                    </m:t>
                                      </m:r>
                                    </m:lim>
                                  </m:limLow>
                                </m:e>
                              </m:groupCh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Scope</m:t>
                              </m:r>
                              <m:r>
                                <a:rPr lang="en-GB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GB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93" y="3937337"/>
                <a:ext cx="8377708" cy="1459567"/>
              </a:xfrm>
              <a:prstGeom prst="rect">
                <a:avLst/>
              </a:prstGeom>
              <a:blipFill>
                <a:blip r:embed="rId3"/>
                <a:stretch>
                  <a:fillRect b="-3347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08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Examples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1B550-435E-4887-8BFC-26C182775AB6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800" y="4772561"/>
                <a:ext cx="837770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000" b="1" dirty="0"/>
                  <a:t>Example:</a:t>
                </a:r>
                <a:r>
                  <a:rPr lang="en-US" sz="2000" dirty="0"/>
                  <a:t> Translate into normal English if x and y are natural numbers</a:t>
                </a:r>
              </a:p>
              <a:p>
                <a:pPr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≠0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>
                  <a:spcBef>
                    <a:spcPct val="0"/>
                  </a:spcBef>
                </a:pPr>
                <a:r>
                  <a:rPr lang="en-US" sz="2000" dirty="0"/>
                  <a:t>For every natural number x, if  there exists a natural number y such that </a:t>
                </a:r>
              </a:p>
              <a:p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772561"/>
                <a:ext cx="8377707" cy="1323439"/>
              </a:xfrm>
              <a:prstGeom prst="rect">
                <a:avLst/>
              </a:prstGeom>
              <a:blipFill>
                <a:blip r:embed="rId2"/>
                <a:stretch>
                  <a:fillRect l="-728" t="-2765" b="-7373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04799" y="1752600"/>
                <a:ext cx="8377707" cy="2675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000" dirty="0"/>
                  <a:t>Consider the statement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xy</m:t>
                        </m:r>
                        <m:r>
                          <a:rPr lang="en-GB" sz="20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GB" sz="2000" b="0" i="0" smtClean="0">
                            <a:latin typeface="Cambria Math" panose="02040503050406030204" pitchFamily="18" charset="0"/>
                          </a:rPr>
                          <m:t> →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where the universe is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285750" indent="-2857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What are the scope of the variables x and y?</a:t>
                </a:r>
              </a:p>
              <a:p>
                <a:pPr marL="285750" indent="-2857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Is it a true statement?</a:t>
                </a:r>
              </a:p>
              <a:p>
                <a:pPr>
                  <a:spcBef>
                    <a:spcPct val="0"/>
                  </a:spcBef>
                </a:pPr>
                <a:endParaRPr lang="en-US" dirty="0"/>
              </a:p>
              <a:p>
                <a:pPr>
                  <a:spcBef>
                    <a:spcPct val="0"/>
                  </a:spcBef>
                </a:pPr>
                <a:r>
                  <a:rPr lang="en-US" sz="2400" dirty="0">
                    <a:ea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limLow>
                          <m:limLow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 →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groupChr>
                          </m:e>
                          <m:lim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𝑠𝑐𝑜𝑝𝑒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𝑓𝑜𝑟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𝑏𝑜𝑡h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lim>
                        </m:limLow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>
                  <a:spcBef>
                    <a:spcPct val="0"/>
                  </a:spcBef>
                </a:pPr>
                <a:endParaRPr lang="en-US" sz="2400" dirty="0"/>
              </a:p>
              <a:p>
                <a:pPr>
                  <a:spcBef>
                    <a:spcPct val="0"/>
                  </a:spcBef>
                </a:pPr>
                <a:r>
                  <a:rPr lang="en-US" sz="2000" dirty="0"/>
                  <a:t>This is not a true statement. Counter example: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1752600"/>
                <a:ext cx="8377707" cy="2675220"/>
              </a:xfrm>
              <a:prstGeom prst="rect">
                <a:avLst/>
              </a:prstGeom>
              <a:blipFill rotWithShape="0">
                <a:blip r:embed="rId3"/>
                <a:stretch>
                  <a:fillRect l="-728" t="-1142" b="-31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72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Logical Equivalences Involving Quantiﬁers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7C5F-8A6F-4E4D-9188-C8B76E1A14D0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1500" y="1676400"/>
                <a:ext cx="8001000" cy="1094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Show that 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∧</m:t>
                        </m:r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0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</m:oMath>
                </a14:m>
                <a:endParaRPr lang="en-US" sz="2000" dirty="0">
                  <a:solidFill>
                    <a:prstClr val="black"/>
                  </a:solidFill>
                  <a:latin typeface="Calibri" panose="020F0502020204030204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≡∃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∨∃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676400"/>
                <a:ext cx="8001000" cy="1094915"/>
              </a:xfrm>
              <a:prstGeom prst="rect">
                <a:avLst/>
              </a:prstGeom>
              <a:blipFill rotWithShape="0">
                <a:blip r:embed="rId2"/>
                <a:stretch>
                  <a:fillRect l="-838" t="-2222" b="-6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" y="2767022"/>
                <a:ext cx="8686800" cy="3944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Proof:</a:t>
                </a:r>
                <a:r>
                  <a:rPr lang="en-GB" sz="2000" dirty="0"/>
                  <a:t> Suppose that P and Q are two predicates over the same universe U.</a:t>
                </a:r>
              </a:p>
              <a:p>
                <a:r>
                  <a:rPr lang="en-GB" sz="2000" dirty="0"/>
                  <a:t>Suppose that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∧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GB" sz="2000" dirty="0"/>
                  <a:t> is true.</a:t>
                </a: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∧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r>
                  <a:rPr lang="en-GB" sz="2000" dirty="0"/>
                  <a:t> is true for all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GB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sz="2000" dirty="0"/>
                  <a:t> is true for all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sz="2000" dirty="0"/>
                  <a:t> and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sz="2000" dirty="0"/>
                  <a:t> is true for all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GB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∧∀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000" dirty="0"/>
                  <a:t> is true.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Conversely, suppose that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∧∀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000" dirty="0"/>
                  <a:t>) is true.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⟹∀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000" dirty="0"/>
                  <a:t> is true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000" dirty="0"/>
                  <a:t> is true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GB" sz="2000" dirty="0"/>
                  <a:t> For each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 is true and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sz="2000" dirty="0"/>
                  <a:t> is true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∧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r>
                  <a:rPr lang="en-GB" sz="2000" dirty="0"/>
                  <a:t> is true for all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GB" sz="2000" dirty="0"/>
                  <a:t>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∧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GB" sz="2000" dirty="0"/>
                  <a:t> is true.</a:t>
                </a: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767022"/>
                <a:ext cx="8686800" cy="3944157"/>
              </a:xfrm>
              <a:prstGeom prst="rect">
                <a:avLst/>
              </a:prstGeom>
              <a:blipFill rotWithShape="0">
                <a:blip r:embed="rId3"/>
                <a:stretch>
                  <a:fillRect l="-772" t="-773" r="-4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1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12F8-8DD7-40B9-B1E4-3E03CD6FB43C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1" y="1752600"/>
                <a:ext cx="8001000" cy="1094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In general(not always) 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</m:oMath>
                </a14:m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752600"/>
                <a:ext cx="8001000" cy="1094915"/>
              </a:xfrm>
              <a:prstGeom prst="rect">
                <a:avLst/>
              </a:prstGeom>
              <a:blipFill>
                <a:blip r:embed="rId2"/>
                <a:stretch>
                  <a:fillRect l="-762" t="-3352" b="-6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3048000"/>
                <a:ext cx="8458200" cy="993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1. Consider the following predicates over the domain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b="0" dirty="0"/>
                  <a:t>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≔"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even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GB" dirty="0"/>
                  <a:t>  and   Q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≔"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𝑜𝑑𝑑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GB" dirty="0"/>
                  <a:t>. Then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 is true but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is false.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48000"/>
                <a:ext cx="8458200" cy="993734"/>
              </a:xfrm>
              <a:prstGeom prst="rect">
                <a:avLst/>
              </a:prstGeom>
              <a:blipFill rotWithShape="0">
                <a:blip r:embed="rId3"/>
                <a:stretch>
                  <a:fillRect l="-576" t="-3067" b="-36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0" y="4264066"/>
                <a:ext cx="8458200" cy="982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2. Consider the following predicates over the domain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b="0" dirty="0"/>
                  <a:t>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≔"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prime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GB" dirty="0"/>
                  <a:t>  and   Q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≔"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composite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GB" dirty="0"/>
                  <a:t>. Then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 </a:t>
                </a:r>
                <a:r>
                  <a:rPr lang="en-GB" dirty="0"/>
                  <a:t>is true but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is false.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264066"/>
                <a:ext cx="8458200" cy="982641"/>
              </a:xfrm>
              <a:prstGeom prst="rect">
                <a:avLst/>
              </a:prstGeom>
              <a:blipFill rotWithShape="0">
                <a:blip r:embed="rId4"/>
                <a:stretch>
                  <a:fillRect l="-576" t="-3086" b="-43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530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854F-3AFB-1823-62D9-622506FC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 of quantifiers</a:t>
            </a:r>
            <a:endParaRPr lang="si-L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2133DE-6C59-5EE6-2193-066F7DEFBC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US" sz="2000" b="0" i="0" u="none" strike="noStrike" baseline="0" dirty="0">
                    <a:latin typeface="STIXMath-Regular"/>
                  </a:rPr>
                  <a:t>∀</a:t>
                </a:r>
                <a:r>
                  <a:rPr lang="en-US" sz="2000" b="0" i="1" u="none" strike="noStrike" baseline="0" dirty="0">
                    <a:latin typeface="STIXGeneral-Italic"/>
                  </a:rPr>
                  <a:t>x P</a:t>
                </a:r>
                <a:r>
                  <a:rPr lang="en-US" sz="2000" b="0" i="0" u="none" strike="noStrike" baseline="0" dirty="0">
                    <a:latin typeface="STIXGeneral-Regular"/>
                  </a:rPr>
                  <a:t>(</a:t>
                </a:r>
                <a:r>
                  <a:rPr lang="en-US" sz="2000" b="0" i="1" u="none" strike="noStrike" baseline="0" dirty="0">
                    <a:latin typeface="STIXGeneral-Italic"/>
                  </a:rPr>
                  <a:t>x</a:t>
                </a:r>
                <a:r>
                  <a:rPr lang="en-US" sz="2000" b="0" i="0" u="none" strike="noStrike" baseline="0" dirty="0">
                    <a:latin typeface="STIXGeneral-Regular"/>
                  </a:rPr>
                  <a:t>) </a:t>
                </a:r>
                <a:r>
                  <a:rPr lang="en-US" sz="2000" b="0" i="0" u="none" strike="noStrike" baseline="0" dirty="0">
                    <a:latin typeface="STIXMathCalligraphy-Regular"/>
                  </a:rPr>
                  <a:t>≡ </a:t>
                </a:r>
                <a:r>
                  <a:rPr lang="en-US" sz="2000" b="0" i="0" u="none" strike="noStrike" baseline="0" dirty="0">
                    <a:latin typeface="STIXMath-Regular"/>
                  </a:rPr>
                  <a:t>∃</a:t>
                </a:r>
                <a:r>
                  <a:rPr lang="en-US" sz="2000" b="0" i="1" u="none" strike="noStrike" baseline="0" dirty="0">
                    <a:latin typeface="STIXGeneral-Italic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US" sz="2000" b="0" i="1" u="none" strike="noStrike" baseline="0" dirty="0">
                    <a:latin typeface="STIXGeneral-Italic"/>
                  </a:rPr>
                  <a:t>P</a:t>
                </a:r>
                <a:r>
                  <a:rPr lang="en-US" sz="2000" b="0" i="0" u="none" strike="noStrike" baseline="0" dirty="0">
                    <a:latin typeface="STIXGeneral-Regular"/>
                  </a:rPr>
                  <a:t>(</a:t>
                </a:r>
                <a:r>
                  <a:rPr lang="en-US" sz="2000" b="0" i="1" u="none" strike="noStrike" baseline="0" dirty="0">
                    <a:latin typeface="STIXGeneral-Italic"/>
                  </a:rPr>
                  <a:t>x</a:t>
                </a:r>
                <a:r>
                  <a:rPr lang="en-US" sz="2000" b="0" i="0" u="none" strike="noStrike" baseline="0" dirty="0">
                    <a:latin typeface="STIXGeneral-Regular"/>
                  </a:rPr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US" sz="1800" b="0" i="0" u="none" strike="noStrike" baseline="0" dirty="0">
                    <a:latin typeface="STIXMath-Regular"/>
                  </a:rPr>
                  <a:t>∃</a:t>
                </a:r>
                <a:r>
                  <a:rPr lang="en-US" sz="1800" b="0" i="1" u="none" strike="noStrike" baseline="0" dirty="0">
                    <a:latin typeface="STIXGeneral-Italic"/>
                  </a:rPr>
                  <a:t>x Q</a:t>
                </a:r>
                <a:r>
                  <a:rPr lang="en-US" sz="1800" b="0" i="0" u="none" strike="noStrike" baseline="0" dirty="0">
                    <a:latin typeface="STIXGeneral-Regular"/>
                  </a:rPr>
                  <a:t>(</a:t>
                </a:r>
                <a:r>
                  <a:rPr lang="en-US" sz="1800" b="0" i="1" u="none" strike="noStrike" baseline="0" dirty="0">
                    <a:latin typeface="STIXGeneral-Italic"/>
                  </a:rPr>
                  <a:t>x</a:t>
                </a:r>
                <a:r>
                  <a:rPr lang="en-US" sz="1800" b="0" i="0" u="none" strike="noStrike" baseline="0" dirty="0">
                    <a:latin typeface="STIXGeneral-Regular"/>
                  </a:rPr>
                  <a:t>) </a:t>
                </a:r>
                <a:r>
                  <a:rPr lang="en-US" sz="1800" b="0" i="0" u="none" strike="noStrike" baseline="0" dirty="0">
                    <a:latin typeface="STIXMathCalligraphy-Regular"/>
                  </a:rPr>
                  <a:t>≡ </a:t>
                </a:r>
                <a:r>
                  <a:rPr lang="en-US" sz="1800" b="0" i="0" u="none" strike="noStrike" baseline="0" dirty="0">
                    <a:latin typeface="STIXMath-Regular"/>
                  </a:rPr>
                  <a:t>∀</a:t>
                </a:r>
                <a:r>
                  <a:rPr lang="en-US" sz="1800" b="0" i="1" u="none" strike="noStrike" baseline="0" dirty="0">
                    <a:latin typeface="STIXGeneral-Italic"/>
                  </a:rPr>
                  <a:t>x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US" sz="1800" b="0" i="1" u="none" strike="noStrike" baseline="0" dirty="0">
                    <a:latin typeface="STIXGeneral-Italic"/>
                  </a:rPr>
                  <a:t>Q</a:t>
                </a:r>
                <a:r>
                  <a:rPr lang="en-US" sz="1800" b="0" i="0" u="none" strike="noStrike" baseline="0" dirty="0">
                    <a:latin typeface="STIXGeneral-Regular"/>
                  </a:rPr>
                  <a:t>(</a:t>
                </a:r>
                <a:r>
                  <a:rPr lang="en-US" sz="1800" b="0" i="1" u="none" strike="noStrike" baseline="0" dirty="0">
                    <a:latin typeface="STIXGeneral-Italic"/>
                  </a:rPr>
                  <a:t>x</a:t>
                </a:r>
                <a:r>
                  <a:rPr lang="en-US" sz="1800" b="0" i="0" u="none" strike="noStrike" baseline="0" dirty="0">
                    <a:latin typeface="STIXGeneral-Regular"/>
                  </a:rPr>
                  <a:t>)</a:t>
                </a:r>
                <a:r>
                  <a:rPr lang="en-US" sz="1800" b="0" i="1" u="none" strike="noStrike" baseline="0" dirty="0">
                    <a:latin typeface="STIXMath-Italic"/>
                  </a:rPr>
                  <a:t>.</a:t>
                </a:r>
                <a:endParaRPr lang="en-US" sz="2000" b="0" i="0" u="none" strike="noStrike" baseline="0" dirty="0">
                  <a:latin typeface="STIXGeneral-Regular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STIXGeneral-Regular"/>
                  </a:rPr>
                  <a:t>Example :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US" sz="2000" b="0" i="0" u="none" strike="noStrike" baseline="0" dirty="0">
                    <a:latin typeface="STIXMath-Regular"/>
                  </a:rPr>
                  <a:t>∀</a:t>
                </a:r>
                <a:r>
                  <a:rPr lang="en-US" sz="2000" b="0" i="1" u="none" strike="noStrike" baseline="0" dirty="0">
                    <a:latin typeface="STIXGeneral-Italic"/>
                  </a:rPr>
                  <a:t>x P</a:t>
                </a:r>
                <a:r>
                  <a:rPr lang="en-US" sz="2000" b="0" i="0" u="none" strike="noStrike" baseline="0" dirty="0">
                    <a:latin typeface="STIXGeneral-Regular"/>
                  </a:rPr>
                  <a:t>(</a:t>
                </a:r>
                <a:r>
                  <a:rPr lang="en-US" sz="2000" b="0" i="1" u="none" strike="noStrike" baseline="0" dirty="0">
                    <a:latin typeface="STIXGeneral-Italic"/>
                  </a:rPr>
                  <a:t>x</a:t>
                </a:r>
                <a:r>
                  <a:rPr lang="en-US" sz="2000" b="0" i="0" u="none" strike="noStrike" baseline="0" dirty="0">
                    <a:latin typeface="STIXGeneral-Regular"/>
                  </a:rPr>
                  <a:t>) </a:t>
                </a:r>
                <a:r>
                  <a:rPr lang="en-US" sz="2000" b="0" i="0" u="none" strike="noStrike" baseline="0" dirty="0">
                    <a:latin typeface="STIXMathCalligraphy-Regular"/>
                  </a:rPr>
                  <a:t>≡ </a:t>
                </a:r>
                <a:r>
                  <a:rPr lang="en-US" sz="2000" b="0" i="0" u="none" strike="noStrike" baseline="0" dirty="0">
                    <a:latin typeface="STIXMath-Regular"/>
                  </a:rPr>
                  <a:t>∃</a:t>
                </a:r>
                <a:r>
                  <a:rPr lang="en-US" sz="2000" b="0" i="1" u="none" strike="noStrike" baseline="0" dirty="0">
                    <a:latin typeface="STIXGeneral-Italic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US" sz="2000" b="0" i="1" u="none" strike="noStrike" baseline="0" dirty="0">
                    <a:latin typeface="STIXGeneral-Italic"/>
                  </a:rPr>
                  <a:t>P</a:t>
                </a:r>
                <a:r>
                  <a:rPr lang="en-US" sz="2000" b="0" i="0" u="none" strike="noStrike" baseline="0" dirty="0">
                    <a:latin typeface="STIXGeneral-Regular"/>
                  </a:rPr>
                  <a:t>(</a:t>
                </a:r>
                <a:r>
                  <a:rPr lang="en-US" sz="2000" b="0" i="1" u="none" strike="noStrike" baseline="0" dirty="0">
                    <a:latin typeface="STIXGeneral-Italic"/>
                  </a:rPr>
                  <a:t>x</a:t>
                </a:r>
                <a:r>
                  <a:rPr lang="en-US" sz="2000" b="0" i="0" u="none" strike="noStrike" baseline="0" dirty="0">
                    <a:latin typeface="STIXGeneral-Regular"/>
                  </a:rPr>
                  <a:t>)</a:t>
                </a:r>
                <a:endParaRPr lang="en-US" sz="2000" dirty="0">
                  <a:latin typeface="STIXGeneral-Regular"/>
                </a:endParaRP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latin typeface="STIXGeneral-Regular"/>
                  </a:rPr>
                  <a:t>“Every student in the class has taken a course in calculus.”</a:t>
                </a:r>
                <a:endParaRPr lang="en-US" sz="2000" b="0" i="0" u="none" strike="noStrike" baseline="0" dirty="0">
                  <a:latin typeface="STIXGeneral-Regular"/>
                </a:endParaRPr>
              </a:p>
              <a:p>
                <a:pPr algn="l"/>
                <a:r>
                  <a:rPr lang="en-US" sz="2000" dirty="0">
                    <a:latin typeface="STIXGeneral-Regular"/>
                  </a:rPr>
                  <a:t>Let p(x) = </a:t>
                </a:r>
                <a:r>
                  <a:rPr lang="en-US" sz="1800" b="0" i="0" u="none" strike="noStrike" baseline="0" dirty="0">
                    <a:latin typeface="STIXGeneral-Regular"/>
                  </a:rPr>
                  <a:t>“</a:t>
                </a:r>
                <a:r>
                  <a:rPr lang="en-US" sz="1800" b="0" i="1" u="none" strike="noStrike" baseline="0" dirty="0">
                    <a:latin typeface="STIXGeneral-Italic"/>
                  </a:rPr>
                  <a:t>x </a:t>
                </a:r>
                <a:r>
                  <a:rPr lang="en-US" sz="1800" b="0" i="0" u="none" strike="noStrike" baseline="0" dirty="0">
                    <a:latin typeface="STIXGeneral-Regular"/>
                  </a:rPr>
                  <a:t>has taken a course in calculus”</a:t>
                </a:r>
                <a:r>
                  <a:rPr lang="en-US" sz="2000" dirty="0">
                    <a:latin typeface="STIXGeneral-Regular"/>
                  </a:rPr>
                  <a:t> whare </a:t>
                </a:r>
                <a:r>
                  <a:rPr lang="en-US" sz="1800" b="0" i="0" u="none" strike="noStrike" baseline="0" dirty="0">
                    <a:latin typeface="STIXGeneral-Regular"/>
                  </a:rPr>
                  <a:t>domain consists of the</a:t>
                </a:r>
              </a:p>
              <a:p>
                <a:pPr marL="0" indent="0" algn="l">
                  <a:buNone/>
                </a:pPr>
                <a:r>
                  <a:rPr lang="en-US" sz="1800" dirty="0">
                    <a:latin typeface="STIXGeneral-Regular"/>
                  </a:rPr>
                  <a:t>       </a:t>
                </a:r>
                <a:r>
                  <a:rPr lang="en-US" sz="1800" b="0" i="0" u="none" strike="noStrike" baseline="0" dirty="0">
                    <a:latin typeface="STIXGeneral-Regular"/>
                  </a:rPr>
                  <a:t>students in the  class</a:t>
                </a:r>
              </a:p>
              <a:p>
                <a:pPr marL="0" indent="0" algn="l">
                  <a:buNone/>
                </a:pPr>
                <a:r>
                  <a:rPr lang="en-US" sz="1800" b="0" i="0" u="none" strike="noStrike" baseline="0" dirty="0">
                    <a:latin typeface="STIXGeneral-Regular"/>
                  </a:rPr>
                  <a:t>      The statement in equivalent to  </a:t>
                </a:r>
                <a:r>
                  <a:rPr lang="en-US" sz="1800" b="0" i="0" u="none" strike="noStrike" baseline="0" dirty="0">
                    <a:latin typeface="STIXMath-Regular"/>
                  </a:rPr>
                  <a:t>∀</a:t>
                </a:r>
                <a:r>
                  <a:rPr lang="en-US" sz="1800" b="0" i="1" u="none" strike="noStrike" baseline="0" dirty="0">
                    <a:latin typeface="STIXGeneral-Italic"/>
                  </a:rPr>
                  <a:t>x P</a:t>
                </a:r>
                <a:r>
                  <a:rPr lang="en-US" sz="1800" b="0" i="0" u="none" strike="noStrike" baseline="0" dirty="0">
                    <a:latin typeface="STIXGeneral-Regular"/>
                  </a:rPr>
                  <a:t>(</a:t>
                </a:r>
                <a:r>
                  <a:rPr lang="en-US" sz="1800" b="0" i="1" u="none" strike="noStrike" baseline="0" dirty="0">
                    <a:latin typeface="STIXGeneral-Italic"/>
                  </a:rPr>
                  <a:t>x</a:t>
                </a:r>
                <a:r>
                  <a:rPr lang="en-US" sz="1800" b="0" i="0" u="none" strike="noStrike" baseline="0" dirty="0">
                    <a:latin typeface="STIXGeneral-Regular"/>
                  </a:rPr>
                  <a:t>)</a:t>
                </a:r>
              </a:p>
              <a:p>
                <a:pPr algn="l"/>
                <a:r>
                  <a:rPr lang="en-US" sz="1800" dirty="0">
                    <a:latin typeface="STIXGeneral-Regular"/>
                  </a:rPr>
                  <a:t> </a:t>
                </a:r>
                <a:r>
                  <a:rPr lang="en-US" sz="1800" b="0" i="0" u="none" strike="noStrike" baseline="0" dirty="0">
                    <a:latin typeface="STIXGeneral-Regular"/>
                  </a:rPr>
                  <a:t>The negation of this statement is “It is not the case that every student in </a:t>
                </a:r>
                <a:r>
                  <a:rPr lang="en-US" sz="1800" dirty="0">
                    <a:latin typeface="STIXGeneral-Regular"/>
                  </a:rPr>
                  <a:t>the</a:t>
                </a:r>
                <a:r>
                  <a:rPr lang="en-US" sz="1800" b="0" i="0" u="none" strike="noStrike" baseline="0" dirty="0">
                    <a:latin typeface="STIXGeneral-Regular"/>
                  </a:rPr>
                  <a:t> class has taken a course in calculus.” </a:t>
                </a:r>
              </a:p>
              <a:p>
                <a:pPr algn="l"/>
                <a:r>
                  <a:rPr lang="en-US" sz="1800" b="0" i="0" u="none" strike="noStrike" baseline="0" dirty="0">
                    <a:latin typeface="STIXGeneral-Regular"/>
                  </a:rPr>
                  <a:t>This is equivalent to “There is a student in your class who has not taken a course in calculus.”</a:t>
                </a:r>
              </a:p>
              <a:p>
                <a:pPr marL="0" indent="0" algn="l">
                  <a:buNone/>
                </a:pPr>
                <a:r>
                  <a:rPr lang="en-US" sz="1800" dirty="0">
                    <a:latin typeface="STIXGeneral-Regular"/>
                  </a:rPr>
                  <a:t>This means</a:t>
                </a:r>
              </a:p>
              <a:p>
                <a:pPr marL="0" indent="0" algn="l">
                  <a:buNone/>
                </a:pPr>
                <a:r>
                  <a:rPr lang="en-US" sz="1800" dirty="0">
                    <a:latin typeface="STIXGeneral-Regular"/>
                  </a:rPr>
                  <a:t>	</a:t>
                </a:r>
                <a:r>
                  <a:rPr lang="en-US" sz="1800" b="0" i="0" u="none" strike="noStrike" baseline="0" dirty="0">
                    <a:latin typeface="STIXMath-Regular"/>
                  </a:rPr>
                  <a:t> ∃</a:t>
                </a:r>
                <a:r>
                  <a:rPr lang="en-US" sz="1800" b="0" i="1" u="none" strike="noStrike" baseline="0" dirty="0">
                    <a:latin typeface="STIXGeneral-Italic"/>
                  </a:rPr>
                  <a:t>x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US" sz="1800" b="0" i="1" u="none" strike="noStrike" baseline="0" dirty="0">
                    <a:latin typeface="STIXGeneral-Italic"/>
                  </a:rPr>
                  <a:t>P</a:t>
                </a:r>
                <a:r>
                  <a:rPr lang="en-US" sz="1800" b="0" i="0" u="none" strike="noStrike" baseline="0" dirty="0">
                    <a:latin typeface="STIXGeneral-Regular"/>
                  </a:rPr>
                  <a:t>(</a:t>
                </a:r>
                <a:r>
                  <a:rPr lang="en-US" sz="1800" b="0" i="1" u="none" strike="noStrike" baseline="0" dirty="0">
                    <a:latin typeface="STIXGeneral-Italic"/>
                  </a:rPr>
                  <a:t>x</a:t>
                </a:r>
                <a:r>
                  <a:rPr lang="en-US" sz="1800" b="0" i="0" u="none" strike="noStrike" baseline="0" dirty="0">
                    <a:latin typeface="STIXGeneral-Regular"/>
                  </a:rPr>
                  <a:t>)</a:t>
                </a:r>
                <a:r>
                  <a:rPr lang="en-US" sz="1800" b="0" i="1" u="none" strike="noStrike" baseline="0" dirty="0">
                    <a:latin typeface="STIXMath-Italic"/>
                  </a:rPr>
                  <a:t>.</a:t>
                </a:r>
                <a:endParaRPr lang="si-LK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2133DE-6C59-5EE6-2193-066F7DEFBC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959" r="-741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CF8C2-C487-5B6A-95E3-848DA8F71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6AA81-06CF-44D7-9202-6D3A8D40DF67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24B8A-6E6F-D7D5-FBAD-797CFB038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08009-85BE-7CB6-CE81-AA3AFB1C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37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Nested Quantiﬁers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FC183-6B6B-41B3-9860-BB781A3951A4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7200" y="1905000"/>
                <a:ext cx="8229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Assume that the domain of variables x, y and z are the set of Real numbers (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05000"/>
                <a:ext cx="8229600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1111" t="-5147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1" y="3212068"/>
                <a:ext cx="845820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commutative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law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addition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3212068"/>
                <a:ext cx="8458200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278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1" y="4050268"/>
                <a:ext cx="83820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accosiative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law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addition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4050268"/>
                <a:ext cx="8382000" cy="738664"/>
              </a:xfrm>
              <a:prstGeom prst="rect">
                <a:avLst/>
              </a:prstGeom>
              <a:blipFill rotWithShape="0">
                <a:blip r:embed="rId4"/>
                <a:stretch>
                  <a:fillRect l="-1164" b="-40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7200" y="5345668"/>
                <a:ext cx="822960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sz="2400" dirty="0"/>
                  <a:t>     the existence of additive inverse.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345668"/>
                <a:ext cx="822960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185" t="-24590" b="-491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16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Nested Quantifiers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DA2B8-8DC3-43BF-BBC4-4FF17BBF281A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1083" y="1771471"/>
                <a:ext cx="8385717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/>
                  <a:t>There is an anti-virus program killing every computer virus.</a:t>
                </a:r>
              </a:p>
              <a:p>
                <a:endParaRPr lang="en-US" altLang="zh-TW" sz="2000" dirty="0"/>
              </a:p>
              <a:p>
                <a:r>
                  <a:rPr lang="en-US" sz="2000" dirty="0"/>
                  <a:t>Let  K(P,V) be the predicate “ anti-virus program P kills the computer virus V.”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∀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83" y="1771471"/>
                <a:ext cx="8385717" cy="2062103"/>
              </a:xfrm>
              <a:prstGeom prst="rect">
                <a:avLst/>
              </a:prstGeom>
              <a:blipFill rotWithShape="0">
                <a:blip r:embed="rId2"/>
                <a:stretch>
                  <a:fillRect l="-727" t="-14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7561" y="3971092"/>
                <a:ext cx="7900639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What is the meaning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61" y="3971092"/>
                <a:ext cx="7900639" cy="677108"/>
              </a:xfrm>
              <a:prstGeom prst="rect">
                <a:avLst/>
              </a:prstGeom>
              <a:blipFill rotWithShape="0">
                <a:blip r:embed="rId3"/>
                <a:stretch>
                  <a:fillRect l="-771" t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57561" y="4535238"/>
            <a:ext cx="8129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000" dirty="0"/>
              <a:t>For every computer virus, there is an anti-virus program that kills it.</a:t>
            </a: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914400" y="5257800"/>
            <a:ext cx="6911241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+mn-lt"/>
                <a:ea typeface="+mn-ea"/>
              </a:rPr>
              <a:t>Order of quantifiers is very important!</a:t>
            </a:r>
          </a:p>
        </p:txBody>
      </p:sp>
    </p:spTree>
    <p:extLst>
      <p:ext uri="{BB962C8B-B14F-4D97-AF65-F5344CB8AC3E}">
        <p14:creationId xmlns:p14="http://schemas.microsoft.com/office/powerpoint/2010/main" val="293332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8EDFA-3DE7-487C-AF66-9463B7B2D9B4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29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Nested Quantiﬁers into English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1" y="1683603"/>
                <a:ext cx="82296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be predicates “ x has a computer “  and  “ x and y are friends” respectively, where domain for both x and y consists of all students in this class.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683603"/>
                <a:ext cx="8229600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41" t="-2395" r="-74" b="-101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7200" y="2861608"/>
                <a:ext cx="84582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Translate the proposition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chr m:val="⋁"/>
                            <m:subHide m:val="on"/>
                            <m:sup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∃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d>
                  </m:oMath>
                </a14:m>
                <a:r>
                  <a:rPr lang="en-US" sz="2000" dirty="0"/>
                  <a:t> into English.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“For every student x in this class, x has a computer or there is a student y such that y has a computer and x and y are friends.”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Or  “Every student in this class has a computer or has a friend who has a computer.”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861608"/>
                <a:ext cx="8458200" cy="2246769"/>
              </a:xfrm>
              <a:prstGeom prst="rect">
                <a:avLst/>
              </a:prstGeom>
              <a:blipFill rotWithShape="0">
                <a:blip r:embed="rId3"/>
                <a:stretch>
                  <a:fillRect l="-720" t="-15447" r="-937" b="-40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138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Negating Nested Quantiﬁers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0BE6-AC74-4301-BDEF-B8E620D61621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79141" y="1912203"/>
                <a:ext cx="846005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Express the negation of the statement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400" dirty="0"/>
                  <a:t> so that no negation precedes a quantiﬁer. Assume that the domain of both x and y is the set of real numbers.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41" y="1912203"/>
                <a:ext cx="8460059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1081" t="-3553" r="-1513" b="-111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3352800"/>
                <a:ext cx="8382000" cy="4168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352800"/>
                <a:ext cx="8382000" cy="41684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95600" y="4009448"/>
                <a:ext cx="3389005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¬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4009448"/>
                <a:ext cx="3389005" cy="41684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76600" y="4598313"/>
                <a:ext cx="29778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(¬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598313"/>
                <a:ext cx="2977866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025" r="-3074" b="-377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276600" y="5284113"/>
                <a:ext cx="26893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≠1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284113"/>
                <a:ext cx="2689326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134" b="-3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001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Exercise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7125-31B6-46B7-91F0-3B49F2996FCD}" type="datetime3">
              <a:rPr lang="en-US" smtClean="0"/>
              <a:t>17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   Prof. D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31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3400" y="1752600"/>
            <a:ext cx="838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Express each of these statements using quantifiers, logical connectives, and predicates; first using only universal quantifier and then only using existential quantifier.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Not all cars have carburettors.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No dogs are intelligent.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Some numbers are not real.</a:t>
            </a:r>
          </a:p>
          <a:p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3810000"/>
                <a:ext cx="8229600" cy="2910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GB" sz="2000" dirty="0"/>
                  <a:t>Let Car(x):= “ x is a car.”  and </a:t>
                </a:r>
                <a:r>
                  <a:rPr lang="en-GB" sz="2000" dirty="0" err="1"/>
                  <a:t>Carbu</a:t>
                </a:r>
                <a:r>
                  <a:rPr lang="en-GB" sz="2000" dirty="0"/>
                  <a:t>(x):=“ x has carburettor.”</a:t>
                </a:r>
              </a:p>
              <a:p>
                <a:endParaRPr lang="en-GB" sz="2000" dirty="0"/>
              </a:p>
              <a:p>
                <a:r>
                  <a:rPr lang="en-GB" sz="2000" dirty="0"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car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carbu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GB" sz="2000" dirty="0"/>
                  <a:t> </a:t>
                </a:r>
              </a:p>
              <a:p>
                <a:endParaRPr lang="en-GB" sz="2000" dirty="0"/>
              </a:p>
              <a:p>
                <a:r>
                  <a:rPr lang="en-GB" sz="2000" dirty="0"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∀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car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carbu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¬ 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car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carbu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000" dirty="0"/>
                  <a:t>)</a:t>
                </a:r>
              </a:p>
              <a:p>
                <a:r>
                  <a:rPr lang="en-GB" sz="2000" dirty="0">
                    <a:ea typeface="Cambria Math" panose="02040503050406030204" pitchFamily="18" charset="0"/>
                  </a:rPr>
                  <a:t>                                                 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¬ (¬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car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carbu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000" dirty="0"/>
                  <a:t>)</a:t>
                </a:r>
              </a:p>
              <a:p>
                <a:r>
                  <a:rPr lang="en-GB" sz="2000" dirty="0">
                    <a:ea typeface="Cambria Math" panose="02040503050406030204" pitchFamily="18" charset="0"/>
                  </a:rPr>
                  <a:t>                                              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≡∃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(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car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carbu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000" dirty="0"/>
                  <a:t>)</a:t>
                </a:r>
              </a:p>
              <a:p>
                <a:endParaRPr lang="en-GB" sz="20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10000"/>
                <a:ext cx="8229600" cy="2910797"/>
              </a:xfrm>
              <a:prstGeom prst="rect">
                <a:avLst/>
              </a:prstGeom>
              <a:blipFill rotWithShape="0">
                <a:blip r:embed="rId2"/>
                <a:stretch>
                  <a:fillRect l="-667" t="-8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455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UCSC Masters 1">
      <a:majorFont>
        <a:latin typeface="DINPro-Bold"/>
        <a:ea typeface=""/>
        <a:cs typeface=""/>
      </a:majorFont>
      <a:minorFont>
        <a:latin typeface="DINPro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5264</TotalTime>
  <Words>3659</Words>
  <Application>Microsoft Macintosh PowerPoint</Application>
  <PresentationFormat>On-screen Show (4:3)</PresentationFormat>
  <Paragraphs>378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7" baseType="lpstr">
      <vt:lpstr>Arial</vt:lpstr>
      <vt:lpstr>Calibri</vt:lpstr>
      <vt:lpstr>Cambria Math</vt:lpstr>
      <vt:lpstr>Comic Sans MS</vt:lpstr>
      <vt:lpstr>DINPro-Black</vt:lpstr>
      <vt:lpstr>DINPro-Bold</vt:lpstr>
      <vt:lpstr>DINPro-Light</vt:lpstr>
      <vt:lpstr>MTMI</vt:lpstr>
      <vt:lpstr>STIXGeneral-Bold</vt:lpstr>
      <vt:lpstr>STIXGeneral-Italic</vt:lpstr>
      <vt:lpstr>STIXGeneral-Regular</vt:lpstr>
      <vt:lpstr>STIXMath-Italic</vt:lpstr>
      <vt:lpstr>STIXMath-Regular</vt:lpstr>
      <vt:lpstr>STIXMathCalligraphy-Regular</vt:lpstr>
      <vt:lpstr>Times New Roman</vt:lpstr>
      <vt:lpstr>Office Theme</vt:lpstr>
      <vt:lpstr>Bachelor of Science in Computer Science University of Colombo School of Computing</vt:lpstr>
      <vt:lpstr> Topic – 2: Predicate logic</vt:lpstr>
      <vt:lpstr>Predicates (Propositional functions)</vt:lpstr>
      <vt:lpstr>Examples</vt:lpstr>
      <vt:lpstr>Predicates</vt:lpstr>
      <vt:lpstr>Predicates</vt:lpstr>
      <vt:lpstr>Examples of Predicates</vt:lpstr>
      <vt:lpstr>Truth set</vt:lpstr>
      <vt:lpstr>Some Common Sets</vt:lpstr>
      <vt:lpstr>Quantifiers</vt:lpstr>
      <vt:lpstr>The Universal Quantifier</vt:lpstr>
      <vt:lpstr>The Existential Quantifier</vt:lpstr>
      <vt:lpstr>The Existential Quantifier</vt:lpstr>
      <vt:lpstr>The Existential Quantifier</vt:lpstr>
      <vt:lpstr>Meaning of the universal and Existential Quantifiers </vt:lpstr>
      <vt:lpstr>Example</vt:lpstr>
      <vt:lpstr>Example</vt:lpstr>
      <vt:lpstr>Quantifiers - Summary</vt:lpstr>
      <vt:lpstr>Example</vt:lpstr>
      <vt:lpstr>Precedence of quantifiers</vt:lpstr>
      <vt:lpstr>Negations of Quantified Statements</vt:lpstr>
      <vt:lpstr>Binding and Scope of Variables</vt:lpstr>
      <vt:lpstr>More Examples</vt:lpstr>
      <vt:lpstr>Logical Equivalences Involving Quantiﬁers</vt:lpstr>
      <vt:lpstr>Examples</vt:lpstr>
      <vt:lpstr>Negation of quantifiers</vt:lpstr>
      <vt:lpstr>Nested Quantiﬁers</vt:lpstr>
      <vt:lpstr>Nested Quantifiers</vt:lpstr>
      <vt:lpstr>Nested Quantiﬁers into English</vt:lpstr>
      <vt:lpstr>Negating Nested Quantiﬁers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ucsc</dc:creator>
  <cp:lastModifiedBy>Chamal Induwara</cp:lastModifiedBy>
  <cp:revision>360</cp:revision>
  <dcterms:created xsi:type="dcterms:W3CDTF">2019-07-04T09:03:38Z</dcterms:created>
  <dcterms:modified xsi:type="dcterms:W3CDTF">2026-05-17T10:28:46Z</dcterms:modified>
</cp:coreProperties>
</file>