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sldIdLst>
    <p:sldId id="319" r:id="rId2"/>
    <p:sldId id="392" r:id="rId3"/>
    <p:sldId id="393" r:id="rId4"/>
    <p:sldId id="366" r:id="rId5"/>
    <p:sldId id="365" r:id="rId6"/>
    <p:sldId id="370" r:id="rId7"/>
    <p:sldId id="388" r:id="rId8"/>
    <p:sldId id="389" r:id="rId9"/>
    <p:sldId id="390" r:id="rId10"/>
    <p:sldId id="391" r:id="rId11"/>
    <p:sldId id="368" r:id="rId12"/>
    <p:sldId id="369" r:id="rId13"/>
    <p:sldId id="371" r:id="rId14"/>
    <p:sldId id="372" r:id="rId15"/>
    <p:sldId id="373" r:id="rId16"/>
    <p:sldId id="374" r:id="rId17"/>
    <p:sldId id="375" r:id="rId18"/>
    <p:sldId id="376" r:id="rId19"/>
    <p:sldId id="377" r:id="rId20"/>
    <p:sldId id="379" r:id="rId21"/>
    <p:sldId id="380" r:id="rId22"/>
    <p:sldId id="381" r:id="rId23"/>
    <p:sldId id="382" r:id="rId24"/>
    <p:sldId id="383" r:id="rId25"/>
    <p:sldId id="384" r:id="rId26"/>
    <p:sldId id="385" r:id="rId27"/>
    <p:sldId id="386" r:id="rId28"/>
    <p:sldId id="38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howGuides="1">
      <p:cViewPr varScale="1">
        <p:scale>
          <a:sx n="83" d="100"/>
          <a:sy n="83" d="100"/>
        </p:scale>
        <p:origin x="1022" y="8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378639-0D19-45B0-A86B-EC65E962A62A}" type="datetimeFigureOut">
              <a:rPr lang="en-US" smtClean="0"/>
              <a:t>5/19/2025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D4BB1-ADCC-4275-BBC4-8A0D60650175}" type="slidenum">
              <a:rPr lang="en-US" smtClean="0"/>
              <a:t>‹#›</a:t>
            </a:fld>
            <a:endParaRPr lang="en-US"/>
          </a:p>
        </p:txBody>
      </p:sp>
    </p:spTree>
    <p:extLst>
      <p:ext uri="{BB962C8B-B14F-4D97-AF65-F5344CB8AC3E}">
        <p14:creationId xmlns:p14="http://schemas.microsoft.com/office/powerpoint/2010/main" val="986318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3" name="Rectangle 12"/>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0"/>
            <a:ext cx="9144000" cy="42672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685800" y="2286000"/>
            <a:ext cx="7772400" cy="460375"/>
          </a:xfrm>
        </p:spPr>
        <p:txBody>
          <a:bodyPr>
            <a:normAutofit/>
          </a:bodyPr>
          <a:lstStyle>
            <a:lvl1pPr algn="ctr">
              <a:defRPr sz="2000" baseline="0"/>
            </a:lvl1pPr>
          </a:lstStyle>
          <a:p>
            <a:r>
              <a:rPr lang="en-US" dirty="0"/>
              <a:t>&lt;COURSE CODE &amp; COURSE NAME&gt;</a:t>
            </a:r>
          </a:p>
        </p:txBody>
      </p:sp>
      <p:sp>
        <p:nvSpPr>
          <p:cNvPr id="3" name="Subtitle 2"/>
          <p:cNvSpPr>
            <a:spLocks noGrp="1"/>
          </p:cNvSpPr>
          <p:nvPr>
            <p:ph type="subTitle" idx="1" hasCustomPrompt="1"/>
          </p:nvPr>
        </p:nvSpPr>
        <p:spPr>
          <a:xfrm>
            <a:off x="685800" y="3352800"/>
            <a:ext cx="7772400" cy="381000"/>
          </a:xfrm>
        </p:spPr>
        <p:txBody>
          <a:bodyPr anchor="b">
            <a:normAutofit/>
          </a:bodyPr>
          <a:lstStyle>
            <a:lvl1pPr marL="0" indent="0" algn="ctr">
              <a:buNone/>
              <a:defRPr sz="2800">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lgn="ctr"/>
            <a:r>
              <a:rPr lang="en-US" sz="2400" b="1" dirty="0">
                <a:solidFill>
                  <a:schemeClr val="bg1"/>
                </a:solidFill>
              </a:rPr>
              <a:t>&lt;Handout #&gt; - &lt;Topic&gt;</a:t>
            </a:r>
          </a:p>
        </p:txBody>
      </p:sp>
      <p:sp>
        <p:nvSpPr>
          <p:cNvPr id="8" name="TextBox 7"/>
          <p:cNvSpPr txBox="1"/>
          <p:nvPr userDrawn="1"/>
        </p:nvSpPr>
        <p:spPr>
          <a:xfrm>
            <a:off x="685800" y="457200"/>
            <a:ext cx="7772400" cy="830997"/>
          </a:xfrm>
          <a:prstGeom prst="rect">
            <a:avLst/>
          </a:prstGeom>
          <a:noFill/>
        </p:spPr>
        <p:txBody>
          <a:bodyPr wrap="square" rtlCol="0" anchor="b">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mn-lt"/>
              </a:rPr>
              <a:t>MASTER</a:t>
            </a:r>
            <a:r>
              <a:rPr lang="en-US" sz="2400" baseline="0" dirty="0">
                <a:solidFill>
                  <a:schemeClr val="bg1"/>
                </a:solidFill>
                <a:latin typeface="+mn-lt"/>
              </a:rPr>
              <a:t> OF COMPUTER SCIENCE/</a:t>
            </a:r>
          </a:p>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mn-lt"/>
              </a:rPr>
              <a:t>MASTER</a:t>
            </a:r>
            <a:r>
              <a:rPr lang="en-US" sz="2400" baseline="0" dirty="0">
                <a:solidFill>
                  <a:schemeClr val="bg1"/>
                </a:solidFill>
                <a:latin typeface="+mn-lt"/>
              </a:rPr>
              <a:t> OF SCIENCE IN COMPUTER SCIENCE</a:t>
            </a:r>
            <a:endParaRPr lang="en-US" sz="2400" dirty="0">
              <a:solidFill>
                <a:schemeClr val="bg1"/>
              </a:solidFill>
              <a:latin typeface="+mn-lt"/>
            </a:endParaRPr>
          </a:p>
        </p:txBody>
      </p:sp>
      <p:sp>
        <p:nvSpPr>
          <p:cNvPr id="17" name="TextBox 16"/>
          <p:cNvSpPr txBox="1"/>
          <p:nvPr userDrawn="1"/>
        </p:nvSpPr>
        <p:spPr>
          <a:xfrm>
            <a:off x="685800" y="6074282"/>
            <a:ext cx="7772400" cy="276999"/>
          </a:xfrm>
          <a:prstGeom prst="rect">
            <a:avLst/>
          </a:prstGeom>
          <a:noFill/>
        </p:spPr>
        <p:txBody>
          <a:bodyPr wrap="square" rtlCol="0">
            <a:spAutoFit/>
          </a:bodyPr>
          <a:lstStyle/>
          <a:p>
            <a:pPr algn="ctr"/>
            <a:r>
              <a:rPr lang="en-US" sz="1200" dirty="0">
                <a:solidFill>
                  <a:schemeClr val="bg2">
                    <a:lumMod val="50000"/>
                  </a:schemeClr>
                </a:solidFill>
                <a:latin typeface="+mn-lt"/>
              </a:rPr>
              <a:t>UNIVERSITY OF COLOMBO SCHOOL OF COMPUTING</a:t>
            </a:r>
          </a:p>
        </p:txBody>
      </p:sp>
      <p:pic>
        <p:nvPicPr>
          <p:cNvPr id="18" name="Pictur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0" y="5436882"/>
            <a:ext cx="1269999" cy="952499"/>
          </a:xfrm>
          <a:prstGeom prst="rect">
            <a:avLst/>
          </a:prstGeom>
        </p:spPr>
      </p:pic>
      <p:pic>
        <p:nvPicPr>
          <p:cNvPr id="19" name="Picture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71600" y="5410200"/>
            <a:ext cx="800872" cy="941082"/>
          </a:xfrm>
          <a:prstGeom prst="rect">
            <a:avLst/>
          </a:prstGeom>
        </p:spPr>
      </p:pic>
    </p:spTree>
    <p:extLst>
      <p:ext uri="{BB962C8B-B14F-4D97-AF65-F5344CB8AC3E}">
        <p14:creationId xmlns:p14="http://schemas.microsoft.com/office/powerpoint/2010/main" val="4172597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AF9EAE5-C444-47BB-8DB6-5C741FF92E26}"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3887245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userDrawn="1"/>
        </p:nvSpPr>
        <p:spPr>
          <a:xfrm>
            <a:off x="0" y="0"/>
            <a:ext cx="9144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3429000"/>
            <a:ext cx="9144000" cy="2540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hasCustomPrompt="1"/>
          </p:nvPr>
        </p:nvSpPr>
        <p:spPr>
          <a:xfrm>
            <a:off x="722313" y="2906713"/>
            <a:ext cx="7772400" cy="446087"/>
          </a:xfrm>
        </p:spPr>
        <p:txBody>
          <a:bodyPr anchor="b">
            <a:noAutofit/>
          </a:bodyPr>
          <a:lstStyle>
            <a:lvl1pPr marL="0" indent="0">
              <a:buNone/>
              <a:defRPr sz="2400">
                <a:solidFill>
                  <a:schemeClr val="bg2">
                    <a:lumMod val="50000"/>
                  </a:schemeClr>
                </a:solidFill>
                <a:latin typeface="DINPro-Black"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F11C9A28-36DE-430E-A9D0-C13A217E6627}"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2087563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5F84F63-F086-42F8-A740-C27A86FCA266}" type="datetime3">
              <a:rPr lang="en-US" smtClean="0"/>
              <a:t>19 May 2025</a:t>
            </a:fld>
            <a:endParaRPr lang="en-US"/>
          </a:p>
        </p:txBody>
      </p:sp>
      <p:sp>
        <p:nvSpPr>
          <p:cNvPr id="6" name="Footer Placeholder 5"/>
          <p:cNvSpPr>
            <a:spLocks noGrp="1"/>
          </p:cNvSpPr>
          <p:nvPr>
            <p:ph type="ftr" sz="quarter" idx="11"/>
          </p:nvPr>
        </p:nvSpPr>
        <p:spPr/>
        <p:txBody>
          <a:bodyPr/>
          <a:lstStyle/>
          <a:p>
            <a:r>
              <a:rPr lang="en-US"/>
              <a:t>SCS 1302   Discrete Mathematics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2256113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722438"/>
            <a:ext cx="4040188" cy="639762"/>
          </a:xfrm>
        </p:spPr>
        <p:txBody>
          <a:bodyPr anchor="b"/>
          <a:lstStyle>
            <a:lvl1pPr marL="0" indent="0">
              <a:buNone/>
              <a:defRPr sz="2400" b="1">
                <a:solidFill>
                  <a:schemeClr val="bg2">
                    <a:lumMod val="50000"/>
                  </a:schemeClr>
                </a:solidFill>
                <a:latin typeface="DINPro-Black"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722438"/>
            <a:ext cx="4041775" cy="639762"/>
          </a:xfrm>
        </p:spPr>
        <p:txBody>
          <a:bodyPr anchor="b"/>
          <a:lstStyle>
            <a:lvl1pPr marL="0" indent="0">
              <a:buNone/>
              <a:defRPr sz="2400" b="1">
                <a:solidFill>
                  <a:schemeClr val="bg2">
                    <a:lumMod val="50000"/>
                  </a:schemeClr>
                </a:solidFill>
                <a:latin typeface="DINPro-Black"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01811E-5BCF-468B-9F1E-9359676C3962}" type="datetime3">
              <a:rPr lang="en-US" smtClean="0"/>
              <a:t>19 May 2025</a:t>
            </a:fld>
            <a:endParaRPr lang="en-US"/>
          </a:p>
        </p:txBody>
      </p:sp>
      <p:sp>
        <p:nvSpPr>
          <p:cNvPr id="8" name="Footer Placeholder 7"/>
          <p:cNvSpPr>
            <a:spLocks noGrp="1"/>
          </p:cNvSpPr>
          <p:nvPr>
            <p:ph type="ftr" sz="quarter" idx="11"/>
          </p:nvPr>
        </p:nvSpPr>
        <p:spPr/>
        <p:txBody>
          <a:bodyPr/>
          <a:lstStyle/>
          <a:p>
            <a:r>
              <a:rPr lang="en-US"/>
              <a:t>SCS 1302   Discrete Mathematics       Prof. D D Karunaratna</a:t>
            </a:r>
          </a:p>
        </p:txBody>
      </p:sp>
      <p:sp>
        <p:nvSpPr>
          <p:cNvPr id="9" name="Slide Number Placeholder 8"/>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780010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9518355E-FA7F-4FE8-BF9D-3D5A5C53A0D9}" type="datetime3">
              <a:rPr lang="en-US" smtClean="0"/>
              <a:t>19 May 2025</a:t>
            </a:fld>
            <a:endParaRPr lang="en-US"/>
          </a:p>
        </p:txBody>
      </p:sp>
      <p:sp>
        <p:nvSpPr>
          <p:cNvPr id="4" name="Footer Placeholder 3"/>
          <p:cNvSpPr>
            <a:spLocks noGrp="1"/>
          </p:cNvSpPr>
          <p:nvPr>
            <p:ph type="ftr" sz="quarter" idx="11"/>
          </p:nvPr>
        </p:nvSpPr>
        <p:spPr/>
        <p:txBody>
          <a:bodyPr/>
          <a:lstStyle/>
          <a:p>
            <a:r>
              <a:rPr lang="en-US"/>
              <a:t>SCS 1302   Discrete Mathematics       Prof. D D Karunaratna</a:t>
            </a:r>
          </a:p>
        </p:txBody>
      </p:sp>
      <p:sp>
        <p:nvSpPr>
          <p:cNvPr id="5" name="Slide Number Placeholder 4"/>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2124912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C47AA6-586C-47CB-A915-FDF290C5BE13}" type="datetime3">
              <a:rPr lang="en-US" smtClean="0"/>
              <a:t>19 May 2025</a:t>
            </a:fld>
            <a:endParaRPr lang="en-US"/>
          </a:p>
        </p:txBody>
      </p:sp>
      <p:sp>
        <p:nvSpPr>
          <p:cNvPr id="3" name="Footer Placeholder 2"/>
          <p:cNvSpPr>
            <a:spLocks noGrp="1"/>
          </p:cNvSpPr>
          <p:nvPr>
            <p:ph type="ftr" sz="quarter" idx="11"/>
          </p:nvPr>
        </p:nvSpPr>
        <p:spPr/>
        <p:txBody>
          <a:bodyPr/>
          <a:lstStyle/>
          <a:p>
            <a:r>
              <a:rPr lang="en-US"/>
              <a:t>SCS 1302   Discrete Mathematics       Prof. D D Karunaratna</a:t>
            </a:r>
          </a:p>
        </p:txBody>
      </p:sp>
      <p:sp>
        <p:nvSpPr>
          <p:cNvPr id="4" name="Slide Number Placeholder 3"/>
          <p:cNvSpPr>
            <a:spLocks noGrp="1"/>
          </p:cNvSpPr>
          <p:nvPr>
            <p:ph type="sldNum" sz="quarter" idx="12"/>
          </p:nvPr>
        </p:nvSpPr>
        <p:spPr/>
        <p:txBody>
          <a:bodyPr/>
          <a:lstStyle/>
          <a:p>
            <a:fld id="{0CA841A6-7C02-4C92-B6EE-5DBCC2AD53D0}" type="slidenum">
              <a:rPr lang="en-US" smtClean="0"/>
              <a:t>‹#›</a:t>
            </a:fld>
            <a:endParaRPr lang="en-US"/>
          </a:p>
        </p:txBody>
      </p:sp>
      <p:sp>
        <p:nvSpPr>
          <p:cNvPr id="5" name="Rectangle 4"/>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9179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273050"/>
            <a:ext cx="3008313" cy="1162050"/>
          </a:xfrm>
        </p:spPr>
        <p:txBody>
          <a:bodyPr anchor="b">
            <a:normAutofit/>
          </a:bodyPr>
          <a:lstStyle>
            <a:lvl1pPr algn="l">
              <a:defRPr sz="2400" b="1">
                <a:solidFill>
                  <a:schemeClr val="bg2">
                    <a:lumMod val="50000"/>
                  </a:schemeClr>
                </a:solidFill>
                <a:latin typeface="DINPro-Black" pitchFamily="2"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76400"/>
            <a:ext cx="3008313" cy="4449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137A6553-CA37-44B6-92EE-E59DB9BF41F7}" type="datetime3">
              <a:rPr lang="en-US" smtClean="0"/>
              <a:t>19 May 2025</a:t>
            </a:fld>
            <a:endParaRPr lang="en-US"/>
          </a:p>
        </p:txBody>
      </p:sp>
      <p:sp>
        <p:nvSpPr>
          <p:cNvPr id="6" name="Footer Placeholder 5"/>
          <p:cNvSpPr>
            <a:spLocks noGrp="1"/>
          </p:cNvSpPr>
          <p:nvPr>
            <p:ph type="ftr" sz="quarter" idx="11"/>
          </p:nvPr>
        </p:nvSpPr>
        <p:spPr/>
        <p:txBody>
          <a:bodyPr/>
          <a:lstStyle/>
          <a:p>
            <a:r>
              <a:rPr lang="en-US"/>
              <a:t>SCS 1302   Discrete Mathematics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1463613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3" name="Picture Placeholder 2"/>
          <p:cNvSpPr>
            <a:spLocks noGrp="1"/>
          </p:cNvSpPr>
          <p:nvPr>
            <p:ph type="pic" idx="1" hasCustomPrompt="1"/>
          </p:nvPr>
        </p:nvSpPr>
        <p:spPr>
          <a:xfrm>
            <a:off x="1792288" y="612775"/>
            <a:ext cx="5486400" cy="4114800"/>
          </a:xfrm>
        </p:spPr>
        <p:txBody>
          <a:bodyPr/>
          <a:lstStyle>
            <a:lvl1pPr marL="0" indent="0">
              <a:buNone/>
              <a:defRPr sz="32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34FA67F6-F8B4-477B-8395-7F4AC820980E}" type="datetime3">
              <a:rPr lang="en-US" smtClean="0"/>
              <a:t>19 May 2025</a:t>
            </a:fld>
            <a:endParaRPr lang="en-US"/>
          </a:p>
        </p:txBody>
      </p:sp>
      <p:sp>
        <p:nvSpPr>
          <p:cNvPr id="6" name="Footer Placeholder 5"/>
          <p:cNvSpPr>
            <a:spLocks noGrp="1"/>
          </p:cNvSpPr>
          <p:nvPr>
            <p:ph type="ftr" sz="quarter" idx="11"/>
          </p:nvPr>
        </p:nvSpPr>
        <p:spPr/>
        <p:txBody>
          <a:bodyPr/>
          <a:lstStyle/>
          <a:p>
            <a:r>
              <a:rPr lang="en-US"/>
              <a:t>SCS 1302   Discrete Mathematics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4020263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27FB4703-65AD-4608-B4F6-F6D339B80507}" type="datetime3">
              <a:rPr lang="en-US" smtClean="0"/>
              <a:t>19 May 2025</a:t>
            </a:fld>
            <a:endParaRPr lang="en-US" dirty="0"/>
          </a:p>
        </p:txBody>
      </p:sp>
      <p:sp>
        <p:nvSpPr>
          <p:cNvPr id="4" name="Footer Placeholder 3"/>
          <p:cNvSpPr>
            <a:spLocks noGrp="1"/>
          </p:cNvSpPr>
          <p:nvPr>
            <p:ph type="ftr" sz="quarter" idx="11"/>
          </p:nvPr>
        </p:nvSpPr>
        <p:spPr/>
        <p:txBody>
          <a:bodyPr/>
          <a:lstStyle/>
          <a:p>
            <a:r>
              <a:rPr lang="en-US"/>
              <a:t>SCS 1302   Discrete Mathematics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p:cNvSpPr>
            <a:spLocks noGrp="1"/>
          </p:cNvSpPr>
          <p:nvPr>
            <p:ph type="pic" sz="quarter" idx="15" hasCustomPrompt="1"/>
          </p:nvPr>
        </p:nvSpPr>
        <p:spPr>
          <a:xfrm>
            <a:off x="4648200" y="1676400"/>
            <a:ext cx="4038600" cy="4419600"/>
          </a:xfrm>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220344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F8E05D2-08F8-4261-B71B-A086DAC155EF}" type="datetime3">
              <a:rPr lang="en-US" smtClean="0"/>
              <a:t>19 May 2025</a:t>
            </a:fld>
            <a:endParaRPr lang="en-US"/>
          </a:p>
        </p:txBody>
      </p:sp>
      <p:sp>
        <p:nvSpPr>
          <p:cNvPr id="6" name="Footer Placeholder 5"/>
          <p:cNvSpPr>
            <a:spLocks noGrp="1"/>
          </p:cNvSpPr>
          <p:nvPr>
            <p:ph type="ftr" sz="quarter" idx="11"/>
          </p:nvPr>
        </p:nvSpPr>
        <p:spPr/>
        <p:txBody>
          <a:bodyPr/>
          <a:lstStyle/>
          <a:p>
            <a:r>
              <a:rPr lang="en-US"/>
              <a:t>SCS 1302   Discrete Mathematics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
        <p:nvSpPr>
          <p:cNvPr id="10" name="Chart Placeholder 9"/>
          <p:cNvSpPr>
            <a:spLocks noGrp="1"/>
          </p:cNvSpPr>
          <p:nvPr>
            <p:ph type="chart" sz="quarter" idx="13" hasCustomPrompt="1"/>
          </p:nvPr>
        </p:nvSpPr>
        <p:spPr>
          <a:xfrm>
            <a:off x="1828800" y="609600"/>
            <a:ext cx="5410200" cy="4114800"/>
          </a:xfrm>
        </p:spPr>
        <p:txBody>
          <a:bodyPr/>
          <a:lstStyle>
            <a:lvl1pPr marL="0" indent="0">
              <a:buNone/>
              <a:defRPr/>
            </a:lvl1pPr>
          </a:lstStyle>
          <a:p>
            <a:r>
              <a:rPr lang="en-US" dirty="0"/>
              <a:t>Click icon to add Chart</a:t>
            </a:r>
          </a:p>
        </p:txBody>
      </p:sp>
    </p:spTree>
    <p:extLst>
      <p:ext uri="{BB962C8B-B14F-4D97-AF65-F5344CB8AC3E}">
        <p14:creationId xmlns:p14="http://schemas.microsoft.com/office/powerpoint/2010/main" val="3700273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21BD5174-0BEE-43CA-8E73-65106A5ABCF3}" type="datetime3">
              <a:rPr lang="en-US" smtClean="0"/>
              <a:t>19 May 2025</a:t>
            </a:fld>
            <a:endParaRPr lang="en-US" dirty="0"/>
          </a:p>
        </p:txBody>
      </p:sp>
      <p:sp>
        <p:nvSpPr>
          <p:cNvPr id="4" name="Footer Placeholder 3"/>
          <p:cNvSpPr>
            <a:spLocks noGrp="1"/>
          </p:cNvSpPr>
          <p:nvPr>
            <p:ph type="ftr" sz="quarter" idx="11"/>
          </p:nvPr>
        </p:nvSpPr>
        <p:spPr/>
        <p:txBody>
          <a:bodyPr/>
          <a:lstStyle/>
          <a:p>
            <a:r>
              <a:rPr lang="en-US"/>
              <a:t>SCS 1302   Discrete Mathematics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2" name="Chart Placeholder 11"/>
          <p:cNvSpPr>
            <a:spLocks noGrp="1"/>
          </p:cNvSpPr>
          <p:nvPr>
            <p:ph type="chart" sz="quarter" idx="13" hasCustomPrompt="1"/>
          </p:nvPr>
        </p:nvSpPr>
        <p:spPr>
          <a:xfrm>
            <a:off x="4648200" y="1676400"/>
            <a:ext cx="4038600" cy="4419600"/>
          </a:xfrm>
        </p:spPr>
        <p:txBody>
          <a:bodyPr/>
          <a:lstStyle>
            <a:lvl1pPr marL="0" indent="0">
              <a:buNone/>
              <a:defRPr/>
            </a:lvl1pPr>
          </a:lstStyle>
          <a:p>
            <a:r>
              <a:rPr lang="en-US" dirty="0"/>
              <a:t>Click icon to add Chart</a:t>
            </a:r>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601967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15BFF341-10AE-4EEA-A651-613A2E3B5348}" type="datetime3">
              <a:rPr lang="en-US" smtClean="0"/>
              <a:t>19 May 2025</a:t>
            </a:fld>
            <a:endParaRPr lang="en-US"/>
          </a:p>
        </p:txBody>
      </p:sp>
      <p:sp>
        <p:nvSpPr>
          <p:cNvPr id="6" name="Footer Placeholder 5"/>
          <p:cNvSpPr>
            <a:spLocks noGrp="1"/>
          </p:cNvSpPr>
          <p:nvPr>
            <p:ph type="ftr" sz="quarter" idx="11"/>
          </p:nvPr>
        </p:nvSpPr>
        <p:spPr/>
        <p:txBody>
          <a:bodyPr/>
          <a:lstStyle/>
          <a:p>
            <a:r>
              <a:rPr lang="en-US"/>
              <a:t>SCS 1302   Discrete Mathematics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
        <p:nvSpPr>
          <p:cNvPr id="9" name="Table Placeholder 8"/>
          <p:cNvSpPr>
            <a:spLocks noGrp="1"/>
          </p:cNvSpPr>
          <p:nvPr>
            <p:ph type="tbl" sz="quarter" idx="14" hasCustomPrompt="1"/>
          </p:nvPr>
        </p:nvSpPr>
        <p:spPr>
          <a:xfrm>
            <a:off x="1828800" y="609600"/>
            <a:ext cx="5410200" cy="4114800"/>
          </a:xfrm>
        </p:spPr>
        <p:txBody>
          <a:bodyPr/>
          <a:lstStyle>
            <a:lvl1pPr marL="0" indent="0">
              <a:buNone/>
              <a:defRPr/>
            </a:lvl1pPr>
          </a:lstStyle>
          <a:p>
            <a:r>
              <a:rPr lang="en-US" dirty="0"/>
              <a:t>Click icon to add Table</a:t>
            </a:r>
          </a:p>
        </p:txBody>
      </p:sp>
    </p:spTree>
    <p:extLst>
      <p:ext uri="{BB962C8B-B14F-4D97-AF65-F5344CB8AC3E}">
        <p14:creationId xmlns:p14="http://schemas.microsoft.com/office/powerpoint/2010/main" val="1324139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2427DCCA-E420-4C3C-A041-A9C34DDE8611}" type="datetime3">
              <a:rPr lang="en-US" smtClean="0"/>
              <a:t>19 May 2025</a:t>
            </a:fld>
            <a:endParaRPr lang="en-US" dirty="0"/>
          </a:p>
        </p:txBody>
      </p:sp>
      <p:sp>
        <p:nvSpPr>
          <p:cNvPr id="4" name="Footer Placeholder 3"/>
          <p:cNvSpPr>
            <a:spLocks noGrp="1"/>
          </p:cNvSpPr>
          <p:nvPr>
            <p:ph type="ftr" sz="quarter" idx="11"/>
          </p:nvPr>
        </p:nvSpPr>
        <p:spPr/>
        <p:txBody>
          <a:bodyPr/>
          <a:lstStyle/>
          <a:p>
            <a:r>
              <a:rPr lang="en-US"/>
              <a:t>SCS 1302   Discrete Mathematics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p:cNvSpPr>
            <a:spLocks noGrp="1"/>
          </p:cNvSpPr>
          <p:nvPr>
            <p:ph type="tbl" sz="quarter" idx="15" hasCustomPrompt="1"/>
          </p:nvPr>
        </p:nvSpPr>
        <p:spPr>
          <a:xfrm>
            <a:off x="4648200" y="1676400"/>
            <a:ext cx="4038600" cy="4419600"/>
          </a:xfrm>
        </p:spPr>
        <p:txBody>
          <a:bodyPr/>
          <a:lstStyle>
            <a:lvl1pPr marL="0" indent="0">
              <a:buNone/>
              <a:defRPr/>
            </a:lvl1pPr>
          </a:lstStyle>
          <a:p>
            <a:r>
              <a:rPr lang="en-US" dirty="0"/>
              <a:t>Click icon to add Table</a:t>
            </a:r>
          </a:p>
        </p:txBody>
      </p:sp>
    </p:spTree>
    <p:extLst>
      <p:ext uri="{BB962C8B-B14F-4D97-AF65-F5344CB8AC3E}">
        <p14:creationId xmlns:p14="http://schemas.microsoft.com/office/powerpoint/2010/main" val="4166901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9C2819E-3853-4934-A696-83717FC2A531}" type="datetime3">
              <a:rPr lang="en-US" smtClean="0"/>
              <a:t>19 May 2025</a:t>
            </a:fld>
            <a:endParaRPr lang="en-US"/>
          </a:p>
        </p:txBody>
      </p:sp>
      <p:sp>
        <p:nvSpPr>
          <p:cNvPr id="6" name="Footer Placeholder 5"/>
          <p:cNvSpPr>
            <a:spLocks noGrp="1"/>
          </p:cNvSpPr>
          <p:nvPr>
            <p:ph type="ftr" sz="quarter" idx="11"/>
          </p:nvPr>
        </p:nvSpPr>
        <p:spPr/>
        <p:txBody>
          <a:bodyPr/>
          <a:lstStyle/>
          <a:p>
            <a:r>
              <a:rPr lang="en-US"/>
              <a:t>SCS 1302   Discrete Mathematics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
        <p:nvSpPr>
          <p:cNvPr id="10" name="SmartArt Placeholder 9"/>
          <p:cNvSpPr>
            <a:spLocks noGrp="1"/>
          </p:cNvSpPr>
          <p:nvPr>
            <p:ph type="dgm" sz="quarter" idx="15"/>
          </p:nvPr>
        </p:nvSpPr>
        <p:spPr>
          <a:xfrm>
            <a:off x="1828800" y="609600"/>
            <a:ext cx="5410200" cy="4114800"/>
          </a:xfrm>
        </p:spPr>
        <p:txBody>
          <a:bodyPr/>
          <a:lstStyle>
            <a:lvl1pPr marL="0" indent="0">
              <a:buNone/>
              <a:defRPr baseline="0"/>
            </a:lvl1pPr>
          </a:lstStyle>
          <a:p>
            <a:r>
              <a:rPr lang="en-US" dirty="0"/>
              <a:t>Click icon to add SmartArt</a:t>
            </a:r>
          </a:p>
        </p:txBody>
      </p:sp>
    </p:spTree>
    <p:extLst>
      <p:ext uri="{BB962C8B-B14F-4D97-AF65-F5344CB8AC3E}">
        <p14:creationId xmlns:p14="http://schemas.microsoft.com/office/powerpoint/2010/main" val="1203592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F9E8CB53-ACDC-4BB1-A263-4CA07F3DFC6E}" type="datetime3">
              <a:rPr lang="en-US" smtClean="0"/>
              <a:t>19 May 2025</a:t>
            </a:fld>
            <a:endParaRPr lang="en-US" dirty="0"/>
          </a:p>
        </p:txBody>
      </p:sp>
      <p:sp>
        <p:nvSpPr>
          <p:cNvPr id="4" name="Footer Placeholder 3"/>
          <p:cNvSpPr>
            <a:spLocks noGrp="1"/>
          </p:cNvSpPr>
          <p:nvPr>
            <p:ph type="ftr" sz="quarter" idx="11"/>
          </p:nvPr>
        </p:nvSpPr>
        <p:spPr/>
        <p:txBody>
          <a:bodyPr/>
          <a:lstStyle/>
          <a:p>
            <a:r>
              <a:rPr lang="en-US"/>
              <a:t>SCS 1302   Discrete Mathematics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martArt Placeholder 7"/>
          <p:cNvSpPr>
            <a:spLocks noGrp="1"/>
          </p:cNvSpPr>
          <p:nvPr>
            <p:ph type="dgm" sz="quarter" idx="16"/>
          </p:nvPr>
        </p:nvSpPr>
        <p:spPr>
          <a:xfrm>
            <a:off x="4648200" y="1676400"/>
            <a:ext cx="4038600" cy="4419600"/>
          </a:xfrm>
        </p:spPr>
        <p:txBody>
          <a:bodyPr/>
          <a:lstStyle>
            <a:lvl1pPr marL="0" indent="0">
              <a:buNone/>
              <a:defRPr/>
            </a:lvl1pPr>
          </a:lstStyle>
          <a:p>
            <a:r>
              <a:rPr lang="en-US" dirty="0"/>
              <a:t>Click icon to add SmartArt</a:t>
            </a:r>
          </a:p>
        </p:txBody>
      </p:sp>
    </p:spTree>
    <p:extLst>
      <p:ext uri="{BB962C8B-B14F-4D97-AF65-F5344CB8AC3E}">
        <p14:creationId xmlns:p14="http://schemas.microsoft.com/office/powerpoint/2010/main" val="10508923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358D588A-A98F-4C8C-9155-BA71009F0B21}" type="datetime3">
              <a:rPr lang="en-US" smtClean="0"/>
              <a:t>19 May 2025</a:t>
            </a:fld>
            <a:endParaRPr lang="en-US"/>
          </a:p>
        </p:txBody>
      </p:sp>
      <p:sp>
        <p:nvSpPr>
          <p:cNvPr id="6" name="Footer Placeholder 5"/>
          <p:cNvSpPr>
            <a:spLocks noGrp="1"/>
          </p:cNvSpPr>
          <p:nvPr>
            <p:ph type="ftr" sz="quarter" idx="11"/>
          </p:nvPr>
        </p:nvSpPr>
        <p:spPr/>
        <p:txBody>
          <a:bodyPr/>
          <a:lstStyle/>
          <a:p>
            <a:r>
              <a:rPr lang="en-US"/>
              <a:t>SCS 1302   Discrete Mathematics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
        <p:nvSpPr>
          <p:cNvPr id="9" name="Media Placeholder 8"/>
          <p:cNvSpPr>
            <a:spLocks noGrp="1"/>
          </p:cNvSpPr>
          <p:nvPr>
            <p:ph type="media" sz="quarter" idx="16" hasCustomPrompt="1"/>
          </p:nvPr>
        </p:nvSpPr>
        <p:spPr>
          <a:xfrm>
            <a:off x="1828800" y="609600"/>
            <a:ext cx="5410200" cy="4114800"/>
          </a:xfrm>
        </p:spPr>
        <p:txBody>
          <a:bodyPr/>
          <a:lstStyle>
            <a:lvl1pPr marL="0" indent="0">
              <a:buNone/>
              <a:defRPr/>
            </a:lvl1pPr>
          </a:lstStyle>
          <a:p>
            <a:r>
              <a:rPr lang="en-US" dirty="0"/>
              <a:t>Click icon to add Media</a:t>
            </a:r>
          </a:p>
        </p:txBody>
      </p:sp>
    </p:spTree>
    <p:extLst>
      <p:ext uri="{BB962C8B-B14F-4D97-AF65-F5344CB8AC3E}">
        <p14:creationId xmlns:p14="http://schemas.microsoft.com/office/powerpoint/2010/main" val="40643518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57E8976-AABD-4043-8EEC-8EE1F09B430A}" type="datetime3">
              <a:rPr lang="en-US" smtClean="0"/>
              <a:t>19 May 2025</a:t>
            </a:fld>
            <a:endParaRPr lang="en-US" dirty="0"/>
          </a:p>
        </p:txBody>
      </p:sp>
      <p:sp>
        <p:nvSpPr>
          <p:cNvPr id="4" name="Footer Placeholder 3"/>
          <p:cNvSpPr>
            <a:spLocks noGrp="1"/>
          </p:cNvSpPr>
          <p:nvPr>
            <p:ph type="ftr" sz="quarter" idx="11"/>
          </p:nvPr>
        </p:nvSpPr>
        <p:spPr/>
        <p:txBody>
          <a:bodyPr/>
          <a:lstStyle/>
          <a:p>
            <a:r>
              <a:rPr lang="en-US"/>
              <a:t>SCS 1302   Discrete Mathematics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Media Placeholder 6"/>
          <p:cNvSpPr>
            <a:spLocks noGrp="1"/>
          </p:cNvSpPr>
          <p:nvPr>
            <p:ph type="media" sz="quarter" idx="17" hasCustomPrompt="1"/>
          </p:nvPr>
        </p:nvSpPr>
        <p:spPr>
          <a:xfrm>
            <a:off x="4648200" y="1676400"/>
            <a:ext cx="4038600" cy="4419600"/>
          </a:xfrm>
        </p:spPr>
        <p:txBody>
          <a:bodyPr/>
          <a:lstStyle>
            <a:lvl1pPr marL="0" indent="0">
              <a:buNone/>
              <a:defRPr/>
            </a:lvl1pPr>
          </a:lstStyle>
          <a:p>
            <a:r>
              <a:rPr lang="en-US" dirty="0"/>
              <a:t>Click icon to add Media</a:t>
            </a:r>
          </a:p>
        </p:txBody>
      </p:sp>
    </p:spTree>
    <p:extLst>
      <p:ext uri="{BB962C8B-B14F-4D97-AF65-F5344CB8AC3E}">
        <p14:creationId xmlns:p14="http://schemas.microsoft.com/office/powerpoint/2010/main" val="921398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DAF987-351A-4339-947E-A1E3FED9E5CC}"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4302728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7467600" y="0"/>
            <a:ext cx="1371600" cy="61722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hasCustomPrompt="1"/>
          </p:nvPr>
        </p:nvSpPr>
        <p:spPr>
          <a:xfrm>
            <a:off x="7543800" y="274638"/>
            <a:ext cx="1295400" cy="5851525"/>
          </a:xfrm>
        </p:spPr>
        <p:txBody>
          <a:bodyPr vert="eaVert"/>
          <a:lstStyle>
            <a:lvl1pPr>
              <a:defRPr>
                <a:solidFill>
                  <a:schemeClr val="bg1"/>
                </a:solidFill>
              </a:defRPr>
            </a:lvl1pPr>
          </a:lstStyle>
          <a:p>
            <a:r>
              <a:rPr lang="en-US" dirty="0"/>
              <a:t>CLICK TO EDIT MASTER TITLE STYLE</a:t>
            </a:r>
          </a:p>
        </p:txBody>
      </p:sp>
      <p:sp>
        <p:nvSpPr>
          <p:cNvPr id="3" name="Vertical Text Placeholder 2"/>
          <p:cNvSpPr>
            <a:spLocks noGrp="1"/>
          </p:cNvSpPr>
          <p:nvPr>
            <p:ph type="body" orient="vert" idx="1"/>
          </p:nvPr>
        </p:nvSpPr>
        <p:spPr>
          <a:xfrm>
            <a:off x="457200" y="274638"/>
            <a:ext cx="69342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0290D67-207F-44B2-A754-BED58862CCE7}"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462804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1066800" y="6454833"/>
            <a:ext cx="4495800" cy="25076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279400"/>
            <a:ext cx="9144000" cy="13208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304800"/>
            <a:ext cx="8229600" cy="12493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676400"/>
            <a:ext cx="8229600" cy="4449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832121" y="6400800"/>
            <a:ext cx="1092679" cy="320675"/>
          </a:xfrm>
          <a:prstGeom prst="rect">
            <a:avLst/>
          </a:prstGeom>
        </p:spPr>
        <p:txBody>
          <a:bodyPr vert="horz" lIns="91440" tIns="45720" rIns="91440" bIns="45720" rtlCol="0" anchor="b"/>
          <a:lstStyle>
            <a:lvl1pPr algn="r">
              <a:defRPr sz="1000" b="1">
                <a:solidFill>
                  <a:schemeClr val="bg1">
                    <a:lumMod val="50000"/>
                  </a:schemeClr>
                </a:solidFill>
              </a:defRPr>
            </a:lvl1pPr>
          </a:lstStyle>
          <a:p>
            <a:fld id="{BE4FA1C3-0412-4214-9245-3811887E8051}" type="datetime3">
              <a:rPr lang="en-US" smtClean="0"/>
              <a:t>19 May 2025</a:t>
            </a:fld>
            <a:endParaRPr lang="en-US" dirty="0"/>
          </a:p>
        </p:txBody>
      </p:sp>
      <p:sp>
        <p:nvSpPr>
          <p:cNvPr id="5" name="Footer Placeholder 4"/>
          <p:cNvSpPr>
            <a:spLocks noGrp="1"/>
          </p:cNvSpPr>
          <p:nvPr>
            <p:ph type="ftr" sz="quarter" idx="3"/>
          </p:nvPr>
        </p:nvSpPr>
        <p:spPr>
          <a:xfrm>
            <a:off x="1066800" y="6400800"/>
            <a:ext cx="4495800" cy="320675"/>
          </a:xfrm>
          <a:prstGeom prst="rect">
            <a:avLst/>
          </a:prstGeom>
        </p:spPr>
        <p:txBody>
          <a:bodyPr vert="horz" lIns="91440" tIns="45720" rIns="91440" bIns="45720" rtlCol="0" anchor="b"/>
          <a:lstStyle>
            <a:lvl1pPr algn="l">
              <a:defRPr sz="1000" b="1">
                <a:solidFill>
                  <a:schemeClr val="tx1"/>
                </a:solidFill>
              </a:defRPr>
            </a:lvl1pPr>
          </a:lstStyle>
          <a:p>
            <a:r>
              <a:rPr lang="en-US"/>
              <a:t>SCS 1302   Discrete Mathematics       Prof. D D Karunaratna</a:t>
            </a:r>
            <a:endParaRPr lang="en-US" dirty="0"/>
          </a:p>
        </p:txBody>
      </p:sp>
      <p:sp>
        <p:nvSpPr>
          <p:cNvPr id="6" name="Slide Number Placeholder 5"/>
          <p:cNvSpPr>
            <a:spLocks noGrp="1"/>
          </p:cNvSpPr>
          <p:nvPr>
            <p:ph type="sldNum" sz="quarter" idx="4"/>
          </p:nvPr>
        </p:nvSpPr>
        <p:spPr>
          <a:xfrm>
            <a:off x="7924800" y="6400800"/>
            <a:ext cx="762000" cy="320675"/>
          </a:xfrm>
          <a:prstGeom prst="rect">
            <a:avLst/>
          </a:prstGeom>
        </p:spPr>
        <p:txBody>
          <a:bodyPr vert="horz" lIns="91440" tIns="45720" rIns="91440" bIns="45720" rtlCol="0" anchor="b"/>
          <a:lstStyle>
            <a:lvl1pPr algn="r">
              <a:defRPr sz="1000" b="1">
                <a:solidFill>
                  <a:schemeClr val="bg1">
                    <a:lumMod val="50000"/>
                  </a:schemeClr>
                </a:solidFill>
              </a:defRPr>
            </a:lvl1pPr>
          </a:lstStyle>
          <a:p>
            <a:r>
              <a:rPr lang="en-US" dirty="0"/>
              <a:t>|        </a:t>
            </a:r>
            <a:fld id="{0CA841A6-7C02-4C92-B6EE-5DBCC2AD53D0}" type="slidenum">
              <a:rPr lang="en-US" smtClean="0"/>
              <a:pPr/>
              <a:t>‹#›</a:t>
            </a:fld>
            <a:endParaRPr lang="en-US" dirty="0"/>
          </a:p>
        </p:txBody>
      </p:sp>
      <p:pic>
        <p:nvPicPr>
          <p:cNvPr id="8" name="Picture 7"/>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381000" y="6226233"/>
            <a:ext cx="609600" cy="457200"/>
          </a:xfrm>
          <a:prstGeom prst="rect">
            <a:avLst/>
          </a:prstGeom>
        </p:spPr>
      </p:pic>
      <p:cxnSp>
        <p:nvCxnSpPr>
          <p:cNvPr id="10" name="Straight Connector 9"/>
          <p:cNvCxnSpPr/>
          <p:nvPr userDrawn="1"/>
        </p:nvCxnSpPr>
        <p:spPr>
          <a:xfrm>
            <a:off x="1066800" y="6400800"/>
            <a:ext cx="807720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522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2" r:id="rId10"/>
    <p:sldLayoutId id="2147483663" r:id="rId11"/>
    <p:sldLayoutId id="2147483660" r:id="rId12"/>
    <p:sldLayoutId id="2147483664" r:id="rId13"/>
    <p:sldLayoutId id="2147483665" r:id="rId14"/>
    <p:sldLayoutId id="2147483666" r:id="rId15"/>
    <p:sldLayoutId id="2147483667" r:id="rId16"/>
    <p:sldLayoutId id="2147483668" r:id="rId17"/>
    <p:sldLayoutId id="2147483669" r:id="rId18"/>
    <p:sldLayoutId id="2147483658" r:id="rId19"/>
    <p:sldLayoutId id="2147483659" r:id="rId20"/>
  </p:sldLayoutIdLst>
  <p:hf hdr="0"/>
  <p:txStyles>
    <p:titleStyle>
      <a:lvl1pPr algn="l" defTabSz="914400" rtl="0" eaLnBrk="1" latinLnBrk="0" hangingPunct="1">
        <a:spcBef>
          <a:spcPct val="0"/>
        </a:spcBef>
        <a:buNone/>
        <a:defRPr sz="36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1.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5.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3.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2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2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28.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0.png"/><Relationship Id="rId7" Type="http://schemas.openxmlformats.org/officeDocument/2006/relationships/image" Target="../media/image85.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Lesson 3: Arguments</a:t>
            </a:r>
          </a:p>
        </p:txBody>
      </p:sp>
      <p:sp>
        <p:nvSpPr>
          <p:cNvPr id="3" name="Content Placeholder 2"/>
          <p:cNvSpPr>
            <a:spLocks noGrp="1"/>
          </p:cNvSpPr>
          <p:nvPr>
            <p:ph idx="1"/>
          </p:nvPr>
        </p:nvSpPr>
        <p:spPr/>
        <p:txBody>
          <a:bodyPr>
            <a:normAutofit/>
          </a:bodyPr>
          <a:lstStyle/>
          <a:p>
            <a:pPr marL="0" indent="0">
              <a:buNone/>
            </a:pPr>
            <a:r>
              <a:rPr lang="en-US" b="1" dirty="0"/>
              <a:t>Topics to be covered. </a:t>
            </a:r>
          </a:p>
          <a:p>
            <a:pPr lvl="1"/>
            <a:r>
              <a:rPr lang="en-GB" dirty="0"/>
              <a:t>Valid Arguments in Propositional Logic</a:t>
            </a:r>
          </a:p>
          <a:p>
            <a:pPr lvl="1"/>
            <a:r>
              <a:rPr lang="en-GB" dirty="0"/>
              <a:t>Rules of Inference for propositional logic </a:t>
            </a:r>
          </a:p>
          <a:p>
            <a:pPr lvl="1"/>
            <a:r>
              <a:rPr lang="en-GB" dirty="0"/>
              <a:t>Using Rules of Inference to Build Arguments</a:t>
            </a:r>
          </a:p>
          <a:p>
            <a:pPr lvl="1"/>
            <a:r>
              <a:rPr lang="en-GB" dirty="0"/>
              <a:t>Rules of Inference for Quantified Statements</a:t>
            </a:r>
          </a:p>
          <a:p>
            <a:pPr lvl="1"/>
            <a:r>
              <a:rPr lang="en-GB" dirty="0"/>
              <a:t>Combining Rules of Inference for Propositions and Quantified Statements</a:t>
            </a:r>
          </a:p>
        </p:txBody>
      </p:sp>
      <p:sp>
        <p:nvSpPr>
          <p:cNvPr id="4" name="Date Placeholder 3"/>
          <p:cNvSpPr>
            <a:spLocks noGrp="1"/>
          </p:cNvSpPr>
          <p:nvPr>
            <p:ph type="dt" sz="half" idx="10"/>
          </p:nvPr>
        </p:nvSpPr>
        <p:spPr/>
        <p:txBody>
          <a:bodyPr/>
          <a:lstStyle/>
          <a:p>
            <a:fld id="{6E7808A8-3955-4F7A-A984-90007C829C97}"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a:t>
            </a:fld>
            <a:endParaRPr lang="en-US"/>
          </a:p>
        </p:txBody>
      </p:sp>
    </p:spTree>
    <p:extLst>
      <p:ext uri="{BB962C8B-B14F-4D97-AF65-F5344CB8AC3E}">
        <p14:creationId xmlns:p14="http://schemas.microsoft.com/office/powerpoint/2010/main" val="3023009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E5AE-3952-C762-0C78-FB0090603CF8}"/>
              </a:ext>
            </a:extLst>
          </p:cNvPr>
          <p:cNvSpPr>
            <a:spLocks noGrp="1"/>
          </p:cNvSpPr>
          <p:nvPr>
            <p:ph type="title"/>
          </p:nvPr>
        </p:nvSpPr>
        <p:spPr/>
        <p:txBody>
          <a:bodyPr/>
          <a:lstStyle/>
          <a:p>
            <a:r>
              <a:rPr lang="en-US" dirty="0"/>
              <a:t>Consistency</a:t>
            </a:r>
          </a:p>
        </p:txBody>
      </p:sp>
      <p:sp>
        <p:nvSpPr>
          <p:cNvPr id="3" name="Content Placeholder 2">
            <a:extLst>
              <a:ext uri="{FF2B5EF4-FFF2-40B4-BE49-F238E27FC236}">
                <a16:creationId xmlns:a16="http://schemas.microsoft.com/office/drawing/2014/main" id="{2FADF88F-1710-9D27-30C8-3AF43EDD7CC7}"/>
              </a:ext>
            </a:extLst>
          </p:cNvPr>
          <p:cNvSpPr>
            <a:spLocks noGrp="1"/>
          </p:cNvSpPr>
          <p:nvPr>
            <p:ph idx="1"/>
          </p:nvPr>
        </p:nvSpPr>
        <p:spPr/>
        <p:txBody>
          <a:bodyPr/>
          <a:lstStyle/>
          <a:p>
            <a:r>
              <a:rPr lang="en-US" b="0" i="0" dirty="0">
                <a:solidFill>
                  <a:srgbClr val="040C28"/>
                </a:solidFill>
                <a:effectLst/>
                <a:latin typeface="Google Sans"/>
              </a:rPr>
              <a:t>A set of statements is logically consistent if they can all be true at the same time. </a:t>
            </a:r>
            <a:r>
              <a:rPr lang="en-US" b="0" i="0" dirty="0">
                <a:solidFill>
                  <a:srgbClr val="444444"/>
                </a:solidFill>
                <a:effectLst/>
                <a:latin typeface="Arial" panose="020B0604020202020204" pitchFamily="34" charset="0"/>
              </a:rPr>
              <a:t>A set of statements is logically inconsistent if they cannot all be true at the same time.</a:t>
            </a:r>
            <a:endParaRPr lang="en-US" dirty="0"/>
          </a:p>
        </p:txBody>
      </p:sp>
      <p:sp>
        <p:nvSpPr>
          <p:cNvPr id="4" name="Date Placeholder 3">
            <a:extLst>
              <a:ext uri="{FF2B5EF4-FFF2-40B4-BE49-F238E27FC236}">
                <a16:creationId xmlns:a16="http://schemas.microsoft.com/office/drawing/2014/main" id="{B9850C97-2766-7D0D-180D-8B396048ED88}"/>
              </a:ext>
            </a:extLst>
          </p:cNvPr>
          <p:cNvSpPr>
            <a:spLocks noGrp="1"/>
          </p:cNvSpPr>
          <p:nvPr>
            <p:ph type="dt" sz="half" idx="10"/>
          </p:nvPr>
        </p:nvSpPr>
        <p:spPr/>
        <p:txBody>
          <a:bodyPr/>
          <a:lstStyle/>
          <a:p>
            <a:fld id="{9AF9EAE5-C444-47BB-8DB6-5C741FF92E26}" type="datetime3">
              <a:rPr lang="en-US" smtClean="0"/>
              <a:t>19 May 2025</a:t>
            </a:fld>
            <a:endParaRPr lang="en-US"/>
          </a:p>
        </p:txBody>
      </p:sp>
      <p:sp>
        <p:nvSpPr>
          <p:cNvPr id="5" name="Footer Placeholder 4">
            <a:extLst>
              <a:ext uri="{FF2B5EF4-FFF2-40B4-BE49-F238E27FC236}">
                <a16:creationId xmlns:a16="http://schemas.microsoft.com/office/drawing/2014/main" id="{367E99DE-65BC-AA53-8D97-4AFAA6CCFFAF}"/>
              </a:ext>
            </a:extLst>
          </p:cNvPr>
          <p:cNvSpPr>
            <a:spLocks noGrp="1"/>
          </p:cNvSpPr>
          <p:nvPr>
            <p:ph type="ftr" sz="quarter" idx="11"/>
          </p:nvPr>
        </p:nvSpPr>
        <p:spPr/>
        <p:txBody>
          <a:bodyPr/>
          <a:lstStyle/>
          <a:p>
            <a:r>
              <a:rPr lang="en-US"/>
              <a:t>SCS 1302   Discrete Mathematics       Prof. D D Karunaratna</a:t>
            </a:r>
          </a:p>
        </p:txBody>
      </p:sp>
      <p:sp>
        <p:nvSpPr>
          <p:cNvPr id="6" name="Slide Number Placeholder 5">
            <a:extLst>
              <a:ext uri="{FF2B5EF4-FFF2-40B4-BE49-F238E27FC236}">
                <a16:creationId xmlns:a16="http://schemas.microsoft.com/office/drawing/2014/main" id="{9F1411C7-F6CB-59D3-F90B-AC5763D23D5F}"/>
              </a:ext>
            </a:extLst>
          </p:cNvPr>
          <p:cNvSpPr>
            <a:spLocks noGrp="1"/>
          </p:cNvSpPr>
          <p:nvPr>
            <p:ph type="sldNum" sz="quarter" idx="12"/>
          </p:nvPr>
        </p:nvSpPr>
        <p:spPr/>
        <p:txBody>
          <a:bodyPr/>
          <a:lstStyle/>
          <a:p>
            <a:fld id="{0CA841A6-7C02-4C92-B6EE-5DBCC2AD53D0}" type="slidenum">
              <a:rPr lang="en-US" smtClean="0"/>
              <a:t>2</a:t>
            </a:fld>
            <a:endParaRPr lang="en-US"/>
          </a:p>
        </p:txBody>
      </p:sp>
    </p:spTree>
    <p:extLst>
      <p:ext uri="{BB962C8B-B14F-4D97-AF65-F5344CB8AC3E}">
        <p14:creationId xmlns:p14="http://schemas.microsoft.com/office/powerpoint/2010/main" val="1489033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E63A-931A-3D56-A6BD-195BF18E2D02}"/>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4C86E8D-6099-88A3-2B3F-5B97BC3E286E}"/>
              </a:ext>
            </a:extLst>
          </p:cNvPr>
          <p:cNvSpPr>
            <a:spLocks noGrp="1"/>
          </p:cNvSpPr>
          <p:nvPr>
            <p:ph idx="1"/>
          </p:nvPr>
        </p:nvSpPr>
        <p:spPr/>
        <p:txBody>
          <a:bodyPr>
            <a:normAutofit fontScale="77500" lnSpcReduction="20000"/>
          </a:bodyPr>
          <a:lstStyle/>
          <a:p>
            <a:pPr algn="l">
              <a:spcAft>
                <a:spcPts val="1200"/>
              </a:spcAft>
              <a:buNone/>
            </a:pPr>
            <a:r>
              <a:rPr lang="en-US" b="0" i="1" dirty="0">
                <a:effectLst/>
                <a:latin typeface="Arial" panose="020B0604020202020204" pitchFamily="34" charset="0"/>
              </a:rPr>
              <a:t>Example: The following statements are logically inconsistent.</a:t>
            </a:r>
          </a:p>
          <a:p>
            <a:pPr algn="l">
              <a:spcAft>
                <a:spcPts val="1200"/>
              </a:spcAft>
              <a:buNone/>
            </a:pPr>
            <a:r>
              <a:rPr lang="en-US" b="0" i="1" dirty="0">
                <a:effectLst/>
                <a:latin typeface="Arial" panose="020B0604020202020204" pitchFamily="34" charset="0"/>
              </a:rPr>
              <a:t>	All men have blonde hair. </a:t>
            </a:r>
          </a:p>
          <a:p>
            <a:pPr algn="l">
              <a:spcAft>
                <a:spcPts val="1200"/>
              </a:spcAft>
              <a:buNone/>
            </a:pPr>
            <a:r>
              <a:rPr lang="en-US" b="0" i="1" dirty="0">
                <a:effectLst/>
                <a:latin typeface="Arial" panose="020B0604020202020204" pitchFamily="34" charset="0"/>
              </a:rPr>
              <a:t>	I am a man. </a:t>
            </a:r>
          </a:p>
          <a:p>
            <a:pPr algn="l">
              <a:spcAft>
                <a:spcPts val="1200"/>
              </a:spcAft>
              <a:buNone/>
            </a:pPr>
            <a:r>
              <a:rPr lang="en-US" b="0" i="1" dirty="0">
                <a:effectLst/>
                <a:latin typeface="Arial" panose="020B0604020202020204" pitchFamily="34" charset="0"/>
              </a:rPr>
              <a:t>	I have brown hair.</a:t>
            </a:r>
            <a:endParaRPr lang="en-US" b="0" i="0" dirty="0">
              <a:effectLst/>
              <a:latin typeface="Arial" panose="020B0604020202020204" pitchFamily="34" charset="0"/>
            </a:endParaRPr>
          </a:p>
          <a:p>
            <a:pPr algn="l">
              <a:spcAft>
                <a:spcPts val="1200"/>
              </a:spcAft>
            </a:pPr>
            <a:r>
              <a:rPr lang="en-US" b="0" i="1" dirty="0">
                <a:effectLst/>
                <a:latin typeface="Arial" panose="020B0604020202020204" pitchFamily="34" charset="0"/>
              </a:rPr>
              <a:t>Answer: These three beliefs are logically inconsistent. If the first two statements are true, the third must be false. If the third is true, the first or second must be false. They cannot all be simultaneously true.</a:t>
            </a:r>
            <a:endParaRPr lang="en-US" b="0" i="0" dirty="0">
              <a:effectLst/>
              <a:latin typeface="Arial" panose="020B0604020202020204" pitchFamily="34" charset="0"/>
            </a:endParaRPr>
          </a:p>
          <a:p>
            <a:endParaRPr lang="en-US" dirty="0"/>
          </a:p>
        </p:txBody>
      </p:sp>
      <p:sp>
        <p:nvSpPr>
          <p:cNvPr id="4" name="Date Placeholder 3">
            <a:extLst>
              <a:ext uri="{FF2B5EF4-FFF2-40B4-BE49-F238E27FC236}">
                <a16:creationId xmlns:a16="http://schemas.microsoft.com/office/drawing/2014/main" id="{CFA483E8-377A-9C0B-6560-DD7631B66BAD}"/>
              </a:ext>
            </a:extLst>
          </p:cNvPr>
          <p:cNvSpPr>
            <a:spLocks noGrp="1"/>
          </p:cNvSpPr>
          <p:nvPr>
            <p:ph type="dt" sz="half" idx="10"/>
          </p:nvPr>
        </p:nvSpPr>
        <p:spPr/>
        <p:txBody>
          <a:bodyPr/>
          <a:lstStyle/>
          <a:p>
            <a:fld id="{9AF9EAE5-C444-47BB-8DB6-5C741FF92E26}" type="datetime3">
              <a:rPr lang="en-US" smtClean="0"/>
              <a:t>19 May 2025</a:t>
            </a:fld>
            <a:endParaRPr lang="en-US"/>
          </a:p>
        </p:txBody>
      </p:sp>
      <p:sp>
        <p:nvSpPr>
          <p:cNvPr id="5" name="Footer Placeholder 4">
            <a:extLst>
              <a:ext uri="{FF2B5EF4-FFF2-40B4-BE49-F238E27FC236}">
                <a16:creationId xmlns:a16="http://schemas.microsoft.com/office/drawing/2014/main" id="{8562AFB2-F8BC-4677-3F88-AC704FD5F9C6}"/>
              </a:ext>
            </a:extLst>
          </p:cNvPr>
          <p:cNvSpPr>
            <a:spLocks noGrp="1"/>
          </p:cNvSpPr>
          <p:nvPr>
            <p:ph type="ftr" sz="quarter" idx="11"/>
          </p:nvPr>
        </p:nvSpPr>
        <p:spPr/>
        <p:txBody>
          <a:bodyPr/>
          <a:lstStyle/>
          <a:p>
            <a:r>
              <a:rPr lang="en-US"/>
              <a:t>SCS 1302   Discrete Mathematics       Prof. D D Karunaratna</a:t>
            </a:r>
          </a:p>
        </p:txBody>
      </p:sp>
      <p:sp>
        <p:nvSpPr>
          <p:cNvPr id="6" name="Slide Number Placeholder 5">
            <a:extLst>
              <a:ext uri="{FF2B5EF4-FFF2-40B4-BE49-F238E27FC236}">
                <a16:creationId xmlns:a16="http://schemas.microsoft.com/office/drawing/2014/main" id="{293E4798-C9E9-D8D0-9F1C-96D450EB0D81}"/>
              </a:ext>
            </a:extLst>
          </p:cNvPr>
          <p:cNvSpPr>
            <a:spLocks noGrp="1"/>
          </p:cNvSpPr>
          <p:nvPr>
            <p:ph type="sldNum" sz="quarter" idx="12"/>
          </p:nvPr>
        </p:nvSpPr>
        <p:spPr/>
        <p:txBody>
          <a:bodyPr/>
          <a:lstStyle/>
          <a:p>
            <a:fld id="{0CA841A6-7C02-4C92-B6EE-5DBCC2AD53D0}" type="slidenum">
              <a:rPr lang="en-US" smtClean="0"/>
              <a:t>3</a:t>
            </a:fld>
            <a:endParaRPr lang="en-US"/>
          </a:p>
        </p:txBody>
      </p:sp>
    </p:spTree>
    <p:extLst>
      <p:ext uri="{BB962C8B-B14F-4D97-AF65-F5344CB8AC3E}">
        <p14:creationId xmlns:p14="http://schemas.microsoft.com/office/powerpoint/2010/main" val="155798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Valid Argument</a:t>
            </a:r>
          </a:p>
        </p:txBody>
      </p:sp>
      <p:sp>
        <p:nvSpPr>
          <p:cNvPr id="4" name="Date Placeholder 3"/>
          <p:cNvSpPr>
            <a:spLocks noGrp="1"/>
          </p:cNvSpPr>
          <p:nvPr>
            <p:ph type="dt" sz="half" idx="10"/>
          </p:nvPr>
        </p:nvSpPr>
        <p:spPr/>
        <p:txBody>
          <a:bodyPr/>
          <a:lstStyle/>
          <a:p>
            <a:fld id="{B0ACEFD6-C24C-401A-BE08-31AB090B4BA4}"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4</a:t>
            </a:fld>
            <a:endParaRPr lang="en-US"/>
          </a:p>
        </p:txBody>
      </p:sp>
      <p:sp>
        <p:nvSpPr>
          <p:cNvPr id="7" name="Rectangle 6"/>
          <p:cNvSpPr/>
          <p:nvPr/>
        </p:nvSpPr>
        <p:spPr>
          <a:xfrm>
            <a:off x="535259" y="1960126"/>
            <a:ext cx="8151541" cy="3447098"/>
          </a:xfrm>
          <a:prstGeom prst="rect">
            <a:avLst/>
          </a:prstGeom>
        </p:spPr>
        <p:txBody>
          <a:bodyPr wrap="square">
            <a:spAutoFit/>
          </a:bodyPr>
          <a:lstStyle/>
          <a:p>
            <a:pPr algn="just"/>
            <a:r>
              <a:rPr lang="en-US" dirty="0"/>
              <a:t> </a:t>
            </a:r>
            <a:r>
              <a:rPr lang="en-US" sz="2000" dirty="0"/>
              <a:t>An </a:t>
            </a:r>
            <a:r>
              <a:rPr lang="en-US" sz="2000" b="1" dirty="0"/>
              <a:t>argument</a:t>
            </a:r>
            <a:r>
              <a:rPr lang="en-US" sz="2000" dirty="0"/>
              <a:t> in propositional logic is a sequence of propositions. All proposition except the last in  are called </a:t>
            </a:r>
            <a:r>
              <a:rPr lang="en-US" sz="2000" b="1" dirty="0"/>
              <a:t>premises</a:t>
            </a:r>
            <a:r>
              <a:rPr lang="en-US" sz="2000" dirty="0"/>
              <a:t> and the ﬁnal proposition is called the </a:t>
            </a:r>
            <a:r>
              <a:rPr lang="en-US" sz="2000" b="1" dirty="0"/>
              <a:t>conclusion</a:t>
            </a:r>
            <a:r>
              <a:rPr lang="en-US" sz="2000" dirty="0"/>
              <a:t>. </a:t>
            </a:r>
          </a:p>
          <a:p>
            <a:pPr algn="just"/>
            <a:r>
              <a:rPr lang="en-US" sz="2000" dirty="0"/>
              <a:t>An argument is said to be valid if the truth of all its premises implies that the conclusion is true. </a:t>
            </a:r>
          </a:p>
          <a:p>
            <a:pPr algn="just"/>
            <a:endParaRPr lang="en-US" sz="2000" dirty="0"/>
          </a:p>
          <a:p>
            <a:pPr algn="just"/>
            <a:r>
              <a:rPr lang="en-US" sz="2000" dirty="0"/>
              <a:t>An </a:t>
            </a:r>
            <a:r>
              <a:rPr lang="en-US" sz="2000" b="1" dirty="0"/>
              <a:t>argument form</a:t>
            </a:r>
            <a:r>
              <a:rPr lang="en-US" sz="2000" dirty="0"/>
              <a:t> in propositional logic is a collection of propositions involving </a:t>
            </a:r>
            <a:r>
              <a:rPr lang="en-US" sz="2000" b="1" dirty="0"/>
              <a:t>propositional variables</a:t>
            </a:r>
            <a:r>
              <a:rPr lang="en-US" sz="2000" dirty="0"/>
              <a:t>. An </a:t>
            </a:r>
            <a:r>
              <a:rPr lang="en-US" sz="2000" b="1" dirty="0"/>
              <a:t>argument form </a:t>
            </a:r>
            <a:r>
              <a:rPr lang="en-US" sz="2000" dirty="0"/>
              <a:t>is valid no matter which particular propositions are substituted for the propositional variables in its premises and conclusion, the conclusion is true if the premises are all true.</a:t>
            </a:r>
          </a:p>
          <a:p>
            <a:pPr algn="just"/>
            <a:endParaRPr lang="en-US" dirty="0"/>
          </a:p>
        </p:txBody>
      </p:sp>
    </p:spTree>
    <p:extLst>
      <p:ext uri="{BB962C8B-B14F-4D97-AF65-F5344CB8AC3E}">
        <p14:creationId xmlns:p14="http://schemas.microsoft.com/office/powerpoint/2010/main" val="410233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p>
        </p:txBody>
      </p:sp>
      <p:sp>
        <p:nvSpPr>
          <p:cNvPr id="4" name="Date Placeholder 3"/>
          <p:cNvSpPr>
            <a:spLocks noGrp="1"/>
          </p:cNvSpPr>
          <p:nvPr>
            <p:ph type="dt" sz="half" idx="10"/>
          </p:nvPr>
        </p:nvSpPr>
        <p:spPr/>
        <p:txBody>
          <a:bodyPr/>
          <a:lstStyle/>
          <a:p>
            <a:fld id="{A0D4DE30-8EFE-4E53-A060-A6F6C62B8376}"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a:t>
            </a:fld>
            <a:endParaRPr lang="en-US"/>
          </a:p>
        </p:txBody>
      </p:sp>
      <p:sp>
        <p:nvSpPr>
          <p:cNvPr id="7" name="TextBox 6"/>
          <p:cNvSpPr txBox="1"/>
          <p:nvPr/>
        </p:nvSpPr>
        <p:spPr>
          <a:xfrm>
            <a:off x="423747" y="1621810"/>
            <a:ext cx="8263054" cy="2215991"/>
          </a:xfrm>
          <a:prstGeom prst="rect">
            <a:avLst/>
          </a:prstGeom>
          <a:noFill/>
        </p:spPr>
        <p:txBody>
          <a:bodyPr wrap="square" rtlCol="0">
            <a:spAutoFit/>
          </a:bodyPr>
          <a:lstStyle/>
          <a:p>
            <a:r>
              <a:rPr lang="en-US" sz="2000" dirty="0"/>
              <a:t>Consider the following argument:</a:t>
            </a:r>
          </a:p>
          <a:p>
            <a:r>
              <a:rPr lang="en-US" sz="2000" dirty="0"/>
              <a:t>“If you have a current password, then you can log onto the network.”</a:t>
            </a:r>
          </a:p>
          <a:p>
            <a:r>
              <a:rPr lang="en-US" sz="2000" dirty="0"/>
              <a:t>“You have a current password.”</a:t>
            </a:r>
          </a:p>
          <a:p>
            <a:r>
              <a:rPr lang="en-US" sz="2000" dirty="0"/>
              <a:t>Therefore,</a:t>
            </a:r>
          </a:p>
          <a:p>
            <a:r>
              <a:rPr lang="en-US" sz="2000" dirty="0"/>
              <a:t>“You can log onto the network.”</a:t>
            </a:r>
          </a:p>
          <a:p>
            <a:endParaRPr lang="en-US" sz="2000" dirty="0"/>
          </a:p>
          <a:p>
            <a:endParaRPr lang="en-US" dirty="0"/>
          </a:p>
        </p:txBody>
      </p:sp>
      <p:sp>
        <p:nvSpPr>
          <p:cNvPr id="8" name="TextBox 7"/>
          <p:cNvSpPr txBox="1"/>
          <p:nvPr/>
        </p:nvSpPr>
        <p:spPr>
          <a:xfrm>
            <a:off x="423747" y="3327737"/>
            <a:ext cx="8173844" cy="1015663"/>
          </a:xfrm>
          <a:prstGeom prst="rect">
            <a:avLst/>
          </a:prstGeom>
          <a:noFill/>
        </p:spPr>
        <p:txBody>
          <a:bodyPr wrap="square" rtlCol="0">
            <a:spAutoFit/>
          </a:bodyPr>
          <a:lstStyle/>
          <a:p>
            <a:r>
              <a:rPr lang="en-US" sz="2000" dirty="0"/>
              <a:t>Let  p be the proposition “You have a current password.” and let q be “You can log onto the network.”</a:t>
            </a:r>
          </a:p>
          <a:p>
            <a:r>
              <a:rPr lang="en-US" sz="2000" dirty="0"/>
              <a:t>Then the argument has the form</a:t>
            </a:r>
          </a:p>
        </p:txBody>
      </p:sp>
      <mc:AlternateContent xmlns:mc="http://schemas.openxmlformats.org/markup-compatibility/2006" xmlns:a14="http://schemas.microsoft.com/office/drawing/2010/main">
        <mc:Choice Requires="a14">
          <p:sp>
            <p:nvSpPr>
              <p:cNvPr id="9" name="TextBox 8"/>
              <p:cNvSpPr txBox="1"/>
              <p:nvPr/>
            </p:nvSpPr>
            <p:spPr>
              <a:xfrm>
                <a:off x="609600" y="4495800"/>
                <a:ext cx="1491669" cy="1323439"/>
              </a:xfrm>
              <a:prstGeom prst="rect">
                <a:avLst/>
              </a:prstGeom>
              <a:noFill/>
            </p:spPr>
            <p:txBody>
              <a:bodyPr wrap="square" rtlCol="0">
                <a:spAutoFit/>
              </a:bodyPr>
              <a:lstStyle/>
              <a:p>
                <a14:m>
                  <m:oMath xmlns:m="http://schemas.openxmlformats.org/officeDocument/2006/math">
                    <m:r>
                      <a:rPr lang="en-US" sz="2000" i="1">
                        <a:latin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𝑞</m:t>
                    </m:r>
                  </m:oMath>
                </a14:m>
                <a:r>
                  <a:rPr lang="en-US" sz="2000" dirty="0">
                    <a:ea typeface="Cambria Math" panose="02040503050406030204" pitchFamily="18" charset="0"/>
                  </a:rPr>
                  <a:t> </a:t>
                </a:r>
              </a:p>
              <a:p>
                <a14:m>
                  <m:oMath xmlns:m="http://schemas.openxmlformats.org/officeDocument/2006/math">
                    <m:r>
                      <a:rPr lang="en-US" sz="2000" i="1">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         </m:t>
                    </m:r>
                  </m:oMath>
                </a14:m>
                <a:r>
                  <a:rPr lang="en-US" sz="2000" dirty="0">
                    <a:ea typeface="Cambria Math" panose="02040503050406030204" pitchFamily="18" charset="0"/>
                  </a:rPr>
                  <a:t> </a:t>
                </a:r>
              </a:p>
              <a:p>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a:t>
                </a: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𝑞</m:t>
                      </m:r>
                      <m:r>
                        <a:rPr lang="en-US" sz="2000" i="1">
                          <a:latin typeface="Cambria Math" panose="02040503050406030204" pitchFamily="18" charset="0"/>
                          <a:ea typeface="Cambria Math" panose="02040503050406030204" pitchFamily="18" charset="0"/>
                        </a:rPr>
                        <m:t>.</m:t>
                      </m:r>
                    </m:oMath>
                  </m:oMathPara>
                </a14:m>
                <a:endParaRPr lang="en-GB"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609600" y="4495800"/>
                <a:ext cx="1491669" cy="1323439"/>
              </a:xfrm>
              <a:prstGeom prst="rect">
                <a:avLst/>
              </a:prstGeom>
              <a:blipFill rotWithShape="0">
                <a:blip r:embed="rId2"/>
                <a:stretch>
                  <a:fillRect b="-23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566511317"/>
                  </p:ext>
                </p:extLst>
              </p:nvPr>
            </p:nvGraphicFramePr>
            <p:xfrm>
              <a:off x="5334001" y="4038600"/>
              <a:ext cx="1143000" cy="225552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tblGrid>
                  <a:tr h="389238">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𝒑</m:t>
                                </m:r>
                              </m:oMath>
                            </m:oMathPara>
                          </a14:m>
                          <a:endParaRPr lang="en-GB" sz="2200"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𝒒</m:t>
                                </m:r>
                              </m:oMath>
                            </m:oMathPara>
                          </a14:m>
                          <a:endParaRPr lang="en-GB" sz="2200" dirty="0">
                            <a:solidFill>
                              <a:schemeClr val="tx1"/>
                            </a:solidFill>
                          </a:endParaRPr>
                        </a:p>
                      </a:txBody>
                      <a:tcPr/>
                    </a:tc>
                    <a:extLst>
                      <a:ext uri="{0D108BD9-81ED-4DB2-BD59-A6C34878D82A}">
                        <a16:rowId xmlns:a16="http://schemas.microsoft.com/office/drawing/2014/main" val="10000"/>
                      </a:ext>
                    </a:extLst>
                  </a:tr>
                  <a:tr h="417041">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417041">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417041">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417041">
                    <a:tc>
                      <a:txBody>
                        <a:bodyPr/>
                        <a:lstStyle/>
                        <a:p>
                          <a:pPr algn="ctr"/>
                          <a:r>
                            <a:rPr lang="en-GB" sz="2400" dirty="0"/>
                            <a:t>1</a:t>
                          </a:r>
                        </a:p>
                      </a:txBody>
                      <a:tcPr>
                        <a:solidFill>
                          <a:srgbClr val="FFFF00"/>
                        </a:solidFill>
                      </a:tcPr>
                    </a:tc>
                    <a:tc>
                      <a:txBody>
                        <a:bodyPr/>
                        <a:lstStyle/>
                        <a:p>
                          <a:pPr algn="ctr"/>
                          <a:r>
                            <a:rPr lang="en-GB" sz="2400" dirty="0" err="1"/>
                            <a:t>1</a:t>
                          </a:r>
                          <a:endParaRPr lang="en-GB" sz="2400" dirty="0"/>
                        </a:p>
                      </a:txBody>
                      <a:tcPr>
                        <a:solidFill>
                          <a:srgbClr val="FF0000"/>
                        </a:solidFill>
                      </a:tcPr>
                    </a:tc>
                    <a:extLst>
                      <a:ext uri="{0D108BD9-81ED-4DB2-BD59-A6C34878D82A}">
                        <a16:rowId xmlns:a16="http://schemas.microsoft.com/office/drawing/2014/main" val="10004"/>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566511317"/>
                  </p:ext>
                </p:extLst>
              </p:nvPr>
            </p:nvGraphicFramePr>
            <p:xfrm>
              <a:off x="5334001" y="4038600"/>
              <a:ext cx="1143000" cy="2255520"/>
            </p:xfrm>
            <a:graphic>
              <a:graphicData uri="http://schemas.openxmlformats.org/drawingml/2006/table">
                <a:tbl>
                  <a:tblPr firstRow="1" bandRow="1">
                    <a:tableStyleId>{5C22544A-7EE6-4342-B048-85BDC9FD1C3A}</a:tableStyleId>
                  </a:tblPr>
                  <a:tblGrid>
                    <a:gridCol w="548640"/>
                    <a:gridCol w="594360"/>
                  </a:tblGrid>
                  <a:tr h="426720">
                    <a:tc>
                      <a:txBody>
                        <a:bodyPr/>
                        <a:lstStyle/>
                        <a:p>
                          <a:endParaRPr lang="en-US"/>
                        </a:p>
                      </a:txBody>
                      <a:tcPr>
                        <a:blipFill rotWithShape="0">
                          <a:blip r:embed="rId3"/>
                          <a:stretch>
                            <a:fillRect l="-2222" t="-1429" r="-113333" b="-462857"/>
                          </a:stretch>
                        </a:blipFill>
                      </a:tcPr>
                    </a:tc>
                    <a:tc>
                      <a:txBody>
                        <a:bodyPr/>
                        <a:lstStyle/>
                        <a:p>
                          <a:endParaRPr lang="en-US"/>
                        </a:p>
                      </a:txBody>
                      <a:tcPr>
                        <a:blipFill rotWithShape="0">
                          <a:blip r:embed="rId3"/>
                          <a:stretch>
                            <a:fillRect l="-93878" t="-1429" r="-4082" b="-462857"/>
                          </a:stretch>
                        </a:blipFill>
                      </a:tcPr>
                    </a:tc>
                  </a:tr>
                  <a:tr h="457200">
                    <a:tc>
                      <a:txBody>
                        <a:bodyPr/>
                        <a:lstStyle/>
                        <a:p>
                          <a:pPr algn="ctr"/>
                          <a:r>
                            <a:rPr lang="en-GB" sz="2400" dirty="0" smtClean="0"/>
                            <a:t>0</a:t>
                          </a:r>
                          <a:endParaRPr lang="en-GB" sz="2400" dirty="0"/>
                        </a:p>
                      </a:txBody>
                      <a:tcPr/>
                    </a:tc>
                    <a:tc>
                      <a:txBody>
                        <a:bodyPr/>
                        <a:lstStyle/>
                        <a:p>
                          <a:pPr algn="ctr"/>
                          <a:r>
                            <a:rPr lang="en-GB" sz="2400" dirty="0" smtClean="0"/>
                            <a:t>0</a:t>
                          </a:r>
                          <a:endParaRPr lang="en-GB" sz="2400" dirty="0"/>
                        </a:p>
                      </a:txBody>
                      <a:tcPr/>
                    </a:tc>
                  </a:tr>
                  <a:tr h="457200">
                    <a:tc>
                      <a:txBody>
                        <a:bodyPr/>
                        <a:lstStyle/>
                        <a:p>
                          <a:pPr algn="ctr"/>
                          <a:r>
                            <a:rPr lang="en-GB" sz="2400" dirty="0" smtClean="0"/>
                            <a:t>0</a:t>
                          </a:r>
                          <a:endParaRPr lang="en-GB" sz="2400" dirty="0"/>
                        </a:p>
                      </a:txBody>
                      <a:tcPr/>
                    </a:tc>
                    <a:tc>
                      <a:txBody>
                        <a:bodyPr/>
                        <a:lstStyle/>
                        <a:p>
                          <a:pPr algn="ctr"/>
                          <a:r>
                            <a:rPr lang="en-GB" sz="2400" dirty="0" smtClean="0"/>
                            <a:t>1</a:t>
                          </a:r>
                          <a:endParaRPr lang="en-GB" sz="2400" dirty="0"/>
                        </a:p>
                      </a:txBody>
                      <a:tcPr/>
                    </a:tc>
                  </a:tr>
                  <a:tr h="457200">
                    <a:tc>
                      <a:txBody>
                        <a:bodyPr/>
                        <a:lstStyle/>
                        <a:p>
                          <a:pPr algn="ctr"/>
                          <a:r>
                            <a:rPr lang="en-GB" sz="2400" dirty="0" smtClean="0"/>
                            <a:t>1</a:t>
                          </a:r>
                          <a:endParaRPr lang="en-GB" sz="2400" dirty="0"/>
                        </a:p>
                      </a:txBody>
                      <a:tcPr/>
                    </a:tc>
                    <a:tc>
                      <a:txBody>
                        <a:bodyPr/>
                        <a:lstStyle/>
                        <a:p>
                          <a:pPr algn="ctr"/>
                          <a:r>
                            <a:rPr lang="en-GB" sz="2400" dirty="0" smtClean="0"/>
                            <a:t>0</a:t>
                          </a:r>
                          <a:endParaRPr lang="en-GB" sz="2400" dirty="0"/>
                        </a:p>
                      </a:txBody>
                      <a:tcPr/>
                    </a:tc>
                  </a:tr>
                  <a:tr h="457200">
                    <a:tc>
                      <a:txBody>
                        <a:bodyPr/>
                        <a:lstStyle/>
                        <a:p>
                          <a:pPr algn="ctr"/>
                          <a:r>
                            <a:rPr lang="en-GB" sz="2400" dirty="0" smtClean="0"/>
                            <a:t>1</a:t>
                          </a:r>
                          <a:endParaRPr lang="en-GB" sz="2400" dirty="0"/>
                        </a:p>
                      </a:txBody>
                      <a:tcPr>
                        <a:solidFill>
                          <a:srgbClr val="FFFF00"/>
                        </a:solidFill>
                      </a:tcPr>
                    </a:tc>
                    <a:tc>
                      <a:txBody>
                        <a:bodyPr/>
                        <a:lstStyle/>
                        <a:p>
                          <a:pPr algn="ctr"/>
                          <a:r>
                            <a:rPr lang="en-GB" sz="2400" dirty="0" err="1" smtClean="0"/>
                            <a:t>1</a:t>
                          </a:r>
                          <a:endParaRPr lang="en-GB" sz="2400" dirty="0"/>
                        </a:p>
                      </a:txBody>
                      <a:tcPr>
                        <a:solidFill>
                          <a:srgbClr val="FF0000"/>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3315408259"/>
                  </p:ext>
                </p:extLst>
              </p:nvPr>
            </p:nvGraphicFramePr>
            <p:xfrm>
              <a:off x="6512202" y="4043322"/>
              <a:ext cx="1024074" cy="2255520"/>
            </p:xfrm>
            <a:graphic>
              <a:graphicData uri="http://schemas.openxmlformats.org/drawingml/2006/table">
                <a:tbl>
                  <a:tblPr firstRow="1" bandRow="1">
                    <a:tableStyleId>{5C22544A-7EE6-4342-B048-85BDC9FD1C3A}</a:tableStyleId>
                  </a:tblPr>
                  <a:tblGrid>
                    <a:gridCol w="1024074">
                      <a:extLst>
                        <a:ext uri="{9D8B030D-6E8A-4147-A177-3AD203B41FA5}">
                          <a16:colId xmlns:a16="http://schemas.microsoft.com/office/drawing/2014/main" val="20000"/>
                        </a:ext>
                      </a:extLst>
                    </a:gridCol>
                  </a:tblGrid>
                  <a:tr h="389238">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𝒑</m:t>
                                </m:r>
                                <m:r>
                                  <a:rPr lang="en-GB" sz="2200" b="1" i="1" smtClean="0">
                                    <a:solidFill>
                                      <a:schemeClr val="tx1"/>
                                    </a:solidFill>
                                    <a:latin typeface="Cambria Math" panose="02040503050406030204" pitchFamily="18" charset="0"/>
                                    <a:ea typeface="Cambria Math" panose="02040503050406030204" pitchFamily="18" charset="0"/>
                                  </a:rPr>
                                  <m:t>→</m:t>
                                </m:r>
                                <m:r>
                                  <a:rPr lang="en-GB" sz="2200" b="1" i="1" smtClean="0">
                                    <a:solidFill>
                                      <a:schemeClr val="tx1"/>
                                    </a:solidFill>
                                    <a:latin typeface="Cambria Math" panose="02040503050406030204" pitchFamily="18" charset="0"/>
                                    <a:ea typeface="Cambria Math" panose="02040503050406030204" pitchFamily="18" charset="0"/>
                                  </a:rPr>
                                  <m:t>𝒒</m:t>
                                </m:r>
                              </m:oMath>
                            </m:oMathPara>
                          </a14:m>
                          <a:endParaRPr lang="en-GB" sz="2200" dirty="0">
                            <a:solidFill>
                              <a:schemeClr val="tx1"/>
                            </a:solidFill>
                          </a:endParaRPr>
                        </a:p>
                      </a:txBody>
                      <a:tcPr/>
                    </a:tc>
                    <a:extLst>
                      <a:ext uri="{0D108BD9-81ED-4DB2-BD59-A6C34878D82A}">
                        <a16:rowId xmlns:a16="http://schemas.microsoft.com/office/drawing/2014/main" val="10000"/>
                      </a:ext>
                    </a:extLst>
                  </a:tr>
                  <a:tr h="417041">
                    <a:tc>
                      <a:txBody>
                        <a:bodyPr/>
                        <a:lstStyle/>
                        <a:p>
                          <a:pPr algn="ctr"/>
                          <a:r>
                            <a:rPr lang="en-GB" sz="2400" dirty="0"/>
                            <a:t>1</a:t>
                          </a:r>
                        </a:p>
                      </a:txBody>
                      <a:tcPr/>
                    </a:tc>
                    <a:extLst>
                      <a:ext uri="{0D108BD9-81ED-4DB2-BD59-A6C34878D82A}">
                        <a16:rowId xmlns:a16="http://schemas.microsoft.com/office/drawing/2014/main" val="10001"/>
                      </a:ext>
                    </a:extLst>
                  </a:tr>
                  <a:tr h="417041">
                    <a:tc>
                      <a:txBody>
                        <a:bodyPr/>
                        <a:lstStyle/>
                        <a:p>
                          <a:pPr algn="ctr"/>
                          <a:r>
                            <a:rPr lang="en-GB" sz="2400" dirty="0"/>
                            <a:t>1</a:t>
                          </a:r>
                        </a:p>
                      </a:txBody>
                      <a:tcPr/>
                    </a:tc>
                    <a:extLst>
                      <a:ext uri="{0D108BD9-81ED-4DB2-BD59-A6C34878D82A}">
                        <a16:rowId xmlns:a16="http://schemas.microsoft.com/office/drawing/2014/main" val="10002"/>
                      </a:ext>
                    </a:extLst>
                  </a:tr>
                  <a:tr h="417041">
                    <a:tc>
                      <a:txBody>
                        <a:bodyPr/>
                        <a:lstStyle/>
                        <a:p>
                          <a:pPr algn="ctr"/>
                          <a:r>
                            <a:rPr lang="en-GB" sz="2400" dirty="0"/>
                            <a:t>0</a:t>
                          </a:r>
                        </a:p>
                      </a:txBody>
                      <a:tcPr/>
                    </a:tc>
                    <a:extLst>
                      <a:ext uri="{0D108BD9-81ED-4DB2-BD59-A6C34878D82A}">
                        <a16:rowId xmlns:a16="http://schemas.microsoft.com/office/drawing/2014/main" val="10003"/>
                      </a:ext>
                    </a:extLst>
                  </a:tr>
                  <a:tr h="417041">
                    <a:tc>
                      <a:txBody>
                        <a:bodyPr/>
                        <a:lstStyle/>
                        <a:p>
                          <a:pPr algn="ctr"/>
                          <a:r>
                            <a:rPr lang="en-GB" sz="2400" dirty="0"/>
                            <a:t>1</a:t>
                          </a:r>
                        </a:p>
                      </a:txBody>
                      <a:tcPr>
                        <a:solidFill>
                          <a:srgbClr val="FFFF00"/>
                        </a:solidFill>
                      </a:tcPr>
                    </a:tc>
                    <a:extLst>
                      <a:ext uri="{0D108BD9-81ED-4DB2-BD59-A6C34878D82A}">
                        <a16:rowId xmlns:a16="http://schemas.microsoft.com/office/drawing/2014/main" val="10004"/>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3315408259"/>
                  </p:ext>
                </p:extLst>
              </p:nvPr>
            </p:nvGraphicFramePr>
            <p:xfrm>
              <a:off x="6512202" y="4043322"/>
              <a:ext cx="1024074" cy="2255520"/>
            </p:xfrm>
            <a:graphic>
              <a:graphicData uri="http://schemas.openxmlformats.org/drawingml/2006/table">
                <a:tbl>
                  <a:tblPr firstRow="1" bandRow="1">
                    <a:tableStyleId>{5C22544A-7EE6-4342-B048-85BDC9FD1C3A}</a:tableStyleId>
                  </a:tblPr>
                  <a:tblGrid>
                    <a:gridCol w="1024074"/>
                  </a:tblGrid>
                  <a:tr h="426720">
                    <a:tc>
                      <a:txBody>
                        <a:bodyPr/>
                        <a:lstStyle/>
                        <a:p>
                          <a:endParaRPr lang="en-US"/>
                        </a:p>
                      </a:txBody>
                      <a:tcPr>
                        <a:blipFill rotWithShape="0">
                          <a:blip r:embed="rId4"/>
                          <a:stretch>
                            <a:fillRect l="-592" t="-1429" r="-2367" b="-462857"/>
                          </a:stretch>
                        </a:blipFill>
                      </a:tcPr>
                    </a:tc>
                  </a:tr>
                  <a:tr h="457200">
                    <a:tc>
                      <a:txBody>
                        <a:bodyPr/>
                        <a:lstStyle/>
                        <a:p>
                          <a:pPr algn="ctr"/>
                          <a:r>
                            <a:rPr lang="en-GB" sz="2400" dirty="0" smtClean="0"/>
                            <a:t>1</a:t>
                          </a:r>
                          <a:endParaRPr lang="en-GB" sz="2400" dirty="0"/>
                        </a:p>
                      </a:txBody>
                      <a:tcPr/>
                    </a:tc>
                  </a:tr>
                  <a:tr h="457200">
                    <a:tc>
                      <a:txBody>
                        <a:bodyPr/>
                        <a:lstStyle/>
                        <a:p>
                          <a:pPr algn="ctr"/>
                          <a:r>
                            <a:rPr lang="en-GB" sz="2400" dirty="0" smtClean="0"/>
                            <a:t>1</a:t>
                          </a:r>
                          <a:endParaRPr lang="en-GB" sz="2400" dirty="0"/>
                        </a:p>
                      </a:txBody>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1</a:t>
                          </a:r>
                          <a:endParaRPr lang="en-GB" sz="2400" dirty="0"/>
                        </a:p>
                      </a:txBody>
                      <a:tcPr>
                        <a:solidFill>
                          <a:srgbClr val="FFFF00"/>
                        </a:solidFill>
                      </a:tcPr>
                    </a:tc>
                  </a:tr>
                </a:tbl>
              </a:graphicData>
            </a:graphic>
          </p:graphicFrame>
        </mc:Fallback>
      </mc:AlternateContent>
      <p:sp>
        <p:nvSpPr>
          <p:cNvPr id="3" name="TextBox 2">
            <a:extLst>
              <a:ext uri="{FF2B5EF4-FFF2-40B4-BE49-F238E27FC236}">
                <a16:creationId xmlns:a16="http://schemas.microsoft.com/office/drawing/2014/main" id="{C294468E-89B6-D84F-212E-B3EF73F2AE74}"/>
              </a:ext>
            </a:extLst>
          </p:cNvPr>
          <p:cNvSpPr txBox="1"/>
          <p:nvPr/>
        </p:nvSpPr>
        <p:spPr>
          <a:xfrm>
            <a:off x="609600" y="6019800"/>
            <a:ext cx="3663086" cy="369332"/>
          </a:xfrm>
          <a:prstGeom prst="rect">
            <a:avLst/>
          </a:prstGeom>
          <a:noFill/>
        </p:spPr>
        <p:txBody>
          <a:bodyPr wrap="square" rtlCol="0">
            <a:spAutoFit/>
          </a:bodyPr>
          <a:lstStyle/>
          <a:p>
            <a:r>
              <a:rPr lang="en-US" dirty="0"/>
              <a:t>This is a valid argument</a:t>
            </a:r>
            <a:endParaRPr lang="si-LK" dirty="0"/>
          </a:p>
        </p:txBody>
      </p:sp>
    </p:spTree>
    <p:extLst>
      <p:ext uri="{BB962C8B-B14F-4D97-AF65-F5344CB8AC3E}">
        <p14:creationId xmlns:p14="http://schemas.microsoft.com/office/powerpoint/2010/main" val="395329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Rules of Inference</a:t>
            </a:r>
          </a:p>
        </p:txBody>
      </p:sp>
      <p:sp>
        <p:nvSpPr>
          <p:cNvPr id="4" name="Date Placeholder 3"/>
          <p:cNvSpPr>
            <a:spLocks noGrp="1"/>
          </p:cNvSpPr>
          <p:nvPr>
            <p:ph type="dt" sz="half" idx="10"/>
          </p:nvPr>
        </p:nvSpPr>
        <p:spPr/>
        <p:txBody>
          <a:bodyPr/>
          <a:lstStyle/>
          <a:p>
            <a:fld id="{7C223C78-2A1A-47AC-9FAB-2CEF42490A98}"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6</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4176865033"/>
              </p:ext>
            </p:extLst>
          </p:nvPr>
        </p:nvGraphicFramePr>
        <p:xfrm>
          <a:off x="253284" y="1676400"/>
          <a:ext cx="4419600" cy="1511217"/>
        </p:xfrm>
        <a:graphic>
          <a:graphicData uri="http://schemas.openxmlformats.org/drawingml/2006/table">
            <a:tbl>
              <a:tblPr firstRow="1" bandRow="1">
                <a:tableStyleId>{5C22544A-7EE6-4342-B048-85BDC9FD1C3A}</a:tableStyleId>
              </a:tblPr>
              <a:tblGrid>
                <a:gridCol w="2053858">
                  <a:extLst>
                    <a:ext uri="{9D8B030D-6E8A-4147-A177-3AD203B41FA5}">
                      <a16:colId xmlns:a16="http://schemas.microsoft.com/office/drawing/2014/main" val="20000"/>
                    </a:ext>
                  </a:extLst>
                </a:gridCol>
                <a:gridCol w="2365742">
                  <a:extLst>
                    <a:ext uri="{9D8B030D-6E8A-4147-A177-3AD203B41FA5}">
                      <a16:colId xmlns:a16="http://schemas.microsoft.com/office/drawing/2014/main" val="20001"/>
                    </a:ext>
                  </a:extLst>
                </a:gridCol>
              </a:tblGrid>
              <a:tr h="444417">
                <a:tc>
                  <a:txBody>
                    <a:bodyPr/>
                    <a:lstStyle/>
                    <a:p>
                      <a:r>
                        <a:rPr lang="en-US" sz="1600" b="1" dirty="0"/>
                        <a:t>Rule of Inference</a:t>
                      </a:r>
                    </a:p>
                  </a:txBody>
                  <a:tcPr/>
                </a:tc>
                <a:tc>
                  <a:txBody>
                    <a:bodyPr/>
                    <a:lstStyle/>
                    <a:p>
                      <a:r>
                        <a:rPr lang="en-US" sz="1600" b="1" dirty="0"/>
                        <a:t>Name</a:t>
                      </a:r>
                    </a:p>
                  </a:txBody>
                  <a:tcPr/>
                </a:tc>
                <a:extLst>
                  <a:ext uri="{0D108BD9-81ED-4DB2-BD59-A6C34878D82A}">
                    <a16:rowId xmlns:a16="http://schemas.microsoft.com/office/drawing/2014/main" val="10000"/>
                  </a:ext>
                </a:extLst>
              </a:tr>
              <a:tr h="1031896">
                <a:tc>
                  <a:txBody>
                    <a:bodyPr/>
                    <a:lstStyle/>
                    <a:p>
                      <a:r>
                        <a:rPr lang="en-US" sz="1600" b="1" dirty="0"/>
                        <a:t>p </a:t>
                      </a:r>
                    </a:p>
                    <a:p>
                      <a:r>
                        <a:rPr lang="en-US" sz="1600" b="1" dirty="0"/>
                        <a:t>p → q </a:t>
                      </a:r>
                    </a:p>
                    <a:p>
                      <a:r>
                        <a:rPr lang="en-US" sz="1600" b="1" dirty="0"/>
                        <a:t>-----------</a:t>
                      </a:r>
                    </a:p>
                    <a:p>
                      <a:r>
                        <a:rPr lang="en-US" sz="1600" b="1" dirty="0"/>
                        <a:t>∴ q</a:t>
                      </a:r>
                    </a:p>
                  </a:txBody>
                  <a:tcPr/>
                </a:tc>
                <a:tc>
                  <a:txBody>
                    <a:bodyPr/>
                    <a:lstStyle/>
                    <a:p>
                      <a:endParaRPr lang="en-US" sz="1600" b="1" dirty="0"/>
                    </a:p>
                    <a:p>
                      <a:r>
                        <a:rPr lang="en-US" sz="1600" b="1" dirty="0"/>
                        <a:t>Modus ponens</a:t>
                      </a:r>
                    </a:p>
                  </a:txBody>
                  <a:tcPr/>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618878646"/>
              </p:ext>
            </p:extLst>
          </p:nvPr>
        </p:nvGraphicFramePr>
        <p:xfrm>
          <a:off x="253284" y="3200400"/>
          <a:ext cx="4419600" cy="1066800"/>
        </p:xfrm>
        <a:graphic>
          <a:graphicData uri="http://schemas.openxmlformats.org/drawingml/2006/table">
            <a:tbl>
              <a:tblPr firstRow="1" bandRow="1">
                <a:tableStyleId>{5C22544A-7EE6-4342-B048-85BDC9FD1C3A}</a:tableStyleId>
              </a:tblPr>
              <a:tblGrid>
                <a:gridCol w="1166229">
                  <a:extLst>
                    <a:ext uri="{9D8B030D-6E8A-4147-A177-3AD203B41FA5}">
                      <a16:colId xmlns:a16="http://schemas.microsoft.com/office/drawing/2014/main" val="20000"/>
                    </a:ext>
                  </a:extLst>
                </a:gridCol>
                <a:gridCol w="3253371">
                  <a:extLst>
                    <a:ext uri="{9D8B030D-6E8A-4147-A177-3AD203B41FA5}">
                      <a16:colId xmlns:a16="http://schemas.microsoft.com/office/drawing/2014/main" val="20001"/>
                    </a:ext>
                  </a:extLst>
                </a:gridCol>
              </a:tblGrid>
              <a:tr h="1031896">
                <a:tc>
                  <a:txBody>
                    <a:bodyPr/>
                    <a:lstStyle/>
                    <a:p>
                      <a:r>
                        <a:rPr lang="en-US" sz="1600" b="1" dirty="0">
                          <a:solidFill>
                            <a:schemeClr val="tx1"/>
                          </a:solidFill>
                        </a:rPr>
                        <a:t>¬q </a:t>
                      </a:r>
                    </a:p>
                    <a:p>
                      <a:r>
                        <a:rPr lang="en-US" sz="1600" b="1" dirty="0">
                          <a:solidFill>
                            <a:schemeClr val="tx1"/>
                          </a:solidFill>
                        </a:rPr>
                        <a:t>p → q</a:t>
                      </a:r>
                    </a:p>
                    <a:p>
                      <a:r>
                        <a:rPr lang="en-US" sz="1600" b="1" dirty="0">
                          <a:solidFill>
                            <a:schemeClr val="tx1"/>
                          </a:solidFill>
                        </a:rPr>
                        <a:t>----------</a:t>
                      </a:r>
                    </a:p>
                    <a:p>
                      <a:r>
                        <a:rPr lang="en-US" sz="1600" b="1" dirty="0">
                          <a:solidFill>
                            <a:schemeClr val="tx1"/>
                          </a:solidFill>
                        </a:rPr>
                        <a:t> ∴ ¬p</a:t>
                      </a:r>
                    </a:p>
                  </a:txBody>
                  <a:tcPr>
                    <a:solidFill>
                      <a:schemeClr val="accent1">
                        <a:lumMod val="60000"/>
                        <a:lumOff val="40000"/>
                      </a:schemeClr>
                    </a:solidFill>
                  </a:tcPr>
                </a:tc>
                <a:tc>
                  <a:txBody>
                    <a:bodyPr/>
                    <a:lstStyle/>
                    <a:p>
                      <a:endParaRPr lang="en-US" sz="1600" b="1" dirty="0">
                        <a:solidFill>
                          <a:schemeClr val="tx1"/>
                        </a:solidFill>
                      </a:endParaRPr>
                    </a:p>
                    <a:p>
                      <a:r>
                        <a:rPr lang="en-US" sz="1600" b="1" dirty="0">
                          <a:solidFill>
                            <a:schemeClr val="tx1"/>
                          </a:solidFill>
                        </a:rPr>
                        <a:t>Modus </a:t>
                      </a:r>
                      <a:r>
                        <a:rPr lang="en-US" sz="1600" b="1" dirty="0" err="1">
                          <a:solidFill>
                            <a:schemeClr val="tx1"/>
                          </a:solidFill>
                        </a:rPr>
                        <a:t>tollens</a:t>
                      </a:r>
                      <a:endParaRPr lang="en-US" sz="1600" b="1"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730078032"/>
              </p:ext>
            </p:extLst>
          </p:nvPr>
        </p:nvGraphicFramePr>
        <p:xfrm>
          <a:off x="253284" y="4265052"/>
          <a:ext cx="4419600" cy="1066800"/>
        </p:xfrm>
        <a:graphic>
          <a:graphicData uri="http://schemas.openxmlformats.org/drawingml/2006/table">
            <a:tbl>
              <a:tblPr firstRow="1" bandRow="1">
                <a:tableStyleId>{5C22544A-7EE6-4342-B048-85BDC9FD1C3A}</a:tableStyleId>
              </a:tblPr>
              <a:tblGrid>
                <a:gridCol w="2053858">
                  <a:extLst>
                    <a:ext uri="{9D8B030D-6E8A-4147-A177-3AD203B41FA5}">
                      <a16:colId xmlns:a16="http://schemas.microsoft.com/office/drawing/2014/main" val="20000"/>
                    </a:ext>
                  </a:extLst>
                </a:gridCol>
                <a:gridCol w="2365742">
                  <a:extLst>
                    <a:ext uri="{9D8B030D-6E8A-4147-A177-3AD203B41FA5}">
                      <a16:colId xmlns:a16="http://schemas.microsoft.com/office/drawing/2014/main" val="20001"/>
                    </a:ext>
                  </a:extLst>
                </a:gridCol>
              </a:tblGrid>
              <a:tr h="1031896">
                <a:tc>
                  <a:txBody>
                    <a:bodyPr/>
                    <a:lstStyle/>
                    <a:p>
                      <a:r>
                        <a:rPr lang="pt-BR" sz="1600" dirty="0">
                          <a:solidFill>
                            <a:schemeClr val="tx1"/>
                          </a:solidFill>
                        </a:rPr>
                        <a:t>p → q </a:t>
                      </a:r>
                    </a:p>
                    <a:p>
                      <a:r>
                        <a:rPr lang="pt-BR" sz="1600" dirty="0">
                          <a:solidFill>
                            <a:schemeClr val="tx1"/>
                          </a:solidFill>
                        </a:rPr>
                        <a:t>q → r </a:t>
                      </a:r>
                    </a:p>
                    <a:p>
                      <a:r>
                        <a:rPr lang="pt-BR" sz="1600" dirty="0">
                          <a:solidFill>
                            <a:schemeClr val="tx1"/>
                          </a:solidFill>
                        </a:rPr>
                        <a:t>------------</a:t>
                      </a:r>
                    </a:p>
                    <a:p>
                      <a:r>
                        <a:rPr lang="pt-BR" sz="1600" dirty="0">
                          <a:solidFill>
                            <a:schemeClr val="tx1"/>
                          </a:solidFill>
                        </a:rPr>
                        <a:t>∴ p → r</a:t>
                      </a:r>
                      <a:endParaRPr lang="en-US" sz="1600" dirty="0">
                        <a:solidFill>
                          <a:schemeClr val="tx1"/>
                        </a:solidFill>
                      </a:endParaRPr>
                    </a:p>
                  </a:txBody>
                  <a:tcPr>
                    <a:solidFill>
                      <a:schemeClr val="bg2">
                        <a:lumMod val="60000"/>
                        <a:lumOff val="40000"/>
                      </a:schemeClr>
                    </a:solidFill>
                  </a:tcPr>
                </a:tc>
                <a:tc>
                  <a:txBody>
                    <a:bodyPr/>
                    <a:lstStyle/>
                    <a:p>
                      <a:endParaRPr lang="en-US" sz="1600" dirty="0">
                        <a:solidFill>
                          <a:schemeClr val="tx1"/>
                        </a:solidFill>
                      </a:endParaRPr>
                    </a:p>
                    <a:p>
                      <a:r>
                        <a:rPr lang="en-US" sz="1600" dirty="0">
                          <a:solidFill>
                            <a:schemeClr val="tx1"/>
                          </a:solidFill>
                        </a:rPr>
                        <a:t>Hypothetical syllogism</a:t>
                      </a:r>
                    </a:p>
                  </a:txBody>
                  <a:tcPr>
                    <a:solidFill>
                      <a:schemeClr val="bg2">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915455098"/>
              </p:ext>
            </p:extLst>
          </p:nvPr>
        </p:nvGraphicFramePr>
        <p:xfrm>
          <a:off x="253284" y="5345805"/>
          <a:ext cx="4419600" cy="1066800"/>
        </p:xfrm>
        <a:graphic>
          <a:graphicData uri="http://schemas.openxmlformats.org/drawingml/2006/table">
            <a:tbl>
              <a:tblPr firstRow="1" bandRow="1">
                <a:tableStyleId>{5C22544A-7EE6-4342-B048-85BDC9FD1C3A}</a:tableStyleId>
              </a:tblPr>
              <a:tblGrid>
                <a:gridCol w="2053858">
                  <a:extLst>
                    <a:ext uri="{9D8B030D-6E8A-4147-A177-3AD203B41FA5}">
                      <a16:colId xmlns:a16="http://schemas.microsoft.com/office/drawing/2014/main" val="20000"/>
                    </a:ext>
                  </a:extLst>
                </a:gridCol>
                <a:gridCol w="2365742">
                  <a:extLst>
                    <a:ext uri="{9D8B030D-6E8A-4147-A177-3AD203B41FA5}">
                      <a16:colId xmlns:a16="http://schemas.microsoft.com/office/drawing/2014/main" val="20001"/>
                    </a:ext>
                  </a:extLst>
                </a:gridCol>
              </a:tblGrid>
              <a:tr h="1031896">
                <a:tc>
                  <a:txBody>
                    <a:bodyPr/>
                    <a:lstStyle/>
                    <a:p>
                      <a:r>
                        <a:rPr lang="en-US" sz="1600" b="1" dirty="0">
                          <a:solidFill>
                            <a:schemeClr val="tx1"/>
                          </a:solidFill>
                        </a:rPr>
                        <a:t>p ∨ q</a:t>
                      </a:r>
                    </a:p>
                    <a:p>
                      <a:r>
                        <a:rPr lang="en-US" sz="1600" b="1" dirty="0">
                          <a:solidFill>
                            <a:schemeClr val="tx1"/>
                          </a:solidFill>
                        </a:rPr>
                        <a:t> ¬p</a:t>
                      </a:r>
                    </a:p>
                    <a:p>
                      <a:r>
                        <a:rPr lang="en-US" sz="1600" b="1" dirty="0">
                          <a:solidFill>
                            <a:schemeClr val="tx1"/>
                          </a:solidFill>
                        </a:rPr>
                        <a:t>----------</a:t>
                      </a:r>
                    </a:p>
                    <a:p>
                      <a:r>
                        <a:rPr lang="en-US" sz="1600" b="1" dirty="0">
                          <a:solidFill>
                            <a:schemeClr val="tx1"/>
                          </a:solidFill>
                        </a:rPr>
                        <a:t> ∴ q</a:t>
                      </a:r>
                    </a:p>
                  </a:txBody>
                  <a:tcPr>
                    <a:solidFill>
                      <a:schemeClr val="accent1">
                        <a:lumMod val="60000"/>
                        <a:lumOff val="40000"/>
                      </a:schemeClr>
                    </a:solidFill>
                  </a:tcPr>
                </a:tc>
                <a:tc>
                  <a:txBody>
                    <a:bodyPr/>
                    <a:lstStyle/>
                    <a:p>
                      <a:endParaRPr lang="en-US" sz="1600" b="1" dirty="0">
                        <a:solidFill>
                          <a:schemeClr val="tx1"/>
                        </a:solidFill>
                      </a:endParaRPr>
                    </a:p>
                    <a:p>
                      <a:r>
                        <a:rPr lang="en-US" sz="1600" b="1" dirty="0">
                          <a:solidFill>
                            <a:schemeClr val="tx1"/>
                          </a:solidFill>
                        </a:rPr>
                        <a:t>Disjunctive syllogism</a:t>
                      </a: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176419376"/>
              </p:ext>
            </p:extLst>
          </p:nvPr>
        </p:nvGraphicFramePr>
        <p:xfrm>
          <a:off x="4837090" y="1650642"/>
          <a:ext cx="4114799" cy="1585503"/>
        </p:xfrm>
        <a:graphic>
          <a:graphicData uri="http://schemas.openxmlformats.org/drawingml/2006/table">
            <a:tbl>
              <a:tblPr firstRow="1" bandRow="1">
                <a:tableStyleId>{5C22544A-7EE6-4342-B048-85BDC9FD1C3A}</a:tableStyleId>
              </a:tblPr>
              <a:tblGrid>
                <a:gridCol w="1909198">
                  <a:extLst>
                    <a:ext uri="{9D8B030D-6E8A-4147-A177-3AD203B41FA5}">
                      <a16:colId xmlns:a16="http://schemas.microsoft.com/office/drawing/2014/main" val="20000"/>
                    </a:ext>
                  </a:extLst>
                </a:gridCol>
                <a:gridCol w="2205601">
                  <a:extLst>
                    <a:ext uri="{9D8B030D-6E8A-4147-A177-3AD203B41FA5}">
                      <a16:colId xmlns:a16="http://schemas.microsoft.com/office/drawing/2014/main" val="20001"/>
                    </a:ext>
                  </a:extLst>
                </a:gridCol>
              </a:tblGrid>
              <a:tr h="518703">
                <a:tc>
                  <a:txBody>
                    <a:bodyPr/>
                    <a:lstStyle/>
                    <a:p>
                      <a:r>
                        <a:rPr lang="en-US" sz="1600" dirty="0"/>
                        <a:t>Rule of Inference</a:t>
                      </a:r>
                    </a:p>
                  </a:txBody>
                  <a:tcPr/>
                </a:tc>
                <a:tc>
                  <a:txBody>
                    <a:bodyPr/>
                    <a:lstStyle/>
                    <a:p>
                      <a:r>
                        <a:rPr lang="en-US" sz="1600" dirty="0"/>
                        <a:t>Name</a:t>
                      </a:r>
                    </a:p>
                  </a:txBody>
                  <a:tcPr/>
                </a:tc>
                <a:extLst>
                  <a:ext uri="{0D108BD9-81ED-4DB2-BD59-A6C34878D82A}">
                    <a16:rowId xmlns:a16="http://schemas.microsoft.com/office/drawing/2014/main" val="10000"/>
                  </a:ext>
                </a:extLst>
              </a:tr>
              <a:tr h="1051424">
                <a:tc>
                  <a:txBody>
                    <a:bodyPr/>
                    <a:lstStyle/>
                    <a:p>
                      <a:r>
                        <a:rPr lang="en-US" sz="1600" b="1" dirty="0"/>
                        <a:t>p </a:t>
                      </a:r>
                    </a:p>
                    <a:p>
                      <a:r>
                        <a:rPr lang="en-US" sz="1600" b="1" dirty="0"/>
                        <a:t>----------</a:t>
                      </a:r>
                    </a:p>
                    <a:p>
                      <a:r>
                        <a:rPr lang="en-US" sz="1600" b="1" dirty="0"/>
                        <a:t>∴ p ∨ q</a:t>
                      </a:r>
                    </a:p>
                    <a:p>
                      <a:endParaRPr lang="en-US" sz="1600" b="1" dirty="0"/>
                    </a:p>
                  </a:txBody>
                  <a:tcPr/>
                </a:tc>
                <a:tc>
                  <a:txBody>
                    <a:bodyPr/>
                    <a:lstStyle/>
                    <a:p>
                      <a:endParaRPr lang="en-US" sz="1600" b="1" dirty="0"/>
                    </a:p>
                    <a:p>
                      <a:r>
                        <a:rPr lang="en-US" sz="1600" b="1" dirty="0"/>
                        <a:t>Addition</a:t>
                      </a:r>
                    </a:p>
                  </a:txBody>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200315267"/>
              </p:ext>
            </p:extLst>
          </p:nvPr>
        </p:nvGraphicFramePr>
        <p:xfrm>
          <a:off x="4839238" y="3263721"/>
          <a:ext cx="4114799" cy="1066800"/>
        </p:xfrm>
        <a:graphic>
          <a:graphicData uri="http://schemas.openxmlformats.org/drawingml/2006/table">
            <a:tbl>
              <a:tblPr firstRow="1" bandRow="1">
                <a:tableStyleId>{5C22544A-7EE6-4342-B048-85BDC9FD1C3A}</a:tableStyleId>
              </a:tblPr>
              <a:tblGrid>
                <a:gridCol w="1909198">
                  <a:extLst>
                    <a:ext uri="{9D8B030D-6E8A-4147-A177-3AD203B41FA5}">
                      <a16:colId xmlns:a16="http://schemas.microsoft.com/office/drawing/2014/main" val="20000"/>
                    </a:ext>
                  </a:extLst>
                </a:gridCol>
                <a:gridCol w="2205601">
                  <a:extLst>
                    <a:ext uri="{9D8B030D-6E8A-4147-A177-3AD203B41FA5}">
                      <a16:colId xmlns:a16="http://schemas.microsoft.com/office/drawing/2014/main" val="20001"/>
                    </a:ext>
                  </a:extLst>
                </a:gridCol>
              </a:tblGrid>
              <a:tr h="1051424">
                <a:tc>
                  <a:txBody>
                    <a:bodyPr/>
                    <a:lstStyle/>
                    <a:p>
                      <a:r>
                        <a:rPr lang="en-US" sz="1600" dirty="0">
                          <a:solidFill>
                            <a:schemeClr val="tx1"/>
                          </a:solidFill>
                        </a:rPr>
                        <a:t>p ∧ q</a:t>
                      </a:r>
                    </a:p>
                    <a:p>
                      <a:r>
                        <a:rPr lang="en-US" sz="1600" dirty="0">
                          <a:solidFill>
                            <a:schemeClr val="tx1"/>
                          </a:solidFill>
                        </a:rPr>
                        <a:t>---------</a:t>
                      </a:r>
                    </a:p>
                    <a:p>
                      <a:r>
                        <a:rPr lang="en-US" sz="1600" dirty="0">
                          <a:solidFill>
                            <a:schemeClr val="tx1"/>
                          </a:solidFill>
                        </a:rPr>
                        <a:t> ∴ p</a:t>
                      </a:r>
                    </a:p>
                    <a:p>
                      <a:endParaRPr lang="en-US" sz="1600" dirty="0">
                        <a:solidFill>
                          <a:schemeClr val="tx1"/>
                        </a:solidFill>
                      </a:endParaRPr>
                    </a:p>
                  </a:txBody>
                  <a:tcPr>
                    <a:solidFill>
                      <a:schemeClr val="accent1">
                        <a:lumMod val="60000"/>
                        <a:lumOff val="40000"/>
                      </a:schemeClr>
                    </a:solidFill>
                  </a:tcPr>
                </a:tc>
                <a:tc>
                  <a:txBody>
                    <a:bodyPr/>
                    <a:lstStyle/>
                    <a:p>
                      <a:endParaRPr lang="en-US" sz="1600" dirty="0">
                        <a:solidFill>
                          <a:schemeClr val="tx1"/>
                        </a:solidFill>
                      </a:endParaRPr>
                    </a:p>
                    <a:p>
                      <a:r>
                        <a:rPr lang="en-US" sz="1600" dirty="0">
                          <a:solidFill>
                            <a:schemeClr val="tx1"/>
                          </a:solidFill>
                        </a:rPr>
                        <a:t>Simplification</a:t>
                      </a: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940061677"/>
              </p:ext>
            </p:extLst>
          </p:nvPr>
        </p:nvGraphicFramePr>
        <p:xfrm>
          <a:off x="4851043" y="4316568"/>
          <a:ext cx="4114799" cy="1066800"/>
        </p:xfrm>
        <a:graphic>
          <a:graphicData uri="http://schemas.openxmlformats.org/drawingml/2006/table">
            <a:tbl>
              <a:tblPr firstRow="1" bandRow="1">
                <a:tableStyleId>{5C22544A-7EE6-4342-B048-85BDC9FD1C3A}</a:tableStyleId>
              </a:tblPr>
              <a:tblGrid>
                <a:gridCol w="1909198">
                  <a:extLst>
                    <a:ext uri="{9D8B030D-6E8A-4147-A177-3AD203B41FA5}">
                      <a16:colId xmlns:a16="http://schemas.microsoft.com/office/drawing/2014/main" val="20000"/>
                    </a:ext>
                  </a:extLst>
                </a:gridCol>
                <a:gridCol w="2205601">
                  <a:extLst>
                    <a:ext uri="{9D8B030D-6E8A-4147-A177-3AD203B41FA5}">
                      <a16:colId xmlns:a16="http://schemas.microsoft.com/office/drawing/2014/main" val="20001"/>
                    </a:ext>
                  </a:extLst>
                </a:gridCol>
              </a:tblGrid>
              <a:tr h="1051424">
                <a:tc>
                  <a:txBody>
                    <a:bodyPr/>
                    <a:lstStyle/>
                    <a:p>
                      <a:r>
                        <a:rPr lang="pt-BR" sz="1600" dirty="0">
                          <a:solidFill>
                            <a:schemeClr val="tx1"/>
                          </a:solidFill>
                        </a:rPr>
                        <a:t>p </a:t>
                      </a:r>
                    </a:p>
                    <a:p>
                      <a:r>
                        <a:rPr lang="pt-BR" sz="1600" dirty="0">
                          <a:solidFill>
                            <a:schemeClr val="tx1"/>
                          </a:solidFill>
                        </a:rPr>
                        <a:t>q </a:t>
                      </a:r>
                    </a:p>
                    <a:p>
                      <a:r>
                        <a:rPr lang="pt-BR" sz="1600" dirty="0">
                          <a:solidFill>
                            <a:schemeClr val="tx1"/>
                          </a:solidFill>
                        </a:rPr>
                        <a:t>----------</a:t>
                      </a:r>
                    </a:p>
                    <a:p>
                      <a:r>
                        <a:rPr lang="pt-BR" sz="1600" dirty="0">
                          <a:solidFill>
                            <a:schemeClr val="tx1"/>
                          </a:solidFill>
                        </a:rPr>
                        <a:t>∴ p ∧ q</a:t>
                      </a:r>
                    </a:p>
                  </a:txBody>
                  <a:tcPr>
                    <a:solidFill>
                      <a:schemeClr val="bg2">
                        <a:lumMod val="60000"/>
                        <a:lumOff val="40000"/>
                      </a:schemeClr>
                    </a:solidFill>
                  </a:tcPr>
                </a:tc>
                <a:tc>
                  <a:txBody>
                    <a:bodyPr/>
                    <a:lstStyle/>
                    <a:p>
                      <a:endParaRPr lang="en-US" sz="1600" dirty="0">
                        <a:solidFill>
                          <a:schemeClr val="tx1"/>
                        </a:solidFill>
                      </a:endParaRPr>
                    </a:p>
                    <a:p>
                      <a:r>
                        <a:rPr lang="en-US" sz="1600" dirty="0">
                          <a:solidFill>
                            <a:schemeClr val="tx1"/>
                          </a:solidFill>
                        </a:rPr>
                        <a:t>Conjunction</a:t>
                      </a:r>
                    </a:p>
                  </a:txBody>
                  <a:tcPr>
                    <a:solidFill>
                      <a:schemeClr val="bg2">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335431743"/>
              </p:ext>
            </p:extLst>
          </p:nvPr>
        </p:nvGraphicFramePr>
        <p:xfrm>
          <a:off x="4851043" y="5385516"/>
          <a:ext cx="4114799" cy="1066800"/>
        </p:xfrm>
        <a:graphic>
          <a:graphicData uri="http://schemas.openxmlformats.org/drawingml/2006/table">
            <a:tbl>
              <a:tblPr firstRow="1" bandRow="1">
                <a:tableStyleId>{5C22544A-7EE6-4342-B048-85BDC9FD1C3A}</a:tableStyleId>
              </a:tblPr>
              <a:tblGrid>
                <a:gridCol w="1909198">
                  <a:extLst>
                    <a:ext uri="{9D8B030D-6E8A-4147-A177-3AD203B41FA5}">
                      <a16:colId xmlns:a16="http://schemas.microsoft.com/office/drawing/2014/main" val="20000"/>
                    </a:ext>
                  </a:extLst>
                </a:gridCol>
                <a:gridCol w="2205601">
                  <a:extLst>
                    <a:ext uri="{9D8B030D-6E8A-4147-A177-3AD203B41FA5}">
                      <a16:colId xmlns:a16="http://schemas.microsoft.com/office/drawing/2014/main" val="20001"/>
                    </a:ext>
                  </a:extLst>
                </a:gridCol>
              </a:tblGrid>
              <a:tr h="1051424">
                <a:tc>
                  <a:txBody>
                    <a:bodyPr/>
                    <a:lstStyle/>
                    <a:p>
                      <a:r>
                        <a:rPr lang="en-US" sz="1600" dirty="0">
                          <a:solidFill>
                            <a:schemeClr val="tx1"/>
                          </a:solidFill>
                        </a:rPr>
                        <a:t>p ∨ q</a:t>
                      </a:r>
                    </a:p>
                    <a:p>
                      <a:r>
                        <a:rPr lang="en-US" sz="1600" dirty="0">
                          <a:solidFill>
                            <a:schemeClr val="tx1"/>
                          </a:solidFill>
                        </a:rPr>
                        <a:t>¬ p ∨ r</a:t>
                      </a:r>
                    </a:p>
                    <a:p>
                      <a:r>
                        <a:rPr lang="en-US" sz="1600" dirty="0">
                          <a:solidFill>
                            <a:schemeClr val="tx1"/>
                          </a:solidFill>
                        </a:rPr>
                        <a:t>------------</a:t>
                      </a:r>
                    </a:p>
                    <a:p>
                      <a:r>
                        <a:rPr lang="en-US" sz="1600" dirty="0">
                          <a:solidFill>
                            <a:schemeClr val="tx1"/>
                          </a:solidFill>
                        </a:rPr>
                        <a:t> ∴ q ∨ r</a:t>
                      </a:r>
                    </a:p>
                  </a:txBody>
                  <a:tcPr>
                    <a:solidFill>
                      <a:schemeClr val="accent1">
                        <a:lumMod val="60000"/>
                        <a:lumOff val="40000"/>
                      </a:schemeClr>
                    </a:solidFill>
                  </a:tcPr>
                </a:tc>
                <a:tc>
                  <a:txBody>
                    <a:bodyPr/>
                    <a:lstStyle/>
                    <a:p>
                      <a:endParaRPr lang="en-US" sz="1600" dirty="0">
                        <a:solidFill>
                          <a:schemeClr val="tx1"/>
                        </a:solidFill>
                      </a:endParaRPr>
                    </a:p>
                    <a:p>
                      <a:r>
                        <a:rPr lang="en-US" sz="1600" dirty="0">
                          <a:solidFill>
                            <a:schemeClr val="tx1"/>
                          </a:solidFill>
                        </a:rPr>
                        <a:t>Resolution</a:t>
                      </a:r>
                    </a:p>
                    <a:p>
                      <a:r>
                        <a:rPr lang="en-US" sz="1600" dirty="0">
                          <a:solidFill>
                            <a:srgbClr val="FF0000"/>
                          </a:solidFill>
                        </a:rPr>
                        <a:t>Prove this is a valid argument?????</a:t>
                      </a: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65580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48004-89FE-6763-ABFD-3330ED89B5DA}"/>
              </a:ext>
            </a:extLst>
          </p:cNvPr>
          <p:cNvSpPr>
            <a:spLocks noGrp="1"/>
          </p:cNvSpPr>
          <p:nvPr>
            <p:ph type="title"/>
          </p:nvPr>
        </p:nvSpPr>
        <p:spPr/>
        <p:txBody>
          <a:bodyPr/>
          <a:lstStyle/>
          <a:p>
            <a:r>
              <a:rPr lang="en-US" dirty="0"/>
              <a:t>How to create a truth table with all possible truth values</a:t>
            </a:r>
            <a:endParaRPr lang="si-LK" dirty="0"/>
          </a:p>
        </p:txBody>
      </p:sp>
      <p:graphicFrame>
        <p:nvGraphicFramePr>
          <p:cNvPr id="7" name="Content Placeholder 6">
            <a:extLst>
              <a:ext uri="{FF2B5EF4-FFF2-40B4-BE49-F238E27FC236}">
                <a16:creationId xmlns:a16="http://schemas.microsoft.com/office/drawing/2014/main" id="{389C4E54-763E-2C83-D165-732968059A25}"/>
              </a:ext>
            </a:extLst>
          </p:cNvPr>
          <p:cNvGraphicFramePr>
            <a:graphicFrameLocks noGrp="1"/>
          </p:cNvGraphicFramePr>
          <p:nvPr>
            <p:ph idx="1"/>
            <p:extLst>
              <p:ext uri="{D42A27DB-BD31-4B8C-83A1-F6EECF244321}">
                <p14:modId xmlns:p14="http://schemas.microsoft.com/office/powerpoint/2010/main" val="717302637"/>
              </p:ext>
            </p:extLst>
          </p:nvPr>
        </p:nvGraphicFramePr>
        <p:xfrm>
          <a:off x="457200" y="2209800"/>
          <a:ext cx="7010400" cy="3291840"/>
        </p:xfrm>
        <a:graphic>
          <a:graphicData uri="http://schemas.openxmlformats.org/drawingml/2006/table">
            <a:tbl>
              <a:tblPr firstRow="1" bandRow="1">
                <a:tableStyleId>{616DA210-FB5B-4158-B5E0-FEB733F419BA}</a:tableStyleId>
              </a:tblPr>
              <a:tblGrid>
                <a:gridCol w="1168400">
                  <a:extLst>
                    <a:ext uri="{9D8B030D-6E8A-4147-A177-3AD203B41FA5}">
                      <a16:colId xmlns:a16="http://schemas.microsoft.com/office/drawing/2014/main" val="3199132927"/>
                    </a:ext>
                  </a:extLst>
                </a:gridCol>
                <a:gridCol w="1168400">
                  <a:extLst>
                    <a:ext uri="{9D8B030D-6E8A-4147-A177-3AD203B41FA5}">
                      <a16:colId xmlns:a16="http://schemas.microsoft.com/office/drawing/2014/main" val="1982893055"/>
                    </a:ext>
                  </a:extLst>
                </a:gridCol>
                <a:gridCol w="1168400">
                  <a:extLst>
                    <a:ext uri="{9D8B030D-6E8A-4147-A177-3AD203B41FA5}">
                      <a16:colId xmlns:a16="http://schemas.microsoft.com/office/drawing/2014/main" val="3691954072"/>
                    </a:ext>
                  </a:extLst>
                </a:gridCol>
                <a:gridCol w="1168400">
                  <a:extLst>
                    <a:ext uri="{9D8B030D-6E8A-4147-A177-3AD203B41FA5}">
                      <a16:colId xmlns:a16="http://schemas.microsoft.com/office/drawing/2014/main" val="2615883740"/>
                    </a:ext>
                  </a:extLst>
                </a:gridCol>
                <a:gridCol w="1168400">
                  <a:extLst>
                    <a:ext uri="{9D8B030D-6E8A-4147-A177-3AD203B41FA5}">
                      <a16:colId xmlns:a16="http://schemas.microsoft.com/office/drawing/2014/main" val="2305778532"/>
                    </a:ext>
                  </a:extLst>
                </a:gridCol>
                <a:gridCol w="1168400">
                  <a:extLst>
                    <a:ext uri="{9D8B030D-6E8A-4147-A177-3AD203B41FA5}">
                      <a16:colId xmlns:a16="http://schemas.microsoft.com/office/drawing/2014/main" val="640850731"/>
                    </a:ext>
                  </a:extLst>
                </a:gridCol>
              </a:tblGrid>
              <a:tr h="365760">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dirty="0"/>
                        <a:t>r</a:t>
                      </a:r>
                      <a:endParaRPr lang="si-LK" dirty="0"/>
                    </a:p>
                  </a:txBody>
                  <a:tcPr/>
                </a:tc>
                <a:tc>
                  <a:txBody>
                    <a:bodyPr/>
                    <a:lstStyle/>
                    <a:p>
                      <a:r>
                        <a:rPr lang="en-US" dirty="0"/>
                        <a:t>p </a:t>
                      </a:r>
                      <a:r>
                        <a:rPr lang="en-US" sz="1800" b="1" dirty="0"/>
                        <a:t>∨  q</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a:t>
                      </a:r>
                      <a:r>
                        <a:rPr lang="en-US" dirty="0"/>
                        <a:t>p </a:t>
                      </a:r>
                      <a:r>
                        <a:rPr lang="en-US" sz="1800" b="1" dirty="0"/>
                        <a:t>∨  r</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 </a:t>
                      </a:r>
                      <a:r>
                        <a:rPr lang="en-US" sz="1800" b="1" dirty="0"/>
                        <a:t>∨  r</a:t>
                      </a:r>
                      <a:endParaRPr lang="si-LK" dirty="0"/>
                    </a:p>
                  </a:txBody>
                  <a:tcPr/>
                </a:tc>
                <a:extLst>
                  <a:ext uri="{0D108BD9-81ED-4DB2-BD59-A6C34878D82A}">
                    <a16:rowId xmlns:a16="http://schemas.microsoft.com/office/drawing/2014/main" val="184373673"/>
                  </a:ext>
                </a:extLst>
              </a:tr>
              <a:tr h="365760">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99041740"/>
                  </a:ext>
                </a:extLst>
              </a:tr>
              <a:tr h="365760">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2843614293"/>
                  </a:ext>
                </a:extLst>
              </a:tr>
              <a:tr h="365760">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2666220028"/>
                  </a:ext>
                </a:extLst>
              </a:tr>
              <a:tr h="365760">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1346401387"/>
                  </a:ext>
                </a:extLst>
              </a:tr>
              <a:tr h="365760">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1936200659"/>
                  </a:ext>
                </a:extLst>
              </a:tr>
              <a:tr h="365760">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2054644541"/>
                  </a:ext>
                </a:extLst>
              </a:tr>
              <a:tr h="365760">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2673127248"/>
                  </a:ext>
                </a:extLst>
              </a:tr>
              <a:tr h="365760">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4245932642"/>
                  </a:ext>
                </a:extLst>
              </a:tr>
            </a:tbl>
          </a:graphicData>
        </a:graphic>
      </p:graphicFrame>
      <p:sp>
        <p:nvSpPr>
          <p:cNvPr id="4" name="Date Placeholder 3">
            <a:extLst>
              <a:ext uri="{FF2B5EF4-FFF2-40B4-BE49-F238E27FC236}">
                <a16:creationId xmlns:a16="http://schemas.microsoft.com/office/drawing/2014/main" id="{20983880-4F69-14AD-6007-0E445251F599}"/>
              </a:ext>
            </a:extLst>
          </p:cNvPr>
          <p:cNvSpPr>
            <a:spLocks noGrp="1"/>
          </p:cNvSpPr>
          <p:nvPr>
            <p:ph type="dt" sz="half" idx="10"/>
          </p:nvPr>
        </p:nvSpPr>
        <p:spPr/>
        <p:txBody>
          <a:bodyPr/>
          <a:lstStyle/>
          <a:p>
            <a:fld id="{9AF9EAE5-C444-47BB-8DB6-5C741FF92E26}" type="datetime3">
              <a:rPr lang="en-US" smtClean="0"/>
              <a:t>19 May 2025</a:t>
            </a:fld>
            <a:endParaRPr lang="en-US"/>
          </a:p>
        </p:txBody>
      </p:sp>
      <p:sp>
        <p:nvSpPr>
          <p:cNvPr id="5" name="Footer Placeholder 4">
            <a:extLst>
              <a:ext uri="{FF2B5EF4-FFF2-40B4-BE49-F238E27FC236}">
                <a16:creationId xmlns:a16="http://schemas.microsoft.com/office/drawing/2014/main" id="{D093E2EB-91C0-E06D-51BA-F9B670FF3A4C}"/>
              </a:ext>
            </a:extLst>
          </p:cNvPr>
          <p:cNvSpPr>
            <a:spLocks noGrp="1"/>
          </p:cNvSpPr>
          <p:nvPr>
            <p:ph type="ftr" sz="quarter" idx="11"/>
          </p:nvPr>
        </p:nvSpPr>
        <p:spPr/>
        <p:txBody>
          <a:bodyPr/>
          <a:lstStyle/>
          <a:p>
            <a:r>
              <a:rPr lang="en-US"/>
              <a:t>SCS 1302   Discrete Mathematics       Prof. D D Karunaratna</a:t>
            </a:r>
          </a:p>
        </p:txBody>
      </p:sp>
      <p:sp>
        <p:nvSpPr>
          <p:cNvPr id="6" name="Slide Number Placeholder 5">
            <a:extLst>
              <a:ext uri="{FF2B5EF4-FFF2-40B4-BE49-F238E27FC236}">
                <a16:creationId xmlns:a16="http://schemas.microsoft.com/office/drawing/2014/main" id="{0429E670-3A94-5346-691F-14F6FEC1A762}"/>
              </a:ext>
            </a:extLst>
          </p:cNvPr>
          <p:cNvSpPr>
            <a:spLocks noGrp="1"/>
          </p:cNvSpPr>
          <p:nvPr>
            <p:ph type="sldNum" sz="quarter" idx="12"/>
          </p:nvPr>
        </p:nvSpPr>
        <p:spPr/>
        <p:txBody>
          <a:bodyPr/>
          <a:lstStyle/>
          <a:p>
            <a:fld id="{0CA841A6-7C02-4C92-B6EE-5DBCC2AD53D0}" type="slidenum">
              <a:rPr lang="en-US" smtClean="0"/>
              <a:t>7</a:t>
            </a:fld>
            <a:endParaRPr lang="en-US"/>
          </a:p>
        </p:txBody>
      </p:sp>
    </p:spTree>
    <p:extLst>
      <p:ext uri="{BB962C8B-B14F-4D97-AF65-F5344CB8AC3E}">
        <p14:creationId xmlns:p14="http://schemas.microsoft.com/office/powerpoint/2010/main" val="2328014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0BC69-ABAC-E611-BD2D-AF855F2EF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FBDFD-A157-4275-0100-EE2CDA1286F9}"/>
              </a:ext>
            </a:extLst>
          </p:cNvPr>
          <p:cNvSpPr>
            <a:spLocks noGrp="1"/>
          </p:cNvSpPr>
          <p:nvPr>
            <p:ph type="title"/>
          </p:nvPr>
        </p:nvSpPr>
        <p:spPr/>
        <p:txBody>
          <a:bodyPr/>
          <a:lstStyle/>
          <a:p>
            <a:r>
              <a:rPr lang="en-US" dirty="0"/>
              <a:t>How to create a truth table with all possible truth values</a:t>
            </a:r>
            <a:endParaRPr lang="si-LK" dirty="0"/>
          </a:p>
        </p:txBody>
      </p:sp>
      <p:graphicFrame>
        <p:nvGraphicFramePr>
          <p:cNvPr id="7" name="Content Placeholder 6">
            <a:extLst>
              <a:ext uri="{FF2B5EF4-FFF2-40B4-BE49-F238E27FC236}">
                <a16:creationId xmlns:a16="http://schemas.microsoft.com/office/drawing/2014/main" id="{EE8D011F-9A21-BBAA-FDAE-23CF3E2E6D00}"/>
              </a:ext>
            </a:extLst>
          </p:cNvPr>
          <p:cNvGraphicFramePr>
            <a:graphicFrameLocks noGrp="1"/>
          </p:cNvGraphicFramePr>
          <p:nvPr>
            <p:ph idx="1"/>
            <p:extLst>
              <p:ext uri="{D42A27DB-BD31-4B8C-83A1-F6EECF244321}">
                <p14:modId xmlns:p14="http://schemas.microsoft.com/office/powerpoint/2010/main" val="3155068272"/>
              </p:ext>
            </p:extLst>
          </p:nvPr>
        </p:nvGraphicFramePr>
        <p:xfrm>
          <a:off x="457200" y="2209800"/>
          <a:ext cx="7010400" cy="3291840"/>
        </p:xfrm>
        <a:graphic>
          <a:graphicData uri="http://schemas.openxmlformats.org/drawingml/2006/table">
            <a:tbl>
              <a:tblPr firstRow="1" bandRow="1">
                <a:tableStyleId>{616DA210-FB5B-4158-B5E0-FEB733F419BA}</a:tableStyleId>
              </a:tblPr>
              <a:tblGrid>
                <a:gridCol w="1168400">
                  <a:extLst>
                    <a:ext uri="{9D8B030D-6E8A-4147-A177-3AD203B41FA5}">
                      <a16:colId xmlns:a16="http://schemas.microsoft.com/office/drawing/2014/main" val="3199132927"/>
                    </a:ext>
                  </a:extLst>
                </a:gridCol>
                <a:gridCol w="1168400">
                  <a:extLst>
                    <a:ext uri="{9D8B030D-6E8A-4147-A177-3AD203B41FA5}">
                      <a16:colId xmlns:a16="http://schemas.microsoft.com/office/drawing/2014/main" val="1982893055"/>
                    </a:ext>
                  </a:extLst>
                </a:gridCol>
                <a:gridCol w="1168400">
                  <a:extLst>
                    <a:ext uri="{9D8B030D-6E8A-4147-A177-3AD203B41FA5}">
                      <a16:colId xmlns:a16="http://schemas.microsoft.com/office/drawing/2014/main" val="3691954072"/>
                    </a:ext>
                  </a:extLst>
                </a:gridCol>
                <a:gridCol w="1168400">
                  <a:extLst>
                    <a:ext uri="{9D8B030D-6E8A-4147-A177-3AD203B41FA5}">
                      <a16:colId xmlns:a16="http://schemas.microsoft.com/office/drawing/2014/main" val="2615883740"/>
                    </a:ext>
                  </a:extLst>
                </a:gridCol>
                <a:gridCol w="1168400">
                  <a:extLst>
                    <a:ext uri="{9D8B030D-6E8A-4147-A177-3AD203B41FA5}">
                      <a16:colId xmlns:a16="http://schemas.microsoft.com/office/drawing/2014/main" val="2305778532"/>
                    </a:ext>
                  </a:extLst>
                </a:gridCol>
                <a:gridCol w="1168400">
                  <a:extLst>
                    <a:ext uri="{9D8B030D-6E8A-4147-A177-3AD203B41FA5}">
                      <a16:colId xmlns:a16="http://schemas.microsoft.com/office/drawing/2014/main" val="640850731"/>
                    </a:ext>
                  </a:extLst>
                </a:gridCol>
              </a:tblGrid>
              <a:tr h="365760">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dirty="0"/>
                        <a:t>r</a:t>
                      </a:r>
                      <a:endParaRPr lang="si-LK" dirty="0"/>
                    </a:p>
                  </a:txBody>
                  <a:tcPr/>
                </a:tc>
                <a:tc>
                  <a:txBody>
                    <a:bodyPr/>
                    <a:lstStyle/>
                    <a:p>
                      <a:r>
                        <a:rPr lang="en-US" dirty="0"/>
                        <a:t>p </a:t>
                      </a:r>
                      <a:r>
                        <a:rPr lang="en-US" sz="1800" b="1" dirty="0"/>
                        <a:t>∨  q</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a:t>
                      </a:r>
                      <a:r>
                        <a:rPr lang="en-US" dirty="0"/>
                        <a:t>p </a:t>
                      </a:r>
                      <a:r>
                        <a:rPr lang="en-US" sz="1800" b="1" dirty="0"/>
                        <a:t>∨  r</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 </a:t>
                      </a:r>
                      <a:r>
                        <a:rPr lang="en-US" sz="1800" b="1" dirty="0"/>
                        <a:t>∨  r</a:t>
                      </a:r>
                      <a:endParaRPr lang="si-LK" dirty="0"/>
                    </a:p>
                  </a:txBody>
                  <a:tcPr/>
                </a:tc>
                <a:extLst>
                  <a:ext uri="{0D108BD9-81ED-4DB2-BD59-A6C34878D82A}">
                    <a16:rowId xmlns:a16="http://schemas.microsoft.com/office/drawing/2014/main" val="184373673"/>
                  </a:ext>
                </a:extLst>
              </a:tr>
              <a:tr h="365760">
                <a:tc>
                  <a:txBody>
                    <a:bodyPr/>
                    <a:lstStyle/>
                    <a:p>
                      <a:r>
                        <a:rPr lang="en-US" dirty="0"/>
                        <a:t>T</a:t>
                      </a:r>
                      <a:endParaRPr lang="si-LK" dirty="0"/>
                    </a:p>
                  </a:txBody>
                  <a:tcPr/>
                </a:tc>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99041740"/>
                  </a:ext>
                </a:extLst>
              </a:tr>
              <a:tr h="365760">
                <a:tc>
                  <a:txBody>
                    <a:bodyPr/>
                    <a:lstStyle/>
                    <a:p>
                      <a:r>
                        <a:rPr lang="en-US" dirty="0"/>
                        <a:t>T</a:t>
                      </a:r>
                      <a:endParaRPr lang="si-LK" dirty="0"/>
                    </a:p>
                  </a:txBody>
                  <a:tcPr/>
                </a:tc>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2843614293"/>
                  </a:ext>
                </a:extLst>
              </a:tr>
              <a:tr h="365760">
                <a:tc>
                  <a:txBody>
                    <a:bodyPr/>
                    <a:lstStyle/>
                    <a:p>
                      <a:r>
                        <a:rPr lang="en-US" dirty="0"/>
                        <a:t>T</a:t>
                      </a:r>
                      <a:endParaRPr lang="si-LK" dirty="0"/>
                    </a:p>
                  </a:txBody>
                  <a:tcPr/>
                </a:tc>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2666220028"/>
                  </a:ext>
                </a:extLst>
              </a:tr>
              <a:tr h="365760">
                <a:tc>
                  <a:txBody>
                    <a:bodyPr/>
                    <a:lstStyle/>
                    <a:p>
                      <a:r>
                        <a:rPr lang="en-US" dirty="0"/>
                        <a:t>T</a:t>
                      </a:r>
                      <a:endParaRPr lang="si-LK" dirty="0"/>
                    </a:p>
                  </a:txBody>
                  <a:tcPr/>
                </a:tc>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1346401387"/>
                  </a:ext>
                </a:extLst>
              </a:tr>
              <a:tr h="365760">
                <a:tc>
                  <a:txBody>
                    <a:bodyPr/>
                    <a:lstStyle/>
                    <a:p>
                      <a:r>
                        <a:rPr lang="en-US" dirty="0"/>
                        <a:t>F</a:t>
                      </a:r>
                      <a:endParaRPr lang="si-LK" dirty="0"/>
                    </a:p>
                  </a:txBody>
                  <a:tcPr/>
                </a:tc>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1936200659"/>
                  </a:ext>
                </a:extLst>
              </a:tr>
              <a:tr h="365760">
                <a:tc>
                  <a:txBody>
                    <a:bodyPr/>
                    <a:lstStyle/>
                    <a:p>
                      <a:r>
                        <a:rPr lang="en-US" dirty="0"/>
                        <a:t>F</a:t>
                      </a:r>
                      <a:endParaRPr lang="si-LK" dirty="0"/>
                    </a:p>
                  </a:txBody>
                  <a:tcPr/>
                </a:tc>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2054644541"/>
                  </a:ext>
                </a:extLst>
              </a:tr>
              <a:tr h="365760">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2673127248"/>
                  </a:ext>
                </a:extLst>
              </a:tr>
              <a:tr h="365760">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4245932642"/>
                  </a:ext>
                </a:extLst>
              </a:tr>
            </a:tbl>
          </a:graphicData>
        </a:graphic>
      </p:graphicFrame>
      <p:sp>
        <p:nvSpPr>
          <p:cNvPr id="4" name="Date Placeholder 3">
            <a:extLst>
              <a:ext uri="{FF2B5EF4-FFF2-40B4-BE49-F238E27FC236}">
                <a16:creationId xmlns:a16="http://schemas.microsoft.com/office/drawing/2014/main" id="{9CF78D05-3587-AB9A-308F-6D4470253B69}"/>
              </a:ext>
            </a:extLst>
          </p:cNvPr>
          <p:cNvSpPr>
            <a:spLocks noGrp="1"/>
          </p:cNvSpPr>
          <p:nvPr>
            <p:ph type="dt" sz="half" idx="10"/>
          </p:nvPr>
        </p:nvSpPr>
        <p:spPr/>
        <p:txBody>
          <a:bodyPr/>
          <a:lstStyle/>
          <a:p>
            <a:fld id="{9AF9EAE5-C444-47BB-8DB6-5C741FF92E26}" type="datetime3">
              <a:rPr lang="en-US" smtClean="0"/>
              <a:t>19 May 2025</a:t>
            </a:fld>
            <a:endParaRPr lang="en-US"/>
          </a:p>
        </p:txBody>
      </p:sp>
      <p:sp>
        <p:nvSpPr>
          <p:cNvPr id="5" name="Footer Placeholder 4">
            <a:extLst>
              <a:ext uri="{FF2B5EF4-FFF2-40B4-BE49-F238E27FC236}">
                <a16:creationId xmlns:a16="http://schemas.microsoft.com/office/drawing/2014/main" id="{F892811D-3F86-9EBF-730F-AA77E42F0FE2}"/>
              </a:ext>
            </a:extLst>
          </p:cNvPr>
          <p:cNvSpPr>
            <a:spLocks noGrp="1"/>
          </p:cNvSpPr>
          <p:nvPr>
            <p:ph type="ftr" sz="quarter" idx="11"/>
          </p:nvPr>
        </p:nvSpPr>
        <p:spPr/>
        <p:txBody>
          <a:bodyPr/>
          <a:lstStyle/>
          <a:p>
            <a:r>
              <a:rPr lang="en-US"/>
              <a:t>SCS 1302   Discrete Mathematics       Prof. D D Karunaratna</a:t>
            </a:r>
          </a:p>
        </p:txBody>
      </p:sp>
      <p:sp>
        <p:nvSpPr>
          <p:cNvPr id="6" name="Slide Number Placeholder 5">
            <a:extLst>
              <a:ext uri="{FF2B5EF4-FFF2-40B4-BE49-F238E27FC236}">
                <a16:creationId xmlns:a16="http://schemas.microsoft.com/office/drawing/2014/main" id="{4CAC5598-5412-6B32-6D90-293197CAAE52}"/>
              </a:ext>
            </a:extLst>
          </p:cNvPr>
          <p:cNvSpPr>
            <a:spLocks noGrp="1"/>
          </p:cNvSpPr>
          <p:nvPr>
            <p:ph type="sldNum" sz="quarter" idx="12"/>
          </p:nvPr>
        </p:nvSpPr>
        <p:spPr/>
        <p:txBody>
          <a:bodyPr/>
          <a:lstStyle/>
          <a:p>
            <a:fld id="{0CA841A6-7C02-4C92-B6EE-5DBCC2AD53D0}" type="slidenum">
              <a:rPr lang="en-US" smtClean="0"/>
              <a:t>8</a:t>
            </a:fld>
            <a:endParaRPr lang="en-US"/>
          </a:p>
        </p:txBody>
      </p:sp>
    </p:spTree>
    <p:extLst>
      <p:ext uri="{BB962C8B-B14F-4D97-AF65-F5344CB8AC3E}">
        <p14:creationId xmlns:p14="http://schemas.microsoft.com/office/powerpoint/2010/main" val="3428681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94392-C59C-30CE-C923-1FD471F65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AA8DB-3730-A206-A0EB-B47F06755287}"/>
              </a:ext>
            </a:extLst>
          </p:cNvPr>
          <p:cNvSpPr>
            <a:spLocks noGrp="1"/>
          </p:cNvSpPr>
          <p:nvPr>
            <p:ph type="title"/>
          </p:nvPr>
        </p:nvSpPr>
        <p:spPr/>
        <p:txBody>
          <a:bodyPr/>
          <a:lstStyle/>
          <a:p>
            <a:r>
              <a:rPr lang="en-US" dirty="0"/>
              <a:t>How to create a truth table with all possible truth values</a:t>
            </a:r>
            <a:endParaRPr lang="si-LK" dirty="0"/>
          </a:p>
        </p:txBody>
      </p:sp>
      <p:graphicFrame>
        <p:nvGraphicFramePr>
          <p:cNvPr id="7" name="Content Placeholder 6">
            <a:extLst>
              <a:ext uri="{FF2B5EF4-FFF2-40B4-BE49-F238E27FC236}">
                <a16:creationId xmlns:a16="http://schemas.microsoft.com/office/drawing/2014/main" id="{FB61120A-E252-ABB3-0222-EF5E626808E3}"/>
              </a:ext>
            </a:extLst>
          </p:cNvPr>
          <p:cNvGraphicFramePr>
            <a:graphicFrameLocks noGrp="1"/>
          </p:cNvGraphicFramePr>
          <p:nvPr>
            <p:ph idx="1"/>
            <p:extLst>
              <p:ext uri="{D42A27DB-BD31-4B8C-83A1-F6EECF244321}">
                <p14:modId xmlns:p14="http://schemas.microsoft.com/office/powerpoint/2010/main" val="2712116311"/>
              </p:ext>
            </p:extLst>
          </p:nvPr>
        </p:nvGraphicFramePr>
        <p:xfrm>
          <a:off x="457200" y="2209800"/>
          <a:ext cx="7010400" cy="3291840"/>
        </p:xfrm>
        <a:graphic>
          <a:graphicData uri="http://schemas.openxmlformats.org/drawingml/2006/table">
            <a:tbl>
              <a:tblPr firstRow="1" bandRow="1">
                <a:tableStyleId>{616DA210-FB5B-4158-B5E0-FEB733F419BA}</a:tableStyleId>
              </a:tblPr>
              <a:tblGrid>
                <a:gridCol w="1168400">
                  <a:extLst>
                    <a:ext uri="{9D8B030D-6E8A-4147-A177-3AD203B41FA5}">
                      <a16:colId xmlns:a16="http://schemas.microsoft.com/office/drawing/2014/main" val="3199132927"/>
                    </a:ext>
                  </a:extLst>
                </a:gridCol>
                <a:gridCol w="1168400">
                  <a:extLst>
                    <a:ext uri="{9D8B030D-6E8A-4147-A177-3AD203B41FA5}">
                      <a16:colId xmlns:a16="http://schemas.microsoft.com/office/drawing/2014/main" val="1982893055"/>
                    </a:ext>
                  </a:extLst>
                </a:gridCol>
                <a:gridCol w="1168400">
                  <a:extLst>
                    <a:ext uri="{9D8B030D-6E8A-4147-A177-3AD203B41FA5}">
                      <a16:colId xmlns:a16="http://schemas.microsoft.com/office/drawing/2014/main" val="3691954072"/>
                    </a:ext>
                  </a:extLst>
                </a:gridCol>
                <a:gridCol w="1168400">
                  <a:extLst>
                    <a:ext uri="{9D8B030D-6E8A-4147-A177-3AD203B41FA5}">
                      <a16:colId xmlns:a16="http://schemas.microsoft.com/office/drawing/2014/main" val="2615883740"/>
                    </a:ext>
                  </a:extLst>
                </a:gridCol>
                <a:gridCol w="1168400">
                  <a:extLst>
                    <a:ext uri="{9D8B030D-6E8A-4147-A177-3AD203B41FA5}">
                      <a16:colId xmlns:a16="http://schemas.microsoft.com/office/drawing/2014/main" val="2305778532"/>
                    </a:ext>
                  </a:extLst>
                </a:gridCol>
                <a:gridCol w="1168400">
                  <a:extLst>
                    <a:ext uri="{9D8B030D-6E8A-4147-A177-3AD203B41FA5}">
                      <a16:colId xmlns:a16="http://schemas.microsoft.com/office/drawing/2014/main" val="640850731"/>
                    </a:ext>
                  </a:extLst>
                </a:gridCol>
              </a:tblGrid>
              <a:tr h="365760">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dirty="0"/>
                        <a:t>r</a:t>
                      </a:r>
                      <a:endParaRPr lang="si-LK" dirty="0"/>
                    </a:p>
                  </a:txBody>
                  <a:tcPr/>
                </a:tc>
                <a:tc>
                  <a:txBody>
                    <a:bodyPr/>
                    <a:lstStyle/>
                    <a:p>
                      <a:r>
                        <a:rPr lang="en-US" dirty="0"/>
                        <a:t>p </a:t>
                      </a:r>
                      <a:r>
                        <a:rPr lang="en-US" sz="1800" b="1" dirty="0"/>
                        <a:t>∨  q</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a:t>
                      </a:r>
                      <a:r>
                        <a:rPr lang="en-US" dirty="0"/>
                        <a:t>p </a:t>
                      </a:r>
                      <a:r>
                        <a:rPr lang="en-US" sz="1800" b="1" dirty="0"/>
                        <a:t>∨  r</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 </a:t>
                      </a:r>
                      <a:r>
                        <a:rPr lang="en-US" sz="1800" b="1" dirty="0"/>
                        <a:t>∨  r</a:t>
                      </a:r>
                      <a:endParaRPr lang="si-LK" dirty="0"/>
                    </a:p>
                  </a:txBody>
                  <a:tcPr/>
                </a:tc>
                <a:extLst>
                  <a:ext uri="{0D108BD9-81ED-4DB2-BD59-A6C34878D82A}">
                    <a16:rowId xmlns:a16="http://schemas.microsoft.com/office/drawing/2014/main" val="184373673"/>
                  </a:ext>
                </a:extLst>
              </a:tr>
              <a:tr h="365760">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99041740"/>
                  </a:ext>
                </a:extLst>
              </a:tr>
              <a:tr h="365760">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2843614293"/>
                  </a:ext>
                </a:extLst>
              </a:tr>
              <a:tr h="365760">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2666220028"/>
                  </a:ext>
                </a:extLst>
              </a:tr>
              <a:tr h="365760">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1346401387"/>
                  </a:ext>
                </a:extLst>
              </a:tr>
              <a:tr h="365760">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1936200659"/>
                  </a:ext>
                </a:extLst>
              </a:tr>
              <a:tr h="365760">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2054644541"/>
                  </a:ext>
                </a:extLst>
              </a:tr>
              <a:tr h="365760">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2673127248"/>
                  </a:ext>
                </a:extLst>
              </a:tr>
              <a:tr h="365760">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dirty="0"/>
                    </a:p>
                  </a:txBody>
                  <a:tcPr/>
                </a:tc>
                <a:tc>
                  <a:txBody>
                    <a:bodyPr/>
                    <a:lstStyle/>
                    <a:p>
                      <a:endParaRPr lang="si-LK" dirty="0"/>
                    </a:p>
                  </a:txBody>
                  <a:tcPr/>
                </a:tc>
                <a:tc>
                  <a:txBody>
                    <a:bodyPr/>
                    <a:lstStyle/>
                    <a:p>
                      <a:endParaRPr lang="si-LK" dirty="0"/>
                    </a:p>
                  </a:txBody>
                  <a:tcPr/>
                </a:tc>
                <a:extLst>
                  <a:ext uri="{0D108BD9-81ED-4DB2-BD59-A6C34878D82A}">
                    <a16:rowId xmlns:a16="http://schemas.microsoft.com/office/drawing/2014/main" val="4245932642"/>
                  </a:ext>
                </a:extLst>
              </a:tr>
            </a:tbl>
          </a:graphicData>
        </a:graphic>
      </p:graphicFrame>
      <p:sp>
        <p:nvSpPr>
          <p:cNvPr id="4" name="Date Placeholder 3">
            <a:extLst>
              <a:ext uri="{FF2B5EF4-FFF2-40B4-BE49-F238E27FC236}">
                <a16:creationId xmlns:a16="http://schemas.microsoft.com/office/drawing/2014/main" id="{159B868C-4F1F-3DE9-7229-D9CACBB720D0}"/>
              </a:ext>
            </a:extLst>
          </p:cNvPr>
          <p:cNvSpPr>
            <a:spLocks noGrp="1"/>
          </p:cNvSpPr>
          <p:nvPr>
            <p:ph type="dt" sz="half" idx="10"/>
          </p:nvPr>
        </p:nvSpPr>
        <p:spPr/>
        <p:txBody>
          <a:bodyPr/>
          <a:lstStyle/>
          <a:p>
            <a:fld id="{9AF9EAE5-C444-47BB-8DB6-5C741FF92E26}" type="datetime3">
              <a:rPr lang="en-US" smtClean="0"/>
              <a:t>19 May 2025</a:t>
            </a:fld>
            <a:endParaRPr lang="en-US"/>
          </a:p>
        </p:txBody>
      </p:sp>
      <p:sp>
        <p:nvSpPr>
          <p:cNvPr id="5" name="Footer Placeholder 4">
            <a:extLst>
              <a:ext uri="{FF2B5EF4-FFF2-40B4-BE49-F238E27FC236}">
                <a16:creationId xmlns:a16="http://schemas.microsoft.com/office/drawing/2014/main" id="{9026F9C6-770D-2A69-5661-B1159CC81FD6}"/>
              </a:ext>
            </a:extLst>
          </p:cNvPr>
          <p:cNvSpPr>
            <a:spLocks noGrp="1"/>
          </p:cNvSpPr>
          <p:nvPr>
            <p:ph type="ftr" sz="quarter" idx="11"/>
          </p:nvPr>
        </p:nvSpPr>
        <p:spPr/>
        <p:txBody>
          <a:bodyPr/>
          <a:lstStyle/>
          <a:p>
            <a:r>
              <a:rPr lang="en-US"/>
              <a:t>SCS 1302   Discrete Mathematics       Prof. D D Karunaratna</a:t>
            </a:r>
          </a:p>
        </p:txBody>
      </p:sp>
      <p:sp>
        <p:nvSpPr>
          <p:cNvPr id="6" name="Slide Number Placeholder 5">
            <a:extLst>
              <a:ext uri="{FF2B5EF4-FFF2-40B4-BE49-F238E27FC236}">
                <a16:creationId xmlns:a16="http://schemas.microsoft.com/office/drawing/2014/main" id="{DDE8EEEB-266E-1028-812A-61F313E39558}"/>
              </a:ext>
            </a:extLst>
          </p:cNvPr>
          <p:cNvSpPr>
            <a:spLocks noGrp="1"/>
          </p:cNvSpPr>
          <p:nvPr>
            <p:ph type="sldNum" sz="quarter" idx="12"/>
          </p:nvPr>
        </p:nvSpPr>
        <p:spPr/>
        <p:txBody>
          <a:bodyPr/>
          <a:lstStyle/>
          <a:p>
            <a:fld id="{0CA841A6-7C02-4C92-B6EE-5DBCC2AD53D0}" type="slidenum">
              <a:rPr lang="en-US" smtClean="0"/>
              <a:t>9</a:t>
            </a:fld>
            <a:endParaRPr lang="en-US"/>
          </a:p>
        </p:txBody>
      </p:sp>
    </p:spTree>
    <p:extLst>
      <p:ext uri="{BB962C8B-B14F-4D97-AF65-F5344CB8AC3E}">
        <p14:creationId xmlns:p14="http://schemas.microsoft.com/office/powerpoint/2010/main" val="3551707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40EEB-5F2A-C55B-A417-114AEBB6E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D99E9-8A55-6E37-BBFE-D2E028F66ADD}"/>
              </a:ext>
            </a:extLst>
          </p:cNvPr>
          <p:cNvSpPr>
            <a:spLocks noGrp="1"/>
          </p:cNvSpPr>
          <p:nvPr>
            <p:ph type="title"/>
          </p:nvPr>
        </p:nvSpPr>
        <p:spPr/>
        <p:txBody>
          <a:bodyPr/>
          <a:lstStyle/>
          <a:p>
            <a:r>
              <a:rPr lang="en-US" dirty="0"/>
              <a:t>How to create a truth table with all possible truth values</a:t>
            </a:r>
            <a:endParaRPr lang="si-LK" dirty="0"/>
          </a:p>
        </p:txBody>
      </p:sp>
      <p:graphicFrame>
        <p:nvGraphicFramePr>
          <p:cNvPr id="7" name="Content Placeholder 6">
            <a:extLst>
              <a:ext uri="{FF2B5EF4-FFF2-40B4-BE49-F238E27FC236}">
                <a16:creationId xmlns:a16="http://schemas.microsoft.com/office/drawing/2014/main" id="{15C22922-4516-BEA3-F839-FFFDBC624CBA}"/>
              </a:ext>
            </a:extLst>
          </p:cNvPr>
          <p:cNvGraphicFramePr>
            <a:graphicFrameLocks noGrp="1"/>
          </p:cNvGraphicFramePr>
          <p:nvPr>
            <p:ph idx="1"/>
            <p:extLst>
              <p:ext uri="{D42A27DB-BD31-4B8C-83A1-F6EECF244321}">
                <p14:modId xmlns:p14="http://schemas.microsoft.com/office/powerpoint/2010/main" val="4101158405"/>
              </p:ext>
            </p:extLst>
          </p:nvPr>
        </p:nvGraphicFramePr>
        <p:xfrm>
          <a:off x="457200" y="2209800"/>
          <a:ext cx="7010400" cy="3291840"/>
        </p:xfrm>
        <a:graphic>
          <a:graphicData uri="http://schemas.openxmlformats.org/drawingml/2006/table">
            <a:tbl>
              <a:tblPr firstRow="1" bandRow="1">
                <a:tableStyleId>{616DA210-FB5B-4158-B5E0-FEB733F419BA}</a:tableStyleId>
              </a:tblPr>
              <a:tblGrid>
                <a:gridCol w="1168400">
                  <a:extLst>
                    <a:ext uri="{9D8B030D-6E8A-4147-A177-3AD203B41FA5}">
                      <a16:colId xmlns:a16="http://schemas.microsoft.com/office/drawing/2014/main" val="3199132927"/>
                    </a:ext>
                  </a:extLst>
                </a:gridCol>
                <a:gridCol w="1168400">
                  <a:extLst>
                    <a:ext uri="{9D8B030D-6E8A-4147-A177-3AD203B41FA5}">
                      <a16:colId xmlns:a16="http://schemas.microsoft.com/office/drawing/2014/main" val="1982893055"/>
                    </a:ext>
                  </a:extLst>
                </a:gridCol>
                <a:gridCol w="1168400">
                  <a:extLst>
                    <a:ext uri="{9D8B030D-6E8A-4147-A177-3AD203B41FA5}">
                      <a16:colId xmlns:a16="http://schemas.microsoft.com/office/drawing/2014/main" val="3691954072"/>
                    </a:ext>
                  </a:extLst>
                </a:gridCol>
                <a:gridCol w="1168400">
                  <a:extLst>
                    <a:ext uri="{9D8B030D-6E8A-4147-A177-3AD203B41FA5}">
                      <a16:colId xmlns:a16="http://schemas.microsoft.com/office/drawing/2014/main" val="2615883740"/>
                    </a:ext>
                  </a:extLst>
                </a:gridCol>
                <a:gridCol w="1168400">
                  <a:extLst>
                    <a:ext uri="{9D8B030D-6E8A-4147-A177-3AD203B41FA5}">
                      <a16:colId xmlns:a16="http://schemas.microsoft.com/office/drawing/2014/main" val="2305778532"/>
                    </a:ext>
                  </a:extLst>
                </a:gridCol>
                <a:gridCol w="1168400">
                  <a:extLst>
                    <a:ext uri="{9D8B030D-6E8A-4147-A177-3AD203B41FA5}">
                      <a16:colId xmlns:a16="http://schemas.microsoft.com/office/drawing/2014/main" val="640850731"/>
                    </a:ext>
                  </a:extLst>
                </a:gridCol>
              </a:tblGrid>
              <a:tr h="365760">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dirty="0"/>
                        <a:t>r</a:t>
                      </a:r>
                      <a:endParaRPr lang="si-LK" dirty="0"/>
                    </a:p>
                  </a:txBody>
                  <a:tcPr/>
                </a:tc>
                <a:tc>
                  <a:txBody>
                    <a:bodyPr/>
                    <a:lstStyle/>
                    <a:p>
                      <a:r>
                        <a:rPr lang="en-US" dirty="0"/>
                        <a:t>p </a:t>
                      </a:r>
                      <a:r>
                        <a:rPr lang="en-US" sz="1800" b="1" dirty="0"/>
                        <a:t>∨  q</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a:t>
                      </a:r>
                      <a:r>
                        <a:rPr lang="en-US" dirty="0"/>
                        <a:t>p </a:t>
                      </a:r>
                      <a:r>
                        <a:rPr lang="en-US" sz="1800" b="1" dirty="0"/>
                        <a:t>∨  r</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 </a:t>
                      </a:r>
                      <a:r>
                        <a:rPr lang="en-US" sz="1800" b="1" dirty="0"/>
                        <a:t>∨  r</a:t>
                      </a:r>
                      <a:endParaRPr lang="si-LK" dirty="0"/>
                    </a:p>
                  </a:txBody>
                  <a:tcPr/>
                </a:tc>
                <a:extLst>
                  <a:ext uri="{0D108BD9-81ED-4DB2-BD59-A6C34878D82A}">
                    <a16:rowId xmlns:a16="http://schemas.microsoft.com/office/drawing/2014/main" val="184373673"/>
                  </a:ext>
                </a:extLst>
              </a:tr>
              <a:tr h="365760">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solidFill>
                            <a:srgbClr val="FF0000"/>
                          </a:solidFill>
                        </a:rPr>
                        <a:t>T</a:t>
                      </a:r>
                      <a:endParaRPr lang="si-LK" dirty="0">
                        <a:solidFill>
                          <a:srgbClr val="FF0000"/>
                        </a:solidFill>
                      </a:endParaRPr>
                    </a:p>
                  </a:txBody>
                  <a:tcPr/>
                </a:tc>
                <a:tc>
                  <a:txBody>
                    <a:bodyPr/>
                    <a:lstStyle/>
                    <a:p>
                      <a:r>
                        <a:rPr lang="en-US" dirty="0">
                          <a:solidFill>
                            <a:srgbClr val="FF0000"/>
                          </a:solidFill>
                        </a:rPr>
                        <a:t>T</a:t>
                      </a:r>
                      <a:endParaRPr lang="si-LK" dirty="0">
                        <a:solidFill>
                          <a:srgbClr val="FF0000"/>
                        </a:solidFill>
                      </a:endParaRPr>
                    </a:p>
                  </a:txBody>
                  <a:tcPr/>
                </a:tc>
                <a:tc>
                  <a:txBody>
                    <a:bodyPr/>
                    <a:lstStyle/>
                    <a:p>
                      <a:r>
                        <a:rPr lang="en-US" dirty="0">
                          <a:solidFill>
                            <a:srgbClr val="FF0000"/>
                          </a:solidFill>
                        </a:rPr>
                        <a:t>T</a:t>
                      </a:r>
                      <a:endParaRPr lang="si-LK" dirty="0">
                        <a:solidFill>
                          <a:srgbClr val="FF0000"/>
                        </a:solidFill>
                      </a:endParaRPr>
                    </a:p>
                  </a:txBody>
                  <a:tcPr/>
                </a:tc>
                <a:extLst>
                  <a:ext uri="{0D108BD9-81ED-4DB2-BD59-A6C34878D82A}">
                    <a16:rowId xmlns:a16="http://schemas.microsoft.com/office/drawing/2014/main" val="99041740"/>
                  </a:ext>
                </a:extLst>
              </a:tr>
              <a:tr h="365760">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2843614293"/>
                  </a:ext>
                </a:extLst>
              </a:tr>
              <a:tr h="365760">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solidFill>
                            <a:srgbClr val="FF0000"/>
                          </a:solidFill>
                        </a:rPr>
                        <a:t>T</a:t>
                      </a:r>
                      <a:endParaRPr lang="si-LK" dirty="0">
                        <a:solidFill>
                          <a:srgbClr val="FF0000"/>
                        </a:solidFill>
                      </a:endParaRPr>
                    </a:p>
                  </a:txBody>
                  <a:tcPr/>
                </a:tc>
                <a:tc>
                  <a:txBody>
                    <a:bodyPr/>
                    <a:lstStyle/>
                    <a:p>
                      <a:r>
                        <a:rPr lang="en-US" dirty="0">
                          <a:solidFill>
                            <a:srgbClr val="FF0000"/>
                          </a:solidFill>
                        </a:rPr>
                        <a:t>T</a:t>
                      </a:r>
                      <a:endParaRPr lang="si-LK" dirty="0">
                        <a:solidFill>
                          <a:srgbClr val="FF0000"/>
                        </a:solidFill>
                      </a:endParaRPr>
                    </a:p>
                  </a:txBody>
                  <a:tcPr/>
                </a:tc>
                <a:tc>
                  <a:txBody>
                    <a:bodyPr/>
                    <a:lstStyle/>
                    <a:p>
                      <a:r>
                        <a:rPr lang="en-US" dirty="0">
                          <a:solidFill>
                            <a:srgbClr val="FF0000"/>
                          </a:solidFill>
                        </a:rPr>
                        <a:t>T</a:t>
                      </a:r>
                      <a:endParaRPr lang="si-LK" dirty="0">
                        <a:solidFill>
                          <a:srgbClr val="FF0000"/>
                        </a:solidFill>
                      </a:endParaRPr>
                    </a:p>
                  </a:txBody>
                  <a:tcPr/>
                </a:tc>
                <a:extLst>
                  <a:ext uri="{0D108BD9-81ED-4DB2-BD59-A6C34878D82A}">
                    <a16:rowId xmlns:a16="http://schemas.microsoft.com/office/drawing/2014/main" val="2666220028"/>
                  </a:ext>
                </a:extLst>
              </a:tr>
              <a:tr h="365760">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extLst>
                  <a:ext uri="{0D108BD9-81ED-4DB2-BD59-A6C34878D82A}">
                    <a16:rowId xmlns:a16="http://schemas.microsoft.com/office/drawing/2014/main" val="1346401387"/>
                  </a:ext>
                </a:extLst>
              </a:tr>
              <a:tr h="365760">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solidFill>
                            <a:srgbClr val="FF0000"/>
                          </a:solidFill>
                        </a:rPr>
                        <a:t>T</a:t>
                      </a:r>
                      <a:endParaRPr lang="si-LK" dirty="0">
                        <a:solidFill>
                          <a:srgbClr val="FF0000"/>
                        </a:solidFill>
                      </a:endParaRPr>
                    </a:p>
                  </a:txBody>
                  <a:tcPr/>
                </a:tc>
                <a:tc>
                  <a:txBody>
                    <a:bodyPr/>
                    <a:lstStyle/>
                    <a:p>
                      <a:r>
                        <a:rPr lang="en-US" dirty="0">
                          <a:solidFill>
                            <a:srgbClr val="FF0000"/>
                          </a:solidFill>
                        </a:rPr>
                        <a:t>T</a:t>
                      </a:r>
                      <a:endParaRPr lang="si-LK" dirty="0">
                        <a:solidFill>
                          <a:srgbClr val="FF0000"/>
                        </a:solidFill>
                      </a:endParaRPr>
                    </a:p>
                  </a:txBody>
                  <a:tcPr/>
                </a:tc>
                <a:tc>
                  <a:txBody>
                    <a:bodyPr/>
                    <a:lstStyle/>
                    <a:p>
                      <a:r>
                        <a:rPr lang="en-US" dirty="0">
                          <a:solidFill>
                            <a:srgbClr val="FF0000"/>
                          </a:solidFill>
                        </a:rPr>
                        <a:t>T</a:t>
                      </a:r>
                      <a:endParaRPr lang="si-LK" dirty="0">
                        <a:solidFill>
                          <a:srgbClr val="FF0000"/>
                        </a:solidFill>
                      </a:endParaRPr>
                    </a:p>
                  </a:txBody>
                  <a:tcPr/>
                </a:tc>
                <a:extLst>
                  <a:ext uri="{0D108BD9-81ED-4DB2-BD59-A6C34878D82A}">
                    <a16:rowId xmlns:a16="http://schemas.microsoft.com/office/drawing/2014/main" val="1936200659"/>
                  </a:ext>
                </a:extLst>
              </a:tr>
              <a:tr h="365760">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solidFill>
                            <a:srgbClr val="FF0000"/>
                          </a:solidFill>
                        </a:rPr>
                        <a:t>T</a:t>
                      </a:r>
                      <a:endParaRPr lang="si-LK" dirty="0">
                        <a:solidFill>
                          <a:srgbClr val="FF0000"/>
                        </a:solidFill>
                      </a:endParaRPr>
                    </a:p>
                  </a:txBody>
                  <a:tcPr/>
                </a:tc>
                <a:tc>
                  <a:txBody>
                    <a:bodyPr/>
                    <a:lstStyle/>
                    <a:p>
                      <a:r>
                        <a:rPr lang="en-US" dirty="0">
                          <a:solidFill>
                            <a:srgbClr val="FF0000"/>
                          </a:solidFill>
                        </a:rPr>
                        <a:t>T</a:t>
                      </a:r>
                      <a:endParaRPr lang="si-LK" dirty="0">
                        <a:solidFill>
                          <a:srgbClr val="FF0000"/>
                        </a:solidFill>
                      </a:endParaRPr>
                    </a:p>
                  </a:txBody>
                  <a:tcPr/>
                </a:tc>
                <a:tc>
                  <a:txBody>
                    <a:bodyPr/>
                    <a:lstStyle/>
                    <a:p>
                      <a:r>
                        <a:rPr lang="en-US" dirty="0">
                          <a:solidFill>
                            <a:srgbClr val="FF0000"/>
                          </a:solidFill>
                        </a:rPr>
                        <a:t>T</a:t>
                      </a:r>
                      <a:endParaRPr lang="si-LK" dirty="0">
                        <a:solidFill>
                          <a:srgbClr val="FF0000"/>
                        </a:solidFill>
                      </a:endParaRPr>
                    </a:p>
                  </a:txBody>
                  <a:tcPr/>
                </a:tc>
                <a:extLst>
                  <a:ext uri="{0D108BD9-81ED-4DB2-BD59-A6C34878D82A}">
                    <a16:rowId xmlns:a16="http://schemas.microsoft.com/office/drawing/2014/main" val="2054644541"/>
                  </a:ext>
                </a:extLst>
              </a:tr>
              <a:tr h="365760">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2673127248"/>
                  </a:ext>
                </a:extLst>
              </a:tr>
              <a:tr h="365760">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extLst>
                  <a:ext uri="{0D108BD9-81ED-4DB2-BD59-A6C34878D82A}">
                    <a16:rowId xmlns:a16="http://schemas.microsoft.com/office/drawing/2014/main" val="4245932642"/>
                  </a:ext>
                </a:extLst>
              </a:tr>
            </a:tbl>
          </a:graphicData>
        </a:graphic>
      </p:graphicFrame>
      <p:sp>
        <p:nvSpPr>
          <p:cNvPr id="4" name="Date Placeholder 3">
            <a:extLst>
              <a:ext uri="{FF2B5EF4-FFF2-40B4-BE49-F238E27FC236}">
                <a16:creationId xmlns:a16="http://schemas.microsoft.com/office/drawing/2014/main" id="{71BECCCA-246F-3ABC-70AC-1F6BBA67A353}"/>
              </a:ext>
            </a:extLst>
          </p:cNvPr>
          <p:cNvSpPr>
            <a:spLocks noGrp="1"/>
          </p:cNvSpPr>
          <p:nvPr>
            <p:ph type="dt" sz="half" idx="10"/>
          </p:nvPr>
        </p:nvSpPr>
        <p:spPr/>
        <p:txBody>
          <a:bodyPr/>
          <a:lstStyle/>
          <a:p>
            <a:fld id="{9AF9EAE5-C444-47BB-8DB6-5C741FF92E26}" type="datetime3">
              <a:rPr lang="en-US" smtClean="0"/>
              <a:t>19 May 2025</a:t>
            </a:fld>
            <a:endParaRPr lang="en-US"/>
          </a:p>
        </p:txBody>
      </p:sp>
      <p:sp>
        <p:nvSpPr>
          <p:cNvPr id="5" name="Footer Placeholder 4">
            <a:extLst>
              <a:ext uri="{FF2B5EF4-FFF2-40B4-BE49-F238E27FC236}">
                <a16:creationId xmlns:a16="http://schemas.microsoft.com/office/drawing/2014/main" id="{5FE0E4DA-56D3-8F52-AB6E-9137F8C157BD}"/>
              </a:ext>
            </a:extLst>
          </p:cNvPr>
          <p:cNvSpPr>
            <a:spLocks noGrp="1"/>
          </p:cNvSpPr>
          <p:nvPr>
            <p:ph type="ftr" sz="quarter" idx="11"/>
          </p:nvPr>
        </p:nvSpPr>
        <p:spPr/>
        <p:txBody>
          <a:bodyPr/>
          <a:lstStyle/>
          <a:p>
            <a:r>
              <a:rPr lang="en-US"/>
              <a:t>SCS 1302   Discrete Mathematics       Prof. D D Karunaratna</a:t>
            </a:r>
          </a:p>
        </p:txBody>
      </p:sp>
      <p:sp>
        <p:nvSpPr>
          <p:cNvPr id="6" name="Slide Number Placeholder 5">
            <a:extLst>
              <a:ext uri="{FF2B5EF4-FFF2-40B4-BE49-F238E27FC236}">
                <a16:creationId xmlns:a16="http://schemas.microsoft.com/office/drawing/2014/main" id="{D3E2A1C7-C47F-9650-BD22-6F7EDB58A0E8}"/>
              </a:ext>
            </a:extLst>
          </p:cNvPr>
          <p:cNvSpPr>
            <a:spLocks noGrp="1"/>
          </p:cNvSpPr>
          <p:nvPr>
            <p:ph type="sldNum" sz="quarter" idx="12"/>
          </p:nvPr>
        </p:nvSpPr>
        <p:spPr/>
        <p:txBody>
          <a:bodyPr/>
          <a:lstStyle/>
          <a:p>
            <a:fld id="{0CA841A6-7C02-4C92-B6EE-5DBCC2AD53D0}" type="slidenum">
              <a:rPr lang="en-US" smtClean="0"/>
              <a:t>10</a:t>
            </a:fld>
            <a:endParaRPr lang="en-US"/>
          </a:p>
        </p:txBody>
      </p:sp>
    </p:spTree>
    <p:extLst>
      <p:ext uri="{BB962C8B-B14F-4D97-AF65-F5344CB8AC3E}">
        <p14:creationId xmlns:p14="http://schemas.microsoft.com/office/powerpoint/2010/main" val="1457294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 of a Valid Argument</a:t>
            </a:r>
          </a:p>
        </p:txBody>
      </p:sp>
      <p:sp>
        <p:nvSpPr>
          <p:cNvPr id="4" name="Date Placeholder 3"/>
          <p:cNvSpPr>
            <a:spLocks noGrp="1"/>
          </p:cNvSpPr>
          <p:nvPr>
            <p:ph type="dt" sz="half" idx="10"/>
          </p:nvPr>
        </p:nvSpPr>
        <p:spPr/>
        <p:txBody>
          <a:bodyPr/>
          <a:lstStyle/>
          <a:p>
            <a:fld id="{9B6D0D87-B3EB-46BF-A429-B8C7841C34C0}"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11</a:t>
            </a:fld>
            <a:endParaRPr lang="en-US"/>
          </a:p>
        </p:txBody>
      </p:sp>
      <p:sp>
        <p:nvSpPr>
          <p:cNvPr id="7" name="Rectangle 6"/>
          <p:cNvSpPr/>
          <p:nvPr/>
        </p:nvSpPr>
        <p:spPr>
          <a:xfrm>
            <a:off x="304801" y="1630740"/>
            <a:ext cx="8382000" cy="1477328"/>
          </a:xfrm>
          <a:prstGeom prst="rect">
            <a:avLst/>
          </a:prstGeom>
        </p:spPr>
        <p:txBody>
          <a:bodyPr wrap="square">
            <a:spAutoFit/>
          </a:bodyPr>
          <a:lstStyle/>
          <a:p>
            <a:r>
              <a:rPr lang="en-US" dirty="0"/>
              <a:t>Show that the premises “If you send me an e-mail message, then I will ﬁnish writing the program,” “If you do not send me an e-mail message, then I will go to sleep early,” and “If I go to sleep early, then I will wake up feeling refreshed” lead to the conclusion “If I do not ﬁnish writing the program, then I will wake up feeling refreshed.”</a:t>
            </a:r>
          </a:p>
        </p:txBody>
      </p:sp>
      <p:sp>
        <p:nvSpPr>
          <p:cNvPr id="8" name="TextBox 7"/>
          <p:cNvSpPr txBox="1"/>
          <p:nvPr/>
        </p:nvSpPr>
        <p:spPr>
          <a:xfrm>
            <a:off x="304800" y="3055203"/>
            <a:ext cx="8610600" cy="646331"/>
          </a:xfrm>
          <a:prstGeom prst="rect">
            <a:avLst/>
          </a:prstGeom>
          <a:noFill/>
        </p:spPr>
        <p:txBody>
          <a:bodyPr wrap="square" rtlCol="0">
            <a:spAutoFit/>
          </a:bodyPr>
          <a:lstStyle/>
          <a:p>
            <a:r>
              <a:rPr lang="en-US" dirty="0"/>
              <a:t>Let  p – “ You send me an e-mail message”,  q – “I will ﬁnish writing the program”, </a:t>
            </a:r>
          </a:p>
          <a:p>
            <a:r>
              <a:rPr lang="en-US" dirty="0"/>
              <a:t>       r – “ I will go to sleep early”, and             s - “I will wake up feeling refreshed.”</a:t>
            </a:r>
          </a:p>
        </p:txBody>
      </p:sp>
      <mc:AlternateContent xmlns:mc="http://schemas.openxmlformats.org/markup-compatibility/2006" xmlns:a14="http://schemas.microsoft.com/office/drawing/2010/main">
        <mc:Choice Requires="a14">
          <p:sp>
            <p:nvSpPr>
              <p:cNvPr id="9" name="TextBox 8"/>
              <p:cNvSpPr txBox="1"/>
              <p:nvPr/>
            </p:nvSpPr>
            <p:spPr>
              <a:xfrm>
                <a:off x="267630" y="4080808"/>
                <a:ext cx="3389972" cy="1938992"/>
              </a:xfrm>
              <a:prstGeom prst="rect">
                <a:avLst/>
              </a:prstGeom>
              <a:noFill/>
            </p:spPr>
            <p:txBody>
              <a:bodyPr wrap="square" rtlCol="0">
                <a:spAutoFit/>
              </a:bodyPr>
              <a:lstStyle/>
              <a:p>
                <a:r>
                  <a:rPr lang="en-US" sz="2000" dirty="0"/>
                  <a:t>The argument form is:</a:t>
                </a:r>
              </a:p>
              <a:p>
                <a:pPr lvl="1"/>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oMath>
                  </m:oMathPara>
                </a14:m>
                <a:endParaRPr lang="en-US" sz="2000" b="0" dirty="0">
                  <a:ea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𝑟</m:t>
                      </m:r>
                    </m:oMath>
                  </m:oMathPara>
                </a14:m>
                <a:endParaRPr lang="en-US" sz="2000" b="0" dirty="0">
                  <a:ea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𝑟</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𝑠</m:t>
                      </m:r>
                    </m:oMath>
                  </m:oMathPara>
                </a14:m>
                <a:endParaRPr lang="en-US" sz="2000" b="0" dirty="0">
                  <a:ea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oMath>
                  </m:oMathPara>
                </a14:m>
                <a:endParaRPr lang="en-US" sz="2000" b="0" dirty="0"/>
              </a:p>
              <a:p>
                <a:pPr lvl="1"/>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𝑠</m:t>
                      </m:r>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267630" y="4080808"/>
                <a:ext cx="3389972" cy="1938992"/>
              </a:xfrm>
              <a:prstGeom prst="rect">
                <a:avLst/>
              </a:prstGeom>
              <a:blipFill rotWithShape="0">
                <a:blip r:embed="rId2"/>
                <a:stretch>
                  <a:fillRect l="-1978" t="-1254" b="-125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138843904"/>
                  </p:ext>
                </p:extLst>
              </p:nvPr>
            </p:nvGraphicFramePr>
            <p:xfrm>
              <a:off x="3124200" y="3810000"/>
              <a:ext cx="5715000" cy="7315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342900">
                    <a:tc>
                      <a:txBody>
                        <a:bodyPr/>
                        <a:lstStyle/>
                        <a:p>
                          <a:r>
                            <a:rPr lang="en-US" sz="1800" dirty="0"/>
                            <a:t>Step</a:t>
                          </a:r>
                        </a:p>
                      </a:txBody>
                      <a:tcPr/>
                    </a:tc>
                    <a:tc>
                      <a:txBody>
                        <a:bodyPr/>
                        <a:lstStyle/>
                        <a:p>
                          <a:r>
                            <a:rPr lang="en-US" sz="1800" dirty="0"/>
                            <a:t>Reason</a:t>
                          </a:r>
                        </a:p>
                      </a:txBody>
                      <a:tcPr/>
                    </a:tc>
                    <a:extLst>
                      <a:ext uri="{0D108BD9-81ED-4DB2-BD59-A6C34878D82A}">
                        <a16:rowId xmlns:a16="http://schemas.microsoft.com/office/drawing/2014/main" val="10000"/>
                      </a:ext>
                    </a:extLst>
                  </a:tr>
                  <a:tr h="34290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latin typeface="+mn-lt"/>
                              <a:ea typeface="+mn-ea"/>
                              <a:cs typeface="+mn-cs"/>
                            </a:rPr>
                            <a:t>1. </a:t>
                          </a:r>
                          <a14:m>
                            <m:oMath xmlns:m="http://schemas.openxmlformats.org/officeDocument/2006/math">
                              <m:r>
                                <m:rPr>
                                  <m:sty m:val="p"/>
                                </m:rPr>
                                <a:rPr lang="en-US" sz="1800" b="0" i="1" kern="1200" smtClean="0">
                                  <a:solidFill>
                                    <a:schemeClr val="lt1"/>
                                  </a:solidFill>
                                  <a:latin typeface="Cambria Math" panose="02040503050406030204" pitchFamily="18" charset="0"/>
                                  <a:ea typeface="+mn-ea"/>
                                  <a:cs typeface="+mn-cs"/>
                                </a:rPr>
                                <m:t>p</m:t>
                              </m:r>
                              <m:r>
                                <a:rPr lang="en-US" sz="1800" b="0" kern="1200" smtClean="0">
                                  <a:solidFill>
                                    <a:schemeClr val="lt1"/>
                                  </a:solidFill>
                                  <a:latin typeface="Cambria Math" panose="02040503050406030204" pitchFamily="18" charset="0"/>
                                  <a:ea typeface="+mn-ea"/>
                                  <a:cs typeface="+mn-cs"/>
                                </a:rPr>
                                <m:t> →</m:t>
                              </m:r>
                              <m:r>
                                <m:rPr>
                                  <m:sty m:val="p"/>
                                </m:rPr>
                                <a:rPr lang="en-US" sz="1800" b="0" i="1" kern="1200" smtClean="0">
                                  <a:solidFill>
                                    <a:schemeClr val="lt1"/>
                                  </a:solidFill>
                                  <a:latin typeface="Cambria Math" panose="02040503050406030204" pitchFamily="18" charset="0"/>
                                  <a:ea typeface="+mn-ea"/>
                                  <a:cs typeface="+mn-cs"/>
                                </a:rPr>
                                <m:t>q</m:t>
                              </m:r>
                            </m:oMath>
                          </a14:m>
                          <a:endParaRPr lang="en-US" sz="1800" b="0"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Premise</a:t>
                          </a:r>
                        </a:p>
                      </a:txBody>
                      <a:tcPr>
                        <a:solidFill>
                          <a:schemeClr val="accent2"/>
                        </a:solidFill>
                      </a:tcPr>
                    </a:tc>
                    <a:extLst>
                      <a:ext uri="{0D108BD9-81ED-4DB2-BD59-A6C34878D82A}">
                        <a16:rowId xmlns:a16="http://schemas.microsoft.com/office/drawing/2014/main" val="10001"/>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138843904"/>
                  </p:ext>
                </p:extLst>
              </p:nvPr>
            </p:nvGraphicFramePr>
            <p:xfrm>
              <a:off x="3124200" y="3810000"/>
              <a:ext cx="5715000" cy="731520"/>
            </p:xfrm>
            <a:graphic>
              <a:graphicData uri="http://schemas.openxmlformats.org/drawingml/2006/table">
                <a:tbl>
                  <a:tblPr firstRow="1" bandRow="1">
                    <a:tableStyleId>{5C22544A-7EE6-4342-B048-85BDC9FD1C3A}</a:tableStyleId>
                  </a:tblPr>
                  <a:tblGrid>
                    <a:gridCol w="1524000"/>
                    <a:gridCol w="4191000"/>
                  </a:tblGrid>
                  <a:tr h="365760">
                    <a:tc>
                      <a:txBody>
                        <a:bodyPr/>
                        <a:lstStyle/>
                        <a:p>
                          <a:r>
                            <a:rPr lang="en-US" sz="1800" dirty="0" smtClean="0"/>
                            <a:t>Step</a:t>
                          </a:r>
                          <a:endParaRPr lang="en-US" sz="1800" dirty="0"/>
                        </a:p>
                      </a:txBody>
                      <a:tcPr/>
                    </a:tc>
                    <a:tc>
                      <a:txBody>
                        <a:bodyPr/>
                        <a:lstStyle/>
                        <a:p>
                          <a:r>
                            <a:rPr lang="en-US" sz="1800" dirty="0" smtClean="0"/>
                            <a:t>Reason</a:t>
                          </a:r>
                          <a:endParaRPr lang="en-US" sz="1800" dirty="0"/>
                        </a:p>
                      </a:txBody>
                      <a:tcPr/>
                    </a:tc>
                  </a:tr>
                  <a:tr h="365760">
                    <a:tc>
                      <a:txBody>
                        <a:bodyPr/>
                        <a:lstStyle/>
                        <a:p>
                          <a:endParaRPr lang="en-US"/>
                        </a:p>
                      </a:txBody>
                      <a:tcPr>
                        <a:blipFill rotWithShape="0">
                          <a:blip r:embed="rId3"/>
                          <a:stretch>
                            <a:fillRect l="-400" t="-108333" r="-277200" b="-26667"/>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Premise</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2715178851"/>
                  </p:ext>
                </p:extLst>
              </p:nvPr>
            </p:nvGraphicFramePr>
            <p:xfrm>
              <a:off x="3124200" y="4523919"/>
              <a:ext cx="5715000" cy="3657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30480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latin typeface="+mn-lt"/>
                              <a:ea typeface="+mn-ea"/>
                              <a:cs typeface="+mn-cs"/>
                            </a:rPr>
                            <a:t>2. </a:t>
                          </a:r>
                          <a14:m>
                            <m:oMath xmlns:m="http://schemas.openxmlformats.org/officeDocument/2006/math">
                              <m:r>
                                <a:rPr lang="en-US" sz="1800" b="0" kern="1200" smtClean="0">
                                  <a:solidFill>
                                    <a:schemeClr val="lt1"/>
                                  </a:solidFill>
                                  <a:latin typeface="Cambria Math" panose="02040503050406030204" pitchFamily="18" charset="0"/>
                                  <a:ea typeface="+mn-ea"/>
                                  <a:cs typeface="+mn-cs"/>
                                </a:rPr>
                                <m:t>¬ </m:t>
                              </m:r>
                              <m:r>
                                <m:rPr>
                                  <m:sty m:val="p"/>
                                </m:rPr>
                                <a:rPr lang="en-US" sz="1800" b="0" i="1" kern="1200" smtClean="0">
                                  <a:solidFill>
                                    <a:schemeClr val="lt1"/>
                                  </a:solidFill>
                                  <a:latin typeface="Cambria Math" panose="02040503050406030204" pitchFamily="18" charset="0"/>
                                  <a:ea typeface="+mn-ea"/>
                                  <a:cs typeface="+mn-cs"/>
                                </a:rPr>
                                <m:t>q</m:t>
                              </m:r>
                              <m:r>
                                <a:rPr lang="en-US" sz="1800" b="0" kern="1200" smtClean="0">
                                  <a:solidFill>
                                    <a:schemeClr val="lt1"/>
                                  </a:solidFill>
                                  <a:latin typeface="Cambria Math" panose="02040503050406030204" pitchFamily="18" charset="0"/>
                                  <a:ea typeface="+mn-ea"/>
                                  <a:cs typeface="+mn-cs"/>
                                </a:rPr>
                                <m:t> →¬ </m:t>
                              </m:r>
                              <m:r>
                                <m:rPr>
                                  <m:sty m:val="p"/>
                                </m:rPr>
                                <a:rPr lang="en-US" sz="1800" b="0" i="1" kern="1200" smtClean="0">
                                  <a:solidFill>
                                    <a:schemeClr val="lt1"/>
                                  </a:solidFill>
                                  <a:latin typeface="Cambria Math" panose="02040503050406030204" pitchFamily="18" charset="0"/>
                                  <a:ea typeface="+mn-ea"/>
                                  <a:cs typeface="+mn-cs"/>
                                </a:rPr>
                                <m:t>p</m:t>
                              </m:r>
                            </m:oMath>
                          </a14:m>
                          <a:endParaRPr lang="en-US" sz="1800" b="0"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Contrapositive of (1)</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2715178851"/>
                  </p:ext>
                </p:extLst>
              </p:nvPr>
            </p:nvGraphicFramePr>
            <p:xfrm>
              <a:off x="3124200" y="4523919"/>
              <a:ext cx="5715000" cy="365760"/>
            </p:xfrm>
            <a:graphic>
              <a:graphicData uri="http://schemas.openxmlformats.org/drawingml/2006/table">
                <a:tbl>
                  <a:tblPr firstRow="1" bandRow="1">
                    <a:tableStyleId>{5C22544A-7EE6-4342-B048-85BDC9FD1C3A}</a:tableStyleId>
                  </a:tblPr>
                  <a:tblGrid>
                    <a:gridCol w="1524000"/>
                    <a:gridCol w="4191000"/>
                  </a:tblGrid>
                  <a:tr h="365760">
                    <a:tc>
                      <a:txBody>
                        <a:bodyPr/>
                        <a:lstStyle/>
                        <a:p>
                          <a:endParaRPr lang="en-US"/>
                        </a:p>
                      </a:txBody>
                      <a:tcPr>
                        <a:blipFill rotWithShape="0">
                          <a:blip r:embed="rId4"/>
                          <a:stretch>
                            <a:fillRect l="-400" t="-8197" r="-277200" b="-2459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Contrapositive of (1)</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2848412302"/>
                  </p:ext>
                </p:extLst>
              </p:nvPr>
            </p:nvGraphicFramePr>
            <p:xfrm>
              <a:off x="3124200" y="4876800"/>
              <a:ext cx="5715000" cy="3657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35524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a:t>3. </a:t>
                          </a:r>
                          <a14:m>
                            <m:oMath xmlns:m="http://schemas.openxmlformats.org/officeDocument/2006/math">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𝑝</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𝑟</m:t>
                              </m:r>
                            </m:oMath>
                          </a14:m>
                          <a:endParaRPr lang="en-US" sz="1800" b="0" dirty="0">
                            <a:ea typeface="Cambria Math" panose="02040503050406030204" pitchFamily="18" charset="0"/>
                          </a:endParaRPr>
                        </a:p>
                      </a:txBody>
                      <a:tcPr>
                        <a:solidFill>
                          <a:schemeClr val="accent2"/>
                        </a:solidFill>
                      </a:tcPr>
                    </a:tc>
                    <a:tc>
                      <a:txBody>
                        <a:bodyPr/>
                        <a:lstStyle/>
                        <a:p>
                          <a:r>
                            <a:rPr lang="en-US" sz="1800" dirty="0"/>
                            <a:t>Premise</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2848412302"/>
                  </p:ext>
                </p:extLst>
              </p:nvPr>
            </p:nvGraphicFramePr>
            <p:xfrm>
              <a:off x="3124200" y="4876800"/>
              <a:ext cx="5715000" cy="365760"/>
            </p:xfrm>
            <a:graphic>
              <a:graphicData uri="http://schemas.openxmlformats.org/drawingml/2006/table">
                <a:tbl>
                  <a:tblPr firstRow="1" bandRow="1">
                    <a:tableStyleId>{5C22544A-7EE6-4342-B048-85BDC9FD1C3A}</a:tableStyleId>
                  </a:tblPr>
                  <a:tblGrid>
                    <a:gridCol w="1524000"/>
                    <a:gridCol w="4191000"/>
                  </a:tblGrid>
                  <a:tr h="365760">
                    <a:tc>
                      <a:txBody>
                        <a:bodyPr/>
                        <a:lstStyle/>
                        <a:p>
                          <a:endParaRPr lang="en-US"/>
                        </a:p>
                      </a:txBody>
                      <a:tcPr>
                        <a:blipFill rotWithShape="0">
                          <a:blip r:embed="rId5"/>
                          <a:stretch>
                            <a:fillRect l="-400" t="-8333" r="-277200" b="-26667"/>
                          </a:stretch>
                        </a:blipFill>
                      </a:tcPr>
                    </a:tc>
                    <a:tc>
                      <a:txBody>
                        <a:bodyPr/>
                        <a:lstStyle/>
                        <a:p>
                          <a:r>
                            <a:rPr lang="en-US" sz="1800" dirty="0" smtClean="0"/>
                            <a:t>Premise</a:t>
                          </a:r>
                          <a:endParaRPr lang="en-US" sz="1800" dirty="0"/>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061747455"/>
                  </p:ext>
                </p:extLst>
              </p:nvPr>
            </p:nvGraphicFramePr>
            <p:xfrm>
              <a:off x="3124200" y="5183961"/>
              <a:ext cx="5715000" cy="3657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33528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a:t>4. </a:t>
                          </a:r>
                          <a14:m>
                            <m:oMath xmlns:m="http://schemas.openxmlformats.org/officeDocument/2006/math">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𝑞</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𝑟</m:t>
                              </m:r>
                            </m:oMath>
                          </a14:m>
                          <a:endParaRPr lang="en-US" sz="1800" b="0" dirty="0">
                            <a:ea typeface="Cambria Math" panose="02040503050406030204" pitchFamily="18" charset="0"/>
                          </a:endParaRPr>
                        </a:p>
                      </a:txBody>
                      <a:tcPr>
                        <a:solidFill>
                          <a:schemeClr val="accent2"/>
                        </a:solidFill>
                      </a:tcPr>
                    </a:tc>
                    <a:tc>
                      <a:txBody>
                        <a:bodyPr/>
                        <a:lstStyle/>
                        <a:p>
                          <a:r>
                            <a:rPr lang="en-US" sz="1600" dirty="0"/>
                            <a:t>Hypothetical syllogism using (2) and (3) </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061747455"/>
                  </p:ext>
                </p:extLst>
              </p:nvPr>
            </p:nvGraphicFramePr>
            <p:xfrm>
              <a:off x="3124200" y="5183961"/>
              <a:ext cx="5715000" cy="365760"/>
            </p:xfrm>
            <a:graphic>
              <a:graphicData uri="http://schemas.openxmlformats.org/drawingml/2006/table">
                <a:tbl>
                  <a:tblPr firstRow="1" bandRow="1">
                    <a:tableStyleId>{5C22544A-7EE6-4342-B048-85BDC9FD1C3A}</a:tableStyleId>
                  </a:tblPr>
                  <a:tblGrid>
                    <a:gridCol w="1524000"/>
                    <a:gridCol w="4191000"/>
                  </a:tblGrid>
                  <a:tr h="365760">
                    <a:tc>
                      <a:txBody>
                        <a:bodyPr/>
                        <a:lstStyle/>
                        <a:p>
                          <a:endParaRPr lang="en-US"/>
                        </a:p>
                      </a:txBody>
                      <a:tcPr>
                        <a:blipFill rotWithShape="0">
                          <a:blip r:embed="rId6"/>
                          <a:stretch>
                            <a:fillRect l="-400" t="-8197" r="-277200" b="-24590"/>
                          </a:stretch>
                        </a:blipFill>
                      </a:tcPr>
                    </a:tc>
                    <a:tc>
                      <a:txBody>
                        <a:bodyPr/>
                        <a:lstStyle/>
                        <a:p>
                          <a:r>
                            <a:rPr lang="en-US" sz="1600" dirty="0" smtClean="0"/>
                            <a:t>Hypothetical syllogism using (2) and (3) </a:t>
                          </a:r>
                          <a:endParaRPr lang="en-US" sz="1600" dirty="0"/>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3783416050"/>
                  </p:ext>
                </p:extLst>
              </p:nvPr>
            </p:nvGraphicFramePr>
            <p:xfrm>
              <a:off x="3124200" y="5536842"/>
              <a:ext cx="5715000" cy="3657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33528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latin typeface="+mn-lt"/>
                              <a:ea typeface="+mn-ea"/>
                              <a:cs typeface="+mn-cs"/>
                            </a:rPr>
                            <a:t>5. </a:t>
                          </a:r>
                          <a14:m>
                            <m:oMath xmlns:m="http://schemas.openxmlformats.org/officeDocument/2006/math">
                              <m:r>
                                <a:rPr lang="en-US" sz="1800" b="1" kern="1200" smtClean="0">
                                  <a:solidFill>
                                    <a:schemeClr val="lt1"/>
                                  </a:solidFill>
                                  <a:latin typeface="Cambria Math" panose="02040503050406030204" pitchFamily="18" charset="0"/>
                                  <a:ea typeface="+mn-ea"/>
                                  <a:cs typeface="+mn-cs"/>
                                </a:rPr>
                                <m:t>𝑟</m:t>
                              </m:r>
                              <m:r>
                                <a:rPr lang="en-US" sz="1800" b="1" kern="1200" smtClean="0">
                                  <a:solidFill>
                                    <a:schemeClr val="lt1"/>
                                  </a:solidFill>
                                  <a:latin typeface="Cambria Math" panose="02040503050406030204" pitchFamily="18" charset="0"/>
                                  <a:ea typeface="+mn-ea"/>
                                  <a:cs typeface="+mn-cs"/>
                                </a:rPr>
                                <m:t> →</m:t>
                              </m:r>
                              <m:r>
                                <a:rPr lang="en-US" sz="1800" b="1" kern="1200" smtClean="0">
                                  <a:solidFill>
                                    <a:schemeClr val="lt1"/>
                                  </a:solidFill>
                                  <a:latin typeface="Cambria Math" panose="02040503050406030204" pitchFamily="18" charset="0"/>
                                  <a:ea typeface="+mn-ea"/>
                                  <a:cs typeface="+mn-cs"/>
                                </a:rPr>
                                <m:t>𝑠</m:t>
                              </m:r>
                            </m:oMath>
                          </a14:m>
                          <a:endParaRPr lang="en-US" sz="1800" b="1" kern="1200" dirty="0">
                            <a:solidFill>
                              <a:schemeClr val="lt1"/>
                            </a:solidFill>
                            <a:latin typeface="+mn-lt"/>
                            <a:ea typeface="+mn-ea"/>
                            <a:cs typeface="+mn-cs"/>
                          </a:endParaRPr>
                        </a:p>
                      </a:txBody>
                      <a:tcPr>
                        <a:solidFill>
                          <a:schemeClr val="accent2"/>
                        </a:solidFill>
                      </a:tcPr>
                    </a:tc>
                    <a:tc>
                      <a:txBody>
                        <a:bodyPr/>
                        <a:lstStyle/>
                        <a:p>
                          <a:r>
                            <a:rPr lang="en-US" sz="1800" b="1" kern="1200" dirty="0">
                              <a:solidFill>
                                <a:schemeClr val="lt1"/>
                              </a:solidFill>
                              <a:latin typeface="+mn-lt"/>
                              <a:ea typeface="+mn-ea"/>
                              <a:cs typeface="+mn-cs"/>
                            </a:rPr>
                            <a:t>Premise</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3783416050"/>
                  </p:ext>
                </p:extLst>
              </p:nvPr>
            </p:nvGraphicFramePr>
            <p:xfrm>
              <a:off x="3124200" y="5536842"/>
              <a:ext cx="5715000" cy="365760"/>
            </p:xfrm>
            <a:graphic>
              <a:graphicData uri="http://schemas.openxmlformats.org/drawingml/2006/table">
                <a:tbl>
                  <a:tblPr firstRow="1" bandRow="1">
                    <a:tableStyleId>{5C22544A-7EE6-4342-B048-85BDC9FD1C3A}</a:tableStyleId>
                  </a:tblPr>
                  <a:tblGrid>
                    <a:gridCol w="1524000"/>
                    <a:gridCol w="4191000"/>
                  </a:tblGrid>
                  <a:tr h="365760">
                    <a:tc>
                      <a:txBody>
                        <a:bodyPr/>
                        <a:lstStyle/>
                        <a:p>
                          <a:endParaRPr lang="en-US"/>
                        </a:p>
                      </a:txBody>
                      <a:tcPr>
                        <a:blipFill rotWithShape="0">
                          <a:blip r:embed="rId7"/>
                          <a:stretch>
                            <a:fillRect l="-400" t="-8197" r="-277200" b="-24590"/>
                          </a:stretch>
                        </a:blipFill>
                      </a:tcPr>
                    </a:tc>
                    <a:tc>
                      <a:txBody>
                        <a:bodyPr/>
                        <a:lstStyle/>
                        <a:p>
                          <a:r>
                            <a:rPr lang="en-US" sz="1800" b="1" kern="1200" dirty="0" smtClean="0">
                              <a:solidFill>
                                <a:schemeClr val="lt1"/>
                              </a:solidFill>
                              <a:latin typeface="+mn-lt"/>
                              <a:ea typeface="+mn-ea"/>
                              <a:cs typeface="+mn-cs"/>
                            </a:rPr>
                            <a:t>Premise</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92483131"/>
                  </p:ext>
                </p:extLst>
              </p:nvPr>
            </p:nvGraphicFramePr>
            <p:xfrm>
              <a:off x="3123126" y="5881566"/>
              <a:ext cx="5715000" cy="3657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33528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latin typeface="+mn-lt"/>
                              <a:ea typeface="+mn-ea"/>
                              <a:cs typeface="+mn-cs"/>
                            </a:rPr>
                            <a:t>6. </a:t>
                          </a:r>
                          <a14:m>
                            <m:oMath xmlns:m="http://schemas.openxmlformats.org/officeDocument/2006/math">
                              <m:r>
                                <a:rPr lang="en-US" sz="1800" b="1" kern="1200" smtClean="0">
                                  <a:solidFill>
                                    <a:schemeClr val="lt1"/>
                                  </a:solidFill>
                                  <a:latin typeface="Cambria Math" panose="02040503050406030204" pitchFamily="18" charset="0"/>
                                  <a:ea typeface="+mn-ea"/>
                                  <a:cs typeface="+mn-cs"/>
                                </a:rPr>
                                <m:t>¬ </m:t>
                              </m:r>
                              <m:r>
                                <a:rPr lang="en-US" sz="1800" b="1" kern="1200" smtClean="0">
                                  <a:solidFill>
                                    <a:schemeClr val="lt1"/>
                                  </a:solidFill>
                                  <a:latin typeface="Cambria Math" panose="02040503050406030204" pitchFamily="18" charset="0"/>
                                  <a:ea typeface="+mn-ea"/>
                                  <a:cs typeface="+mn-cs"/>
                                </a:rPr>
                                <m:t>𝒒</m:t>
                              </m:r>
                              <m:r>
                                <a:rPr lang="en-US" sz="1800" b="1" kern="1200" smtClean="0">
                                  <a:solidFill>
                                    <a:schemeClr val="lt1"/>
                                  </a:solidFill>
                                  <a:latin typeface="Cambria Math" panose="02040503050406030204" pitchFamily="18" charset="0"/>
                                  <a:ea typeface="+mn-ea"/>
                                  <a:cs typeface="+mn-cs"/>
                                </a:rPr>
                                <m:t> →</m:t>
                              </m:r>
                              <m:r>
                                <a:rPr lang="en-US" sz="1800" b="1" kern="1200" smtClean="0">
                                  <a:solidFill>
                                    <a:schemeClr val="lt1"/>
                                  </a:solidFill>
                                  <a:latin typeface="Cambria Math" panose="02040503050406030204" pitchFamily="18" charset="0"/>
                                  <a:ea typeface="+mn-ea"/>
                                  <a:cs typeface="+mn-cs"/>
                                </a:rPr>
                                <m:t>𝒔</m:t>
                              </m:r>
                            </m:oMath>
                          </a14:m>
                          <a:endParaRPr lang="en-US" sz="1800" b="1"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600" b="1" kern="1200" dirty="0">
                              <a:solidFill>
                                <a:schemeClr val="lt1"/>
                              </a:solidFill>
                              <a:latin typeface="+mn-lt"/>
                              <a:ea typeface="+mn-ea"/>
                              <a:cs typeface="+mn-cs"/>
                            </a:rPr>
                            <a:t>Hypothetical syllogism using (4) and (5)</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92483131"/>
                  </p:ext>
                </p:extLst>
              </p:nvPr>
            </p:nvGraphicFramePr>
            <p:xfrm>
              <a:off x="3123126" y="5881566"/>
              <a:ext cx="5715000" cy="365760"/>
            </p:xfrm>
            <a:graphic>
              <a:graphicData uri="http://schemas.openxmlformats.org/drawingml/2006/table">
                <a:tbl>
                  <a:tblPr firstRow="1" bandRow="1">
                    <a:tableStyleId>{5C22544A-7EE6-4342-B048-85BDC9FD1C3A}</a:tableStyleId>
                  </a:tblPr>
                  <a:tblGrid>
                    <a:gridCol w="1524000"/>
                    <a:gridCol w="4191000"/>
                  </a:tblGrid>
                  <a:tr h="365760">
                    <a:tc>
                      <a:txBody>
                        <a:bodyPr/>
                        <a:lstStyle/>
                        <a:p>
                          <a:endParaRPr lang="en-US"/>
                        </a:p>
                      </a:txBody>
                      <a:tcPr>
                        <a:blipFill rotWithShape="0">
                          <a:blip r:embed="rId8"/>
                          <a:stretch>
                            <a:fillRect l="-400" t="-8197" r="-276800" b="-26230"/>
                          </a:stretch>
                        </a:blipFill>
                      </a:tcPr>
                    </a:tc>
                    <a:tc>
                      <a:txBody>
                        <a:bodyPr/>
                        <a:lstStyle/>
                        <a:p>
                          <a:pPr marL="0" algn="l" defTabSz="914400" rtl="0" eaLnBrk="1" latinLnBrk="0" hangingPunct="1"/>
                          <a:r>
                            <a:rPr lang="en-US" sz="1600" b="1" kern="1200" dirty="0" smtClean="0">
                              <a:solidFill>
                                <a:schemeClr val="lt1"/>
                              </a:solidFill>
                              <a:latin typeface="+mn-lt"/>
                              <a:ea typeface="+mn-ea"/>
                              <a:cs typeface="+mn-cs"/>
                            </a:rPr>
                            <a:t>Hypothetical syllogism using (4) and (5)</a:t>
                          </a:r>
                          <a:endParaRPr lang="en-US" sz="1600" b="1" kern="1200" dirty="0">
                            <a:solidFill>
                              <a:schemeClr val="lt1"/>
                            </a:solidFill>
                            <a:latin typeface="+mn-lt"/>
                            <a:ea typeface="+mn-ea"/>
                            <a:cs typeface="+mn-cs"/>
                          </a:endParaRPr>
                        </a:p>
                      </a:txBody>
                      <a:tcPr>
                        <a:solidFill>
                          <a:schemeClr val="accent2"/>
                        </a:solidFill>
                      </a:tcPr>
                    </a:tc>
                  </a:tr>
                </a:tbl>
              </a:graphicData>
            </a:graphic>
          </p:graphicFrame>
        </mc:Fallback>
      </mc:AlternateContent>
    </p:spTree>
    <p:extLst>
      <p:ext uri="{BB962C8B-B14F-4D97-AF65-F5344CB8AC3E}">
        <p14:creationId xmlns:p14="http://schemas.microsoft.com/office/powerpoint/2010/main" val="14916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p>
        </p:txBody>
      </p:sp>
      <p:sp>
        <p:nvSpPr>
          <p:cNvPr id="4" name="Date Placeholder 3"/>
          <p:cNvSpPr>
            <a:spLocks noGrp="1"/>
          </p:cNvSpPr>
          <p:nvPr>
            <p:ph type="dt" sz="half" idx="10"/>
          </p:nvPr>
        </p:nvSpPr>
        <p:spPr/>
        <p:txBody>
          <a:bodyPr/>
          <a:lstStyle/>
          <a:p>
            <a:fld id="{1AF367AD-981A-46AE-9F47-672EF6DD7717}"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12</a:t>
            </a:fld>
            <a:endParaRPr lang="en-US"/>
          </a:p>
        </p:txBody>
      </p:sp>
      <p:sp>
        <p:nvSpPr>
          <p:cNvPr id="8" name="TextBox 7"/>
          <p:cNvSpPr txBox="1"/>
          <p:nvPr/>
        </p:nvSpPr>
        <p:spPr>
          <a:xfrm>
            <a:off x="304801" y="1570892"/>
            <a:ext cx="8381999" cy="2092881"/>
          </a:xfrm>
          <a:prstGeom prst="rect">
            <a:avLst/>
          </a:prstGeom>
          <a:noFill/>
        </p:spPr>
        <p:txBody>
          <a:bodyPr wrap="square" rtlCol="0">
            <a:spAutoFit/>
          </a:bodyPr>
          <a:lstStyle/>
          <a:p>
            <a:r>
              <a:rPr lang="en-US" sz="2000" dirty="0"/>
              <a:t>Show that the following argument is valid:</a:t>
            </a:r>
          </a:p>
          <a:p>
            <a:endParaRPr lang="en-US" sz="2000" dirty="0"/>
          </a:p>
          <a:p>
            <a:pPr algn="just"/>
            <a:r>
              <a:rPr lang="en-US" dirty="0"/>
              <a:t>If today is a Friday, then I have a test in CS or a test in Mathematics. If my Mathematics lecturer is sick, then I will not have a test in Mathematics. Today is Friday and my Mathematics lecturer is sick.</a:t>
            </a:r>
          </a:p>
          <a:p>
            <a:pPr algn="just"/>
            <a:r>
              <a:rPr lang="en-US" dirty="0"/>
              <a:t>Therefore, I have a test in CS. </a:t>
            </a:r>
          </a:p>
          <a:p>
            <a:endParaRPr lang="en-US" dirty="0"/>
          </a:p>
        </p:txBody>
      </p:sp>
      <p:sp>
        <p:nvSpPr>
          <p:cNvPr id="9" name="TextBox 8"/>
          <p:cNvSpPr txBox="1"/>
          <p:nvPr/>
        </p:nvSpPr>
        <p:spPr>
          <a:xfrm>
            <a:off x="228600" y="3544669"/>
            <a:ext cx="8763000" cy="646331"/>
          </a:xfrm>
          <a:prstGeom prst="rect">
            <a:avLst/>
          </a:prstGeom>
          <a:noFill/>
        </p:spPr>
        <p:txBody>
          <a:bodyPr wrap="square" rtlCol="0">
            <a:spAutoFit/>
          </a:bodyPr>
          <a:lstStyle/>
          <a:p>
            <a:r>
              <a:rPr lang="en-US" dirty="0"/>
              <a:t>Let  p – “Today is a Friday”,                               q – “I have a test in CS ”, </a:t>
            </a:r>
          </a:p>
          <a:p>
            <a:r>
              <a:rPr lang="en-US" dirty="0"/>
              <a:t>       r – “ I have a test in Mathematics”       s - “My Mathematics lecturer is sick.”</a:t>
            </a:r>
          </a:p>
        </p:txBody>
      </p:sp>
      <mc:AlternateContent xmlns:mc="http://schemas.openxmlformats.org/markup-compatibility/2006" xmlns:a14="http://schemas.microsoft.com/office/drawing/2010/main">
        <mc:Choice Requires="a14">
          <p:sp>
            <p:nvSpPr>
              <p:cNvPr id="10" name="TextBox 9"/>
              <p:cNvSpPr txBox="1"/>
              <p:nvPr/>
            </p:nvSpPr>
            <p:spPr>
              <a:xfrm>
                <a:off x="2706028" y="4343400"/>
                <a:ext cx="3389972" cy="1938992"/>
              </a:xfrm>
              <a:prstGeom prst="rect">
                <a:avLst/>
              </a:prstGeom>
              <a:noFill/>
            </p:spPr>
            <p:txBody>
              <a:bodyPr wrap="square" rtlCol="0">
                <a:spAutoFit/>
              </a:bodyPr>
              <a:lstStyle/>
              <a:p>
                <a:r>
                  <a:rPr lang="en-US" sz="2000" dirty="0"/>
                  <a:t>The argument form is:</a:t>
                </a:r>
              </a:p>
              <a:p>
                <a:pPr lvl="1"/>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r>
                        <a:rPr lang="en-US"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𝑟</m:t>
                      </m:r>
                      <m:r>
                        <a:rPr lang="en-GB" sz="2000" b="0" i="1" smtClean="0">
                          <a:latin typeface="Cambria Math" panose="02040503050406030204" pitchFamily="18" charset="0"/>
                          <a:ea typeface="Cambria Math" panose="02040503050406030204" pitchFamily="18" charset="0"/>
                        </a:rPr>
                        <m:t>)</m:t>
                      </m:r>
                    </m:oMath>
                  </m:oMathPara>
                </a14:m>
                <a:endParaRPr lang="en-US" sz="2000" b="0" dirty="0">
                  <a:ea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ea typeface="Cambria Math" panose="02040503050406030204" pitchFamily="18" charset="0"/>
                        </a:rPr>
                        <m:t>𝑠</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𝑟</m:t>
                      </m:r>
                    </m:oMath>
                  </m:oMathPara>
                </a14:m>
                <a:endParaRPr lang="en-US" sz="2000" b="0" dirty="0">
                  <a:ea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oMath>
                  </m:oMathPara>
                </a14:m>
                <a:endParaRPr lang="en-US" sz="2000" b="0" dirty="0">
                  <a:ea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oMath>
                  </m:oMathPara>
                </a14:m>
                <a:endParaRPr lang="en-US" sz="2000" b="0" dirty="0"/>
              </a:p>
              <a:p>
                <a:pPr lvl="1"/>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r>
                        <a:rPr lang="en-US" sz="2000" b="0" i="1" smtClean="0">
                          <a:latin typeface="Cambria Math" panose="02040503050406030204" pitchFamily="18" charset="0"/>
                          <a:ea typeface="Cambria Math" panose="02040503050406030204" pitchFamily="18" charset="0"/>
                        </a:rPr>
                        <m:t> </m:t>
                      </m:r>
                    </m:oMath>
                  </m:oMathPara>
                </a14:m>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2706028" y="4343400"/>
                <a:ext cx="3389972" cy="1938992"/>
              </a:xfrm>
              <a:prstGeom prst="rect">
                <a:avLst/>
              </a:prstGeom>
              <a:blipFill rotWithShape="0">
                <a:blip r:embed="rId2"/>
                <a:stretch>
                  <a:fillRect l="-1978" t="-1572" b="-1258"/>
                </a:stretch>
              </a:blipFill>
            </p:spPr>
            <p:txBody>
              <a:bodyPr/>
              <a:lstStyle/>
              <a:p>
                <a:r>
                  <a:rPr lang="en-GB">
                    <a:noFill/>
                  </a:rPr>
                  <a:t> </a:t>
                </a:r>
              </a:p>
            </p:txBody>
          </p:sp>
        </mc:Fallback>
      </mc:AlternateContent>
    </p:spTree>
    <p:extLst>
      <p:ext uri="{BB962C8B-B14F-4D97-AF65-F5344CB8AC3E}">
        <p14:creationId xmlns:p14="http://schemas.microsoft.com/office/powerpoint/2010/main" val="370416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 Continued</a:t>
            </a:r>
          </a:p>
        </p:txBody>
      </p:sp>
      <p:sp>
        <p:nvSpPr>
          <p:cNvPr id="4" name="Date Placeholder 3"/>
          <p:cNvSpPr>
            <a:spLocks noGrp="1"/>
          </p:cNvSpPr>
          <p:nvPr>
            <p:ph type="dt" sz="half" idx="10"/>
          </p:nvPr>
        </p:nvSpPr>
        <p:spPr/>
        <p:txBody>
          <a:bodyPr/>
          <a:lstStyle/>
          <a:p>
            <a:fld id="{C3605A5F-4A1A-4954-BB35-508DED25ED81}"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13</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26831" y="2971800"/>
                <a:ext cx="3389972" cy="1938992"/>
              </a:xfrm>
              <a:prstGeom prst="rect">
                <a:avLst/>
              </a:prstGeom>
              <a:noFill/>
            </p:spPr>
            <p:txBody>
              <a:bodyPr wrap="square" rtlCol="0">
                <a:spAutoFit/>
              </a:bodyPr>
              <a:lstStyle/>
              <a:p>
                <a:r>
                  <a:rPr lang="en-US" sz="2000" dirty="0"/>
                  <a:t>The argument form is:</a:t>
                </a:r>
              </a:p>
              <a:p>
                <a:pPr lvl="1"/>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r>
                        <a:rPr lang="en-US"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𝑟</m:t>
                      </m:r>
                      <m:r>
                        <a:rPr lang="en-GB" sz="2000" b="0" i="1" smtClean="0">
                          <a:latin typeface="Cambria Math" panose="02040503050406030204" pitchFamily="18" charset="0"/>
                          <a:ea typeface="Cambria Math" panose="02040503050406030204" pitchFamily="18" charset="0"/>
                        </a:rPr>
                        <m:t>)</m:t>
                      </m:r>
                    </m:oMath>
                  </m:oMathPara>
                </a14:m>
                <a:endParaRPr lang="en-US" sz="2000" b="0" dirty="0">
                  <a:ea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ea typeface="Cambria Math" panose="02040503050406030204" pitchFamily="18" charset="0"/>
                        </a:rPr>
                        <m:t>𝑠</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𝑟</m:t>
                      </m:r>
                    </m:oMath>
                  </m:oMathPara>
                </a14:m>
                <a:endParaRPr lang="en-US" sz="2000" b="0" dirty="0">
                  <a:ea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oMath>
                  </m:oMathPara>
                </a14:m>
                <a:endParaRPr lang="en-US" sz="2000" b="0" dirty="0">
                  <a:ea typeface="Cambria Math" panose="02040503050406030204" pitchFamily="18" charset="0"/>
                </a:endParaRPr>
              </a:p>
              <a:p>
                <a:pPr lvl="1"/>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oMath>
                  </m:oMathPara>
                </a14:m>
                <a:endParaRPr lang="en-US" sz="2000" b="0" dirty="0"/>
              </a:p>
              <a:p>
                <a:pPr lvl="1"/>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r>
                        <a:rPr lang="en-US" sz="2000" b="0" i="1" smtClean="0">
                          <a:latin typeface="Cambria Math" panose="02040503050406030204" pitchFamily="18" charset="0"/>
                          <a:ea typeface="Cambria Math" panose="02040503050406030204" pitchFamily="18" charset="0"/>
                        </a:rPr>
                        <m:t> </m:t>
                      </m:r>
                    </m:oMath>
                  </m:oMathPara>
                </a14:m>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26831" y="2971800"/>
                <a:ext cx="3389972" cy="1938992"/>
              </a:xfrm>
              <a:prstGeom prst="rect">
                <a:avLst/>
              </a:prstGeom>
              <a:blipFill rotWithShape="0">
                <a:blip r:embed="rId2"/>
                <a:stretch>
                  <a:fillRect l="-1799" t="-1572" b="-12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3546191561"/>
                  </p:ext>
                </p:extLst>
              </p:nvPr>
            </p:nvGraphicFramePr>
            <p:xfrm>
              <a:off x="3200400" y="1897917"/>
              <a:ext cx="5715000" cy="73152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42900">
                    <a:tc>
                      <a:txBody>
                        <a:bodyPr/>
                        <a:lstStyle/>
                        <a:p>
                          <a:r>
                            <a:rPr lang="en-US" sz="1800" dirty="0"/>
                            <a:t>Step</a:t>
                          </a:r>
                        </a:p>
                      </a:txBody>
                      <a:tcPr/>
                    </a:tc>
                    <a:tc>
                      <a:txBody>
                        <a:bodyPr/>
                        <a:lstStyle/>
                        <a:p>
                          <a:r>
                            <a:rPr lang="en-US" sz="1800" dirty="0"/>
                            <a:t>Reason</a:t>
                          </a:r>
                        </a:p>
                      </a:txBody>
                      <a:tcPr/>
                    </a:tc>
                    <a:extLst>
                      <a:ext uri="{0D108BD9-81ED-4DB2-BD59-A6C34878D82A}">
                        <a16:rowId xmlns:a16="http://schemas.microsoft.com/office/drawing/2014/main" val="10000"/>
                      </a:ext>
                    </a:extLst>
                  </a:tr>
                  <a:tr h="342900">
                    <a:tc>
                      <a:txBody>
                        <a:bodyPr/>
                        <a:lstStyle/>
                        <a:p>
                          <a:pPr lvl="0" algn="l"/>
                          <a:r>
                            <a:rPr lang="en-US" sz="1800" b="0" i="0" kern="1200" dirty="0">
                              <a:solidFill>
                                <a:schemeClr val="lt1"/>
                              </a:solidFill>
                              <a:latin typeface="+mn-lt"/>
                              <a:ea typeface="+mn-ea"/>
                              <a:cs typeface="+mn-cs"/>
                            </a:rPr>
                            <a:t>1.</a:t>
                          </a:r>
                          <a:r>
                            <a:rPr lang="en-US" sz="1800" b="0" i="0" kern="1200" baseline="0" dirty="0">
                              <a:solidFill>
                                <a:schemeClr val="lt1"/>
                              </a:solidFill>
                              <a:latin typeface="+mn-lt"/>
                              <a:ea typeface="+mn-ea"/>
                              <a:cs typeface="+mn-cs"/>
                            </a:rPr>
                            <a:t> </a:t>
                          </a:r>
                          <a14:m>
                            <m:oMath xmlns:m="http://schemas.openxmlformats.org/officeDocument/2006/math">
                              <m:r>
                                <a:rPr lang="en-GB" sz="1800" b="1" kern="1200" smtClean="0">
                                  <a:solidFill>
                                    <a:schemeClr val="lt1"/>
                                  </a:solidFill>
                                  <a:latin typeface="Cambria Math" panose="02040503050406030204" pitchFamily="18" charset="0"/>
                                  <a:ea typeface="+mn-ea"/>
                                  <a:cs typeface="+mn-cs"/>
                                </a:rPr>
                                <m:t>𝑝</m:t>
                              </m:r>
                              <m:r>
                                <a:rPr lang="en-US" sz="1800" b="1" kern="1200">
                                  <a:solidFill>
                                    <a:schemeClr val="lt1"/>
                                  </a:solidFill>
                                  <a:latin typeface="Cambria Math" panose="02040503050406030204" pitchFamily="18" charset="0"/>
                                  <a:ea typeface="+mn-ea"/>
                                  <a:cs typeface="+mn-cs"/>
                                </a:rPr>
                                <m:t>∧</m:t>
                              </m:r>
                              <m:r>
                                <a:rPr lang="en-US" sz="1800" b="1" kern="1200" smtClean="0">
                                  <a:solidFill>
                                    <a:schemeClr val="lt1"/>
                                  </a:solidFill>
                                  <a:latin typeface="Cambria Math" panose="02040503050406030204" pitchFamily="18" charset="0"/>
                                  <a:ea typeface="+mn-ea"/>
                                  <a:cs typeface="+mn-cs"/>
                                </a:rPr>
                                <m:t>𝑠</m:t>
                              </m:r>
                            </m:oMath>
                          </a14:m>
                          <a:endParaRPr lang="en-US" sz="1800" b="1"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Premise</a:t>
                          </a:r>
                        </a:p>
                      </a:txBody>
                      <a:tcPr>
                        <a:solidFill>
                          <a:schemeClr val="accent2"/>
                        </a:solidFill>
                      </a:tcPr>
                    </a:tc>
                    <a:extLst>
                      <a:ext uri="{0D108BD9-81ED-4DB2-BD59-A6C34878D82A}">
                        <a16:rowId xmlns:a16="http://schemas.microsoft.com/office/drawing/2014/main" val="10001"/>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546191561"/>
                  </p:ext>
                </p:extLst>
              </p:nvPr>
            </p:nvGraphicFramePr>
            <p:xfrm>
              <a:off x="3200400" y="1897917"/>
              <a:ext cx="5715000" cy="731520"/>
            </p:xfrm>
            <a:graphic>
              <a:graphicData uri="http://schemas.openxmlformats.org/drawingml/2006/table">
                <a:tbl>
                  <a:tblPr firstRow="1" bandRow="1">
                    <a:tableStyleId>{5C22544A-7EE6-4342-B048-85BDC9FD1C3A}</a:tableStyleId>
                  </a:tblPr>
                  <a:tblGrid>
                    <a:gridCol w="1676400"/>
                    <a:gridCol w="4038600"/>
                  </a:tblGrid>
                  <a:tr h="365760">
                    <a:tc>
                      <a:txBody>
                        <a:bodyPr/>
                        <a:lstStyle/>
                        <a:p>
                          <a:r>
                            <a:rPr lang="en-US" sz="1800" dirty="0" smtClean="0"/>
                            <a:t>Step</a:t>
                          </a:r>
                          <a:endParaRPr lang="en-US" sz="1800" dirty="0"/>
                        </a:p>
                      </a:txBody>
                      <a:tcPr/>
                    </a:tc>
                    <a:tc>
                      <a:txBody>
                        <a:bodyPr/>
                        <a:lstStyle/>
                        <a:p>
                          <a:r>
                            <a:rPr lang="en-US" sz="1800" dirty="0" smtClean="0"/>
                            <a:t>Reason</a:t>
                          </a:r>
                          <a:endParaRPr lang="en-US" sz="1800" dirty="0"/>
                        </a:p>
                      </a:txBody>
                      <a:tcPr/>
                    </a:tc>
                  </a:tr>
                  <a:tr h="365760">
                    <a:tc>
                      <a:txBody>
                        <a:bodyPr/>
                        <a:lstStyle/>
                        <a:p>
                          <a:endParaRPr lang="en-US"/>
                        </a:p>
                      </a:txBody>
                      <a:tcPr>
                        <a:blipFill rotWithShape="0">
                          <a:blip r:embed="rId3"/>
                          <a:stretch>
                            <a:fillRect l="-727" t="-110000" r="-242545" b="-2500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Premise</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3917512601"/>
                  </p:ext>
                </p:extLst>
              </p:nvPr>
            </p:nvGraphicFramePr>
            <p:xfrm>
              <a:off x="3200400" y="2664639"/>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latin typeface="+mn-lt"/>
                              <a:ea typeface="+mn-ea"/>
                              <a:cs typeface="+mn-cs"/>
                            </a:rPr>
                            <a:t>2. </a:t>
                          </a:r>
                          <a14:m>
                            <m:oMath xmlns:m="http://schemas.openxmlformats.org/officeDocument/2006/math">
                              <m:r>
                                <a:rPr lang="en-GB" sz="1800" b="0" i="1" kern="1200" smtClean="0">
                                  <a:solidFill>
                                    <a:schemeClr val="lt1"/>
                                  </a:solidFill>
                                  <a:latin typeface="Cambria Math" panose="02040503050406030204" pitchFamily="18" charset="0"/>
                                  <a:ea typeface="+mn-ea"/>
                                  <a:cs typeface="+mn-cs"/>
                                </a:rPr>
                                <m:t>𝑠</m:t>
                              </m:r>
                            </m:oMath>
                          </a14:m>
                          <a:endParaRPr lang="en-US" sz="1800" b="0"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Simplification from (1)</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3917512601"/>
                  </p:ext>
                </p:extLst>
              </p:nvPr>
            </p:nvGraphicFramePr>
            <p:xfrm>
              <a:off x="3200400" y="2664639"/>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4"/>
                          <a:stretch>
                            <a:fillRect l="-727" t="-8197" r="-242545" b="-2459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Simplification from (1)</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090048889"/>
                  </p:ext>
                </p:extLst>
              </p:nvPr>
            </p:nvGraphicFramePr>
            <p:xfrm>
              <a:off x="3200400" y="3032760"/>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latin typeface="+mn-lt"/>
                              <a:ea typeface="+mn-ea"/>
                              <a:cs typeface="+mn-cs"/>
                            </a:rPr>
                            <a:t>3. </a:t>
                          </a:r>
                          <a14:m>
                            <m:oMath xmlns:m="http://schemas.openxmlformats.org/officeDocument/2006/math">
                              <m:r>
                                <a:rPr lang="en-GB" sz="1800" b="0" i="1" kern="1200" smtClean="0">
                                  <a:solidFill>
                                    <a:schemeClr val="lt1"/>
                                  </a:solidFill>
                                  <a:latin typeface="Cambria Math" panose="02040503050406030204" pitchFamily="18" charset="0"/>
                                  <a:ea typeface="+mn-ea"/>
                                  <a:cs typeface="+mn-cs"/>
                                </a:rPr>
                                <m:t>𝑝</m:t>
                              </m:r>
                            </m:oMath>
                          </a14:m>
                          <a:endParaRPr lang="en-US" sz="1800" b="0"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Simplification from (1)</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090048889"/>
                  </p:ext>
                </p:extLst>
              </p:nvPr>
            </p:nvGraphicFramePr>
            <p:xfrm>
              <a:off x="3200400" y="3032760"/>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5"/>
                          <a:stretch>
                            <a:fillRect l="-727" t="-8197" r="-242545" b="-2459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Simplification from (1)</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2881199766"/>
                  </p:ext>
                </p:extLst>
              </p:nvPr>
            </p:nvGraphicFramePr>
            <p:xfrm>
              <a:off x="3200400" y="3413760"/>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lvl="0"/>
                          <a:r>
                            <a:rPr lang="en-US" sz="1800" b="0" kern="1200" dirty="0">
                              <a:solidFill>
                                <a:schemeClr val="lt1"/>
                              </a:solidFill>
                              <a:latin typeface="+mn-lt"/>
                              <a:ea typeface="+mn-ea"/>
                              <a:cs typeface="+mn-cs"/>
                            </a:rPr>
                            <a:t>4. </a:t>
                          </a:r>
                          <a14:m>
                            <m:oMath xmlns:m="http://schemas.openxmlformats.org/officeDocument/2006/math">
                              <m:r>
                                <a:rPr lang="en-GB" sz="1800" b="0" i="1" smtClean="0">
                                  <a:latin typeface="Cambria Math" panose="02040503050406030204" pitchFamily="18" charset="0"/>
                                  <a:ea typeface="Cambria Math" panose="02040503050406030204" pitchFamily="18" charset="0"/>
                                </a:rPr>
                                <m:t>𝑠</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𝑟</m:t>
                              </m:r>
                            </m:oMath>
                          </a14:m>
                          <a:endParaRPr lang="en-US" sz="1800" b="0" dirty="0">
                            <a:ea typeface="Cambria Math" panose="02040503050406030204" pitchFamily="18" charset="0"/>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Premise</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2881199766"/>
                  </p:ext>
                </p:extLst>
              </p:nvPr>
            </p:nvGraphicFramePr>
            <p:xfrm>
              <a:off x="3200400" y="3413760"/>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6"/>
                          <a:stretch>
                            <a:fillRect l="-727" t="-8333" r="-242545" b="-26667"/>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Premise</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3567074397"/>
                  </p:ext>
                </p:extLst>
              </p:nvPr>
            </p:nvGraphicFramePr>
            <p:xfrm>
              <a:off x="3200400" y="3786603"/>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lvl="0"/>
                          <a:r>
                            <a:rPr lang="en-US" sz="1800" b="0" kern="1200" dirty="0">
                              <a:solidFill>
                                <a:schemeClr val="lt1"/>
                              </a:solidFill>
                              <a:latin typeface="+mn-lt"/>
                              <a:ea typeface="+mn-ea"/>
                              <a:cs typeface="+mn-cs"/>
                            </a:rPr>
                            <a:t>5. </a:t>
                          </a:r>
                          <a14:m>
                            <m:oMath xmlns:m="http://schemas.openxmlformats.org/officeDocument/2006/math">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𝑟</m:t>
                              </m:r>
                            </m:oMath>
                          </a14:m>
                          <a:endParaRPr lang="en-US" sz="1800" b="0" dirty="0">
                            <a:ea typeface="Cambria Math" panose="02040503050406030204" pitchFamily="18" charset="0"/>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Modus ponens from</a:t>
                          </a:r>
                          <a:r>
                            <a:rPr lang="en-US" sz="1800" b="1" kern="1200" baseline="0" dirty="0">
                              <a:solidFill>
                                <a:schemeClr val="lt1"/>
                              </a:solidFill>
                              <a:latin typeface="+mn-lt"/>
                              <a:ea typeface="+mn-ea"/>
                              <a:cs typeface="+mn-cs"/>
                            </a:rPr>
                            <a:t> (2) &amp; (4)</a:t>
                          </a:r>
                          <a:endParaRPr lang="en-US" sz="1800" b="1" kern="1200" dirty="0">
                            <a:solidFill>
                              <a:schemeClr val="lt1"/>
                            </a:solidFill>
                            <a:latin typeface="+mn-lt"/>
                            <a:ea typeface="+mn-ea"/>
                            <a:cs typeface="+mn-cs"/>
                          </a:endParaRP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3567074397"/>
                  </p:ext>
                </p:extLst>
              </p:nvPr>
            </p:nvGraphicFramePr>
            <p:xfrm>
              <a:off x="3200400" y="3786603"/>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7"/>
                          <a:stretch>
                            <a:fillRect l="-727" t="-8197" r="-242545" b="-2459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Modus ponens from</a:t>
                          </a:r>
                          <a:r>
                            <a:rPr lang="en-US" sz="1800" b="1" kern="1200" baseline="0" dirty="0" smtClean="0">
                              <a:solidFill>
                                <a:schemeClr val="lt1"/>
                              </a:solidFill>
                              <a:latin typeface="+mn-lt"/>
                              <a:ea typeface="+mn-ea"/>
                              <a:cs typeface="+mn-cs"/>
                            </a:rPr>
                            <a:t> (2) &amp; (4)</a:t>
                          </a:r>
                          <a:endParaRPr lang="en-US" sz="1800" b="1" kern="1200" dirty="0" smtClean="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3032671203"/>
                  </p:ext>
                </p:extLst>
              </p:nvPr>
            </p:nvGraphicFramePr>
            <p:xfrm>
              <a:off x="3200400" y="4154724"/>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lvl="0"/>
                          <a:r>
                            <a:rPr lang="en-US" sz="1800" b="0" kern="1200" dirty="0">
                              <a:solidFill>
                                <a:schemeClr val="lt1"/>
                              </a:solidFill>
                              <a:latin typeface="+mn-lt"/>
                              <a:ea typeface="+mn-ea"/>
                              <a:cs typeface="+mn-cs"/>
                            </a:rPr>
                            <a:t>6.</a:t>
                          </a:r>
                          <a14:m>
                            <m:oMath xmlns:m="http://schemas.openxmlformats.org/officeDocument/2006/math">
                              <m:r>
                                <a:rPr lang="en-GB" sz="1800" b="0" i="0" smtClean="0">
                                  <a:latin typeface="Cambria Math" panose="02040503050406030204" pitchFamily="18" charset="0"/>
                                </a:rPr>
                                <m:t>  </m:t>
                              </m:r>
                              <m:r>
                                <a:rPr lang="en-US" sz="1800" b="0" i="1" smtClean="0">
                                  <a:latin typeface="Cambria Math" panose="02040503050406030204" pitchFamily="18" charset="0"/>
                                </a:rPr>
                                <m:t>𝑝</m:t>
                              </m:r>
                              <m:r>
                                <a:rPr lang="en-US" sz="1800" b="0" i="1" smtClean="0">
                                  <a:latin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𝑞</m:t>
                              </m:r>
                              <m:r>
                                <a:rPr lang="en-US" sz="1800" b="0" i="1" smtClean="0">
                                  <a:latin typeface="Cambria Math" panose="02040503050406030204" pitchFamily="18" charset="0"/>
                                  <a:ea typeface="Cambria Math" panose="02040503050406030204" pitchFamily="18" charset="0"/>
                                </a:rPr>
                                <m:t>∨</m:t>
                              </m:r>
                              <m:r>
                                <a:rPr lang="en-GB" sz="1800" b="0" i="1" smtClean="0">
                                  <a:latin typeface="Cambria Math" panose="02040503050406030204" pitchFamily="18" charset="0"/>
                                  <a:ea typeface="Cambria Math" panose="02040503050406030204" pitchFamily="18" charset="0"/>
                                </a:rPr>
                                <m:t>𝑟</m:t>
                              </m:r>
                              <m:r>
                                <a:rPr lang="en-GB" sz="1800" b="0" i="1" smtClean="0">
                                  <a:latin typeface="Cambria Math" panose="02040503050406030204" pitchFamily="18" charset="0"/>
                                  <a:ea typeface="Cambria Math" panose="02040503050406030204" pitchFamily="18" charset="0"/>
                                </a:rPr>
                                <m:t>)</m:t>
                              </m:r>
                            </m:oMath>
                          </a14:m>
                          <a:endParaRPr lang="en-US" sz="1800" b="0" dirty="0">
                            <a:ea typeface="Cambria Math" panose="02040503050406030204" pitchFamily="18" charset="0"/>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Premise</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3032671203"/>
                  </p:ext>
                </p:extLst>
              </p:nvPr>
            </p:nvGraphicFramePr>
            <p:xfrm>
              <a:off x="3200400" y="4154724"/>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8"/>
                          <a:stretch>
                            <a:fillRect l="-727" t="-8197" r="-242545" b="-2623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Premise</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p:graphicFrame>
        <p:nvGraphicFramePr>
          <p:cNvPr id="16" name="Table 15"/>
          <p:cNvGraphicFramePr>
            <a:graphicFrameLocks noGrp="1"/>
          </p:cNvGraphicFramePr>
          <p:nvPr>
            <p:extLst>
              <p:ext uri="{D42A27DB-BD31-4B8C-83A1-F6EECF244321}">
                <p14:modId xmlns:p14="http://schemas.microsoft.com/office/powerpoint/2010/main" val="2494767249"/>
              </p:ext>
            </p:extLst>
          </p:nvPr>
        </p:nvGraphicFramePr>
        <p:xfrm>
          <a:off x="3200400" y="4535724"/>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lvl="0"/>
                      <a:r>
                        <a:rPr lang="en-US" sz="1800" b="0" kern="1200" dirty="0">
                          <a:solidFill>
                            <a:schemeClr val="lt1"/>
                          </a:solidFill>
                          <a:latin typeface="+mn-lt"/>
                          <a:ea typeface="+mn-ea"/>
                          <a:cs typeface="+mn-cs"/>
                        </a:rPr>
                        <a:t>7. 𝑞 ∨ 𝑟</a:t>
                      </a:r>
                      <a:endParaRPr lang="en-US" sz="1800" b="0" dirty="0">
                        <a:ea typeface="Cambria Math" panose="02040503050406030204" pitchFamily="18" charset="0"/>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Modus ponens from</a:t>
                      </a:r>
                      <a:r>
                        <a:rPr lang="en-US" sz="1800" b="1" kern="1200" baseline="0" dirty="0">
                          <a:solidFill>
                            <a:schemeClr val="lt1"/>
                          </a:solidFill>
                          <a:latin typeface="+mn-lt"/>
                          <a:ea typeface="+mn-ea"/>
                          <a:cs typeface="+mn-cs"/>
                        </a:rPr>
                        <a:t> (3) &amp; (6)</a:t>
                      </a:r>
                      <a:endParaRPr lang="en-US" sz="1800" b="1" kern="1200" dirty="0">
                        <a:solidFill>
                          <a:schemeClr val="lt1"/>
                        </a:solidFill>
                        <a:latin typeface="+mn-lt"/>
                        <a:ea typeface="+mn-ea"/>
                        <a:cs typeface="+mn-cs"/>
                      </a:endParaRPr>
                    </a:p>
                  </a:txBody>
                  <a:tcPr>
                    <a:solidFill>
                      <a:schemeClr val="accent2"/>
                    </a:solidFill>
                  </a:tcPr>
                </a:tc>
                <a:extLst>
                  <a:ext uri="{0D108BD9-81ED-4DB2-BD59-A6C34878D82A}">
                    <a16:rowId xmlns:a16="http://schemas.microsoft.com/office/drawing/2014/main" val="10000"/>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970813315"/>
              </p:ext>
            </p:extLst>
          </p:nvPr>
        </p:nvGraphicFramePr>
        <p:xfrm>
          <a:off x="3200400" y="4916724"/>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lvl="0"/>
                      <a:r>
                        <a:rPr lang="en-US" sz="1800" b="0" kern="1200" dirty="0">
                          <a:solidFill>
                            <a:schemeClr val="lt1"/>
                          </a:solidFill>
                          <a:latin typeface="+mn-lt"/>
                          <a:ea typeface="+mn-ea"/>
                          <a:cs typeface="+mn-cs"/>
                        </a:rPr>
                        <a:t>8. 𝑞 </a:t>
                      </a:r>
                      <a:endParaRPr lang="en-US" sz="1800" b="0" dirty="0">
                        <a:ea typeface="Cambria Math" panose="02040503050406030204" pitchFamily="18" charset="0"/>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Resolution</a:t>
                      </a:r>
                      <a:r>
                        <a:rPr lang="en-US" sz="1800" b="1" kern="1200" baseline="0" dirty="0">
                          <a:solidFill>
                            <a:schemeClr val="lt1"/>
                          </a:solidFill>
                          <a:latin typeface="+mn-lt"/>
                          <a:ea typeface="+mn-ea"/>
                          <a:cs typeface="+mn-cs"/>
                        </a:rPr>
                        <a:t> </a:t>
                      </a:r>
                      <a:r>
                        <a:rPr lang="en-US" sz="1800" b="1" kern="1200" dirty="0">
                          <a:solidFill>
                            <a:schemeClr val="lt1"/>
                          </a:solidFill>
                          <a:latin typeface="+mn-lt"/>
                          <a:ea typeface="+mn-ea"/>
                          <a:cs typeface="+mn-cs"/>
                        </a:rPr>
                        <a:t>from</a:t>
                      </a:r>
                      <a:r>
                        <a:rPr lang="en-US" sz="1800" b="1" kern="1200" baseline="0" dirty="0">
                          <a:solidFill>
                            <a:schemeClr val="lt1"/>
                          </a:solidFill>
                          <a:latin typeface="+mn-lt"/>
                          <a:ea typeface="+mn-ea"/>
                          <a:cs typeface="+mn-cs"/>
                        </a:rPr>
                        <a:t> (5) &amp; (7)</a:t>
                      </a:r>
                      <a:endParaRPr lang="en-US" sz="1800" b="1" kern="1200" dirty="0">
                        <a:solidFill>
                          <a:schemeClr val="lt1"/>
                        </a:solidFill>
                        <a:latin typeface="+mn-lt"/>
                        <a:ea typeface="+mn-ea"/>
                        <a:cs typeface="+mn-cs"/>
                      </a:endParaRPr>
                    </a:p>
                  </a:txBody>
                  <a:tcPr>
                    <a:solidFill>
                      <a:schemeClr val="accent2"/>
                    </a:solidFill>
                  </a:tcPr>
                </a:tc>
                <a:extLst>
                  <a:ext uri="{0D108BD9-81ED-4DB2-BD59-A6C34878D82A}">
                    <a16:rowId xmlns:a16="http://schemas.microsoft.com/office/drawing/2014/main" val="10000"/>
                  </a:ext>
                </a:extLst>
              </a:tr>
            </a:tbl>
          </a:graphicData>
        </a:graphic>
      </p:graphicFrame>
      <p:sp>
        <p:nvSpPr>
          <p:cNvPr id="18" name="TextBox 17"/>
          <p:cNvSpPr txBox="1"/>
          <p:nvPr/>
        </p:nvSpPr>
        <p:spPr>
          <a:xfrm>
            <a:off x="762000" y="5486400"/>
            <a:ext cx="7391400" cy="369332"/>
          </a:xfrm>
          <a:prstGeom prst="rect">
            <a:avLst/>
          </a:prstGeom>
          <a:noFill/>
        </p:spPr>
        <p:txBody>
          <a:bodyPr wrap="square" rtlCol="0">
            <a:spAutoFit/>
          </a:bodyPr>
          <a:lstStyle/>
          <a:p>
            <a:r>
              <a:rPr lang="en-GB" dirty="0"/>
              <a:t>Hence the argument is valid.</a:t>
            </a:r>
          </a:p>
        </p:txBody>
      </p:sp>
    </p:spTree>
    <p:extLst>
      <p:ext uri="{BB962C8B-B14F-4D97-AF65-F5344CB8AC3E}">
        <p14:creationId xmlns:p14="http://schemas.microsoft.com/office/powerpoint/2010/main" val="2284445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Exercise</a:t>
            </a:r>
          </a:p>
        </p:txBody>
      </p:sp>
      <p:sp>
        <p:nvSpPr>
          <p:cNvPr id="4" name="Date Placeholder 3"/>
          <p:cNvSpPr>
            <a:spLocks noGrp="1"/>
          </p:cNvSpPr>
          <p:nvPr>
            <p:ph type="dt" sz="half" idx="10"/>
          </p:nvPr>
        </p:nvSpPr>
        <p:spPr/>
        <p:txBody>
          <a:bodyPr/>
          <a:lstStyle/>
          <a:p>
            <a:fld id="{2FDF9706-90B2-43B5-8FD1-7E458AAAC777}"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14</a:t>
            </a:fld>
            <a:endParaRPr lang="en-US"/>
          </a:p>
        </p:txBody>
      </p:sp>
      <p:sp>
        <p:nvSpPr>
          <p:cNvPr id="7" name="Rectangle 6"/>
          <p:cNvSpPr/>
          <p:nvPr/>
        </p:nvSpPr>
        <p:spPr>
          <a:xfrm>
            <a:off x="457201" y="1692057"/>
            <a:ext cx="8229600" cy="1938992"/>
          </a:xfrm>
          <a:prstGeom prst="rect">
            <a:avLst/>
          </a:prstGeom>
        </p:spPr>
        <p:txBody>
          <a:bodyPr wrap="square">
            <a:spAutoFit/>
          </a:bodyPr>
          <a:lstStyle/>
          <a:p>
            <a:r>
              <a:rPr lang="en-US" sz="2000" dirty="0"/>
              <a:t>Show that the following argument is valid:</a:t>
            </a:r>
          </a:p>
          <a:p>
            <a:endParaRPr lang="en-US" sz="2000" dirty="0"/>
          </a:p>
          <a:p>
            <a:r>
              <a:rPr lang="en-US" sz="2000" dirty="0"/>
              <a:t>Gary is intelligent or a good actor.</a:t>
            </a:r>
          </a:p>
          <a:p>
            <a:r>
              <a:rPr lang="en-US" sz="2000" dirty="0"/>
              <a:t>If Gary is intelligent, then he can count from 1 to 10.</a:t>
            </a:r>
          </a:p>
          <a:p>
            <a:r>
              <a:rPr lang="en-US" sz="2000" dirty="0"/>
              <a:t>Gary can only count from 1 to 3.</a:t>
            </a:r>
          </a:p>
          <a:p>
            <a:r>
              <a:rPr lang="en-US" sz="2000" dirty="0"/>
              <a:t>Therefore, Gary is a good actor.</a:t>
            </a:r>
          </a:p>
        </p:txBody>
      </p:sp>
    </p:spTree>
    <p:extLst>
      <p:ext uri="{BB962C8B-B14F-4D97-AF65-F5344CB8AC3E}">
        <p14:creationId xmlns:p14="http://schemas.microsoft.com/office/powerpoint/2010/main" val="257081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458200" cy="1249362"/>
          </a:xfrm>
        </p:spPr>
        <p:txBody>
          <a:bodyPr/>
          <a:lstStyle/>
          <a:p>
            <a:r>
              <a:rPr lang="en-GB" b="1" dirty="0"/>
              <a:t>Fallacy of affirming the consequence</a:t>
            </a:r>
          </a:p>
        </p:txBody>
      </p:sp>
      <p:sp>
        <p:nvSpPr>
          <p:cNvPr id="4" name="Date Placeholder 3"/>
          <p:cNvSpPr>
            <a:spLocks noGrp="1"/>
          </p:cNvSpPr>
          <p:nvPr>
            <p:ph type="dt" sz="half" idx="10"/>
          </p:nvPr>
        </p:nvSpPr>
        <p:spPr/>
        <p:txBody>
          <a:bodyPr/>
          <a:lstStyle/>
          <a:p>
            <a:fld id="{07FF5071-98BC-4EA1-A2DF-7FB49CE14F8B}"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15</a:t>
            </a:fld>
            <a:endParaRPr lang="en-US"/>
          </a:p>
        </p:txBody>
      </p:sp>
      <p:sp>
        <p:nvSpPr>
          <p:cNvPr id="7" name="Rectangle 6"/>
          <p:cNvSpPr/>
          <p:nvPr/>
        </p:nvSpPr>
        <p:spPr>
          <a:xfrm>
            <a:off x="525780" y="1706940"/>
            <a:ext cx="8161020" cy="1323439"/>
          </a:xfrm>
          <a:prstGeom prst="rect">
            <a:avLst/>
          </a:prstGeom>
        </p:spPr>
        <p:txBody>
          <a:bodyPr wrap="square">
            <a:spAutoFit/>
          </a:bodyPr>
          <a:lstStyle/>
          <a:p>
            <a:r>
              <a:rPr lang="en-US" sz="2000" dirty="0"/>
              <a:t>Is the following argument valid?</a:t>
            </a:r>
          </a:p>
          <a:p>
            <a:r>
              <a:rPr lang="en-US" sz="2000" dirty="0"/>
              <a:t>If you do every problem in this book, then you will learn discrete mathematics. You learned discrete mathematics.</a:t>
            </a:r>
          </a:p>
          <a:p>
            <a:r>
              <a:rPr lang="en-US" sz="2000" dirty="0"/>
              <a:t>Therefore, you did every problem in this book.</a:t>
            </a:r>
          </a:p>
        </p:txBody>
      </p:sp>
      <mc:AlternateContent xmlns:mc="http://schemas.openxmlformats.org/markup-compatibility/2006" xmlns:a14="http://schemas.microsoft.com/office/drawing/2010/main">
        <mc:Choice Requires="a14">
          <p:sp>
            <p:nvSpPr>
              <p:cNvPr id="8" name="TextBox 7"/>
              <p:cNvSpPr txBox="1"/>
              <p:nvPr/>
            </p:nvSpPr>
            <p:spPr>
              <a:xfrm>
                <a:off x="381000" y="3048000"/>
                <a:ext cx="8218170" cy="2554545"/>
              </a:xfrm>
              <a:prstGeom prst="rect">
                <a:avLst/>
              </a:prstGeom>
              <a:noFill/>
            </p:spPr>
            <p:txBody>
              <a:bodyPr wrap="square" rtlCol="0">
                <a:spAutoFit/>
              </a:bodyPr>
              <a:lstStyle/>
              <a:p>
                <a:r>
                  <a:rPr lang="en-US" sz="2000" dirty="0"/>
                  <a:t>Let  p and q be two propositions “You did every problem in this book” and “You learned discrete mathematics” respectively. Then this argument is of the form: </a:t>
                </a:r>
              </a:p>
              <a:p>
                <a:endParaRPr lang="en-US" sz="2000" b="0" i="1" dirty="0">
                  <a:latin typeface="Cambria Math" panose="02040503050406030204" pitchFamily="18" charset="0"/>
                </a:endParaRPr>
              </a:p>
              <a:p>
                <a:r>
                  <a:rPr lang="en-US" sz="2000" b="0" dirty="0"/>
                  <a:t>       </a:t>
                </a:r>
                <a14:m>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oMath>
                </a14:m>
                <a:endParaRPr lang="en-US" sz="2000" b="0" dirty="0">
                  <a:ea typeface="Cambria Math" panose="02040503050406030204" pitchFamily="18" charset="0"/>
                </a:endParaRPr>
              </a:p>
              <a:p>
                <a:r>
                  <a:rPr lang="en-US" sz="2000" b="0" dirty="0"/>
                  <a:t>          </a:t>
                </a:r>
                <a14:m>
                  <m:oMath xmlns:m="http://schemas.openxmlformats.org/officeDocument/2006/math">
                    <m:r>
                      <a:rPr lang="en-US" sz="2000" b="0" i="1" smtClean="0">
                        <a:latin typeface="Cambria Math" panose="02040503050406030204" pitchFamily="18" charset="0"/>
                      </a:rPr>
                      <m:t>𝑞</m:t>
                    </m:r>
                  </m:oMath>
                </a14:m>
                <a:endParaRPr lang="en-US" sz="2000" b="0" dirty="0"/>
              </a:p>
              <a:p>
                <a:r>
                  <a:rPr lang="en-US" sz="2000" b="0" dirty="0"/>
                  <a:t>      </a:t>
                </a:r>
                <a14:m>
                  <m:oMath xmlns:m="http://schemas.openxmlformats.org/officeDocument/2006/math">
                    <m:r>
                      <a:rPr lang="en-US" sz="2000" b="0" i="1" smtClean="0">
                        <a:latin typeface="Cambria Math" panose="02040503050406030204" pitchFamily="18" charset="0"/>
                      </a:rPr>
                      <m:t>−−−−−</m:t>
                    </m:r>
                  </m:oMath>
                </a14:m>
                <a:endParaRPr lang="en-US" sz="2000" b="0" dirty="0"/>
              </a:p>
              <a:p>
                <a:r>
                  <a:rPr lang="en-US" sz="2000" b="0" dirty="0">
                    <a:ea typeface="Cambria Math" panose="02040503050406030204" pitchFamily="18" charset="0"/>
                  </a:rPr>
                  <a:t>        </a:t>
                </a:r>
                <a14:m>
                  <m:oMath xmlns:m="http://schemas.openxmlformats.org/officeDocument/2006/math">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oMath>
                </a14:m>
                <a:endParaRPr lang="en-US" sz="2000" dirty="0"/>
              </a:p>
            </p:txBody>
          </p:sp>
        </mc:Choice>
        <mc:Fallback xmlns="">
          <p:sp>
            <p:nvSpPr>
              <p:cNvPr id="8" name="TextBox 7"/>
              <p:cNvSpPr txBox="1">
                <a:spLocks noRot="1" noChangeAspect="1" noMove="1" noResize="1" noEditPoints="1" noAdjustHandles="1" noChangeArrowheads="1" noChangeShapeType="1" noTextEdit="1"/>
              </p:cNvSpPr>
              <p:nvPr/>
            </p:nvSpPr>
            <p:spPr>
              <a:xfrm>
                <a:off x="381000" y="3048000"/>
                <a:ext cx="8218170" cy="2554545"/>
              </a:xfrm>
              <a:prstGeom prst="rect">
                <a:avLst/>
              </a:prstGeom>
              <a:blipFill rotWithShape="0">
                <a:blip r:embed="rId2"/>
                <a:stretch>
                  <a:fillRect l="-816" t="-955" b="-71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4143457235"/>
                  </p:ext>
                </p:extLst>
              </p:nvPr>
            </p:nvGraphicFramePr>
            <p:xfrm>
              <a:off x="4419600" y="3733800"/>
              <a:ext cx="3124200" cy="1981200"/>
            </p:xfrm>
            <a:graphic>
              <a:graphicData uri="http://schemas.openxmlformats.org/drawingml/2006/table">
                <a:tbl>
                  <a:tblPr firstRow="1" bandRow="1">
                    <a:tableStyleId>{5C22544A-7EE6-4342-B048-85BDC9FD1C3A}</a:tableStyleId>
                  </a:tblPr>
                  <a:tblGrid>
                    <a:gridCol w="10414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1041400">
                      <a:extLst>
                        <a:ext uri="{9D8B030D-6E8A-4147-A177-3AD203B41FA5}">
                          <a16:colId xmlns:a16="http://schemas.microsoft.com/office/drawing/2014/main" val="20002"/>
                        </a:ext>
                      </a:extLst>
                    </a:gridCol>
                  </a:tblGrid>
                  <a:tr h="350520">
                    <a:tc>
                      <a:txBody>
                        <a:bodyPr/>
                        <a:lstStyle/>
                        <a:p>
                          <a:pPr algn="ctr"/>
                          <a:r>
                            <a:rPr lang="en-US" sz="2000" dirty="0"/>
                            <a:t>p</a:t>
                          </a:r>
                        </a:p>
                      </a:txBody>
                      <a:tcPr/>
                    </a:tc>
                    <a:tc>
                      <a:txBody>
                        <a:bodyPr/>
                        <a:lstStyle/>
                        <a:p>
                          <a:pPr algn="ctr"/>
                          <a:r>
                            <a:rPr lang="en-US" sz="2000" dirty="0"/>
                            <a:t>q</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oMath>
                            </m:oMathPara>
                          </a14:m>
                          <a:endParaRPr lang="en-US" sz="2000" dirty="0"/>
                        </a:p>
                      </a:txBody>
                      <a:tcPr/>
                    </a:tc>
                    <a:extLst>
                      <a:ext uri="{0D108BD9-81ED-4DB2-BD59-A6C34878D82A}">
                        <a16:rowId xmlns:a16="http://schemas.microsoft.com/office/drawing/2014/main" val="10000"/>
                      </a:ext>
                    </a:extLst>
                  </a:tr>
                  <a:tr h="350520">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extLst>
                      <a:ext uri="{0D108BD9-81ED-4DB2-BD59-A6C34878D82A}">
                        <a16:rowId xmlns:a16="http://schemas.microsoft.com/office/drawing/2014/main" val="10001"/>
                      </a:ext>
                    </a:extLst>
                  </a:tr>
                  <a:tr h="350520">
                    <a:tc>
                      <a:txBody>
                        <a:bodyPr/>
                        <a:lstStyle/>
                        <a:p>
                          <a:pPr algn="ctr"/>
                          <a:r>
                            <a:rPr lang="en-US" sz="2000" dirty="0">
                              <a:solidFill>
                                <a:srgbClr val="FF0000"/>
                              </a:solidFill>
                            </a:rPr>
                            <a:t>F</a:t>
                          </a:r>
                        </a:p>
                      </a:txBody>
                      <a:tcPr/>
                    </a:tc>
                    <a:tc>
                      <a:txBody>
                        <a:bodyPr/>
                        <a:lstStyle/>
                        <a:p>
                          <a:pPr algn="ctr"/>
                          <a:r>
                            <a:rPr lang="en-US" sz="2000" dirty="0">
                              <a:solidFill>
                                <a:srgbClr val="FF0000"/>
                              </a:solidFill>
                            </a:rPr>
                            <a:t>T</a:t>
                          </a:r>
                        </a:p>
                      </a:txBody>
                      <a:tcPr/>
                    </a:tc>
                    <a:tc>
                      <a:txBody>
                        <a:bodyPr/>
                        <a:lstStyle/>
                        <a:p>
                          <a:pPr algn="ctr"/>
                          <a:r>
                            <a:rPr lang="en-US" sz="2000" dirty="0">
                              <a:solidFill>
                                <a:srgbClr val="FF0000"/>
                              </a:solidFill>
                            </a:rPr>
                            <a:t>T</a:t>
                          </a:r>
                        </a:p>
                      </a:txBody>
                      <a:tcPr/>
                    </a:tc>
                    <a:extLst>
                      <a:ext uri="{0D108BD9-81ED-4DB2-BD59-A6C34878D82A}">
                        <a16:rowId xmlns:a16="http://schemas.microsoft.com/office/drawing/2014/main" val="10002"/>
                      </a:ext>
                    </a:extLst>
                  </a:tr>
                  <a:tr h="350520">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F</a:t>
                          </a:r>
                        </a:p>
                      </a:txBody>
                      <a:tcPr/>
                    </a:tc>
                    <a:extLst>
                      <a:ext uri="{0D108BD9-81ED-4DB2-BD59-A6C34878D82A}">
                        <a16:rowId xmlns:a16="http://schemas.microsoft.com/office/drawing/2014/main" val="10003"/>
                      </a:ext>
                    </a:extLst>
                  </a:tr>
                  <a:tr h="350520">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extLst>
                      <a:ext uri="{0D108BD9-81ED-4DB2-BD59-A6C34878D82A}">
                        <a16:rowId xmlns:a16="http://schemas.microsoft.com/office/drawing/2014/main" val="10004"/>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4143457235"/>
                  </p:ext>
                </p:extLst>
              </p:nvPr>
            </p:nvGraphicFramePr>
            <p:xfrm>
              <a:off x="4419600" y="3733800"/>
              <a:ext cx="3124200" cy="1981200"/>
            </p:xfrm>
            <a:graphic>
              <a:graphicData uri="http://schemas.openxmlformats.org/drawingml/2006/table">
                <a:tbl>
                  <a:tblPr firstRow="1" bandRow="1">
                    <a:tableStyleId>{5C22544A-7EE6-4342-B048-85BDC9FD1C3A}</a:tableStyleId>
                  </a:tblPr>
                  <a:tblGrid>
                    <a:gridCol w="1041400"/>
                    <a:gridCol w="1041400"/>
                    <a:gridCol w="1041400"/>
                  </a:tblGrid>
                  <a:tr h="396240">
                    <a:tc>
                      <a:txBody>
                        <a:bodyPr/>
                        <a:lstStyle/>
                        <a:p>
                          <a:pPr algn="ctr"/>
                          <a:r>
                            <a:rPr lang="en-US" sz="2000" dirty="0" smtClean="0"/>
                            <a:t>p</a:t>
                          </a:r>
                          <a:endParaRPr lang="en-US" sz="2000" dirty="0"/>
                        </a:p>
                      </a:txBody>
                      <a:tcPr/>
                    </a:tc>
                    <a:tc>
                      <a:txBody>
                        <a:bodyPr/>
                        <a:lstStyle/>
                        <a:p>
                          <a:pPr algn="ctr"/>
                          <a:r>
                            <a:rPr lang="en-US" sz="2000" dirty="0" smtClean="0"/>
                            <a:t>q</a:t>
                          </a:r>
                          <a:endParaRPr lang="en-US" sz="2000" dirty="0"/>
                        </a:p>
                      </a:txBody>
                      <a:tcPr/>
                    </a:tc>
                    <a:tc>
                      <a:txBody>
                        <a:bodyPr/>
                        <a:lstStyle/>
                        <a:p>
                          <a:endParaRPr lang="en-US"/>
                        </a:p>
                      </a:txBody>
                      <a:tcPr>
                        <a:blipFill rotWithShape="0">
                          <a:blip r:embed="rId3"/>
                          <a:stretch>
                            <a:fillRect l="-201170" t="-6154" r="-2339" b="-429231"/>
                          </a:stretch>
                        </a:blipFill>
                      </a:tcPr>
                    </a:tc>
                  </a:tr>
                  <a:tr h="396240">
                    <a:tc>
                      <a:txBody>
                        <a:bodyPr/>
                        <a:lstStyle/>
                        <a:p>
                          <a:pPr algn="ctr"/>
                          <a:r>
                            <a:rPr lang="en-US" sz="2000" dirty="0" smtClean="0"/>
                            <a:t>F</a:t>
                          </a:r>
                          <a:endParaRPr lang="en-US" sz="2000" dirty="0"/>
                        </a:p>
                      </a:txBody>
                      <a:tcPr/>
                    </a:tc>
                    <a:tc>
                      <a:txBody>
                        <a:bodyPr/>
                        <a:lstStyle/>
                        <a:p>
                          <a:pPr algn="ctr"/>
                          <a:r>
                            <a:rPr lang="en-US" sz="2000" dirty="0" smtClean="0"/>
                            <a:t>F</a:t>
                          </a:r>
                          <a:endParaRPr lang="en-US" sz="2000" dirty="0"/>
                        </a:p>
                      </a:txBody>
                      <a:tcPr/>
                    </a:tc>
                    <a:tc>
                      <a:txBody>
                        <a:bodyPr/>
                        <a:lstStyle/>
                        <a:p>
                          <a:pPr algn="ctr"/>
                          <a:r>
                            <a:rPr lang="en-US" sz="2000" dirty="0" smtClean="0"/>
                            <a:t>T</a:t>
                          </a:r>
                          <a:endParaRPr lang="en-US" sz="2000" dirty="0"/>
                        </a:p>
                      </a:txBody>
                      <a:tcPr/>
                    </a:tc>
                  </a:tr>
                  <a:tr h="396240">
                    <a:tc>
                      <a:txBody>
                        <a:bodyPr/>
                        <a:lstStyle/>
                        <a:p>
                          <a:pPr algn="ctr"/>
                          <a:r>
                            <a:rPr lang="en-US" sz="2000" dirty="0" smtClean="0">
                              <a:solidFill>
                                <a:srgbClr val="FF0000"/>
                              </a:solidFill>
                            </a:rPr>
                            <a:t>F</a:t>
                          </a:r>
                          <a:endParaRPr lang="en-US" sz="2000" dirty="0">
                            <a:solidFill>
                              <a:srgbClr val="FF0000"/>
                            </a:solidFill>
                          </a:endParaRPr>
                        </a:p>
                      </a:txBody>
                      <a:tcPr/>
                    </a:tc>
                    <a:tc>
                      <a:txBody>
                        <a:bodyPr/>
                        <a:lstStyle/>
                        <a:p>
                          <a:pPr algn="ctr"/>
                          <a:r>
                            <a:rPr lang="en-US" sz="2000" dirty="0" smtClean="0">
                              <a:solidFill>
                                <a:srgbClr val="FF0000"/>
                              </a:solidFill>
                            </a:rPr>
                            <a:t>T</a:t>
                          </a:r>
                          <a:endParaRPr lang="en-US" sz="2000" dirty="0">
                            <a:solidFill>
                              <a:srgbClr val="FF0000"/>
                            </a:solidFill>
                          </a:endParaRPr>
                        </a:p>
                      </a:txBody>
                      <a:tcPr/>
                    </a:tc>
                    <a:tc>
                      <a:txBody>
                        <a:bodyPr/>
                        <a:lstStyle/>
                        <a:p>
                          <a:pPr algn="ctr"/>
                          <a:r>
                            <a:rPr lang="en-US" sz="2000" dirty="0" smtClean="0">
                              <a:solidFill>
                                <a:srgbClr val="FF0000"/>
                              </a:solidFill>
                            </a:rPr>
                            <a:t>T</a:t>
                          </a:r>
                          <a:endParaRPr lang="en-US" sz="2000" dirty="0">
                            <a:solidFill>
                              <a:srgbClr val="FF0000"/>
                            </a:solidFill>
                          </a:endParaRPr>
                        </a:p>
                      </a:txBody>
                      <a:tcPr/>
                    </a:tc>
                  </a:tr>
                  <a:tr h="396240">
                    <a:tc>
                      <a:txBody>
                        <a:bodyPr/>
                        <a:lstStyle/>
                        <a:p>
                          <a:pPr algn="ctr"/>
                          <a:r>
                            <a:rPr lang="en-US" sz="2000" dirty="0" smtClean="0"/>
                            <a:t>T</a:t>
                          </a:r>
                          <a:endParaRPr lang="en-US" sz="2000" dirty="0"/>
                        </a:p>
                      </a:txBody>
                      <a:tcPr/>
                    </a:tc>
                    <a:tc>
                      <a:txBody>
                        <a:bodyPr/>
                        <a:lstStyle/>
                        <a:p>
                          <a:pPr algn="ctr"/>
                          <a:r>
                            <a:rPr lang="en-US" sz="2000" dirty="0" smtClean="0"/>
                            <a:t>F</a:t>
                          </a:r>
                          <a:endParaRPr lang="en-US" sz="2000" dirty="0"/>
                        </a:p>
                      </a:txBody>
                      <a:tcPr/>
                    </a:tc>
                    <a:tc>
                      <a:txBody>
                        <a:bodyPr/>
                        <a:lstStyle/>
                        <a:p>
                          <a:pPr algn="ctr"/>
                          <a:r>
                            <a:rPr lang="en-US" sz="2000" dirty="0" smtClean="0"/>
                            <a:t>F</a:t>
                          </a:r>
                          <a:endParaRPr lang="en-US" sz="2000" dirty="0"/>
                        </a:p>
                      </a:txBody>
                      <a:tcPr/>
                    </a:tc>
                  </a:tr>
                  <a:tr h="396240">
                    <a:tc>
                      <a:txBody>
                        <a:bodyPr/>
                        <a:lstStyle/>
                        <a:p>
                          <a:pPr algn="ctr"/>
                          <a:r>
                            <a:rPr lang="en-US" sz="2000" dirty="0" smtClean="0"/>
                            <a:t>T</a:t>
                          </a:r>
                          <a:endParaRPr lang="en-US" sz="2000" dirty="0"/>
                        </a:p>
                      </a:txBody>
                      <a:tcPr/>
                    </a:tc>
                    <a:tc>
                      <a:txBody>
                        <a:bodyPr/>
                        <a:lstStyle/>
                        <a:p>
                          <a:pPr algn="ctr"/>
                          <a:r>
                            <a:rPr lang="en-US" sz="2000" dirty="0" smtClean="0"/>
                            <a:t>T</a:t>
                          </a:r>
                          <a:endParaRPr lang="en-US" sz="2000" dirty="0"/>
                        </a:p>
                      </a:txBody>
                      <a:tcPr/>
                    </a:tc>
                    <a:tc>
                      <a:txBody>
                        <a:bodyPr/>
                        <a:lstStyle/>
                        <a:p>
                          <a:pPr algn="ctr"/>
                          <a:r>
                            <a:rPr lang="en-US" sz="2000" dirty="0" smtClean="0"/>
                            <a:t>T</a:t>
                          </a:r>
                          <a:endParaRPr lang="en-US" sz="2000" dirty="0"/>
                        </a:p>
                      </a:txBody>
                      <a:tcPr/>
                    </a:tc>
                  </a:tr>
                </a:tbl>
              </a:graphicData>
            </a:graphic>
          </p:graphicFrame>
        </mc:Fallback>
      </mc:AlternateContent>
      <mc:AlternateContent xmlns:mc="http://schemas.openxmlformats.org/markup-compatibility/2006" xmlns:a14="http://schemas.microsoft.com/office/drawing/2010/main">
        <mc:Choice Requires="a14">
          <p:sp>
            <p:nvSpPr>
              <p:cNvPr id="10" name="TextBox 9"/>
              <p:cNvSpPr txBox="1"/>
              <p:nvPr/>
            </p:nvSpPr>
            <p:spPr>
              <a:xfrm>
                <a:off x="678180" y="5715000"/>
                <a:ext cx="8465820" cy="923330"/>
              </a:xfrm>
              <a:prstGeom prst="rect">
                <a:avLst/>
              </a:prstGeom>
              <a:noFill/>
            </p:spPr>
            <p:txBody>
              <a:bodyPr wrap="square" rtlCol="0">
                <a:spAutoFit/>
              </a:bodyPr>
              <a:lstStyle/>
              <a:p>
                <a:r>
                  <a:rPr lang="en-GB" dirty="0"/>
                  <a:t>This is </a:t>
                </a:r>
                <a:r>
                  <a:rPr lang="en-GB" b="1" dirty="0"/>
                  <a:t>not a</a:t>
                </a:r>
                <a:r>
                  <a:rPr lang="en-GB" dirty="0"/>
                  <a:t> </a:t>
                </a:r>
                <a:r>
                  <a:rPr lang="en-GB" b="1" dirty="0"/>
                  <a:t>valid</a:t>
                </a:r>
                <a:r>
                  <a:rPr lang="en-GB" dirty="0"/>
                  <a:t> argument, since there is a situation where both premises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𝑞</m:t>
                    </m:r>
                    <m:r>
                      <a:rPr lang="en-GB" b="0" i="1" smtClean="0">
                        <a:latin typeface="Cambria Math" panose="02040503050406030204" pitchFamily="18" charset="0"/>
                        <a:ea typeface="Cambria Math" panose="02040503050406030204" pitchFamily="18" charset="0"/>
                      </a:rPr>
                      <m:t> &amp; </m:t>
                    </m:r>
                    <m:r>
                      <a:rPr lang="en-GB" b="0" i="1" smtClean="0">
                        <a:latin typeface="Cambria Math" panose="02040503050406030204" pitchFamily="18" charset="0"/>
                        <a:ea typeface="Cambria Math" panose="02040503050406030204" pitchFamily="18" charset="0"/>
                      </a:rPr>
                      <m:t>𝑞</m:t>
                    </m:r>
                  </m:oMath>
                </a14:m>
                <a:r>
                  <a:rPr lang="en-US" dirty="0">
                    <a:ea typeface="Cambria Math" panose="02040503050406030204" pitchFamily="18" charset="0"/>
                  </a:rPr>
                  <a:t> are true but the conclusion </a:t>
                </a:r>
                <a14:m>
                  <m:oMath xmlns:m="http://schemas.openxmlformats.org/officeDocument/2006/math">
                    <m:r>
                      <a:rPr lang="en-US" i="1" dirty="0" smtClean="0">
                        <a:latin typeface="Cambria Math" panose="02040503050406030204" pitchFamily="18" charset="0"/>
                        <a:ea typeface="Cambria Math" panose="02040503050406030204" pitchFamily="18" charset="0"/>
                      </a:rPr>
                      <m:t>𝑝</m:t>
                    </m:r>
                  </m:oMath>
                </a14:m>
                <a:r>
                  <a:rPr lang="en-US" dirty="0">
                    <a:ea typeface="Cambria Math" panose="02040503050406030204" pitchFamily="18" charset="0"/>
                  </a:rPr>
                  <a:t> is false.</a:t>
                </a:r>
              </a:p>
              <a:p>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678180" y="5715000"/>
                <a:ext cx="8465820" cy="923330"/>
              </a:xfrm>
              <a:prstGeom prst="rect">
                <a:avLst/>
              </a:prstGeom>
              <a:blipFill>
                <a:blip r:embed="rId4"/>
                <a:stretch>
                  <a:fillRect l="-576" t="-3974"/>
                </a:stretch>
              </a:blipFill>
            </p:spPr>
            <p:txBody>
              <a:bodyPr/>
              <a:lstStyle/>
              <a:p>
                <a:r>
                  <a:rPr lang="en-US">
                    <a:noFill/>
                  </a:rPr>
                  <a:t> </a:t>
                </a:r>
              </a:p>
            </p:txBody>
          </p:sp>
        </mc:Fallback>
      </mc:AlternateContent>
    </p:spTree>
    <p:extLst>
      <p:ext uri="{BB962C8B-B14F-4D97-AF65-F5344CB8AC3E}">
        <p14:creationId xmlns:p14="http://schemas.microsoft.com/office/powerpoint/2010/main" val="332338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Fallacy of denying the antecedent</a:t>
            </a:r>
          </a:p>
        </p:txBody>
      </p:sp>
      <p:sp>
        <p:nvSpPr>
          <p:cNvPr id="4" name="Date Placeholder 3"/>
          <p:cNvSpPr>
            <a:spLocks noGrp="1"/>
          </p:cNvSpPr>
          <p:nvPr>
            <p:ph type="dt" sz="half" idx="10"/>
          </p:nvPr>
        </p:nvSpPr>
        <p:spPr/>
        <p:txBody>
          <a:bodyPr/>
          <a:lstStyle/>
          <a:p>
            <a:fld id="{DFC23B19-9779-4B1C-A3C0-4171218FC39C}"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16</a:t>
            </a:fld>
            <a:endParaRPr lang="en-US"/>
          </a:p>
        </p:txBody>
      </p:sp>
      <p:sp>
        <p:nvSpPr>
          <p:cNvPr id="7" name="Rectangle 6"/>
          <p:cNvSpPr/>
          <p:nvPr/>
        </p:nvSpPr>
        <p:spPr>
          <a:xfrm>
            <a:off x="457201" y="1712893"/>
            <a:ext cx="8229600" cy="400110"/>
          </a:xfrm>
          <a:prstGeom prst="rect">
            <a:avLst/>
          </a:prstGeom>
        </p:spPr>
        <p:txBody>
          <a:bodyPr wrap="square">
            <a:spAutoFit/>
          </a:bodyPr>
          <a:lstStyle/>
          <a:p>
            <a:r>
              <a:rPr lang="en-US" sz="2000" dirty="0"/>
              <a:t>The following argument form is </a:t>
            </a:r>
            <a:r>
              <a:rPr lang="en-US" sz="2000" b="1" dirty="0"/>
              <a:t>not valid</a:t>
            </a:r>
          </a:p>
        </p:txBody>
      </p:sp>
      <mc:AlternateContent xmlns:mc="http://schemas.openxmlformats.org/markup-compatibility/2006" xmlns:a14="http://schemas.microsoft.com/office/drawing/2010/main">
        <mc:Choice Requires="a14">
          <p:sp>
            <p:nvSpPr>
              <p:cNvPr id="8" name="Rectangle 7"/>
              <p:cNvSpPr/>
              <p:nvPr/>
            </p:nvSpPr>
            <p:spPr>
              <a:xfrm>
                <a:off x="533400" y="2914471"/>
                <a:ext cx="2057400" cy="1200329"/>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𝒑</m:t>
                      </m:r>
                      <m:r>
                        <a:rPr lang="en-US" b="1" i="1" smtClean="0">
                          <a:latin typeface="Cambria Math" panose="02040503050406030204" pitchFamily="18" charset="0"/>
                        </a:rPr>
                        <m:t> →</m:t>
                      </m:r>
                      <m:r>
                        <a:rPr lang="en-US" b="1" i="1">
                          <a:latin typeface="Cambria Math" panose="02040503050406030204" pitchFamily="18" charset="0"/>
                          <a:ea typeface="Cambria Math" panose="02040503050406030204" pitchFamily="18" charset="0"/>
                        </a:rPr>
                        <m:t>𝒒</m:t>
                      </m:r>
                    </m:oMath>
                  </m:oMathPara>
                </a14:m>
                <a:endParaRPr lang="en-US" b="1"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ea typeface="Cambria Math" panose="02040503050406030204" pitchFamily="18" charset="0"/>
                        </a:rPr>
                        <m:t>¬ </m:t>
                      </m:r>
                      <m:r>
                        <a:rPr lang="en-US" b="1" i="1">
                          <a:latin typeface="Cambria Math" panose="02040503050406030204" pitchFamily="18" charset="0"/>
                          <a:ea typeface="Cambria Math" panose="02040503050406030204" pitchFamily="18" charset="0"/>
                        </a:rPr>
                        <m:t>𝒑</m:t>
                      </m:r>
                    </m:oMath>
                  </m:oMathPara>
                </a14:m>
                <a:endParaRPr lang="en-US" b="1"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m:t>
                      </m:r>
                    </m:oMath>
                  </m:oMathPara>
                </a14:m>
                <a:endParaRPr lang="en-US" b="1" dirty="0"/>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𝒒</m:t>
                      </m:r>
                    </m:oMath>
                  </m:oMathPara>
                </a14:m>
                <a:endParaRPr lang="en-US" b="1" dirty="0"/>
              </a:p>
            </p:txBody>
          </p:sp>
        </mc:Choice>
        <mc:Fallback xmlns="">
          <p:sp>
            <p:nvSpPr>
              <p:cNvPr id="8" name="Rectangle 7"/>
              <p:cNvSpPr>
                <a:spLocks noRot="1" noChangeAspect="1" noMove="1" noResize="1" noEditPoints="1" noAdjustHandles="1" noChangeArrowheads="1" noChangeShapeType="1" noTextEdit="1"/>
              </p:cNvSpPr>
              <p:nvPr/>
            </p:nvSpPr>
            <p:spPr>
              <a:xfrm>
                <a:off x="533400" y="2914471"/>
                <a:ext cx="2057400" cy="1200329"/>
              </a:xfrm>
              <a:prstGeom prst="rect">
                <a:avLst/>
              </a:prstGeom>
              <a:blipFill rotWithShape="0">
                <a:blip r:embed="rId2"/>
                <a:stretch>
                  <a:fillRect b="-203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4125895457"/>
                  </p:ext>
                </p:extLst>
              </p:nvPr>
            </p:nvGraphicFramePr>
            <p:xfrm>
              <a:off x="3581400" y="2895600"/>
              <a:ext cx="3124200" cy="1981200"/>
            </p:xfrm>
            <a:graphic>
              <a:graphicData uri="http://schemas.openxmlformats.org/drawingml/2006/table">
                <a:tbl>
                  <a:tblPr firstRow="1" bandRow="1">
                    <a:tableStyleId>{5C22544A-7EE6-4342-B048-85BDC9FD1C3A}</a:tableStyleId>
                  </a:tblPr>
                  <a:tblGrid>
                    <a:gridCol w="10414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1041400">
                      <a:extLst>
                        <a:ext uri="{9D8B030D-6E8A-4147-A177-3AD203B41FA5}">
                          <a16:colId xmlns:a16="http://schemas.microsoft.com/office/drawing/2014/main" val="20002"/>
                        </a:ext>
                      </a:extLst>
                    </a:gridCol>
                  </a:tblGrid>
                  <a:tr h="350520">
                    <a:tc>
                      <a:txBody>
                        <a:bodyPr/>
                        <a:lstStyle/>
                        <a:p>
                          <a:pPr algn="ctr"/>
                          <a:r>
                            <a:rPr lang="en-US" sz="2000" dirty="0"/>
                            <a:t>p</a:t>
                          </a:r>
                        </a:p>
                      </a:txBody>
                      <a:tcPr/>
                    </a:tc>
                    <a:tc>
                      <a:txBody>
                        <a:bodyPr/>
                        <a:lstStyle/>
                        <a:p>
                          <a:pPr algn="ctr"/>
                          <a:r>
                            <a:rPr lang="en-US" sz="2000" dirty="0"/>
                            <a:t>q</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oMath>
                            </m:oMathPara>
                          </a14:m>
                          <a:endParaRPr lang="en-US" sz="2000" dirty="0"/>
                        </a:p>
                      </a:txBody>
                      <a:tcPr/>
                    </a:tc>
                    <a:extLst>
                      <a:ext uri="{0D108BD9-81ED-4DB2-BD59-A6C34878D82A}">
                        <a16:rowId xmlns:a16="http://schemas.microsoft.com/office/drawing/2014/main" val="10000"/>
                      </a:ext>
                    </a:extLst>
                  </a:tr>
                  <a:tr h="350520">
                    <a:tc>
                      <a:txBody>
                        <a:bodyPr/>
                        <a:lstStyle/>
                        <a:p>
                          <a:pPr algn="ctr"/>
                          <a:r>
                            <a:rPr lang="en-US" sz="2000" dirty="0"/>
                            <a:t>F</a:t>
                          </a:r>
                        </a:p>
                      </a:txBody>
                      <a:tcPr/>
                    </a:tc>
                    <a:tc>
                      <a:txBody>
                        <a:bodyPr/>
                        <a:lstStyle/>
                        <a:p>
                          <a:pPr algn="ctr"/>
                          <a:r>
                            <a:rPr lang="en-US" sz="2000" dirty="0"/>
                            <a:t>F</a:t>
                          </a:r>
                        </a:p>
                      </a:txBody>
                      <a:tcPr/>
                    </a:tc>
                    <a:tc>
                      <a:txBody>
                        <a:bodyPr/>
                        <a:lstStyle/>
                        <a:p>
                          <a:pPr algn="ctr"/>
                          <a:r>
                            <a:rPr lang="en-US" sz="2000" dirty="0"/>
                            <a:t>T</a:t>
                          </a:r>
                        </a:p>
                      </a:txBody>
                      <a:tcPr/>
                    </a:tc>
                    <a:extLst>
                      <a:ext uri="{0D108BD9-81ED-4DB2-BD59-A6C34878D82A}">
                        <a16:rowId xmlns:a16="http://schemas.microsoft.com/office/drawing/2014/main" val="10001"/>
                      </a:ext>
                    </a:extLst>
                  </a:tr>
                  <a:tr h="350520">
                    <a:tc>
                      <a:txBody>
                        <a:bodyPr/>
                        <a:lstStyle/>
                        <a:p>
                          <a:pPr algn="ctr"/>
                          <a:r>
                            <a:rPr lang="en-US" sz="2000" dirty="0">
                              <a:solidFill>
                                <a:schemeClr val="tx1"/>
                              </a:solidFill>
                            </a:rPr>
                            <a:t>F</a:t>
                          </a:r>
                        </a:p>
                      </a:txBody>
                      <a:tcPr/>
                    </a:tc>
                    <a:tc>
                      <a:txBody>
                        <a:bodyPr/>
                        <a:lstStyle/>
                        <a:p>
                          <a:pPr algn="ctr"/>
                          <a:r>
                            <a:rPr lang="en-US" sz="2000" dirty="0">
                              <a:solidFill>
                                <a:schemeClr val="tx1"/>
                              </a:solidFill>
                            </a:rPr>
                            <a:t>T</a:t>
                          </a:r>
                        </a:p>
                      </a:txBody>
                      <a:tcPr/>
                    </a:tc>
                    <a:tc>
                      <a:txBody>
                        <a:bodyPr/>
                        <a:lstStyle/>
                        <a:p>
                          <a:pPr algn="ctr"/>
                          <a:r>
                            <a:rPr lang="en-US" sz="2000" dirty="0">
                              <a:solidFill>
                                <a:srgbClr val="FF0000"/>
                              </a:solidFill>
                            </a:rPr>
                            <a:t>T</a:t>
                          </a:r>
                        </a:p>
                      </a:txBody>
                      <a:tcPr/>
                    </a:tc>
                    <a:extLst>
                      <a:ext uri="{0D108BD9-81ED-4DB2-BD59-A6C34878D82A}">
                        <a16:rowId xmlns:a16="http://schemas.microsoft.com/office/drawing/2014/main" val="10002"/>
                      </a:ext>
                    </a:extLst>
                  </a:tr>
                  <a:tr h="350520">
                    <a:tc>
                      <a:txBody>
                        <a:bodyPr/>
                        <a:lstStyle/>
                        <a:p>
                          <a:pPr algn="ctr"/>
                          <a:r>
                            <a:rPr lang="en-US" sz="2000" dirty="0"/>
                            <a:t>T</a:t>
                          </a:r>
                        </a:p>
                      </a:txBody>
                      <a:tcPr/>
                    </a:tc>
                    <a:tc>
                      <a:txBody>
                        <a:bodyPr/>
                        <a:lstStyle/>
                        <a:p>
                          <a:pPr algn="ctr"/>
                          <a:r>
                            <a:rPr lang="en-US" sz="2000" dirty="0"/>
                            <a:t>F</a:t>
                          </a:r>
                        </a:p>
                      </a:txBody>
                      <a:tcPr/>
                    </a:tc>
                    <a:tc>
                      <a:txBody>
                        <a:bodyPr/>
                        <a:lstStyle/>
                        <a:p>
                          <a:pPr algn="ctr"/>
                          <a:r>
                            <a:rPr lang="en-US" sz="2000" dirty="0"/>
                            <a:t>F</a:t>
                          </a:r>
                        </a:p>
                      </a:txBody>
                      <a:tcPr/>
                    </a:tc>
                    <a:extLst>
                      <a:ext uri="{0D108BD9-81ED-4DB2-BD59-A6C34878D82A}">
                        <a16:rowId xmlns:a16="http://schemas.microsoft.com/office/drawing/2014/main" val="10003"/>
                      </a:ext>
                    </a:extLst>
                  </a:tr>
                  <a:tr h="350520">
                    <a:tc>
                      <a:txBody>
                        <a:bodyPr/>
                        <a:lstStyle/>
                        <a:p>
                          <a:pPr algn="ctr"/>
                          <a:r>
                            <a:rPr lang="en-US" sz="2000" dirty="0"/>
                            <a:t>T</a:t>
                          </a:r>
                        </a:p>
                      </a:txBody>
                      <a:tcPr/>
                    </a:tc>
                    <a:tc>
                      <a:txBody>
                        <a:bodyPr/>
                        <a:lstStyle/>
                        <a:p>
                          <a:pPr algn="ctr"/>
                          <a:r>
                            <a:rPr lang="en-US" sz="2000" dirty="0"/>
                            <a:t>T</a:t>
                          </a:r>
                        </a:p>
                      </a:txBody>
                      <a:tcPr/>
                    </a:tc>
                    <a:tc>
                      <a:txBody>
                        <a:bodyPr/>
                        <a:lstStyle/>
                        <a:p>
                          <a:pPr algn="ctr"/>
                          <a:r>
                            <a:rPr lang="en-US" sz="2000" dirty="0"/>
                            <a:t>T</a:t>
                          </a:r>
                        </a:p>
                      </a:txBody>
                      <a:tcPr/>
                    </a:tc>
                    <a:extLst>
                      <a:ext uri="{0D108BD9-81ED-4DB2-BD59-A6C34878D82A}">
                        <a16:rowId xmlns:a16="http://schemas.microsoft.com/office/drawing/2014/main" val="10004"/>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4125895457"/>
                  </p:ext>
                </p:extLst>
              </p:nvPr>
            </p:nvGraphicFramePr>
            <p:xfrm>
              <a:off x="3581400" y="2895600"/>
              <a:ext cx="3124200" cy="1981200"/>
            </p:xfrm>
            <a:graphic>
              <a:graphicData uri="http://schemas.openxmlformats.org/drawingml/2006/table">
                <a:tbl>
                  <a:tblPr firstRow="1" bandRow="1">
                    <a:tableStyleId>{5C22544A-7EE6-4342-B048-85BDC9FD1C3A}</a:tableStyleId>
                  </a:tblPr>
                  <a:tblGrid>
                    <a:gridCol w="1041400"/>
                    <a:gridCol w="1041400"/>
                    <a:gridCol w="1041400"/>
                  </a:tblGrid>
                  <a:tr h="396240">
                    <a:tc>
                      <a:txBody>
                        <a:bodyPr/>
                        <a:lstStyle/>
                        <a:p>
                          <a:pPr algn="ctr"/>
                          <a:r>
                            <a:rPr lang="en-US" sz="2000" dirty="0" smtClean="0"/>
                            <a:t>p</a:t>
                          </a:r>
                          <a:endParaRPr lang="en-US" sz="2000" dirty="0"/>
                        </a:p>
                      </a:txBody>
                      <a:tcPr/>
                    </a:tc>
                    <a:tc>
                      <a:txBody>
                        <a:bodyPr/>
                        <a:lstStyle/>
                        <a:p>
                          <a:pPr algn="ctr"/>
                          <a:r>
                            <a:rPr lang="en-US" sz="2000" dirty="0" smtClean="0"/>
                            <a:t>q</a:t>
                          </a:r>
                          <a:endParaRPr lang="en-US" sz="2000" dirty="0"/>
                        </a:p>
                      </a:txBody>
                      <a:tcPr/>
                    </a:tc>
                    <a:tc>
                      <a:txBody>
                        <a:bodyPr/>
                        <a:lstStyle/>
                        <a:p>
                          <a:endParaRPr lang="en-US"/>
                        </a:p>
                      </a:txBody>
                      <a:tcPr>
                        <a:blipFill rotWithShape="0">
                          <a:blip r:embed="rId3"/>
                          <a:stretch>
                            <a:fillRect l="-200585" t="-6154" r="-2924" b="-429231"/>
                          </a:stretch>
                        </a:blipFill>
                      </a:tcPr>
                    </a:tc>
                  </a:tr>
                  <a:tr h="396240">
                    <a:tc>
                      <a:txBody>
                        <a:bodyPr/>
                        <a:lstStyle/>
                        <a:p>
                          <a:pPr algn="ctr"/>
                          <a:r>
                            <a:rPr lang="en-US" sz="2000" dirty="0" smtClean="0"/>
                            <a:t>F</a:t>
                          </a:r>
                          <a:endParaRPr lang="en-US" sz="2000" dirty="0"/>
                        </a:p>
                      </a:txBody>
                      <a:tcPr/>
                    </a:tc>
                    <a:tc>
                      <a:txBody>
                        <a:bodyPr/>
                        <a:lstStyle/>
                        <a:p>
                          <a:pPr algn="ctr"/>
                          <a:r>
                            <a:rPr lang="en-US" sz="2000" dirty="0" smtClean="0"/>
                            <a:t>F</a:t>
                          </a:r>
                          <a:endParaRPr lang="en-US" sz="2000" dirty="0"/>
                        </a:p>
                      </a:txBody>
                      <a:tcPr/>
                    </a:tc>
                    <a:tc>
                      <a:txBody>
                        <a:bodyPr/>
                        <a:lstStyle/>
                        <a:p>
                          <a:pPr algn="ctr"/>
                          <a:r>
                            <a:rPr lang="en-US" sz="2000" dirty="0" smtClean="0"/>
                            <a:t>T</a:t>
                          </a:r>
                          <a:endParaRPr lang="en-US" sz="2000" dirty="0"/>
                        </a:p>
                      </a:txBody>
                      <a:tcPr/>
                    </a:tc>
                  </a:tr>
                  <a:tr h="396240">
                    <a:tc>
                      <a:txBody>
                        <a:bodyPr/>
                        <a:lstStyle/>
                        <a:p>
                          <a:pPr algn="ctr"/>
                          <a:r>
                            <a:rPr lang="en-US" sz="2000" dirty="0" smtClean="0">
                              <a:solidFill>
                                <a:schemeClr val="tx1"/>
                              </a:solidFill>
                            </a:rPr>
                            <a:t>F</a:t>
                          </a:r>
                          <a:endParaRPr lang="en-US" sz="2000" dirty="0">
                            <a:solidFill>
                              <a:schemeClr val="tx1"/>
                            </a:solidFill>
                          </a:endParaRPr>
                        </a:p>
                      </a:txBody>
                      <a:tcPr/>
                    </a:tc>
                    <a:tc>
                      <a:txBody>
                        <a:bodyPr/>
                        <a:lstStyle/>
                        <a:p>
                          <a:pPr algn="ctr"/>
                          <a:r>
                            <a:rPr lang="en-US" sz="2000" dirty="0" smtClean="0">
                              <a:solidFill>
                                <a:schemeClr val="tx1"/>
                              </a:solidFill>
                            </a:rPr>
                            <a:t>T</a:t>
                          </a:r>
                          <a:endParaRPr lang="en-US" sz="2000" dirty="0">
                            <a:solidFill>
                              <a:schemeClr val="tx1"/>
                            </a:solidFill>
                          </a:endParaRPr>
                        </a:p>
                      </a:txBody>
                      <a:tcPr/>
                    </a:tc>
                    <a:tc>
                      <a:txBody>
                        <a:bodyPr/>
                        <a:lstStyle/>
                        <a:p>
                          <a:pPr algn="ctr"/>
                          <a:r>
                            <a:rPr lang="en-US" sz="2000" dirty="0" smtClean="0">
                              <a:solidFill>
                                <a:srgbClr val="FF0000"/>
                              </a:solidFill>
                            </a:rPr>
                            <a:t>T</a:t>
                          </a:r>
                          <a:endParaRPr lang="en-US" sz="2000" dirty="0">
                            <a:solidFill>
                              <a:srgbClr val="FF0000"/>
                            </a:solidFill>
                          </a:endParaRPr>
                        </a:p>
                      </a:txBody>
                      <a:tcPr/>
                    </a:tc>
                  </a:tr>
                  <a:tr h="396240">
                    <a:tc>
                      <a:txBody>
                        <a:bodyPr/>
                        <a:lstStyle/>
                        <a:p>
                          <a:pPr algn="ctr"/>
                          <a:r>
                            <a:rPr lang="en-US" sz="2000" dirty="0" smtClean="0"/>
                            <a:t>T</a:t>
                          </a:r>
                          <a:endParaRPr lang="en-US" sz="2000" dirty="0"/>
                        </a:p>
                      </a:txBody>
                      <a:tcPr/>
                    </a:tc>
                    <a:tc>
                      <a:txBody>
                        <a:bodyPr/>
                        <a:lstStyle/>
                        <a:p>
                          <a:pPr algn="ctr"/>
                          <a:r>
                            <a:rPr lang="en-US" sz="2000" dirty="0" smtClean="0"/>
                            <a:t>F</a:t>
                          </a:r>
                          <a:endParaRPr lang="en-US" sz="2000" dirty="0"/>
                        </a:p>
                      </a:txBody>
                      <a:tcPr/>
                    </a:tc>
                    <a:tc>
                      <a:txBody>
                        <a:bodyPr/>
                        <a:lstStyle/>
                        <a:p>
                          <a:pPr algn="ctr"/>
                          <a:r>
                            <a:rPr lang="en-US" sz="2000" dirty="0" smtClean="0"/>
                            <a:t>F</a:t>
                          </a:r>
                          <a:endParaRPr lang="en-US" sz="2000" dirty="0"/>
                        </a:p>
                      </a:txBody>
                      <a:tcPr/>
                    </a:tc>
                  </a:tr>
                  <a:tr h="396240">
                    <a:tc>
                      <a:txBody>
                        <a:bodyPr/>
                        <a:lstStyle/>
                        <a:p>
                          <a:pPr algn="ctr"/>
                          <a:r>
                            <a:rPr lang="en-US" sz="2000" dirty="0" smtClean="0"/>
                            <a:t>T</a:t>
                          </a:r>
                          <a:endParaRPr lang="en-US" sz="2000" dirty="0"/>
                        </a:p>
                      </a:txBody>
                      <a:tcPr/>
                    </a:tc>
                    <a:tc>
                      <a:txBody>
                        <a:bodyPr/>
                        <a:lstStyle/>
                        <a:p>
                          <a:pPr algn="ctr"/>
                          <a:r>
                            <a:rPr lang="en-US" sz="2000" dirty="0" smtClean="0"/>
                            <a:t>T</a:t>
                          </a:r>
                          <a:endParaRPr lang="en-US" sz="2000" dirty="0"/>
                        </a:p>
                      </a:txBody>
                      <a:tcPr/>
                    </a:tc>
                    <a:tc>
                      <a:txBody>
                        <a:bodyPr/>
                        <a:lstStyle/>
                        <a:p>
                          <a:pPr algn="ctr"/>
                          <a:r>
                            <a:rPr lang="en-US" sz="2000" dirty="0" smtClean="0"/>
                            <a:t>T</a:t>
                          </a:r>
                          <a:endParaRPr lang="en-US" sz="20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966941256"/>
                  </p:ext>
                </p:extLst>
              </p:nvPr>
            </p:nvGraphicFramePr>
            <p:xfrm>
              <a:off x="6705600" y="2895600"/>
              <a:ext cx="1041400" cy="1981200"/>
            </p:xfrm>
            <a:graphic>
              <a:graphicData uri="http://schemas.openxmlformats.org/drawingml/2006/table">
                <a:tbl>
                  <a:tblPr firstRow="1" bandRow="1">
                    <a:tableStyleId>{5C22544A-7EE6-4342-B048-85BDC9FD1C3A}</a:tableStyleId>
                  </a:tblPr>
                  <a:tblGrid>
                    <a:gridCol w="1041400">
                      <a:extLst>
                        <a:ext uri="{9D8B030D-6E8A-4147-A177-3AD203B41FA5}">
                          <a16:colId xmlns:a16="http://schemas.microsoft.com/office/drawing/2014/main" val="20000"/>
                        </a:ext>
                      </a:extLst>
                    </a:gridCol>
                  </a:tblGrid>
                  <a:tr h="350520">
                    <a:tc>
                      <a:txBody>
                        <a:bodyPr/>
                        <a:lstStyle/>
                        <a:p>
                          <a:pPr algn="ctr"/>
                          <a14:m>
                            <m:oMath xmlns:m="http://schemas.openxmlformats.org/officeDocument/2006/math">
                              <m:r>
                                <a:rPr lang="en-US" sz="2000" b="1" i="1" smtClean="0">
                                  <a:latin typeface="Cambria Math" panose="02040503050406030204" pitchFamily="18" charset="0"/>
                                  <a:ea typeface="Cambria Math" panose="02040503050406030204" pitchFamily="18" charset="0"/>
                                </a:rPr>
                                <m:t>¬</m:t>
                              </m:r>
                            </m:oMath>
                          </a14:m>
                          <a:r>
                            <a:rPr lang="en-US" sz="2000" dirty="0"/>
                            <a:t>p</a:t>
                          </a:r>
                        </a:p>
                      </a:txBody>
                      <a:tcPr/>
                    </a:tc>
                    <a:extLst>
                      <a:ext uri="{0D108BD9-81ED-4DB2-BD59-A6C34878D82A}">
                        <a16:rowId xmlns:a16="http://schemas.microsoft.com/office/drawing/2014/main" val="10000"/>
                      </a:ext>
                    </a:extLst>
                  </a:tr>
                  <a:tr h="350520">
                    <a:tc>
                      <a:txBody>
                        <a:bodyPr/>
                        <a:lstStyle/>
                        <a:p>
                          <a:pPr algn="ctr"/>
                          <a:r>
                            <a:rPr lang="en-US" sz="2000" dirty="0"/>
                            <a:t>T</a:t>
                          </a:r>
                        </a:p>
                      </a:txBody>
                      <a:tcPr/>
                    </a:tc>
                    <a:extLst>
                      <a:ext uri="{0D108BD9-81ED-4DB2-BD59-A6C34878D82A}">
                        <a16:rowId xmlns:a16="http://schemas.microsoft.com/office/drawing/2014/main" val="10001"/>
                      </a:ext>
                    </a:extLst>
                  </a:tr>
                  <a:tr h="350520">
                    <a:tc>
                      <a:txBody>
                        <a:bodyPr/>
                        <a:lstStyle/>
                        <a:p>
                          <a:pPr algn="ctr"/>
                          <a:r>
                            <a:rPr lang="en-US" sz="2000" dirty="0">
                              <a:solidFill>
                                <a:srgbClr val="FF0000"/>
                              </a:solidFill>
                            </a:rPr>
                            <a:t>T</a:t>
                          </a:r>
                        </a:p>
                      </a:txBody>
                      <a:tcPr/>
                    </a:tc>
                    <a:extLst>
                      <a:ext uri="{0D108BD9-81ED-4DB2-BD59-A6C34878D82A}">
                        <a16:rowId xmlns:a16="http://schemas.microsoft.com/office/drawing/2014/main" val="10002"/>
                      </a:ext>
                    </a:extLst>
                  </a:tr>
                  <a:tr h="350520">
                    <a:tc>
                      <a:txBody>
                        <a:bodyPr/>
                        <a:lstStyle/>
                        <a:p>
                          <a:pPr algn="ctr"/>
                          <a:r>
                            <a:rPr lang="en-US" sz="2000" dirty="0"/>
                            <a:t>F</a:t>
                          </a:r>
                        </a:p>
                      </a:txBody>
                      <a:tcPr/>
                    </a:tc>
                    <a:extLst>
                      <a:ext uri="{0D108BD9-81ED-4DB2-BD59-A6C34878D82A}">
                        <a16:rowId xmlns:a16="http://schemas.microsoft.com/office/drawing/2014/main" val="10003"/>
                      </a:ext>
                    </a:extLst>
                  </a:tr>
                  <a:tr h="350520">
                    <a:tc>
                      <a:txBody>
                        <a:bodyPr/>
                        <a:lstStyle/>
                        <a:p>
                          <a:pPr algn="ctr"/>
                          <a:r>
                            <a:rPr lang="en-US" sz="2000" dirty="0"/>
                            <a:t>F</a:t>
                          </a:r>
                        </a:p>
                      </a:txBody>
                      <a:tcPr/>
                    </a:tc>
                    <a:extLst>
                      <a:ext uri="{0D108BD9-81ED-4DB2-BD59-A6C34878D82A}">
                        <a16:rowId xmlns:a16="http://schemas.microsoft.com/office/drawing/2014/main" val="10004"/>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966941256"/>
                  </p:ext>
                </p:extLst>
              </p:nvPr>
            </p:nvGraphicFramePr>
            <p:xfrm>
              <a:off x="6705600" y="2895600"/>
              <a:ext cx="1041400" cy="1981200"/>
            </p:xfrm>
            <a:graphic>
              <a:graphicData uri="http://schemas.openxmlformats.org/drawingml/2006/table">
                <a:tbl>
                  <a:tblPr firstRow="1" bandRow="1">
                    <a:tableStyleId>{5C22544A-7EE6-4342-B048-85BDC9FD1C3A}</a:tableStyleId>
                  </a:tblPr>
                  <a:tblGrid>
                    <a:gridCol w="1041400"/>
                  </a:tblGrid>
                  <a:tr h="396240">
                    <a:tc>
                      <a:txBody>
                        <a:bodyPr/>
                        <a:lstStyle/>
                        <a:p>
                          <a:endParaRPr lang="en-US"/>
                        </a:p>
                      </a:txBody>
                      <a:tcPr>
                        <a:blipFill rotWithShape="0">
                          <a:blip r:embed="rId4"/>
                          <a:stretch>
                            <a:fillRect l="-1170" t="-6154" r="-2339" b="-429231"/>
                          </a:stretch>
                        </a:blipFill>
                      </a:tcPr>
                    </a:tc>
                  </a:tr>
                  <a:tr h="396240">
                    <a:tc>
                      <a:txBody>
                        <a:bodyPr/>
                        <a:lstStyle/>
                        <a:p>
                          <a:pPr algn="ctr"/>
                          <a:r>
                            <a:rPr lang="en-US" sz="2000" dirty="0" smtClean="0"/>
                            <a:t>T</a:t>
                          </a:r>
                          <a:endParaRPr lang="en-US" sz="2000" dirty="0"/>
                        </a:p>
                      </a:txBody>
                      <a:tcPr/>
                    </a:tc>
                  </a:tr>
                  <a:tr h="396240">
                    <a:tc>
                      <a:txBody>
                        <a:bodyPr/>
                        <a:lstStyle/>
                        <a:p>
                          <a:pPr algn="ctr"/>
                          <a:r>
                            <a:rPr lang="en-US" sz="2000" dirty="0" smtClean="0">
                              <a:solidFill>
                                <a:srgbClr val="FF0000"/>
                              </a:solidFill>
                            </a:rPr>
                            <a:t>T</a:t>
                          </a:r>
                          <a:endParaRPr lang="en-US" sz="2000" dirty="0">
                            <a:solidFill>
                              <a:srgbClr val="FF0000"/>
                            </a:solidFill>
                          </a:endParaRPr>
                        </a:p>
                      </a:txBody>
                      <a:tcPr/>
                    </a:tc>
                  </a:tr>
                  <a:tr h="396240">
                    <a:tc>
                      <a:txBody>
                        <a:bodyPr/>
                        <a:lstStyle/>
                        <a:p>
                          <a:pPr algn="ctr"/>
                          <a:r>
                            <a:rPr lang="en-US" sz="2000" dirty="0" smtClean="0"/>
                            <a:t>F</a:t>
                          </a:r>
                          <a:endParaRPr lang="en-US" sz="2000" dirty="0"/>
                        </a:p>
                      </a:txBody>
                      <a:tcPr/>
                    </a:tc>
                  </a:tr>
                  <a:tr h="396240">
                    <a:tc>
                      <a:txBody>
                        <a:bodyPr/>
                        <a:lstStyle/>
                        <a:p>
                          <a:pPr algn="ctr"/>
                          <a:r>
                            <a:rPr lang="en-US" sz="2000" dirty="0" smtClean="0"/>
                            <a:t>F</a:t>
                          </a:r>
                          <a:endParaRPr lang="en-US" sz="20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3743392395"/>
                  </p:ext>
                </p:extLst>
              </p:nvPr>
            </p:nvGraphicFramePr>
            <p:xfrm>
              <a:off x="7759163" y="2895600"/>
              <a:ext cx="1041400" cy="1981200"/>
            </p:xfrm>
            <a:graphic>
              <a:graphicData uri="http://schemas.openxmlformats.org/drawingml/2006/table">
                <a:tbl>
                  <a:tblPr firstRow="1" bandRow="1">
                    <a:tableStyleId>{5C22544A-7EE6-4342-B048-85BDC9FD1C3A}</a:tableStyleId>
                  </a:tblPr>
                  <a:tblGrid>
                    <a:gridCol w="1041400">
                      <a:extLst>
                        <a:ext uri="{9D8B030D-6E8A-4147-A177-3AD203B41FA5}">
                          <a16:colId xmlns:a16="http://schemas.microsoft.com/office/drawing/2014/main" val="20000"/>
                        </a:ext>
                      </a:extLst>
                    </a:gridCol>
                  </a:tblGrid>
                  <a:tr h="350520">
                    <a:tc>
                      <a:txBody>
                        <a:bodyPr/>
                        <a:lstStyle/>
                        <a:p>
                          <a:pPr algn="ct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ea typeface="Cambria Math" panose="02040503050406030204" pitchFamily="18" charset="0"/>
                                  </a:rPr>
                                  <m:t>¬</m:t>
                                </m:r>
                                <m:r>
                                  <a:rPr lang="en-GB" sz="2000" b="1" i="0" smtClean="0">
                                    <a:latin typeface="Cambria Math" panose="02040503050406030204" pitchFamily="18" charset="0"/>
                                    <a:ea typeface="Cambria Math" panose="02040503050406030204" pitchFamily="18" charset="0"/>
                                  </a:rPr>
                                  <m:t>𝐪</m:t>
                                </m:r>
                              </m:oMath>
                            </m:oMathPara>
                          </a14:m>
                          <a:endParaRPr lang="en-US" sz="2000" dirty="0"/>
                        </a:p>
                      </a:txBody>
                      <a:tcPr/>
                    </a:tc>
                    <a:extLst>
                      <a:ext uri="{0D108BD9-81ED-4DB2-BD59-A6C34878D82A}">
                        <a16:rowId xmlns:a16="http://schemas.microsoft.com/office/drawing/2014/main" val="10000"/>
                      </a:ext>
                    </a:extLst>
                  </a:tr>
                  <a:tr h="350520">
                    <a:tc>
                      <a:txBody>
                        <a:bodyPr/>
                        <a:lstStyle/>
                        <a:p>
                          <a:pPr algn="ctr"/>
                          <a:r>
                            <a:rPr lang="en-US" sz="2000" dirty="0"/>
                            <a:t>T</a:t>
                          </a:r>
                        </a:p>
                      </a:txBody>
                      <a:tcPr/>
                    </a:tc>
                    <a:extLst>
                      <a:ext uri="{0D108BD9-81ED-4DB2-BD59-A6C34878D82A}">
                        <a16:rowId xmlns:a16="http://schemas.microsoft.com/office/drawing/2014/main" val="10001"/>
                      </a:ext>
                    </a:extLst>
                  </a:tr>
                  <a:tr h="350520">
                    <a:tc>
                      <a:txBody>
                        <a:bodyPr/>
                        <a:lstStyle/>
                        <a:p>
                          <a:pPr algn="ctr"/>
                          <a:r>
                            <a:rPr lang="en-US" sz="2000" dirty="0">
                              <a:solidFill>
                                <a:srgbClr val="FF0000"/>
                              </a:solidFill>
                            </a:rPr>
                            <a:t>F</a:t>
                          </a:r>
                        </a:p>
                      </a:txBody>
                      <a:tcPr/>
                    </a:tc>
                    <a:extLst>
                      <a:ext uri="{0D108BD9-81ED-4DB2-BD59-A6C34878D82A}">
                        <a16:rowId xmlns:a16="http://schemas.microsoft.com/office/drawing/2014/main" val="10002"/>
                      </a:ext>
                    </a:extLst>
                  </a:tr>
                  <a:tr h="350520">
                    <a:tc>
                      <a:txBody>
                        <a:bodyPr/>
                        <a:lstStyle/>
                        <a:p>
                          <a:pPr algn="ctr"/>
                          <a:r>
                            <a:rPr lang="en-US" sz="2000" dirty="0"/>
                            <a:t>T</a:t>
                          </a:r>
                        </a:p>
                      </a:txBody>
                      <a:tcPr/>
                    </a:tc>
                    <a:extLst>
                      <a:ext uri="{0D108BD9-81ED-4DB2-BD59-A6C34878D82A}">
                        <a16:rowId xmlns:a16="http://schemas.microsoft.com/office/drawing/2014/main" val="10003"/>
                      </a:ext>
                    </a:extLst>
                  </a:tr>
                  <a:tr h="350520">
                    <a:tc>
                      <a:txBody>
                        <a:bodyPr/>
                        <a:lstStyle/>
                        <a:p>
                          <a:pPr algn="ctr"/>
                          <a:r>
                            <a:rPr lang="en-US" sz="2000" dirty="0"/>
                            <a:t>F</a:t>
                          </a:r>
                        </a:p>
                      </a:txBody>
                      <a:tcPr/>
                    </a:tc>
                    <a:extLst>
                      <a:ext uri="{0D108BD9-81ED-4DB2-BD59-A6C34878D82A}">
                        <a16:rowId xmlns:a16="http://schemas.microsoft.com/office/drawing/2014/main" val="10004"/>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3743392395"/>
                  </p:ext>
                </p:extLst>
              </p:nvPr>
            </p:nvGraphicFramePr>
            <p:xfrm>
              <a:off x="7759163" y="2895600"/>
              <a:ext cx="1041400" cy="1981200"/>
            </p:xfrm>
            <a:graphic>
              <a:graphicData uri="http://schemas.openxmlformats.org/drawingml/2006/table">
                <a:tbl>
                  <a:tblPr firstRow="1" bandRow="1">
                    <a:tableStyleId>{5C22544A-7EE6-4342-B048-85BDC9FD1C3A}</a:tableStyleId>
                  </a:tblPr>
                  <a:tblGrid>
                    <a:gridCol w="1041400"/>
                  </a:tblGrid>
                  <a:tr h="396240">
                    <a:tc>
                      <a:txBody>
                        <a:bodyPr/>
                        <a:lstStyle/>
                        <a:p>
                          <a:endParaRPr lang="en-US"/>
                        </a:p>
                      </a:txBody>
                      <a:tcPr>
                        <a:blipFill rotWithShape="0">
                          <a:blip r:embed="rId5"/>
                          <a:stretch>
                            <a:fillRect l="-581" t="-3077" r="-2326" b="-429231"/>
                          </a:stretch>
                        </a:blipFill>
                      </a:tcPr>
                    </a:tc>
                  </a:tr>
                  <a:tr h="396240">
                    <a:tc>
                      <a:txBody>
                        <a:bodyPr/>
                        <a:lstStyle/>
                        <a:p>
                          <a:pPr algn="ctr"/>
                          <a:r>
                            <a:rPr lang="en-US" sz="2000" dirty="0" smtClean="0"/>
                            <a:t>T</a:t>
                          </a:r>
                          <a:endParaRPr lang="en-US" sz="2000" dirty="0"/>
                        </a:p>
                      </a:txBody>
                      <a:tcPr/>
                    </a:tc>
                  </a:tr>
                  <a:tr h="396240">
                    <a:tc>
                      <a:txBody>
                        <a:bodyPr/>
                        <a:lstStyle/>
                        <a:p>
                          <a:pPr algn="ctr"/>
                          <a:r>
                            <a:rPr lang="en-US" sz="2000" dirty="0" smtClean="0">
                              <a:solidFill>
                                <a:srgbClr val="FF0000"/>
                              </a:solidFill>
                            </a:rPr>
                            <a:t>F</a:t>
                          </a:r>
                          <a:endParaRPr lang="en-US" sz="2000" dirty="0">
                            <a:solidFill>
                              <a:srgbClr val="FF0000"/>
                            </a:solidFill>
                          </a:endParaRPr>
                        </a:p>
                      </a:txBody>
                      <a:tcPr/>
                    </a:tc>
                  </a:tr>
                  <a:tr h="396240">
                    <a:tc>
                      <a:txBody>
                        <a:bodyPr/>
                        <a:lstStyle/>
                        <a:p>
                          <a:pPr algn="ctr"/>
                          <a:r>
                            <a:rPr lang="en-US" sz="2000" dirty="0" smtClean="0"/>
                            <a:t>T</a:t>
                          </a:r>
                          <a:endParaRPr lang="en-US" sz="2000" dirty="0"/>
                        </a:p>
                      </a:txBody>
                      <a:tcPr/>
                    </a:tc>
                  </a:tr>
                  <a:tr h="396240">
                    <a:tc>
                      <a:txBody>
                        <a:bodyPr/>
                        <a:lstStyle/>
                        <a:p>
                          <a:pPr algn="ctr"/>
                          <a:r>
                            <a:rPr lang="en-US" sz="2000" dirty="0" smtClean="0"/>
                            <a:t>F</a:t>
                          </a:r>
                          <a:endParaRPr lang="en-US" sz="2000" dirty="0"/>
                        </a:p>
                      </a:txBody>
                      <a:tcPr/>
                    </a:tc>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678180" y="5257800"/>
                <a:ext cx="8465820" cy="923330"/>
              </a:xfrm>
              <a:prstGeom prst="rect">
                <a:avLst/>
              </a:prstGeom>
              <a:noFill/>
            </p:spPr>
            <p:txBody>
              <a:bodyPr wrap="square" rtlCol="0">
                <a:spAutoFit/>
              </a:bodyPr>
              <a:lstStyle/>
              <a:p>
                <a:r>
                  <a:rPr lang="en-GB" dirty="0"/>
                  <a:t>This is </a:t>
                </a:r>
                <a:r>
                  <a:rPr lang="en-GB" b="1" dirty="0"/>
                  <a:t>not a</a:t>
                </a:r>
                <a:r>
                  <a:rPr lang="en-GB" dirty="0"/>
                  <a:t> </a:t>
                </a:r>
                <a:r>
                  <a:rPr lang="en-GB" b="1" dirty="0"/>
                  <a:t>valid</a:t>
                </a:r>
                <a:r>
                  <a:rPr lang="en-GB" dirty="0"/>
                  <a:t> argument, since there is a situation where both premises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𝑞</m:t>
                    </m:r>
                    <m:r>
                      <a:rPr lang="en-GB" b="0" i="1" smtClean="0">
                        <a:latin typeface="Cambria Math" panose="02040503050406030204" pitchFamily="18" charset="0"/>
                        <a:ea typeface="Cambria Math" panose="02040503050406030204" pitchFamily="18" charset="0"/>
                      </a:rPr>
                      <m:t> &amp; ¬</m:t>
                    </m:r>
                    <m:r>
                      <a:rPr lang="en-GB" b="0" i="1" smtClean="0">
                        <a:latin typeface="Cambria Math" panose="02040503050406030204" pitchFamily="18" charset="0"/>
                        <a:ea typeface="Cambria Math" panose="02040503050406030204" pitchFamily="18" charset="0"/>
                      </a:rPr>
                      <m:t>𝑝</m:t>
                    </m:r>
                  </m:oMath>
                </a14:m>
                <a:r>
                  <a:rPr lang="en-US" dirty="0">
                    <a:ea typeface="Cambria Math" panose="02040503050406030204" pitchFamily="18" charset="0"/>
                  </a:rPr>
                  <a:t> are true but the conclusion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𝑞</m:t>
                    </m:r>
                  </m:oMath>
                </a14:m>
                <a:r>
                  <a:rPr lang="en-US" dirty="0">
                    <a:ea typeface="Cambria Math" panose="02040503050406030204" pitchFamily="18" charset="0"/>
                  </a:rPr>
                  <a:t> is false.</a:t>
                </a:r>
              </a:p>
              <a:p>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678180" y="5257800"/>
                <a:ext cx="8465820" cy="923330"/>
              </a:xfrm>
              <a:prstGeom prst="rect">
                <a:avLst/>
              </a:prstGeom>
              <a:blipFill>
                <a:blip r:embed="rId6"/>
                <a:stretch>
                  <a:fillRect l="-576" t="-3974"/>
                </a:stretch>
              </a:blipFill>
            </p:spPr>
            <p:txBody>
              <a:bodyPr/>
              <a:lstStyle/>
              <a:p>
                <a:r>
                  <a:rPr lang="en-US">
                    <a:noFill/>
                  </a:rPr>
                  <a:t> </a:t>
                </a:r>
              </a:p>
            </p:txBody>
          </p:sp>
        </mc:Fallback>
      </mc:AlternateContent>
    </p:spTree>
    <p:extLst>
      <p:ext uri="{BB962C8B-B14F-4D97-AF65-F5344CB8AC3E}">
        <p14:creationId xmlns:p14="http://schemas.microsoft.com/office/powerpoint/2010/main" val="461649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Rules of Inference for Quantiﬁed Statements</a:t>
            </a:r>
          </a:p>
        </p:txBody>
      </p:sp>
      <p:sp>
        <p:nvSpPr>
          <p:cNvPr id="4" name="Date Placeholder 3"/>
          <p:cNvSpPr>
            <a:spLocks noGrp="1"/>
          </p:cNvSpPr>
          <p:nvPr>
            <p:ph type="dt" sz="half" idx="10"/>
          </p:nvPr>
        </p:nvSpPr>
        <p:spPr/>
        <p:txBody>
          <a:bodyPr/>
          <a:lstStyle/>
          <a:p>
            <a:fld id="{FFE7C356-9CF7-4B18-AD6E-0C7FDB6F3055}"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17</a:t>
            </a:fld>
            <a:endParaRPr lang="en-US"/>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1811127494"/>
                  </p:ext>
                </p:extLst>
              </p:nvPr>
            </p:nvGraphicFramePr>
            <p:xfrm>
              <a:off x="457200" y="1676400"/>
              <a:ext cx="8128000" cy="1569957"/>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664891">
                    <a:tc>
                      <a:txBody>
                        <a:bodyPr/>
                        <a:lstStyle/>
                        <a:p>
                          <a:pPr algn="ctr"/>
                          <a:r>
                            <a:rPr lang="en-US" sz="2400" b="1" dirty="0"/>
                            <a:t>Rule of Inference</a:t>
                          </a:r>
                        </a:p>
                      </a:txBody>
                      <a:tcPr/>
                    </a:tc>
                    <a:tc>
                      <a:txBody>
                        <a:bodyPr/>
                        <a:lstStyle/>
                        <a:p>
                          <a:pPr algn="ctr"/>
                          <a:r>
                            <a:rPr lang="en-US" sz="2400" b="1" dirty="0"/>
                            <a:t>Name</a:t>
                          </a:r>
                        </a:p>
                      </a:txBody>
                      <a:tcPr/>
                    </a:tc>
                    <a:extLst>
                      <a:ext uri="{0D108BD9-81ED-4DB2-BD59-A6C34878D82A}">
                        <a16:rowId xmlns:a16="http://schemas.microsoft.com/office/drawing/2014/main" val="10000"/>
                      </a:ext>
                    </a:extLst>
                  </a:tr>
                  <a:tr h="706709">
                    <a:tc>
                      <a:txBody>
                        <a:bodyPr/>
                        <a:lstStyle/>
                        <a:p>
                          <a:pPr/>
                          <a14:m>
                            <m:oMathPara xmlns:m="http://schemas.openxmlformats.org/officeDocument/2006/math">
                              <m:oMathParaPr>
                                <m:jc m:val="left"/>
                              </m:oMathParaPr>
                              <m:oMath xmlns:m="http://schemas.openxmlformats.org/officeDocument/2006/math">
                                <m:bar>
                                  <m:barPr>
                                    <m:ctrlPr>
                                      <a:rPr lang="en-US" sz="2400" b="0" i="1" smtClean="0">
                                        <a:latin typeface="Cambria Math" panose="02040503050406030204" pitchFamily="18" charset="0"/>
                                        <a:ea typeface="Cambria Math" panose="02040503050406030204" pitchFamily="18" charset="0"/>
                                      </a:rPr>
                                    </m:ctrlPr>
                                  </m:barPr>
                                  <m:e>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𝑃</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e>
                                </m:bar>
                              </m:oMath>
                            </m:oMathPara>
                          </a14:m>
                          <a:endParaRPr lang="en-US" sz="2400" dirty="0"/>
                        </a:p>
                        <a:p>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𝑐</m:t>
                                </m:r>
                                <m:r>
                                  <a:rPr lang="en-US" sz="2400" b="0" i="1" smtClean="0">
                                    <a:latin typeface="Cambria Math" panose="02040503050406030204" pitchFamily="18" charset="0"/>
                                    <a:ea typeface="Cambria Math" panose="02040503050406030204" pitchFamily="18" charset="0"/>
                                  </a:rPr>
                                  <m:t>)</m:t>
                                </m:r>
                              </m:oMath>
                            </m:oMathPara>
                          </a14:m>
                          <a:endParaRPr lang="en-US" sz="2400" dirty="0"/>
                        </a:p>
                      </a:txBody>
                      <a:tcPr>
                        <a:solidFill>
                          <a:schemeClr val="bg2">
                            <a:lumMod val="40000"/>
                            <a:lumOff val="60000"/>
                          </a:schemeClr>
                        </a:solidFill>
                      </a:tcPr>
                    </a:tc>
                    <a:tc>
                      <a:txBody>
                        <a:bodyPr/>
                        <a:lstStyle/>
                        <a:p>
                          <a:r>
                            <a:rPr lang="en-US" sz="2400" b="1" dirty="0"/>
                            <a:t>Universal Instantiation </a:t>
                          </a:r>
                        </a:p>
                      </a:txBody>
                      <a:tcPr>
                        <a:solidFill>
                          <a:schemeClr val="bg2">
                            <a:lumMod val="40000"/>
                            <a:lumOff val="6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1811127494"/>
                  </p:ext>
                </p:extLst>
              </p:nvPr>
            </p:nvGraphicFramePr>
            <p:xfrm>
              <a:off x="457200" y="1676400"/>
              <a:ext cx="8128000" cy="1569957"/>
            </p:xfrm>
            <a:graphic>
              <a:graphicData uri="http://schemas.openxmlformats.org/drawingml/2006/table">
                <a:tbl>
                  <a:tblPr firstRow="1" bandRow="1">
                    <a:tableStyleId>{5C22544A-7EE6-4342-B048-85BDC9FD1C3A}</a:tableStyleId>
                  </a:tblPr>
                  <a:tblGrid>
                    <a:gridCol w="4064000"/>
                    <a:gridCol w="4064000"/>
                  </a:tblGrid>
                  <a:tr h="664891">
                    <a:tc>
                      <a:txBody>
                        <a:bodyPr/>
                        <a:lstStyle/>
                        <a:p>
                          <a:pPr algn="ctr"/>
                          <a:r>
                            <a:rPr lang="en-US" sz="2400" b="1" dirty="0" smtClean="0"/>
                            <a:t>Rule of Inference</a:t>
                          </a:r>
                          <a:endParaRPr lang="en-US" sz="2400" b="1" dirty="0"/>
                        </a:p>
                      </a:txBody>
                      <a:tcPr/>
                    </a:tc>
                    <a:tc>
                      <a:txBody>
                        <a:bodyPr/>
                        <a:lstStyle/>
                        <a:p>
                          <a:pPr algn="ctr"/>
                          <a:r>
                            <a:rPr lang="en-US" sz="2400" b="1" dirty="0" smtClean="0"/>
                            <a:t>Name</a:t>
                          </a:r>
                          <a:endParaRPr lang="en-US" sz="2400" b="1" dirty="0"/>
                        </a:p>
                      </a:txBody>
                      <a:tcPr/>
                    </a:tc>
                  </a:tr>
                  <a:tr h="905066">
                    <a:tc>
                      <a:txBody>
                        <a:bodyPr/>
                        <a:lstStyle/>
                        <a:p>
                          <a:endParaRPr lang="en-US"/>
                        </a:p>
                      </a:txBody>
                      <a:tcPr>
                        <a:blipFill rotWithShape="0">
                          <a:blip r:embed="rId2"/>
                          <a:stretch>
                            <a:fillRect l="-300" t="-77852" r="-100600" b="-10067"/>
                          </a:stretch>
                        </a:blipFill>
                      </a:tcPr>
                    </a:tc>
                    <a:tc>
                      <a:txBody>
                        <a:bodyPr/>
                        <a:lstStyle/>
                        <a:p>
                          <a:r>
                            <a:rPr lang="en-US" sz="2400" b="1" dirty="0" smtClean="0"/>
                            <a:t>Universal Instantiation </a:t>
                          </a:r>
                          <a:endParaRPr lang="en-US" sz="2400" b="1" dirty="0"/>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887879792"/>
                  </p:ext>
                </p:extLst>
              </p:nvPr>
            </p:nvGraphicFramePr>
            <p:xfrm>
              <a:off x="457200" y="3269820"/>
              <a:ext cx="8128000" cy="90297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780585">
                    <a:tc>
                      <a:txBody>
                        <a:bodyPr/>
                        <a:lstStyle/>
                        <a:p>
                          <a:pPr/>
                          <a14:m>
                            <m:oMathPara xmlns:m="http://schemas.openxmlformats.org/officeDocument/2006/math">
                              <m:oMathParaPr>
                                <m:jc m:val="left"/>
                              </m:oMathParaPr>
                              <m:oMath xmlns:m="http://schemas.openxmlformats.org/officeDocument/2006/math">
                                <m:bar>
                                  <m:barPr>
                                    <m:ctrlPr>
                                      <a:rPr lang="en-US" sz="2400" b="0" i="1" smtClean="0">
                                        <a:solidFill>
                                          <a:schemeClr val="tx1"/>
                                        </a:solidFill>
                                        <a:latin typeface="Cambria Math" panose="02040503050406030204" pitchFamily="18" charset="0"/>
                                        <a:ea typeface="Cambria Math" panose="02040503050406030204" pitchFamily="18" charset="0"/>
                                      </a:rPr>
                                    </m:ctrlPr>
                                  </m:barPr>
                                  <m:e>
                                    <m:r>
                                      <a:rPr lang="en-US" sz="2400" b="0" i="1" smtClean="0">
                                        <a:solidFill>
                                          <a:schemeClr val="tx1"/>
                                        </a:solidFill>
                                        <a:latin typeface="Cambria Math" panose="02040503050406030204" pitchFamily="18" charset="0"/>
                                        <a:ea typeface="Cambria Math" panose="02040503050406030204" pitchFamily="18" charset="0"/>
                                      </a:rPr>
                                      <m:t>𝑃</m:t>
                                    </m:r>
                                    <m:d>
                                      <m:dPr>
                                        <m:ctrlPr>
                                          <a:rPr lang="en-US" sz="2400" b="0" i="1" smtClean="0">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𝑐</m:t>
                                        </m:r>
                                      </m:e>
                                    </m:d>
                                    <m:r>
                                      <a:rPr lang="en-US" sz="2400" b="0" i="1" smtClean="0">
                                        <a:solidFill>
                                          <a:schemeClr val="tx1"/>
                                        </a:solidFill>
                                        <a:latin typeface="Cambria Math" panose="02040503050406030204" pitchFamily="18" charset="0"/>
                                        <a:ea typeface="Cambria Math" panose="02040503050406030204" pitchFamily="18" charset="0"/>
                                      </a:rPr>
                                      <m:t>  </m:t>
                                    </m:r>
                                    <m:r>
                                      <m:rPr>
                                        <m:sty m:val="p"/>
                                      </m:rPr>
                                      <a:rPr lang="en-US" sz="2400" b="0" i="0" smtClean="0">
                                        <a:solidFill>
                                          <a:schemeClr val="tx1"/>
                                        </a:solidFill>
                                        <a:latin typeface="Cambria Math" panose="02040503050406030204" pitchFamily="18" charset="0"/>
                                        <a:ea typeface="Cambria Math" panose="02040503050406030204" pitchFamily="18" charset="0"/>
                                      </a:rPr>
                                      <m:t>for</m:t>
                                    </m:r>
                                    <m:r>
                                      <a:rPr lang="en-US" sz="2400" b="0" i="0" smtClean="0">
                                        <a:solidFill>
                                          <a:schemeClr val="tx1"/>
                                        </a:solidFill>
                                        <a:latin typeface="Cambria Math" panose="02040503050406030204" pitchFamily="18" charset="0"/>
                                        <a:ea typeface="Cambria Math" panose="02040503050406030204" pitchFamily="18" charset="0"/>
                                      </a:rPr>
                                      <m:t> </m:t>
                                    </m:r>
                                    <m:r>
                                      <m:rPr>
                                        <m:sty m:val="p"/>
                                      </m:rPr>
                                      <a:rPr lang="en-US" sz="2400" b="0" i="0" smtClean="0">
                                        <a:solidFill>
                                          <a:schemeClr val="tx1"/>
                                        </a:solidFill>
                                        <a:latin typeface="Cambria Math" panose="02040503050406030204" pitchFamily="18" charset="0"/>
                                        <a:ea typeface="Cambria Math" panose="02040503050406030204" pitchFamily="18" charset="0"/>
                                      </a:rPr>
                                      <m:t>an</m:t>
                                    </m:r>
                                    <m:r>
                                      <a:rPr lang="en-US" sz="2400" b="0" i="0" smtClean="0">
                                        <a:solidFill>
                                          <a:schemeClr val="tx1"/>
                                        </a:solidFill>
                                        <a:latin typeface="Cambria Math" panose="02040503050406030204" pitchFamily="18" charset="0"/>
                                        <a:ea typeface="Cambria Math" panose="02040503050406030204" pitchFamily="18" charset="0"/>
                                      </a:rPr>
                                      <m:t> </m:t>
                                    </m:r>
                                    <m:r>
                                      <m:rPr>
                                        <m:sty m:val="p"/>
                                      </m:rPr>
                                      <a:rPr lang="en-US" sz="2400" b="0" i="0" smtClean="0">
                                        <a:solidFill>
                                          <a:schemeClr val="tx1"/>
                                        </a:solidFill>
                                        <a:latin typeface="Cambria Math" panose="02040503050406030204" pitchFamily="18" charset="0"/>
                                        <a:ea typeface="Cambria Math" panose="02040503050406030204" pitchFamily="18" charset="0"/>
                                      </a:rPr>
                                      <m:t>arbitary</m:t>
                                    </m:r>
                                    <m:r>
                                      <a:rPr lang="en-US" sz="2400" b="0" i="0" smtClean="0">
                                        <a:solidFill>
                                          <a:schemeClr val="tx1"/>
                                        </a:solidFill>
                                        <a:latin typeface="Cambria Math" panose="02040503050406030204" pitchFamily="18" charset="0"/>
                                        <a:ea typeface="Cambria Math" panose="02040503050406030204" pitchFamily="18" charset="0"/>
                                      </a:rPr>
                                      <m:t> </m:t>
                                    </m:r>
                                    <m:r>
                                      <a:rPr lang="en-US" sz="2400" b="0" i="1" smtClean="0">
                                        <a:solidFill>
                                          <a:schemeClr val="tx1"/>
                                        </a:solidFill>
                                        <a:latin typeface="Cambria Math" panose="02040503050406030204" pitchFamily="18" charset="0"/>
                                        <a:ea typeface="Cambria Math" panose="02040503050406030204" pitchFamily="18" charset="0"/>
                                      </a:rPr>
                                      <m:t>𝑐</m:t>
                                    </m:r>
                                  </m:e>
                                </m:bar>
                              </m:oMath>
                            </m:oMathPara>
                          </a14:m>
                          <a:endParaRPr lang="en-US" sz="2400" dirty="0">
                            <a:solidFill>
                              <a:schemeClr val="tx1"/>
                            </a:solidFill>
                          </a:endParaRPr>
                        </a:p>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smtClean="0">
                                    <a:solidFill>
                                      <a:schemeClr val="tx1"/>
                                    </a:solidFill>
                                    <a:latin typeface="Cambria Math" panose="02040503050406030204" pitchFamily="18" charset="0"/>
                                    <a:ea typeface="Cambria Math" panose="02040503050406030204" pitchFamily="18" charset="0"/>
                                  </a:rPr>
                                  <m:t> </m:t>
                                </m:r>
                                <m:r>
                                  <a:rPr lang="en-US" sz="2400" b="0" i="1" smtClean="0">
                                    <a:solidFill>
                                      <a:schemeClr val="tx1"/>
                                    </a:solidFill>
                                    <a:latin typeface="Cambria Math" panose="02040503050406030204" pitchFamily="18" charset="0"/>
                                    <a:ea typeface="Cambria Math" panose="02040503050406030204" pitchFamily="18" charset="0"/>
                                  </a:rPr>
                                  <m:t>𝑃</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US" sz="2400" dirty="0">
                            <a:solidFill>
                              <a:schemeClr val="tx1"/>
                            </a:solidFill>
                          </a:endParaRPr>
                        </a:p>
                      </a:txBody>
                      <a:tcPr>
                        <a:solidFill>
                          <a:schemeClr val="bg2">
                            <a:lumMod val="60000"/>
                            <a:lumOff val="40000"/>
                          </a:schemeClr>
                        </a:solidFill>
                      </a:tcPr>
                    </a:tc>
                    <a:tc>
                      <a:txBody>
                        <a:bodyPr/>
                        <a:lstStyle/>
                        <a:p>
                          <a:r>
                            <a:rPr lang="en-US" sz="2400" dirty="0">
                              <a:solidFill>
                                <a:schemeClr val="tx1"/>
                              </a:solidFill>
                            </a:rPr>
                            <a:t>Universal generalization</a:t>
                          </a:r>
                        </a:p>
                      </a:txBody>
                      <a:tcPr>
                        <a:solidFill>
                          <a:schemeClr val="bg2">
                            <a:lumMod val="60000"/>
                            <a:lumOff val="4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887879792"/>
                  </p:ext>
                </p:extLst>
              </p:nvPr>
            </p:nvGraphicFramePr>
            <p:xfrm>
              <a:off x="457200" y="3269820"/>
              <a:ext cx="8128000" cy="902970"/>
            </p:xfrm>
            <a:graphic>
              <a:graphicData uri="http://schemas.openxmlformats.org/drawingml/2006/table">
                <a:tbl>
                  <a:tblPr firstRow="1" bandRow="1">
                    <a:tableStyleId>{5C22544A-7EE6-4342-B048-85BDC9FD1C3A}</a:tableStyleId>
                  </a:tblPr>
                  <a:tblGrid>
                    <a:gridCol w="4064000"/>
                    <a:gridCol w="4064000"/>
                  </a:tblGrid>
                  <a:tr h="902970">
                    <a:tc>
                      <a:txBody>
                        <a:bodyPr/>
                        <a:lstStyle/>
                        <a:p>
                          <a:endParaRPr lang="en-US"/>
                        </a:p>
                      </a:txBody>
                      <a:tcPr>
                        <a:blipFill rotWithShape="0">
                          <a:blip r:embed="rId3"/>
                          <a:stretch>
                            <a:fillRect l="-300" t="-4698" r="-100600" b="-10067"/>
                          </a:stretch>
                        </a:blipFill>
                      </a:tcPr>
                    </a:tc>
                    <a:tc>
                      <a:txBody>
                        <a:bodyPr/>
                        <a:lstStyle/>
                        <a:p>
                          <a:r>
                            <a:rPr lang="en-US" sz="2400" dirty="0" smtClean="0">
                              <a:solidFill>
                                <a:schemeClr val="tx1"/>
                              </a:solidFill>
                            </a:rPr>
                            <a:t>Universal generalization</a:t>
                          </a:r>
                          <a:endParaRPr lang="en-US" sz="2400" dirty="0">
                            <a:solidFill>
                              <a:schemeClr val="tx1"/>
                            </a:solidFill>
                          </a:endParaRPr>
                        </a:p>
                      </a:txBody>
                      <a:tcPr>
                        <a:solidFill>
                          <a:schemeClr val="bg2">
                            <a:lumMod val="60000"/>
                            <a:lumOff val="4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2883704796"/>
                  </p:ext>
                </p:extLst>
              </p:nvPr>
            </p:nvGraphicFramePr>
            <p:xfrm>
              <a:off x="457200" y="4200334"/>
              <a:ext cx="8128000" cy="90506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780585">
                    <a:tc>
                      <a:txBody>
                        <a:bodyPr/>
                        <a:lstStyle/>
                        <a:p>
                          <a:pPr/>
                          <a14:m>
                            <m:oMathPara xmlns:m="http://schemas.openxmlformats.org/officeDocument/2006/math">
                              <m:oMathParaPr>
                                <m:jc m:val="left"/>
                              </m:oMathParaPr>
                              <m:oMath xmlns:m="http://schemas.openxmlformats.org/officeDocument/2006/math">
                                <m:bar>
                                  <m:barPr>
                                    <m:ctrlPr>
                                      <a:rPr lang="en-US" sz="2400" b="0" i="1" smtClean="0">
                                        <a:solidFill>
                                          <a:schemeClr val="tx1"/>
                                        </a:solidFill>
                                        <a:latin typeface="Cambria Math" panose="02040503050406030204" pitchFamily="18" charset="0"/>
                                        <a:ea typeface="Cambria Math" panose="02040503050406030204" pitchFamily="18" charset="0"/>
                                      </a:rPr>
                                    </m:ctrlPr>
                                  </m:barPr>
                                  <m:e>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smtClean="0">
                                        <a:solidFill>
                                          <a:schemeClr val="tx1"/>
                                        </a:solidFill>
                                        <a:latin typeface="Cambria Math" panose="02040503050406030204" pitchFamily="18" charset="0"/>
                                        <a:ea typeface="Cambria Math" panose="02040503050406030204" pitchFamily="18" charset="0"/>
                                      </a:rPr>
                                      <m:t> </m:t>
                                    </m:r>
                                    <m:r>
                                      <a:rPr lang="en-US" sz="2400" b="0" i="1" smtClean="0">
                                        <a:solidFill>
                                          <a:schemeClr val="tx1"/>
                                        </a:solidFill>
                                        <a:latin typeface="Cambria Math" panose="02040503050406030204" pitchFamily="18" charset="0"/>
                                        <a:ea typeface="Cambria Math" panose="02040503050406030204" pitchFamily="18" charset="0"/>
                                      </a:rPr>
                                      <m:t>𝑃</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smtClean="0">
                                        <a:solidFill>
                                          <a:schemeClr val="tx1"/>
                                        </a:solidFill>
                                        <a:latin typeface="Cambria Math" panose="02040503050406030204" pitchFamily="18" charset="0"/>
                                        <a:ea typeface="Cambria Math" panose="02040503050406030204" pitchFamily="18" charset="0"/>
                                      </a:rPr>
                                      <m:t>)</m:t>
                                    </m:r>
                                  </m:e>
                                </m:bar>
                              </m:oMath>
                            </m:oMathPara>
                          </a14:m>
                          <a:endParaRPr lang="en-US" sz="2400" dirty="0">
                            <a:solidFill>
                              <a:schemeClr val="tx1"/>
                            </a:solidFill>
                          </a:endParaRPr>
                        </a:p>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𝑃</m:t>
                                </m:r>
                                <m:d>
                                  <m:dPr>
                                    <m:ctrlPr>
                                      <a:rPr lang="en-US" sz="2400" b="0" i="1" smtClean="0">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𝑐</m:t>
                                    </m:r>
                                  </m:e>
                                </m:d>
                                <m:r>
                                  <a:rPr lang="en-US" sz="2400" b="0" i="1" smtClean="0">
                                    <a:solidFill>
                                      <a:schemeClr val="tx1"/>
                                    </a:solidFill>
                                    <a:latin typeface="Cambria Math" panose="02040503050406030204" pitchFamily="18" charset="0"/>
                                    <a:ea typeface="Cambria Math" panose="02040503050406030204" pitchFamily="18" charset="0"/>
                                  </a:rPr>
                                  <m:t>  </m:t>
                                </m:r>
                                <m:r>
                                  <m:rPr>
                                    <m:sty m:val="p"/>
                                  </m:rPr>
                                  <a:rPr lang="en-US" sz="2400" b="0" i="0" smtClean="0">
                                    <a:solidFill>
                                      <a:schemeClr val="tx1"/>
                                    </a:solidFill>
                                    <a:latin typeface="Cambria Math" panose="02040503050406030204" pitchFamily="18" charset="0"/>
                                    <a:ea typeface="Cambria Math" panose="02040503050406030204" pitchFamily="18" charset="0"/>
                                  </a:rPr>
                                  <m:t>for</m:t>
                                </m:r>
                                <m:r>
                                  <a:rPr lang="en-US" sz="2400" b="0" i="0" smtClean="0">
                                    <a:solidFill>
                                      <a:schemeClr val="tx1"/>
                                    </a:solidFill>
                                    <a:latin typeface="Cambria Math" panose="02040503050406030204" pitchFamily="18" charset="0"/>
                                    <a:ea typeface="Cambria Math" panose="02040503050406030204" pitchFamily="18" charset="0"/>
                                  </a:rPr>
                                  <m:t> </m:t>
                                </m:r>
                                <m:r>
                                  <m:rPr>
                                    <m:sty m:val="p"/>
                                  </m:rPr>
                                  <a:rPr lang="en-US" sz="2400" b="0" i="0" smtClean="0">
                                    <a:solidFill>
                                      <a:schemeClr val="tx1"/>
                                    </a:solidFill>
                                    <a:latin typeface="Cambria Math" panose="02040503050406030204" pitchFamily="18" charset="0"/>
                                    <a:ea typeface="Cambria Math" panose="02040503050406030204" pitchFamily="18" charset="0"/>
                                  </a:rPr>
                                  <m:t>some</m:t>
                                </m:r>
                                <m:r>
                                  <a:rPr lang="en-US" sz="2400" b="0" i="0" smtClean="0">
                                    <a:solidFill>
                                      <a:schemeClr val="tx1"/>
                                    </a:solidFill>
                                    <a:latin typeface="Cambria Math" panose="02040503050406030204" pitchFamily="18" charset="0"/>
                                    <a:ea typeface="Cambria Math" panose="02040503050406030204" pitchFamily="18" charset="0"/>
                                  </a:rPr>
                                  <m:t> </m:t>
                                </m:r>
                                <m:r>
                                  <m:rPr>
                                    <m:sty m:val="p"/>
                                  </m:rPr>
                                  <a:rPr lang="en-US" sz="2400" b="0" i="0" smtClean="0">
                                    <a:solidFill>
                                      <a:schemeClr val="tx1"/>
                                    </a:solidFill>
                                    <a:latin typeface="Cambria Math" panose="02040503050406030204" pitchFamily="18" charset="0"/>
                                    <a:ea typeface="Cambria Math" panose="02040503050406030204" pitchFamily="18" charset="0"/>
                                  </a:rPr>
                                  <m:t>element</m:t>
                                </m:r>
                                <m:r>
                                  <a:rPr lang="en-US" sz="2400" b="0" i="0" smtClean="0">
                                    <a:solidFill>
                                      <a:schemeClr val="tx1"/>
                                    </a:solidFill>
                                    <a:latin typeface="Cambria Math" panose="02040503050406030204" pitchFamily="18" charset="0"/>
                                    <a:ea typeface="Cambria Math" panose="02040503050406030204" pitchFamily="18" charset="0"/>
                                  </a:rPr>
                                  <m:t> </m:t>
                                </m:r>
                                <m:r>
                                  <a:rPr lang="en-US" sz="2400" b="0" i="1" smtClean="0">
                                    <a:solidFill>
                                      <a:schemeClr val="tx1"/>
                                    </a:solidFill>
                                    <a:latin typeface="Cambria Math" panose="02040503050406030204" pitchFamily="18" charset="0"/>
                                    <a:ea typeface="Cambria Math" panose="02040503050406030204" pitchFamily="18" charset="0"/>
                                  </a:rPr>
                                  <m:t>𝑐</m:t>
                                </m:r>
                              </m:oMath>
                            </m:oMathPara>
                          </a14:m>
                          <a:endParaRPr lang="en-US" sz="2400" dirty="0">
                            <a:solidFill>
                              <a:schemeClr val="tx1"/>
                            </a:solidFill>
                          </a:endParaRPr>
                        </a:p>
                      </a:txBody>
                      <a:tcPr>
                        <a:solidFill>
                          <a:schemeClr val="bg2">
                            <a:lumMod val="40000"/>
                            <a:lumOff val="60000"/>
                          </a:schemeClr>
                        </a:solidFill>
                      </a:tcPr>
                    </a:tc>
                    <a:tc>
                      <a:txBody>
                        <a:bodyPr/>
                        <a:lstStyle/>
                        <a:p>
                          <a:r>
                            <a:rPr lang="en-US" sz="2400" dirty="0">
                              <a:solidFill>
                                <a:schemeClr val="tx1"/>
                              </a:solidFill>
                            </a:rPr>
                            <a:t>Existential instantiation</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2883704796"/>
                  </p:ext>
                </p:extLst>
              </p:nvPr>
            </p:nvGraphicFramePr>
            <p:xfrm>
              <a:off x="457200" y="4200334"/>
              <a:ext cx="8128000" cy="905066"/>
            </p:xfrm>
            <a:graphic>
              <a:graphicData uri="http://schemas.openxmlformats.org/drawingml/2006/table">
                <a:tbl>
                  <a:tblPr firstRow="1" bandRow="1">
                    <a:tableStyleId>{5C22544A-7EE6-4342-B048-85BDC9FD1C3A}</a:tableStyleId>
                  </a:tblPr>
                  <a:tblGrid>
                    <a:gridCol w="4064000"/>
                    <a:gridCol w="4064000"/>
                  </a:tblGrid>
                  <a:tr h="905066">
                    <a:tc>
                      <a:txBody>
                        <a:bodyPr/>
                        <a:lstStyle/>
                        <a:p>
                          <a:endParaRPr lang="en-US"/>
                        </a:p>
                      </a:txBody>
                      <a:tcPr>
                        <a:blipFill rotWithShape="0">
                          <a:blip r:embed="rId4"/>
                          <a:stretch>
                            <a:fillRect l="-300" t="-4698" r="-100600" b="-2685"/>
                          </a:stretch>
                        </a:blipFill>
                      </a:tcPr>
                    </a:tc>
                    <a:tc>
                      <a:txBody>
                        <a:bodyPr/>
                        <a:lstStyle/>
                        <a:p>
                          <a:r>
                            <a:rPr lang="en-US" sz="2400" dirty="0" smtClean="0">
                              <a:solidFill>
                                <a:schemeClr val="tx1"/>
                              </a:solidFill>
                            </a:rPr>
                            <a:t>Existential instantiation</a:t>
                          </a:r>
                          <a:endParaRPr lang="en-US" sz="2400" dirty="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3626335438"/>
                  </p:ext>
                </p:extLst>
              </p:nvPr>
            </p:nvGraphicFramePr>
            <p:xfrm>
              <a:off x="457200" y="5114139"/>
              <a:ext cx="8128000" cy="89192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780585">
                    <a:tc>
                      <a:txBody>
                        <a:bodyPr/>
                        <a:lstStyle/>
                        <a:p>
                          <a:pPr/>
                          <a14:m>
                            <m:oMathPara xmlns:m="http://schemas.openxmlformats.org/officeDocument/2006/math">
                              <m:oMathParaPr>
                                <m:jc m:val="left"/>
                              </m:oMathParaPr>
                              <m:oMath xmlns:m="http://schemas.openxmlformats.org/officeDocument/2006/math">
                                <m:bar>
                                  <m:barPr>
                                    <m:ctrlPr>
                                      <a:rPr lang="en-US" sz="2400" b="0" i="1" smtClean="0">
                                        <a:solidFill>
                                          <a:schemeClr val="tx1"/>
                                        </a:solidFill>
                                        <a:latin typeface="Cambria Math" panose="02040503050406030204" pitchFamily="18" charset="0"/>
                                        <a:ea typeface="Cambria Math" panose="02040503050406030204" pitchFamily="18" charset="0"/>
                                      </a:rPr>
                                    </m:ctrlPr>
                                  </m:barPr>
                                  <m:e>
                                    <m:r>
                                      <a:rPr lang="en-US" sz="2400" b="0" i="1" smtClean="0">
                                        <a:solidFill>
                                          <a:schemeClr val="tx1"/>
                                        </a:solidFill>
                                        <a:latin typeface="Cambria Math" panose="02040503050406030204" pitchFamily="18" charset="0"/>
                                        <a:ea typeface="Cambria Math" panose="02040503050406030204" pitchFamily="18" charset="0"/>
                                      </a:rPr>
                                      <m:t>𝑃</m:t>
                                    </m:r>
                                    <m:d>
                                      <m:dPr>
                                        <m:ctrlPr>
                                          <a:rPr lang="en-US" sz="2400" b="0" i="1" smtClean="0">
                                            <a:solidFill>
                                              <a:schemeClr val="tx1"/>
                                            </a:solidFill>
                                            <a:latin typeface="Cambria Math" panose="02040503050406030204" pitchFamily="18" charset="0"/>
                                            <a:ea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rPr>
                                          <m:t>𝑐</m:t>
                                        </m:r>
                                      </m:e>
                                    </m:d>
                                    <m:r>
                                      <a:rPr lang="en-US" sz="2400" b="0" i="1" smtClean="0">
                                        <a:solidFill>
                                          <a:schemeClr val="tx1"/>
                                        </a:solidFill>
                                        <a:latin typeface="Cambria Math" panose="02040503050406030204" pitchFamily="18" charset="0"/>
                                        <a:ea typeface="Cambria Math" panose="02040503050406030204" pitchFamily="18" charset="0"/>
                                      </a:rPr>
                                      <m:t>  </m:t>
                                    </m:r>
                                    <m:r>
                                      <m:rPr>
                                        <m:sty m:val="p"/>
                                      </m:rPr>
                                      <a:rPr lang="en-US" sz="2400" b="0" i="0" smtClean="0">
                                        <a:solidFill>
                                          <a:schemeClr val="tx1"/>
                                        </a:solidFill>
                                        <a:latin typeface="Cambria Math" panose="02040503050406030204" pitchFamily="18" charset="0"/>
                                        <a:ea typeface="Cambria Math" panose="02040503050406030204" pitchFamily="18" charset="0"/>
                                      </a:rPr>
                                      <m:t>for</m:t>
                                    </m:r>
                                    <m:r>
                                      <a:rPr lang="en-US" sz="2400" b="0" i="0" smtClean="0">
                                        <a:solidFill>
                                          <a:schemeClr val="tx1"/>
                                        </a:solidFill>
                                        <a:latin typeface="Cambria Math" panose="02040503050406030204" pitchFamily="18" charset="0"/>
                                        <a:ea typeface="Cambria Math" panose="02040503050406030204" pitchFamily="18" charset="0"/>
                                      </a:rPr>
                                      <m:t> </m:t>
                                    </m:r>
                                    <m:r>
                                      <m:rPr>
                                        <m:sty m:val="p"/>
                                      </m:rPr>
                                      <a:rPr lang="en-US" sz="2400" b="0" i="0" smtClean="0">
                                        <a:solidFill>
                                          <a:schemeClr val="tx1"/>
                                        </a:solidFill>
                                        <a:latin typeface="Cambria Math" panose="02040503050406030204" pitchFamily="18" charset="0"/>
                                        <a:ea typeface="Cambria Math" panose="02040503050406030204" pitchFamily="18" charset="0"/>
                                      </a:rPr>
                                      <m:t>some</m:t>
                                    </m:r>
                                    <m:r>
                                      <a:rPr lang="en-US" sz="2400" b="0" i="0" smtClean="0">
                                        <a:solidFill>
                                          <a:schemeClr val="tx1"/>
                                        </a:solidFill>
                                        <a:latin typeface="Cambria Math" panose="02040503050406030204" pitchFamily="18" charset="0"/>
                                        <a:ea typeface="Cambria Math" panose="02040503050406030204" pitchFamily="18" charset="0"/>
                                      </a:rPr>
                                      <m:t> </m:t>
                                    </m:r>
                                    <m:r>
                                      <m:rPr>
                                        <m:sty m:val="p"/>
                                      </m:rPr>
                                      <a:rPr lang="en-US" sz="2400" b="0" i="0" smtClean="0">
                                        <a:solidFill>
                                          <a:schemeClr val="tx1"/>
                                        </a:solidFill>
                                        <a:latin typeface="Cambria Math" panose="02040503050406030204" pitchFamily="18" charset="0"/>
                                        <a:ea typeface="Cambria Math" panose="02040503050406030204" pitchFamily="18" charset="0"/>
                                      </a:rPr>
                                      <m:t>element</m:t>
                                    </m:r>
                                    <m:r>
                                      <a:rPr lang="en-US" sz="2400" b="0" i="0" smtClean="0">
                                        <a:solidFill>
                                          <a:schemeClr val="tx1"/>
                                        </a:solidFill>
                                        <a:latin typeface="Cambria Math" panose="02040503050406030204" pitchFamily="18" charset="0"/>
                                        <a:ea typeface="Cambria Math" panose="02040503050406030204" pitchFamily="18" charset="0"/>
                                      </a:rPr>
                                      <m:t> </m:t>
                                    </m:r>
                                    <m:r>
                                      <a:rPr lang="en-US" sz="2400" b="0" i="1" smtClean="0">
                                        <a:solidFill>
                                          <a:schemeClr val="tx1"/>
                                        </a:solidFill>
                                        <a:latin typeface="Cambria Math" panose="02040503050406030204" pitchFamily="18" charset="0"/>
                                        <a:ea typeface="Cambria Math" panose="02040503050406030204" pitchFamily="18" charset="0"/>
                                      </a:rPr>
                                      <m:t>𝑐</m:t>
                                    </m:r>
                                  </m:e>
                                </m:bar>
                              </m:oMath>
                            </m:oMathPara>
                          </a14:m>
                          <a:endParaRPr lang="en-US" sz="2400" dirty="0">
                            <a:solidFill>
                              <a:schemeClr val="tx1"/>
                            </a:solidFill>
                          </a:endParaRPr>
                        </a:p>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smtClean="0">
                                    <a:solidFill>
                                      <a:schemeClr val="tx1"/>
                                    </a:solidFill>
                                    <a:latin typeface="Cambria Math" panose="02040503050406030204" pitchFamily="18" charset="0"/>
                                    <a:ea typeface="Cambria Math" panose="02040503050406030204" pitchFamily="18" charset="0"/>
                                  </a:rPr>
                                  <m:t> </m:t>
                                </m:r>
                                <m:r>
                                  <a:rPr lang="en-US" sz="2400" b="0" i="1" smtClean="0">
                                    <a:solidFill>
                                      <a:schemeClr val="tx1"/>
                                    </a:solidFill>
                                    <a:latin typeface="Cambria Math" panose="02040503050406030204" pitchFamily="18" charset="0"/>
                                    <a:ea typeface="Cambria Math" panose="02040503050406030204" pitchFamily="18" charset="0"/>
                                  </a:rPr>
                                  <m:t>𝑃</m:t>
                                </m:r>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𝑥</m:t>
                                </m:r>
                                <m:r>
                                  <a:rPr lang="en-US" sz="2400" b="0" i="1" smtClean="0">
                                    <a:solidFill>
                                      <a:schemeClr val="tx1"/>
                                    </a:solidFill>
                                    <a:latin typeface="Cambria Math" panose="02040503050406030204" pitchFamily="18" charset="0"/>
                                    <a:ea typeface="Cambria Math" panose="02040503050406030204" pitchFamily="18" charset="0"/>
                                  </a:rPr>
                                  <m:t>)</m:t>
                                </m:r>
                              </m:oMath>
                            </m:oMathPara>
                          </a14:m>
                          <a:endParaRPr lang="en-US" sz="2400" dirty="0">
                            <a:solidFill>
                              <a:schemeClr val="tx1"/>
                            </a:solidFill>
                          </a:endParaRPr>
                        </a:p>
                      </a:txBody>
                      <a:tcPr>
                        <a:solidFill>
                          <a:schemeClr val="bg2">
                            <a:lumMod val="60000"/>
                            <a:lumOff val="40000"/>
                          </a:schemeClr>
                        </a:solidFill>
                      </a:tcPr>
                    </a:tc>
                    <a:tc>
                      <a:txBody>
                        <a:bodyPr/>
                        <a:lstStyle/>
                        <a:p>
                          <a:r>
                            <a:rPr lang="en-US" sz="2400" dirty="0">
                              <a:solidFill>
                                <a:schemeClr val="tx1"/>
                              </a:solidFill>
                            </a:rPr>
                            <a:t>Existential generalization</a:t>
                          </a:r>
                        </a:p>
                      </a:txBody>
                      <a:tcPr>
                        <a:solidFill>
                          <a:schemeClr val="bg2">
                            <a:lumMod val="60000"/>
                            <a:lumOff val="4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626335438"/>
                  </p:ext>
                </p:extLst>
              </p:nvPr>
            </p:nvGraphicFramePr>
            <p:xfrm>
              <a:off x="457200" y="5114139"/>
              <a:ext cx="8128000" cy="891921"/>
            </p:xfrm>
            <a:graphic>
              <a:graphicData uri="http://schemas.openxmlformats.org/drawingml/2006/table">
                <a:tbl>
                  <a:tblPr firstRow="1" bandRow="1">
                    <a:tableStyleId>{5C22544A-7EE6-4342-B048-85BDC9FD1C3A}</a:tableStyleId>
                  </a:tblPr>
                  <a:tblGrid>
                    <a:gridCol w="4064000"/>
                    <a:gridCol w="4064000"/>
                  </a:tblGrid>
                  <a:tr h="891921">
                    <a:tc>
                      <a:txBody>
                        <a:bodyPr/>
                        <a:lstStyle/>
                        <a:p>
                          <a:endParaRPr lang="en-US"/>
                        </a:p>
                      </a:txBody>
                      <a:tcPr>
                        <a:blipFill rotWithShape="0">
                          <a:blip r:embed="rId5"/>
                          <a:stretch>
                            <a:fillRect l="-300" t="-4054" r="-100600" b="-10135"/>
                          </a:stretch>
                        </a:blipFill>
                      </a:tcPr>
                    </a:tc>
                    <a:tc>
                      <a:txBody>
                        <a:bodyPr/>
                        <a:lstStyle/>
                        <a:p>
                          <a:r>
                            <a:rPr lang="en-US" sz="2400" dirty="0" smtClean="0">
                              <a:solidFill>
                                <a:schemeClr val="tx1"/>
                              </a:solidFill>
                            </a:rPr>
                            <a:t>Existential generalization</a:t>
                          </a:r>
                          <a:endParaRPr lang="en-US" sz="2400" dirty="0">
                            <a:solidFill>
                              <a:schemeClr val="tx1"/>
                            </a:solidFill>
                          </a:endParaRPr>
                        </a:p>
                      </a:txBody>
                      <a:tcPr>
                        <a:solidFill>
                          <a:schemeClr val="bg2">
                            <a:lumMod val="60000"/>
                            <a:lumOff val="40000"/>
                          </a:schemeClr>
                        </a:solidFill>
                      </a:tcPr>
                    </a:tc>
                  </a:tr>
                </a:tbl>
              </a:graphicData>
            </a:graphic>
          </p:graphicFrame>
        </mc:Fallback>
      </mc:AlternateContent>
    </p:spTree>
    <p:extLst>
      <p:ext uri="{BB962C8B-B14F-4D97-AF65-F5344CB8AC3E}">
        <p14:creationId xmlns:p14="http://schemas.microsoft.com/office/powerpoint/2010/main" val="212022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p>
        </p:txBody>
      </p:sp>
      <p:sp>
        <p:nvSpPr>
          <p:cNvPr id="4" name="Date Placeholder 3"/>
          <p:cNvSpPr>
            <a:spLocks noGrp="1"/>
          </p:cNvSpPr>
          <p:nvPr>
            <p:ph type="dt" sz="half" idx="10"/>
          </p:nvPr>
        </p:nvSpPr>
        <p:spPr/>
        <p:txBody>
          <a:bodyPr/>
          <a:lstStyle/>
          <a:p>
            <a:fld id="{966B03F7-707D-40D7-9539-8F525F9FC2E8}"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18</a:t>
            </a:fld>
            <a:endParaRPr lang="en-US"/>
          </a:p>
        </p:txBody>
      </p:sp>
      <p:sp>
        <p:nvSpPr>
          <p:cNvPr id="7" name="Rectangle 6"/>
          <p:cNvSpPr/>
          <p:nvPr/>
        </p:nvSpPr>
        <p:spPr>
          <a:xfrm>
            <a:off x="457200" y="1676400"/>
            <a:ext cx="8106937" cy="923330"/>
          </a:xfrm>
          <a:prstGeom prst="rect">
            <a:avLst/>
          </a:prstGeom>
        </p:spPr>
        <p:txBody>
          <a:bodyPr wrap="square">
            <a:spAutoFit/>
          </a:bodyPr>
          <a:lstStyle/>
          <a:p>
            <a:r>
              <a:rPr lang="en-US" dirty="0"/>
              <a:t>Show that the premises “A student in this class has not read the book,” and “Everyone in this class passed the ﬁrst exam” imply the conclusion “Someone who passed the exam has not read the book.”</a:t>
            </a:r>
          </a:p>
        </p:txBody>
      </p:sp>
      <p:sp>
        <p:nvSpPr>
          <p:cNvPr id="8" name="Rectangle 7"/>
          <p:cNvSpPr/>
          <p:nvPr/>
        </p:nvSpPr>
        <p:spPr>
          <a:xfrm>
            <a:off x="76200" y="2630269"/>
            <a:ext cx="3505200" cy="1200329"/>
          </a:xfrm>
          <a:prstGeom prst="rect">
            <a:avLst/>
          </a:prstGeom>
        </p:spPr>
        <p:txBody>
          <a:bodyPr wrap="square">
            <a:spAutoFit/>
          </a:bodyPr>
          <a:lstStyle/>
          <a:p>
            <a:r>
              <a:rPr lang="en-US" b="1" dirty="0"/>
              <a:t>Solution:</a:t>
            </a:r>
            <a:r>
              <a:rPr lang="en-US" dirty="0"/>
              <a:t> </a:t>
            </a:r>
          </a:p>
          <a:p>
            <a:r>
              <a:rPr lang="en-US" dirty="0"/>
              <a:t>Let C(x) be “x is in this class,”</a:t>
            </a:r>
          </a:p>
          <a:p>
            <a:r>
              <a:rPr lang="en-US" dirty="0"/>
              <a:t>B(x) be “x has read the book,” and P(x) be “x passed the ﬁrst exam.”</a:t>
            </a:r>
          </a:p>
        </p:txBody>
      </p:sp>
      <mc:AlternateContent xmlns:mc="http://schemas.openxmlformats.org/markup-compatibility/2006" xmlns:a14="http://schemas.microsoft.com/office/drawing/2010/main">
        <mc:Choice Requires="a14">
          <p:sp>
            <p:nvSpPr>
              <p:cNvPr id="9" name="TextBox 8"/>
              <p:cNvSpPr txBox="1"/>
              <p:nvPr/>
            </p:nvSpPr>
            <p:spPr>
              <a:xfrm>
                <a:off x="457200" y="4267200"/>
                <a:ext cx="2743200" cy="1700274"/>
              </a:xfrm>
              <a:prstGeom prst="rect">
                <a:avLst/>
              </a:prstGeom>
              <a:noFill/>
            </p:spPr>
            <p:txBody>
              <a:bodyPr wrap="square" rtlCol="0">
                <a:spAutoFit/>
              </a:bodyPr>
              <a:lstStyle/>
              <a:p>
                <a:r>
                  <a:rPr lang="en-US" sz="2000" dirty="0"/>
                  <a:t>Then the argument </a:t>
                </a:r>
              </a:p>
              <a:p>
                <a:r>
                  <a:rPr lang="en-US" sz="2000" dirty="0"/>
                  <a:t>form is:</a:t>
                </a:r>
              </a:p>
              <a:p>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𝐶</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m:rPr>
                        <m:nor/>
                      </m:rPr>
                      <a:rPr lang="en-US" sz="2000" b="0" i="0" smtClean="0">
                        <a:latin typeface="Cambria Math" panose="02040503050406030204" pitchFamily="18" charset="0"/>
                        <a:ea typeface="Cambria Math" panose="02040503050406030204" pitchFamily="18" charset="0"/>
                      </a:rPr>
                      <m:t> </m:t>
                    </m:r>
                    <m:r>
                      <m:rPr>
                        <m:nor/>
                      </m:rPr>
                      <a:rPr lang="en-US" sz="2000" dirty="0"/>
                      <m:t>∧</m:t>
                    </m:r>
                    <m:r>
                      <m:rPr>
                        <m:nor/>
                      </m:rPr>
                      <a:rPr lang="en-US" sz="2000" b="0" i="0" dirty="0" smtClean="0"/>
                      <m:t> </m:t>
                    </m:r>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 </m:t>
                    </m:r>
                    <m:r>
                      <a:rPr lang="en-US" sz="2000" b="0" i="1" dirty="0" smtClean="0">
                        <a:latin typeface="Cambria Math" panose="02040503050406030204" pitchFamily="18" charset="0"/>
                        <a:ea typeface="Cambria Math" panose="02040503050406030204" pitchFamily="18" charset="0"/>
                      </a:rPr>
                      <m:t>𝐵</m:t>
                    </m:r>
                    <m:d>
                      <m:dPr>
                        <m:ctrlPr>
                          <a:rPr lang="en-US" sz="2000" b="0" i="1" dirty="0" smtClean="0">
                            <a:latin typeface="Cambria Math" panose="02040503050406030204" pitchFamily="18" charset="0"/>
                            <a:ea typeface="Cambria Math" panose="02040503050406030204" pitchFamily="18" charset="0"/>
                          </a:rPr>
                        </m:ctrlPr>
                      </m:dPr>
                      <m:e>
                        <m:r>
                          <a:rPr lang="en-US" sz="2000" b="0" i="1" dirty="0" smtClean="0">
                            <a:latin typeface="Cambria Math" panose="02040503050406030204" pitchFamily="18" charset="0"/>
                            <a:ea typeface="Cambria Math" panose="02040503050406030204" pitchFamily="18" charset="0"/>
                          </a:rPr>
                          <m:t>𝑥</m:t>
                        </m:r>
                      </m:e>
                    </m:d>
                    <m:r>
                      <a:rPr lang="en-US" sz="2000" b="0" i="1" dirty="0" smtClean="0">
                        <a:latin typeface="Cambria Math" panose="02040503050406030204" pitchFamily="18" charset="0"/>
                        <a:ea typeface="Cambria Math" panose="02040503050406030204" pitchFamily="18" charset="0"/>
                      </a:rPr>
                      <m:t>)</m:t>
                    </m:r>
                  </m:oMath>
                </a14:m>
                <a:r>
                  <a:rPr lang="en-US" sz="2000" dirty="0"/>
                  <a:t> </a:t>
                </a:r>
              </a:p>
              <a:p>
                <a:pPr/>
                <a14:m>
                  <m:oMathPara xmlns:m="http://schemas.openxmlformats.org/officeDocument/2006/math">
                    <m:oMathParaPr>
                      <m:jc m:val="left"/>
                    </m:oMathParaPr>
                    <m:oMath xmlns:m="http://schemas.openxmlformats.org/officeDocument/2006/math">
                      <m:bar>
                        <m:barPr>
                          <m:ctrlPr>
                            <a:rPr lang="en-US" sz="2000" i="1" smtClean="0">
                              <a:latin typeface="Cambria Math" panose="02040503050406030204" pitchFamily="18" charset="0"/>
                            </a:rPr>
                          </m:ctrlPr>
                        </m:barPr>
                        <m:e>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𝐶</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𝑃</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e>
                      </m:bar>
                    </m:oMath>
                  </m:oMathPara>
                </a14:m>
                <a:endParaRPr lang="en-US" sz="2000" dirty="0"/>
              </a:p>
              <a:p>
                <a:pPr/>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 ( </m:t>
                      </m:r>
                      <m:r>
                        <a:rPr lang="en-US" sz="2000" b="0" i="1" smtClean="0">
                          <a:latin typeface="Cambria Math" panose="02040503050406030204" pitchFamily="18" charset="0"/>
                          <a:ea typeface="Cambria Math" panose="02040503050406030204" pitchFamily="18" charset="0"/>
                        </a:rPr>
                        <m:t>𝑃</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m:rPr>
                          <m:nor/>
                        </m:rPr>
                        <a:rPr lang="en-US" sz="2000" dirty="0"/>
                        <m:t>∧ </m:t>
                      </m:r>
                      <m:r>
                        <a:rPr lang="en-US" sz="2000" i="1" dirty="0">
                          <a:latin typeface="Cambria Math" panose="02040503050406030204" pitchFamily="18" charset="0"/>
                          <a:ea typeface="Cambria Math" panose="02040503050406030204" pitchFamily="18" charset="0"/>
                        </a:rPr>
                        <m:t>¬ </m:t>
                      </m:r>
                      <m:r>
                        <a:rPr lang="en-US" sz="2000" i="1" dirty="0">
                          <a:latin typeface="Cambria Math" panose="02040503050406030204" pitchFamily="18" charset="0"/>
                          <a:ea typeface="Cambria Math" panose="02040503050406030204" pitchFamily="18" charset="0"/>
                        </a:rPr>
                        <m:t>𝐵</m:t>
                      </m:r>
                      <m:d>
                        <m:dPr>
                          <m:ctrlPr>
                            <a:rPr lang="en-US" sz="2000" i="1" dirty="0">
                              <a:latin typeface="Cambria Math" panose="02040503050406030204" pitchFamily="18" charset="0"/>
                              <a:ea typeface="Cambria Math" panose="02040503050406030204" pitchFamily="18" charset="0"/>
                            </a:rPr>
                          </m:ctrlPr>
                        </m:dPr>
                        <m:e>
                          <m:r>
                            <a:rPr lang="en-US" sz="2000" i="1" dirty="0">
                              <a:latin typeface="Cambria Math" panose="02040503050406030204" pitchFamily="18" charset="0"/>
                              <a:ea typeface="Cambria Math" panose="02040503050406030204" pitchFamily="18" charset="0"/>
                            </a:rPr>
                            <m:t>𝑥</m:t>
                          </m:r>
                        </m:e>
                      </m:d>
                      <m:r>
                        <a:rPr lang="en-US" sz="2000" i="1" dirty="0">
                          <a:latin typeface="Cambria Math" panose="02040503050406030204" pitchFamily="18" charset="0"/>
                          <a:ea typeface="Cambria Math" panose="02040503050406030204" pitchFamily="18" charset="0"/>
                        </a:rPr>
                        <m:t>)</m:t>
                      </m:r>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457200" y="4267200"/>
                <a:ext cx="2743200" cy="1700274"/>
              </a:xfrm>
              <a:prstGeom prst="rect">
                <a:avLst/>
              </a:prstGeom>
              <a:blipFill rotWithShape="0">
                <a:blip r:embed="rId2"/>
                <a:stretch>
                  <a:fillRect l="-2222" t="-1434" b="-32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556267041"/>
                  </p:ext>
                </p:extLst>
              </p:nvPr>
            </p:nvGraphicFramePr>
            <p:xfrm>
              <a:off x="3581400" y="2712004"/>
              <a:ext cx="5486400" cy="741680"/>
            </p:xfrm>
            <a:graphic>
              <a:graphicData uri="http://schemas.openxmlformats.org/drawingml/2006/table">
                <a:tbl>
                  <a:tblPr firstRow="1" bandRow="1">
                    <a:tableStyleId>{5C22544A-7EE6-4342-B048-85BDC9FD1C3A}</a:tableStyleId>
                  </a:tblPr>
                  <a:tblGrid>
                    <a:gridCol w="2429691">
                      <a:extLst>
                        <a:ext uri="{9D8B030D-6E8A-4147-A177-3AD203B41FA5}">
                          <a16:colId xmlns:a16="http://schemas.microsoft.com/office/drawing/2014/main" val="20000"/>
                        </a:ext>
                      </a:extLst>
                    </a:gridCol>
                    <a:gridCol w="3056709">
                      <a:extLst>
                        <a:ext uri="{9D8B030D-6E8A-4147-A177-3AD203B41FA5}">
                          <a16:colId xmlns:a16="http://schemas.microsoft.com/office/drawing/2014/main" val="20001"/>
                        </a:ext>
                      </a:extLst>
                    </a:gridCol>
                  </a:tblGrid>
                  <a:tr h="370840">
                    <a:tc>
                      <a:txBody>
                        <a:bodyPr/>
                        <a:lstStyle/>
                        <a:p>
                          <a:pPr algn="ctr"/>
                          <a:r>
                            <a:rPr lang="en-US" sz="1800" dirty="0"/>
                            <a:t>Step</a:t>
                          </a:r>
                        </a:p>
                      </a:txBody>
                      <a:tcPr/>
                    </a:tc>
                    <a:tc>
                      <a:txBody>
                        <a:bodyPr/>
                        <a:lstStyle/>
                        <a:p>
                          <a:pPr algn="ctr"/>
                          <a:r>
                            <a:rPr lang="en-US" sz="1800" dirty="0"/>
                            <a:t>Reason</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1.</m:t>
                                </m:r>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𝑥</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𝐶</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𝑥</m:t>
                                    </m:r>
                                  </m:e>
                                </m:d>
                                <m:r>
                                  <m:rPr>
                                    <m:nor/>
                                  </m:rPr>
                                  <a:rPr lang="en-US" sz="1800" b="0" i="0" smtClean="0">
                                    <a:latin typeface="Cambria Math" panose="02040503050406030204" pitchFamily="18" charset="0"/>
                                    <a:ea typeface="Cambria Math" panose="02040503050406030204" pitchFamily="18" charset="0"/>
                                  </a:rPr>
                                  <m:t> </m:t>
                                </m:r>
                                <m:r>
                                  <m:rPr>
                                    <m:nor/>
                                  </m:rPr>
                                  <a:rPr lang="en-US" sz="1800" dirty="0"/>
                                  <m:t>∧</m:t>
                                </m:r>
                                <m:r>
                                  <m:rPr>
                                    <m:nor/>
                                  </m:rPr>
                                  <a:rPr lang="en-US" sz="1800" b="0" i="0" dirty="0" smtClean="0"/>
                                  <m:t> </m:t>
                                </m:r>
                                <m:r>
                                  <a:rPr lang="en-US" sz="1800" i="1" dirty="0" smtClean="0">
                                    <a:latin typeface="Cambria Math" panose="02040503050406030204" pitchFamily="18" charset="0"/>
                                    <a:ea typeface="Cambria Math" panose="02040503050406030204" pitchFamily="18" charset="0"/>
                                  </a:rPr>
                                  <m:t>¬</m:t>
                                </m:r>
                                <m:r>
                                  <a:rPr lang="en-US" sz="1800" b="0" i="1" dirty="0" smtClean="0">
                                    <a:latin typeface="Cambria Math" panose="02040503050406030204" pitchFamily="18" charset="0"/>
                                    <a:ea typeface="Cambria Math" panose="02040503050406030204" pitchFamily="18" charset="0"/>
                                  </a:rPr>
                                  <m:t> </m:t>
                                </m:r>
                                <m:r>
                                  <a:rPr lang="en-US" sz="1800" b="0" i="1" dirty="0" smtClean="0">
                                    <a:latin typeface="Cambria Math" panose="02040503050406030204" pitchFamily="18" charset="0"/>
                                    <a:ea typeface="Cambria Math" panose="02040503050406030204" pitchFamily="18" charset="0"/>
                                  </a:rPr>
                                  <m:t>𝐵</m:t>
                                </m:r>
                                <m:d>
                                  <m:dPr>
                                    <m:ctrlPr>
                                      <a:rPr lang="en-US" sz="1800" b="0" i="1" dirty="0" smtClean="0">
                                        <a:latin typeface="Cambria Math" panose="02040503050406030204" pitchFamily="18" charset="0"/>
                                        <a:ea typeface="Cambria Math" panose="02040503050406030204" pitchFamily="18" charset="0"/>
                                      </a:rPr>
                                    </m:ctrlPr>
                                  </m:dPr>
                                  <m:e>
                                    <m:r>
                                      <a:rPr lang="en-US" sz="1800" b="0" i="1" dirty="0" smtClean="0">
                                        <a:latin typeface="Cambria Math" panose="02040503050406030204" pitchFamily="18" charset="0"/>
                                        <a:ea typeface="Cambria Math" panose="02040503050406030204" pitchFamily="18" charset="0"/>
                                      </a:rPr>
                                      <m:t>𝑥</m:t>
                                    </m:r>
                                  </m:e>
                                </m:d>
                                <m:r>
                                  <a:rPr lang="en-US" sz="1800" b="0" i="1" dirty="0" smtClean="0">
                                    <a:latin typeface="Cambria Math" panose="02040503050406030204" pitchFamily="18" charset="0"/>
                                    <a:ea typeface="Cambria Math" panose="02040503050406030204" pitchFamily="18" charset="0"/>
                                  </a:rPr>
                                  <m:t>)</m:t>
                                </m:r>
                              </m:oMath>
                            </m:oMathPara>
                          </a14:m>
                          <a:endParaRPr lang="en-US" sz="1800" dirty="0"/>
                        </a:p>
                      </a:txBody>
                      <a:tcPr>
                        <a:solidFill>
                          <a:schemeClr val="bg2">
                            <a:lumMod val="40000"/>
                            <a:lumOff val="60000"/>
                          </a:schemeClr>
                        </a:solidFill>
                      </a:tcPr>
                    </a:tc>
                    <a:tc>
                      <a:txBody>
                        <a:bodyPr/>
                        <a:lstStyle/>
                        <a:p>
                          <a:r>
                            <a:rPr lang="en-US" sz="1600" dirty="0"/>
                            <a:t>Premise</a:t>
                          </a:r>
                        </a:p>
                      </a:txBody>
                      <a:tcPr>
                        <a:solidFill>
                          <a:schemeClr val="bg2">
                            <a:lumMod val="40000"/>
                            <a:lumOff val="6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556267041"/>
                  </p:ext>
                </p:extLst>
              </p:nvPr>
            </p:nvGraphicFramePr>
            <p:xfrm>
              <a:off x="3581400" y="2712004"/>
              <a:ext cx="5486400" cy="741680"/>
            </p:xfrm>
            <a:graphic>
              <a:graphicData uri="http://schemas.openxmlformats.org/drawingml/2006/table">
                <a:tbl>
                  <a:tblPr firstRow="1" bandRow="1">
                    <a:tableStyleId>{5C22544A-7EE6-4342-B048-85BDC9FD1C3A}</a:tableStyleId>
                  </a:tblPr>
                  <a:tblGrid>
                    <a:gridCol w="2429691"/>
                    <a:gridCol w="3056709"/>
                  </a:tblGrid>
                  <a:tr h="370840">
                    <a:tc>
                      <a:txBody>
                        <a:bodyPr/>
                        <a:lstStyle/>
                        <a:p>
                          <a:pPr algn="ctr"/>
                          <a:r>
                            <a:rPr lang="en-US" sz="1800" dirty="0" smtClean="0"/>
                            <a:t>Step</a:t>
                          </a:r>
                          <a:endParaRPr lang="en-US" sz="1800" dirty="0"/>
                        </a:p>
                      </a:txBody>
                      <a:tcPr/>
                    </a:tc>
                    <a:tc>
                      <a:txBody>
                        <a:bodyPr/>
                        <a:lstStyle/>
                        <a:p>
                          <a:pPr algn="ctr"/>
                          <a:r>
                            <a:rPr lang="en-US" sz="1800" dirty="0" smtClean="0"/>
                            <a:t>Reason</a:t>
                          </a:r>
                          <a:endParaRPr lang="en-US" sz="1800" dirty="0"/>
                        </a:p>
                      </a:txBody>
                      <a:tcPr/>
                    </a:tc>
                  </a:tr>
                  <a:tr h="370840">
                    <a:tc>
                      <a:txBody>
                        <a:bodyPr/>
                        <a:lstStyle/>
                        <a:p>
                          <a:endParaRPr lang="en-US"/>
                        </a:p>
                      </a:txBody>
                      <a:tcPr>
                        <a:blipFill rotWithShape="0">
                          <a:blip r:embed="rId3"/>
                          <a:stretch>
                            <a:fillRect l="-251" t="-109836" r="-126817" b="-13115"/>
                          </a:stretch>
                        </a:blipFill>
                      </a:tcPr>
                    </a:tc>
                    <a:tc>
                      <a:txBody>
                        <a:bodyPr/>
                        <a:lstStyle/>
                        <a:p>
                          <a:r>
                            <a:rPr lang="en-US" sz="1600" dirty="0" smtClean="0"/>
                            <a:t>Premise</a:t>
                          </a:r>
                          <a:endParaRPr lang="en-US" sz="1600" dirty="0"/>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2480169813"/>
                  </p:ext>
                </p:extLst>
              </p:nvPr>
            </p:nvGraphicFramePr>
            <p:xfrm>
              <a:off x="3581400" y="3479442"/>
              <a:ext cx="5486400" cy="370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2.</m:t>
                                </m:r>
                                <m:r>
                                  <a:rPr lang="en-GB" sz="1800"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𝐶</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m:t>
                                </m:r>
                                <m:r>
                                  <m:rPr>
                                    <m:nor/>
                                  </m:rPr>
                                  <a:rPr lang="en-US" b="0" i="0" smtClean="0">
                                    <a:solidFill>
                                      <a:schemeClr val="tx1"/>
                                    </a:solidFill>
                                    <a:latin typeface="Cambria Math" panose="02040503050406030204" pitchFamily="18" charset="0"/>
                                  </a:rPr>
                                  <m:t> </m:t>
                                </m:r>
                                <m:r>
                                  <m:rPr>
                                    <m:nor/>
                                  </m:rPr>
                                  <a:rPr lang="en-US" sz="1800" dirty="0" smtClean="0">
                                    <a:solidFill>
                                      <a:schemeClr val="tx1"/>
                                    </a:solidFill>
                                  </a:rPr>
                                  <m:t>∧</m:t>
                                </m:r>
                                <m:r>
                                  <m:rPr>
                                    <m:nor/>
                                  </m:rPr>
                                  <a:rPr lang="en-US" sz="1800" b="0" i="0" dirty="0" smtClean="0">
                                    <a:solidFill>
                                      <a:schemeClr val="tx1"/>
                                    </a:solidFill>
                                  </a:rPr>
                                  <m:t> </m:t>
                                </m:r>
                                <m:r>
                                  <a:rPr lang="en-US" sz="1800" i="1" dirty="0" smtClean="0">
                                    <a:solidFill>
                                      <a:schemeClr val="tx1"/>
                                    </a:solidFill>
                                    <a:latin typeface="Cambria Math" panose="02040503050406030204" pitchFamily="18" charset="0"/>
                                    <a:ea typeface="Cambria Math" panose="02040503050406030204" pitchFamily="18" charset="0"/>
                                  </a:rPr>
                                  <m:t>¬</m:t>
                                </m:r>
                                <m:r>
                                  <a:rPr lang="en-US" sz="1800" b="0" i="1" dirty="0" smtClean="0">
                                    <a:solidFill>
                                      <a:schemeClr val="tx1"/>
                                    </a:solidFill>
                                    <a:latin typeface="Cambria Math" panose="02040503050406030204" pitchFamily="18" charset="0"/>
                                    <a:ea typeface="Cambria Math" panose="02040503050406030204" pitchFamily="18" charset="0"/>
                                  </a:rPr>
                                  <m:t> </m:t>
                                </m:r>
                                <m:r>
                                  <a:rPr lang="en-US" sz="1800" b="0" i="1" dirty="0" smtClean="0">
                                    <a:solidFill>
                                      <a:schemeClr val="tx1"/>
                                    </a:solidFill>
                                    <a:latin typeface="Cambria Math" panose="02040503050406030204" pitchFamily="18" charset="0"/>
                                    <a:ea typeface="Cambria Math" panose="02040503050406030204" pitchFamily="18" charset="0"/>
                                  </a:rPr>
                                  <m:t>𝐵</m:t>
                                </m:r>
                                <m:d>
                                  <m:dPr>
                                    <m:ctrlPr>
                                      <a:rPr lang="en-US" sz="1800" b="0" i="1" dirty="0" smtClean="0">
                                        <a:solidFill>
                                          <a:schemeClr val="tx1"/>
                                        </a:solidFill>
                                        <a:latin typeface="Cambria Math" panose="02040503050406030204" pitchFamily="18" charset="0"/>
                                        <a:ea typeface="Cambria Math" panose="02040503050406030204" pitchFamily="18" charset="0"/>
                                      </a:rPr>
                                    </m:ctrlPr>
                                  </m:dPr>
                                  <m:e>
                                    <m:r>
                                      <a:rPr lang="en-US" sz="1800" b="0" i="1" dirty="0" smtClean="0">
                                        <a:solidFill>
                                          <a:schemeClr val="tx1"/>
                                        </a:solidFill>
                                        <a:latin typeface="Cambria Math" panose="02040503050406030204" pitchFamily="18" charset="0"/>
                                        <a:ea typeface="Cambria Math" panose="02040503050406030204" pitchFamily="18" charset="0"/>
                                      </a:rPr>
                                      <m:t>𝑎</m:t>
                                    </m:r>
                                  </m:e>
                                </m:d>
                              </m:oMath>
                            </m:oMathPara>
                          </a14:m>
                          <a:endParaRPr lang="en-US" sz="1800" dirty="0"/>
                        </a:p>
                      </a:txBody>
                      <a:tcPr>
                        <a:solidFill>
                          <a:schemeClr val="bg2">
                            <a:lumMod val="40000"/>
                            <a:lumOff val="60000"/>
                          </a:schemeClr>
                        </a:solidFill>
                      </a:tcPr>
                    </a:tc>
                    <a:tc>
                      <a:txBody>
                        <a:bodyPr/>
                        <a:lstStyle/>
                        <a:p>
                          <a:r>
                            <a:rPr lang="en-US" sz="1600" b="0" dirty="0">
                              <a:solidFill>
                                <a:schemeClr val="tx1"/>
                              </a:solidFill>
                            </a:rPr>
                            <a:t>Existential instantiation from (1) </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2480169813"/>
                  </p:ext>
                </p:extLst>
              </p:nvPr>
            </p:nvGraphicFramePr>
            <p:xfrm>
              <a:off x="3581400" y="3479442"/>
              <a:ext cx="5486400" cy="370840"/>
            </p:xfrm>
            <a:graphic>
              <a:graphicData uri="http://schemas.openxmlformats.org/drawingml/2006/table">
                <a:tbl>
                  <a:tblPr firstRow="1" bandRow="1">
                    <a:tableStyleId>{5C22544A-7EE6-4342-B048-85BDC9FD1C3A}</a:tableStyleId>
                  </a:tblPr>
                  <a:tblGrid>
                    <a:gridCol w="2438400"/>
                    <a:gridCol w="3048000"/>
                  </a:tblGrid>
                  <a:tr h="370840">
                    <a:tc>
                      <a:txBody>
                        <a:bodyPr/>
                        <a:lstStyle/>
                        <a:p>
                          <a:endParaRPr lang="en-US"/>
                        </a:p>
                      </a:txBody>
                      <a:tcPr>
                        <a:blipFill rotWithShape="0">
                          <a:blip r:embed="rId4"/>
                          <a:stretch>
                            <a:fillRect l="-250" t="-3226" r="-126250" b="-12903"/>
                          </a:stretch>
                        </a:blipFill>
                      </a:tcPr>
                    </a:tc>
                    <a:tc>
                      <a:txBody>
                        <a:bodyPr/>
                        <a:lstStyle/>
                        <a:p>
                          <a:r>
                            <a:rPr lang="en-US" sz="1600" b="0" dirty="0" smtClean="0">
                              <a:solidFill>
                                <a:schemeClr val="tx1"/>
                              </a:solidFill>
                            </a:rPr>
                            <a:t>Existential instantiation from (1) </a:t>
                          </a:r>
                          <a:endParaRPr lang="en-US" sz="1600" b="0" dirty="0" smtClean="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p:cNvGraphicFramePr>
                <a:graphicFrameLocks noGrp="1"/>
              </p:cNvGraphicFramePr>
              <p:nvPr>
                <p:extLst>
                  <p:ext uri="{D42A27DB-BD31-4B8C-83A1-F6EECF244321}">
                    <p14:modId xmlns:p14="http://schemas.microsoft.com/office/powerpoint/2010/main" val="1052514272"/>
                  </p:ext>
                </p:extLst>
              </p:nvPr>
            </p:nvGraphicFramePr>
            <p:xfrm>
              <a:off x="3581400" y="3857723"/>
              <a:ext cx="5486400" cy="370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3.</m:t>
                                </m:r>
                                <m:r>
                                  <a:rPr lang="en-GB" sz="1800"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𝐶</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m:t>
                                </m:r>
                                <m:r>
                                  <m:rPr>
                                    <m:nor/>
                                  </m:rPr>
                                  <a:rPr lang="en-US" b="0" i="0" smtClean="0">
                                    <a:solidFill>
                                      <a:schemeClr val="tx1"/>
                                    </a:solidFill>
                                    <a:latin typeface="Cambria Math" panose="02040503050406030204" pitchFamily="18" charset="0"/>
                                  </a:rPr>
                                  <m:t> </m:t>
                                </m:r>
                              </m:oMath>
                            </m:oMathPara>
                          </a14:m>
                          <a:endParaRPr lang="en-US" sz="1800" dirty="0"/>
                        </a:p>
                      </a:txBody>
                      <a:tcPr>
                        <a:solidFill>
                          <a:schemeClr val="bg2">
                            <a:lumMod val="40000"/>
                            <a:lumOff val="60000"/>
                          </a:schemeClr>
                        </a:solidFill>
                      </a:tcPr>
                    </a:tc>
                    <a:tc>
                      <a:txBody>
                        <a:bodyPr/>
                        <a:lstStyle/>
                        <a:p>
                          <a:r>
                            <a:rPr lang="en-US" sz="1600" b="0" dirty="0">
                              <a:solidFill>
                                <a:schemeClr val="tx1"/>
                              </a:solidFill>
                            </a:rPr>
                            <a:t>Simpliﬁcation from (2)  </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8" name="Table 17"/>
              <p:cNvGraphicFramePr>
                <a:graphicFrameLocks noGrp="1"/>
              </p:cNvGraphicFramePr>
              <p:nvPr>
                <p:extLst>
                  <p:ext uri="{D42A27DB-BD31-4B8C-83A1-F6EECF244321}">
                    <p14:modId xmlns:p14="http://schemas.microsoft.com/office/powerpoint/2010/main" val="1052514272"/>
                  </p:ext>
                </p:extLst>
              </p:nvPr>
            </p:nvGraphicFramePr>
            <p:xfrm>
              <a:off x="3581400" y="3857723"/>
              <a:ext cx="5486400" cy="370840"/>
            </p:xfrm>
            <a:graphic>
              <a:graphicData uri="http://schemas.openxmlformats.org/drawingml/2006/table">
                <a:tbl>
                  <a:tblPr firstRow="1" bandRow="1">
                    <a:tableStyleId>{5C22544A-7EE6-4342-B048-85BDC9FD1C3A}</a:tableStyleId>
                  </a:tblPr>
                  <a:tblGrid>
                    <a:gridCol w="2438400"/>
                    <a:gridCol w="3048000"/>
                  </a:tblGrid>
                  <a:tr h="370840">
                    <a:tc>
                      <a:txBody>
                        <a:bodyPr/>
                        <a:lstStyle/>
                        <a:p>
                          <a:endParaRPr lang="en-US"/>
                        </a:p>
                      </a:txBody>
                      <a:tcPr>
                        <a:blipFill rotWithShape="0">
                          <a:blip r:embed="rId5"/>
                          <a:stretch>
                            <a:fillRect l="-250" t="-3226" r="-126250" b="-12903"/>
                          </a:stretch>
                        </a:blipFill>
                      </a:tcPr>
                    </a:tc>
                    <a:tc>
                      <a:txBody>
                        <a:bodyPr/>
                        <a:lstStyle/>
                        <a:p>
                          <a:r>
                            <a:rPr lang="en-US" sz="1600" b="0" dirty="0" smtClean="0">
                              <a:solidFill>
                                <a:schemeClr val="tx1"/>
                              </a:solidFill>
                            </a:rPr>
                            <a:t>Simpliﬁcation from (2)  </a:t>
                          </a:r>
                          <a:endParaRPr lang="en-US" sz="1600" b="0" dirty="0" smtClean="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9" name="Table 18"/>
              <p:cNvGraphicFramePr>
                <a:graphicFrameLocks noGrp="1"/>
              </p:cNvGraphicFramePr>
              <p:nvPr>
                <p:extLst>
                  <p:ext uri="{D42A27DB-BD31-4B8C-83A1-F6EECF244321}">
                    <p14:modId xmlns:p14="http://schemas.microsoft.com/office/powerpoint/2010/main" val="3279617936"/>
                  </p:ext>
                </p:extLst>
              </p:nvPr>
            </p:nvGraphicFramePr>
            <p:xfrm>
              <a:off x="3581400" y="4241442"/>
              <a:ext cx="5486400" cy="370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4.</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𝑥</m:t>
                                </m:r>
                                <m:r>
                                  <a:rPr lang="en-GB" sz="1800" b="0" i="1" smtClean="0">
                                    <a:solidFill>
                                      <a:schemeClr val="tx1"/>
                                    </a:solidFill>
                                    <a:latin typeface="Cambria Math" panose="02040503050406030204" pitchFamily="18" charset="0"/>
                                  </a:rPr>
                                  <m:t> (</m:t>
                                </m:r>
                                <m:r>
                                  <a:rPr lang="en-GB" sz="1800" b="0" i="1" smtClean="0">
                                    <a:solidFill>
                                      <a:schemeClr val="tx1"/>
                                    </a:solidFill>
                                    <a:latin typeface="Cambria Math" panose="02040503050406030204" pitchFamily="18" charset="0"/>
                                  </a:rPr>
                                  <m:t>𝐶</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𝑥</m:t>
                                </m:r>
                                <m:r>
                                  <a:rPr lang="en-GB" sz="1800" b="0" i="1" smtClean="0">
                                    <a:solidFill>
                                      <a:schemeClr val="tx1"/>
                                    </a:solidFill>
                                    <a:latin typeface="Cambria Math" panose="02040503050406030204" pitchFamily="18" charset="0"/>
                                  </a:rPr>
                                  <m:t>)  →</m:t>
                                </m:r>
                                <m:r>
                                  <a:rPr lang="en-GB" sz="1800" b="0" i="1" smtClean="0">
                                    <a:solidFill>
                                      <a:schemeClr val="tx1"/>
                                    </a:solidFill>
                                    <a:latin typeface="Cambria Math" panose="02040503050406030204" pitchFamily="18" charset="0"/>
                                  </a:rPr>
                                  <m:t>𝑃</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𝑥</m:t>
                                </m:r>
                                <m:r>
                                  <a:rPr lang="en-GB" sz="1800" b="0" i="1" smtClean="0">
                                    <a:solidFill>
                                      <a:schemeClr val="tx1"/>
                                    </a:solidFill>
                                    <a:latin typeface="Cambria Math" panose="02040503050406030204" pitchFamily="18" charset="0"/>
                                  </a:rPr>
                                  <m:t>))</m:t>
                                </m:r>
                              </m:oMath>
                            </m:oMathPara>
                          </a14:m>
                          <a:endParaRPr lang="en-US" sz="1800" dirty="0"/>
                        </a:p>
                      </a:txBody>
                      <a:tcPr>
                        <a:solidFill>
                          <a:schemeClr val="bg2">
                            <a:lumMod val="40000"/>
                            <a:lumOff val="60000"/>
                          </a:schemeClr>
                        </a:solidFill>
                      </a:tcPr>
                    </a:tc>
                    <a:tc>
                      <a:txBody>
                        <a:bodyPr/>
                        <a:lstStyle/>
                        <a:p>
                          <a:r>
                            <a:rPr lang="en-US" sz="1600" b="0" dirty="0">
                              <a:solidFill>
                                <a:schemeClr val="tx1"/>
                              </a:solidFill>
                            </a:rPr>
                            <a:t>Premise  </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9" name="Table 18"/>
              <p:cNvGraphicFramePr>
                <a:graphicFrameLocks noGrp="1"/>
              </p:cNvGraphicFramePr>
              <p:nvPr>
                <p:extLst>
                  <p:ext uri="{D42A27DB-BD31-4B8C-83A1-F6EECF244321}">
                    <p14:modId xmlns:p14="http://schemas.microsoft.com/office/powerpoint/2010/main" val="3279617936"/>
                  </p:ext>
                </p:extLst>
              </p:nvPr>
            </p:nvGraphicFramePr>
            <p:xfrm>
              <a:off x="3581400" y="4241442"/>
              <a:ext cx="5486400" cy="370840"/>
            </p:xfrm>
            <a:graphic>
              <a:graphicData uri="http://schemas.openxmlformats.org/drawingml/2006/table">
                <a:tbl>
                  <a:tblPr firstRow="1" bandRow="1">
                    <a:tableStyleId>{5C22544A-7EE6-4342-B048-85BDC9FD1C3A}</a:tableStyleId>
                  </a:tblPr>
                  <a:tblGrid>
                    <a:gridCol w="2438400"/>
                    <a:gridCol w="3048000"/>
                  </a:tblGrid>
                  <a:tr h="370840">
                    <a:tc>
                      <a:txBody>
                        <a:bodyPr/>
                        <a:lstStyle/>
                        <a:p>
                          <a:endParaRPr lang="en-US"/>
                        </a:p>
                      </a:txBody>
                      <a:tcPr>
                        <a:blipFill rotWithShape="0">
                          <a:blip r:embed="rId6"/>
                          <a:stretch>
                            <a:fillRect l="-250" t="-3226" r="-126250" b="-12903"/>
                          </a:stretch>
                        </a:blipFill>
                      </a:tcPr>
                    </a:tc>
                    <a:tc>
                      <a:txBody>
                        <a:bodyPr/>
                        <a:lstStyle/>
                        <a:p>
                          <a:r>
                            <a:rPr lang="en-US" sz="1600" b="0" dirty="0" smtClean="0">
                              <a:solidFill>
                                <a:schemeClr val="tx1"/>
                              </a:solidFill>
                            </a:rPr>
                            <a:t>Premise  </a:t>
                          </a:r>
                          <a:endParaRPr lang="en-US" sz="1600" b="0" dirty="0" smtClean="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0" name="Table 19"/>
              <p:cNvGraphicFramePr>
                <a:graphicFrameLocks noGrp="1"/>
              </p:cNvGraphicFramePr>
              <p:nvPr>
                <p:extLst>
                  <p:ext uri="{D42A27DB-BD31-4B8C-83A1-F6EECF244321}">
                    <p14:modId xmlns:p14="http://schemas.microsoft.com/office/powerpoint/2010/main" val="1390724519"/>
                  </p:ext>
                </p:extLst>
              </p:nvPr>
            </p:nvGraphicFramePr>
            <p:xfrm>
              <a:off x="3581400" y="4619723"/>
              <a:ext cx="5486400" cy="370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5.</m:t>
                                </m:r>
                                <m:r>
                                  <a:rPr lang="en-GB" sz="1800" b="0" i="1" smtClean="0">
                                    <a:solidFill>
                                      <a:schemeClr val="tx1"/>
                                    </a:solidFill>
                                    <a:latin typeface="Cambria Math" panose="02040503050406030204" pitchFamily="18" charset="0"/>
                                  </a:rPr>
                                  <m:t>𝐶</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𝑎</m:t>
                                </m:r>
                                <m:r>
                                  <a:rPr lang="en-GB" sz="1800" b="0" i="1" smtClean="0">
                                    <a:solidFill>
                                      <a:schemeClr val="tx1"/>
                                    </a:solidFill>
                                    <a:latin typeface="Cambria Math" panose="02040503050406030204" pitchFamily="18" charset="0"/>
                                  </a:rPr>
                                  <m:t>)  →</m:t>
                                </m:r>
                                <m:r>
                                  <a:rPr lang="en-GB" sz="1800" b="0" i="1" smtClean="0">
                                    <a:solidFill>
                                      <a:schemeClr val="tx1"/>
                                    </a:solidFill>
                                    <a:latin typeface="Cambria Math" panose="02040503050406030204" pitchFamily="18" charset="0"/>
                                  </a:rPr>
                                  <m:t>𝑃</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𝑎</m:t>
                                </m:r>
                                <m:r>
                                  <a:rPr lang="en-GB" sz="1800" b="0" i="1" smtClean="0">
                                    <a:solidFill>
                                      <a:schemeClr val="tx1"/>
                                    </a:solidFill>
                                    <a:latin typeface="Cambria Math" panose="02040503050406030204" pitchFamily="18" charset="0"/>
                                  </a:rPr>
                                  <m:t>)</m:t>
                                </m:r>
                              </m:oMath>
                            </m:oMathPara>
                          </a14:m>
                          <a:endParaRPr/>
                        </a:p>
                      </a:txBody>
                      <a:tcPr>
                        <a:solidFill>
                          <a:schemeClr val="bg2">
                            <a:lumMod val="40000"/>
                            <a:lumOff val="60000"/>
                          </a:schemeClr>
                        </a:solidFill>
                      </a:tcPr>
                    </a:tc>
                    <a:tc>
                      <a:txBody>
                        <a:bodyPr/>
                        <a:lstStyle/>
                        <a:p>
                          <a:r>
                            <a:rPr lang="en-US" sz="1600" b="0" dirty="0">
                              <a:solidFill>
                                <a:schemeClr val="tx1"/>
                              </a:solidFill>
                            </a:rPr>
                            <a:t>Universal instantiation from (4)</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20" name="Table 19"/>
              <p:cNvGraphicFramePr>
                <a:graphicFrameLocks noGrp="1"/>
              </p:cNvGraphicFramePr>
              <p:nvPr>
                <p:extLst>
                  <p:ext uri="{D42A27DB-BD31-4B8C-83A1-F6EECF244321}">
                    <p14:modId xmlns:p14="http://schemas.microsoft.com/office/powerpoint/2010/main" val="1390724519"/>
                  </p:ext>
                </p:extLst>
              </p:nvPr>
            </p:nvGraphicFramePr>
            <p:xfrm>
              <a:off x="3581400" y="4619723"/>
              <a:ext cx="5486400" cy="370840"/>
            </p:xfrm>
            <a:graphic>
              <a:graphicData uri="http://schemas.openxmlformats.org/drawingml/2006/table">
                <a:tbl>
                  <a:tblPr firstRow="1" bandRow="1">
                    <a:tableStyleId>{5C22544A-7EE6-4342-B048-85BDC9FD1C3A}</a:tableStyleId>
                  </a:tblPr>
                  <a:tblGrid>
                    <a:gridCol w="2438400"/>
                    <a:gridCol w="3048000"/>
                  </a:tblGrid>
                  <a:tr h="370840">
                    <a:tc>
                      <a:txBody>
                        <a:bodyPr/>
                        <a:lstStyle/>
                        <a:p>
                          <a:endParaRPr lang="en-US"/>
                        </a:p>
                      </a:txBody>
                      <a:tcPr>
                        <a:blipFill rotWithShape="0">
                          <a:blip r:embed="rId7"/>
                          <a:stretch>
                            <a:fillRect l="-250" t="-9677" r="-126250" b="-22581"/>
                          </a:stretch>
                        </a:blipFill>
                      </a:tcPr>
                    </a:tc>
                    <a:tc>
                      <a:txBody>
                        <a:bodyPr/>
                        <a:lstStyle/>
                        <a:p>
                          <a:r>
                            <a:rPr lang="en-US" sz="1600" b="0" dirty="0" smtClean="0">
                              <a:solidFill>
                                <a:schemeClr val="tx1"/>
                              </a:solidFill>
                            </a:rPr>
                            <a:t>Universal instantiation from (4)</a:t>
                          </a:r>
                          <a:endParaRPr lang="en-US" sz="1600" b="0" dirty="0" smtClean="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1" name="Table 20"/>
              <p:cNvGraphicFramePr>
                <a:graphicFrameLocks noGrp="1"/>
              </p:cNvGraphicFramePr>
              <p:nvPr>
                <p:extLst>
                  <p:ext uri="{D42A27DB-BD31-4B8C-83A1-F6EECF244321}">
                    <p14:modId xmlns:p14="http://schemas.microsoft.com/office/powerpoint/2010/main" val="2997765320"/>
                  </p:ext>
                </p:extLst>
              </p:nvPr>
            </p:nvGraphicFramePr>
            <p:xfrm>
              <a:off x="3581400" y="5000723"/>
              <a:ext cx="5486400" cy="370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6.</m:t>
                                </m:r>
                                <m:r>
                                  <a:rPr lang="en-GB" sz="1800" b="0" i="1" smtClean="0">
                                    <a:solidFill>
                                      <a:schemeClr val="tx1"/>
                                    </a:solidFill>
                                    <a:latin typeface="Cambria Math" panose="02040503050406030204" pitchFamily="18" charset="0"/>
                                  </a:rPr>
                                  <m:t>  </m:t>
                                </m:r>
                                <m:r>
                                  <a:rPr lang="en-GB" sz="1800" b="0" i="1" smtClean="0">
                                    <a:solidFill>
                                      <a:schemeClr val="tx1"/>
                                    </a:solidFill>
                                    <a:latin typeface="Cambria Math" panose="02040503050406030204" pitchFamily="18" charset="0"/>
                                  </a:rPr>
                                  <m:t>𝑃</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𝑎</m:t>
                                </m:r>
                                <m:r>
                                  <a:rPr lang="en-GB" sz="1800" b="0" i="1" smtClean="0">
                                    <a:solidFill>
                                      <a:schemeClr val="tx1"/>
                                    </a:solidFill>
                                    <a:latin typeface="Cambria Math" panose="02040503050406030204" pitchFamily="18" charset="0"/>
                                  </a:rPr>
                                  <m:t>)</m:t>
                                </m:r>
                              </m:oMath>
                            </m:oMathPara>
                          </a14:m>
                          <a:endParaRPr dirty="0"/>
                        </a:p>
                      </a:txBody>
                      <a:tcPr>
                        <a:solidFill>
                          <a:schemeClr val="bg2">
                            <a:lumMod val="40000"/>
                            <a:lumOff val="60000"/>
                          </a:schemeClr>
                        </a:solidFill>
                      </a:tcPr>
                    </a:tc>
                    <a:tc>
                      <a:txBody>
                        <a:bodyPr/>
                        <a:lstStyle/>
                        <a:p>
                          <a:r>
                            <a:rPr lang="en-GB" sz="1600" b="0" dirty="0">
                              <a:solidFill>
                                <a:schemeClr val="tx1"/>
                              </a:solidFill>
                            </a:rPr>
                            <a:t>Modus ponens from (3) and (5)</a:t>
                          </a:r>
                          <a:endParaRPr lang="en-US" sz="1600" b="0" dirty="0">
                            <a:solidFill>
                              <a:schemeClr val="tx1"/>
                            </a:solidFill>
                          </a:endParaRP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21" name="Table 20"/>
              <p:cNvGraphicFramePr>
                <a:graphicFrameLocks noGrp="1"/>
              </p:cNvGraphicFramePr>
              <p:nvPr>
                <p:extLst>
                  <p:ext uri="{D42A27DB-BD31-4B8C-83A1-F6EECF244321}">
                    <p14:modId xmlns:p14="http://schemas.microsoft.com/office/powerpoint/2010/main" val="2997765320"/>
                  </p:ext>
                </p:extLst>
              </p:nvPr>
            </p:nvGraphicFramePr>
            <p:xfrm>
              <a:off x="3581400" y="5000723"/>
              <a:ext cx="5486400" cy="370840"/>
            </p:xfrm>
            <a:graphic>
              <a:graphicData uri="http://schemas.openxmlformats.org/drawingml/2006/table">
                <a:tbl>
                  <a:tblPr firstRow="1" bandRow="1">
                    <a:tableStyleId>{5C22544A-7EE6-4342-B048-85BDC9FD1C3A}</a:tableStyleId>
                  </a:tblPr>
                  <a:tblGrid>
                    <a:gridCol w="2438400"/>
                    <a:gridCol w="3048000"/>
                  </a:tblGrid>
                  <a:tr h="370840">
                    <a:tc>
                      <a:txBody>
                        <a:bodyPr/>
                        <a:lstStyle/>
                        <a:p>
                          <a:endParaRPr lang="en-US"/>
                        </a:p>
                      </a:txBody>
                      <a:tcPr>
                        <a:blipFill rotWithShape="0">
                          <a:blip r:embed="rId8"/>
                          <a:stretch>
                            <a:fillRect l="-250" t="-4839" r="-126250" b="-12903"/>
                          </a:stretch>
                        </a:blipFill>
                      </a:tcPr>
                    </a:tc>
                    <a:tc>
                      <a:txBody>
                        <a:bodyPr/>
                        <a:lstStyle/>
                        <a:p>
                          <a:r>
                            <a:rPr lang="en-GB" sz="1600" b="0" dirty="0" smtClean="0">
                              <a:solidFill>
                                <a:schemeClr val="tx1"/>
                              </a:solidFill>
                            </a:rPr>
                            <a:t>Modus ponens from (3) and (5)</a:t>
                          </a:r>
                          <a:endParaRPr lang="en-US" sz="1600" b="0" dirty="0" smtClean="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2" name="Table 21"/>
              <p:cNvGraphicFramePr>
                <a:graphicFrameLocks noGrp="1"/>
              </p:cNvGraphicFramePr>
              <p:nvPr>
                <p:extLst>
                  <p:ext uri="{D42A27DB-BD31-4B8C-83A1-F6EECF244321}">
                    <p14:modId xmlns:p14="http://schemas.microsoft.com/office/powerpoint/2010/main" val="2432739128"/>
                  </p:ext>
                </p:extLst>
              </p:nvPr>
            </p:nvGraphicFramePr>
            <p:xfrm>
              <a:off x="3581400" y="5367770"/>
              <a:ext cx="5486400" cy="370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7.</m:t>
                                </m:r>
                                <m:r>
                                  <a:rPr lang="en-GB" sz="1800" b="0" i="1" smtClean="0">
                                    <a:solidFill>
                                      <a:schemeClr val="tx1"/>
                                    </a:solidFill>
                                    <a:latin typeface="Cambria Math" panose="02040503050406030204" pitchFamily="18" charset="0"/>
                                  </a:rPr>
                                  <m:t>¬ </m:t>
                                </m:r>
                                <m:r>
                                  <a:rPr lang="en-GB" sz="1800" b="0" i="1" smtClean="0">
                                    <a:solidFill>
                                      <a:schemeClr val="tx1"/>
                                    </a:solidFill>
                                    <a:latin typeface="Cambria Math" panose="02040503050406030204" pitchFamily="18" charset="0"/>
                                  </a:rPr>
                                  <m:t>𝐵</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𝑎</m:t>
                                </m:r>
                                <m:r>
                                  <a:rPr lang="en-GB" sz="1800" b="0" i="1" smtClean="0">
                                    <a:solidFill>
                                      <a:schemeClr val="tx1"/>
                                    </a:solidFill>
                                    <a:latin typeface="Cambria Math" panose="02040503050406030204" pitchFamily="18" charset="0"/>
                                  </a:rPr>
                                  <m:t>)</m:t>
                                </m:r>
                              </m:oMath>
                            </m:oMathPara>
                          </a14:m>
                          <a:endParaRPr dirty="0"/>
                        </a:p>
                      </a:txBody>
                      <a:tcPr>
                        <a:solidFill>
                          <a:schemeClr val="bg2">
                            <a:lumMod val="40000"/>
                            <a:lumOff val="60000"/>
                          </a:schemeClr>
                        </a:solidFill>
                      </a:tcPr>
                    </a:tc>
                    <a:tc>
                      <a:txBody>
                        <a:bodyPr/>
                        <a:lstStyle/>
                        <a:p>
                          <a:r>
                            <a:rPr lang="en-GB" sz="1600" b="0" dirty="0">
                              <a:solidFill>
                                <a:schemeClr val="tx1"/>
                              </a:solidFill>
                            </a:rPr>
                            <a:t>Simpliﬁcation from (2) </a:t>
                          </a:r>
                          <a:endParaRPr lang="en-US" sz="1600" b="0" dirty="0">
                            <a:solidFill>
                              <a:schemeClr val="tx1"/>
                            </a:solidFill>
                          </a:endParaRP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22" name="Table 21"/>
              <p:cNvGraphicFramePr>
                <a:graphicFrameLocks noGrp="1"/>
              </p:cNvGraphicFramePr>
              <p:nvPr>
                <p:extLst>
                  <p:ext uri="{D42A27DB-BD31-4B8C-83A1-F6EECF244321}">
                    <p14:modId xmlns:p14="http://schemas.microsoft.com/office/powerpoint/2010/main" val="2432739128"/>
                  </p:ext>
                </p:extLst>
              </p:nvPr>
            </p:nvGraphicFramePr>
            <p:xfrm>
              <a:off x="3581400" y="5367770"/>
              <a:ext cx="5486400" cy="370840"/>
            </p:xfrm>
            <a:graphic>
              <a:graphicData uri="http://schemas.openxmlformats.org/drawingml/2006/table">
                <a:tbl>
                  <a:tblPr firstRow="1" bandRow="1">
                    <a:tableStyleId>{5C22544A-7EE6-4342-B048-85BDC9FD1C3A}</a:tableStyleId>
                  </a:tblPr>
                  <a:tblGrid>
                    <a:gridCol w="2438400"/>
                    <a:gridCol w="3048000"/>
                  </a:tblGrid>
                  <a:tr h="370840">
                    <a:tc>
                      <a:txBody>
                        <a:bodyPr/>
                        <a:lstStyle/>
                        <a:p>
                          <a:endParaRPr lang="en-US"/>
                        </a:p>
                      </a:txBody>
                      <a:tcPr>
                        <a:blipFill rotWithShape="0">
                          <a:blip r:embed="rId9"/>
                          <a:stretch>
                            <a:fillRect l="-250" t="-3226" r="-126250" b="-12903"/>
                          </a:stretch>
                        </a:blipFill>
                      </a:tcPr>
                    </a:tc>
                    <a:tc>
                      <a:txBody>
                        <a:bodyPr/>
                        <a:lstStyle/>
                        <a:p>
                          <a:r>
                            <a:rPr lang="en-GB" sz="1600" b="0" dirty="0" smtClean="0">
                              <a:solidFill>
                                <a:schemeClr val="tx1"/>
                              </a:solidFill>
                            </a:rPr>
                            <a:t>Simpliﬁcation from (2) </a:t>
                          </a:r>
                          <a:endParaRPr lang="en-US" sz="1600" b="0" dirty="0" smtClean="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3" name="Table 22"/>
              <p:cNvGraphicFramePr>
                <a:graphicFrameLocks noGrp="1"/>
              </p:cNvGraphicFramePr>
              <p:nvPr>
                <p:extLst>
                  <p:ext uri="{D42A27DB-BD31-4B8C-83A1-F6EECF244321}">
                    <p14:modId xmlns:p14="http://schemas.microsoft.com/office/powerpoint/2010/main" val="1730633701"/>
                  </p:ext>
                </p:extLst>
              </p:nvPr>
            </p:nvGraphicFramePr>
            <p:xfrm>
              <a:off x="3581400" y="5699402"/>
              <a:ext cx="5486400" cy="370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8.</m:t>
                                </m:r>
                                <m:r>
                                  <a:rPr lang="en-GB" sz="1800" b="0" i="1" smtClean="0">
                                    <a:solidFill>
                                      <a:schemeClr val="tx1"/>
                                    </a:solidFill>
                                    <a:latin typeface="Cambria Math" panose="02040503050406030204" pitchFamily="18" charset="0"/>
                                  </a:rPr>
                                  <m:t>𝑃</m:t>
                                </m:r>
                                <m:d>
                                  <m:dPr>
                                    <m:ctrlPr>
                                      <a:rPr lang="en-GB" sz="1800" b="0" i="1" smtClean="0">
                                        <a:solidFill>
                                          <a:schemeClr val="tx1"/>
                                        </a:solidFill>
                                        <a:latin typeface="Cambria Math" panose="02040503050406030204" pitchFamily="18" charset="0"/>
                                      </a:rPr>
                                    </m:ctrlPr>
                                  </m:dPr>
                                  <m:e>
                                    <m:r>
                                      <a:rPr lang="en-GB" sz="1800" b="0" i="1" smtClean="0">
                                        <a:solidFill>
                                          <a:schemeClr val="tx1"/>
                                        </a:solidFill>
                                        <a:latin typeface="Cambria Math" panose="02040503050406030204" pitchFamily="18" charset="0"/>
                                      </a:rPr>
                                      <m:t>𝑎</m:t>
                                    </m:r>
                                  </m:e>
                                </m:d>
                                <m:r>
                                  <a:rPr lang="en-GB" sz="1800" b="0" i="1" smtClean="0">
                                    <a:solidFill>
                                      <a:schemeClr val="tx1"/>
                                    </a:solidFill>
                                    <a:latin typeface="Cambria Math" panose="02040503050406030204" pitchFamily="18" charset="0"/>
                                  </a:rPr>
                                  <m:t> </m:t>
                                </m:r>
                                <m:r>
                                  <a:rPr lang="en-GB" sz="1800" b="0" i="1" smtClean="0">
                                    <a:solidFill>
                                      <a:schemeClr val="tx1"/>
                                    </a:solidFill>
                                    <a:latin typeface="Cambria Math" panose="02040503050406030204" pitchFamily="18" charset="0"/>
                                    <a:ea typeface="Cambria Math" panose="02040503050406030204" pitchFamily="18" charset="0"/>
                                  </a:rPr>
                                  <m:t>∧ </m:t>
                                </m:r>
                                <m:r>
                                  <a:rPr lang="en-GB" sz="1800" b="0" i="1" smtClean="0">
                                    <a:solidFill>
                                      <a:schemeClr val="tx1"/>
                                    </a:solidFill>
                                    <a:latin typeface="Cambria Math" panose="02040503050406030204" pitchFamily="18" charset="0"/>
                                  </a:rPr>
                                  <m:t>¬ </m:t>
                                </m:r>
                                <m:r>
                                  <a:rPr lang="en-GB" sz="1800" b="0" i="1" smtClean="0">
                                    <a:solidFill>
                                      <a:schemeClr val="tx1"/>
                                    </a:solidFill>
                                    <a:latin typeface="Cambria Math" panose="02040503050406030204" pitchFamily="18" charset="0"/>
                                  </a:rPr>
                                  <m:t>𝐵</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𝑎</m:t>
                                </m:r>
                                <m:r>
                                  <a:rPr lang="en-GB" sz="1800" b="0" i="1" smtClean="0">
                                    <a:solidFill>
                                      <a:schemeClr val="tx1"/>
                                    </a:solidFill>
                                    <a:latin typeface="Cambria Math" panose="02040503050406030204" pitchFamily="18" charset="0"/>
                                  </a:rPr>
                                  <m:t>)</m:t>
                                </m:r>
                              </m:oMath>
                            </m:oMathPara>
                          </a14:m>
                          <a:endParaRPr dirty="0"/>
                        </a:p>
                      </a:txBody>
                      <a:tcPr>
                        <a:solidFill>
                          <a:schemeClr val="bg2">
                            <a:lumMod val="40000"/>
                            <a:lumOff val="60000"/>
                          </a:schemeClr>
                        </a:solidFill>
                      </a:tcPr>
                    </a:tc>
                    <a:tc>
                      <a:txBody>
                        <a:bodyPr/>
                        <a:lstStyle/>
                        <a:p>
                          <a:r>
                            <a:rPr lang="en-GB" sz="1600" b="0" dirty="0">
                              <a:solidFill>
                                <a:schemeClr val="tx1"/>
                              </a:solidFill>
                            </a:rPr>
                            <a:t>Conjunction of (6) and (7) </a:t>
                          </a:r>
                          <a:endParaRPr lang="en-US" sz="1600" b="0" dirty="0">
                            <a:solidFill>
                              <a:schemeClr val="tx1"/>
                            </a:solidFill>
                          </a:endParaRP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23" name="Table 22"/>
              <p:cNvGraphicFramePr>
                <a:graphicFrameLocks noGrp="1"/>
              </p:cNvGraphicFramePr>
              <p:nvPr>
                <p:extLst>
                  <p:ext uri="{D42A27DB-BD31-4B8C-83A1-F6EECF244321}">
                    <p14:modId xmlns:p14="http://schemas.microsoft.com/office/powerpoint/2010/main" val="1730633701"/>
                  </p:ext>
                </p:extLst>
              </p:nvPr>
            </p:nvGraphicFramePr>
            <p:xfrm>
              <a:off x="3581400" y="5699402"/>
              <a:ext cx="5486400" cy="370840"/>
            </p:xfrm>
            <a:graphic>
              <a:graphicData uri="http://schemas.openxmlformats.org/drawingml/2006/table">
                <a:tbl>
                  <a:tblPr firstRow="1" bandRow="1">
                    <a:tableStyleId>{5C22544A-7EE6-4342-B048-85BDC9FD1C3A}</a:tableStyleId>
                  </a:tblPr>
                  <a:tblGrid>
                    <a:gridCol w="2438400"/>
                    <a:gridCol w="3048000"/>
                  </a:tblGrid>
                  <a:tr h="370840">
                    <a:tc>
                      <a:txBody>
                        <a:bodyPr/>
                        <a:lstStyle/>
                        <a:p>
                          <a:endParaRPr lang="en-US"/>
                        </a:p>
                      </a:txBody>
                      <a:tcPr>
                        <a:blipFill rotWithShape="0">
                          <a:blip r:embed="rId10"/>
                          <a:stretch>
                            <a:fillRect l="-250" t="-3226" r="-126250" b="-12903"/>
                          </a:stretch>
                        </a:blipFill>
                      </a:tcPr>
                    </a:tc>
                    <a:tc>
                      <a:txBody>
                        <a:bodyPr/>
                        <a:lstStyle/>
                        <a:p>
                          <a:r>
                            <a:rPr lang="en-GB" sz="1600" b="0" dirty="0" smtClean="0">
                              <a:solidFill>
                                <a:schemeClr val="tx1"/>
                              </a:solidFill>
                            </a:rPr>
                            <a:t>Conjunction of (6) and (7) </a:t>
                          </a:r>
                          <a:endParaRPr lang="en-US" sz="1600" b="0" dirty="0" smtClean="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4" name="Table 23"/>
              <p:cNvGraphicFramePr>
                <a:graphicFrameLocks noGrp="1"/>
              </p:cNvGraphicFramePr>
              <p:nvPr>
                <p:extLst>
                  <p:ext uri="{D42A27DB-BD31-4B8C-83A1-F6EECF244321}">
                    <p14:modId xmlns:p14="http://schemas.microsoft.com/office/powerpoint/2010/main" val="1524727385"/>
                  </p:ext>
                </p:extLst>
              </p:nvPr>
            </p:nvGraphicFramePr>
            <p:xfrm>
              <a:off x="3581400" y="6041765"/>
              <a:ext cx="5486400" cy="3708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9.</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𝑥</m:t>
                                </m:r>
                                <m:r>
                                  <a:rPr lang="en-GB" sz="1800" b="0" i="1" smtClean="0">
                                    <a:solidFill>
                                      <a:schemeClr val="tx1"/>
                                    </a:solidFill>
                                    <a:latin typeface="Cambria Math" panose="02040503050406030204" pitchFamily="18" charset="0"/>
                                  </a:rPr>
                                  <m:t> ( </m:t>
                                </m:r>
                                <m:r>
                                  <a:rPr lang="en-GB" sz="1800" b="0" i="1" smtClean="0">
                                    <a:solidFill>
                                      <a:schemeClr val="tx1"/>
                                    </a:solidFill>
                                    <a:latin typeface="Cambria Math" panose="02040503050406030204" pitchFamily="18" charset="0"/>
                                  </a:rPr>
                                  <m:t>𝑃</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𝑥</m:t>
                                </m:r>
                                <m:r>
                                  <a:rPr lang="en-GB" sz="1800" b="0" i="1" smtClean="0">
                                    <a:solidFill>
                                      <a:schemeClr val="tx1"/>
                                    </a:solidFill>
                                    <a:latin typeface="Cambria Math" panose="02040503050406030204" pitchFamily="18" charset="0"/>
                                  </a:rPr>
                                  <m:t>)∧ ¬ </m:t>
                                </m:r>
                                <m:r>
                                  <a:rPr lang="en-GB" sz="1800" b="0" i="1" smtClean="0">
                                    <a:solidFill>
                                      <a:schemeClr val="tx1"/>
                                    </a:solidFill>
                                    <a:latin typeface="Cambria Math" panose="02040503050406030204" pitchFamily="18" charset="0"/>
                                  </a:rPr>
                                  <m:t>𝐵</m:t>
                                </m:r>
                                <m:r>
                                  <a:rPr lang="en-GB" sz="1800" b="0" i="1" smtClean="0">
                                    <a:solidFill>
                                      <a:schemeClr val="tx1"/>
                                    </a:solidFill>
                                    <a:latin typeface="Cambria Math" panose="02040503050406030204" pitchFamily="18" charset="0"/>
                                  </a:rPr>
                                  <m:t>(</m:t>
                                </m:r>
                                <m:r>
                                  <a:rPr lang="en-GB" sz="1800" b="0" i="1" smtClean="0">
                                    <a:solidFill>
                                      <a:schemeClr val="tx1"/>
                                    </a:solidFill>
                                    <a:latin typeface="Cambria Math" panose="02040503050406030204" pitchFamily="18" charset="0"/>
                                  </a:rPr>
                                  <m:t>𝑥</m:t>
                                </m:r>
                                <m:r>
                                  <a:rPr lang="en-GB" sz="1800" b="0" i="1" smtClean="0">
                                    <a:solidFill>
                                      <a:schemeClr val="tx1"/>
                                    </a:solidFill>
                                    <a:latin typeface="Cambria Math" panose="02040503050406030204" pitchFamily="18" charset="0"/>
                                  </a:rPr>
                                  <m:t>))</m:t>
                                </m:r>
                              </m:oMath>
                            </m:oMathPara>
                          </a14:m>
                          <a:endParaRPr dirty="0"/>
                        </a:p>
                      </a:txBody>
                      <a:tcPr>
                        <a:solidFill>
                          <a:srgbClr val="00B0F0"/>
                        </a:solidFill>
                      </a:tcPr>
                    </a:tc>
                    <a:tc>
                      <a:txBody>
                        <a:bodyPr/>
                        <a:lstStyle/>
                        <a:p>
                          <a:r>
                            <a:rPr lang="en-GB" sz="1500" b="0" dirty="0">
                              <a:solidFill>
                                <a:schemeClr val="tx1"/>
                              </a:solidFill>
                            </a:rPr>
                            <a:t>Existential generalization from (8)</a:t>
                          </a:r>
                          <a:r>
                            <a:rPr lang="en-GB" sz="1600" b="0" dirty="0">
                              <a:solidFill>
                                <a:schemeClr val="tx1"/>
                              </a:solidFill>
                            </a:rPr>
                            <a:t> </a:t>
                          </a:r>
                          <a:endParaRPr lang="en-US" sz="1600" b="0" dirty="0">
                            <a:solidFill>
                              <a:schemeClr val="tx1"/>
                            </a:solidFill>
                          </a:endParaRPr>
                        </a:p>
                      </a:txBody>
                      <a:tcPr>
                        <a:solidFill>
                          <a:srgbClr val="00B0F0"/>
                        </a:solidFill>
                      </a:tcPr>
                    </a:tc>
                    <a:extLst>
                      <a:ext uri="{0D108BD9-81ED-4DB2-BD59-A6C34878D82A}">
                        <a16:rowId xmlns:a16="http://schemas.microsoft.com/office/drawing/2014/main" val="10000"/>
                      </a:ext>
                    </a:extLst>
                  </a:tr>
                </a:tbl>
              </a:graphicData>
            </a:graphic>
          </p:graphicFrame>
        </mc:Choice>
        <mc:Fallback xmlns="">
          <p:graphicFrame>
            <p:nvGraphicFramePr>
              <p:cNvPr id="24" name="Table 23"/>
              <p:cNvGraphicFramePr>
                <a:graphicFrameLocks noGrp="1"/>
              </p:cNvGraphicFramePr>
              <p:nvPr>
                <p:extLst>
                  <p:ext uri="{D42A27DB-BD31-4B8C-83A1-F6EECF244321}">
                    <p14:modId xmlns:p14="http://schemas.microsoft.com/office/powerpoint/2010/main" val="1524727385"/>
                  </p:ext>
                </p:extLst>
              </p:nvPr>
            </p:nvGraphicFramePr>
            <p:xfrm>
              <a:off x="3581400" y="6041765"/>
              <a:ext cx="5486400" cy="370840"/>
            </p:xfrm>
            <a:graphic>
              <a:graphicData uri="http://schemas.openxmlformats.org/drawingml/2006/table">
                <a:tbl>
                  <a:tblPr firstRow="1" bandRow="1">
                    <a:tableStyleId>{5C22544A-7EE6-4342-B048-85BDC9FD1C3A}</a:tableStyleId>
                  </a:tblPr>
                  <a:tblGrid>
                    <a:gridCol w="2438400"/>
                    <a:gridCol w="3048000"/>
                  </a:tblGrid>
                  <a:tr h="370840">
                    <a:tc>
                      <a:txBody>
                        <a:bodyPr/>
                        <a:lstStyle/>
                        <a:p>
                          <a:endParaRPr lang="en-US"/>
                        </a:p>
                      </a:txBody>
                      <a:tcPr>
                        <a:blipFill rotWithShape="0">
                          <a:blip r:embed="rId11"/>
                          <a:stretch>
                            <a:fillRect l="-250" t="-1639" r="-126250" b="-14754"/>
                          </a:stretch>
                        </a:blipFill>
                      </a:tcPr>
                    </a:tc>
                    <a:tc>
                      <a:txBody>
                        <a:bodyPr/>
                        <a:lstStyle/>
                        <a:p>
                          <a:r>
                            <a:rPr lang="en-GB" sz="1500" b="0" dirty="0" smtClean="0">
                              <a:solidFill>
                                <a:schemeClr val="tx1"/>
                              </a:solidFill>
                            </a:rPr>
                            <a:t>Existential generalization from (8)</a:t>
                          </a:r>
                          <a:r>
                            <a:rPr lang="en-GB" sz="1600" b="0" dirty="0" smtClean="0">
                              <a:solidFill>
                                <a:schemeClr val="tx1"/>
                              </a:solidFill>
                            </a:rPr>
                            <a:t> </a:t>
                          </a:r>
                          <a:endParaRPr lang="en-US" sz="1600" b="0" dirty="0" smtClean="0">
                            <a:solidFill>
                              <a:schemeClr val="tx1"/>
                            </a:solidFill>
                          </a:endParaRPr>
                        </a:p>
                      </a:txBody>
                      <a:tcPr>
                        <a:solidFill>
                          <a:srgbClr val="00B0F0"/>
                        </a:solidFill>
                      </a:tcPr>
                    </a:tc>
                  </a:tr>
                </a:tbl>
              </a:graphicData>
            </a:graphic>
          </p:graphicFrame>
        </mc:Fallback>
      </mc:AlternateContent>
    </p:spTree>
    <p:extLst>
      <p:ext uri="{BB962C8B-B14F-4D97-AF65-F5344CB8AC3E}">
        <p14:creationId xmlns:p14="http://schemas.microsoft.com/office/powerpoint/2010/main" val="202090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p>
        </p:txBody>
      </p:sp>
      <p:sp>
        <p:nvSpPr>
          <p:cNvPr id="4" name="Date Placeholder 3"/>
          <p:cNvSpPr>
            <a:spLocks noGrp="1"/>
          </p:cNvSpPr>
          <p:nvPr>
            <p:ph type="dt" sz="half" idx="10"/>
          </p:nvPr>
        </p:nvSpPr>
        <p:spPr/>
        <p:txBody>
          <a:bodyPr/>
          <a:lstStyle/>
          <a:p>
            <a:fld id="{B2BC2BEF-EA4D-4F3C-8BD0-6416B8A17537}"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19</a:t>
            </a:fld>
            <a:endParaRPr lang="en-US"/>
          </a:p>
        </p:txBody>
      </p:sp>
      <p:sp>
        <p:nvSpPr>
          <p:cNvPr id="7" name="TextBox 6"/>
          <p:cNvSpPr txBox="1"/>
          <p:nvPr/>
        </p:nvSpPr>
        <p:spPr>
          <a:xfrm>
            <a:off x="304800" y="1569184"/>
            <a:ext cx="8229600" cy="1631216"/>
          </a:xfrm>
          <a:prstGeom prst="rect">
            <a:avLst/>
          </a:prstGeom>
          <a:noFill/>
        </p:spPr>
        <p:txBody>
          <a:bodyPr wrap="square" rtlCol="0">
            <a:spAutoFit/>
          </a:bodyPr>
          <a:lstStyle/>
          <a:p>
            <a:r>
              <a:rPr lang="en-US" sz="2000" dirty="0"/>
              <a:t>Test the validity of the following argument:</a:t>
            </a:r>
          </a:p>
          <a:p>
            <a:endParaRPr lang="en-US" sz="2000" dirty="0"/>
          </a:p>
          <a:p>
            <a:r>
              <a:rPr lang="en-US" sz="2000" dirty="0"/>
              <a:t>Some trigonometric functions are continuous.</a:t>
            </a:r>
          </a:p>
          <a:p>
            <a:r>
              <a:rPr lang="en-US" sz="2000" dirty="0"/>
              <a:t>Some continuous functions are periodic.</a:t>
            </a:r>
          </a:p>
          <a:p>
            <a:r>
              <a:rPr lang="en-US" sz="2000" dirty="0"/>
              <a:t>Therefore, Some trigonometric functions are periodic.</a:t>
            </a:r>
          </a:p>
        </p:txBody>
      </p:sp>
      <p:sp>
        <p:nvSpPr>
          <p:cNvPr id="3" name="TextBox 2"/>
          <p:cNvSpPr txBox="1"/>
          <p:nvPr/>
        </p:nvSpPr>
        <p:spPr>
          <a:xfrm>
            <a:off x="457200" y="3505200"/>
            <a:ext cx="4267200" cy="1477328"/>
          </a:xfrm>
          <a:prstGeom prst="rect">
            <a:avLst/>
          </a:prstGeom>
          <a:noFill/>
        </p:spPr>
        <p:txBody>
          <a:bodyPr wrap="square" rtlCol="0">
            <a:spAutoFit/>
          </a:bodyPr>
          <a:lstStyle/>
          <a:p>
            <a:r>
              <a:rPr lang="en-GB" dirty="0"/>
              <a:t>T(x) – x is a  </a:t>
            </a:r>
            <a:r>
              <a:rPr lang="en-US" dirty="0"/>
              <a:t>trigonometric function</a:t>
            </a:r>
          </a:p>
          <a:p>
            <a:r>
              <a:rPr lang="en-US" dirty="0"/>
              <a:t>C(x) – x is a continuous function</a:t>
            </a:r>
          </a:p>
          <a:p>
            <a:r>
              <a:rPr lang="en-US" dirty="0"/>
              <a:t>P(x) – x is a periodic function.</a:t>
            </a:r>
          </a:p>
          <a:p>
            <a:endParaRPr lang="en-US" dirty="0"/>
          </a:p>
          <a:p>
            <a:endParaRPr lang="en-GB" dirty="0"/>
          </a:p>
        </p:txBody>
      </p:sp>
      <mc:AlternateContent xmlns:mc="http://schemas.openxmlformats.org/markup-compatibility/2006" xmlns:a14="http://schemas.microsoft.com/office/drawing/2010/main">
        <mc:Choice Requires="a14">
          <p:sp>
            <p:nvSpPr>
              <p:cNvPr id="8" name="TextBox 7"/>
              <p:cNvSpPr txBox="1"/>
              <p:nvPr/>
            </p:nvSpPr>
            <p:spPr>
              <a:xfrm>
                <a:off x="457200" y="4648200"/>
                <a:ext cx="2514600" cy="1307281"/>
              </a:xfrm>
              <a:prstGeom prst="rect">
                <a:avLst/>
              </a:prstGeom>
              <a:noFill/>
            </p:spPr>
            <p:txBody>
              <a:bodyPr wrap="square" rtlCol="0">
                <a:spAutoFit/>
              </a:bodyPr>
              <a:lstStyle/>
              <a:p>
                <a14:m>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 </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𝑇</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𝑥</m:t>
                            </m:r>
                          </m:e>
                        </m:d>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𝐶</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𝑥</m:t>
                            </m:r>
                          </m:e>
                        </m:d>
                      </m:e>
                    </m:d>
                    <m:r>
                      <a:rPr lang="en-GB" b="0" i="1" smtClean="0">
                        <a:latin typeface="Cambria Math" panose="02040503050406030204" pitchFamily="18" charset="0"/>
                        <a:ea typeface="Cambria Math" panose="02040503050406030204" pitchFamily="18" charset="0"/>
                      </a:rPr>
                      <m:t> </m:t>
                    </m:r>
                  </m:oMath>
                </a14:m>
                <a:r>
                  <a:rPr lang="en-GB" dirty="0"/>
                  <a:t> </a:t>
                </a:r>
              </a:p>
              <a:p>
                <a14:m>
                  <m:oMath xmlns:m="http://schemas.openxmlformats.org/officeDocument/2006/math">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𝑥</m:t>
                    </m:r>
                    <m:r>
                      <a:rPr lang="en-GB" i="1">
                        <a:latin typeface="Cambria Math" panose="02040503050406030204" pitchFamily="18" charset="0"/>
                        <a:ea typeface="Cambria Math" panose="02040503050406030204" pitchFamily="18" charset="0"/>
                      </a:rPr>
                      <m:t> </m:t>
                    </m:r>
                    <m:d>
                      <m:dPr>
                        <m:ctrlPr>
                          <a:rPr lang="en-GB"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𝐶</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𝑥</m:t>
                            </m:r>
                          </m:e>
                        </m:d>
                        <m:r>
                          <a:rPr lang="en-GB" i="1">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𝑃</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𝑥</m:t>
                            </m:r>
                          </m:e>
                        </m:d>
                      </m:e>
                    </m:d>
                  </m:oMath>
                </a14:m>
                <a:r>
                  <a:rPr lang="en-GB" dirty="0"/>
                  <a:t> </a:t>
                </a:r>
              </a:p>
              <a:p>
                <a:r>
                  <a:rPr lang="en-GB" dirty="0"/>
                  <a:t>------------------------</a:t>
                </a:r>
              </a:p>
              <a:p>
                <a14:m>
                  <m:oMath xmlns:m="http://schemas.openxmlformats.org/officeDocument/2006/math">
                    <m:r>
                      <a:rPr lang="en-GB"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𝑥</m:t>
                    </m:r>
                    <m:r>
                      <a:rPr lang="en-GB" i="1">
                        <a:latin typeface="Cambria Math" panose="02040503050406030204" pitchFamily="18" charset="0"/>
                        <a:ea typeface="Cambria Math" panose="02040503050406030204" pitchFamily="18" charset="0"/>
                      </a:rPr>
                      <m:t> </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𝑇</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𝑥</m:t>
                            </m:r>
                          </m:e>
                        </m:d>
                        <m:r>
                          <a:rPr lang="en-GB" i="1">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𝑃</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𝑥</m:t>
                            </m:r>
                          </m:e>
                        </m:d>
                      </m:e>
                    </m:d>
                  </m:oMath>
                </a14:m>
                <a:r>
                  <a:rPr lang="en-GB" dirty="0"/>
                  <a:t> </a:t>
                </a:r>
              </a:p>
            </p:txBody>
          </p:sp>
        </mc:Choice>
        <mc:Fallback xmlns="">
          <p:sp>
            <p:nvSpPr>
              <p:cNvPr id="8" name="TextBox 7"/>
              <p:cNvSpPr txBox="1">
                <a:spLocks noRot="1" noChangeAspect="1" noMove="1" noResize="1" noEditPoints="1" noAdjustHandles="1" noChangeArrowheads="1" noChangeShapeType="1" noTextEdit="1"/>
              </p:cNvSpPr>
              <p:nvPr/>
            </p:nvSpPr>
            <p:spPr>
              <a:xfrm>
                <a:off x="457200" y="4648200"/>
                <a:ext cx="2514600" cy="1307281"/>
              </a:xfrm>
              <a:prstGeom prst="rect">
                <a:avLst/>
              </a:prstGeom>
              <a:blipFill rotWithShape="0">
                <a:blip r:embed="rId2"/>
                <a:stretch>
                  <a:fillRect l="-1937"/>
                </a:stretch>
              </a:blipFill>
            </p:spPr>
            <p:txBody>
              <a:bodyPr/>
              <a:lstStyle/>
              <a:p>
                <a:r>
                  <a:rPr lang="en-GB">
                    <a:noFill/>
                  </a:rPr>
                  <a:t> </a:t>
                </a:r>
              </a:p>
            </p:txBody>
          </p:sp>
        </mc:Fallback>
      </mc:AlternateContent>
      <p:sp>
        <p:nvSpPr>
          <p:cNvPr id="12" name="Oval 11"/>
          <p:cNvSpPr/>
          <p:nvPr/>
        </p:nvSpPr>
        <p:spPr>
          <a:xfrm>
            <a:off x="4587171" y="3505200"/>
            <a:ext cx="1419910" cy="14773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9"/>
          <p:cNvSpPr>
            <a:spLocks noChangeArrowheads="1"/>
          </p:cNvSpPr>
          <p:nvPr/>
        </p:nvSpPr>
        <p:spPr bwMode="auto">
          <a:xfrm>
            <a:off x="5529343" y="3564411"/>
            <a:ext cx="1804079" cy="1372570"/>
          </a:xfrm>
          <a:prstGeom prst="ellipse">
            <a:avLst/>
          </a:prstGeom>
          <a:solidFill>
            <a:srgbClr val="33CCFF">
              <a:alpha val="50000"/>
            </a:srgbClr>
          </a:solidFill>
          <a:ln w="9525">
            <a:solidFill>
              <a:srgbClr val="000000"/>
            </a:solidFill>
            <a:round/>
            <a:headEnd/>
            <a:tailEnd type="none" w="lg" len="lg"/>
          </a:ln>
          <a:effectLst/>
        </p:spPr>
        <p:txBody>
          <a:bodyPr wrap="none" anchor="ctr"/>
          <a:lstStyle/>
          <a:p>
            <a:pPr algn="ctr"/>
            <a:endParaRPr kumimoji="0" lang="en-US" sz="2400">
              <a:solidFill>
                <a:schemeClr val="accent2"/>
              </a:solidFill>
            </a:endParaRPr>
          </a:p>
        </p:txBody>
      </p:sp>
      <p:sp>
        <p:nvSpPr>
          <p:cNvPr id="14" name="TextBox 13"/>
          <p:cNvSpPr txBox="1"/>
          <p:nvPr/>
        </p:nvSpPr>
        <p:spPr>
          <a:xfrm>
            <a:off x="6144247" y="3709740"/>
            <a:ext cx="136580" cy="351114"/>
          </a:xfrm>
          <a:prstGeom prst="rect">
            <a:avLst/>
          </a:prstGeom>
          <a:noFill/>
        </p:spPr>
        <p:txBody>
          <a:bodyPr wrap="square" rtlCol="0">
            <a:spAutoFit/>
          </a:bodyPr>
          <a:lstStyle/>
          <a:p>
            <a:r>
              <a:rPr lang="en-US" sz="2800" dirty="0"/>
              <a:t>C</a:t>
            </a:r>
          </a:p>
        </p:txBody>
      </p:sp>
      <p:sp>
        <p:nvSpPr>
          <p:cNvPr id="15" name="TextBox 14"/>
          <p:cNvSpPr txBox="1"/>
          <p:nvPr/>
        </p:nvSpPr>
        <p:spPr>
          <a:xfrm>
            <a:off x="4792334" y="3914280"/>
            <a:ext cx="600722" cy="351114"/>
          </a:xfrm>
          <a:prstGeom prst="rect">
            <a:avLst/>
          </a:prstGeom>
          <a:noFill/>
        </p:spPr>
        <p:txBody>
          <a:bodyPr wrap="square" rtlCol="0">
            <a:spAutoFit/>
          </a:bodyPr>
          <a:lstStyle/>
          <a:p>
            <a:r>
              <a:rPr lang="en-US" sz="2800" dirty="0"/>
              <a:t>T</a:t>
            </a:r>
          </a:p>
        </p:txBody>
      </p:sp>
      <p:sp>
        <p:nvSpPr>
          <p:cNvPr id="17" name="Oval 20"/>
          <p:cNvSpPr>
            <a:spLocks noChangeArrowheads="1"/>
          </p:cNvSpPr>
          <p:nvPr/>
        </p:nvSpPr>
        <p:spPr bwMode="auto">
          <a:xfrm>
            <a:off x="6840744" y="3505200"/>
            <a:ext cx="1693656" cy="1431780"/>
          </a:xfrm>
          <a:prstGeom prst="ellipse">
            <a:avLst/>
          </a:prstGeom>
          <a:solidFill>
            <a:srgbClr val="CC0000">
              <a:alpha val="50000"/>
            </a:srgbClr>
          </a:solidFill>
          <a:ln w="9525">
            <a:solidFill>
              <a:srgbClr val="000000"/>
            </a:solidFill>
            <a:round/>
            <a:headEnd/>
            <a:tailEnd type="none" w="lg" len="lg"/>
          </a:ln>
          <a:effectLst/>
        </p:spPr>
        <p:txBody>
          <a:bodyPr wrap="none" anchor="ctr"/>
          <a:lstStyle/>
          <a:p>
            <a:pPr algn="ctr"/>
            <a:endParaRPr lang="en-US"/>
          </a:p>
        </p:txBody>
      </p:sp>
      <p:sp>
        <p:nvSpPr>
          <p:cNvPr id="18" name="TextBox 17"/>
          <p:cNvSpPr txBox="1"/>
          <p:nvPr/>
        </p:nvSpPr>
        <p:spPr>
          <a:xfrm>
            <a:off x="7523645" y="4074517"/>
            <a:ext cx="689171" cy="351114"/>
          </a:xfrm>
          <a:prstGeom prst="rect">
            <a:avLst/>
          </a:prstGeom>
          <a:noFill/>
        </p:spPr>
        <p:txBody>
          <a:bodyPr wrap="square" rtlCol="0">
            <a:spAutoFit/>
          </a:bodyPr>
          <a:lstStyle/>
          <a:p>
            <a:r>
              <a:rPr lang="en-US" sz="2800" dirty="0"/>
              <a:t>P</a:t>
            </a:r>
          </a:p>
        </p:txBody>
      </p:sp>
      <p:sp>
        <p:nvSpPr>
          <p:cNvPr id="20" name="TextBox 19"/>
          <p:cNvSpPr txBox="1"/>
          <p:nvPr/>
        </p:nvSpPr>
        <p:spPr>
          <a:xfrm>
            <a:off x="3657600" y="5257800"/>
            <a:ext cx="5181600" cy="646331"/>
          </a:xfrm>
          <a:prstGeom prst="rect">
            <a:avLst/>
          </a:prstGeom>
          <a:noFill/>
        </p:spPr>
        <p:txBody>
          <a:bodyPr wrap="square" rtlCol="0">
            <a:spAutoFit/>
          </a:bodyPr>
          <a:lstStyle/>
          <a:p>
            <a:r>
              <a:rPr lang="en-GB" dirty="0"/>
              <a:t>Under this interpretation conclusion is not true.</a:t>
            </a:r>
          </a:p>
          <a:p>
            <a:r>
              <a:rPr lang="en-GB" dirty="0"/>
              <a:t>Hence, this argument is not valid.</a:t>
            </a:r>
          </a:p>
        </p:txBody>
      </p:sp>
    </p:spTree>
    <p:extLst>
      <p:ext uri="{BB962C8B-B14F-4D97-AF65-F5344CB8AC3E}">
        <p14:creationId xmlns:p14="http://schemas.microsoft.com/office/powerpoint/2010/main" val="149720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8" grpId="0"/>
      <p:bldP spid="12" grpId="0" animBg="1"/>
      <p:bldP spid="13" grpId="0" animBg="1"/>
      <p:bldP spid="14" grpId="0"/>
      <p:bldP spid="15" grpId="0"/>
      <p:bldP spid="17" grpId="0" animBg="1"/>
      <p:bldP spid="18" grpId="0"/>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 Continued</a:t>
            </a:r>
          </a:p>
        </p:txBody>
      </p:sp>
      <p:sp>
        <p:nvSpPr>
          <p:cNvPr id="4" name="Date Placeholder 3"/>
          <p:cNvSpPr>
            <a:spLocks noGrp="1"/>
          </p:cNvSpPr>
          <p:nvPr>
            <p:ph type="dt" sz="half" idx="10"/>
          </p:nvPr>
        </p:nvSpPr>
        <p:spPr/>
        <p:txBody>
          <a:bodyPr/>
          <a:lstStyle/>
          <a:p>
            <a:fld id="{CDA479C5-7C29-43AC-83AC-B896EB2ADB09}"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20</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76200" y="3124200"/>
                <a:ext cx="3810001" cy="1477328"/>
              </a:xfrm>
              <a:prstGeom prst="rect">
                <a:avLst/>
              </a:prstGeom>
              <a:noFill/>
            </p:spPr>
            <p:txBody>
              <a:bodyPr wrap="square" rtlCol="0">
                <a:spAutoFit/>
              </a:bodyPr>
              <a:lstStyle/>
              <a:p>
                <a:r>
                  <a:rPr lang="en-GB" dirty="0">
                    <a:ea typeface="Cambria Math" panose="02040503050406030204" pitchFamily="18" charset="0"/>
                  </a:rPr>
                  <a:t>   </a:t>
                </a:r>
                <a14:m>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 </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𝐵</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𝐼</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e>
                    </m:d>
                  </m:oMath>
                </a14:m>
                <a:endParaRPr lang="en-GB" dirty="0"/>
              </a:p>
              <a:p>
                <a:r>
                  <a:rPr lang="en-GB" dirty="0"/>
                  <a:t>   </a:t>
                </a:r>
                <a14:m>
                  <m:oMath xmlns:m="http://schemas.openxmlformats.org/officeDocument/2006/math">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𝑥</m:t>
                    </m:r>
                    <m:r>
                      <a:rPr lang="en-GB" i="1">
                        <a:latin typeface="Cambria Math" panose="02040503050406030204" pitchFamily="18" charset="0"/>
                        <a:ea typeface="Cambria Math" panose="02040503050406030204" pitchFamily="18" charset="0"/>
                      </a:rPr>
                      <m:t> </m:t>
                    </m:r>
                    <m:d>
                      <m:dPr>
                        <m:begChr m:val="["/>
                        <m:endChr m:val="]"/>
                        <m:ctrlPr>
                          <a:rPr lang="en-GB"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𝐼</m:t>
                        </m:r>
                        <m:d>
                          <m:dPr>
                            <m:ctrlPr>
                              <a:rPr lang="en-GB" b="0" i="1" smtClean="0">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𝑥</m:t>
                            </m:r>
                          </m:e>
                        </m:d>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𝐷</m:t>
                        </m:r>
                        <m:d>
                          <m:dPr>
                            <m:ctrlPr>
                              <a:rPr lang="en-GB" b="0" i="1" smtClean="0">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𝑥</m:t>
                            </m:r>
                          </m:e>
                        </m:d>
                      </m:e>
                    </m:d>
                  </m:oMath>
                </a14:m>
                <a:endParaRPr lang="en-GB" dirty="0">
                  <a:ea typeface="Cambria Math" panose="02040503050406030204" pitchFamily="18" charset="0"/>
                </a:endParaRPr>
              </a:p>
              <a:p>
                <a14:m>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 </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𝑀</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𝐷</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e>
                    </m:d>
                  </m:oMath>
                </a14:m>
                <a:r>
                  <a:rPr lang="en-GB" dirty="0"/>
                  <a:t> </a:t>
                </a:r>
              </a:p>
              <a:p>
                <a:r>
                  <a:rPr lang="en-GB" dirty="0"/>
                  <a:t>------------------------------</a:t>
                </a:r>
              </a:p>
              <a:p>
                <a14:m>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𝑥</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𝐵</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𝑥</m:t>
                            </m:r>
                          </m:e>
                        </m:d>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𝑀</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e>
                    </m:d>
                  </m:oMath>
                </a14:m>
                <a:r>
                  <a:rPr lang="en-GB"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76200" y="3124200"/>
                <a:ext cx="3810001" cy="1477328"/>
              </a:xfrm>
              <a:prstGeom prst="rect">
                <a:avLst/>
              </a:prstGeom>
              <a:blipFill rotWithShape="0">
                <a:blip r:embed="rId2"/>
                <a:stretch>
                  <a:fillRect l="-1440" b="-289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320390609"/>
                  </p:ext>
                </p:extLst>
              </p:nvPr>
            </p:nvGraphicFramePr>
            <p:xfrm>
              <a:off x="2895600" y="2077720"/>
              <a:ext cx="6172200" cy="7416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70840">
                    <a:tc>
                      <a:txBody>
                        <a:bodyPr/>
                        <a:lstStyle/>
                        <a:p>
                          <a:pPr algn="ctr"/>
                          <a:r>
                            <a:rPr lang="en-US" sz="1800" dirty="0"/>
                            <a:t>Step</a:t>
                          </a:r>
                        </a:p>
                      </a:txBody>
                      <a:tcPr/>
                    </a:tc>
                    <a:tc>
                      <a:txBody>
                        <a:bodyPr/>
                        <a:lstStyle/>
                        <a:p>
                          <a:pPr algn="ctr"/>
                          <a:r>
                            <a:rPr lang="en-US" sz="1800" dirty="0"/>
                            <a:t>Reason</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1.</m:t>
                                </m:r>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 </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𝑀</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𝐷</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e>
                                </m:d>
                              </m:oMath>
                            </m:oMathPara>
                          </a14:m>
                          <a:endParaRPr lang="en-US" sz="1800" dirty="0"/>
                        </a:p>
                      </a:txBody>
                      <a:tcPr>
                        <a:solidFill>
                          <a:schemeClr val="bg2">
                            <a:lumMod val="40000"/>
                            <a:lumOff val="60000"/>
                          </a:schemeClr>
                        </a:solidFill>
                      </a:tcPr>
                    </a:tc>
                    <a:tc>
                      <a:txBody>
                        <a:bodyPr/>
                        <a:lstStyle/>
                        <a:p>
                          <a:r>
                            <a:rPr lang="en-US" sz="1600" dirty="0"/>
                            <a:t>Premise</a:t>
                          </a:r>
                        </a:p>
                      </a:txBody>
                      <a:tcPr>
                        <a:solidFill>
                          <a:schemeClr val="bg2">
                            <a:lumMod val="40000"/>
                            <a:lumOff val="6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320390609"/>
                  </p:ext>
                </p:extLst>
              </p:nvPr>
            </p:nvGraphicFramePr>
            <p:xfrm>
              <a:off x="2895600" y="2077720"/>
              <a:ext cx="6172200" cy="741680"/>
            </p:xfrm>
            <a:graphic>
              <a:graphicData uri="http://schemas.openxmlformats.org/drawingml/2006/table">
                <a:tbl>
                  <a:tblPr firstRow="1" bandRow="1">
                    <a:tableStyleId>{5C22544A-7EE6-4342-B048-85BDC9FD1C3A}</a:tableStyleId>
                  </a:tblPr>
                  <a:tblGrid>
                    <a:gridCol w="2514600"/>
                    <a:gridCol w="3657600"/>
                  </a:tblGrid>
                  <a:tr h="370840">
                    <a:tc>
                      <a:txBody>
                        <a:bodyPr/>
                        <a:lstStyle/>
                        <a:p>
                          <a:pPr algn="ctr"/>
                          <a:r>
                            <a:rPr lang="en-US" sz="1800" dirty="0" smtClean="0"/>
                            <a:t>Step</a:t>
                          </a:r>
                          <a:endParaRPr lang="en-US" sz="1800" dirty="0"/>
                        </a:p>
                      </a:txBody>
                      <a:tcPr/>
                    </a:tc>
                    <a:tc>
                      <a:txBody>
                        <a:bodyPr/>
                        <a:lstStyle/>
                        <a:p>
                          <a:pPr algn="ctr"/>
                          <a:r>
                            <a:rPr lang="en-US" sz="1800" dirty="0" smtClean="0"/>
                            <a:t>Reason</a:t>
                          </a:r>
                          <a:endParaRPr lang="en-US" sz="1800" dirty="0"/>
                        </a:p>
                      </a:txBody>
                      <a:tcPr/>
                    </a:tc>
                  </a:tr>
                  <a:tr h="370840">
                    <a:tc>
                      <a:txBody>
                        <a:bodyPr/>
                        <a:lstStyle/>
                        <a:p>
                          <a:endParaRPr lang="en-US"/>
                        </a:p>
                      </a:txBody>
                      <a:tcPr>
                        <a:blipFill rotWithShape="0">
                          <a:blip r:embed="rId3"/>
                          <a:stretch>
                            <a:fillRect l="-484" t="-109836" r="-146247" b="-13115"/>
                          </a:stretch>
                        </a:blipFill>
                      </a:tcPr>
                    </a:tc>
                    <a:tc>
                      <a:txBody>
                        <a:bodyPr/>
                        <a:lstStyle/>
                        <a:p>
                          <a:r>
                            <a:rPr lang="en-US" sz="1600" dirty="0" smtClean="0"/>
                            <a:t>Premise</a:t>
                          </a:r>
                          <a:endParaRPr lang="en-US" sz="1600" dirty="0"/>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1600200" y="1676400"/>
                <a:ext cx="6553200" cy="400110"/>
              </a:xfrm>
              <a:prstGeom prst="rect">
                <a:avLst/>
              </a:prstGeom>
              <a:noFill/>
            </p:spPr>
            <p:txBody>
              <a:bodyPr wrap="square" rtlCol="0">
                <a:spAutoFit/>
              </a:bodyPr>
              <a:lstStyle/>
              <a:p>
                <a:r>
                  <a:rPr lang="en-GB" sz="2000" dirty="0"/>
                  <a:t>Let </a:t>
                </a:r>
                <a14:m>
                  <m:oMath xmlns:m="http://schemas.openxmlformats.org/officeDocument/2006/math">
                    <m:r>
                      <a:rPr lang="en-GB" sz="2000" b="0" i="1" smtClean="0">
                        <a:latin typeface="Cambria Math" panose="02040503050406030204" pitchFamily="18" charset="0"/>
                      </a:rPr>
                      <m:t>𝑎</m:t>
                    </m:r>
                  </m:oMath>
                </a14:m>
                <a:r>
                  <a:rPr lang="en-GB" sz="2000" dirty="0"/>
                  <a:t> be an arbitrary person from the world (Universe).</a:t>
                </a:r>
              </a:p>
            </p:txBody>
          </p:sp>
        </mc:Choice>
        <mc:Fallback xmlns="">
          <p:sp>
            <p:nvSpPr>
              <p:cNvPr id="9" name="TextBox 8"/>
              <p:cNvSpPr txBox="1">
                <a:spLocks noRot="1" noChangeAspect="1" noMove="1" noResize="1" noEditPoints="1" noAdjustHandles="1" noChangeArrowheads="1" noChangeShapeType="1" noTextEdit="1"/>
              </p:cNvSpPr>
              <p:nvPr/>
            </p:nvSpPr>
            <p:spPr>
              <a:xfrm>
                <a:off x="1600200" y="1676400"/>
                <a:ext cx="6553200" cy="400110"/>
              </a:xfrm>
              <a:prstGeom prst="rect">
                <a:avLst/>
              </a:prstGeom>
              <a:blipFill rotWithShape="0">
                <a:blip r:embed="rId4"/>
                <a:stretch>
                  <a:fillRect l="-1023" t="-6061" b="-272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309299180"/>
                  </p:ext>
                </p:extLst>
              </p:nvPr>
            </p:nvGraphicFramePr>
            <p:xfrm>
              <a:off x="2895600" y="2828486"/>
              <a:ext cx="6172200" cy="370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2.</m:t>
                                </m:r>
                                <m:r>
                                  <a:rPr lang="en-GB" b="0" i="1" smtClean="0">
                                    <a:solidFill>
                                      <a:schemeClr val="tx1"/>
                                    </a:solidFill>
                                    <a:latin typeface="Cambria Math" panose="02040503050406030204" pitchFamily="18" charset="0"/>
                                    <a:ea typeface="Cambria Math" panose="02040503050406030204" pitchFamily="18" charset="0"/>
                                  </a:rPr>
                                  <m:t>  </m:t>
                                </m:r>
                                <m:r>
                                  <a:rPr lang="en-GB" b="1"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𝑥</m:t>
                                </m:r>
                                <m:r>
                                  <a:rPr lang="en-GB" b="0" i="1" smtClean="0">
                                    <a:solidFill>
                                      <a:schemeClr val="tx1"/>
                                    </a:solidFill>
                                    <a:latin typeface="Cambria Math" panose="02040503050406030204" pitchFamily="18" charset="0"/>
                                    <a:ea typeface="Cambria Math" panose="02040503050406030204" pitchFamily="18" charset="0"/>
                                  </a:rPr>
                                  <m:t> ¬ </m:t>
                                </m:r>
                                <m:d>
                                  <m:dPr>
                                    <m:begChr m:val="["/>
                                    <m:endChr m:val="]"/>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𝐷</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𝑥</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𝑀</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𝑥</m:t>
                                    </m:r>
                                    <m:r>
                                      <a:rPr lang="en-GB" b="0" i="1" smtClean="0">
                                        <a:solidFill>
                                          <a:schemeClr val="tx1"/>
                                        </a:solidFill>
                                        <a:latin typeface="Cambria Math" panose="02040503050406030204" pitchFamily="18" charset="0"/>
                                        <a:ea typeface="Cambria Math" panose="02040503050406030204" pitchFamily="18" charset="0"/>
                                      </a:rPr>
                                      <m:t>)</m:t>
                                    </m:r>
                                  </m:e>
                                </m:d>
                              </m:oMath>
                            </m:oMathPara>
                          </a14:m>
                          <a:endParaRPr lang="en-US" sz="1800" dirty="0">
                            <a:solidFill>
                              <a:schemeClr val="tx1"/>
                            </a:solidFill>
                          </a:endParaRPr>
                        </a:p>
                      </a:txBody>
                      <a:tcPr>
                        <a:solidFill>
                          <a:schemeClr val="bg2">
                            <a:lumMod val="40000"/>
                            <a:lumOff val="60000"/>
                          </a:schemeClr>
                        </a:solidFill>
                      </a:tcPr>
                    </a:tc>
                    <a:tc>
                      <a:txBody>
                        <a:bodyPr/>
                        <a:lstStyle/>
                        <a:p>
                          <a:r>
                            <a:rPr lang="en-US" sz="1600" b="0" dirty="0">
                              <a:solidFill>
                                <a:schemeClr val="tx1"/>
                              </a:solidFill>
                            </a:rPr>
                            <a:t>Equivalent</a:t>
                          </a:r>
                          <a:r>
                            <a:rPr lang="en-US" sz="1600" b="0" baseline="0" dirty="0">
                              <a:solidFill>
                                <a:schemeClr val="tx1"/>
                              </a:solidFill>
                            </a:rPr>
                            <a:t> to (1)</a:t>
                          </a:r>
                          <a:endParaRPr lang="en-US" sz="1600" b="0" dirty="0">
                            <a:solidFill>
                              <a:schemeClr val="tx1"/>
                            </a:solidFill>
                          </a:endParaRP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309299180"/>
                  </p:ext>
                </p:extLst>
              </p:nvPr>
            </p:nvGraphicFramePr>
            <p:xfrm>
              <a:off x="2895600" y="2828486"/>
              <a:ext cx="6172200" cy="370840"/>
            </p:xfrm>
            <a:graphic>
              <a:graphicData uri="http://schemas.openxmlformats.org/drawingml/2006/table">
                <a:tbl>
                  <a:tblPr firstRow="1" bandRow="1">
                    <a:tableStyleId>{5C22544A-7EE6-4342-B048-85BDC9FD1C3A}</a:tableStyleId>
                  </a:tblPr>
                  <a:tblGrid>
                    <a:gridCol w="2514600"/>
                    <a:gridCol w="3657600"/>
                  </a:tblGrid>
                  <a:tr h="370840">
                    <a:tc>
                      <a:txBody>
                        <a:bodyPr/>
                        <a:lstStyle/>
                        <a:p>
                          <a:endParaRPr lang="en-US"/>
                        </a:p>
                      </a:txBody>
                      <a:tcPr>
                        <a:blipFill rotWithShape="0">
                          <a:blip r:embed="rId5"/>
                          <a:stretch>
                            <a:fillRect l="-484" t="-3226" r="-146247" b="-12903"/>
                          </a:stretch>
                        </a:blipFill>
                      </a:tcPr>
                    </a:tc>
                    <a:tc>
                      <a:txBody>
                        <a:bodyPr/>
                        <a:lstStyle/>
                        <a:p>
                          <a:r>
                            <a:rPr lang="en-US" sz="1600" b="0" dirty="0" smtClean="0">
                              <a:solidFill>
                                <a:schemeClr val="tx1"/>
                              </a:solidFill>
                            </a:rPr>
                            <a:t>Equivalent</a:t>
                          </a:r>
                          <a:r>
                            <a:rPr lang="en-US" sz="1600" b="0" baseline="0" dirty="0" smtClean="0">
                              <a:solidFill>
                                <a:schemeClr val="tx1"/>
                              </a:solidFill>
                            </a:rPr>
                            <a:t> to (1)</a:t>
                          </a:r>
                          <a:endParaRPr lang="en-US" sz="1600" b="0" dirty="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1894514845"/>
                  </p:ext>
                </p:extLst>
              </p:nvPr>
            </p:nvGraphicFramePr>
            <p:xfrm>
              <a:off x="2895600" y="3197681"/>
              <a:ext cx="6172200" cy="370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700" b="0" i="1" smtClean="0">
                                    <a:solidFill>
                                      <a:schemeClr val="tx1"/>
                                    </a:solidFill>
                                    <a:latin typeface="Cambria Math" panose="02040503050406030204" pitchFamily="18" charset="0"/>
                                  </a:rPr>
                                  <m:t>3.</m:t>
                                </m:r>
                                <m:r>
                                  <a:rPr lang="en-GB" sz="1700" b="0" i="1" smtClean="0">
                                    <a:solidFill>
                                      <a:schemeClr val="tx1"/>
                                    </a:solidFill>
                                    <a:latin typeface="Cambria Math" panose="02040503050406030204" pitchFamily="18" charset="0"/>
                                    <a:ea typeface="Cambria Math" panose="02040503050406030204" pitchFamily="18" charset="0"/>
                                  </a:rPr>
                                  <m:t>  </m:t>
                                </m:r>
                                <m:r>
                                  <a:rPr lang="en-GB" sz="1700" b="1" i="1" smtClean="0">
                                    <a:solidFill>
                                      <a:schemeClr val="tx1"/>
                                    </a:solidFill>
                                    <a:latin typeface="Cambria Math" panose="02040503050406030204" pitchFamily="18" charset="0"/>
                                    <a:ea typeface="Cambria Math" panose="02040503050406030204" pitchFamily="18" charset="0"/>
                                  </a:rPr>
                                  <m:t>∀</m:t>
                                </m:r>
                                <m:r>
                                  <a:rPr lang="en-GB" sz="1700" b="0" i="1" smtClean="0">
                                    <a:solidFill>
                                      <a:schemeClr val="tx1"/>
                                    </a:solidFill>
                                    <a:latin typeface="Cambria Math" panose="02040503050406030204" pitchFamily="18" charset="0"/>
                                    <a:ea typeface="Cambria Math" panose="02040503050406030204" pitchFamily="18" charset="0"/>
                                  </a:rPr>
                                  <m:t>𝑥</m:t>
                                </m:r>
                                <m:r>
                                  <a:rPr lang="en-GB" sz="1700" b="0" i="1" smtClean="0">
                                    <a:solidFill>
                                      <a:schemeClr val="tx1"/>
                                    </a:solidFill>
                                    <a:latin typeface="Cambria Math" panose="02040503050406030204" pitchFamily="18" charset="0"/>
                                    <a:ea typeface="Cambria Math" panose="02040503050406030204" pitchFamily="18" charset="0"/>
                                  </a:rPr>
                                  <m:t> </m:t>
                                </m:r>
                                <m:d>
                                  <m:dPr>
                                    <m:begChr m:val="["/>
                                    <m:endChr m:val="]"/>
                                    <m:ctrlPr>
                                      <a:rPr lang="en-GB" sz="1700" b="0" i="1" smtClean="0">
                                        <a:solidFill>
                                          <a:schemeClr val="tx1"/>
                                        </a:solidFill>
                                        <a:latin typeface="Cambria Math" panose="02040503050406030204" pitchFamily="18" charset="0"/>
                                        <a:ea typeface="Cambria Math" panose="02040503050406030204" pitchFamily="18" charset="0"/>
                                      </a:rPr>
                                    </m:ctrlPr>
                                  </m:dPr>
                                  <m:e>
                                    <m:r>
                                      <a:rPr lang="en-GB" sz="1700" b="0" i="1" smtClean="0">
                                        <a:solidFill>
                                          <a:schemeClr val="tx1"/>
                                        </a:solidFill>
                                        <a:latin typeface="Cambria Math" panose="02040503050406030204" pitchFamily="18" charset="0"/>
                                        <a:ea typeface="Cambria Math" panose="02040503050406030204" pitchFamily="18" charset="0"/>
                                      </a:rPr>
                                      <m:t>¬ </m:t>
                                    </m:r>
                                    <m:r>
                                      <a:rPr lang="en-GB" sz="1700" b="0" i="1" smtClean="0">
                                        <a:solidFill>
                                          <a:schemeClr val="tx1"/>
                                        </a:solidFill>
                                        <a:latin typeface="Cambria Math" panose="02040503050406030204" pitchFamily="18" charset="0"/>
                                        <a:ea typeface="Cambria Math" panose="02040503050406030204" pitchFamily="18" charset="0"/>
                                      </a:rPr>
                                      <m:t>𝐷</m:t>
                                    </m:r>
                                    <m:d>
                                      <m:dPr>
                                        <m:ctrlPr>
                                          <a:rPr lang="en-GB" sz="1700" b="0" i="1" smtClean="0">
                                            <a:solidFill>
                                              <a:schemeClr val="tx1"/>
                                            </a:solidFill>
                                            <a:latin typeface="Cambria Math" panose="02040503050406030204" pitchFamily="18" charset="0"/>
                                            <a:ea typeface="Cambria Math" panose="02040503050406030204" pitchFamily="18" charset="0"/>
                                          </a:rPr>
                                        </m:ctrlPr>
                                      </m:dPr>
                                      <m:e>
                                        <m:r>
                                          <a:rPr lang="en-GB" sz="1700" b="0" i="1" smtClean="0">
                                            <a:solidFill>
                                              <a:schemeClr val="tx1"/>
                                            </a:solidFill>
                                            <a:latin typeface="Cambria Math" panose="02040503050406030204" pitchFamily="18" charset="0"/>
                                            <a:ea typeface="Cambria Math" panose="02040503050406030204" pitchFamily="18" charset="0"/>
                                          </a:rPr>
                                          <m:t>𝑥</m:t>
                                        </m:r>
                                      </m:e>
                                    </m:d>
                                    <m:r>
                                      <a:rPr lang="en-GB" sz="1700" b="0" i="1" smtClean="0">
                                        <a:solidFill>
                                          <a:schemeClr val="tx1"/>
                                        </a:solidFill>
                                        <a:latin typeface="Cambria Math" panose="02040503050406030204" pitchFamily="18" charset="0"/>
                                        <a:ea typeface="Cambria Math" panose="02040503050406030204" pitchFamily="18" charset="0"/>
                                      </a:rPr>
                                      <m:t>∨¬</m:t>
                                    </m:r>
                                    <m:r>
                                      <a:rPr lang="en-GB" sz="1700" b="0" i="1" smtClean="0">
                                        <a:solidFill>
                                          <a:schemeClr val="tx1"/>
                                        </a:solidFill>
                                        <a:latin typeface="Cambria Math" panose="02040503050406030204" pitchFamily="18" charset="0"/>
                                        <a:ea typeface="Cambria Math" panose="02040503050406030204" pitchFamily="18" charset="0"/>
                                      </a:rPr>
                                      <m:t>𝑀</m:t>
                                    </m:r>
                                    <m:r>
                                      <a:rPr lang="en-GB" sz="1700" b="0" i="1" smtClean="0">
                                        <a:solidFill>
                                          <a:schemeClr val="tx1"/>
                                        </a:solidFill>
                                        <a:latin typeface="Cambria Math" panose="02040503050406030204" pitchFamily="18" charset="0"/>
                                        <a:ea typeface="Cambria Math" panose="02040503050406030204" pitchFamily="18" charset="0"/>
                                      </a:rPr>
                                      <m:t>(</m:t>
                                    </m:r>
                                    <m:r>
                                      <a:rPr lang="en-GB" sz="1700" b="0" i="1" smtClean="0">
                                        <a:solidFill>
                                          <a:schemeClr val="tx1"/>
                                        </a:solidFill>
                                        <a:latin typeface="Cambria Math" panose="02040503050406030204" pitchFamily="18" charset="0"/>
                                        <a:ea typeface="Cambria Math" panose="02040503050406030204" pitchFamily="18" charset="0"/>
                                      </a:rPr>
                                      <m:t>𝑥</m:t>
                                    </m:r>
                                    <m:r>
                                      <a:rPr lang="en-GB" sz="1700" b="0" i="1" smtClean="0">
                                        <a:solidFill>
                                          <a:schemeClr val="tx1"/>
                                        </a:solidFill>
                                        <a:latin typeface="Cambria Math" panose="02040503050406030204" pitchFamily="18" charset="0"/>
                                        <a:ea typeface="Cambria Math" panose="02040503050406030204" pitchFamily="18" charset="0"/>
                                      </a:rPr>
                                      <m:t>)</m:t>
                                    </m:r>
                                  </m:e>
                                </m:d>
                              </m:oMath>
                            </m:oMathPara>
                          </a14:m>
                          <a:endParaRPr lang="en-US" sz="1700" dirty="0">
                            <a:solidFill>
                              <a:schemeClr val="tx1"/>
                            </a:solidFill>
                          </a:endParaRPr>
                        </a:p>
                      </a:txBody>
                      <a:tcPr>
                        <a:solidFill>
                          <a:schemeClr val="bg2">
                            <a:lumMod val="40000"/>
                            <a:lumOff val="60000"/>
                          </a:schemeClr>
                        </a:solidFill>
                      </a:tcPr>
                    </a:tc>
                    <a:tc>
                      <a:txBody>
                        <a:bodyPr/>
                        <a:lstStyle/>
                        <a:p>
                          <a:r>
                            <a:rPr lang="en-US" sz="1600" b="0" dirty="0">
                              <a:solidFill>
                                <a:schemeClr val="tx1"/>
                              </a:solidFill>
                            </a:rPr>
                            <a:t>De Morgan’s</a:t>
                          </a:r>
                          <a:r>
                            <a:rPr lang="en-US" sz="1600" b="0" baseline="0" dirty="0">
                              <a:solidFill>
                                <a:schemeClr val="tx1"/>
                              </a:solidFill>
                            </a:rPr>
                            <a:t> Law</a:t>
                          </a:r>
                          <a:endParaRPr lang="en-US" sz="1600" b="0" dirty="0">
                            <a:solidFill>
                              <a:schemeClr val="tx1"/>
                            </a:solidFill>
                          </a:endParaRP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1894514845"/>
                  </p:ext>
                </p:extLst>
              </p:nvPr>
            </p:nvGraphicFramePr>
            <p:xfrm>
              <a:off x="2895600" y="3197681"/>
              <a:ext cx="6172200" cy="370840"/>
            </p:xfrm>
            <a:graphic>
              <a:graphicData uri="http://schemas.openxmlformats.org/drawingml/2006/table">
                <a:tbl>
                  <a:tblPr firstRow="1" bandRow="1">
                    <a:tableStyleId>{5C22544A-7EE6-4342-B048-85BDC9FD1C3A}</a:tableStyleId>
                  </a:tblPr>
                  <a:tblGrid>
                    <a:gridCol w="2514600"/>
                    <a:gridCol w="3657600"/>
                  </a:tblGrid>
                  <a:tr h="370840">
                    <a:tc>
                      <a:txBody>
                        <a:bodyPr/>
                        <a:lstStyle/>
                        <a:p>
                          <a:endParaRPr lang="en-US"/>
                        </a:p>
                      </a:txBody>
                      <a:tcPr>
                        <a:blipFill rotWithShape="0">
                          <a:blip r:embed="rId6"/>
                          <a:stretch>
                            <a:fillRect l="-484" t="-3226" r="-146247" b="-11290"/>
                          </a:stretch>
                        </a:blipFill>
                      </a:tcPr>
                    </a:tc>
                    <a:tc>
                      <a:txBody>
                        <a:bodyPr/>
                        <a:lstStyle/>
                        <a:p>
                          <a:r>
                            <a:rPr lang="en-US" sz="1600" b="0" dirty="0" smtClean="0">
                              <a:solidFill>
                                <a:schemeClr val="tx1"/>
                              </a:solidFill>
                            </a:rPr>
                            <a:t>De Morgan’s</a:t>
                          </a:r>
                          <a:r>
                            <a:rPr lang="en-US" sz="1600" b="0" baseline="0" dirty="0" smtClean="0">
                              <a:solidFill>
                                <a:schemeClr val="tx1"/>
                              </a:solidFill>
                            </a:rPr>
                            <a:t> Law</a:t>
                          </a:r>
                          <a:endParaRPr lang="en-US" sz="1600" b="0" dirty="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1393703217"/>
                  </p:ext>
                </p:extLst>
              </p:nvPr>
            </p:nvGraphicFramePr>
            <p:xfrm>
              <a:off x="2895600" y="3530958"/>
              <a:ext cx="6172200" cy="370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4.</m:t>
                                </m:r>
                                <m:r>
                                  <a:rPr lang="en-GB" b="0" i="1" smtClean="0">
                                    <a:solidFill>
                                      <a:schemeClr val="tx1"/>
                                    </a:solidFill>
                                    <a:latin typeface="Cambria Math" panose="02040503050406030204" pitchFamily="18" charset="0"/>
                                    <a:ea typeface="Cambria Math" panose="02040503050406030204" pitchFamily="18" charset="0"/>
                                  </a:rPr>
                                  <m:t>  </m:t>
                                </m:r>
                                <m:r>
                                  <a:rPr lang="en-GB" b="1"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𝑥</m:t>
                                </m:r>
                                <m:r>
                                  <a:rPr lang="en-GB" b="0" i="1" smtClean="0">
                                    <a:solidFill>
                                      <a:schemeClr val="tx1"/>
                                    </a:solidFill>
                                    <a:latin typeface="Cambria Math" panose="02040503050406030204" pitchFamily="18" charset="0"/>
                                    <a:ea typeface="Cambria Math" panose="02040503050406030204" pitchFamily="18" charset="0"/>
                                  </a:rPr>
                                  <m:t> </m:t>
                                </m:r>
                                <m:d>
                                  <m:dPr>
                                    <m:begChr m:val="["/>
                                    <m:endChr m:val="]"/>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𝐷</m:t>
                                    </m:r>
                                    <m:d>
                                      <m:dPr>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𝑥</m:t>
                                        </m:r>
                                      </m:e>
                                    </m:d>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𝑀</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𝑥</m:t>
                                    </m:r>
                                    <m:r>
                                      <a:rPr lang="en-GB" b="0" i="1" smtClean="0">
                                        <a:solidFill>
                                          <a:schemeClr val="tx1"/>
                                        </a:solidFill>
                                        <a:latin typeface="Cambria Math" panose="02040503050406030204" pitchFamily="18" charset="0"/>
                                        <a:ea typeface="Cambria Math" panose="02040503050406030204" pitchFamily="18" charset="0"/>
                                      </a:rPr>
                                      <m:t>)</m:t>
                                    </m:r>
                                  </m:e>
                                </m:d>
                              </m:oMath>
                            </m:oMathPara>
                          </a14:m>
                          <a:endParaRPr lang="en-US" sz="1800" dirty="0">
                            <a:solidFill>
                              <a:schemeClr val="tx1"/>
                            </a:solidFill>
                          </a:endParaRPr>
                        </a:p>
                      </a:txBody>
                      <a:tcPr>
                        <a:solidFill>
                          <a:schemeClr val="bg2">
                            <a:lumMod val="40000"/>
                            <a:lumOff val="60000"/>
                          </a:schemeClr>
                        </a:solidFill>
                      </a:tcPr>
                    </a:tc>
                    <a:tc>
                      <a:txBody>
                        <a:bodyPr/>
                        <a:lstStyle/>
                        <a:p>
                          <a:r>
                            <a:rPr lang="en-US" sz="1600" b="0" dirty="0">
                              <a:solidFill>
                                <a:schemeClr val="tx1"/>
                              </a:solidFill>
                            </a:rPr>
                            <a:t>Equivalent</a:t>
                          </a:r>
                          <a:r>
                            <a:rPr lang="en-US" sz="1600" b="0" baseline="0" dirty="0">
                              <a:solidFill>
                                <a:schemeClr val="tx1"/>
                              </a:solidFill>
                            </a:rPr>
                            <a:t> to (1)</a:t>
                          </a:r>
                          <a:endParaRPr lang="en-US" sz="1600" b="0" dirty="0">
                            <a:solidFill>
                              <a:schemeClr val="tx1"/>
                            </a:solidFill>
                          </a:endParaRP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1393703217"/>
                  </p:ext>
                </p:extLst>
              </p:nvPr>
            </p:nvGraphicFramePr>
            <p:xfrm>
              <a:off x="2895600" y="3530958"/>
              <a:ext cx="6172200" cy="370840"/>
            </p:xfrm>
            <a:graphic>
              <a:graphicData uri="http://schemas.openxmlformats.org/drawingml/2006/table">
                <a:tbl>
                  <a:tblPr firstRow="1" bandRow="1">
                    <a:tableStyleId>{5C22544A-7EE6-4342-B048-85BDC9FD1C3A}</a:tableStyleId>
                  </a:tblPr>
                  <a:tblGrid>
                    <a:gridCol w="2514600"/>
                    <a:gridCol w="3657600"/>
                  </a:tblGrid>
                  <a:tr h="370840">
                    <a:tc>
                      <a:txBody>
                        <a:bodyPr/>
                        <a:lstStyle/>
                        <a:p>
                          <a:endParaRPr lang="en-US"/>
                        </a:p>
                      </a:txBody>
                      <a:tcPr>
                        <a:blipFill rotWithShape="0">
                          <a:blip r:embed="rId7"/>
                          <a:stretch>
                            <a:fillRect l="-484" t="-4839" r="-146247" b="-12903"/>
                          </a:stretch>
                        </a:blipFill>
                      </a:tcPr>
                    </a:tc>
                    <a:tc>
                      <a:txBody>
                        <a:bodyPr/>
                        <a:lstStyle/>
                        <a:p>
                          <a:r>
                            <a:rPr lang="en-US" sz="1600" b="0" dirty="0" smtClean="0">
                              <a:solidFill>
                                <a:schemeClr val="tx1"/>
                              </a:solidFill>
                            </a:rPr>
                            <a:t>Equivalent</a:t>
                          </a:r>
                          <a:r>
                            <a:rPr lang="en-US" sz="1600" b="0" baseline="0" dirty="0" smtClean="0">
                              <a:solidFill>
                                <a:schemeClr val="tx1"/>
                              </a:solidFill>
                            </a:rPr>
                            <a:t> to (1)</a:t>
                          </a:r>
                          <a:endParaRPr lang="en-US" sz="1600" b="0" dirty="0">
                            <a:solidFill>
                              <a:schemeClr val="tx1"/>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671650572"/>
                  </p:ext>
                </p:extLst>
              </p:nvPr>
            </p:nvGraphicFramePr>
            <p:xfrm>
              <a:off x="2895600" y="3883481"/>
              <a:ext cx="6172200" cy="370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5.</m:t>
                                </m:r>
                                <m:r>
                                  <a:rPr lang="en-GB" b="0" i="1" smtClean="0">
                                    <a:solidFill>
                                      <a:schemeClr val="tx1"/>
                                    </a:solidFill>
                                    <a:latin typeface="Cambria Math" panose="02040503050406030204" pitchFamily="18" charset="0"/>
                                    <a:ea typeface="Cambria Math" panose="02040503050406030204" pitchFamily="18" charset="0"/>
                                  </a:rPr>
                                  <m:t>  </m:t>
                                </m:r>
                                <m:d>
                                  <m:dPr>
                                    <m:begChr m:val="["/>
                                    <m:endChr m:val="]"/>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𝐵</m:t>
                                    </m:r>
                                    <m:d>
                                      <m:dPr>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𝑎</m:t>
                                        </m:r>
                                      </m:e>
                                    </m:d>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𝐼</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𝑎</m:t>
                                    </m:r>
                                    <m:r>
                                      <a:rPr lang="en-GB" b="0" i="1" smtClean="0">
                                        <a:solidFill>
                                          <a:schemeClr val="tx1"/>
                                        </a:solidFill>
                                        <a:latin typeface="Cambria Math" panose="02040503050406030204" pitchFamily="18" charset="0"/>
                                        <a:ea typeface="Cambria Math" panose="02040503050406030204" pitchFamily="18" charset="0"/>
                                      </a:rPr>
                                      <m:t>)</m:t>
                                    </m:r>
                                  </m:e>
                                </m:d>
                              </m:oMath>
                            </m:oMathPara>
                          </a14:m>
                          <a:endParaRPr lang="en-US" sz="1800" dirty="0">
                            <a:solidFill>
                              <a:schemeClr val="tx1"/>
                            </a:solidFill>
                          </a:endParaRPr>
                        </a:p>
                      </a:txBody>
                      <a:tcPr>
                        <a:solidFill>
                          <a:schemeClr val="bg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a:solidFill>
                                <a:sysClr val="windowText" lastClr="000000"/>
                              </a:solidFill>
                            </a:rPr>
                            <a:t>Universal Instantiation of</a:t>
                          </a:r>
                          <a:r>
                            <a:rPr lang="en-US" sz="1600" b="0" baseline="0" dirty="0">
                              <a:solidFill>
                                <a:sysClr val="windowText" lastClr="000000"/>
                              </a:solidFill>
                            </a:rPr>
                            <a:t> </a:t>
                          </a:r>
                          <a:r>
                            <a:rPr lang="en-US" sz="1600" b="0" baseline="0" dirty="0">
                              <a:solidFill>
                                <a:schemeClr val="tx1"/>
                              </a:solidFill>
                            </a:rPr>
                            <a:t>1</a:t>
                          </a:r>
                          <a:r>
                            <a:rPr lang="en-US" sz="1600" b="0" baseline="30000" dirty="0">
                              <a:solidFill>
                                <a:schemeClr val="tx1"/>
                              </a:solidFill>
                            </a:rPr>
                            <a:t>st</a:t>
                          </a:r>
                          <a:r>
                            <a:rPr lang="en-US" sz="1600" b="0" baseline="0" dirty="0">
                              <a:solidFill>
                                <a:schemeClr val="tx1"/>
                              </a:solidFill>
                            </a:rPr>
                            <a:t> Premise</a:t>
                          </a:r>
                          <a:endParaRPr lang="en-US" sz="1600" b="1" dirty="0"/>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671650572"/>
                  </p:ext>
                </p:extLst>
              </p:nvPr>
            </p:nvGraphicFramePr>
            <p:xfrm>
              <a:off x="2895600" y="3883481"/>
              <a:ext cx="6172200" cy="370840"/>
            </p:xfrm>
            <a:graphic>
              <a:graphicData uri="http://schemas.openxmlformats.org/drawingml/2006/table">
                <a:tbl>
                  <a:tblPr firstRow="1" bandRow="1">
                    <a:tableStyleId>{5C22544A-7EE6-4342-B048-85BDC9FD1C3A}</a:tableStyleId>
                  </a:tblPr>
                  <a:tblGrid>
                    <a:gridCol w="2514600"/>
                    <a:gridCol w="3657600"/>
                  </a:tblGrid>
                  <a:tr h="370840">
                    <a:tc>
                      <a:txBody>
                        <a:bodyPr/>
                        <a:lstStyle/>
                        <a:p>
                          <a:endParaRPr lang="en-US"/>
                        </a:p>
                      </a:txBody>
                      <a:tcPr>
                        <a:blipFill rotWithShape="0">
                          <a:blip r:embed="rId8"/>
                          <a:stretch>
                            <a:fillRect l="-484" t="-4918" r="-146247" b="-14754"/>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smtClean="0">
                              <a:solidFill>
                                <a:sysClr val="windowText" lastClr="000000"/>
                              </a:solidFill>
                            </a:rPr>
                            <a:t>Universal Instantiation of</a:t>
                          </a:r>
                          <a:r>
                            <a:rPr lang="en-US" sz="1600" b="0" baseline="0" dirty="0" smtClean="0">
                              <a:solidFill>
                                <a:sysClr val="windowText" lastClr="000000"/>
                              </a:solidFill>
                            </a:rPr>
                            <a:t> </a:t>
                          </a:r>
                          <a:r>
                            <a:rPr lang="en-US" sz="1600" b="0" baseline="0" dirty="0" smtClean="0">
                              <a:solidFill>
                                <a:schemeClr val="tx1"/>
                              </a:solidFill>
                            </a:rPr>
                            <a:t>1</a:t>
                          </a:r>
                          <a:r>
                            <a:rPr lang="en-US" sz="1600" b="0" baseline="30000" dirty="0" smtClean="0">
                              <a:solidFill>
                                <a:schemeClr val="tx1"/>
                              </a:solidFill>
                            </a:rPr>
                            <a:t>st</a:t>
                          </a:r>
                          <a:r>
                            <a:rPr lang="en-US" sz="1600" b="0" baseline="0" dirty="0" smtClean="0">
                              <a:solidFill>
                                <a:schemeClr val="tx1"/>
                              </a:solidFill>
                            </a:rPr>
                            <a:t> Premise</a:t>
                          </a:r>
                          <a:endParaRPr lang="en-US" sz="1600" b="1" dirty="0" smtClean="0"/>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1162581615"/>
                  </p:ext>
                </p:extLst>
              </p:nvPr>
            </p:nvGraphicFramePr>
            <p:xfrm>
              <a:off x="2895600" y="4238723"/>
              <a:ext cx="6172200" cy="370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6.</m:t>
                                </m:r>
                                <m:r>
                                  <a:rPr lang="en-GB" b="0" i="1" smtClean="0">
                                    <a:solidFill>
                                      <a:schemeClr val="tx1"/>
                                    </a:solidFill>
                                    <a:latin typeface="Cambria Math" panose="02040503050406030204" pitchFamily="18" charset="0"/>
                                    <a:ea typeface="Cambria Math" panose="02040503050406030204" pitchFamily="18" charset="0"/>
                                  </a:rPr>
                                  <m:t>  </m:t>
                                </m:r>
                                <m:d>
                                  <m:dPr>
                                    <m:begChr m:val="["/>
                                    <m:endChr m:val="]"/>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𝐼</m:t>
                                    </m:r>
                                    <m:d>
                                      <m:dPr>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𝑎</m:t>
                                        </m:r>
                                      </m:e>
                                    </m:d>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𝐷</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𝑎</m:t>
                                    </m:r>
                                    <m:r>
                                      <a:rPr lang="en-GB" b="0" i="1" smtClean="0">
                                        <a:solidFill>
                                          <a:schemeClr val="tx1"/>
                                        </a:solidFill>
                                        <a:latin typeface="Cambria Math" panose="02040503050406030204" pitchFamily="18" charset="0"/>
                                        <a:ea typeface="Cambria Math" panose="02040503050406030204" pitchFamily="18" charset="0"/>
                                      </a:rPr>
                                      <m:t>)</m:t>
                                    </m:r>
                                  </m:e>
                                </m:d>
                              </m:oMath>
                            </m:oMathPara>
                          </a14:m>
                          <a:endParaRPr lang="en-US" sz="1800" dirty="0">
                            <a:solidFill>
                              <a:schemeClr val="tx1"/>
                            </a:solidFill>
                          </a:endParaRPr>
                        </a:p>
                      </a:txBody>
                      <a:tcPr>
                        <a:solidFill>
                          <a:schemeClr val="bg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a:solidFill>
                                <a:sysClr val="windowText" lastClr="000000"/>
                              </a:solidFill>
                            </a:rPr>
                            <a:t>Universal Instantiation of</a:t>
                          </a:r>
                          <a:r>
                            <a:rPr lang="en-US" sz="1600" b="0" baseline="0" dirty="0">
                              <a:solidFill>
                                <a:sysClr val="windowText" lastClr="000000"/>
                              </a:solidFill>
                            </a:rPr>
                            <a:t> </a:t>
                          </a:r>
                          <a:r>
                            <a:rPr lang="en-US" sz="1600" b="0" baseline="0" dirty="0">
                              <a:solidFill>
                                <a:schemeClr val="tx1"/>
                              </a:solidFill>
                            </a:rPr>
                            <a:t>2</a:t>
                          </a:r>
                          <a:r>
                            <a:rPr lang="en-US" sz="1600" b="0" baseline="30000" dirty="0">
                              <a:solidFill>
                                <a:schemeClr val="tx1"/>
                              </a:solidFill>
                            </a:rPr>
                            <a:t>nd</a:t>
                          </a:r>
                          <a:r>
                            <a:rPr lang="en-US" sz="1600" b="0" baseline="0" dirty="0">
                              <a:solidFill>
                                <a:schemeClr val="tx1"/>
                              </a:solidFill>
                            </a:rPr>
                            <a:t> Premise</a:t>
                          </a:r>
                          <a:endParaRPr lang="en-US" sz="1600" b="1" dirty="0"/>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1162581615"/>
                  </p:ext>
                </p:extLst>
              </p:nvPr>
            </p:nvGraphicFramePr>
            <p:xfrm>
              <a:off x="2895600" y="4238723"/>
              <a:ext cx="6172200" cy="370840"/>
            </p:xfrm>
            <a:graphic>
              <a:graphicData uri="http://schemas.openxmlformats.org/drawingml/2006/table">
                <a:tbl>
                  <a:tblPr firstRow="1" bandRow="1">
                    <a:tableStyleId>{5C22544A-7EE6-4342-B048-85BDC9FD1C3A}</a:tableStyleId>
                  </a:tblPr>
                  <a:tblGrid>
                    <a:gridCol w="2514600"/>
                    <a:gridCol w="3657600"/>
                  </a:tblGrid>
                  <a:tr h="370840">
                    <a:tc>
                      <a:txBody>
                        <a:bodyPr/>
                        <a:lstStyle/>
                        <a:p>
                          <a:endParaRPr lang="en-US"/>
                        </a:p>
                      </a:txBody>
                      <a:tcPr>
                        <a:blipFill rotWithShape="0">
                          <a:blip r:embed="rId9"/>
                          <a:stretch>
                            <a:fillRect l="-484" t="-4839" r="-146247" b="-12903"/>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smtClean="0">
                              <a:solidFill>
                                <a:sysClr val="windowText" lastClr="000000"/>
                              </a:solidFill>
                            </a:rPr>
                            <a:t>Universal Instantiation of</a:t>
                          </a:r>
                          <a:r>
                            <a:rPr lang="en-US" sz="1600" b="0" baseline="0" dirty="0" smtClean="0">
                              <a:solidFill>
                                <a:sysClr val="windowText" lastClr="000000"/>
                              </a:solidFill>
                            </a:rPr>
                            <a:t> </a:t>
                          </a:r>
                          <a:r>
                            <a:rPr lang="en-US" sz="1600" b="0" baseline="0" dirty="0" smtClean="0">
                              <a:solidFill>
                                <a:schemeClr val="tx1"/>
                              </a:solidFill>
                            </a:rPr>
                            <a:t>2</a:t>
                          </a:r>
                          <a:r>
                            <a:rPr lang="en-US" sz="1600" b="0" baseline="30000" dirty="0" smtClean="0">
                              <a:solidFill>
                                <a:schemeClr val="tx1"/>
                              </a:solidFill>
                            </a:rPr>
                            <a:t>nd</a:t>
                          </a:r>
                          <a:r>
                            <a:rPr lang="en-US" sz="1600" b="0" baseline="0" dirty="0" smtClean="0">
                              <a:solidFill>
                                <a:schemeClr val="tx1"/>
                              </a:solidFill>
                            </a:rPr>
                            <a:t> </a:t>
                          </a:r>
                          <a:r>
                            <a:rPr lang="en-US" sz="1600" b="0" baseline="0" dirty="0" smtClean="0">
                              <a:solidFill>
                                <a:schemeClr val="tx1"/>
                              </a:solidFill>
                            </a:rPr>
                            <a:t>Premise</a:t>
                          </a:r>
                          <a:endParaRPr lang="en-US" sz="1600" b="1" dirty="0" smtClean="0"/>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1158959042"/>
                  </p:ext>
                </p:extLst>
              </p:nvPr>
            </p:nvGraphicFramePr>
            <p:xfrm>
              <a:off x="2895600" y="4561482"/>
              <a:ext cx="6172200" cy="3657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25714">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7.</m:t>
                                </m:r>
                                <m:r>
                                  <a:rPr lang="en-GB" b="0" i="1" smtClean="0">
                                    <a:solidFill>
                                      <a:schemeClr val="tx1"/>
                                    </a:solidFill>
                                    <a:latin typeface="Cambria Math" panose="02040503050406030204" pitchFamily="18" charset="0"/>
                                    <a:ea typeface="Cambria Math" panose="02040503050406030204" pitchFamily="18" charset="0"/>
                                  </a:rPr>
                                  <m:t>  </m:t>
                                </m:r>
                                <m:d>
                                  <m:dPr>
                                    <m:begChr m:val="["/>
                                    <m:endChr m:val="]"/>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𝐷</m:t>
                                    </m:r>
                                    <m:d>
                                      <m:dPr>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𝑎</m:t>
                                        </m:r>
                                      </m:e>
                                    </m:d>
                                    <m:r>
                                      <a:rPr lang="en-GB" b="0" i="1" smtClean="0">
                                        <a:solidFill>
                                          <a:schemeClr val="tx1"/>
                                        </a:solidFill>
                                        <a:latin typeface="Cambria Math" panose="02040503050406030204" pitchFamily="18" charset="0"/>
                                        <a:ea typeface="Cambria Math" panose="02040503050406030204" pitchFamily="18" charset="0"/>
                                      </a:rPr>
                                      <m:t>→¬ </m:t>
                                    </m:r>
                                    <m:r>
                                      <a:rPr lang="en-GB" b="0" i="1" smtClean="0">
                                        <a:solidFill>
                                          <a:schemeClr val="tx1"/>
                                        </a:solidFill>
                                        <a:latin typeface="Cambria Math" panose="02040503050406030204" pitchFamily="18" charset="0"/>
                                        <a:ea typeface="Cambria Math" panose="02040503050406030204" pitchFamily="18" charset="0"/>
                                      </a:rPr>
                                      <m:t>𝑀</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𝑎</m:t>
                                    </m:r>
                                    <m:r>
                                      <a:rPr lang="en-GB" b="0" i="1" smtClean="0">
                                        <a:solidFill>
                                          <a:schemeClr val="tx1"/>
                                        </a:solidFill>
                                        <a:latin typeface="Cambria Math" panose="02040503050406030204" pitchFamily="18" charset="0"/>
                                        <a:ea typeface="Cambria Math" panose="02040503050406030204" pitchFamily="18" charset="0"/>
                                      </a:rPr>
                                      <m:t>)</m:t>
                                    </m:r>
                                  </m:e>
                                </m:d>
                              </m:oMath>
                            </m:oMathPara>
                          </a14:m>
                          <a:endParaRPr lang="en-US" sz="1800" dirty="0">
                            <a:solidFill>
                              <a:schemeClr val="tx1"/>
                            </a:solidFill>
                          </a:endParaRPr>
                        </a:p>
                      </a:txBody>
                      <a:tcPr>
                        <a:solidFill>
                          <a:schemeClr val="bg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a:solidFill>
                                <a:sysClr val="windowText" lastClr="000000"/>
                              </a:solidFill>
                            </a:rPr>
                            <a:t>Universal Instantiation of</a:t>
                          </a:r>
                          <a:r>
                            <a:rPr lang="en-US" sz="1600" b="0" baseline="0" dirty="0">
                              <a:solidFill>
                                <a:sysClr val="windowText" lastClr="000000"/>
                              </a:solidFill>
                            </a:rPr>
                            <a:t> </a:t>
                          </a:r>
                          <a:r>
                            <a:rPr lang="en-US" sz="1600" b="0" baseline="0" dirty="0">
                              <a:solidFill>
                                <a:schemeClr val="tx1"/>
                              </a:solidFill>
                            </a:rPr>
                            <a:t>(4)</a:t>
                          </a:r>
                          <a:endParaRPr lang="en-US" sz="1600" b="1" dirty="0"/>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1158959042"/>
                  </p:ext>
                </p:extLst>
              </p:nvPr>
            </p:nvGraphicFramePr>
            <p:xfrm>
              <a:off x="2895600" y="4561482"/>
              <a:ext cx="6172200" cy="365760"/>
            </p:xfrm>
            <a:graphic>
              <a:graphicData uri="http://schemas.openxmlformats.org/drawingml/2006/table">
                <a:tbl>
                  <a:tblPr firstRow="1" bandRow="1">
                    <a:tableStyleId>{5C22544A-7EE6-4342-B048-85BDC9FD1C3A}</a:tableStyleId>
                  </a:tblPr>
                  <a:tblGrid>
                    <a:gridCol w="2514600"/>
                    <a:gridCol w="3657600"/>
                  </a:tblGrid>
                  <a:tr h="365760">
                    <a:tc>
                      <a:txBody>
                        <a:bodyPr/>
                        <a:lstStyle/>
                        <a:p>
                          <a:endParaRPr lang="en-US"/>
                        </a:p>
                      </a:txBody>
                      <a:tcPr>
                        <a:blipFill rotWithShape="0">
                          <a:blip r:embed="rId10"/>
                          <a:stretch>
                            <a:fillRect l="-484" t="-4918" r="-146247" b="-14754"/>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dirty="0" smtClean="0">
                              <a:solidFill>
                                <a:sysClr val="windowText" lastClr="000000"/>
                              </a:solidFill>
                            </a:rPr>
                            <a:t>Universal Instantiation of</a:t>
                          </a:r>
                          <a:r>
                            <a:rPr lang="en-US" sz="1600" b="0" baseline="0" dirty="0" smtClean="0">
                              <a:solidFill>
                                <a:sysClr val="windowText" lastClr="000000"/>
                              </a:solidFill>
                            </a:rPr>
                            <a:t> </a:t>
                          </a:r>
                          <a:r>
                            <a:rPr lang="en-US" sz="1600" b="0" baseline="0" dirty="0" smtClean="0">
                              <a:solidFill>
                                <a:schemeClr val="tx1"/>
                              </a:solidFill>
                            </a:rPr>
                            <a:t>(4)</a:t>
                          </a:r>
                          <a:endParaRPr lang="en-US" sz="1600" b="1" dirty="0" smtClean="0"/>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3934464641"/>
                  </p:ext>
                </p:extLst>
              </p:nvPr>
            </p:nvGraphicFramePr>
            <p:xfrm>
              <a:off x="2895600" y="4928520"/>
              <a:ext cx="6172200" cy="370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8.</m:t>
                                </m:r>
                                <m:r>
                                  <a:rPr lang="en-GB" b="0" i="1" smtClean="0">
                                    <a:solidFill>
                                      <a:schemeClr val="tx1"/>
                                    </a:solidFill>
                                    <a:latin typeface="Cambria Math" panose="02040503050406030204" pitchFamily="18" charset="0"/>
                                    <a:ea typeface="Cambria Math" panose="02040503050406030204" pitchFamily="18" charset="0"/>
                                  </a:rPr>
                                  <m:t>  </m:t>
                                </m:r>
                                <m:d>
                                  <m:dPr>
                                    <m:begChr m:val="["/>
                                    <m:endChr m:val="]"/>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𝐵</m:t>
                                    </m:r>
                                    <m:d>
                                      <m:dPr>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𝑎</m:t>
                                        </m:r>
                                      </m:e>
                                    </m:d>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𝐷</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𝑎</m:t>
                                    </m:r>
                                    <m:r>
                                      <a:rPr lang="en-GB" b="0" i="1" smtClean="0">
                                        <a:solidFill>
                                          <a:schemeClr val="tx1"/>
                                        </a:solidFill>
                                        <a:latin typeface="Cambria Math" panose="02040503050406030204" pitchFamily="18" charset="0"/>
                                        <a:ea typeface="Cambria Math" panose="02040503050406030204" pitchFamily="18" charset="0"/>
                                      </a:rPr>
                                      <m:t>)</m:t>
                                    </m:r>
                                  </m:e>
                                </m:d>
                              </m:oMath>
                            </m:oMathPara>
                          </a14:m>
                          <a:endParaRPr lang="en-US" sz="1800" dirty="0">
                            <a:solidFill>
                              <a:schemeClr val="tx1"/>
                            </a:solidFill>
                          </a:endParaRPr>
                        </a:p>
                      </a:txBody>
                      <a:tcPr>
                        <a:solidFill>
                          <a:schemeClr val="bg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0" dirty="0">
                              <a:solidFill>
                                <a:sysClr val="windowText" lastClr="000000"/>
                              </a:solidFill>
                            </a:rPr>
                            <a:t>Hypothetical syllogism of (5) and (6)</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3934464641"/>
                  </p:ext>
                </p:extLst>
              </p:nvPr>
            </p:nvGraphicFramePr>
            <p:xfrm>
              <a:off x="2895600" y="4928520"/>
              <a:ext cx="6172200" cy="370840"/>
            </p:xfrm>
            <a:graphic>
              <a:graphicData uri="http://schemas.openxmlformats.org/drawingml/2006/table">
                <a:tbl>
                  <a:tblPr firstRow="1" bandRow="1">
                    <a:tableStyleId>{5C22544A-7EE6-4342-B048-85BDC9FD1C3A}</a:tableStyleId>
                  </a:tblPr>
                  <a:tblGrid>
                    <a:gridCol w="2514600"/>
                    <a:gridCol w="3657600"/>
                  </a:tblGrid>
                  <a:tr h="370840">
                    <a:tc>
                      <a:txBody>
                        <a:bodyPr/>
                        <a:lstStyle/>
                        <a:p>
                          <a:endParaRPr lang="en-US"/>
                        </a:p>
                      </a:txBody>
                      <a:tcPr>
                        <a:blipFill rotWithShape="0">
                          <a:blip r:embed="rId11"/>
                          <a:stretch>
                            <a:fillRect l="-484" t="-4839" r="-146247" b="-12903"/>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0" dirty="0" smtClean="0">
                              <a:solidFill>
                                <a:sysClr val="windowText" lastClr="000000"/>
                              </a:solidFill>
                            </a:rPr>
                            <a:t>Hypothetical syllogism of (5) and (6)</a:t>
                          </a: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6" name="Table 15"/>
              <p:cNvGraphicFramePr>
                <a:graphicFrameLocks noGrp="1"/>
              </p:cNvGraphicFramePr>
              <p:nvPr>
                <p:extLst>
                  <p:ext uri="{D42A27DB-BD31-4B8C-83A1-F6EECF244321}">
                    <p14:modId xmlns:p14="http://schemas.microsoft.com/office/powerpoint/2010/main" val="2583995929"/>
                  </p:ext>
                </p:extLst>
              </p:nvPr>
            </p:nvGraphicFramePr>
            <p:xfrm>
              <a:off x="2895600" y="5267960"/>
              <a:ext cx="6172200" cy="37084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9.</m:t>
                                </m:r>
                                <m:r>
                                  <a:rPr lang="en-GB" b="0" i="1" smtClean="0">
                                    <a:solidFill>
                                      <a:schemeClr val="tx1"/>
                                    </a:solidFill>
                                    <a:latin typeface="Cambria Math" panose="02040503050406030204" pitchFamily="18" charset="0"/>
                                    <a:ea typeface="Cambria Math" panose="02040503050406030204" pitchFamily="18" charset="0"/>
                                  </a:rPr>
                                  <m:t>  </m:t>
                                </m:r>
                                <m:d>
                                  <m:dPr>
                                    <m:begChr m:val="["/>
                                    <m:endChr m:val="]"/>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𝐵</m:t>
                                    </m:r>
                                    <m:d>
                                      <m:dPr>
                                        <m:ctrlPr>
                                          <a:rPr lang="en-GB" b="0" i="1" smtClean="0">
                                            <a:solidFill>
                                              <a:schemeClr val="tx1"/>
                                            </a:solidFill>
                                            <a:latin typeface="Cambria Math" panose="02040503050406030204" pitchFamily="18" charset="0"/>
                                            <a:ea typeface="Cambria Math" panose="02040503050406030204" pitchFamily="18" charset="0"/>
                                          </a:rPr>
                                        </m:ctrlPr>
                                      </m:dPr>
                                      <m:e>
                                        <m:r>
                                          <a:rPr lang="en-GB" b="0" i="1" smtClean="0">
                                            <a:solidFill>
                                              <a:schemeClr val="tx1"/>
                                            </a:solidFill>
                                            <a:latin typeface="Cambria Math" panose="02040503050406030204" pitchFamily="18" charset="0"/>
                                            <a:ea typeface="Cambria Math" panose="02040503050406030204" pitchFamily="18" charset="0"/>
                                          </a:rPr>
                                          <m:t>𝑎</m:t>
                                        </m:r>
                                      </m:e>
                                    </m:d>
                                    <m:r>
                                      <a:rPr lang="en-GB" b="0" i="1" smtClean="0">
                                        <a:solidFill>
                                          <a:schemeClr val="tx1"/>
                                        </a:solidFill>
                                        <a:latin typeface="Cambria Math" panose="02040503050406030204" pitchFamily="18" charset="0"/>
                                        <a:ea typeface="Cambria Math" panose="02040503050406030204" pitchFamily="18" charset="0"/>
                                      </a:rPr>
                                      <m:t>→¬ </m:t>
                                    </m:r>
                                    <m:r>
                                      <a:rPr lang="en-GB" b="0" i="1" smtClean="0">
                                        <a:solidFill>
                                          <a:schemeClr val="tx1"/>
                                        </a:solidFill>
                                        <a:latin typeface="Cambria Math" panose="02040503050406030204" pitchFamily="18" charset="0"/>
                                        <a:ea typeface="Cambria Math" panose="02040503050406030204" pitchFamily="18" charset="0"/>
                                      </a:rPr>
                                      <m:t>𝑀</m:t>
                                    </m:r>
                                    <m:r>
                                      <a:rPr lang="en-GB" b="0"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𝑎</m:t>
                                    </m:r>
                                    <m:r>
                                      <a:rPr lang="en-GB" b="0" i="1" smtClean="0">
                                        <a:solidFill>
                                          <a:schemeClr val="tx1"/>
                                        </a:solidFill>
                                        <a:latin typeface="Cambria Math" panose="02040503050406030204" pitchFamily="18" charset="0"/>
                                        <a:ea typeface="Cambria Math" panose="02040503050406030204" pitchFamily="18" charset="0"/>
                                      </a:rPr>
                                      <m:t>)</m:t>
                                    </m:r>
                                  </m:e>
                                </m:d>
                              </m:oMath>
                            </m:oMathPara>
                          </a14:m>
                          <a:endParaRPr lang="en-US" sz="1800" dirty="0">
                            <a:solidFill>
                              <a:schemeClr val="tx1"/>
                            </a:solidFill>
                          </a:endParaRPr>
                        </a:p>
                      </a:txBody>
                      <a:tcPr>
                        <a:solidFill>
                          <a:schemeClr val="bg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0" dirty="0">
                              <a:solidFill>
                                <a:sysClr val="windowText" lastClr="000000"/>
                              </a:solidFill>
                            </a:rPr>
                            <a:t>Hypothetical syllogism of (8) and (7)</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6" name="Table 15"/>
              <p:cNvGraphicFramePr>
                <a:graphicFrameLocks noGrp="1"/>
              </p:cNvGraphicFramePr>
              <p:nvPr>
                <p:extLst>
                  <p:ext uri="{D42A27DB-BD31-4B8C-83A1-F6EECF244321}">
                    <p14:modId xmlns:p14="http://schemas.microsoft.com/office/powerpoint/2010/main" val="2583995929"/>
                  </p:ext>
                </p:extLst>
              </p:nvPr>
            </p:nvGraphicFramePr>
            <p:xfrm>
              <a:off x="2895600" y="5267960"/>
              <a:ext cx="6172200" cy="370840"/>
            </p:xfrm>
            <a:graphic>
              <a:graphicData uri="http://schemas.openxmlformats.org/drawingml/2006/table">
                <a:tbl>
                  <a:tblPr firstRow="1" bandRow="1">
                    <a:tableStyleId>{5C22544A-7EE6-4342-B048-85BDC9FD1C3A}</a:tableStyleId>
                  </a:tblPr>
                  <a:tblGrid>
                    <a:gridCol w="2514600"/>
                    <a:gridCol w="3657600"/>
                  </a:tblGrid>
                  <a:tr h="370840">
                    <a:tc>
                      <a:txBody>
                        <a:bodyPr/>
                        <a:lstStyle/>
                        <a:p>
                          <a:endParaRPr lang="en-US"/>
                        </a:p>
                      </a:txBody>
                      <a:tcPr>
                        <a:blipFill rotWithShape="0">
                          <a:blip r:embed="rId12"/>
                          <a:stretch>
                            <a:fillRect l="-484" t="-4918" r="-146247" b="-14754"/>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0" dirty="0" smtClean="0">
                              <a:solidFill>
                                <a:sysClr val="windowText" lastClr="000000"/>
                              </a:solidFill>
                            </a:rPr>
                            <a:t>Hypothetical syllogism of (8) and (7)</a:t>
                          </a: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7" name="Table 16"/>
              <p:cNvGraphicFramePr>
                <a:graphicFrameLocks noGrp="1"/>
              </p:cNvGraphicFramePr>
              <p:nvPr>
                <p:extLst>
                  <p:ext uri="{D42A27DB-BD31-4B8C-83A1-F6EECF244321}">
                    <p14:modId xmlns:p14="http://schemas.microsoft.com/office/powerpoint/2010/main" val="1281115237"/>
                  </p:ext>
                </p:extLst>
              </p:nvPr>
            </p:nvGraphicFramePr>
            <p:xfrm>
              <a:off x="2867885" y="5655895"/>
              <a:ext cx="6172200" cy="370840"/>
            </p:xfrm>
            <a:graphic>
              <a:graphicData uri="http://schemas.openxmlformats.org/drawingml/2006/table">
                <a:tbl>
                  <a:tblPr firstRow="1" bandRow="1">
                    <a:tableStyleId>{5C22544A-7EE6-4342-B048-85BDC9FD1C3A}</a:tableStyleId>
                  </a:tblPr>
                  <a:tblGrid>
                    <a:gridCol w="2542315">
                      <a:extLst>
                        <a:ext uri="{9D8B030D-6E8A-4147-A177-3AD203B41FA5}">
                          <a16:colId xmlns:a16="http://schemas.microsoft.com/office/drawing/2014/main" val="20000"/>
                        </a:ext>
                      </a:extLst>
                    </a:gridCol>
                    <a:gridCol w="3629885">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800" b="0" i="1" smtClean="0">
                                    <a:solidFill>
                                      <a:schemeClr val="tx1"/>
                                    </a:solidFill>
                                    <a:latin typeface="Cambria Math" panose="02040503050406030204" pitchFamily="18" charset="0"/>
                                  </a:rPr>
                                  <m:t>1</m:t>
                                </m:r>
                                <m:r>
                                  <a:rPr lang="en-GB" sz="1800" b="0" i="1" smtClean="0">
                                    <a:solidFill>
                                      <a:schemeClr val="tx1"/>
                                    </a:solidFill>
                                    <a:latin typeface="Cambria Math" panose="02040503050406030204" pitchFamily="18" charset="0"/>
                                  </a:rPr>
                                  <m:t>0</m:t>
                                </m:r>
                                <m:r>
                                  <a:rPr lang="en-US" sz="1800" b="0" i="1" smtClean="0">
                                    <a:solidFill>
                                      <a:schemeClr val="tx1"/>
                                    </a:solidFill>
                                    <a:latin typeface="Cambria Math" panose="02040503050406030204" pitchFamily="18" charset="0"/>
                                  </a:rPr>
                                  <m:t>.</m:t>
                                </m:r>
                                <m:r>
                                  <a:rPr lang="en-GB" b="0" i="1" smtClean="0">
                                    <a:solidFill>
                                      <a:sysClr val="windowText" lastClr="000000"/>
                                    </a:solidFill>
                                    <a:latin typeface="Cambria Math" panose="02040503050406030204" pitchFamily="18" charset="0"/>
                                    <a:ea typeface="Cambria Math" panose="02040503050406030204" pitchFamily="18" charset="0"/>
                                  </a:rPr>
                                  <m:t>∀</m:t>
                                </m:r>
                                <m:r>
                                  <a:rPr lang="en-GB" b="0" i="1" smtClean="0">
                                    <a:solidFill>
                                      <a:sysClr val="windowText" lastClr="000000"/>
                                    </a:solidFill>
                                    <a:latin typeface="Cambria Math" panose="02040503050406030204" pitchFamily="18" charset="0"/>
                                    <a:ea typeface="Cambria Math" panose="02040503050406030204" pitchFamily="18" charset="0"/>
                                  </a:rPr>
                                  <m:t>𝑥</m:t>
                                </m:r>
                                <m:d>
                                  <m:dPr>
                                    <m:begChr m:val="["/>
                                    <m:endChr m:val="]"/>
                                    <m:ctrlPr>
                                      <a:rPr lang="en-GB" b="0" i="1" smtClean="0">
                                        <a:solidFill>
                                          <a:sysClr val="windowText" lastClr="000000"/>
                                        </a:solidFill>
                                        <a:latin typeface="Cambria Math" panose="02040503050406030204" pitchFamily="18" charset="0"/>
                                        <a:ea typeface="Cambria Math" panose="02040503050406030204" pitchFamily="18" charset="0"/>
                                      </a:rPr>
                                    </m:ctrlPr>
                                  </m:dPr>
                                  <m:e>
                                    <m:r>
                                      <a:rPr lang="en-GB" b="0" i="1" smtClean="0">
                                        <a:solidFill>
                                          <a:sysClr val="windowText" lastClr="000000"/>
                                        </a:solidFill>
                                        <a:latin typeface="Cambria Math" panose="02040503050406030204" pitchFamily="18" charset="0"/>
                                        <a:ea typeface="Cambria Math" panose="02040503050406030204" pitchFamily="18" charset="0"/>
                                      </a:rPr>
                                      <m:t>𝐵</m:t>
                                    </m:r>
                                    <m:d>
                                      <m:dPr>
                                        <m:ctrlPr>
                                          <a:rPr lang="en-GB" b="0" i="1" smtClean="0">
                                            <a:solidFill>
                                              <a:sysClr val="windowText" lastClr="000000"/>
                                            </a:solidFill>
                                            <a:latin typeface="Cambria Math" panose="02040503050406030204" pitchFamily="18" charset="0"/>
                                            <a:ea typeface="Cambria Math" panose="02040503050406030204" pitchFamily="18" charset="0"/>
                                          </a:rPr>
                                        </m:ctrlPr>
                                      </m:dPr>
                                      <m:e>
                                        <m:r>
                                          <a:rPr lang="en-GB" b="0" i="1" smtClean="0">
                                            <a:solidFill>
                                              <a:sysClr val="windowText" lastClr="000000"/>
                                            </a:solidFill>
                                            <a:latin typeface="Cambria Math" panose="02040503050406030204" pitchFamily="18" charset="0"/>
                                            <a:ea typeface="Cambria Math" panose="02040503050406030204" pitchFamily="18" charset="0"/>
                                          </a:rPr>
                                          <m:t>𝑥</m:t>
                                        </m:r>
                                      </m:e>
                                    </m:d>
                                    <m:r>
                                      <a:rPr lang="en-GB" b="0" i="1" smtClean="0">
                                        <a:solidFill>
                                          <a:sysClr val="windowText" lastClr="000000"/>
                                        </a:solidFill>
                                        <a:latin typeface="Cambria Math" panose="02040503050406030204" pitchFamily="18" charset="0"/>
                                        <a:ea typeface="Cambria Math" panose="02040503050406030204" pitchFamily="18" charset="0"/>
                                      </a:rPr>
                                      <m:t>→¬ </m:t>
                                    </m:r>
                                    <m:r>
                                      <a:rPr lang="en-GB" b="0" i="1" smtClean="0">
                                        <a:solidFill>
                                          <a:sysClr val="windowText" lastClr="000000"/>
                                        </a:solidFill>
                                        <a:latin typeface="Cambria Math" panose="02040503050406030204" pitchFamily="18" charset="0"/>
                                        <a:ea typeface="Cambria Math" panose="02040503050406030204" pitchFamily="18" charset="0"/>
                                      </a:rPr>
                                      <m:t>𝑀</m:t>
                                    </m:r>
                                    <m:r>
                                      <a:rPr lang="en-GB" b="0" i="1" smtClean="0">
                                        <a:solidFill>
                                          <a:sysClr val="windowText" lastClr="000000"/>
                                        </a:solidFill>
                                        <a:latin typeface="Cambria Math" panose="02040503050406030204" pitchFamily="18" charset="0"/>
                                        <a:ea typeface="Cambria Math" panose="02040503050406030204" pitchFamily="18" charset="0"/>
                                      </a:rPr>
                                      <m:t>(</m:t>
                                    </m:r>
                                    <m:r>
                                      <a:rPr lang="en-GB" b="0" i="1" smtClean="0">
                                        <a:solidFill>
                                          <a:sysClr val="windowText" lastClr="000000"/>
                                        </a:solidFill>
                                        <a:latin typeface="Cambria Math" panose="02040503050406030204" pitchFamily="18" charset="0"/>
                                        <a:ea typeface="Cambria Math" panose="02040503050406030204" pitchFamily="18" charset="0"/>
                                      </a:rPr>
                                      <m:t>𝑥</m:t>
                                    </m:r>
                                    <m:r>
                                      <a:rPr lang="en-GB" b="0" i="1" smtClean="0">
                                        <a:solidFill>
                                          <a:sysClr val="windowText" lastClr="000000"/>
                                        </a:solidFill>
                                        <a:latin typeface="Cambria Math" panose="02040503050406030204" pitchFamily="18" charset="0"/>
                                        <a:ea typeface="Cambria Math" panose="02040503050406030204" pitchFamily="18" charset="0"/>
                                      </a:rPr>
                                      <m:t>)</m:t>
                                    </m:r>
                                  </m:e>
                                </m:d>
                              </m:oMath>
                            </m:oMathPara>
                          </a14:m>
                          <a:endParaRPr lang="en-US" sz="1800" dirty="0">
                            <a:solidFill>
                              <a:schemeClr val="tx1"/>
                            </a:solidFill>
                          </a:endParaRPr>
                        </a:p>
                      </a:txBody>
                      <a:tcPr>
                        <a:solidFill>
                          <a:srgbClr val="00B0F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0" dirty="0">
                              <a:solidFill>
                                <a:sysClr val="windowText" lastClr="000000"/>
                              </a:solidFill>
                            </a:rPr>
                            <a:t>Universal generalization of (9).</a:t>
                          </a:r>
                        </a:p>
                      </a:txBody>
                      <a:tcPr>
                        <a:solidFill>
                          <a:srgbClr val="00B0F0"/>
                        </a:solidFill>
                      </a:tcPr>
                    </a:tc>
                    <a:extLst>
                      <a:ext uri="{0D108BD9-81ED-4DB2-BD59-A6C34878D82A}">
                        <a16:rowId xmlns:a16="http://schemas.microsoft.com/office/drawing/2014/main" val="10000"/>
                      </a:ext>
                    </a:extLst>
                  </a:tr>
                </a:tbl>
              </a:graphicData>
            </a:graphic>
          </p:graphicFrame>
        </mc:Choice>
        <mc:Fallback xmlns="">
          <p:graphicFrame>
            <p:nvGraphicFramePr>
              <p:cNvPr id="17" name="Table 16"/>
              <p:cNvGraphicFramePr>
                <a:graphicFrameLocks noGrp="1"/>
              </p:cNvGraphicFramePr>
              <p:nvPr>
                <p:extLst>
                  <p:ext uri="{D42A27DB-BD31-4B8C-83A1-F6EECF244321}">
                    <p14:modId xmlns:p14="http://schemas.microsoft.com/office/powerpoint/2010/main" val="1281115237"/>
                  </p:ext>
                </p:extLst>
              </p:nvPr>
            </p:nvGraphicFramePr>
            <p:xfrm>
              <a:off x="2867885" y="5655895"/>
              <a:ext cx="6172200" cy="370840"/>
            </p:xfrm>
            <a:graphic>
              <a:graphicData uri="http://schemas.openxmlformats.org/drawingml/2006/table">
                <a:tbl>
                  <a:tblPr firstRow="1" bandRow="1">
                    <a:tableStyleId>{5C22544A-7EE6-4342-B048-85BDC9FD1C3A}</a:tableStyleId>
                  </a:tblPr>
                  <a:tblGrid>
                    <a:gridCol w="2542315"/>
                    <a:gridCol w="3629885"/>
                  </a:tblGrid>
                  <a:tr h="370840">
                    <a:tc>
                      <a:txBody>
                        <a:bodyPr/>
                        <a:lstStyle/>
                        <a:p>
                          <a:endParaRPr lang="en-US"/>
                        </a:p>
                      </a:txBody>
                      <a:tcPr>
                        <a:blipFill rotWithShape="0">
                          <a:blip r:embed="rId13"/>
                          <a:stretch>
                            <a:fillRect l="-240" t="-3226" r="-144125" b="-12903"/>
                          </a:stretch>
                        </a:blip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0" dirty="0" smtClean="0">
                              <a:solidFill>
                                <a:sysClr val="windowText" lastClr="000000"/>
                              </a:solidFill>
                            </a:rPr>
                            <a:t>Universal generalization of (9).</a:t>
                          </a:r>
                        </a:p>
                      </a:txBody>
                      <a:tcPr>
                        <a:solidFill>
                          <a:srgbClr val="00B0F0"/>
                        </a:solidFill>
                      </a:tcPr>
                    </a:tc>
                  </a:tr>
                </a:tbl>
              </a:graphicData>
            </a:graphic>
          </p:graphicFrame>
        </mc:Fallback>
      </mc:AlternateContent>
    </p:spTree>
    <p:extLst>
      <p:ext uri="{BB962C8B-B14F-4D97-AF65-F5344CB8AC3E}">
        <p14:creationId xmlns:p14="http://schemas.microsoft.com/office/powerpoint/2010/main" val="411630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Another Example</a:t>
            </a:r>
          </a:p>
        </p:txBody>
      </p:sp>
      <p:sp>
        <p:nvSpPr>
          <p:cNvPr id="4" name="Date Placeholder 3"/>
          <p:cNvSpPr>
            <a:spLocks noGrp="1"/>
          </p:cNvSpPr>
          <p:nvPr>
            <p:ph type="dt" sz="half" idx="10"/>
          </p:nvPr>
        </p:nvSpPr>
        <p:spPr/>
        <p:txBody>
          <a:bodyPr/>
          <a:lstStyle/>
          <a:p>
            <a:fld id="{2116F7E6-1DFD-43AF-A14B-93A32CA5255F}"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21</a:t>
            </a:fld>
            <a:endParaRPr lang="en-US"/>
          </a:p>
        </p:txBody>
      </p:sp>
      <p:sp>
        <p:nvSpPr>
          <p:cNvPr id="7" name="Rectangle 6"/>
          <p:cNvSpPr/>
          <p:nvPr/>
        </p:nvSpPr>
        <p:spPr>
          <a:xfrm>
            <a:off x="457201" y="1669971"/>
            <a:ext cx="8229600" cy="2215991"/>
          </a:xfrm>
          <a:prstGeom prst="rect">
            <a:avLst/>
          </a:prstGeom>
        </p:spPr>
        <p:txBody>
          <a:bodyPr wrap="square">
            <a:spAutoFit/>
          </a:bodyPr>
          <a:lstStyle/>
          <a:p>
            <a:r>
              <a:rPr lang="en-US" sz="2000" dirty="0"/>
              <a:t>Test the validity of the argument:</a:t>
            </a:r>
          </a:p>
          <a:p>
            <a:r>
              <a:rPr lang="en-US" sz="2000" dirty="0"/>
              <a:t>Anyone performs well is either intelligent or a good actor.</a:t>
            </a:r>
          </a:p>
          <a:p>
            <a:r>
              <a:rPr lang="en-US" sz="2000" dirty="0"/>
              <a:t>If someone is intelligent, then he/she can count from 1 to 10.</a:t>
            </a:r>
          </a:p>
          <a:p>
            <a:r>
              <a:rPr lang="en-US" sz="2000" dirty="0"/>
              <a:t>Gary performs well.</a:t>
            </a:r>
          </a:p>
          <a:p>
            <a:r>
              <a:rPr lang="en-US" sz="2000" dirty="0"/>
              <a:t>Gary can only count from 1 to 3.</a:t>
            </a:r>
          </a:p>
          <a:p>
            <a:r>
              <a:rPr lang="en-US" sz="2000" dirty="0"/>
              <a:t>Therefore, not everyone is both intelligent and a good actor.</a:t>
            </a:r>
          </a:p>
          <a:p>
            <a:r>
              <a:rPr lang="en-US" dirty="0"/>
              <a:t>   </a:t>
            </a:r>
          </a:p>
        </p:txBody>
      </p:sp>
      <p:sp>
        <p:nvSpPr>
          <p:cNvPr id="8" name="Rectangle 7"/>
          <p:cNvSpPr/>
          <p:nvPr/>
        </p:nvSpPr>
        <p:spPr>
          <a:xfrm>
            <a:off x="304800" y="4191000"/>
            <a:ext cx="3886200" cy="1446550"/>
          </a:xfrm>
          <a:prstGeom prst="rect">
            <a:avLst/>
          </a:prstGeom>
        </p:spPr>
        <p:txBody>
          <a:bodyPr wrap="square">
            <a:spAutoFit/>
          </a:bodyPr>
          <a:lstStyle/>
          <a:p>
            <a:r>
              <a:rPr lang="en-US" sz="2800" dirty="0"/>
              <a:t>  </a:t>
            </a:r>
            <a:r>
              <a:rPr lang="en-US" sz="2000" dirty="0"/>
              <a:t>P(x): x performs well</a:t>
            </a:r>
          </a:p>
          <a:p>
            <a:r>
              <a:rPr lang="en-US" sz="2000" dirty="0"/>
              <a:t>   I(x): x is intelligent</a:t>
            </a:r>
          </a:p>
          <a:p>
            <a:r>
              <a:rPr lang="en-US" sz="2000" dirty="0"/>
              <a:t>   A(x): x is a good actor</a:t>
            </a:r>
          </a:p>
          <a:p>
            <a:r>
              <a:rPr lang="en-US" sz="2000" dirty="0"/>
              <a:t>   C(x): x can count from 1 to 10</a:t>
            </a:r>
          </a:p>
        </p:txBody>
      </p:sp>
      <mc:AlternateContent xmlns:mc="http://schemas.openxmlformats.org/markup-compatibility/2006" xmlns:a14="http://schemas.microsoft.com/office/drawing/2010/main">
        <mc:Choice Requires="a14">
          <p:sp>
            <p:nvSpPr>
              <p:cNvPr id="9" name="TextBox 8"/>
              <p:cNvSpPr txBox="1"/>
              <p:nvPr/>
            </p:nvSpPr>
            <p:spPr>
              <a:xfrm>
                <a:off x="4953000" y="4080808"/>
                <a:ext cx="4191000" cy="1938992"/>
              </a:xfrm>
              <a:prstGeom prst="rect">
                <a:avLst/>
              </a:prstGeom>
              <a:noFill/>
            </p:spPr>
            <p:txBody>
              <a:bodyPr wrap="square" rtlCol="0">
                <a:spAutoFit/>
              </a:bodyPr>
              <a:lstStyle/>
              <a:p>
                <a:pPr lvl="1"/>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𝐼</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m:rPr>
                              <m:nor/>
                            </m:rPr>
                            <a:rPr lang="en-US" sz="2000" dirty="0"/>
                            <m:t>∨</m:t>
                          </m:r>
                          <m:r>
                            <a:rPr lang="en-US" sz="2000" b="0" i="1" dirty="0" smtClean="0">
                              <a:latin typeface="Cambria Math" panose="02040503050406030204" pitchFamily="18" charset="0"/>
                            </a:rPr>
                            <m:t>𝐴</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m:t>
                          </m:r>
                        </m:e>
                      </m:d>
                    </m:oMath>
                  </m:oMathPara>
                </a14:m>
                <a:endParaRPr lang="en-US" sz="2000" dirty="0"/>
              </a:p>
              <a:p>
                <a:pPr lvl="2"/>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𝐼</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𝐶</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e>
                      </m:d>
                    </m:oMath>
                  </m:oMathPara>
                </a14:m>
                <a:endParaRPr lang="en-US" sz="2000" dirty="0"/>
              </a:p>
              <a:p>
                <a:pPr lvl="3"/>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Gary</m:t>
                      </m:r>
                      <m:r>
                        <a:rPr lang="en-US" sz="2000" b="0" i="1" smtClean="0">
                          <a:latin typeface="Cambria Math" panose="02040503050406030204" pitchFamily="18" charset="0"/>
                        </a:rPr>
                        <m:t>)</m:t>
                      </m:r>
                    </m:oMath>
                  </m:oMathPara>
                </a14:m>
                <a:endParaRPr lang="en-US" sz="2000" dirty="0"/>
              </a:p>
              <a:p>
                <a:pPr lvl="3"/>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𝐶</m:t>
                    </m:r>
                    <m:r>
                      <a:rPr lang="en-US" sz="2000" b="0" i="1" smtClean="0">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ea typeface="Cambria Math" panose="02040503050406030204" pitchFamily="18" charset="0"/>
                      </a:rPr>
                      <m:t>Gary</m:t>
                    </m:r>
                  </m:oMath>
                </a14:m>
                <a:r>
                  <a:rPr lang="en-US" sz="2000" b="0" dirty="0">
                    <a:ea typeface="Cambria Math" panose="02040503050406030204" pitchFamily="18" charset="0"/>
                  </a:rPr>
                  <a:t>)</a:t>
                </a:r>
              </a:p>
              <a:p>
                <a:r>
                  <a:rPr lang="en-US" sz="2000" dirty="0"/>
                  <a:t>           ----------------------</a:t>
                </a:r>
              </a:p>
              <a:p>
                <a:pPr lvl="1"/>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𝐼</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m:rPr>
                              <m:nor/>
                            </m:rPr>
                            <a:rPr lang="en-US" sz="2000" dirty="0"/>
                            <m:t>∧</m:t>
                          </m:r>
                          <m:r>
                            <a:rPr lang="en-US" sz="2000" b="0" i="1" dirty="0" smtClean="0">
                              <a:latin typeface="Cambria Math" panose="02040503050406030204" pitchFamily="18" charset="0"/>
                            </a:rPr>
                            <m:t>𝐴</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m:t>
                          </m:r>
                        </m:e>
                      </m:d>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4953000" y="4080808"/>
                <a:ext cx="4191000" cy="1938992"/>
              </a:xfrm>
              <a:prstGeom prst="rect">
                <a:avLst/>
              </a:prstGeom>
              <a:blipFill rotWithShape="0">
                <a:blip r:embed="rId2"/>
                <a:stretch>
                  <a:fillRect b="-2821"/>
                </a:stretch>
              </a:blipFill>
            </p:spPr>
            <p:txBody>
              <a:bodyPr/>
              <a:lstStyle/>
              <a:p>
                <a:r>
                  <a:rPr lang="en-GB">
                    <a:noFill/>
                  </a:rPr>
                  <a:t> </a:t>
                </a:r>
              </a:p>
            </p:txBody>
          </p:sp>
        </mc:Fallback>
      </mc:AlternateContent>
    </p:spTree>
    <p:extLst>
      <p:ext uri="{BB962C8B-B14F-4D97-AF65-F5344CB8AC3E}">
        <p14:creationId xmlns:p14="http://schemas.microsoft.com/office/powerpoint/2010/main" val="826161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Solution</a:t>
            </a:r>
          </a:p>
        </p:txBody>
      </p:sp>
      <p:sp>
        <p:nvSpPr>
          <p:cNvPr id="4" name="Date Placeholder 3"/>
          <p:cNvSpPr>
            <a:spLocks noGrp="1"/>
          </p:cNvSpPr>
          <p:nvPr>
            <p:ph type="dt" sz="half" idx="10"/>
          </p:nvPr>
        </p:nvSpPr>
        <p:spPr/>
        <p:txBody>
          <a:bodyPr/>
          <a:lstStyle/>
          <a:p>
            <a:fld id="{F2CBC045-51FF-476C-923C-D5E619C8911D}"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22</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76200" y="3276600"/>
                <a:ext cx="2743200" cy="1754326"/>
              </a:xfrm>
              <a:prstGeom prst="rect">
                <a:avLst/>
              </a:prstGeom>
              <a:noFill/>
            </p:spPr>
            <p:txBody>
              <a:bodyPr wrap="squar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m:rPr>
                            <m:nor/>
                          </m:rPr>
                          <a:rPr lang="en-US" dirty="0"/>
                          <m:t>∨</m:t>
                        </m:r>
                        <m:r>
                          <a:rPr lang="en-US" b="0" i="1" dirty="0" smtClean="0">
                            <a:latin typeface="Cambria Math" panose="02040503050406030204" pitchFamily="18" charset="0"/>
                          </a:rPr>
                          <m:t>𝐴</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𝑥</m:t>
                            </m:r>
                          </m:e>
                        </m:d>
                        <m:r>
                          <a:rPr lang="en-GB" b="0" i="1" dirty="0" smtClean="0">
                            <a:latin typeface="Cambria Math" panose="02040503050406030204" pitchFamily="18" charset="0"/>
                          </a:rPr>
                          <m:t>)</m:t>
                        </m:r>
                      </m:e>
                    </m:d>
                  </m:oMath>
                </a14:m>
                <a:r>
                  <a:rPr lang="en-US" dirty="0"/>
                  <a:t>  </a:t>
                </a:r>
              </a:p>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oMath>
                  </m:oMathPara>
                </a14:m>
                <a:endParaRPr lang="en-US" dirty="0"/>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0" smtClean="0">
                          <a:latin typeface="Cambria Math" panose="02040503050406030204" pitchFamily="18" charset="0"/>
                        </a:rPr>
                        <m:t>G</m:t>
                      </m:r>
                      <m:r>
                        <a:rPr lang="en-US" b="0" i="1" smtClean="0">
                          <a:latin typeface="Cambria Math" panose="02040503050406030204" pitchFamily="18" charset="0"/>
                        </a:rPr>
                        <m:t>)</m:t>
                      </m:r>
                    </m:oMath>
                  </m:oMathPara>
                </a14:m>
                <a:endParaRPr lang="en-US" dirty="0"/>
              </a:p>
              <a:p>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G</m:t>
                    </m:r>
                  </m:oMath>
                </a14:m>
                <a:r>
                  <a:rPr lang="en-US" b="0" dirty="0">
                    <a:ea typeface="Cambria Math" panose="02040503050406030204" pitchFamily="18" charset="0"/>
                  </a:rPr>
                  <a:t>)</a:t>
                </a:r>
              </a:p>
              <a:p>
                <a:r>
                  <a:rPr lang="en-US" dirty="0"/>
                  <a:t>-------------------------</a:t>
                </a:r>
              </a:p>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m:rPr>
                              <m:nor/>
                            </m:rPr>
                            <a:rPr lang="en-US" dirty="0"/>
                            <m:t>∧</m:t>
                          </m:r>
                          <m:r>
                            <a:rPr lang="en-US" b="0" i="1" dirty="0" smtClean="0">
                              <a:latin typeface="Cambria Math" panose="02040503050406030204" pitchFamily="18" charset="0"/>
                            </a:rPr>
                            <m:t>𝐴</m:t>
                          </m:r>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e>
                      </m:d>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76200" y="3276600"/>
                <a:ext cx="2743200" cy="1754326"/>
              </a:xfrm>
              <a:prstGeom prst="rect">
                <a:avLst/>
              </a:prstGeom>
              <a:blipFill rotWithShape="0">
                <a:blip r:embed="rId2"/>
                <a:stretch>
                  <a:fillRect l="-2000" b="-243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07872944"/>
                  </p:ext>
                </p:extLst>
              </p:nvPr>
            </p:nvGraphicFramePr>
            <p:xfrm>
              <a:off x="2895600" y="1543246"/>
              <a:ext cx="6172200" cy="74168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algn="ctr"/>
                          <a:r>
                            <a:rPr lang="en-US" sz="1800" dirty="0"/>
                            <a:t>Step</a:t>
                          </a:r>
                        </a:p>
                      </a:txBody>
                      <a:tcPr/>
                    </a:tc>
                    <a:tc>
                      <a:txBody>
                        <a:bodyPr/>
                        <a:lstStyle/>
                        <a:p>
                          <a:pPr algn="ctr"/>
                          <a:r>
                            <a:rPr lang="en-US" sz="1800" dirty="0"/>
                            <a:t>Reason</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left"/>
                              </m:oMathParaPr>
                              <m:oMath xmlns:m="http://schemas.openxmlformats.org/officeDocument/2006/math">
                                <m:r>
                                  <a:rPr lang="en-US" sz="1600" b="0" i="1" smtClean="0">
                                    <a:latin typeface="Cambria Math" panose="02040503050406030204" pitchFamily="18" charset="0"/>
                                  </a:rPr>
                                  <m:t>1.</m:t>
                                </m:r>
                                <m:r>
                                  <m:rPr>
                                    <m:nor/>
                                  </m:rPr>
                                  <a:rPr lang="en-US" sz="1600" dirty="0" smtClean="0">
                                    <a:sym typeface="Symbol" panose="05050102010706020507" pitchFamily="18" charset="2"/>
                                  </a:rPr>
                                  <m:t></m:t>
                                </m:r>
                                <m:r>
                                  <m:rPr>
                                    <m:nor/>
                                  </m:rPr>
                                  <a:rPr lang="en-US" sz="1600" dirty="0" smtClean="0">
                                    <a:sym typeface="Symbol" panose="05050102010706020507" pitchFamily="18" charset="2"/>
                                  </a:rPr>
                                  <m:t>x</m:t>
                                </m:r>
                                <m:r>
                                  <m:rPr>
                                    <m:nor/>
                                  </m:rPr>
                                  <a:rPr lang="en-US" sz="1600" dirty="0" smtClean="0">
                                    <a:sym typeface="Symbol" panose="05050102010706020507" pitchFamily="18" charset="2"/>
                                  </a:rPr>
                                  <m:t> (</m:t>
                                </m:r>
                                <m:r>
                                  <m:rPr>
                                    <m:nor/>
                                  </m:rPr>
                                  <a:rPr lang="en-US" sz="1600" dirty="0" smtClean="0">
                                    <a:sym typeface="Symbol" panose="05050102010706020507" pitchFamily="18" charset="2"/>
                                  </a:rPr>
                                  <m:t>P</m:t>
                                </m:r>
                                <m:r>
                                  <m:rPr>
                                    <m:nor/>
                                  </m:rPr>
                                  <a:rPr lang="en-US" sz="1600" dirty="0" smtClean="0">
                                    <a:sym typeface="Symbol" panose="05050102010706020507" pitchFamily="18" charset="2"/>
                                  </a:rPr>
                                  <m:t>(</m:t>
                                </m:r>
                                <m:r>
                                  <m:rPr>
                                    <m:nor/>
                                  </m:rPr>
                                  <a:rPr lang="en-US" sz="1600" dirty="0" smtClean="0">
                                    <a:sym typeface="Symbol" panose="05050102010706020507" pitchFamily="18" charset="2"/>
                                  </a:rPr>
                                  <m:t>x</m:t>
                                </m:r>
                                <m:r>
                                  <m:rPr>
                                    <m:nor/>
                                  </m:rPr>
                                  <a:rPr lang="en-US" sz="1600" dirty="0" smtClean="0">
                                    <a:sym typeface="Symbol" panose="05050102010706020507" pitchFamily="18" charset="2"/>
                                  </a:rPr>
                                  <m:t>)  </m:t>
                                </m:r>
                                <m:r>
                                  <m:rPr>
                                    <m:nor/>
                                  </m:rPr>
                                  <a:rPr lang="en-GB" sz="1600" b="0" i="0" dirty="0" smtClean="0">
                                    <a:sym typeface="Symbol" panose="05050102010706020507" pitchFamily="18" charset="2"/>
                                  </a:rPr>
                                  <m:t>(</m:t>
                                </m:r>
                                <m:r>
                                  <m:rPr>
                                    <m:nor/>
                                  </m:rPr>
                                  <a:rPr lang="en-US" sz="1600" dirty="0" smtClean="0">
                                    <a:sym typeface="Symbol" panose="05050102010706020507" pitchFamily="18" charset="2"/>
                                  </a:rPr>
                                  <m:t>I</m:t>
                                </m:r>
                                <m:r>
                                  <m:rPr>
                                    <m:nor/>
                                  </m:rPr>
                                  <a:rPr lang="en-US" sz="1600" dirty="0" smtClean="0">
                                    <a:sym typeface="Symbol" panose="05050102010706020507" pitchFamily="18" charset="2"/>
                                  </a:rPr>
                                  <m:t>(</m:t>
                                </m:r>
                                <m:r>
                                  <m:rPr>
                                    <m:nor/>
                                  </m:rPr>
                                  <a:rPr lang="en-US" sz="1600" dirty="0" smtClean="0">
                                    <a:sym typeface="Symbol" panose="05050102010706020507" pitchFamily="18" charset="2"/>
                                  </a:rPr>
                                  <m:t>x</m:t>
                                </m:r>
                                <m:r>
                                  <m:rPr>
                                    <m:nor/>
                                  </m:rPr>
                                  <a:rPr lang="en-US" sz="1600" dirty="0" smtClean="0">
                                    <a:sym typeface="Symbol" panose="05050102010706020507" pitchFamily="18" charset="2"/>
                                  </a:rPr>
                                  <m:t>)  </m:t>
                                </m:r>
                                <m:r>
                                  <m:rPr>
                                    <m:nor/>
                                  </m:rPr>
                                  <a:rPr lang="en-US" sz="1600" dirty="0" smtClean="0">
                                    <a:sym typeface="Symbol" panose="05050102010706020507" pitchFamily="18" charset="2"/>
                                  </a:rPr>
                                  <m:t>A</m:t>
                                </m:r>
                                <m:r>
                                  <m:rPr>
                                    <m:nor/>
                                  </m:rPr>
                                  <a:rPr lang="en-US" sz="1600" dirty="0" smtClean="0">
                                    <a:sym typeface="Symbol" panose="05050102010706020507" pitchFamily="18" charset="2"/>
                                  </a:rPr>
                                  <m:t>(</m:t>
                                </m:r>
                                <m:r>
                                  <m:rPr>
                                    <m:nor/>
                                  </m:rPr>
                                  <a:rPr lang="en-US" sz="1600" dirty="0" smtClean="0">
                                    <a:sym typeface="Symbol" panose="05050102010706020507" pitchFamily="18" charset="2"/>
                                  </a:rPr>
                                  <m:t>x</m:t>
                                </m:r>
                                <m:r>
                                  <m:rPr>
                                    <m:nor/>
                                  </m:rPr>
                                  <a:rPr lang="en-US" sz="1600" dirty="0" smtClean="0">
                                    <a:sym typeface="Symbol" panose="05050102010706020507" pitchFamily="18" charset="2"/>
                                  </a:rPr>
                                  <m:t>)</m:t>
                                </m:r>
                                <m:r>
                                  <m:rPr>
                                    <m:nor/>
                                  </m:rPr>
                                  <a:rPr lang="en-GB" sz="1600" b="0" i="0" dirty="0" smtClean="0">
                                    <a:sym typeface="Symbol" panose="05050102010706020507" pitchFamily="18" charset="2"/>
                                  </a:rPr>
                                  <m:t>)</m:t>
                                </m:r>
                                <m:r>
                                  <m:rPr>
                                    <m:nor/>
                                  </m:rPr>
                                  <a:rPr lang="en-US" sz="1600" dirty="0" smtClean="0">
                                    <a:sym typeface="Symbol" panose="05050102010706020507" pitchFamily="18" charset="2"/>
                                  </a:rPr>
                                  <m:t>)</m:t>
                                </m:r>
                              </m:oMath>
                            </m:oMathPara>
                          </a14:m>
                          <a:endParaRPr lang="en-US" sz="1600" dirty="0"/>
                        </a:p>
                      </a:txBody>
                      <a:tcPr>
                        <a:solidFill>
                          <a:schemeClr val="bg2">
                            <a:lumMod val="40000"/>
                            <a:lumOff val="60000"/>
                          </a:schemeClr>
                        </a:solidFill>
                      </a:tcPr>
                    </a:tc>
                    <a:tc>
                      <a:txBody>
                        <a:bodyPr/>
                        <a:lstStyle/>
                        <a:p>
                          <a:r>
                            <a:rPr lang="en-US" sz="1600" dirty="0"/>
                            <a:t>Premise</a:t>
                          </a:r>
                        </a:p>
                      </a:txBody>
                      <a:tcPr>
                        <a:solidFill>
                          <a:schemeClr val="bg2">
                            <a:lumMod val="40000"/>
                            <a:lumOff val="6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07872944"/>
                  </p:ext>
                </p:extLst>
              </p:nvPr>
            </p:nvGraphicFramePr>
            <p:xfrm>
              <a:off x="2895600" y="1543246"/>
              <a:ext cx="6172200" cy="741680"/>
            </p:xfrm>
            <a:graphic>
              <a:graphicData uri="http://schemas.openxmlformats.org/drawingml/2006/table">
                <a:tbl>
                  <a:tblPr firstRow="1" bandRow="1">
                    <a:tableStyleId>{5C22544A-7EE6-4342-B048-85BDC9FD1C3A}</a:tableStyleId>
                  </a:tblPr>
                  <a:tblGrid>
                    <a:gridCol w="2645229"/>
                    <a:gridCol w="3526971"/>
                  </a:tblGrid>
                  <a:tr h="370840">
                    <a:tc>
                      <a:txBody>
                        <a:bodyPr/>
                        <a:lstStyle/>
                        <a:p>
                          <a:pPr algn="ctr"/>
                          <a:r>
                            <a:rPr lang="en-US" sz="1800" dirty="0" smtClean="0"/>
                            <a:t>Step</a:t>
                          </a:r>
                          <a:endParaRPr lang="en-US" sz="1800" dirty="0"/>
                        </a:p>
                      </a:txBody>
                      <a:tcPr/>
                    </a:tc>
                    <a:tc>
                      <a:txBody>
                        <a:bodyPr/>
                        <a:lstStyle/>
                        <a:p>
                          <a:pPr algn="ctr"/>
                          <a:r>
                            <a:rPr lang="en-US" sz="1800" dirty="0" smtClean="0"/>
                            <a:t>Reason</a:t>
                          </a:r>
                          <a:endParaRPr lang="en-US" sz="1800" dirty="0"/>
                        </a:p>
                      </a:txBody>
                      <a:tcPr/>
                    </a:tc>
                  </a:tr>
                  <a:tr h="370840">
                    <a:tc>
                      <a:txBody>
                        <a:bodyPr/>
                        <a:lstStyle/>
                        <a:p>
                          <a:endParaRPr lang="en-US"/>
                        </a:p>
                      </a:txBody>
                      <a:tcPr>
                        <a:blipFill rotWithShape="0">
                          <a:blip r:embed="rId3"/>
                          <a:stretch>
                            <a:fillRect l="-461" t="-108197" r="-134332" b="-11475"/>
                          </a:stretch>
                        </a:blipFill>
                      </a:tcPr>
                    </a:tc>
                    <a:tc>
                      <a:txBody>
                        <a:bodyPr/>
                        <a:lstStyle/>
                        <a:p>
                          <a:r>
                            <a:rPr lang="en-US" sz="1600" dirty="0" smtClean="0"/>
                            <a:t>Premise</a:t>
                          </a:r>
                          <a:endParaRPr lang="en-US" sz="1600" dirty="0"/>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1480687597"/>
                  </p:ext>
                </p:extLst>
              </p:nvPr>
            </p:nvGraphicFramePr>
            <p:xfrm>
              <a:off x="2895600" y="2296160"/>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600" b="0" i="1" smtClean="0">
                                    <a:solidFill>
                                      <a:sysClr val="windowText" lastClr="000000"/>
                                    </a:solidFill>
                                    <a:latin typeface="Cambria Math" panose="02040503050406030204" pitchFamily="18" charset="0"/>
                                    <a:sym typeface="Symbol" panose="05050102010706020507" pitchFamily="18" charset="2"/>
                                  </a:rPr>
                                  <m:t>2</m:t>
                                </m:r>
                                <m:r>
                                  <a:rPr lang="en-GB" sz="1600" b="0" i="1" smtClean="0">
                                    <a:solidFill>
                                      <a:sysClr val="windowText" lastClr="000000"/>
                                    </a:solidFill>
                                    <a:latin typeface="Cambria Math" panose="02040503050406030204" pitchFamily="18" charset="0"/>
                                    <a:sym typeface="Symbol" panose="05050102010706020507" pitchFamily="18" charset="2"/>
                                  </a:rPr>
                                  <m:t>.  </m:t>
                                </m:r>
                                <m:r>
                                  <m:rPr>
                                    <m:nor/>
                                  </m:rPr>
                                  <a:rPr lang="en-US" sz="1600" b="0" dirty="0" smtClean="0">
                                    <a:solidFill>
                                      <a:sysClr val="windowText" lastClr="000000"/>
                                    </a:solidFill>
                                    <a:sym typeface="Symbol" panose="05050102010706020507" pitchFamily="18" charset="2"/>
                                  </a:rPr>
                                  <m:t>P</m:t>
                                </m:r>
                                <m:r>
                                  <m:rPr>
                                    <m:nor/>
                                  </m:rPr>
                                  <a:rPr lang="en-US" sz="1600" b="0" dirty="0" smtClean="0">
                                    <a:solidFill>
                                      <a:sysClr val="windowText" lastClr="000000"/>
                                    </a:solidFill>
                                    <a:sym typeface="Symbol" panose="05050102010706020507" pitchFamily="18" charset="2"/>
                                  </a:rPr>
                                  <m:t>(</m:t>
                                </m:r>
                                <m:r>
                                  <m:rPr>
                                    <m:nor/>
                                  </m:rPr>
                                  <a:rPr lang="en-US" sz="1600" b="0" dirty="0" smtClean="0">
                                    <a:solidFill>
                                      <a:sysClr val="windowText" lastClr="000000"/>
                                    </a:solidFill>
                                    <a:sym typeface="Symbol" panose="05050102010706020507" pitchFamily="18" charset="2"/>
                                  </a:rPr>
                                  <m:t>G</m:t>
                                </m:r>
                                <m:r>
                                  <m:rPr>
                                    <m:nor/>
                                  </m:rPr>
                                  <a:rPr lang="en-US" sz="1600" b="0" dirty="0" smtClean="0">
                                    <a:solidFill>
                                      <a:sysClr val="windowText" lastClr="000000"/>
                                    </a:solidFill>
                                    <a:sym typeface="Symbol" panose="05050102010706020507" pitchFamily="18" charset="2"/>
                                  </a:rPr>
                                  <m:t>)  </m:t>
                                </m:r>
                                <m:r>
                                  <m:rPr>
                                    <m:nor/>
                                  </m:rPr>
                                  <a:rPr lang="en-GB" sz="1600" b="0" i="0" dirty="0" smtClean="0">
                                    <a:solidFill>
                                      <a:sysClr val="windowText" lastClr="000000"/>
                                    </a:solidFill>
                                    <a:sym typeface="Symbol" panose="05050102010706020507" pitchFamily="18" charset="2"/>
                                  </a:rPr>
                                  <m:t>(</m:t>
                                </m:r>
                                <m:r>
                                  <m:rPr>
                                    <m:nor/>
                                  </m:rPr>
                                  <a:rPr lang="en-US" sz="1600" b="0" dirty="0" smtClean="0">
                                    <a:solidFill>
                                      <a:sysClr val="windowText" lastClr="000000"/>
                                    </a:solidFill>
                                    <a:sym typeface="Symbol" panose="05050102010706020507" pitchFamily="18" charset="2"/>
                                  </a:rPr>
                                  <m:t>I</m:t>
                                </m:r>
                                <m:r>
                                  <m:rPr>
                                    <m:nor/>
                                  </m:rPr>
                                  <a:rPr lang="en-US" sz="1600" b="0" dirty="0" smtClean="0">
                                    <a:solidFill>
                                      <a:sysClr val="windowText" lastClr="000000"/>
                                    </a:solidFill>
                                    <a:sym typeface="Symbol" panose="05050102010706020507" pitchFamily="18" charset="2"/>
                                  </a:rPr>
                                  <m:t>(</m:t>
                                </m:r>
                                <m:r>
                                  <m:rPr>
                                    <m:nor/>
                                  </m:rPr>
                                  <a:rPr lang="en-US" sz="1600" b="0" dirty="0" smtClean="0">
                                    <a:solidFill>
                                      <a:sysClr val="windowText" lastClr="000000"/>
                                    </a:solidFill>
                                    <a:sym typeface="Symbol" panose="05050102010706020507" pitchFamily="18" charset="2"/>
                                  </a:rPr>
                                  <m:t>G</m:t>
                                </m:r>
                                <m:r>
                                  <m:rPr>
                                    <m:nor/>
                                  </m:rPr>
                                  <a:rPr lang="en-US" sz="1600" b="0" dirty="0" smtClean="0">
                                    <a:solidFill>
                                      <a:sysClr val="windowText" lastClr="000000"/>
                                    </a:solidFill>
                                    <a:sym typeface="Symbol" panose="05050102010706020507" pitchFamily="18" charset="2"/>
                                  </a:rPr>
                                  <m:t>)  </m:t>
                                </m:r>
                                <m:r>
                                  <m:rPr>
                                    <m:nor/>
                                  </m:rPr>
                                  <a:rPr lang="en-US" sz="1600" b="0" dirty="0" smtClean="0">
                                    <a:solidFill>
                                      <a:sysClr val="windowText" lastClr="000000"/>
                                    </a:solidFill>
                                    <a:sym typeface="Symbol" panose="05050102010706020507" pitchFamily="18" charset="2"/>
                                  </a:rPr>
                                  <m:t>A</m:t>
                                </m:r>
                                <m:r>
                                  <m:rPr>
                                    <m:nor/>
                                  </m:rPr>
                                  <a:rPr lang="en-US" sz="1600" b="0" dirty="0" smtClean="0">
                                    <a:solidFill>
                                      <a:sysClr val="windowText" lastClr="000000"/>
                                    </a:solidFill>
                                    <a:sym typeface="Symbol" panose="05050102010706020507" pitchFamily="18" charset="2"/>
                                  </a:rPr>
                                  <m:t>(</m:t>
                                </m:r>
                                <m:r>
                                  <m:rPr>
                                    <m:nor/>
                                  </m:rPr>
                                  <a:rPr lang="en-US" sz="1600" b="0" dirty="0" smtClean="0">
                                    <a:solidFill>
                                      <a:sysClr val="windowText" lastClr="000000"/>
                                    </a:solidFill>
                                    <a:sym typeface="Symbol" panose="05050102010706020507" pitchFamily="18" charset="2"/>
                                  </a:rPr>
                                  <m:t>G</m:t>
                                </m:r>
                                <m:r>
                                  <m:rPr>
                                    <m:nor/>
                                  </m:rPr>
                                  <a:rPr lang="en-US" sz="1600" b="0" dirty="0" smtClean="0">
                                    <a:solidFill>
                                      <a:sysClr val="windowText" lastClr="000000"/>
                                    </a:solidFill>
                                    <a:sym typeface="Symbol" panose="05050102010706020507" pitchFamily="18" charset="2"/>
                                  </a:rPr>
                                  <m:t>)</m:t>
                                </m:r>
                                <m:r>
                                  <m:rPr>
                                    <m:nor/>
                                  </m:rPr>
                                  <a:rPr lang="en-GB" sz="1600" b="0" i="0" dirty="0" smtClean="0">
                                    <a:solidFill>
                                      <a:sysClr val="windowText" lastClr="000000"/>
                                    </a:solidFill>
                                    <a:sym typeface="Symbol" panose="05050102010706020507" pitchFamily="18" charset="2"/>
                                  </a:rPr>
                                  <m:t>)</m:t>
                                </m:r>
                              </m:oMath>
                            </m:oMathPara>
                          </a14:m>
                          <a:endParaRPr lang="en-US" sz="1600" b="0" dirty="0">
                            <a:solidFill>
                              <a:sysClr val="windowText" lastClr="000000"/>
                            </a:solidFill>
                          </a:endParaRPr>
                        </a:p>
                      </a:txBody>
                      <a:tcPr>
                        <a:solidFill>
                          <a:schemeClr val="bg2">
                            <a:lumMod val="40000"/>
                            <a:lumOff val="60000"/>
                          </a:schemeClr>
                        </a:solidFill>
                      </a:tcPr>
                    </a:tc>
                    <a:tc>
                      <a:txBody>
                        <a:bodyPr/>
                        <a:lstStyle/>
                        <a:p>
                          <a:r>
                            <a:rPr lang="en-US" sz="1600" b="0" dirty="0">
                              <a:solidFill>
                                <a:sysClr val="windowText" lastClr="000000"/>
                              </a:solidFill>
                            </a:rPr>
                            <a:t>Universal instantiation from (1)</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1480687597"/>
                  </p:ext>
                </p:extLst>
              </p:nvPr>
            </p:nvGraphicFramePr>
            <p:xfrm>
              <a:off x="2895600" y="2296160"/>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4"/>
                          <a:stretch>
                            <a:fillRect l="-461" t="-3226" r="-134332" b="-11290"/>
                          </a:stretch>
                        </a:blipFill>
                      </a:tcPr>
                    </a:tc>
                    <a:tc>
                      <a:txBody>
                        <a:bodyPr/>
                        <a:lstStyle/>
                        <a:p>
                          <a:r>
                            <a:rPr lang="en-US" sz="1600" b="0" dirty="0" smtClean="0">
                              <a:solidFill>
                                <a:sysClr val="windowText" lastClr="000000"/>
                              </a:solidFill>
                            </a:rPr>
                            <a:t>Universal instantiation from (1)</a:t>
                          </a:r>
                          <a:endParaRPr lang="en-US" sz="1600" b="0" dirty="0">
                            <a:solidFill>
                              <a:sysClr val="windowText" lastClr="000000"/>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712730452"/>
                  </p:ext>
                </p:extLst>
              </p:nvPr>
            </p:nvGraphicFramePr>
            <p:xfrm>
              <a:off x="2895600" y="2667000"/>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600" b="0" i="1" smtClean="0">
                                    <a:solidFill>
                                      <a:sysClr val="windowText" lastClr="000000"/>
                                    </a:solidFill>
                                    <a:latin typeface="Cambria Math" panose="02040503050406030204" pitchFamily="18" charset="0"/>
                                    <a:sym typeface="Symbol" panose="05050102010706020507" pitchFamily="18" charset="2"/>
                                  </a:rPr>
                                  <m:t>3</m:t>
                                </m:r>
                                <m:r>
                                  <a:rPr lang="en-GB" sz="1600" b="0" i="1" smtClean="0">
                                    <a:solidFill>
                                      <a:sysClr val="windowText" lastClr="000000"/>
                                    </a:solidFill>
                                    <a:latin typeface="Cambria Math" panose="02040503050406030204" pitchFamily="18" charset="0"/>
                                    <a:sym typeface="Symbol" panose="05050102010706020507" pitchFamily="18" charset="2"/>
                                  </a:rPr>
                                  <m:t>.  </m:t>
                                </m:r>
                                <m:r>
                                  <m:rPr>
                                    <m:nor/>
                                  </m:rPr>
                                  <a:rPr lang="en-US" sz="1600" b="0" dirty="0" smtClean="0">
                                    <a:solidFill>
                                      <a:sysClr val="windowText" lastClr="000000"/>
                                    </a:solidFill>
                                    <a:sym typeface="Symbol" panose="05050102010706020507" pitchFamily="18" charset="2"/>
                                  </a:rPr>
                                  <m:t>P</m:t>
                                </m:r>
                                <m:r>
                                  <m:rPr>
                                    <m:nor/>
                                  </m:rPr>
                                  <a:rPr lang="en-US" sz="1600" b="0" dirty="0" smtClean="0">
                                    <a:solidFill>
                                      <a:sysClr val="windowText" lastClr="000000"/>
                                    </a:solidFill>
                                    <a:sym typeface="Symbol" panose="05050102010706020507" pitchFamily="18" charset="2"/>
                                  </a:rPr>
                                  <m:t>(</m:t>
                                </m:r>
                                <m:r>
                                  <m:rPr>
                                    <m:nor/>
                                  </m:rPr>
                                  <a:rPr lang="en-US" sz="1600" b="0" dirty="0" smtClean="0">
                                    <a:solidFill>
                                      <a:sysClr val="windowText" lastClr="000000"/>
                                    </a:solidFill>
                                    <a:sym typeface="Symbol" panose="05050102010706020507" pitchFamily="18" charset="2"/>
                                  </a:rPr>
                                  <m:t>G</m:t>
                                </m:r>
                                <m:r>
                                  <m:rPr>
                                    <m:nor/>
                                  </m:rPr>
                                  <a:rPr lang="en-US" sz="1600" b="0" dirty="0" smtClean="0">
                                    <a:solidFill>
                                      <a:sysClr val="windowText" lastClr="000000"/>
                                    </a:solidFill>
                                    <a:sym typeface="Symbol" panose="05050102010706020507" pitchFamily="18" charset="2"/>
                                  </a:rPr>
                                  <m:t>) </m:t>
                                </m:r>
                              </m:oMath>
                            </m:oMathPara>
                          </a14:m>
                          <a:endParaRPr lang="en-US" sz="1600" b="0" dirty="0">
                            <a:solidFill>
                              <a:sysClr val="windowText" lastClr="000000"/>
                            </a:solidFill>
                          </a:endParaRPr>
                        </a:p>
                      </a:txBody>
                      <a:tcPr>
                        <a:solidFill>
                          <a:schemeClr val="bg2">
                            <a:lumMod val="40000"/>
                            <a:lumOff val="60000"/>
                          </a:schemeClr>
                        </a:solidFill>
                      </a:tcPr>
                    </a:tc>
                    <a:tc>
                      <a:txBody>
                        <a:bodyPr/>
                        <a:lstStyle/>
                        <a:p>
                          <a:r>
                            <a:rPr lang="en-US" sz="1600" b="0" dirty="0">
                              <a:solidFill>
                                <a:sysClr val="windowText" lastClr="000000"/>
                              </a:solidFill>
                            </a:rPr>
                            <a:t>Premise</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712730452"/>
                  </p:ext>
                </p:extLst>
              </p:nvPr>
            </p:nvGraphicFramePr>
            <p:xfrm>
              <a:off x="2895600" y="2667000"/>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5"/>
                          <a:stretch>
                            <a:fillRect l="-461" t="-3226" r="-134332" b="-9677"/>
                          </a:stretch>
                        </a:blipFill>
                      </a:tcPr>
                    </a:tc>
                    <a:tc>
                      <a:txBody>
                        <a:bodyPr/>
                        <a:lstStyle/>
                        <a:p>
                          <a:r>
                            <a:rPr lang="en-US" sz="1600" b="0" dirty="0" smtClean="0">
                              <a:solidFill>
                                <a:sysClr val="windowText" lastClr="000000"/>
                              </a:solidFill>
                            </a:rPr>
                            <a:t>Premise</a:t>
                          </a: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3287324496"/>
                  </p:ext>
                </p:extLst>
              </p:nvPr>
            </p:nvGraphicFramePr>
            <p:xfrm>
              <a:off x="2895600" y="3035121"/>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600" b="0" i="1" smtClean="0">
                                    <a:solidFill>
                                      <a:sysClr val="windowText" lastClr="000000"/>
                                    </a:solidFill>
                                    <a:latin typeface="Cambria Math" panose="02040503050406030204" pitchFamily="18" charset="0"/>
                                    <a:sym typeface="Symbol" panose="05050102010706020507" pitchFamily="18" charset="2"/>
                                  </a:rPr>
                                  <m:t>4</m:t>
                                </m:r>
                                <m:r>
                                  <a:rPr lang="en-GB" sz="1600" b="0" i="1" smtClean="0">
                                    <a:solidFill>
                                      <a:sysClr val="windowText" lastClr="000000"/>
                                    </a:solidFill>
                                    <a:latin typeface="Cambria Math" panose="02040503050406030204" pitchFamily="18" charset="0"/>
                                    <a:sym typeface="Symbol" panose="05050102010706020507" pitchFamily="18" charset="2"/>
                                  </a:rPr>
                                  <m:t>.</m:t>
                                </m:r>
                                <m:r>
                                  <m:rPr>
                                    <m:nor/>
                                  </m:rPr>
                                  <a:rPr lang="en-US" sz="1600" b="0" dirty="0" smtClean="0">
                                    <a:solidFill>
                                      <a:sysClr val="windowText" lastClr="000000"/>
                                    </a:solidFill>
                                    <a:sym typeface="Symbol" panose="05050102010706020507" pitchFamily="18" charset="2"/>
                                  </a:rPr>
                                  <m:t>I</m:t>
                                </m:r>
                                <m:r>
                                  <m:rPr>
                                    <m:nor/>
                                  </m:rPr>
                                  <a:rPr lang="en-US" sz="1600" b="0" dirty="0" smtClean="0">
                                    <a:solidFill>
                                      <a:sysClr val="windowText" lastClr="000000"/>
                                    </a:solidFill>
                                    <a:sym typeface="Symbol" panose="05050102010706020507" pitchFamily="18" charset="2"/>
                                  </a:rPr>
                                  <m:t>(</m:t>
                                </m:r>
                                <m:r>
                                  <m:rPr>
                                    <m:nor/>
                                  </m:rPr>
                                  <a:rPr lang="en-US" sz="1600" b="0" dirty="0" smtClean="0">
                                    <a:solidFill>
                                      <a:sysClr val="windowText" lastClr="000000"/>
                                    </a:solidFill>
                                    <a:sym typeface="Symbol" panose="05050102010706020507" pitchFamily="18" charset="2"/>
                                  </a:rPr>
                                  <m:t>G</m:t>
                                </m:r>
                                <m:r>
                                  <m:rPr>
                                    <m:nor/>
                                  </m:rPr>
                                  <a:rPr lang="en-US" sz="1600" b="0" dirty="0" smtClean="0">
                                    <a:solidFill>
                                      <a:sysClr val="windowText" lastClr="000000"/>
                                    </a:solidFill>
                                    <a:sym typeface="Symbol" panose="05050102010706020507" pitchFamily="18" charset="2"/>
                                  </a:rPr>
                                  <m:t>)  </m:t>
                                </m:r>
                                <m:r>
                                  <m:rPr>
                                    <m:nor/>
                                  </m:rPr>
                                  <a:rPr lang="en-US" sz="1600" b="0" dirty="0" smtClean="0">
                                    <a:solidFill>
                                      <a:sysClr val="windowText" lastClr="000000"/>
                                    </a:solidFill>
                                    <a:sym typeface="Symbol" panose="05050102010706020507" pitchFamily="18" charset="2"/>
                                  </a:rPr>
                                  <m:t>A</m:t>
                                </m:r>
                                <m:r>
                                  <m:rPr>
                                    <m:nor/>
                                  </m:rPr>
                                  <a:rPr lang="en-US" sz="1600" b="0" dirty="0" smtClean="0">
                                    <a:solidFill>
                                      <a:sysClr val="windowText" lastClr="000000"/>
                                    </a:solidFill>
                                    <a:sym typeface="Symbol" panose="05050102010706020507" pitchFamily="18" charset="2"/>
                                  </a:rPr>
                                  <m:t>(</m:t>
                                </m:r>
                                <m:r>
                                  <m:rPr>
                                    <m:nor/>
                                  </m:rPr>
                                  <a:rPr lang="en-US" sz="1600" b="0" dirty="0" smtClean="0">
                                    <a:solidFill>
                                      <a:sysClr val="windowText" lastClr="000000"/>
                                    </a:solidFill>
                                    <a:sym typeface="Symbol" panose="05050102010706020507" pitchFamily="18" charset="2"/>
                                  </a:rPr>
                                  <m:t>G</m:t>
                                </m:r>
                                <m:r>
                                  <m:rPr>
                                    <m:nor/>
                                  </m:rPr>
                                  <a:rPr lang="en-US" sz="1600" b="0" dirty="0" smtClean="0">
                                    <a:solidFill>
                                      <a:sysClr val="windowText" lastClr="000000"/>
                                    </a:solidFill>
                                    <a:sym typeface="Symbol" panose="05050102010706020507" pitchFamily="18" charset="2"/>
                                  </a:rPr>
                                  <m:t>)</m:t>
                                </m:r>
                              </m:oMath>
                            </m:oMathPara>
                          </a14:m>
                          <a:endParaRPr lang="en-US" sz="1600" b="0" dirty="0">
                            <a:solidFill>
                              <a:sysClr val="windowText" lastClr="000000"/>
                            </a:solidFill>
                          </a:endParaRPr>
                        </a:p>
                      </a:txBody>
                      <a:tcPr>
                        <a:solidFill>
                          <a:schemeClr val="bg2">
                            <a:lumMod val="40000"/>
                            <a:lumOff val="60000"/>
                          </a:schemeClr>
                        </a:solidFill>
                      </a:tcPr>
                    </a:tc>
                    <a:tc>
                      <a:txBody>
                        <a:bodyPr/>
                        <a:lstStyle/>
                        <a:p>
                          <a:r>
                            <a:rPr lang="en-GB" sz="1600" b="0" dirty="0">
                              <a:solidFill>
                                <a:sysClr val="windowText" lastClr="000000"/>
                              </a:solidFill>
                            </a:rPr>
                            <a:t>Modus ponens from (2) and (3)</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3287324496"/>
                  </p:ext>
                </p:extLst>
              </p:nvPr>
            </p:nvGraphicFramePr>
            <p:xfrm>
              <a:off x="2895600" y="3035121"/>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6"/>
                          <a:stretch>
                            <a:fillRect l="-461" t="-3226" r="-134332" b="-11290"/>
                          </a:stretch>
                        </a:blipFill>
                      </a:tcPr>
                    </a:tc>
                    <a:tc>
                      <a:txBody>
                        <a:bodyPr/>
                        <a:lstStyle/>
                        <a:p>
                          <a:r>
                            <a:rPr lang="en-GB" sz="1600" b="0" dirty="0" smtClean="0">
                              <a:solidFill>
                                <a:sysClr val="windowText" lastClr="000000"/>
                              </a:solidFill>
                            </a:rPr>
                            <a:t>Modus ponens from (2) and (3)</a:t>
                          </a:r>
                          <a:endParaRPr lang="en-GB" sz="1600" b="0" dirty="0" smtClean="0">
                            <a:solidFill>
                              <a:sysClr val="windowText" lastClr="000000"/>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195729924"/>
                  </p:ext>
                </p:extLst>
              </p:nvPr>
            </p:nvGraphicFramePr>
            <p:xfrm>
              <a:off x="2895600" y="3403242"/>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marL="0" algn="l" defTabSz="914400" rtl="0" eaLnBrk="1" latinLnBrk="0" hangingPunct="1"/>
                          <a14:m>
                            <m:oMathPara xmlns:m="http://schemas.openxmlformats.org/officeDocument/2006/math">
                              <m:oMathParaPr>
                                <m:jc m:val="left"/>
                              </m:oMathParaPr>
                              <m:oMath xmlns:m="http://schemas.openxmlformats.org/officeDocument/2006/math">
                                <m:r>
                                  <a:rPr lang="en-US" sz="1600" b="0" kern="1200" smtClean="0">
                                    <a:solidFill>
                                      <a:schemeClr val="dk1"/>
                                    </a:solidFill>
                                    <a:latin typeface="Cambria Math" panose="02040503050406030204" pitchFamily="18" charset="0"/>
                                    <a:ea typeface="+mn-ea"/>
                                    <a:cs typeface="+mn-cs"/>
                                    <a:sym typeface="Symbol" panose="05050102010706020507" pitchFamily="18" charset="2"/>
                                  </a:rPr>
                                  <m:t>5</m:t>
                                </m:r>
                                <m:r>
                                  <a:rPr lang="en-GB" sz="1600" b="0" kern="1200" smtClean="0">
                                    <a:solidFill>
                                      <a:schemeClr val="dk1"/>
                                    </a:solidFill>
                                    <a:latin typeface="Cambria Math" panose="02040503050406030204" pitchFamily="18" charset="0"/>
                                    <a:ea typeface="+mn-ea"/>
                                    <a:cs typeface="+mn-cs"/>
                                    <a:sym typeface="Symbol" panose="05050102010706020507" pitchFamily="18" charset="2"/>
                                  </a:rPr>
                                  <m:t>.</m:t>
                                </m:r>
                                <m:r>
                                  <m:rPr>
                                    <m:nor/>
                                  </m:rPr>
                                  <a:rPr lang="en-US" sz="1600" b="0" kern="1200" dirty="0" smtClean="0">
                                    <a:solidFill>
                                      <a:schemeClr val="dk1"/>
                                    </a:solidFill>
                                    <a:latin typeface="+mn-lt"/>
                                    <a:ea typeface="+mn-ea"/>
                                    <a:cs typeface="+mn-cs"/>
                                    <a:sym typeface="Symbol" panose="05050102010706020507" pitchFamily="18" charset="2"/>
                                  </a:rPr>
                                  <m:t></m:t>
                                </m:r>
                                <m:r>
                                  <m:rPr>
                                    <m:nor/>
                                  </m:rPr>
                                  <a:rPr lang="en-US" sz="1600" b="0" kern="1200" dirty="0" smtClean="0">
                                    <a:solidFill>
                                      <a:schemeClr val="dk1"/>
                                    </a:solidFill>
                                    <a:latin typeface="+mn-lt"/>
                                    <a:ea typeface="+mn-ea"/>
                                    <a:cs typeface="+mn-cs"/>
                                    <a:sym typeface="Symbol" panose="05050102010706020507" pitchFamily="18" charset="2"/>
                                  </a:rPr>
                                  <m:t>x</m:t>
                                </m:r>
                                <m:r>
                                  <m:rPr>
                                    <m:nor/>
                                  </m:rPr>
                                  <a:rPr lang="en-US" sz="1600" b="0" kern="1200" dirty="0" smtClean="0">
                                    <a:solidFill>
                                      <a:schemeClr val="dk1"/>
                                    </a:solidFill>
                                    <a:latin typeface="+mn-lt"/>
                                    <a:ea typeface="+mn-ea"/>
                                    <a:cs typeface="+mn-cs"/>
                                    <a:sym typeface="Symbol" panose="05050102010706020507" pitchFamily="18" charset="2"/>
                                  </a:rPr>
                                  <m:t> (</m:t>
                                </m:r>
                                <m:r>
                                  <m:rPr>
                                    <m:nor/>
                                  </m:rPr>
                                  <a:rPr lang="en-US" sz="1600" b="0" kern="1200" dirty="0" smtClean="0">
                                    <a:solidFill>
                                      <a:schemeClr val="dk1"/>
                                    </a:solidFill>
                                    <a:latin typeface="+mn-lt"/>
                                    <a:ea typeface="+mn-ea"/>
                                    <a:cs typeface="+mn-cs"/>
                                    <a:sym typeface="Symbol" panose="05050102010706020507" pitchFamily="18" charset="2"/>
                                  </a:rPr>
                                  <m:t>I</m:t>
                                </m:r>
                                <m:r>
                                  <m:rPr>
                                    <m:nor/>
                                  </m:rPr>
                                  <a:rPr lang="en-US" sz="1600" b="0" kern="1200" dirty="0" smtClean="0">
                                    <a:solidFill>
                                      <a:schemeClr val="dk1"/>
                                    </a:solidFill>
                                    <a:latin typeface="+mn-lt"/>
                                    <a:ea typeface="+mn-ea"/>
                                    <a:cs typeface="+mn-cs"/>
                                    <a:sym typeface="Symbol" panose="05050102010706020507" pitchFamily="18" charset="2"/>
                                  </a:rPr>
                                  <m:t>(</m:t>
                                </m:r>
                                <m:r>
                                  <m:rPr>
                                    <m:nor/>
                                  </m:rPr>
                                  <a:rPr lang="en-US" sz="1600" b="0" kern="1200" dirty="0" smtClean="0">
                                    <a:solidFill>
                                      <a:schemeClr val="dk1"/>
                                    </a:solidFill>
                                    <a:latin typeface="+mn-lt"/>
                                    <a:ea typeface="+mn-ea"/>
                                    <a:cs typeface="+mn-cs"/>
                                    <a:sym typeface="Symbol" panose="05050102010706020507" pitchFamily="18" charset="2"/>
                                  </a:rPr>
                                  <m:t>x</m:t>
                                </m:r>
                                <m:r>
                                  <m:rPr>
                                    <m:nor/>
                                  </m:rPr>
                                  <a:rPr lang="en-US" sz="1600" b="0" kern="1200" dirty="0" smtClean="0">
                                    <a:solidFill>
                                      <a:schemeClr val="dk1"/>
                                    </a:solidFill>
                                    <a:latin typeface="+mn-lt"/>
                                    <a:ea typeface="+mn-ea"/>
                                    <a:cs typeface="+mn-cs"/>
                                    <a:sym typeface="Symbol" panose="05050102010706020507" pitchFamily="18" charset="2"/>
                                  </a:rPr>
                                  <m:t>)  </m:t>
                                </m:r>
                                <m:r>
                                  <m:rPr>
                                    <m:nor/>
                                  </m:rPr>
                                  <a:rPr lang="en-US" sz="1600" b="0" kern="1200" dirty="0" smtClean="0">
                                    <a:solidFill>
                                      <a:schemeClr val="dk1"/>
                                    </a:solidFill>
                                    <a:latin typeface="+mn-lt"/>
                                    <a:ea typeface="+mn-ea"/>
                                    <a:cs typeface="+mn-cs"/>
                                    <a:sym typeface="Symbol" panose="05050102010706020507" pitchFamily="18" charset="2"/>
                                  </a:rPr>
                                  <m:t>C</m:t>
                                </m:r>
                                <m:r>
                                  <m:rPr>
                                    <m:nor/>
                                  </m:rPr>
                                  <a:rPr lang="en-US" sz="1600" b="0" kern="1200" dirty="0" smtClean="0">
                                    <a:solidFill>
                                      <a:schemeClr val="dk1"/>
                                    </a:solidFill>
                                    <a:latin typeface="+mn-lt"/>
                                    <a:ea typeface="+mn-ea"/>
                                    <a:cs typeface="+mn-cs"/>
                                    <a:sym typeface="Symbol" panose="05050102010706020507" pitchFamily="18" charset="2"/>
                                  </a:rPr>
                                  <m:t>(</m:t>
                                </m:r>
                                <m:r>
                                  <m:rPr>
                                    <m:nor/>
                                  </m:rPr>
                                  <a:rPr lang="en-US" sz="1600" b="0" kern="1200" dirty="0" smtClean="0">
                                    <a:solidFill>
                                      <a:schemeClr val="dk1"/>
                                    </a:solidFill>
                                    <a:latin typeface="+mn-lt"/>
                                    <a:ea typeface="+mn-ea"/>
                                    <a:cs typeface="+mn-cs"/>
                                    <a:sym typeface="Symbol" panose="05050102010706020507" pitchFamily="18" charset="2"/>
                                  </a:rPr>
                                  <m:t>x</m:t>
                                </m:r>
                                <m:r>
                                  <m:rPr>
                                    <m:nor/>
                                  </m:rPr>
                                  <a:rPr lang="en-US" sz="1600" b="0" kern="1200" dirty="0" smtClean="0">
                                    <a:solidFill>
                                      <a:schemeClr val="dk1"/>
                                    </a:solidFill>
                                    <a:latin typeface="+mn-lt"/>
                                    <a:ea typeface="+mn-ea"/>
                                    <a:cs typeface="+mn-cs"/>
                                    <a:sym typeface="Symbol" panose="05050102010706020507" pitchFamily="18" charset="2"/>
                                  </a:rPr>
                                  <m:t>))</m:t>
                                </m:r>
                              </m:oMath>
                            </m:oMathPara>
                          </a14:m>
                          <a:endParaRPr lang="en-US" sz="1600" b="0" kern="1200" dirty="0">
                            <a:solidFill>
                              <a:schemeClr val="dk1"/>
                            </a:solidFill>
                            <a:latin typeface="+mn-lt"/>
                            <a:ea typeface="+mn-ea"/>
                            <a:cs typeface="+mn-cs"/>
                          </a:endParaRPr>
                        </a:p>
                      </a:txBody>
                      <a:tcPr>
                        <a:solidFill>
                          <a:schemeClr val="bg2">
                            <a:lumMod val="40000"/>
                            <a:lumOff val="60000"/>
                          </a:schemeClr>
                        </a:solidFill>
                      </a:tcPr>
                    </a:tc>
                    <a:tc>
                      <a:txBody>
                        <a:bodyPr/>
                        <a:lstStyle/>
                        <a:p>
                          <a:r>
                            <a:rPr lang="en-GB" sz="1600" b="0" dirty="0">
                              <a:solidFill>
                                <a:sysClr val="windowText" lastClr="000000"/>
                              </a:solidFill>
                            </a:rPr>
                            <a:t>Premise</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195729924"/>
                  </p:ext>
                </p:extLst>
              </p:nvPr>
            </p:nvGraphicFramePr>
            <p:xfrm>
              <a:off x="2895600" y="3403242"/>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7"/>
                          <a:stretch>
                            <a:fillRect l="-461" t="-4839" r="-134332" b="-9677"/>
                          </a:stretch>
                        </a:blipFill>
                      </a:tcPr>
                    </a:tc>
                    <a:tc>
                      <a:txBody>
                        <a:bodyPr/>
                        <a:lstStyle/>
                        <a:p>
                          <a:r>
                            <a:rPr lang="en-GB" sz="1600" b="0" dirty="0" smtClean="0">
                              <a:solidFill>
                                <a:sysClr val="windowText" lastClr="000000"/>
                              </a:solidFill>
                            </a:rPr>
                            <a:t>Premise</a:t>
                          </a:r>
                          <a:endParaRPr lang="en-GB" sz="1600" b="0" dirty="0" smtClean="0">
                            <a:solidFill>
                              <a:sysClr val="windowText" lastClr="000000"/>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3254426012"/>
                  </p:ext>
                </p:extLst>
              </p:nvPr>
            </p:nvGraphicFramePr>
            <p:xfrm>
              <a:off x="2895600" y="3784242"/>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600" b="0" i="1" smtClean="0">
                                    <a:solidFill>
                                      <a:sysClr val="windowText" lastClr="000000"/>
                                    </a:solidFill>
                                    <a:latin typeface="Cambria Math" panose="02040503050406030204" pitchFamily="18" charset="0"/>
                                    <a:sym typeface="Symbol" panose="05050102010706020507" pitchFamily="18" charset="2"/>
                                  </a:rPr>
                                  <m:t>6</m:t>
                                </m:r>
                                <m:r>
                                  <a:rPr lang="en-GB" sz="1600" b="0" i="1" smtClean="0">
                                    <a:solidFill>
                                      <a:sysClr val="windowText" lastClr="000000"/>
                                    </a:solidFill>
                                    <a:latin typeface="Cambria Math" panose="02040503050406030204" pitchFamily="18" charset="0"/>
                                    <a:sym typeface="Symbol" panose="05050102010706020507" pitchFamily="18" charset="2"/>
                                  </a:rPr>
                                  <m:t>.</m:t>
                                </m:r>
                                <m:r>
                                  <m:rPr>
                                    <m:nor/>
                                  </m:rPr>
                                  <a:rPr lang="en-US" sz="1600" b="0" kern="1200" dirty="0" smtClean="0">
                                    <a:solidFill>
                                      <a:schemeClr val="dk1"/>
                                    </a:solidFill>
                                    <a:latin typeface="+mn-lt"/>
                                    <a:ea typeface="+mn-ea"/>
                                    <a:cs typeface="+mn-cs"/>
                                    <a:sym typeface="Symbol" panose="05050102010706020507" pitchFamily="18" charset="2"/>
                                  </a:rPr>
                                  <m:t>I</m:t>
                                </m:r>
                                <m:r>
                                  <m:rPr>
                                    <m:nor/>
                                  </m:rPr>
                                  <a:rPr lang="en-US" sz="1600" b="0" kern="1200" dirty="0" smtClean="0">
                                    <a:solidFill>
                                      <a:schemeClr val="dk1"/>
                                    </a:solidFill>
                                    <a:latin typeface="+mn-lt"/>
                                    <a:ea typeface="+mn-ea"/>
                                    <a:cs typeface="+mn-cs"/>
                                    <a:sym typeface="Symbol" panose="05050102010706020507" pitchFamily="18" charset="2"/>
                                  </a:rPr>
                                  <m:t>(</m:t>
                                </m:r>
                                <m:r>
                                  <m:rPr>
                                    <m:nor/>
                                  </m:rPr>
                                  <a:rPr lang="en-GB" sz="1600" b="0" i="0" kern="1200" dirty="0" smtClean="0">
                                    <a:solidFill>
                                      <a:schemeClr val="dk1"/>
                                    </a:solidFill>
                                    <a:latin typeface="+mn-lt"/>
                                    <a:ea typeface="+mn-ea"/>
                                    <a:cs typeface="+mn-cs"/>
                                    <a:sym typeface="Symbol" panose="05050102010706020507" pitchFamily="18" charset="2"/>
                                  </a:rPr>
                                  <m:t>G</m:t>
                                </m:r>
                                <m:r>
                                  <m:rPr>
                                    <m:nor/>
                                  </m:rPr>
                                  <a:rPr lang="en-US" sz="1600" b="0" kern="1200" dirty="0" smtClean="0">
                                    <a:solidFill>
                                      <a:schemeClr val="dk1"/>
                                    </a:solidFill>
                                    <a:latin typeface="+mn-lt"/>
                                    <a:ea typeface="+mn-ea"/>
                                    <a:cs typeface="+mn-cs"/>
                                    <a:sym typeface="Symbol" panose="05050102010706020507" pitchFamily="18" charset="2"/>
                                  </a:rPr>
                                  <m:t>)  </m:t>
                                </m:r>
                                <m:r>
                                  <m:rPr>
                                    <m:nor/>
                                  </m:rPr>
                                  <a:rPr lang="en-US" sz="1600" b="0" kern="1200" dirty="0" smtClean="0">
                                    <a:solidFill>
                                      <a:schemeClr val="dk1"/>
                                    </a:solidFill>
                                    <a:latin typeface="+mn-lt"/>
                                    <a:ea typeface="+mn-ea"/>
                                    <a:cs typeface="+mn-cs"/>
                                    <a:sym typeface="Symbol" panose="05050102010706020507" pitchFamily="18" charset="2"/>
                                  </a:rPr>
                                  <m:t>C</m:t>
                                </m:r>
                                <m:r>
                                  <m:rPr>
                                    <m:nor/>
                                  </m:rPr>
                                  <a:rPr lang="en-US" sz="1600" b="0" kern="1200" dirty="0" smtClean="0">
                                    <a:solidFill>
                                      <a:schemeClr val="dk1"/>
                                    </a:solidFill>
                                    <a:latin typeface="+mn-lt"/>
                                    <a:ea typeface="+mn-ea"/>
                                    <a:cs typeface="+mn-cs"/>
                                    <a:sym typeface="Symbol" panose="05050102010706020507" pitchFamily="18" charset="2"/>
                                  </a:rPr>
                                  <m:t>(</m:t>
                                </m:r>
                                <m:r>
                                  <m:rPr>
                                    <m:nor/>
                                  </m:rPr>
                                  <a:rPr lang="en-GB" sz="1600" b="0" i="0" kern="1200" dirty="0" smtClean="0">
                                    <a:solidFill>
                                      <a:schemeClr val="dk1"/>
                                    </a:solidFill>
                                    <a:latin typeface="+mn-lt"/>
                                    <a:ea typeface="+mn-ea"/>
                                    <a:cs typeface="+mn-cs"/>
                                    <a:sym typeface="Symbol" panose="05050102010706020507" pitchFamily="18" charset="2"/>
                                  </a:rPr>
                                  <m:t>G</m:t>
                                </m:r>
                                <m:r>
                                  <m:rPr>
                                    <m:nor/>
                                  </m:rPr>
                                  <a:rPr lang="en-US" sz="1600" b="0" kern="1200" dirty="0" smtClean="0">
                                    <a:solidFill>
                                      <a:schemeClr val="dk1"/>
                                    </a:solidFill>
                                    <a:latin typeface="+mn-lt"/>
                                    <a:ea typeface="+mn-ea"/>
                                    <a:cs typeface="+mn-cs"/>
                                    <a:sym typeface="Symbol" panose="05050102010706020507" pitchFamily="18" charset="2"/>
                                  </a:rPr>
                                  <m:t>)</m:t>
                                </m:r>
                              </m:oMath>
                            </m:oMathPara>
                          </a14:m>
                          <a:endParaRPr lang="en-US" sz="1600" b="0" dirty="0">
                            <a:solidFill>
                              <a:sysClr val="windowText" lastClr="000000"/>
                            </a:solidFill>
                          </a:endParaRPr>
                        </a:p>
                      </a:txBody>
                      <a:tcPr>
                        <a:solidFill>
                          <a:schemeClr val="bg2">
                            <a:lumMod val="40000"/>
                            <a:lumOff val="60000"/>
                          </a:schemeClr>
                        </a:solidFill>
                      </a:tcPr>
                    </a:tc>
                    <a:tc>
                      <a:txBody>
                        <a:bodyPr/>
                        <a:lstStyle/>
                        <a:p>
                          <a:r>
                            <a:rPr lang="en-US" sz="1600" b="0" dirty="0">
                              <a:solidFill>
                                <a:sysClr val="windowText" lastClr="000000"/>
                              </a:solidFill>
                            </a:rPr>
                            <a:t>Universal instantiation from (5)</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3254426012"/>
                  </p:ext>
                </p:extLst>
              </p:nvPr>
            </p:nvGraphicFramePr>
            <p:xfrm>
              <a:off x="2895600" y="3784242"/>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8"/>
                          <a:stretch>
                            <a:fillRect l="-461" t="-3226" r="-134332" b="-11290"/>
                          </a:stretch>
                        </a:blipFill>
                      </a:tcPr>
                    </a:tc>
                    <a:tc>
                      <a:txBody>
                        <a:bodyPr/>
                        <a:lstStyle/>
                        <a:p>
                          <a:r>
                            <a:rPr lang="en-US" sz="1600" b="0" dirty="0" smtClean="0">
                              <a:solidFill>
                                <a:sysClr val="windowText" lastClr="000000"/>
                              </a:solidFill>
                            </a:rPr>
                            <a:t>Universal instantiation from (5)</a:t>
                          </a:r>
                          <a:endParaRPr lang="en-US" sz="1600" b="0" dirty="0">
                            <a:solidFill>
                              <a:sysClr val="windowText" lastClr="000000"/>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792112552"/>
                  </p:ext>
                </p:extLst>
              </p:nvPr>
            </p:nvGraphicFramePr>
            <p:xfrm>
              <a:off x="2895600" y="4152363"/>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1600" b="0" kern="1200" smtClean="0">
                                    <a:solidFill>
                                      <a:schemeClr val="dk1"/>
                                    </a:solidFill>
                                    <a:latin typeface="Cambria Math" panose="02040503050406030204" pitchFamily="18" charset="0"/>
                                    <a:ea typeface="+mn-ea"/>
                                    <a:cs typeface="+mn-cs"/>
                                    <a:sym typeface="Symbol" panose="05050102010706020507" pitchFamily="18" charset="2"/>
                                  </a:rPr>
                                  <m:t>7</m:t>
                                </m:r>
                                <m:r>
                                  <a:rPr lang="en-GB" sz="1600" b="0" kern="1200" smtClean="0">
                                    <a:solidFill>
                                      <a:schemeClr val="dk1"/>
                                    </a:solidFill>
                                    <a:latin typeface="Cambria Math" panose="02040503050406030204" pitchFamily="18" charset="0"/>
                                    <a:ea typeface="+mn-ea"/>
                                    <a:cs typeface="+mn-cs"/>
                                    <a:sym typeface="Symbol" panose="05050102010706020507" pitchFamily="18" charset="2"/>
                                  </a:rPr>
                                  <m:t>.  </m:t>
                                </m:r>
                                <m:r>
                                  <a:rPr lang="en-US" sz="1600" b="0" kern="1200" smtClean="0">
                                    <a:solidFill>
                                      <a:schemeClr val="dk1"/>
                                    </a:solidFill>
                                    <a:latin typeface="Cambria Math" panose="02040503050406030204" pitchFamily="18" charset="0"/>
                                    <a:ea typeface="+mn-ea"/>
                                    <a:cs typeface="+mn-cs"/>
                                  </a:rPr>
                                  <m:t>¬</m:t>
                                </m:r>
                                <m:r>
                                  <a:rPr lang="en-GB" sz="1600" b="0" i="0" kern="1200" smtClean="0">
                                    <a:solidFill>
                                      <a:schemeClr val="dk1"/>
                                    </a:solidFill>
                                    <a:latin typeface="Cambria Math" panose="02040503050406030204" pitchFamily="18" charset="0"/>
                                    <a:ea typeface="+mn-ea"/>
                                    <a:cs typeface="+mn-cs"/>
                                  </a:rPr>
                                  <m:t> </m:t>
                                </m:r>
                                <m:r>
                                  <a:rPr lang="en-US" sz="1600" b="0" kern="1200" smtClean="0">
                                    <a:solidFill>
                                      <a:schemeClr val="dk1"/>
                                    </a:solidFill>
                                    <a:latin typeface="Cambria Math" panose="02040503050406030204" pitchFamily="18" charset="0"/>
                                    <a:ea typeface="+mn-ea"/>
                                    <a:cs typeface="+mn-cs"/>
                                  </a:rPr>
                                  <m:t>𝐶</m:t>
                                </m:r>
                                <m:r>
                                  <a:rPr lang="en-US" sz="1600" b="0" kern="1200" smtClean="0">
                                    <a:solidFill>
                                      <a:schemeClr val="dk1"/>
                                    </a:solidFill>
                                    <a:latin typeface="Cambria Math" panose="02040503050406030204" pitchFamily="18" charset="0"/>
                                    <a:ea typeface="+mn-ea"/>
                                    <a:cs typeface="+mn-cs"/>
                                  </a:rPr>
                                  <m:t>(</m:t>
                                </m:r>
                                <m:r>
                                  <m:rPr>
                                    <m:sty m:val="p"/>
                                  </m:rPr>
                                  <a:rPr lang="en-US" sz="1600" b="0" kern="1200" smtClean="0">
                                    <a:solidFill>
                                      <a:schemeClr val="dk1"/>
                                    </a:solidFill>
                                    <a:latin typeface="Cambria Math" panose="02040503050406030204" pitchFamily="18" charset="0"/>
                                    <a:ea typeface="+mn-ea"/>
                                    <a:cs typeface="+mn-cs"/>
                                  </a:rPr>
                                  <m:t>G</m:t>
                                </m:r>
                                <m:r>
                                  <m:rPr>
                                    <m:nor/>
                                  </m:rPr>
                                  <a:rPr lang="en-US" sz="1600" b="0" kern="1200" dirty="0" smtClean="0">
                                    <a:solidFill>
                                      <a:schemeClr val="dk1"/>
                                    </a:solidFill>
                                    <a:latin typeface="+mn-lt"/>
                                    <a:ea typeface="+mn-ea"/>
                                    <a:cs typeface="+mn-cs"/>
                                  </a:rPr>
                                  <m:t>)</m:t>
                                </m:r>
                              </m:oMath>
                            </m:oMathPara>
                          </a14:m>
                          <a:endParaRPr lang="en-US" sz="1600" b="0" kern="1200" dirty="0">
                            <a:solidFill>
                              <a:schemeClr val="dk1"/>
                            </a:solidFill>
                            <a:latin typeface="+mn-lt"/>
                            <a:ea typeface="+mn-ea"/>
                            <a:cs typeface="+mn-cs"/>
                          </a:endParaRPr>
                        </a:p>
                      </a:txBody>
                      <a:tcPr>
                        <a:solidFill>
                          <a:schemeClr val="bg2">
                            <a:lumMod val="40000"/>
                            <a:lumOff val="60000"/>
                          </a:schemeClr>
                        </a:solidFill>
                      </a:tcPr>
                    </a:tc>
                    <a:tc>
                      <a:txBody>
                        <a:bodyPr/>
                        <a:lstStyle/>
                        <a:p>
                          <a:r>
                            <a:rPr lang="en-GB" sz="1600" b="0" dirty="0">
                              <a:solidFill>
                                <a:sysClr val="windowText" lastClr="000000"/>
                              </a:solidFill>
                            </a:rPr>
                            <a:t>Premise</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792112552"/>
                  </p:ext>
                </p:extLst>
              </p:nvPr>
            </p:nvGraphicFramePr>
            <p:xfrm>
              <a:off x="2895600" y="4152363"/>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9"/>
                          <a:stretch>
                            <a:fillRect l="-461" t="-4918" r="-134332" b="-11475"/>
                          </a:stretch>
                        </a:blipFill>
                      </a:tcPr>
                    </a:tc>
                    <a:tc>
                      <a:txBody>
                        <a:bodyPr/>
                        <a:lstStyle/>
                        <a:p>
                          <a:r>
                            <a:rPr lang="en-GB" sz="1600" b="0" dirty="0" smtClean="0">
                              <a:solidFill>
                                <a:sysClr val="windowText" lastClr="000000"/>
                              </a:solidFill>
                            </a:rPr>
                            <a:t>Premise</a:t>
                          </a: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705169100"/>
                  </p:ext>
                </p:extLst>
              </p:nvPr>
            </p:nvGraphicFramePr>
            <p:xfrm>
              <a:off x="2895600" y="4520484"/>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600" b="0" i="1" smtClean="0">
                                    <a:solidFill>
                                      <a:sysClr val="windowText" lastClr="000000"/>
                                    </a:solidFill>
                                    <a:latin typeface="Cambria Math" panose="02040503050406030204" pitchFamily="18" charset="0"/>
                                    <a:sym typeface="Symbol" panose="05050102010706020507" pitchFamily="18" charset="2"/>
                                  </a:rPr>
                                  <m:t>8</m:t>
                                </m:r>
                                <m:r>
                                  <a:rPr lang="en-GB" sz="1600" b="0" i="1" smtClean="0">
                                    <a:solidFill>
                                      <a:sysClr val="windowText" lastClr="000000"/>
                                    </a:solidFill>
                                    <a:latin typeface="Cambria Math" panose="02040503050406030204" pitchFamily="18" charset="0"/>
                                    <a:sym typeface="Symbol" panose="05050102010706020507" pitchFamily="18" charset="2"/>
                                  </a:rPr>
                                  <m:t>.</m:t>
                                </m:r>
                                <m:r>
                                  <a:rPr lang="en-US" sz="1600" b="0" kern="1200" smtClean="0">
                                    <a:solidFill>
                                      <a:schemeClr val="dk1"/>
                                    </a:solidFill>
                                    <a:latin typeface="Cambria Math" panose="02040503050406030204" pitchFamily="18" charset="0"/>
                                    <a:ea typeface="+mn-ea"/>
                                    <a:cs typeface="+mn-cs"/>
                                  </a:rPr>
                                  <m:t>¬</m:t>
                                </m:r>
                                <m:r>
                                  <m:rPr>
                                    <m:nor/>
                                  </m:rPr>
                                  <a:rPr lang="en-GB" sz="1600" b="0" i="0" kern="1200" smtClean="0">
                                    <a:solidFill>
                                      <a:schemeClr val="dk1"/>
                                    </a:solidFill>
                                    <a:latin typeface="Cambria Math" panose="02040503050406030204" pitchFamily="18" charset="0"/>
                                    <a:ea typeface="+mn-ea"/>
                                    <a:cs typeface="+mn-cs"/>
                                  </a:rPr>
                                  <m:t> </m:t>
                                </m:r>
                                <m:r>
                                  <m:rPr>
                                    <m:nor/>
                                  </m:rPr>
                                  <a:rPr lang="en-US" sz="1600" b="0" dirty="0" smtClean="0">
                                    <a:solidFill>
                                      <a:sysClr val="windowText" lastClr="000000"/>
                                    </a:solidFill>
                                    <a:sym typeface="Symbol" panose="05050102010706020507" pitchFamily="18" charset="2"/>
                                  </a:rPr>
                                  <m:t>I</m:t>
                                </m:r>
                                <m:r>
                                  <m:rPr>
                                    <m:nor/>
                                  </m:rPr>
                                  <a:rPr lang="en-US" sz="1600" b="0" dirty="0" smtClean="0">
                                    <a:solidFill>
                                      <a:sysClr val="windowText" lastClr="000000"/>
                                    </a:solidFill>
                                    <a:sym typeface="Symbol" panose="05050102010706020507" pitchFamily="18" charset="2"/>
                                  </a:rPr>
                                  <m:t>(</m:t>
                                </m:r>
                                <m:r>
                                  <m:rPr>
                                    <m:nor/>
                                  </m:rPr>
                                  <a:rPr lang="en-US" sz="1600" b="0" dirty="0" smtClean="0">
                                    <a:solidFill>
                                      <a:sysClr val="windowText" lastClr="000000"/>
                                    </a:solidFill>
                                    <a:sym typeface="Symbol" panose="05050102010706020507" pitchFamily="18" charset="2"/>
                                  </a:rPr>
                                  <m:t>G</m:t>
                                </m:r>
                                <m:r>
                                  <m:rPr>
                                    <m:nor/>
                                  </m:rPr>
                                  <a:rPr lang="en-US" sz="1600" b="0" dirty="0" smtClean="0">
                                    <a:solidFill>
                                      <a:sysClr val="windowText" lastClr="000000"/>
                                    </a:solidFill>
                                    <a:sym typeface="Symbol" panose="05050102010706020507" pitchFamily="18" charset="2"/>
                                  </a:rPr>
                                  <m:t>)</m:t>
                                </m:r>
                              </m:oMath>
                            </m:oMathPara>
                          </a14:m>
                          <a:endParaRPr lang="en-US" sz="1600" b="0" dirty="0">
                            <a:solidFill>
                              <a:sysClr val="windowText" lastClr="000000"/>
                            </a:solidFill>
                          </a:endParaRPr>
                        </a:p>
                      </a:txBody>
                      <a:tcPr>
                        <a:solidFill>
                          <a:schemeClr val="bg2">
                            <a:lumMod val="40000"/>
                            <a:lumOff val="60000"/>
                          </a:schemeClr>
                        </a:solidFill>
                      </a:tcPr>
                    </a:tc>
                    <a:tc>
                      <a:txBody>
                        <a:bodyPr/>
                        <a:lstStyle/>
                        <a:p>
                          <a:r>
                            <a:rPr lang="en-GB" sz="1600" b="0" dirty="0">
                              <a:solidFill>
                                <a:sysClr val="windowText" lastClr="000000"/>
                              </a:solidFill>
                            </a:rPr>
                            <a:t>Modus tollens from (6) and (7)</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705169100"/>
                  </p:ext>
                </p:extLst>
              </p:nvPr>
            </p:nvGraphicFramePr>
            <p:xfrm>
              <a:off x="2895600" y="4520484"/>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10"/>
                          <a:stretch>
                            <a:fillRect l="-461" t="-3226" r="-134332" b="-11290"/>
                          </a:stretch>
                        </a:blipFill>
                      </a:tcPr>
                    </a:tc>
                    <a:tc>
                      <a:txBody>
                        <a:bodyPr/>
                        <a:lstStyle/>
                        <a:p>
                          <a:r>
                            <a:rPr lang="en-GB" sz="1600" b="0" dirty="0" smtClean="0">
                              <a:solidFill>
                                <a:sysClr val="windowText" lastClr="000000"/>
                              </a:solidFill>
                            </a:rPr>
                            <a:t>Modus </a:t>
                          </a:r>
                          <a:r>
                            <a:rPr lang="en-GB" sz="1600" b="0" dirty="0" err="1" smtClean="0">
                              <a:solidFill>
                                <a:sysClr val="windowText" lastClr="000000"/>
                              </a:solidFill>
                            </a:rPr>
                            <a:t>tollens</a:t>
                          </a:r>
                          <a:r>
                            <a:rPr lang="en-GB" sz="1600" b="0" dirty="0" smtClean="0">
                              <a:solidFill>
                                <a:sysClr val="windowText" lastClr="000000"/>
                              </a:solidFill>
                            </a:rPr>
                            <a:t> from (6) and (7)</a:t>
                          </a:r>
                          <a:endParaRPr lang="en-GB" sz="1600" b="0" dirty="0" smtClean="0">
                            <a:solidFill>
                              <a:sysClr val="windowText" lastClr="000000"/>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6" name="Table 15"/>
              <p:cNvGraphicFramePr>
                <a:graphicFrameLocks noGrp="1"/>
              </p:cNvGraphicFramePr>
              <p:nvPr>
                <p:extLst>
                  <p:ext uri="{D42A27DB-BD31-4B8C-83A1-F6EECF244321}">
                    <p14:modId xmlns:p14="http://schemas.microsoft.com/office/powerpoint/2010/main" val="3569161479"/>
                  </p:ext>
                </p:extLst>
              </p:nvPr>
            </p:nvGraphicFramePr>
            <p:xfrm>
              <a:off x="2895600" y="4914363"/>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marL="0" algn="l" defTabSz="914400" rtl="0" eaLnBrk="1" latinLnBrk="0" hangingPunct="1"/>
                          <a14:m>
                            <m:oMathPara xmlns:m="http://schemas.openxmlformats.org/officeDocument/2006/math">
                              <m:oMathParaPr>
                                <m:jc m:val="left"/>
                              </m:oMathParaPr>
                              <m:oMath xmlns:m="http://schemas.openxmlformats.org/officeDocument/2006/math">
                                <m:r>
                                  <a:rPr lang="en-US" sz="1600" b="0" kern="1200" smtClean="0">
                                    <a:solidFill>
                                      <a:sysClr val="windowText" lastClr="000000"/>
                                    </a:solidFill>
                                    <a:latin typeface="Cambria Math" panose="02040503050406030204" pitchFamily="18" charset="0"/>
                                    <a:ea typeface="+mn-ea"/>
                                    <a:cs typeface="+mn-cs"/>
                                    <a:sym typeface="Symbol" panose="05050102010706020507" pitchFamily="18" charset="2"/>
                                  </a:rPr>
                                  <m:t>9</m:t>
                                </m:r>
                                <m:r>
                                  <a:rPr lang="en-GB" sz="1600" b="0" kern="1200" smtClean="0">
                                    <a:solidFill>
                                      <a:sysClr val="windowText" lastClr="000000"/>
                                    </a:solidFill>
                                    <a:latin typeface="Cambria Math" panose="02040503050406030204" pitchFamily="18" charset="0"/>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GB" sz="1600" b="0" i="0" kern="1200" dirty="0" smtClean="0">
                                    <a:solidFill>
                                      <a:sysClr val="windowText" lastClr="000000"/>
                                    </a:solidFill>
                                    <a:latin typeface="+mn-lt"/>
                                    <a:ea typeface="+mn-ea"/>
                                    <a:cs typeface="+mn-cs"/>
                                    <a:sym typeface="Symbol" panose="05050102010706020507" pitchFamily="18" charset="2"/>
                                  </a:rPr>
                                  <m:t> </m:t>
                                </m:r>
                                <m:r>
                                  <m:rPr>
                                    <m:nor/>
                                  </m:rPr>
                                  <a:rPr lang="en-US" sz="1600" b="0" kern="1200" dirty="0" smtClean="0">
                                    <a:solidFill>
                                      <a:sysClr val="windowText" lastClr="000000"/>
                                    </a:solidFill>
                                    <a:latin typeface="+mn-lt"/>
                                    <a:ea typeface="+mn-ea"/>
                                    <a:cs typeface="+mn-cs"/>
                                    <a:sym typeface="Symbol" panose="05050102010706020507" pitchFamily="18" charset="2"/>
                                  </a:rPr>
                                  <m:t>I</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G</m:t>
                                </m:r>
                                <m:r>
                                  <m:rPr>
                                    <m:nor/>
                                  </m:rPr>
                                  <a:rPr lang="en-US" sz="1600" b="0" kern="1200" dirty="0" smtClean="0">
                                    <a:solidFill>
                                      <a:sysClr val="windowText" lastClr="000000"/>
                                    </a:solidFill>
                                    <a:latin typeface="+mn-lt"/>
                                    <a:ea typeface="+mn-ea"/>
                                    <a:cs typeface="+mn-cs"/>
                                    <a:sym typeface="Symbol" panose="05050102010706020507" pitchFamily="18" charset="2"/>
                                  </a:rPr>
                                  <m:t>)  </m:t>
                                </m:r>
                                <m:r>
                                  <m:rPr>
                                    <m:nor/>
                                  </m:rPr>
                                  <a:rPr lang="en-GB" sz="1600" b="0" i="0" kern="1200" dirty="0" smtClean="0">
                                    <a:solidFill>
                                      <a:sysClr val="windowText" lastClr="000000"/>
                                    </a:solidFill>
                                    <a:latin typeface="+mn-lt"/>
                                    <a:ea typeface="+mn-ea"/>
                                    <a:cs typeface="+mn-cs"/>
                                    <a:sym typeface="Symbol" panose="05050102010706020507" pitchFamily="18" charset="2"/>
                                  </a:rPr>
                                  <m:t> </m:t>
                                </m:r>
                                <m:r>
                                  <m:rPr>
                                    <m:nor/>
                                  </m:rPr>
                                  <a:rPr lang="en-US" sz="1600" b="0" kern="1200" dirty="0" smtClean="0">
                                    <a:solidFill>
                                      <a:sysClr val="windowText" lastClr="000000"/>
                                    </a:solidFill>
                                    <a:latin typeface="+mn-lt"/>
                                    <a:ea typeface="+mn-ea"/>
                                    <a:cs typeface="+mn-cs"/>
                                    <a:sym typeface="Symbol" panose="05050102010706020507" pitchFamily="18" charset="2"/>
                                  </a:rPr>
                                  <m:t>A</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G</m:t>
                                </m:r>
                                <m:r>
                                  <m:rPr>
                                    <m:nor/>
                                  </m:rPr>
                                  <a:rPr lang="en-US" sz="1600" b="0" kern="1200" dirty="0" smtClean="0">
                                    <a:solidFill>
                                      <a:sysClr val="windowText" lastClr="000000"/>
                                    </a:solidFill>
                                    <a:latin typeface="+mn-lt"/>
                                    <a:ea typeface="+mn-ea"/>
                                    <a:cs typeface="+mn-cs"/>
                                    <a:sym typeface="Symbol" panose="05050102010706020507" pitchFamily="18" charset="2"/>
                                  </a:rPr>
                                  <m:t>)</m:t>
                                </m:r>
                              </m:oMath>
                            </m:oMathPara>
                          </a14:m>
                          <a:endParaRPr lang="en-US" sz="1600" b="0" kern="1200" dirty="0">
                            <a:solidFill>
                              <a:sysClr val="windowText" lastClr="000000"/>
                            </a:solidFill>
                            <a:latin typeface="+mn-lt"/>
                            <a:ea typeface="+mn-ea"/>
                            <a:cs typeface="+mn-cs"/>
                          </a:endParaRPr>
                        </a:p>
                      </a:txBody>
                      <a:tcPr>
                        <a:solidFill>
                          <a:schemeClr val="bg2">
                            <a:lumMod val="40000"/>
                            <a:lumOff val="60000"/>
                          </a:schemeClr>
                        </a:solidFill>
                      </a:tcPr>
                    </a:tc>
                    <a:tc>
                      <a:txBody>
                        <a:bodyPr/>
                        <a:lstStyle/>
                        <a:p>
                          <a:r>
                            <a:rPr lang="en-GB" sz="1600" b="0" dirty="0">
                              <a:solidFill>
                                <a:sysClr val="windowText" lastClr="000000"/>
                              </a:solidFill>
                            </a:rPr>
                            <a:t>Addition from (8)</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6" name="Table 15"/>
              <p:cNvGraphicFramePr>
                <a:graphicFrameLocks noGrp="1"/>
              </p:cNvGraphicFramePr>
              <p:nvPr>
                <p:extLst>
                  <p:ext uri="{D42A27DB-BD31-4B8C-83A1-F6EECF244321}">
                    <p14:modId xmlns:p14="http://schemas.microsoft.com/office/powerpoint/2010/main" val="3569161479"/>
                  </p:ext>
                </p:extLst>
              </p:nvPr>
            </p:nvGraphicFramePr>
            <p:xfrm>
              <a:off x="2895600" y="4914363"/>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11"/>
                          <a:stretch>
                            <a:fillRect l="-461" t="-4918" r="-134332" b="-11475"/>
                          </a:stretch>
                        </a:blipFill>
                      </a:tcPr>
                    </a:tc>
                    <a:tc>
                      <a:txBody>
                        <a:bodyPr/>
                        <a:lstStyle/>
                        <a:p>
                          <a:r>
                            <a:rPr lang="en-GB" sz="1600" b="0" dirty="0" smtClean="0">
                              <a:solidFill>
                                <a:sysClr val="windowText" lastClr="000000"/>
                              </a:solidFill>
                            </a:rPr>
                            <a:t>Addition from (8)</a:t>
                          </a:r>
                          <a:endParaRPr lang="en-GB" sz="1600" b="0" dirty="0" smtClean="0">
                            <a:solidFill>
                              <a:sysClr val="windowText" lastClr="000000"/>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7" name="Table 16"/>
              <p:cNvGraphicFramePr>
                <a:graphicFrameLocks noGrp="1"/>
              </p:cNvGraphicFramePr>
              <p:nvPr>
                <p:extLst>
                  <p:ext uri="{D42A27DB-BD31-4B8C-83A1-F6EECF244321}">
                    <p14:modId xmlns:p14="http://schemas.microsoft.com/office/powerpoint/2010/main" val="1425636339"/>
                  </p:ext>
                </p:extLst>
              </p:nvPr>
            </p:nvGraphicFramePr>
            <p:xfrm>
              <a:off x="2895600" y="5282484"/>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left"/>
                              </m:oMathParaPr>
                              <m:oMath xmlns:m="http://schemas.openxmlformats.org/officeDocument/2006/math">
                                <m:r>
                                  <a:rPr lang="en-US" sz="1600" b="0" kern="1200" smtClean="0">
                                    <a:solidFill>
                                      <a:sysClr val="windowText" lastClr="000000"/>
                                    </a:solidFill>
                                    <a:latin typeface="Cambria Math" panose="02040503050406030204" pitchFamily="18" charset="0"/>
                                    <a:ea typeface="+mn-ea"/>
                                    <a:cs typeface="+mn-cs"/>
                                    <a:sym typeface="Symbol" panose="05050102010706020507" pitchFamily="18" charset="2"/>
                                  </a:rPr>
                                  <m:t>1</m:t>
                                </m:r>
                                <m:r>
                                  <a:rPr lang="en-GB" sz="1600" b="0" kern="1200" smtClean="0">
                                    <a:solidFill>
                                      <a:sysClr val="windowText" lastClr="000000"/>
                                    </a:solidFill>
                                    <a:latin typeface="Cambria Math" panose="02040503050406030204" pitchFamily="18" charset="0"/>
                                    <a:ea typeface="+mn-ea"/>
                                    <a:cs typeface="+mn-cs"/>
                                    <a:sym typeface="Symbol" panose="05050102010706020507" pitchFamily="18" charset="2"/>
                                  </a:rPr>
                                  <m:t>0.</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GB" sz="1600" b="0" i="0" kern="1200" dirty="0" smtClean="0">
                                    <a:solidFill>
                                      <a:sysClr val="windowText" lastClr="000000"/>
                                    </a:solidFill>
                                    <a:latin typeface="+mn-lt"/>
                                    <a:ea typeface="+mn-ea"/>
                                    <a:cs typeface="+mn-cs"/>
                                    <a:sym typeface="Symbol" panose="05050102010706020507" pitchFamily="18" charset="2"/>
                                  </a:rPr>
                                  <m:t> </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I</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G</m:t>
                                </m:r>
                                <m:r>
                                  <m:rPr>
                                    <m:nor/>
                                  </m:rPr>
                                  <a:rPr lang="en-US" sz="1600" b="0" kern="1200" dirty="0" smtClean="0">
                                    <a:solidFill>
                                      <a:sysClr val="windowText" lastClr="000000"/>
                                    </a:solidFill>
                                    <a:latin typeface="+mn-lt"/>
                                    <a:ea typeface="+mn-ea"/>
                                    <a:cs typeface="+mn-cs"/>
                                    <a:sym typeface="Symbol" panose="05050102010706020507" pitchFamily="18" charset="2"/>
                                  </a:rPr>
                                  <m:t>)  </m:t>
                                </m:r>
                                <m:r>
                                  <m:rPr>
                                    <m:nor/>
                                  </m:rPr>
                                  <a:rPr lang="en-US" sz="1600" b="0" kern="1200" dirty="0" smtClean="0">
                                    <a:solidFill>
                                      <a:sysClr val="windowText" lastClr="000000"/>
                                    </a:solidFill>
                                    <a:latin typeface="+mn-lt"/>
                                    <a:ea typeface="+mn-ea"/>
                                    <a:cs typeface="+mn-cs"/>
                                    <a:sym typeface="Symbol" panose="05050102010706020507" pitchFamily="18" charset="2"/>
                                  </a:rPr>
                                  <m:t>A</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G</m:t>
                                </m:r>
                                <m:r>
                                  <m:rPr>
                                    <m:nor/>
                                  </m:rPr>
                                  <a:rPr lang="en-US" sz="1600" b="0" kern="1200" dirty="0" smtClean="0">
                                    <a:solidFill>
                                      <a:sysClr val="windowText" lastClr="000000"/>
                                    </a:solidFill>
                                    <a:latin typeface="+mn-lt"/>
                                    <a:ea typeface="+mn-ea"/>
                                    <a:cs typeface="+mn-cs"/>
                                    <a:sym typeface="Symbol" panose="05050102010706020507" pitchFamily="18" charset="2"/>
                                  </a:rPr>
                                  <m:t>))</m:t>
                                </m:r>
                              </m:oMath>
                            </m:oMathPara>
                          </a14:m>
                          <a:endParaRPr lang="en-US" sz="1600" b="0" kern="1200" dirty="0">
                            <a:solidFill>
                              <a:sysClr val="windowText" lastClr="000000"/>
                            </a:solidFill>
                            <a:latin typeface="+mn-lt"/>
                            <a:ea typeface="+mn-ea"/>
                            <a:cs typeface="+mn-cs"/>
                          </a:endParaRPr>
                        </a:p>
                      </a:txBody>
                      <a:tcPr>
                        <a:solidFill>
                          <a:schemeClr val="bg2">
                            <a:lumMod val="40000"/>
                            <a:lumOff val="60000"/>
                          </a:schemeClr>
                        </a:solidFill>
                      </a:tcPr>
                    </a:tc>
                    <a:tc>
                      <a:txBody>
                        <a:bodyPr/>
                        <a:lstStyle/>
                        <a:p>
                          <a:r>
                            <a:rPr lang="en-GB" sz="1600" b="0" dirty="0">
                              <a:solidFill>
                                <a:sysClr val="windowText" lastClr="000000"/>
                              </a:solidFill>
                            </a:rPr>
                            <a:t>De</a:t>
                          </a:r>
                          <a:r>
                            <a:rPr lang="en-GB" sz="1600" b="0" baseline="0" dirty="0">
                              <a:solidFill>
                                <a:sysClr val="windowText" lastClr="000000"/>
                              </a:solidFill>
                            </a:rPr>
                            <a:t> Morgan’s Law</a:t>
                          </a:r>
                          <a:endParaRPr lang="en-GB" sz="1600" b="0" dirty="0">
                            <a:solidFill>
                              <a:sysClr val="windowText" lastClr="000000"/>
                            </a:solidFill>
                          </a:endParaRP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7" name="Table 16"/>
              <p:cNvGraphicFramePr>
                <a:graphicFrameLocks noGrp="1"/>
              </p:cNvGraphicFramePr>
              <p:nvPr>
                <p:extLst>
                  <p:ext uri="{D42A27DB-BD31-4B8C-83A1-F6EECF244321}">
                    <p14:modId xmlns:p14="http://schemas.microsoft.com/office/powerpoint/2010/main" val="1425636339"/>
                  </p:ext>
                </p:extLst>
              </p:nvPr>
            </p:nvGraphicFramePr>
            <p:xfrm>
              <a:off x="2895600" y="5282484"/>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12"/>
                          <a:stretch>
                            <a:fillRect l="-461" t="-3226" r="-134332" b="-11290"/>
                          </a:stretch>
                        </a:blipFill>
                      </a:tcPr>
                    </a:tc>
                    <a:tc>
                      <a:txBody>
                        <a:bodyPr/>
                        <a:lstStyle/>
                        <a:p>
                          <a:r>
                            <a:rPr lang="en-GB" sz="1600" b="0" dirty="0" smtClean="0">
                              <a:solidFill>
                                <a:sysClr val="windowText" lastClr="000000"/>
                              </a:solidFill>
                            </a:rPr>
                            <a:t>De</a:t>
                          </a:r>
                          <a:r>
                            <a:rPr lang="en-GB" sz="1600" b="0" baseline="0" dirty="0" smtClean="0">
                              <a:solidFill>
                                <a:sysClr val="windowText" lastClr="000000"/>
                              </a:solidFill>
                            </a:rPr>
                            <a:t> Morgan’s Law</a:t>
                          </a:r>
                          <a:endParaRPr lang="en-GB" sz="1600" b="0" dirty="0" smtClean="0">
                            <a:solidFill>
                              <a:sysClr val="windowText" lastClr="000000"/>
                            </a:solidFill>
                          </a:endParaRP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p:cNvGraphicFramePr>
                <a:graphicFrameLocks noGrp="1"/>
              </p:cNvGraphicFramePr>
              <p:nvPr>
                <p:extLst>
                  <p:ext uri="{D42A27DB-BD31-4B8C-83A1-F6EECF244321}">
                    <p14:modId xmlns:p14="http://schemas.microsoft.com/office/powerpoint/2010/main" val="4194920799"/>
                  </p:ext>
                </p:extLst>
              </p:nvPr>
            </p:nvGraphicFramePr>
            <p:xfrm>
              <a:off x="2895600" y="5650605"/>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marL="0" algn="l" defTabSz="914400" rtl="0" eaLnBrk="1" latinLnBrk="0" hangingPunct="1"/>
                          <a14:m>
                            <m:oMathPara xmlns:m="http://schemas.openxmlformats.org/officeDocument/2006/math">
                              <m:oMathParaPr>
                                <m:jc m:val="left"/>
                              </m:oMathParaPr>
                              <m:oMath xmlns:m="http://schemas.openxmlformats.org/officeDocument/2006/math">
                                <m:r>
                                  <a:rPr lang="en-US" sz="1600" b="0" kern="1200" smtClean="0">
                                    <a:solidFill>
                                      <a:sysClr val="windowText" lastClr="000000"/>
                                    </a:solidFill>
                                    <a:latin typeface="Cambria Math" panose="02040503050406030204" pitchFamily="18" charset="0"/>
                                    <a:ea typeface="+mn-ea"/>
                                    <a:cs typeface="+mn-cs"/>
                                    <a:sym typeface="Symbol" panose="05050102010706020507" pitchFamily="18" charset="2"/>
                                  </a:rPr>
                                  <m:t>1</m:t>
                                </m:r>
                                <m:r>
                                  <a:rPr lang="en-GB" sz="1600" b="0" kern="1200" smtClean="0">
                                    <a:solidFill>
                                      <a:sysClr val="windowText" lastClr="000000"/>
                                    </a:solidFill>
                                    <a:latin typeface="Cambria Math" panose="02040503050406030204" pitchFamily="18" charset="0"/>
                                    <a:ea typeface="+mn-ea"/>
                                    <a:cs typeface="+mn-cs"/>
                                    <a:sym typeface="Symbol" panose="05050102010706020507" pitchFamily="18" charset="2"/>
                                  </a:rPr>
                                  <m:t>1.</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x</m:t>
                                </m:r>
                                <m:r>
                                  <m:rPr>
                                    <m:nor/>
                                  </m:rPr>
                                  <a:rPr lang="en-GB" sz="1600" b="0" i="0" kern="1200" dirty="0" smtClean="0">
                                    <a:solidFill>
                                      <a:sysClr val="windowText" lastClr="000000"/>
                                    </a:solidFill>
                                    <a:latin typeface="+mn-lt"/>
                                    <a:ea typeface="+mn-ea"/>
                                    <a:cs typeface="+mn-cs"/>
                                    <a:sym typeface="Symbol" panose="05050102010706020507" pitchFamily="18" charset="2"/>
                                  </a:rPr>
                                  <m:t> </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GB" sz="1600" b="0" i="0" kern="1200" dirty="0" smtClean="0">
                                    <a:solidFill>
                                      <a:sysClr val="windowText" lastClr="000000"/>
                                    </a:solidFill>
                                    <a:latin typeface="+mn-lt"/>
                                    <a:ea typeface="+mn-ea"/>
                                    <a:cs typeface="+mn-cs"/>
                                    <a:sym typeface="Symbol" panose="05050102010706020507" pitchFamily="18" charset="2"/>
                                  </a:rPr>
                                  <m:t> </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I</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x</m:t>
                                </m:r>
                                <m:r>
                                  <m:rPr>
                                    <m:nor/>
                                  </m:rPr>
                                  <a:rPr lang="en-US" sz="1600" b="0" kern="1200" dirty="0" smtClean="0">
                                    <a:solidFill>
                                      <a:sysClr val="windowText" lastClr="000000"/>
                                    </a:solidFill>
                                    <a:latin typeface="+mn-lt"/>
                                    <a:ea typeface="+mn-ea"/>
                                    <a:cs typeface="+mn-cs"/>
                                    <a:sym typeface="Symbol" panose="05050102010706020507" pitchFamily="18" charset="2"/>
                                  </a:rPr>
                                  <m:t>)  </m:t>
                                </m:r>
                                <m:r>
                                  <m:rPr>
                                    <m:nor/>
                                  </m:rPr>
                                  <a:rPr lang="en-US" sz="1600" b="0" kern="1200" dirty="0" smtClean="0">
                                    <a:solidFill>
                                      <a:sysClr val="windowText" lastClr="000000"/>
                                    </a:solidFill>
                                    <a:latin typeface="+mn-lt"/>
                                    <a:ea typeface="+mn-ea"/>
                                    <a:cs typeface="+mn-cs"/>
                                    <a:sym typeface="Symbol" panose="05050102010706020507" pitchFamily="18" charset="2"/>
                                  </a:rPr>
                                  <m:t>A</m:t>
                                </m:r>
                                <m:r>
                                  <m:rPr>
                                    <m:nor/>
                                  </m:rPr>
                                  <a:rPr lang="en-US" sz="1600" b="0" kern="1200" dirty="0" smtClean="0">
                                    <a:solidFill>
                                      <a:sysClr val="windowText" lastClr="000000"/>
                                    </a:solidFill>
                                    <a:latin typeface="+mn-lt"/>
                                    <a:ea typeface="+mn-ea"/>
                                    <a:cs typeface="+mn-cs"/>
                                    <a:sym typeface="Symbol" panose="05050102010706020507" pitchFamily="18" charset="2"/>
                                  </a:rPr>
                                  <m:t>(</m:t>
                                </m:r>
                                <m:r>
                                  <m:rPr>
                                    <m:nor/>
                                  </m:rPr>
                                  <a:rPr lang="en-US" sz="1600" b="0" kern="1200" dirty="0" smtClean="0">
                                    <a:solidFill>
                                      <a:sysClr val="windowText" lastClr="000000"/>
                                    </a:solidFill>
                                    <a:latin typeface="+mn-lt"/>
                                    <a:ea typeface="+mn-ea"/>
                                    <a:cs typeface="+mn-cs"/>
                                    <a:sym typeface="Symbol" panose="05050102010706020507" pitchFamily="18" charset="2"/>
                                  </a:rPr>
                                  <m:t>x</m:t>
                                </m:r>
                                <m:r>
                                  <m:rPr>
                                    <m:nor/>
                                  </m:rPr>
                                  <a:rPr lang="en-US" sz="1600" b="0" kern="1200" dirty="0" smtClean="0">
                                    <a:solidFill>
                                      <a:sysClr val="windowText" lastClr="000000"/>
                                    </a:solidFill>
                                    <a:latin typeface="+mn-lt"/>
                                    <a:ea typeface="+mn-ea"/>
                                    <a:cs typeface="+mn-cs"/>
                                    <a:sym typeface="Symbol" panose="05050102010706020507" pitchFamily="18" charset="2"/>
                                  </a:rPr>
                                  <m:t>))</m:t>
                                </m:r>
                              </m:oMath>
                            </m:oMathPara>
                          </a14:m>
                          <a:endParaRPr lang="en-US" sz="1600" b="0" kern="1200" dirty="0">
                            <a:solidFill>
                              <a:sysClr val="windowText" lastClr="000000"/>
                            </a:solidFill>
                            <a:latin typeface="+mn-lt"/>
                            <a:ea typeface="+mn-ea"/>
                            <a:cs typeface="+mn-cs"/>
                          </a:endParaRPr>
                        </a:p>
                      </a:txBody>
                      <a:tcPr>
                        <a:solidFill>
                          <a:schemeClr val="bg2">
                            <a:lumMod val="40000"/>
                            <a:lumOff val="60000"/>
                          </a:schemeClr>
                        </a:solidFill>
                      </a:tcPr>
                    </a:tc>
                    <a:tc>
                      <a:txBody>
                        <a:bodyPr/>
                        <a:lstStyle/>
                        <a:p>
                          <a:r>
                            <a:rPr lang="en-GB" sz="1600" b="0" dirty="0">
                              <a:solidFill>
                                <a:sysClr val="windowText" lastClr="000000"/>
                              </a:solidFill>
                            </a:rPr>
                            <a:t>Existential generalization from (10)</a:t>
                          </a:r>
                        </a:p>
                      </a:txBody>
                      <a:tcPr>
                        <a:solidFill>
                          <a:schemeClr val="bg2">
                            <a:lumMod val="40000"/>
                            <a:lumOff val="60000"/>
                          </a:schemeClr>
                        </a:solidFill>
                      </a:tcPr>
                    </a:tc>
                    <a:extLst>
                      <a:ext uri="{0D108BD9-81ED-4DB2-BD59-A6C34878D82A}">
                        <a16:rowId xmlns:a16="http://schemas.microsoft.com/office/drawing/2014/main" val="10000"/>
                      </a:ext>
                    </a:extLst>
                  </a:tr>
                </a:tbl>
              </a:graphicData>
            </a:graphic>
          </p:graphicFrame>
        </mc:Choice>
        <mc:Fallback xmlns="">
          <p:graphicFrame>
            <p:nvGraphicFramePr>
              <p:cNvPr id="18" name="Table 17"/>
              <p:cNvGraphicFramePr>
                <a:graphicFrameLocks noGrp="1"/>
              </p:cNvGraphicFramePr>
              <p:nvPr>
                <p:extLst>
                  <p:ext uri="{D42A27DB-BD31-4B8C-83A1-F6EECF244321}">
                    <p14:modId xmlns:p14="http://schemas.microsoft.com/office/powerpoint/2010/main" val="4194920799"/>
                  </p:ext>
                </p:extLst>
              </p:nvPr>
            </p:nvGraphicFramePr>
            <p:xfrm>
              <a:off x="2895600" y="5650605"/>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13"/>
                          <a:stretch>
                            <a:fillRect l="-461" t="-3226" r="-134332" b="-11290"/>
                          </a:stretch>
                        </a:blipFill>
                      </a:tcPr>
                    </a:tc>
                    <a:tc>
                      <a:txBody>
                        <a:bodyPr/>
                        <a:lstStyle/>
                        <a:p>
                          <a:r>
                            <a:rPr lang="en-GB" sz="1600" b="0" dirty="0" smtClean="0">
                              <a:solidFill>
                                <a:sysClr val="windowText" lastClr="000000"/>
                              </a:solidFill>
                            </a:rPr>
                            <a:t>Existential generalization from (10)</a:t>
                          </a:r>
                        </a:p>
                      </a:txBody>
                      <a:tcPr>
                        <a:solidFill>
                          <a:schemeClr val="bg2">
                            <a:lumMod val="40000"/>
                            <a:lumOff val="60000"/>
                          </a:schemeClr>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9" name="Table 18"/>
              <p:cNvGraphicFramePr>
                <a:graphicFrameLocks noGrp="1"/>
              </p:cNvGraphicFramePr>
              <p:nvPr>
                <p:extLst>
                  <p:ext uri="{D42A27DB-BD31-4B8C-83A1-F6EECF244321}">
                    <p14:modId xmlns:p14="http://schemas.microsoft.com/office/powerpoint/2010/main" val="3092674647"/>
                  </p:ext>
                </p:extLst>
              </p:nvPr>
            </p:nvGraphicFramePr>
            <p:xfrm>
              <a:off x="2895600" y="6029960"/>
              <a:ext cx="6172200" cy="370840"/>
            </p:xfrm>
            <a:graphic>
              <a:graphicData uri="http://schemas.openxmlformats.org/drawingml/2006/table">
                <a:tbl>
                  <a:tblPr firstRow="1" bandRow="1">
                    <a:tableStyleId>{5C22544A-7EE6-4342-B048-85BDC9FD1C3A}</a:tableStyleId>
                  </a:tblPr>
                  <a:tblGrid>
                    <a:gridCol w="2645229">
                      <a:extLst>
                        <a:ext uri="{9D8B030D-6E8A-4147-A177-3AD203B41FA5}">
                          <a16:colId xmlns:a16="http://schemas.microsoft.com/office/drawing/2014/main" val="20000"/>
                        </a:ext>
                      </a:extLst>
                    </a:gridCol>
                    <a:gridCol w="3526971">
                      <a:extLst>
                        <a:ext uri="{9D8B030D-6E8A-4147-A177-3AD203B41FA5}">
                          <a16:colId xmlns:a16="http://schemas.microsoft.com/office/drawing/2014/main" val="20001"/>
                        </a:ext>
                      </a:extLst>
                    </a:gridCol>
                  </a:tblGrid>
                  <a:tr h="370840">
                    <a:tc>
                      <a:txBody>
                        <a:bodyPr/>
                        <a:lstStyle/>
                        <a:p>
                          <a:pPr marL="0" algn="l" defTabSz="914400" rtl="0" eaLnBrk="1" latinLnBrk="0" hangingPunct="1"/>
                          <a14:m>
                            <m:oMathPara xmlns:m="http://schemas.openxmlformats.org/officeDocument/2006/math">
                              <m:oMathParaPr>
                                <m:jc m:val="left"/>
                              </m:oMathParaPr>
                              <m:oMath xmlns:m="http://schemas.openxmlformats.org/officeDocument/2006/math">
                                <m:r>
                                  <a:rPr lang="en-US" sz="1600" b="0" kern="1200" smtClean="0">
                                    <a:solidFill>
                                      <a:sysClr val="windowText" lastClr="000000"/>
                                    </a:solidFill>
                                    <a:latin typeface="Cambria Math" panose="02040503050406030204" pitchFamily="18" charset="0"/>
                                    <a:ea typeface="+mn-ea"/>
                                    <a:cs typeface="+mn-cs"/>
                                    <a:sym typeface="Symbol" panose="05050102010706020507" pitchFamily="18" charset="2"/>
                                  </a:rPr>
                                  <m:t>1</m:t>
                                </m:r>
                                <m:r>
                                  <a:rPr lang="en-GB" sz="1600" b="0" kern="1200" smtClean="0">
                                    <a:solidFill>
                                      <a:sysClr val="windowText" lastClr="000000"/>
                                    </a:solidFill>
                                    <a:latin typeface="Cambria Math" panose="02040503050406030204" pitchFamily="18" charset="0"/>
                                    <a:ea typeface="+mn-ea"/>
                                    <a:cs typeface="+mn-cs"/>
                                    <a:sym typeface="Symbol" panose="05050102010706020507" pitchFamily="18" charset="2"/>
                                  </a:rPr>
                                  <m:t>2.</m:t>
                                </m:r>
                                <m:r>
                                  <a:rPr lang="en-US" sz="1600" b="0" i="0" kern="1200" smtClean="0">
                                    <a:solidFill>
                                      <a:sysClr val="windowText" lastClr="000000"/>
                                    </a:solidFill>
                                    <a:latin typeface="Cambria Math" panose="02040503050406030204" pitchFamily="18" charset="0"/>
                                    <a:ea typeface="+mn-ea"/>
                                    <a:cs typeface="+mn-cs"/>
                                  </a:rPr>
                                  <m:t>¬</m:t>
                                </m:r>
                                <m:r>
                                  <a:rPr lang="en-GB" sz="1600" b="0" i="0" kern="1200" smtClean="0">
                                    <a:solidFill>
                                      <a:sysClr val="windowText" lastClr="000000"/>
                                    </a:solidFill>
                                    <a:latin typeface="Cambria Math" panose="02040503050406030204" pitchFamily="18" charset="0"/>
                                    <a:ea typeface="+mn-ea"/>
                                    <a:cs typeface="+mn-cs"/>
                                  </a:rPr>
                                  <m:t> </m:t>
                                </m:r>
                                <m:r>
                                  <a:rPr lang="en-US" sz="1600" b="0" i="0" kern="1200" smtClean="0">
                                    <a:solidFill>
                                      <a:sysClr val="windowText" lastClr="000000"/>
                                    </a:solidFill>
                                    <a:latin typeface="Cambria Math" panose="02040503050406030204" pitchFamily="18" charset="0"/>
                                    <a:ea typeface="+mn-ea"/>
                                    <a:cs typeface="+mn-cs"/>
                                  </a:rPr>
                                  <m:t>∀</m:t>
                                </m:r>
                                <m:r>
                                  <m:rPr>
                                    <m:sty m:val="p"/>
                                  </m:rPr>
                                  <a:rPr lang="en-US" sz="1600" b="0" i="0" kern="1200" smtClean="0">
                                    <a:solidFill>
                                      <a:sysClr val="windowText" lastClr="000000"/>
                                    </a:solidFill>
                                    <a:latin typeface="Cambria Math" panose="02040503050406030204" pitchFamily="18" charset="0"/>
                                    <a:ea typeface="+mn-ea"/>
                                    <a:cs typeface="+mn-cs"/>
                                  </a:rPr>
                                  <m:t>x</m:t>
                                </m:r>
                                <m:r>
                                  <a:rPr lang="en-GB" sz="1600" b="0" i="0" kern="1200" smtClean="0">
                                    <a:solidFill>
                                      <a:sysClr val="windowText" lastClr="000000"/>
                                    </a:solidFill>
                                    <a:latin typeface="Cambria Math" panose="02040503050406030204" pitchFamily="18" charset="0"/>
                                    <a:ea typeface="+mn-ea"/>
                                    <a:cs typeface="+mn-cs"/>
                                  </a:rPr>
                                  <m:t> </m:t>
                                </m:r>
                                <m:d>
                                  <m:dPr>
                                    <m:ctrlPr>
                                      <a:rPr lang="en-US" sz="1600" b="0" i="1" kern="1200" smtClean="0">
                                        <a:solidFill>
                                          <a:sysClr val="windowText" lastClr="000000"/>
                                        </a:solidFill>
                                        <a:latin typeface="Cambria Math" panose="02040503050406030204" pitchFamily="18" charset="0"/>
                                        <a:ea typeface="+mn-ea"/>
                                        <a:cs typeface="+mn-cs"/>
                                      </a:rPr>
                                    </m:ctrlPr>
                                  </m:dPr>
                                  <m:e>
                                    <m:r>
                                      <m:rPr>
                                        <m:sty m:val="p"/>
                                      </m:rPr>
                                      <a:rPr lang="en-US" sz="1600" b="0" i="0" kern="1200" smtClean="0">
                                        <a:solidFill>
                                          <a:sysClr val="windowText" lastClr="000000"/>
                                        </a:solidFill>
                                        <a:latin typeface="Cambria Math" panose="02040503050406030204" pitchFamily="18" charset="0"/>
                                        <a:ea typeface="+mn-ea"/>
                                        <a:cs typeface="+mn-cs"/>
                                      </a:rPr>
                                      <m:t>I</m:t>
                                    </m:r>
                                    <m:r>
                                      <a:rPr lang="en-US" sz="1600" b="0" i="0" kern="1200" smtClean="0">
                                        <a:solidFill>
                                          <a:sysClr val="windowText" lastClr="000000"/>
                                        </a:solidFill>
                                        <a:latin typeface="Cambria Math" panose="02040503050406030204" pitchFamily="18" charset="0"/>
                                        <a:ea typeface="+mn-ea"/>
                                        <a:cs typeface="+mn-cs"/>
                                      </a:rPr>
                                      <m:t>(</m:t>
                                    </m:r>
                                    <m:r>
                                      <m:rPr>
                                        <m:sty m:val="p"/>
                                      </m:rPr>
                                      <a:rPr lang="en-US" sz="1600" b="0" i="0" kern="1200" smtClean="0">
                                        <a:solidFill>
                                          <a:sysClr val="windowText" lastClr="000000"/>
                                        </a:solidFill>
                                        <a:latin typeface="Cambria Math" panose="02040503050406030204" pitchFamily="18" charset="0"/>
                                        <a:ea typeface="+mn-ea"/>
                                        <a:cs typeface="+mn-cs"/>
                                      </a:rPr>
                                      <m:t>x</m:t>
                                    </m:r>
                                    <m:r>
                                      <a:rPr lang="en-US" sz="1600" b="0" i="0" kern="1200" smtClean="0">
                                        <a:solidFill>
                                          <a:sysClr val="windowText" lastClr="000000"/>
                                        </a:solidFill>
                                        <a:latin typeface="Cambria Math" panose="02040503050406030204" pitchFamily="18" charset="0"/>
                                        <a:ea typeface="+mn-ea"/>
                                        <a:cs typeface="+mn-cs"/>
                                      </a:rPr>
                                      <m:t>)</m:t>
                                    </m:r>
                                    <m:r>
                                      <m:rPr>
                                        <m:nor/>
                                      </m:rPr>
                                      <a:rPr lang="en-GB" sz="1600" b="0" i="0" kern="1200" smtClean="0">
                                        <a:solidFill>
                                          <a:sysClr val="windowText" lastClr="000000"/>
                                        </a:solidFill>
                                        <a:latin typeface="+mn-lt"/>
                                        <a:ea typeface="+mn-ea"/>
                                        <a:cs typeface="+mn-cs"/>
                                      </a:rPr>
                                      <m:t> </m:t>
                                    </m:r>
                                    <m:r>
                                      <m:rPr>
                                        <m:nor/>
                                      </m:rPr>
                                      <a:rPr lang="en-US" sz="1600" b="0" i="0" kern="1200" dirty="0">
                                        <a:solidFill>
                                          <a:sysClr val="windowText" lastClr="000000"/>
                                        </a:solidFill>
                                        <a:latin typeface="+mn-lt"/>
                                        <a:ea typeface="+mn-ea"/>
                                        <a:cs typeface="+mn-cs"/>
                                      </a:rPr>
                                      <m:t>∧</m:t>
                                    </m:r>
                                    <m:r>
                                      <m:rPr>
                                        <m:nor/>
                                      </m:rPr>
                                      <a:rPr lang="en-GB" sz="1600" b="0" i="0" kern="1200" dirty="0" smtClean="0">
                                        <a:solidFill>
                                          <a:sysClr val="windowText" lastClr="000000"/>
                                        </a:solidFill>
                                        <a:latin typeface="+mn-lt"/>
                                        <a:ea typeface="+mn-ea"/>
                                        <a:cs typeface="+mn-cs"/>
                                      </a:rPr>
                                      <m:t> </m:t>
                                    </m:r>
                                    <m:r>
                                      <m:rPr>
                                        <m:sty m:val="p"/>
                                      </m:rPr>
                                      <a:rPr lang="en-US" sz="1600" b="0" i="0" kern="1200" dirty="0" smtClean="0">
                                        <a:solidFill>
                                          <a:sysClr val="windowText" lastClr="000000"/>
                                        </a:solidFill>
                                        <a:latin typeface="Cambria Math" panose="02040503050406030204" pitchFamily="18" charset="0"/>
                                        <a:ea typeface="+mn-ea"/>
                                        <a:cs typeface="+mn-cs"/>
                                      </a:rPr>
                                      <m:t>A</m:t>
                                    </m:r>
                                    <m:r>
                                      <a:rPr lang="en-US" sz="1600" b="0" i="0" kern="1200" dirty="0" smtClean="0">
                                        <a:solidFill>
                                          <a:sysClr val="windowText" lastClr="000000"/>
                                        </a:solidFill>
                                        <a:latin typeface="Cambria Math" panose="02040503050406030204" pitchFamily="18" charset="0"/>
                                        <a:ea typeface="+mn-ea"/>
                                        <a:cs typeface="+mn-cs"/>
                                      </a:rPr>
                                      <m:t>(</m:t>
                                    </m:r>
                                    <m:r>
                                      <m:rPr>
                                        <m:sty m:val="p"/>
                                      </m:rPr>
                                      <a:rPr lang="en-US" sz="1600" b="0" i="0" kern="1200" dirty="0" smtClean="0">
                                        <a:solidFill>
                                          <a:sysClr val="windowText" lastClr="000000"/>
                                        </a:solidFill>
                                        <a:latin typeface="Cambria Math" panose="02040503050406030204" pitchFamily="18" charset="0"/>
                                        <a:ea typeface="+mn-ea"/>
                                        <a:cs typeface="+mn-cs"/>
                                      </a:rPr>
                                      <m:t>x</m:t>
                                    </m:r>
                                    <m:r>
                                      <a:rPr lang="en-US" sz="1600" b="0" i="0" kern="1200" dirty="0" smtClean="0">
                                        <a:solidFill>
                                          <a:sysClr val="windowText" lastClr="000000"/>
                                        </a:solidFill>
                                        <a:latin typeface="Cambria Math" panose="02040503050406030204" pitchFamily="18" charset="0"/>
                                        <a:ea typeface="+mn-ea"/>
                                        <a:cs typeface="+mn-cs"/>
                                      </a:rPr>
                                      <m:t>)</m:t>
                                    </m:r>
                                  </m:e>
                                </m:d>
                              </m:oMath>
                            </m:oMathPara>
                          </a14:m>
                          <a:endParaRPr lang="en-US" sz="1600" b="0" i="0" kern="1200" dirty="0">
                            <a:solidFill>
                              <a:sysClr val="windowText" lastClr="000000"/>
                            </a:solidFill>
                            <a:latin typeface="+mn-lt"/>
                            <a:ea typeface="+mn-ea"/>
                            <a:cs typeface="+mn-cs"/>
                          </a:endParaRPr>
                        </a:p>
                      </a:txBody>
                      <a:tcPr>
                        <a:solidFill>
                          <a:srgbClr val="00B0F0"/>
                        </a:solidFill>
                      </a:tcPr>
                    </a:tc>
                    <a:tc>
                      <a:txBody>
                        <a:bodyPr/>
                        <a:lstStyle/>
                        <a:p>
                          <a:r>
                            <a:rPr lang="en-GB" sz="1600" b="0" dirty="0">
                              <a:solidFill>
                                <a:sysClr val="windowText" lastClr="000000"/>
                              </a:solidFill>
                            </a:rPr>
                            <a:t>Equivalent</a:t>
                          </a:r>
                          <a:r>
                            <a:rPr lang="en-GB" sz="1600" b="0" baseline="0" dirty="0">
                              <a:solidFill>
                                <a:sysClr val="windowText" lastClr="000000"/>
                              </a:solidFill>
                            </a:rPr>
                            <a:t> to</a:t>
                          </a:r>
                          <a:r>
                            <a:rPr lang="en-GB" sz="1600" b="0" dirty="0">
                              <a:solidFill>
                                <a:sysClr val="windowText" lastClr="000000"/>
                              </a:solidFill>
                            </a:rPr>
                            <a:t> (11).</a:t>
                          </a:r>
                        </a:p>
                      </a:txBody>
                      <a:tcPr>
                        <a:solidFill>
                          <a:srgbClr val="00B0F0"/>
                        </a:solidFill>
                      </a:tcPr>
                    </a:tc>
                    <a:extLst>
                      <a:ext uri="{0D108BD9-81ED-4DB2-BD59-A6C34878D82A}">
                        <a16:rowId xmlns:a16="http://schemas.microsoft.com/office/drawing/2014/main" val="10000"/>
                      </a:ext>
                    </a:extLst>
                  </a:tr>
                </a:tbl>
              </a:graphicData>
            </a:graphic>
          </p:graphicFrame>
        </mc:Choice>
        <mc:Fallback xmlns="">
          <p:graphicFrame>
            <p:nvGraphicFramePr>
              <p:cNvPr id="19" name="Table 18"/>
              <p:cNvGraphicFramePr>
                <a:graphicFrameLocks noGrp="1"/>
              </p:cNvGraphicFramePr>
              <p:nvPr>
                <p:extLst>
                  <p:ext uri="{D42A27DB-BD31-4B8C-83A1-F6EECF244321}">
                    <p14:modId xmlns:p14="http://schemas.microsoft.com/office/powerpoint/2010/main" val="3092674647"/>
                  </p:ext>
                </p:extLst>
              </p:nvPr>
            </p:nvGraphicFramePr>
            <p:xfrm>
              <a:off x="2895600" y="6029960"/>
              <a:ext cx="6172200" cy="370840"/>
            </p:xfrm>
            <a:graphic>
              <a:graphicData uri="http://schemas.openxmlformats.org/drawingml/2006/table">
                <a:tbl>
                  <a:tblPr firstRow="1" bandRow="1">
                    <a:tableStyleId>{5C22544A-7EE6-4342-B048-85BDC9FD1C3A}</a:tableStyleId>
                  </a:tblPr>
                  <a:tblGrid>
                    <a:gridCol w="2645229"/>
                    <a:gridCol w="3526971"/>
                  </a:tblGrid>
                  <a:tr h="370840">
                    <a:tc>
                      <a:txBody>
                        <a:bodyPr/>
                        <a:lstStyle/>
                        <a:p>
                          <a:endParaRPr lang="en-US"/>
                        </a:p>
                      </a:txBody>
                      <a:tcPr>
                        <a:blipFill rotWithShape="0">
                          <a:blip r:embed="rId14"/>
                          <a:stretch>
                            <a:fillRect l="-461" t="-4918" r="-134332" b="-11475"/>
                          </a:stretch>
                        </a:blipFill>
                      </a:tcPr>
                    </a:tc>
                    <a:tc>
                      <a:txBody>
                        <a:bodyPr/>
                        <a:lstStyle/>
                        <a:p>
                          <a:r>
                            <a:rPr lang="en-GB" sz="1600" b="0" dirty="0" smtClean="0">
                              <a:solidFill>
                                <a:sysClr val="windowText" lastClr="000000"/>
                              </a:solidFill>
                            </a:rPr>
                            <a:t>Equivalent</a:t>
                          </a:r>
                          <a:r>
                            <a:rPr lang="en-GB" sz="1600" b="0" baseline="0" dirty="0" smtClean="0">
                              <a:solidFill>
                                <a:sysClr val="windowText" lastClr="000000"/>
                              </a:solidFill>
                            </a:rPr>
                            <a:t> to</a:t>
                          </a:r>
                          <a:r>
                            <a:rPr lang="en-GB" sz="1600" b="0" dirty="0" smtClean="0">
                              <a:solidFill>
                                <a:sysClr val="windowText" lastClr="000000"/>
                              </a:solidFill>
                            </a:rPr>
                            <a:t> </a:t>
                          </a:r>
                          <a:r>
                            <a:rPr lang="en-GB" sz="1600" b="0" dirty="0" smtClean="0">
                              <a:solidFill>
                                <a:sysClr val="windowText" lastClr="000000"/>
                              </a:solidFill>
                            </a:rPr>
                            <a:t>(</a:t>
                          </a:r>
                          <a:r>
                            <a:rPr lang="en-GB" sz="1600" b="0" dirty="0" smtClean="0">
                              <a:solidFill>
                                <a:sysClr val="windowText" lastClr="000000"/>
                              </a:solidFill>
                            </a:rPr>
                            <a:t>11).</a:t>
                          </a:r>
                          <a:endParaRPr lang="en-GB" sz="1600" b="0" dirty="0" smtClean="0">
                            <a:solidFill>
                              <a:sysClr val="windowText" lastClr="000000"/>
                            </a:solidFill>
                          </a:endParaRPr>
                        </a:p>
                      </a:txBody>
                      <a:tcPr>
                        <a:solidFill>
                          <a:srgbClr val="00B0F0"/>
                        </a:solidFill>
                      </a:tcPr>
                    </a:tc>
                  </a:tr>
                </a:tbl>
              </a:graphicData>
            </a:graphic>
          </p:graphicFrame>
        </mc:Fallback>
      </mc:AlternateContent>
    </p:spTree>
    <p:extLst>
      <p:ext uri="{BB962C8B-B14F-4D97-AF65-F5344CB8AC3E}">
        <p14:creationId xmlns:p14="http://schemas.microsoft.com/office/powerpoint/2010/main" val="327026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p>
        </p:txBody>
      </p:sp>
      <p:sp>
        <p:nvSpPr>
          <p:cNvPr id="4" name="Date Placeholder 3"/>
          <p:cNvSpPr>
            <a:spLocks noGrp="1"/>
          </p:cNvSpPr>
          <p:nvPr>
            <p:ph type="dt" sz="half" idx="10"/>
          </p:nvPr>
        </p:nvSpPr>
        <p:spPr/>
        <p:txBody>
          <a:bodyPr/>
          <a:lstStyle/>
          <a:p>
            <a:fld id="{42E5DF95-6712-42CB-AB66-223A4BF3F585}"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23</a:t>
            </a:fld>
            <a:endParaRPr lang="en-US"/>
          </a:p>
        </p:txBody>
      </p:sp>
      <p:sp>
        <p:nvSpPr>
          <p:cNvPr id="7" name="TextBox 6"/>
          <p:cNvSpPr txBox="1"/>
          <p:nvPr/>
        </p:nvSpPr>
        <p:spPr>
          <a:xfrm>
            <a:off x="457200" y="1676400"/>
            <a:ext cx="8229600" cy="1323439"/>
          </a:xfrm>
          <a:prstGeom prst="rect">
            <a:avLst/>
          </a:prstGeom>
          <a:noFill/>
        </p:spPr>
        <p:txBody>
          <a:bodyPr wrap="square" rtlCol="0">
            <a:spAutoFit/>
          </a:bodyPr>
          <a:lstStyle/>
          <a:p>
            <a:r>
              <a:rPr lang="en-GB" sz="2000" dirty="0"/>
              <a:t>Test the validity of the following argument:</a:t>
            </a:r>
          </a:p>
          <a:p>
            <a:r>
              <a:rPr lang="en-GB" sz="2000" i="1" dirty="0"/>
              <a:t>Some Scientists are not Engineers. </a:t>
            </a:r>
          </a:p>
          <a:p>
            <a:r>
              <a:rPr lang="en-GB" sz="2000" i="1" dirty="0"/>
              <a:t>Some Astronauts are not Engineers.</a:t>
            </a:r>
          </a:p>
          <a:p>
            <a:r>
              <a:rPr lang="en-GB" sz="2000" i="1" dirty="0"/>
              <a:t>Hence, some Scientists are not Astronauts.</a:t>
            </a:r>
          </a:p>
        </p:txBody>
      </p:sp>
      <p:sp>
        <p:nvSpPr>
          <p:cNvPr id="8" name="TextBox 7"/>
          <p:cNvSpPr txBox="1"/>
          <p:nvPr/>
        </p:nvSpPr>
        <p:spPr>
          <a:xfrm>
            <a:off x="457200" y="3200400"/>
            <a:ext cx="3352800" cy="923330"/>
          </a:xfrm>
          <a:prstGeom prst="rect">
            <a:avLst/>
          </a:prstGeom>
          <a:noFill/>
        </p:spPr>
        <p:txBody>
          <a:bodyPr wrap="square" rtlCol="0">
            <a:spAutoFit/>
          </a:bodyPr>
          <a:lstStyle/>
          <a:p>
            <a:r>
              <a:rPr lang="en-GB" dirty="0"/>
              <a:t>Let  E(x) – “x is an Engineer”</a:t>
            </a:r>
          </a:p>
          <a:p>
            <a:r>
              <a:rPr lang="en-GB" dirty="0"/>
              <a:t>        A(x) – “x is an Astronaut”</a:t>
            </a:r>
          </a:p>
          <a:p>
            <a:r>
              <a:rPr lang="en-GB" dirty="0"/>
              <a:t>        S(x) – “x is a Scientist”</a:t>
            </a:r>
          </a:p>
        </p:txBody>
      </p:sp>
      <mc:AlternateContent xmlns:mc="http://schemas.openxmlformats.org/markup-compatibility/2006" xmlns:a14="http://schemas.microsoft.com/office/drawing/2010/main">
        <mc:Choice Requires="a14">
          <p:sp>
            <p:nvSpPr>
              <p:cNvPr id="9" name="TextBox 8"/>
              <p:cNvSpPr txBox="1"/>
              <p:nvPr/>
            </p:nvSpPr>
            <p:spPr>
              <a:xfrm>
                <a:off x="457200" y="4267200"/>
                <a:ext cx="2895600" cy="1750094"/>
              </a:xfrm>
              <a:prstGeom prst="rect">
                <a:avLst/>
              </a:prstGeom>
              <a:noFill/>
            </p:spPr>
            <p:txBody>
              <a:bodyPr wrap="square" rtlCol="0">
                <a:spAutoFit/>
              </a:bodyPr>
              <a:lstStyle/>
              <a:p>
                <a:r>
                  <a:rPr lang="en-GB" sz="2000" dirty="0">
                    <a:latin typeface="Cambria Math" panose="02040503050406030204" pitchFamily="18" charset="0"/>
                    <a:ea typeface="Cambria Math" panose="02040503050406030204" pitchFamily="18" charset="0"/>
                  </a:rPr>
                  <a:t>Argument form:</a:t>
                </a:r>
              </a:p>
              <a:p>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𝑥</m:t>
                    </m:r>
                    <m:r>
                      <a:rPr lang="en-GB" sz="2000" b="0" i="1" smtClean="0">
                        <a:latin typeface="Cambria Math" panose="02040503050406030204" pitchFamily="18" charset="0"/>
                        <a:ea typeface="Cambria Math" panose="02040503050406030204" pitchFamily="18" charset="0"/>
                      </a:rPr>
                      <m:t> </m:t>
                    </m:r>
                    <m:d>
                      <m:dPr>
                        <m:ctrlPr>
                          <a:rPr lang="en-GB" sz="2000" b="0" i="1" smtClean="0">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𝑆</m:t>
                        </m:r>
                        <m:d>
                          <m:dPr>
                            <m:ctrlPr>
                              <a:rPr lang="en-GB" sz="2000" b="0" i="1" smtClean="0">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𝑥</m:t>
                            </m:r>
                          </m:e>
                        </m:d>
                        <m:r>
                          <a:rPr lang="en-GB" sz="2000" b="0" i="1" smtClean="0">
                            <a:latin typeface="Cambria Math" panose="02040503050406030204" pitchFamily="18" charset="0"/>
                            <a:ea typeface="Cambria Math" panose="02040503050406030204" pitchFamily="18" charset="0"/>
                          </a:rPr>
                          <m:t> ∧¬ </m:t>
                        </m:r>
                        <m:r>
                          <a:rPr lang="en-GB" sz="2000" b="0" i="1" smtClean="0">
                            <a:latin typeface="Cambria Math" panose="02040503050406030204" pitchFamily="18" charset="0"/>
                            <a:ea typeface="Cambria Math" panose="02040503050406030204" pitchFamily="18" charset="0"/>
                          </a:rPr>
                          <m:t>𝐸</m:t>
                        </m:r>
                        <m:d>
                          <m:dPr>
                            <m:ctrlPr>
                              <a:rPr lang="en-GB" sz="2000" b="0" i="1" smtClean="0">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𝑥</m:t>
                            </m:r>
                          </m:e>
                        </m:d>
                      </m:e>
                    </m:d>
                    <m:r>
                      <a:rPr lang="en-GB" sz="2000" b="0" i="1" smtClean="0">
                        <a:latin typeface="Cambria Math" panose="02040503050406030204" pitchFamily="18" charset="0"/>
                        <a:ea typeface="Cambria Math" panose="02040503050406030204" pitchFamily="18" charset="0"/>
                      </a:rPr>
                      <m:t> </m:t>
                    </m:r>
                  </m:oMath>
                </a14:m>
                <a:r>
                  <a:rPr lang="en-GB" sz="2000" dirty="0"/>
                  <a:t> </a:t>
                </a:r>
              </a:p>
              <a:p>
                <a14:m>
                  <m:oMath xmlns:m="http://schemas.openxmlformats.org/officeDocument/2006/math">
                    <m:r>
                      <a:rPr lang="en-GB"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𝑥</m:t>
                    </m:r>
                    <m:r>
                      <a:rPr lang="en-GB" sz="2000" i="1">
                        <a:latin typeface="Cambria Math" panose="02040503050406030204" pitchFamily="18" charset="0"/>
                        <a:ea typeface="Cambria Math" panose="02040503050406030204" pitchFamily="18" charset="0"/>
                      </a:rPr>
                      <m:t> </m:t>
                    </m:r>
                    <m:d>
                      <m:dPr>
                        <m:ctrlPr>
                          <a:rPr lang="en-GB" sz="2000" i="1">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𝐴</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𝑥</m:t>
                            </m:r>
                          </m:e>
                        </m:d>
                        <m:r>
                          <a:rPr lang="en-GB" sz="2000" i="1">
                            <a:latin typeface="Cambria Math" panose="02040503050406030204" pitchFamily="18" charset="0"/>
                            <a:ea typeface="Cambria Math" panose="02040503050406030204" pitchFamily="18" charset="0"/>
                          </a:rPr>
                          <m:t> ∧</m:t>
                        </m:r>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𝐸</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𝑥</m:t>
                            </m:r>
                          </m:e>
                        </m:d>
                      </m:e>
                    </m:d>
                  </m:oMath>
                </a14:m>
                <a:r>
                  <a:rPr lang="en-GB" sz="2000" dirty="0"/>
                  <a:t> </a:t>
                </a:r>
              </a:p>
              <a:p>
                <a:r>
                  <a:rPr lang="en-GB" sz="2000" dirty="0"/>
                  <a:t>------------------------</a:t>
                </a:r>
              </a:p>
              <a:p>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𝑥</m:t>
                    </m:r>
                    <m:r>
                      <a:rPr lang="en-GB" sz="2000" i="1">
                        <a:latin typeface="Cambria Math" panose="02040503050406030204" pitchFamily="18" charset="0"/>
                        <a:ea typeface="Cambria Math" panose="02040503050406030204" pitchFamily="18" charset="0"/>
                      </a:rPr>
                      <m:t> </m:t>
                    </m:r>
                    <m:d>
                      <m:dPr>
                        <m:ctrlPr>
                          <a:rPr lang="en-GB" sz="2000" i="1">
                            <a:latin typeface="Cambria Math" panose="02040503050406030204" pitchFamily="18" charset="0"/>
                            <a:ea typeface="Cambria Math" panose="02040503050406030204" pitchFamily="18" charset="0"/>
                          </a:rPr>
                        </m:ctrlPr>
                      </m:dPr>
                      <m:e>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𝐴</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𝑥</m:t>
                            </m:r>
                          </m:e>
                        </m:d>
                        <m:r>
                          <a:rPr lang="en-GB" sz="2000" i="1">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𝑆</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𝑥</m:t>
                            </m:r>
                          </m:e>
                        </m:d>
                      </m:e>
                    </m:d>
                  </m:oMath>
                </a14:m>
                <a:r>
                  <a:rPr lang="en-GB" dirty="0"/>
                  <a:t> </a:t>
                </a:r>
              </a:p>
            </p:txBody>
          </p:sp>
        </mc:Choice>
        <mc:Fallback xmlns="">
          <p:sp>
            <p:nvSpPr>
              <p:cNvPr id="9" name="TextBox 8"/>
              <p:cNvSpPr txBox="1">
                <a:spLocks noRot="1" noChangeAspect="1" noMove="1" noResize="1" noEditPoints="1" noAdjustHandles="1" noChangeArrowheads="1" noChangeShapeType="1" noTextEdit="1"/>
              </p:cNvSpPr>
              <p:nvPr/>
            </p:nvSpPr>
            <p:spPr>
              <a:xfrm>
                <a:off x="457200" y="4267200"/>
                <a:ext cx="2895600" cy="1750094"/>
              </a:xfrm>
              <a:prstGeom prst="rect">
                <a:avLst/>
              </a:prstGeom>
              <a:blipFill rotWithShape="0">
                <a:blip r:embed="rId2"/>
                <a:stretch>
                  <a:fillRect l="-2105" t="-1742"/>
                </a:stretch>
              </a:blipFill>
            </p:spPr>
            <p:txBody>
              <a:bodyPr/>
              <a:lstStyle/>
              <a:p>
                <a:r>
                  <a:rPr lang="en-GB">
                    <a:noFill/>
                  </a:rPr>
                  <a:t> </a:t>
                </a:r>
              </a:p>
            </p:txBody>
          </p:sp>
        </mc:Fallback>
      </mc:AlternateContent>
      <p:sp>
        <p:nvSpPr>
          <p:cNvPr id="10" name="Oval 9"/>
          <p:cNvSpPr/>
          <p:nvPr/>
        </p:nvSpPr>
        <p:spPr>
          <a:xfrm>
            <a:off x="4792334" y="3518079"/>
            <a:ext cx="2541087" cy="14499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9"/>
          <p:cNvSpPr>
            <a:spLocks noChangeArrowheads="1"/>
          </p:cNvSpPr>
          <p:nvPr/>
        </p:nvSpPr>
        <p:spPr bwMode="auto">
          <a:xfrm>
            <a:off x="5529343" y="3564411"/>
            <a:ext cx="1804079" cy="1372570"/>
          </a:xfrm>
          <a:prstGeom prst="ellipse">
            <a:avLst/>
          </a:prstGeom>
          <a:solidFill>
            <a:srgbClr val="33CCFF">
              <a:alpha val="50000"/>
            </a:srgbClr>
          </a:solidFill>
          <a:ln w="9525">
            <a:solidFill>
              <a:srgbClr val="000000"/>
            </a:solidFill>
            <a:round/>
            <a:headEnd/>
            <a:tailEnd type="none" w="lg" len="lg"/>
          </a:ln>
          <a:effectLst/>
        </p:spPr>
        <p:txBody>
          <a:bodyPr wrap="none" anchor="ctr"/>
          <a:lstStyle/>
          <a:p>
            <a:pPr algn="ctr"/>
            <a:endParaRPr kumimoji="0" lang="en-US" sz="2400">
              <a:solidFill>
                <a:schemeClr val="accent2"/>
              </a:solidFill>
            </a:endParaRPr>
          </a:p>
        </p:txBody>
      </p:sp>
      <p:sp>
        <p:nvSpPr>
          <p:cNvPr id="12" name="TextBox 11"/>
          <p:cNvSpPr txBox="1"/>
          <p:nvPr/>
        </p:nvSpPr>
        <p:spPr>
          <a:xfrm>
            <a:off x="6144247" y="3709740"/>
            <a:ext cx="136580" cy="523220"/>
          </a:xfrm>
          <a:prstGeom prst="rect">
            <a:avLst/>
          </a:prstGeom>
          <a:noFill/>
        </p:spPr>
        <p:txBody>
          <a:bodyPr wrap="square" rtlCol="0">
            <a:spAutoFit/>
          </a:bodyPr>
          <a:lstStyle/>
          <a:p>
            <a:r>
              <a:rPr lang="en-US" sz="2800" dirty="0"/>
              <a:t>S</a:t>
            </a:r>
          </a:p>
        </p:txBody>
      </p:sp>
      <p:sp>
        <p:nvSpPr>
          <p:cNvPr id="13" name="TextBox 12"/>
          <p:cNvSpPr txBox="1"/>
          <p:nvPr/>
        </p:nvSpPr>
        <p:spPr>
          <a:xfrm>
            <a:off x="4792334" y="3914280"/>
            <a:ext cx="600722" cy="523220"/>
          </a:xfrm>
          <a:prstGeom prst="rect">
            <a:avLst/>
          </a:prstGeom>
          <a:noFill/>
        </p:spPr>
        <p:txBody>
          <a:bodyPr wrap="square" rtlCol="0">
            <a:spAutoFit/>
          </a:bodyPr>
          <a:lstStyle/>
          <a:p>
            <a:r>
              <a:rPr lang="en-US" sz="2800" dirty="0"/>
              <a:t>A</a:t>
            </a:r>
          </a:p>
        </p:txBody>
      </p:sp>
      <p:sp>
        <p:nvSpPr>
          <p:cNvPr id="14" name="Oval 20"/>
          <p:cNvSpPr>
            <a:spLocks noChangeArrowheads="1"/>
          </p:cNvSpPr>
          <p:nvPr/>
        </p:nvSpPr>
        <p:spPr bwMode="auto">
          <a:xfrm>
            <a:off x="6840744" y="3505200"/>
            <a:ext cx="1693656" cy="1431780"/>
          </a:xfrm>
          <a:prstGeom prst="ellipse">
            <a:avLst/>
          </a:prstGeom>
          <a:solidFill>
            <a:srgbClr val="CC0000">
              <a:alpha val="50000"/>
            </a:srgbClr>
          </a:solidFill>
          <a:ln w="9525">
            <a:solidFill>
              <a:srgbClr val="000000"/>
            </a:solidFill>
            <a:round/>
            <a:headEnd/>
            <a:tailEnd type="none" w="lg" len="lg"/>
          </a:ln>
          <a:effectLst/>
        </p:spPr>
        <p:txBody>
          <a:bodyPr wrap="none" anchor="ctr"/>
          <a:lstStyle/>
          <a:p>
            <a:pPr algn="ctr"/>
            <a:endParaRPr lang="en-US"/>
          </a:p>
        </p:txBody>
      </p:sp>
      <p:sp>
        <p:nvSpPr>
          <p:cNvPr id="15" name="TextBox 14"/>
          <p:cNvSpPr txBox="1"/>
          <p:nvPr/>
        </p:nvSpPr>
        <p:spPr>
          <a:xfrm>
            <a:off x="7523645" y="4074517"/>
            <a:ext cx="689171" cy="523220"/>
          </a:xfrm>
          <a:prstGeom prst="rect">
            <a:avLst/>
          </a:prstGeom>
          <a:noFill/>
        </p:spPr>
        <p:txBody>
          <a:bodyPr wrap="square" rtlCol="0">
            <a:spAutoFit/>
          </a:bodyPr>
          <a:lstStyle/>
          <a:p>
            <a:r>
              <a:rPr lang="en-US" sz="2800" dirty="0"/>
              <a:t>E</a:t>
            </a:r>
          </a:p>
        </p:txBody>
      </p:sp>
      <p:sp>
        <p:nvSpPr>
          <p:cNvPr id="17" name="TextBox 16"/>
          <p:cNvSpPr txBox="1"/>
          <p:nvPr/>
        </p:nvSpPr>
        <p:spPr>
          <a:xfrm>
            <a:off x="3657600" y="5257800"/>
            <a:ext cx="5181600" cy="646331"/>
          </a:xfrm>
          <a:prstGeom prst="rect">
            <a:avLst/>
          </a:prstGeom>
          <a:noFill/>
        </p:spPr>
        <p:txBody>
          <a:bodyPr wrap="square" rtlCol="0">
            <a:spAutoFit/>
          </a:bodyPr>
          <a:lstStyle/>
          <a:p>
            <a:r>
              <a:rPr lang="en-GB" dirty="0"/>
              <a:t>Under this interpretation conclusion is not true.</a:t>
            </a:r>
          </a:p>
          <a:p>
            <a:r>
              <a:rPr lang="en-GB" dirty="0"/>
              <a:t>Hence, this argument is not valid.</a:t>
            </a:r>
          </a:p>
        </p:txBody>
      </p:sp>
    </p:spTree>
    <p:extLst>
      <p:ext uri="{BB962C8B-B14F-4D97-AF65-F5344CB8AC3E}">
        <p14:creationId xmlns:p14="http://schemas.microsoft.com/office/powerpoint/2010/main" val="177895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P spid="11" grpId="0" animBg="1"/>
      <p:bldP spid="12" grpId="0"/>
      <p:bldP spid="13" grpId="0"/>
      <p:bldP spid="14" grpId="0" animBg="1"/>
      <p:bldP spid="15"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p>
        </p:txBody>
      </p:sp>
      <p:sp>
        <p:nvSpPr>
          <p:cNvPr id="4" name="Date Placeholder 3"/>
          <p:cNvSpPr>
            <a:spLocks noGrp="1"/>
          </p:cNvSpPr>
          <p:nvPr>
            <p:ph type="dt" sz="half" idx="10"/>
          </p:nvPr>
        </p:nvSpPr>
        <p:spPr/>
        <p:txBody>
          <a:bodyPr/>
          <a:lstStyle/>
          <a:p>
            <a:fld id="{1182775F-82B6-475D-AD48-F4440FE2896E}"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24</a:t>
            </a:fld>
            <a:endParaRPr lang="en-US"/>
          </a:p>
        </p:txBody>
      </p:sp>
      <p:sp>
        <p:nvSpPr>
          <p:cNvPr id="7" name="TextBox 6"/>
          <p:cNvSpPr txBox="1"/>
          <p:nvPr/>
        </p:nvSpPr>
        <p:spPr>
          <a:xfrm>
            <a:off x="457200" y="1676400"/>
            <a:ext cx="8229600" cy="1323439"/>
          </a:xfrm>
          <a:prstGeom prst="rect">
            <a:avLst/>
          </a:prstGeom>
          <a:noFill/>
        </p:spPr>
        <p:txBody>
          <a:bodyPr wrap="square" rtlCol="0">
            <a:spAutoFit/>
          </a:bodyPr>
          <a:lstStyle/>
          <a:p>
            <a:r>
              <a:rPr lang="en-GB" sz="2000" dirty="0"/>
              <a:t>Test the validity of the following argument:</a:t>
            </a:r>
          </a:p>
          <a:p>
            <a:r>
              <a:rPr lang="en-GB" sz="2000" i="1" dirty="0"/>
              <a:t>All Astronauts are Scientists. </a:t>
            </a:r>
          </a:p>
          <a:p>
            <a:r>
              <a:rPr lang="en-GB" sz="2000" i="1" dirty="0"/>
              <a:t>Some Astronauts are not Engineers.</a:t>
            </a:r>
          </a:p>
          <a:p>
            <a:r>
              <a:rPr lang="en-GB" sz="2000" i="1" dirty="0"/>
              <a:t>Hence, some Engineers. are not Scientists.</a:t>
            </a:r>
          </a:p>
        </p:txBody>
      </p:sp>
      <p:sp>
        <p:nvSpPr>
          <p:cNvPr id="8" name="TextBox 7"/>
          <p:cNvSpPr txBox="1"/>
          <p:nvPr/>
        </p:nvSpPr>
        <p:spPr>
          <a:xfrm>
            <a:off x="457200" y="3200400"/>
            <a:ext cx="3352800" cy="923330"/>
          </a:xfrm>
          <a:prstGeom prst="rect">
            <a:avLst/>
          </a:prstGeom>
          <a:noFill/>
        </p:spPr>
        <p:txBody>
          <a:bodyPr wrap="square" rtlCol="0">
            <a:spAutoFit/>
          </a:bodyPr>
          <a:lstStyle/>
          <a:p>
            <a:r>
              <a:rPr lang="en-GB"/>
              <a:t>Let  E(x</a:t>
            </a:r>
            <a:r>
              <a:rPr lang="en-GB" dirty="0"/>
              <a:t>) – “x is an Engineer”</a:t>
            </a:r>
          </a:p>
          <a:p>
            <a:r>
              <a:rPr lang="en-GB" dirty="0"/>
              <a:t>        A(x) – “x is an Astronaut”</a:t>
            </a:r>
          </a:p>
          <a:p>
            <a:r>
              <a:rPr lang="en-GB" dirty="0"/>
              <a:t>        S(x) – “x is a Scientist”</a:t>
            </a:r>
          </a:p>
        </p:txBody>
      </p:sp>
      <mc:AlternateContent xmlns:mc="http://schemas.openxmlformats.org/markup-compatibility/2006" xmlns:a14="http://schemas.microsoft.com/office/drawing/2010/main">
        <mc:Choice Requires="a14">
          <p:sp>
            <p:nvSpPr>
              <p:cNvPr id="9" name="TextBox 8"/>
              <p:cNvSpPr txBox="1"/>
              <p:nvPr/>
            </p:nvSpPr>
            <p:spPr>
              <a:xfrm>
                <a:off x="457200" y="4267200"/>
                <a:ext cx="2895600" cy="1750094"/>
              </a:xfrm>
              <a:prstGeom prst="rect">
                <a:avLst/>
              </a:prstGeom>
              <a:noFill/>
            </p:spPr>
            <p:txBody>
              <a:bodyPr wrap="square" rtlCol="0">
                <a:spAutoFit/>
              </a:bodyPr>
              <a:lstStyle/>
              <a:p>
                <a:r>
                  <a:rPr lang="en-GB" sz="2000" dirty="0">
                    <a:latin typeface="Cambria Math" panose="02040503050406030204" pitchFamily="18" charset="0"/>
                    <a:ea typeface="Cambria Math" panose="02040503050406030204" pitchFamily="18" charset="0"/>
                  </a:rPr>
                  <a:t>Argument form:</a:t>
                </a:r>
              </a:p>
              <a:p>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𝑥</m:t>
                    </m:r>
                    <m:r>
                      <a:rPr lang="en-GB" sz="2000" b="0" i="1" smtClean="0">
                        <a:latin typeface="Cambria Math" panose="02040503050406030204" pitchFamily="18" charset="0"/>
                        <a:ea typeface="Cambria Math" panose="02040503050406030204" pitchFamily="18" charset="0"/>
                      </a:rPr>
                      <m:t> </m:t>
                    </m:r>
                    <m:d>
                      <m:dPr>
                        <m:ctrlPr>
                          <a:rPr lang="en-GB" sz="2000" b="0" i="1" smtClean="0">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𝐴</m:t>
                        </m:r>
                        <m:d>
                          <m:dPr>
                            <m:ctrlPr>
                              <a:rPr lang="en-GB" sz="2000" b="0" i="1" smtClean="0">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𝑥</m:t>
                            </m:r>
                          </m:e>
                        </m:d>
                        <m:r>
                          <a:rPr lang="en-GB" sz="2000" b="0" i="1" smtClean="0">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𝑆</m:t>
                        </m:r>
                        <m:d>
                          <m:dPr>
                            <m:ctrlPr>
                              <a:rPr lang="en-GB" sz="2000" b="0" i="1" smtClean="0">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𝑥</m:t>
                            </m:r>
                          </m:e>
                        </m:d>
                      </m:e>
                    </m:d>
                    <m:r>
                      <a:rPr lang="en-GB" sz="2000" b="0" i="1" smtClean="0">
                        <a:latin typeface="Cambria Math" panose="02040503050406030204" pitchFamily="18" charset="0"/>
                        <a:ea typeface="Cambria Math" panose="02040503050406030204" pitchFamily="18" charset="0"/>
                      </a:rPr>
                      <m:t> </m:t>
                    </m:r>
                  </m:oMath>
                </a14:m>
                <a:r>
                  <a:rPr lang="en-GB" sz="2000" dirty="0"/>
                  <a:t> </a:t>
                </a:r>
              </a:p>
              <a:p>
                <a14:m>
                  <m:oMath xmlns:m="http://schemas.openxmlformats.org/officeDocument/2006/math">
                    <m:r>
                      <a:rPr lang="en-GB"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𝑥</m:t>
                    </m:r>
                    <m:r>
                      <a:rPr lang="en-GB" sz="2000" i="1">
                        <a:latin typeface="Cambria Math" panose="02040503050406030204" pitchFamily="18" charset="0"/>
                        <a:ea typeface="Cambria Math" panose="02040503050406030204" pitchFamily="18" charset="0"/>
                      </a:rPr>
                      <m:t> </m:t>
                    </m:r>
                    <m:d>
                      <m:dPr>
                        <m:ctrlPr>
                          <a:rPr lang="en-GB" sz="2000" i="1">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𝐴</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𝑥</m:t>
                            </m:r>
                          </m:e>
                        </m:d>
                        <m:r>
                          <a:rPr lang="en-GB" sz="2000" i="1">
                            <a:latin typeface="Cambria Math" panose="02040503050406030204" pitchFamily="18" charset="0"/>
                            <a:ea typeface="Cambria Math" panose="02040503050406030204" pitchFamily="18" charset="0"/>
                          </a:rPr>
                          <m:t> ∧</m:t>
                        </m:r>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𝐸</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𝑥</m:t>
                            </m:r>
                          </m:e>
                        </m:d>
                      </m:e>
                    </m:d>
                  </m:oMath>
                </a14:m>
                <a:r>
                  <a:rPr lang="en-GB" sz="2000" dirty="0"/>
                  <a:t> </a:t>
                </a:r>
              </a:p>
              <a:p>
                <a:r>
                  <a:rPr lang="en-GB" sz="2000" dirty="0"/>
                  <a:t>------------------------</a:t>
                </a:r>
              </a:p>
              <a:p>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𝑥</m:t>
                    </m:r>
                    <m:r>
                      <a:rPr lang="en-GB" sz="2000" i="1">
                        <a:latin typeface="Cambria Math" panose="02040503050406030204" pitchFamily="18" charset="0"/>
                        <a:ea typeface="Cambria Math" panose="02040503050406030204" pitchFamily="18" charset="0"/>
                      </a:rPr>
                      <m:t> </m:t>
                    </m:r>
                    <m:d>
                      <m:dPr>
                        <m:ctrlPr>
                          <a:rPr lang="en-GB" sz="2000" i="1">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𝐸</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𝑥</m:t>
                            </m:r>
                          </m:e>
                        </m:d>
                        <m:r>
                          <a:rPr lang="en-GB" sz="2000" i="1">
                            <a:latin typeface="Cambria Math" panose="02040503050406030204" pitchFamily="18" charset="0"/>
                            <a:ea typeface="Cambria Math" panose="02040503050406030204" pitchFamily="18" charset="0"/>
                          </a:rPr>
                          <m:t> ∧</m:t>
                        </m:r>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𝑆</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𝑥</m:t>
                            </m:r>
                          </m:e>
                        </m:d>
                      </m:e>
                    </m:d>
                  </m:oMath>
                </a14:m>
                <a:r>
                  <a:rPr lang="en-GB" dirty="0"/>
                  <a:t> </a:t>
                </a:r>
              </a:p>
            </p:txBody>
          </p:sp>
        </mc:Choice>
        <mc:Fallback xmlns="">
          <p:sp>
            <p:nvSpPr>
              <p:cNvPr id="9" name="TextBox 8"/>
              <p:cNvSpPr txBox="1">
                <a:spLocks noRot="1" noChangeAspect="1" noMove="1" noResize="1" noEditPoints="1" noAdjustHandles="1" noChangeArrowheads="1" noChangeShapeType="1" noTextEdit="1"/>
              </p:cNvSpPr>
              <p:nvPr/>
            </p:nvSpPr>
            <p:spPr>
              <a:xfrm>
                <a:off x="457200" y="4267200"/>
                <a:ext cx="2895600" cy="1750094"/>
              </a:xfrm>
              <a:prstGeom prst="rect">
                <a:avLst/>
              </a:prstGeom>
              <a:blipFill rotWithShape="0">
                <a:blip r:embed="rId2"/>
                <a:stretch>
                  <a:fillRect l="-2105" t="-1742"/>
                </a:stretch>
              </a:blipFill>
            </p:spPr>
            <p:txBody>
              <a:bodyPr/>
              <a:lstStyle/>
              <a:p>
                <a:r>
                  <a:rPr lang="en-GB">
                    <a:noFill/>
                  </a:rPr>
                  <a:t> </a:t>
                </a:r>
              </a:p>
            </p:txBody>
          </p:sp>
        </mc:Fallback>
      </mc:AlternateContent>
      <p:sp>
        <p:nvSpPr>
          <p:cNvPr id="10" name="Oval 9"/>
          <p:cNvSpPr/>
          <p:nvPr/>
        </p:nvSpPr>
        <p:spPr>
          <a:xfrm>
            <a:off x="5393057" y="3503077"/>
            <a:ext cx="1236344" cy="14499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9"/>
          <p:cNvSpPr>
            <a:spLocks noChangeArrowheads="1"/>
          </p:cNvSpPr>
          <p:nvPr/>
        </p:nvSpPr>
        <p:spPr bwMode="auto">
          <a:xfrm>
            <a:off x="4724400" y="2568707"/>
            <a:ext cx="3543299" cy="3033361"/>
          </a:xfrm>
          <a:prstGeom prst="ellipse">
            <a:avLst/>
          </a:prstGeom>
          <a:solidFill>
            <a:srgbClr val="33CCFF">
              <a:alpha val="50000"/>
            </a:srgbClr>
          </a:solidFill>
          <a:ln w="9525">
            <a:solidFill>
              <a:srgbClr val="000000"/>
            </a:solidFill>
            <a:round/>
            <a:headEnd/>
            <a:tailEnd type="none" w="lg" len="lg"/>
          </a:ln>
          <a:effectLst/>
        </p:spPr>
        <p:txBody>
          <a:bodyPr wrap="none" anchor="ctr"/>
          <a:lstStyle/>
          <a:p>
            <a:pPr algn="ctr"/>
            <a:endParaRPr kumimoji="0" lang="en-US" sz="2400">
              <a:solidFill>
                <a:schemeClr val="accent2"/>
              </a:solidFill>
            </a:endParaRPr>
          </a:p>
        </p:txBody>
      </p:sp>
      <p:sp>
        <p:nvSpPr>
          <p:cNvPr id="12" name="TextBox 11"/>
          <p:cNvSpPr txBox="1"/>
          <p:nvPr/>
        </p:nvSpPr>
        <p:spPr>
          <a:xfrm>
            <a:off x="6144247" y="2997140"/>
            <a:ext cx="136580" cy="523220"/>
          </a:xfrm>
          <a:prstGeom prst="rect">
            <a:avLst/>
          </a:prstGeom>
          <a:noFill/>
        </p:spPr>
        <p:txBody>
          <a:bodyPr wrap="square" rtlCol="0">
            <a:spAutoFit/>
          </a:bodyPr>
          <a:lstStyle/>
          <a:p>
            <a:r>
              <a:rPr lang="en-US" sz="2800" dirty="0"/>
              <a:t>S</a:t>
            </a:r>
          </a:p>
        </p:txBody>
      </p:sp>
      <p:sp>
        <p:nvSpPr>
          <p:cNvPr id="13" name="TextBox 12"/>
          <p:cNvSpPr txBox="1"/>
          <p:nvPr/>
        </p:nvSpPr>
        <p:spPr>
          <a:xfrm flipH="1">
            <a:off x="5428433" y="3830192"/>
            <a:ext cx="1277167" cy="523220"/>
          </a:xfrm>
          <a:prstGeom prst="rect">
            <a:avLst/>
          </a:prstGeom>
          <a:noFill/>
        </p:spPr>
        <p:txBody>
          <a:bodyPr wrap="square" rtlCol="0">
            <a:spAutoFit/>
          </a:bodyPr>
          <a:lstStyle/>
          <a:p>
            <a:r>
              <a:rPr lang="en-US" sz="2800" dirty="0"/>
              <a:t>A</a:t>
            </a:r>
          </a:p>
        </p:txBody>
      </p:sp>
      <p:sp>
        <p:nvSpPr>
          <p:cNvPr id="14" name="Oval 20"/>
          <p:cNvSpPr>
            <a:spLocks noChangeArrowheads="1"/>
          </p:cNvSpPr>
          <p:nvPr/>
        </p:nvSpPr>
        <p:spPr bwMode="auto">
          <a:xfrm>
            <a:off x="6280828" y="3503077"/>
            <a:ext cx="1425520" cy="1431780"/>
          </a:xfrm>
          <a:prstGeom prst="ellipse">
            <a:avLst/>
          </a:prstGeom>
          <a:solidFill>
            <a:srgbClr val="CC0000">
              <a:alpha val="50000"/>
            </a:srgbClr>
          </a:solidFill>
          <a:ln w="9525">
            <a:solidFill>
              <a:srgbClr val="000000"/>
            </a:solidFill>
            <a:round/>
            <a:headEnd/>
            <a:tailEnd type="none" w="lg" len="lg"/>
          </a:ln>
          <a:effectLst/>
        </p:spPr>
        <p:txBody>
          <a:bodyPr wrap="none" anchor="ctr"/>
          <a:lstStyle/>
          <a:p>
            <a:pPr algn="ctr"/>
            <a:endParaRPr lang="en-US"/>
          </a:p>
        </p:txBody>
      </p:sp>
      <p:sp>
        <p:nvSpPr>
          <p:cNvPr id="15" name="TextBox 14"/>
          <p:cNvSpPr txBox="1"/>
          <p:nvPr/>
        </p:nvSpPr>
        <p:spPr>
          <a:xfrm>
            <a:off x="6934200" y="4059515"/>
            <a:ext cx="689171" cy="523220"/>
          </a:xfrm>
          <a:prstGeom prst="rect">
            <a:avLst/>
          </a:prstGeom>
          <a:noFill/>
        </p:spPr>
        <p:txBody>
          <a:bodyPr wrap="square" rtlCol="0">
            <a:spAutoFit/>
          </a:bodyPr>
          <a:lstStyle/>
          <a:p>
            <a:r>
              <a:rPr lang="en-US" sz="2800" dirty="0"/>
              <a:t>E</a:t>
            </a:r>
          </a:p>
        </p:txBody>
      </p:sp>
      <p:sp>
        <p:nvSpPr>
          <p:cNvPr id="16" name="TextBox 15"/>
          <p:cNvSpPr txBox="1"/>
          <p:nvPr/>
        </p:nvSpPr>
        <p:spPr>
          <a:xfrm>
            <a:off x="3657600" y="5602069"/>
            <a:ext cx="5181600" cy="646331"/>
          </a:xfrm>
          <a:prstGeom prst="rect">
            <a:avLst/>
          </a:prstGeom>
          <a:noFill/>
        </p:spPr>
        <p:txBody>
          <a:bodyPr wrap="square" rtlCol="0">
            <a:spAutoFit/>
          </a:bodyPr>
          <a:lstStyle/>
          <a:p>
            <a:r>
              <a:rPr lang="en-GB" dirty="0"/>
              <a:t>Under this interpretation conclusion is not true.</a:t>
            </a:r>
          </a:p>
          <a:p>
            <a:r>
              <a:rPr lang="en-GB" dirty="0"/>
              <a:t>Hence, this argument is not valid.</a:t>
            </a:r>
          </a:p>
        </p:txBody>
      </p:sp>
    </p:spTree>
    <p:extLst>
      <p:ext uri="{BB962C8B-B14F-4D97-AF65-F5344CB8AC3E}">
        <p14:creationId xmlns:p14="http://schemas.microsoft.com/office/powerpoint/2010/main" val="296306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P spid="11" grpId="0" animBg="1"/>
      <p:bldP spid="12" grpId="0"/>
      <p:bldP spid="13" grpId="0"/>
      <p:bldP spid="14" grpId="0" animBg="1"/>
      <p:bldP spid="15"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err="1"/>
              <a:t>Resolvent</a:t>
            </a:r>
            <a:r>
              <a:rPr lang="en-GB" b="1" dirty="0"/>
              <a:t> </a:t>
            </a:r>
          </a:p>
        </p:txBody>
      </p:sp>
      <p:sp>
        <p:nvSpPr>
          <p:cNvPr id="4" name="Date Placeholder 3"/>
          <p:cNvSpPr>
            <a:spLocks noGrp="1"/>
          </p:cNvSpPr>
          <p:nvPr>
            <p:ph type="dt" sz="half" idx="10"/>
          </p:nvPr>
        </p:nvSpPr>
        <p:spPr/>
        <p:txBody>
          <a:bodyPr/>
          <a:lstStyle/>
          <a:p>
            <a:fld id="{8B2D7374-71BC-4E5A-BF4E-A000D0B36341}"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25</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381000" y="1676400"/>
                <a:ext cx="8458200" cy="4832092"/>
              </a:xfrm>
              <a:prstGeom prst="rect">
                <a:avLst/>
              </a:prstGeom>
              <a:noFill/>
            </p:spPr>
            <p:txBody>
              <a:bodyPr wrap="square" rtlCol="0">
                <a:spAutoFit/>
              </a:bodyPr>
              <a:lstStyle/>
              <a:p>
                <a:pPr marL="285750" indent="-285750">
                  <a:buFont typeface="Arial" panose="020B0604020202020204" pitchFamily="34" charset="0"/>
                  <a:buChar char="•"/>
                </a:pPr>
                <a:r>
                  <a:rPr lang="en-GB" sz="2400" dirty="0"/>
                  <a:t>A variable or negation of a variable is called a literal.</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A clause (sum) is a disjunction of literals.</a:t>
                </a:r>
              </a:p>
              <a:p>
                <a:endParaRPr lang="en-GB" sz="2400" dirty="0"/>
              </a:p>
              <a:p>
                <a:pPr marL="285750" indent="-285750">
                  <a:buFont typeface="Arial" panose="020B0604020202020204" pitchFamily="34" charset="0"/>
                  <a:buChar char="•"/>
                </a:pPr>
                <a:r>
                  <a:rPr lang="en-GB" sz="2400" dirty="0"/>
                  <a:t>For any two clauses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𝐶</m:t>
                        </m:r>
                      </m:e>
                      <m:sub>
                        <m:r>
                          <a:rPr lang="en-GB" sz="2400" b="0" i="1" smtClean="0">
                            <a:latin typeface="Cambria Math" panose="02040503050406030204" pitchFamily="18" charset="0"/>
                          </a:rPr>
                          <m:t>1</m:t>
                        </m:r>
                      </m:sub>
                    </m:sSub>
                  </m:oMath>
                </a14:m>
                <a:r>
                  <a:rPr lang="en-GB" sz="2400" dirty="0"/>
                  <a:t> and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𝐶</m:t>
                        </m:r>
                      </m:e>
                      <m:sub>
                        <m:r>
                          <a:rPr lang="en-GB" sz="2400" b="0" i="1" smtClean="0">
                            <a:latin typeface="Cambria Math" panose="02040503050406030204" pitchFamily="18" charset="0"/>
                          </a:rPr>
                          <m:t>2</m:t>
                        </m:r>
                      </m:sub>
                    </m:sSub>
                  </m:oMath>
                </a14:m>
                <a:r>
                  <a:rPr lang="en-GB" sz="2400" dirty="0"/>
                  <a:t>, if there is a literal </a:t>
                </a:r>
                <a14:m>
                  <m:oMath xmlns:m="http://schemas.openxmlformats.org/officeDocument/2006/math">
                    <m:sSub>
                      <m:sSubPr>
                        <m:ctrlPr>
                          <a:rPr lang="en-GB" sz="2400" i="1" dirty="0" smtClean="0">
                            <a:latin typeface="Cambria Math" panose="02040503050406030204" pitchFamily="18" charset="0"/>
                          </a:rPr>
                        </m:ctrlPr>
                      </m:sSubPr>
                      <m:e>
                        <m:r>
                          <a:rPr lang="en-GB" sz="2400" b="0" i="1" dirty="0" smtClean="0">
                            <a:latin typeface="Cambria Math" panose="02040503050406030204" pitchFamily="18" charset="0"/>
                          </a:rPr>
                          <m:t>𝑝</m:t>
                        </m:r>
                      </m:e>
                      <m:sub>
                        <m:r>
                          <a:rPr lang="en-GB" sz="2400" b="0" i="1" dirty="0" smtClean="0">
                            <a:latin typeface="Cambria Math" panose="02040503050406030204" pitchFamily="18" charset="0"/>
                          </a:rPr>
                          <m:t>1</m:t>
                        </m:r>
                      </m:sub>
                    </m:sSub>
                  </m:oMath>
                </a14:m>
                <a:r>
                  <a:rPr lang="en-GB" sz="2400" dirty="0"/>
                  <a:t> in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𝐶</m:t>
                        </m:r>
                      </m:e>
                      <m:sub>
                        <m:r>
                          <a:rPr lang="en-GB" sz="2400" i="1">
                            <a:latin typeface="Cambria Math" panose="02040503050406030204" pitchFamily="18" charset="0"/>
                          </a:rPr>
                          <m:t>1</m:t>
                        </m:r>
                      </m:sub>
                    </m:sSub>
                  </m:oMath>
                </a14:m>
                <a:r>
                  <a:rPr lang="en-GB" sz="2400" dirty="0"/>
                  <a:t> that is complementary  to the literal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𝑝</m:t>
                        </m:r>
                      </m:e>
                      <m:sub>
                        <m:r>
                          <a:rPr lang="en-GB" sz="2400" b="0" i="1" smtClean="0">
                            <a:latin typeface="Cambria Math" panose="02040503050406030204" pitchFamily="18" charset="0"/>
                          </a:rPr>
                          <m:t>2</m:t>
                        </m:r>
                      </m:sub>
                    </m:sSub>
                  </m:oMath>
                </a14:m>
                <a:r>
                  <a:rPr lang="en-GB" sz="2400" dirty="0"/>
                  <a:t> in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𝐶</m:t>
                        </m:r>
                      </m:e>
                      <m:sub>
                        <m:r>
                          <a:rPr lang="en-GB" sz="2400" b="0" i="1" smtClean="0">
                            <a:latin typeface="Cambria Math" panose="02040503050406030204" pitchFamily="18" charset="0"/>
                          </a:rPr>
                          <m:t>2</m:t>
                        </m:r>
                      </m:sub>
                    </m:sSub>
                  </m:oMath>
                </a14:m>
                <a:r>
                  <a:rPr lang="en-GB" sz="2400" dirty="0"/>
                  <a:t> then delete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𝑝</m:t>
                        </m:r>
                      </m:e>
                      <m:sub>
                        <m:r>
                          <a:rPr lang="en-GB" sz="2400" b="0" i="1" smtClean="0">
                            <a:latin typeface="Cambria Math" panose="02040503050406030204" pitchFamily="18" charset="0"/>
                          </a:rPr>
                          <m:t>1</m:t>
                        </m:r>
                      </m:sub>
                    </m:sSub>
                  </m:oMath>
                </a14:m>
                <a:r>
                  <a:rPr lang="en-GB" sz="2400" dirty="0"/>
                  <a:t> and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𝑝</m:t>
                        </m:r>
                      </m:e>
                      <m:sub>
                        <m:r>
                          <a:rPr lang="en-GB" sz="2400" b="0" i="1" smtClean="0">
                            <a:latin typeface="Cambria Math" panose="02040503050406030204" pitchFamily="18" charset="0"/>
                          </a:rPr>
                          <m:t>2</m:t>
                        </m:r>
                      </m:sub>
                    </m:sSub>
                  </m:oMath>
                </a14:m>
                <a:r>
                  <a:rPr lang="en-GB" sz="2400" dirty="0"/>
                  <a:t> from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𝐶</m:t>
                        </m:r>
                      </m:e>
                      <m:sub>
                        <m:r>
                          <a:rPr lang="en-GB" sz="2400" b="0" i="1" smtClean="0">
                            <a:latin typeface="Cambria Math" panose="02040503050406030204" pitchFamily="18" charset="0"/>
                          </a:rPr>
                          <m:t>1</m:t>
                        </m:r>
                      </m:sub>
                    </m:sSub>
                  </m:oMath>
                </a14:m>
                <a:r>
                  <a:rPr lang="en-GB" sz="2400" dirty="0"/>
                  <a:t> and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𝐶</m:t>
                        </m:r>
                      </m:e>
                      <m:sub>
                        <m:r>
                          <a:rPr lang="en-GB" sz="2400" b="0" i="1" smtClean="0">
                            <a:latin typeface="Cambria Math" panose="02040503050406030204" pitchFamily="18" charset="0"/>
                          </a:rPr>
                          <m:t>2</m:t>
                        </m:r>
                      </m:sub>
                    </m:sSub>
                  </m:oMath>
                </a14:m>
                <a:r>
                  <a:rPr lang="en-GB" sz="2400" dirty="0"/>
                  <a:t> respectively, construct the disjunction of the remaining clauses. The constructed clause is the </a:t>
                </a:r>
                <a:r>
                  <a:rPr lang="en-GB" sz="2400" b="1" dirty="0" err="1"/>
                  <a:t>resolvent</a:t>
                </a:r>
                <a:r>
                  <a:rPr lang="en-GB" sz="2400" dirty="0"/>
                  <a:t> of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𝐶</m:t>
                        </m:r>
                      </m:e>
                      <m:sub>
                        <m:r>
                          <a:rPr lang="en-GB" sz="2400" i="1">
                            <a:latin typeface="Cambria Math" panose="02040503050406030204" pitchFamily="18" charset="0"/>
                          </a:rPr>
                          <m:t>1</m:t>
                        </m:r>
                      </m:sub>
                    </m:sSub>
                  </m:oMath>
                </a14:m>
                <a:r>
                  <a:rPr lang="en-GB" sz="2400" dirty="0"/>
                  <a:t> and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𝐶</m:t>
                        </m:r>
                      </m:e>
                      <m:sub>
                        <m:r>
                          <a:rPr lang="en-GB" sz="2400" i="1">
                            <a:latin typeface="Cambria Math" panose="02040503050406030204" pitchFamily="18" charset="0"/>
                          </a:rPr>
                          <m:t>2</m:t>
                        </m:r>
                      </m:sub>
                    </m:sSub>
                  </m:oMath>
                </a14:m>
                <a:r>
                  <a:rPr lang="en-GB" sz="2400" dirty="0"/>
                  <a:t>.</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b="1" dirty="0"/>
                  <a:t>Example:</a:t>
                </a:r>
                <a:r>
                  <a:rPr lang="en-GB" sz="2400" dirty="0"/>
                  <a:t> Let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𝐶</m:t>
                        </m:r>
                      </m:e>
                      <m:sub>
                        <m:r>
                          <a:rPr lang="en-GB" sz="2400" i="1">
                            <a:latin typeface="Cambria Math" panose="02040503050406030204" pitchFamily="18" charset="0"/>
                          </a:rPr>
                          <m:t>1</m:t>
                        </m:r>
                      </m:sub>
                    </m:sSub>
                    <m:r>
                      <a:rPr lang="en-GB" sz="2400" b="0" i="1" smtClean="0">
                        <a:latin typeface="Cambria Math" panose="02040503050406030204" pitchFamily="18" charset="0"/>
                      </a:rPr>
                      <m:t>=</m:t>
                    </m:r>
                    <m:r>
                      <a:rPr lang="en-GB" sz="2400" b="0" i="1" smtClean="0">
                        <a:latin typeface="Cambria Math" panose="02040503050406030204" pitchFamily="18" charset="0"/>
                      </a:rPr>
                      <m:t>𝑝</m:t>
                    </m:r>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𝑞</m:t>
                    </m:r>
                    <m:r>
                      <a:rPr lang="en-GB" sz="2400" b="0" i="1" smtClean="0">
                        <a:latin typeface="Cambria Math" panose="02040503050406030204" pitchFamily="18" charset="0"/>
                        <a:ea typeface="Cambria Math" panose="02040503050406030204" pitchFamily="18" charset="0"/>
                      </a:rPr>
                      <m:t> ∨¬</m:t>
                    </m:r>
                    <m:r>
                      <a:rPr lang="en-GB" sz="2400" b="0" i="1" smtClean="0">
                        <a:latin typeface="Cambria Math" panose="02040503050406030204" pitchFamily="18" charset="0"/>
                        <a:ea typeface="Cambria Math" panose="02040503050406030204" pitchFamily="18" charset="0"/>
                      </a:rPr>
                      <m:t>𝑠</m:t>
                    </m:r>
                  </m:oMath>
                </a14:m>
                <a:r>
                  <a:rPr lang="en-GB" sz="2400" dirty="0"/>
                  <a:t>   and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𝐶</m:t>
                        </m:r>
                      </m:e>
                      <m:sub>
                        <m:r>
                          <a:rPr lang="en-GB" sz="2400" b="0" i="1" smtClean="0">
                            <a:latin typeface="Cambria Math" panose="02040503050406030204" pitchFamily="18" charset="0"/>
                          </a:rPr>
                          <m:t>2</m:t>
                        </m:r>
                      </m:sub>
                    </m:sSub>
                    <m:r>
                      <a:rPr lang="en-GB" sz="2400" i="1">
                        <a:latin typeface="Cambria Math" panose="02040503050406030204" pitchFamily="18" charset="0"/>
                      </a:rPr>
                      <m:t>=</m:t>
                    </m:r>
                    <m:r>
                      <a:rPr lang="en-GB" sz="2400" i="1" smtClean="0">
                        <a:latin typeface="Cambria Math" panose="02040503050406030204" pitchFamily="18" charset="0"/>
                        <a:ea typeface="Cambria Math" panose="02040503050406030204" pitchFamily="18" charset="0"/>
                      </a:rPr>
                      <m:t>¬</m:t>
                    </m:r>
                    <m:r>
                      <a:rPr lang="en-GB" sz="2400" i="1">
                        <a:latin typeface="Cambria Math" panose="02040503050406030204" pitchFamily="18" charset="0"/>
                      </a:rPr>
                      <m:t>𝑝</m:t>
                    </m:r>
                    <m:r>
                      <a:rPr lang="en-GB" sz="2400" i="1">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𝑢</m:t>
                    </m:r>
                  </m:oMath>
                </a14:m>
                <a:r>
                  <a:rPr lang="en-GB" sz="2400" dirty="0"/>
                  <a:t>. Then the </a:t>
                </a:r>
                <a:r>
                  <a:rPr lang="en-GB" sz="2400" dirty="0" err="1"/>
                  <a:t>resolvent</a:t>
                </a:r>
                <a:r>
                  <a:rPr lang="en-GB" sz="2400" dirty="0"/>
                  <a:t> of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𝐶</m:t>
                        </m:r>
                      </m:e>
                      <m:sub>
                        <m:r>
                          <a:rPr lang="en-GB" sz="2400" i="1">
                            <a:latin typeface="Cambria Math" panose="02040503050406030204" pitchFamily="18" charset="0"/>
                          </a:rPr>
                          <m:t>1</m:t>
                        </m:r>
                      </m:sub>
                    </m:sSub>
                  </m:oMath>
                </a14:m>
                <a:r>
                  <a:rPr lang="en-GB" sz="2400" dirty="0"/>
                  <a:t> and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𝐶</m:t>
                        </m:r>
                      </m:e>
                      <m:sub>
                        <m:r>
                          <a:rPr lang="en-GB" sz="2400" i="1">
                            <a:latin typeface="Cambria Math" panose="02040503050406030204" pitchFamily="18" charset="0"/>
                          </a:rPr>
                          <m:t>2</m:t>
                        </m:r>
                      </m:sub>
                    </m:sSub>
                  </m:oMath>
                </a14:m>
                <a:r>
                  <a:rPr lang="en-GB" sz="2400" dirty="0"/>
                  <a:t> is  </a:t>
                </a:r>
                <a14:m>
                  <m:oMath xmlns:m="http://schemas.openxmlformats.org/officeDocument/2006/math">
                    <m:r>
                      <a:rPr lang="en-GB" sz="2400" i="1">
                        <a:latin typeface="Cambria Math" panose="02040503050406030204" pitchFamily="18" charset="0"/>
                        <a:ea typeface="Cambria Math" panose="02040503050406030204" pitchFamily="18" charset="0"/>
                      </a:rPr>
                      <m:t>𝑞</m:t>
                    </m:r>
                    <m:r>
                      <a:rPr lang="en-GB" sz="2400" i="1">
                        <a:latin typeface="Cambria Math" panose="02040503050406030204" pitchFamily="18" charset="0"/>
                        <a:ea typeface="Cambria Math" panose="02040503050406030204" pitchFamily="18" charset="0"/>
                      </a:rPr>
                      <m:t> ∨¬</m:t>
                    </m:r>
                    <m:r>
                      <a:rPr lang="en-GB" sz="2400" i="1">
                        <a:latin typeface="Cambria Math" panose="02040503050406030204" pitchFamily="18" charset="0"/>
                        <a:ea typeface="Cambria Math" panose="02040503050406030204" pitchFamily="18" charset="0"/>
                      </a:rPr>
                      <m:t>𝑠</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𝑢</m:t>
                    </m:r>
                  </m:oMath>
                </a14:m>
                <a:r>
                  <a:rPr lang="en-GB" sz="2400" dirty="0"/>
                  <a:t>.</a:t>
                </a:r>
              </a:p>
              <a:p>
                <a:r>
                  <a:rPr lang="en-GB" sz="2000"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381000" y="1676400"/>
                <a:ext cx="8458200" cy="4832092"/>
              </a:xfrm>
              <a:prstGeom prst="rect">
                <a:avLst/>
              </a:prstGeom>
              <a:blipFill>
                <a:blip r:embed="rId2"/>
                <a:stretch>
                  <a:fillRect l="-1009" t="-1009" r="-216"/>
                </a:stretch>
              </a:blipFill>
            </p:spPr>
            <p:txBody>
              <a:bodyPr/>
              <a:lstStyle/>
              <a:p>
                <a:r>
                  <a:rPr lang="en-US">
                    <a:noFill/>
                  </a:rPr>
                  <a:t> </a:t>
                </a:r>
              </a:p>
            </p:txBody>
          </p:sp>
        </mc:Fallback>
      </mc:AlternateContent>
    </p:spTree>
    <p:extLst>
      <p:ext uri="{BB962C8B-B14F-4D97-AF65-F5344CB8AC3E}">
        <p14:creationId xmlns:p14="http://schemas.microsoft.com/office/powerpoint/2010/main" val="168286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Theorem</a:t>
            </a:r>
          </a:p>
        </p:txBody>
      </p:sp>
      <p:sp>
        <p:nvSpPr>
          <p:cNvPr id="4" name="Date Placeholder 3"/>
          <p:cNvSpPr>
            <a:spLocks noGrp="1"/>
          </p:cNvSpPr>
          <p:nvPr>
            <p:ph type="dt" sz="half" idx="10"/>
          </p:nvPr>
        </p:nvSpPr>
        <p:spPr/>
        <p:txBody>
          <a:bodyPr/>
          <a:lstStyle/>
          <a:p>
            <a:fld id="{C39244C3-9EF1-4BAB-B799-BA6425B5581A}"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26</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457200" y="1905000"/>
                <a:ext cx="8229600" cy="2321085"/>
              </a:xfrm>
              <a:prstGeom prst="rect">
                <a:avLst/>
              </a:prstGeom>
              <a:noFill/>
            </p:spPr>
            <p:txBody>
              <a:bodyPr wrap="square" rtlCol="0">
                <a:spAutoFit/>
              </a:bodyPr>
              <a:lstStyle/>
              <a:p>
                <a:r>
                  <a:rPr lang="en-GB" sz="2000" b="1" dirty="0"/>
                  <a:t>Theorem: </a:t>
                </a:r>
                <a:r>
                  <a:rPr lang="en-GB" sz="2000" dirty="0"/>
                  <a:t>Given the two clauses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𝐶</m:t>
                        </m:r>
                      </m:e>
                      <m:sub>
                        <m:r>
                          <a:rPr lang="en-GB" sz="2000" i="1">
                            <a:latin typeface="Cambria Math" panose="02040503050406030204" pitchFamily="18" charset="0"/>
                          </a:rPr>
                          <m:t>1</m:t>
                        </m:r>
                      </m:sub>
                    </m:sSub>
                  </m:oMath>
                </a14:m>
                <a:r>
                  <a:rPr lang="en-GB" sz="2000" dirty="0"/>
                  <a:t> and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𝐶</m:t>
                        </m:r>
                      </m:e>
                      <m:sub>
                        <m:r>
                          <a:rPr lang="en-GB" sz="2000" i="1">
                            <a:latin typeface="Cambria Math" panose="02040503050406030204" pitchFamily="18" charset="0"/>
                          </a:rPr>
                          <m:t>2</m:t>
                        </m:r>
                      </m:sub>
                    </m:sSub>
                  </m:oMath>
                </a14:m>
                <a:r>
                  <a:rPr lang="en-GB" sz="2000" b="1" dirty="0"/>
                  <a:t>, </a:t>
                </a:r>
                <a:r>
                  <a:rPr lang="en-GB" sz="2000" dirty="0"/>
                  <a:t>a </a:t>
                </a:r>
                <a:r>
                  <a:rPr lang="en-GB" sz="2000" dirty="0" err="1"/>
                  <a:t>resolvent</a:t>
                </a:r>
                <a:r>
                  <a:rPr lang="en-GB" sz="2000" dirty="0"/>
                  <a:t> </a:t>
                </a:r>
                <a14:m>
                  <m:oMath xmlns:m="http://schemas.openxmlformats.org/officeDocument/2006/math">
                    <m:r>
                      <a:rPr lang="en-GB" sz="2000" b="0" i="1" smtClean="0">
                        <a:latin typeface="Cambria Math" panose="02040503050406030204" pitchFamily="18" charset="0"/>
                      </a:rPr>
                      <m:t>𝐶</m:t>
                    </m:r>
                  </m:oMath>
                </a14:m>
                <a:r>
                  <a:rPr lang="en-GB" sz="2000" dirty="0"/>
                  <a:t> of </a:t>
                </a:r>
                <a14:m>
                  <m:oMath xmlns:m="http://schemas.openxmlformats.org/officeDocument/2006/math">
                    <m:sSub>
                      <m:sSubPr>
                        <m:ctrlPr>
                          <a:rPr lang="en-GB" sz="2000" i="1">
                            <a:latin typeface="Cambria Math" panose="02040503050406030204" pitchFamily="18" charset="0"/>
                          </a:rPr>
                        </m:ctrlPr>
                      </m:sSubPr>
                      <m:e>
                        <m:r>
                          <a:rPr lang="en-GB" sz="2000" b="0" i="1">
                            <a:latin typeface="Cambria Math" panose="02040503050406030204" pitchFamily="18" charset="0"/>
                          </a:rPr>
                          <m:t>𝐶</m:t>
                        </m:r>
                      </m:e>
                      <m:sub>
                        <m:r>
                          <a:rPr lang="en-GB" sz="2000" b="0" i="1">
                            <a:latin typeface="Cambria Math" panose="02040503050406030204" pitchFamily="18" charset="0"/>
                          </a:rPr>
                          <m:t>1</m:t>
                        </m:r>
                      </m:sub>
                    </m:sSub>
                  </m:oMath>
                </a14:m>
                <a:r>
                  <a:rPr lang="en-GB" sz="2000" dirty="0"/>
                  <a:t> and </a:t>
                </a:r>
                <a14:m>
                  <m:oMath xmlns:m="http://schemas.openxmlformats.org/officeDocument/2006/math">
                    <m:sSub>
                      <m:sSubPr>
                        <m:ctrlPr>
                          <a:rPr lang="en-GB" sz="2000" i="1">
                            <a:latin typeface="Cambria Math" panose="02040503050406030204" pitchFamily="18" charset="0"/>
                          </a:rPr>
                        </m:ctrlPr>
                      </m:sSubPr>
                      <m:e>
                        <m:r>
                          <a:rPr lang="en-GB" sz="2000" b="0" i="1">
                            <a:latin typeface="Cambria Math" panose="02040503050406030204" pitchFamily="18" charset="0"/>
                          </a:rPr>
                          <m:t>𝐶</m:t>
                        </m:r>
                      </m:e>
                      <m:sub>
                        <m:r>
                          <a:rPr lang="en-GB" sz="2000" b="0" i="1">
                            <a:latin typeface="Cambria Math" panose="02040503050406030204" pitchFamily="18" charset="0"/>
                          </a:rPr>
                          <m:t>2</m:t>
                        </m:r>
                      </m:sub>
                    </m:sSub>
                  </m:oMath>
                </a14:m>
                <a:r>
                  <a:rPr lang="en-GB" sz="2000" dirty="0"/>
                  <a:t> is a logical consequence of </a:t>
                </a:r>
                <a14:m>
                  <m:oMath xmlns:m="http://schemas.openxmlformats.org/officeDocument/2006/math">
                    <m:sSub>
                      <m:sSubPr>
                        <m:ctrlPr>
                          <a:rPr lang="en-GB" sz="2000" i="1">
                            <a:latin typeface="Cambria Math" panose="02040503050406030204" pitchFamily="18" charset="0"/>
                          </a:rPr>
                        </m:ctrlPr>
                      </m:sSubPr>
                      <m:e>
                        <m:r>
                          <a:rPr lang="en-GB" sz="2000" b="0" i="1">
                            <a:latin typeface="Cambria Math" panose="02040503050406030204" pitchFamily="18" charset="0"/>
                          </a:rPr>
                          <m:t>𝐶</m:t>
                        </m:r>
                      </m:e>
                      <m:sub>
                        <m:r>
                          <a:rPr lang="en-GB" sz="2000" b="0" i="1">
                            <a:latin typeface="Cambria Math" panose="02040503050406030204" pitchFamily="18" charset="0"/>
                          </a:rPr>
                          <m:t>1</m:t>
                        </m:r>
                      </m:sub>
                    </m:sSub>
                  </m:oMath>
                </a14:m>
                <a:r>
                  <a:rPr lang="en-GB" sz="2000" dirty="0"/>
                  <a:t> and </a:t>
                </a:r>
                <a14:m>
                  <m:oMath xmlns:m="http://schemas.openxmlformats.org/officeDocument/2006/math">
                    <m:sSub>
                      <m:sSubPr>
                        <m:ctrlPr>
                          <a:rPr lang="en-GB" sz="2000" i="1">
                            <a:latin typeface="Cambria Math" panose="02040503050406030204" pitchFamily="18" charset="0"/>
                          </a:rPr>
                        </m:ctrlPr>
                      </m:sSubPr>
                      <m:e>
                        <m:r>
                          <a:rPr lang="en-GB" sz="2000" b="0" i="1">
                            <a:latin typeface="Cambria Math" panose="02040503050406030204" pitchFamily="18" charset="0"/>
                          </a:rPr>
                          <m:t>𝐶</m:t>
                        </m:r>
                      </m:e>
                      <m:sub>
                        <m:r>
                          <a:rPr lang="en-GB" sz="2000" b="0" i="1">
                            <a:latin typeface="Cambria Math" panose="02040503050406030204" pitchFamily="18" charset="0"/>
                          </a:rPr>
                          <m:t>2</m:t>
                        </m:r>
                      </m:sub>
                    </m:sSub>
                  </m:oMath>
                </a14:m>
                <a:r>
                  <a:rPr lang="en-GB" sz="2000" dirty="0"/>
                  <a:t>. </a:t>
                </a:r>
              </a:p>
              <a:p>
                <a:endParaRPr lang="en-GB" sz="2000" dirty="0"/>
              </a:p>
              <a:p>
                <a14:m>
                  <m:oMath xmlns:m="http://schemas.openxmlformats.org/officeDocument/2006/math">
                    <m:sSub>
                      <m:sSubPr>
                        <m:ctrlPr>
                          <a:rPr lang="en-GB" sz="2000" i="1" smtClean="0">
                            <a:latin typeface="Cambria Math" panose="02040503050406030204" pitchFamily="18" charset="0"/>
                          </a:rPr>
                        </m:ctrlPr>
                      </m:sSubPr>
                      <m:e>
                        <m:r>
                          <a:rPr lang="en-GB" sz="2000" b="0" i="1" smtClean="0">
                            <a:latin typeface="Cambria Math" panose="02040503050406030204" pitchFamily="18" charset="0"/>
                          </a:rPr>
                          <m:t>𝐶</m:t>
                        </m:r>
                      </m:e>
                      <m:sub>
                        <m:r>
                          <a:rPr lang="en-GB" sz="2000" b="0" i="1" smtClean="0">
                            <a:latin typeface="Cambria Math" panose="02040503050406030204" pitchFamily="18" charset="0"/>
                          </a:rPr>
                          <m:t>1</m:t>
                        </m:r>
                      </m:sub>
                    </m:sSub>
                    <m:r>
                      <a:rPr lang="en-GB" sz="2000" b="0" i="1" smtClean="0">
                        <a:latin typeface="Cambria Math" panose="02040503050406030204" pitchFamily="18" charset="0"/>
                      </a:rPr>
                      <m:t>=  </m:t>
                    </m:r>
                    <m:r>
                      <a:rPr lang="en-GB" sz="2000" b="0" i="1" smtClean="0">
                        <a:latin typeface="Cambria Math" panose="02040503050406030204" pitchFamily="18" charset="0"/>
                      </a:rPr>
                      <m:t>𝑝</m:t>
                    </m:r>
                    <m:r>
                      <a:rPr lang="en-GB" sz="2000" b="0" i="1" smtClean="0">
                        <a:latin typeface="Cambria Math" panose="02040503050406030204" pitchFamily="18" charset="0"/>
                        <a:ea typeface="Cambria Math" panose="02040503050406030204" pitchFamily="18" charset="0"/>
                      </a:rPr>
                      <m:t>∨ </m:t>
                    </m:r>
                    <m:sSubSup>
                      <m:sSubSupPr>
                        <m:ctrlPr>
                          <a:rPr lang="en-GB" sz="2000" b="0" i="1" smtClean="0">
                            <a:latin typeface="Cambria Math" panose="02040503050406030204" pitchFamily="18" charset="0"/>
                            <a:ea typeface="Cambria Math" panose="02040503050406030204" pitchFamily="18" charset="0"/>
                          </a:rPr>
                        </m:ctrlPr>
                      </m:sSubSupPr>
                      <m:e>
                        <m:r>
                          <a:rPr lang="en-GB" sz="2000" b="0" i="1" smtClean="0">
                            <a:latin typeface="Cambria Math" panose="02040503050406030204" pitchFamily="18" charset="0"/>
                            <a:ea typeface="Cambria Math" panose="02040503050406030204" pitchFamily="18" charset="0"/>
                          </a:rPr>
                          <m:t>𝐶</m:t>
                        </m:r>
                      </m:e>
                      <m:sub>
                        <m:r>
                          <a:rPr lang="en-GB" sz="2000" b="0" i="1" smtClean="0">
                            <a:latin typeface="Cambria Math" panose="02040503050406030204" pitchFamily="18" charset="0"/>
                            <a:ea typeface="Cambria Math" panose="02040503050406030204" pitchFamily="18" charset="0"/>
                          </a:rPr>
                          <m:t>1</m:t>
                        </m:r>
                      </m:sub>
                      <m:sup>
                        <m:r>
                          <a:rPr lang="en-GB" sz="2000" b="0" i="1" smtClean="0">
                            <a:latin typeface="Cambria Math" panose="02040503050406030204" pitchFamily="18" charset="0"/>
                            <a:ea typeface="Cambria Math" panose="02040503050406030204" pitchFamily="18" charset="0"/>
                          </a:rPr>
                          <m:t>′</m:t>
                        </m:r>
                      </m:sup>
                    </m:sSubSup>
                  </m:oMath>
                </a14:m>
                <a:r>
                  <a:rPr lang="en-GB" sz="2000" dirty="0"/>
                  <a:t> </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𝐶</m:t>
                        </m:r>
                      </m:e>
                      <m:sub>
                        <m:r>
                          <a:rPr lang="en-GB" sz="2000" b="0" i="1" smtClean="0">
                            <a:latin typeface="Cambria Math" panose="02040503050406030204" pitchFamily="18" charset="0"/>
                          </a:rPr>
                          <m:t>2</m:t>
                        </m:r>
                      </m:sub>
                    </m:sSub>
                    <m:r>
                      <a:rPr lang="en-GB" sz="2000" i="1">
                        <a:latin typeface="Cambria Math" panose="02040503050406030204" pitchFamily="18" charset="0"/>
                      </a:rPr>
                      <m:t>=</m:t>
                    </m:r>
                    <m:r>
                      <a:rPr lang="en-GB" sz="200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rPr>
                      <m:t>𝑝</m:t>
                    </m:r>
                    <m:r>
                      <a:rPr lang="en-GB" sz="2000" i="1">
                        <a:latin typeface="Cambria Math" panose="02040503050406030204" pitchFamily="18" charset="0"/>
                        <a:ea typeface="Cambria Math" panose="02040503050406030204" pitchFamily="18" charset="0"/>
                      </a:rPr>
                      <m:t>∨ </m:t>
                    </m:r>
                    <m:sSubSup>
                      <m:sSubSupPr>
                        <m:ctrlPr>
                          <a:rPr lang="en-GB" sz="2000" i="1">
                            <a:latin typeface="Cambria Math" panose="02040503050406030204" pitchFamily="18" charset="0"/>
                            <a:ea typeface="Cambria Math" panose="02040503050406030204" pitchFamily="18" charset="0"/>
                          </a:rPr>
                        </m:ctrlPr>
                      </m:sSubSupPr>
                      <m:e>
                        <m:r>
                          <a:rPr lang="en-GB" sz="2000" i="1">
                            <a:latin typeface="Cambria Math" panose="02040503050406030204" pitchFamily="18" charset="0"/>
                            <a:ea typeface="Cambria Math" panose="02040503050406030204" pitchFamily="18" charset="0"/>
                          </a:rPr>
                          <m:t>𝐶</m:t>
                        </m:r>
                      </m:e>
                      <m:sub>
                        <m:r>
                          <a:rPr lang="en-GB" sz="2000" b="0" i="1" smtClean="0">
                            <a:latin typeface="Cambria Math" panose="02040503050406030204" pitchFamily="18" charset="0"/>
                            <a:ea typeface="Cambria Math" panose="02040503050406030204" pitchFamily="18" charset="0"/>
                          </a:rPr>
                          <m:t>2</m:t>
                        </m:r>
                      </m:sub>
                      <m:sup>
                        <m:r>
                          <a:rPr lang="en-GB" sz="2000" i="1">
                            <a:latin typeface="Cambria Math" panose="02040503050406030204" pitchFamily="18" charset="0"/>
                            <a:ea typeface="Cambria Math" panose="02040503050406030204" pitchFamily="18" charset="0"/>
                          </a:rPr>
                          <m:t>′</m:t>
                        </m:r>
                      </m:sup>
                    </m:sSubSup>
                  </m:oMath>
                </a14:m>
                <a:r>
                  <a:rPr lang="en-GB" sz="2000" dirty="0"/>
                  <a:t> </a:t>
                </a:r>
              </a:p>
              <a:p>
                <a:r>
                  <a:rPr lang="en-GB" sz="2000" dirty="0"/>
                  <a:t>------------------</a:t>
                </a:r>
              </a:p>
              <a:p>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  </m:t>
                    </m:r>
                    <m:sSubSup>
                      <m:sSubSupPr>
                        <m:ctrlPr>
                          <a:rPr lang="en-GB" sz="2000" b="0" i="1" smtClean="0">
                            <a:latin typeface="Cambria Math" panose="02040503050406030204" pitchFamily="18" charset="0"/>
                            <a:ea typeface="Cambria Math" panose="02040503050406030204" pitchFamily="18" charset="0"/>
                          </a:rPr>
                        </m:ctrlPr>
                      </m:sSubSupPr>
                      <m:e>
                        <m:r>
                          <a:rPr lang="en-GB" sz="2000" b="0" i="1" smtClean="0">
                            <a:latin typeface="Cambria Math" panose="02040503050406030204" pitchFamily="18" charset="0"/>
                            <a:ea typeface="Cambria Math" panose="02040503050406030204" pitchFamily="18" charset="0"/>
                          </a:rPr>
                          <m:t>𝐶</m:t>
                        </m:r>
                      </m:e>
                      <m:sub>
                        <m:r>
                          <a:rPr lang="en-GB" sz="2000" b="0" i="1" smtClean="0">
                            <a:latin typeface="Cambria Math" panose="02040503050406030204" pitchFamily="18" charset="0"/>
                            <a:ea typeface="Cambria Math" panose="02040503050406030204" pitchFamily="18" charset="0"/>
                          </a:rPr>
                          <m:t>1</m:t>
                        </m:r>
                      </m:sub>
                      <m:sup>
                        <m:r>
                          <a:rPr lang="en-GB" sz="2000" b="0" i="1" smtClean="0">
                            <a:latin typeface="Cambria Math" panose="02040503050406030204" pitchFamily="18" charset="0"/>
                            <a:ea typeface="Cambria Math" panose="02040503050406030204" pitchFamily="18" charset="0"/>
                          </a:rPr>
                          <m:t>′</m:t>
                        </m:r>
                      </m:sup>
                    </m:sSubSup>
                    <m:r>
                      <a:rPr lang="en-GB" sz="2000" i="1">
                        <a:latin typeface="Cambria Math" panose="02040503050406030204" pitchFamily="18" charset="0"/>
                        <a:ea typeface="Cambria Math" panose="02040503050406030204" pitchFamily="18" charset="0"/>
                      </a:rPr>
                      <m:t>∨ </m:t>
                    </m:r>
                    <m:sSubSup>
                      <m:sSubSupPr>
                        <m:ctrlPr>
                          <a:rPr lang="en-GB" sz="2000" i="1">
                            <a:latin typeface="Cambria Math" panose="02040503050406030204" pitchFamily="18" charset="0"/>
                            <a:ea typeface="Cambria Math" panose="02040503050406030204" pitchFamily="18" charset="0"/>
                          </a:rPr>
                        </m:ctrlPr>
                      </m:sSubSupPr>
                      <m:e>
                        <m:r>
                          <a:rPr lang="en-GB" sz="2000" i="1">
                            <a:latin typeface="Cambria Math" panose="02040503050406030204" pitchFamily="18" charset="0"/>
                            <a:ea typeface="Cambria Math" panose="02040503050406030204" pitchFamily="18" charset="0"/>
                          </a:rPr>
                          <m:t>𝐶</m:t>
                        </m:r>
                      </m:e>
                      <m:sub>
                        <m:r>
                          <a:rPr lang="en-GB" sz="2000" i="1">
                            <a:latin typeface="Cambria Math" panose="02040503050406030204" pitchFamily="18" charset="0"/>
                            <a:ea typeface="Cambria Math" panose="02040503050406030204" pitchFamily="18" charset="0"/>
                          </a:rPr>
                          <m:t>2</m:t>
                        </m:r>
                      </m:sub>
                      <m:sup>
                        <m:r>
                          <a:rPr lang="en-GB" sz="2000" i="1">
                            <a:latin typeface="Cambria Math" panose="02040503050406030204" pitchFamily="18" charset="0"/>
                            <a:ea typeface="Cambria Math" panose="02040503050406030204" pitchFamily="18" charset="0"/>
                          </a:rPr>
                          <m:t>′</m:t>
                        </m:r>
                      </m:sup>
                    </m:sSubSup>
                  </m:oMath>
                </a14:m>
                <a:r>
                  <a:rPr lang="en-GB" sz="2000"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457200" y="1905000"/>
                <a:ext cx="8229600" cy="2321085"/>
              </a:xfrm>
              <a:prstGeom prst="rect">
                <a:avLst/>
              </a:prstGeom>
              <a:blipFill rotWithShape="0">
                <a:blip r:embed="rId2"/>
                <a:stretch>
                  <a:fillRect l="-741" t="-1316"/>
                </a:stretch>
              </a:blipFill>
            </p:spPr>
            <p:txBody>
              <a:bodyPr/>
              <a:lstStyle/>
              <a:p>
                <a:r>
                  <a:rPr lang="en-GB">
                    <a:noFill/>
                  </a:rPr>
                  <a:t> </a:t>
                </a:r>
              </a:p>
            </p:txBody>
          </p:sp>
        </mc:Fallback>
      </mc:AlternateContent>
      <p:sp>
        <p:nvSpPr>
          <p:cNvPr id="8" name="Rectangle 7"/>
          <p:cNvSpPr/>
          <p:nvPr/>
        </p:nvSpPr>
        <p:spPr>
          <a:xfrm>
            <a:off x="533400" y="4667071"/>
            <a:ext cx="1981200" cy="1477328"/>
          </a:xfrm>
          <a:prstGeom prst="rect">
            <a:avLst/>
          </a:prstGeom>
        </p:spPr>
        <p:txBody>
          <a:bodyPr wrap="square">
            <a:spAutoFit/>
          </a:bodyPr>
          <a:lstStyle/>
          <a:p>
            <a:r>
              <a:rPr lang="en-US" b="1" dirty="0"/>
              <a:t>Modus Ponens</a:t>
            </a:r>
          </a:p>
          <a:p>
            <a:r>
              <a:rPr lang="en-US" dirty="0"/>
              <a:t>p                          </a:t>
            </a:r>
          </a:p>
          <a:p>
            <a:r>
              <a:rPr lang="en-US" dirty="0"/>
              <a:t>p → q </a:t>
            </a:r>
          </a:p>
          <a:p>
            <a:r>
              <a:rPr lang="en-US" dirty="0"/>
              <a:t>-----------</a:t>
            </a:r>
          </a:p>
          <a:p>
            <a:r>
              <a:rPr lang="en-US" dirty="0"/>
              <a:t>∴ q</a:t>
            </a:r>
          </a:p>
        </p:txBody>
      </p:sp>
      <mc:AlternateContent xmlns:mc="http://schemas.openxmlformats.org/markup-compatibility/2006" xmlns:a14="http://schemas.microsoft.com/office/drawing/2010/main">
        <mc:Choice Requires="a14">
          <p:sp>
            <p:nvSpPr>
              <p:cNvPr id="9" name="TextBox 8"/>
              <p:cNvSpPr txBox="1"/>
              <p:nvPr/>
            </p:nvSpPr>
            <p:spPr>
              <a:xfrm>
                <a:off x="1752600" y="4971871"/>
                <a:ext cx="1905000" cy="12003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𝑝</m:t>
                      </m:r>
                    </m:oMath>
                  </m:oMathPara>
                </a14:m>
                <a:endParaRPr lang="en-GB" dirty="0"/>
              </a:p>
              <a:p>
                <a14:m>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𝑝</m:t>
                    </m:r>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𝑞</m:t>
                    </m:r>
                  </m:oMath>
                </a14:m>
                <a:r>
                  <a:rPr lang="en-GB" dirty="0"/>
                  <a:t> </a:t>
                </a:r>
              </a:p>
              <a:p>
                <a:r>
                  <a:rPr lang="en-GB" dirty="0"/>
                  <a:t>         ------------</a:t>
                </a:r>
              </a:p>
              <a:p>
                <a:r>
                  <a:rPr lang="en-US" b="1" dirty="0"/>
                  <a:t>           </a:t>
                </a:r>
                <a:r>
                  <a:rPr lang="en-US" dirty="0"/>
                  <a:t>∴ q</a:t>
                </a:r>
              </a:p>
            </p:txBody>
          </p:sp>
        </mc:Choice>
        <mc:Fallback xmlns="">
          <p:sp>
            <p:nvSpPr>
              <p:cNvPr id="9" name="TextBox 8"/>
              <p:cNvSpPr txBox="1">
                <a:spLocks noRot="1" noChangeAspect="1" noMove="1" noResize="1" noEditPoints="1" noAdjustHandles="1" noChangeArrowheads="1" noChangeShapeType="1" noTextEdit="1"/>
              </p:cNvSpPr>
              <p:nvPr/>
            </p:nvSpPr>
            <p:spPr>
              <a:xfrm>
                <a:off x="1752600" y="4971871"/>
                <a:ext cx="1905000" cy="1200329"/>
              </a:xfrm>
              <a:prstGeom prst="rect">
                <a:avLst/>
              </a:prstGeom>
              <a:blipFill rotWithShape="0">
                <a:blip r:embed="rId3"/>
                <a:stretch>
                  <a:fillRect b="-7107"/>
                </a:stretch>
              </a:blipFill>
            </p:spPr>
            <p:txBody>
              <a:bodyPr/>
              <a:lstStyle/>
              <a:p>
                <a:r>
                  <a:rPr lang="en-GB">
                    <a:noFill/>
                  </a:rPr>
                  <a:t> </a:t>
                </a:r>
              </a:p>
            </p:txBody>
          </p:sp>
        </mc:Fallback>
      </mc:AlternateContent>
    </p:spTree>
    <p:extLst>
      <p:ext uri="{BB962C8B-B14F-4D97-AF65-F5344CB8AC3E}">
        <p14:creationId xmlns:p14="http://schemas.microsoft.com/office/powerpoint/2010/main" val="4277326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Resolution Principle</a:t>
            </a:r>
          </a:p>
        </p:txBody>
      </p:sp>
      <p:sp>
        <p:nvSpPr>
          <p:cNvPr id="4" name="Date Placeholder 3"/>
          <p:cNvSpPr>
            <a:spLocks noGrp="1"/>
          </p:cNvSpPr>
          <p:nvPr>
            <p:ph type="dt" sz="half" idx="10"/>
          </p:nvPr>
        </p:nvSpPr>
        <p:spPr/>
        <p:txBody>
          <a:bodyPr/>
          <a:lstStyle/>
          <a:p>
            <a:fld id="{882E0C02-3DAA-4CC2-8CB5-FDA166724BAB}"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27</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457200" y="1752600"/>
                <a:ext cx="8229600" cy="1323439"/>
              </a:xfrm>
              <a:prstGeom prst="rect">
                <a:avLst/>
              </a:prstGeom>
              <a:noFill/>
            </p:spPr>
            <p:txBody>
              <a:bodyPr wrap="square" rtlCol="0">
                <a:spAutoFit/>
              </a:bodyPr>
              <a:lstStyle/>
              <a:p>
                <a:r>
                  <a:rPr lang="en-GB" sz="2000" dirty="0"/>
                  <a:t>Given a set S of clauses, a </a:t>
                </a:r>
                <a:r>
                  <a:rPr lang="en-GB" sz="2000" b="1" dirty="0"/>
                  <a:t>reduction (resolution) </a:t>
                </a:r>
                <a:r>
                  <a:rPr lang="en-GB" sz="2000" dirty="0"/>
                  <a:t>of C from S is a finite sequence </a:t>
                </a:r>
                <a14:m>
                  <m:oMath xmlns:m="http://schemas.openxmlformats.org/officeDocument/2006/math">
                    <m:sSub>
                      <m:sSubPr>
                        <m:ctrlPr>
                          <a:rPr lang="en-GB" sz="2000" i="1" smtClean="0">
                            <a:latin typeface="Cambria Math" panose="02040503050406030204" pitchFamily="18" charset="0"/>
                          </a:rPr>
                        </m:ctrlPr>
                      </m:sSubPr>
                      <m:e>
                        <m:r>
                          <m:rPr>
                            <m:sty m:val="p"/>
                          </m:rPr>
                          <a:rPr lang="en-GB" sz="2000" b="0" i="0" smtClean="0">
                            <a:latin typeface="Cambria Math" panose="02040503050406030204" pitchFamily="18" charset="0"/>
                          </a:rPr>
                          <m:t>C</m:t>
                        </m:r>
                      </m:e>
                      <m:sub>
                        <m:r>
                          <a:rPr lang="en-GB" sz="2000" b="0" i="0" smtClean="0">
                            <a:latin typeface="Cambria Math" panose="02040503050406030204" pitchFamily="18" charset="0"/>
                          </a:rPr>
                          <m:t>1</m:t>
                        </m:r>
                      </m:sub>
                    </m:sSub>
                    <m:r>
                      <a:rPr lang="en-GB" sz="2000" b="0" i="0" smtClean="0">
                        <a:latin typeface="Cambria Math" panose="02040503050406030204" pitchFamily="18" charset="0"/>
                      </a:rPr>
                      <m:t>, </m:t>
                    </m:r>
                    <m:sSub>
                      <m:sSubPr>
                        <m:ctrlPr>
                          <a:rPr lang="en-GB" sz="2000" b="0" i="1" smtClean="0">
                            <a:latin typeface="Cambria Math" panose="02040503050406030204" pitchFamily="18" charset="0"/>
                          </a:rPr>
                        </m:ctrlPr>
                      </m:sSubPr>
                      <m:e>
                        <m:r>
                          <m:rPr>
                            <m:sty m:val="p"/>
                          </m:rPr>
                          <a:rPr lang="en-GB" sz="2000" b="0" i="0" smtClean="0">
                            <a:latin typeface="Cambria Math" panose="02040503050406030204" pitchFamily="18" charset="0"/>
                          </a:rPr>
                          <m:t>C</m:t>
                        </m:r>
                      </m:e>
                      <m:sub>
                        <m:r>
                          <a:rPr lang="en-GB" sz="2000" b="0" i="0" smtClean="0">
                            <a:latin typeface="Cambria Math" panose="02040503050406030204" pitchFamily="18" charset="0"/>
                          </a:rPr>
                          <m:t>2</m:t>
                        </m:r>
                      </m:sub>
                    </m:sSub>
                    <m:r>
                      <a:rPr lang="en-GB" sz="2000" b="0" i="0" smtClean="0">
                        <a:latin typeface="Cambria Math" panose="02040503050406030204" pitchFamily="18" charset="0"/>
                      </a:rPr>
                      <m:t>, </m:t>
                    </m:r>
                    <m:r>
                      <a:rPr lang="en-GB" sz="2000" b="0" i="0" smtClean="0">
                        <a:latin typeface="Cambria Math" panose="02040503050406030204" pitchFamily="18" charset="0"/>
                        <a:ea typeface="Cambria Math" panose="02040503050406030204" pitchFamily="18" charset="0"/>
                      </a:rPr>
                      <m:t>⋯, </m:t>
                    </m:r>
                    <m:sSub>
                      <m:sSubPr>
                        <m:ctrlPr>
                          <a:rPr lang="en-GB" sz="2000" b="0" i="1" smtClean="0">
                            <a:latin typeface="Cambria Math" panose="02040503050406030204" pitchFamily="18" charset="0"/>
                            <a:ea typeface="Cambria Math" panose="02040503050406030204" pitchFamily="18" charset="0"/>
                          </a:rPr>
                        </m:ctrlPr>
                      </m:sSubPr>
                      <m:e>
                        <m:r>
                          <m:rPr>
                            <m:sty m:val="p"/>
                          </m:rPr>
                          <a:rPr lang="en-GB" sz="2000" b="0" i="0" smtClean="0">
                            <a:latin typeface="Cambria Math" panose="02040503050406030204" pitchFamily="18" charset="0"/>
                            <a:ea typeface="Cambria Math" panose="02040503050406030204" pitchFamily="18" charset="0"/>
                          </a:rPr>
                          <m:t>C</m:t>
                        </m:r>
                      </m:e>
                      <m:sub>
                        <m:r>
                          <m:rPr>
                            <m:sty m:val="p"/>
                          </m:rPr>
                          <a:rPr lang="en-GB" sz="2000" b="0" i="0" smtClean="0">
                            <a:latin typeface="Cambria Math" panose="02040503050406030204" pitchFamily="18" charset="0"/>
                            <a:ea typeface="Cambria Math" panose="02040503050406030204" pitchFamily="18" charset="0"/>
                          </a:rPr>
                          <m:t>k</m:t>
                        </m:r>
                      </m:sub>
                    </m:sSub>
                  </m:oMath>
                </a14:m>
                <a:r>
                  <a:rPr lang="en-GB" sz="2000" dirty="0"/>
                  <a:t> of clauses such that each </a:t>
                </a:r>
                <a14:m>
                  <m:oMath xmlns:m="http://schemas.openxmlformats.org/officeDocument/2006/math">
                    <m:sSub>
                      <m:sSubPr>
                        <m:ctrlPr>
                          <a:rPr lang="en-GB" sz="2000" i="1">
                            <a:latin typeface="Cambria Math" panose="02040503050406030204" pitchFamily="18" charset="0"/>
                          </a:rPr>
                        </m:ctrlPr>
                      </m:sSubPr>
                      <m:e>
                        <m:r>
                          <m:rPr>
                            <m:sty m:val="p"/>
                          </m:rPr>
                          <a:rPr lang="en-GB" sz="2000">
                            <a:latin typeface="Cambria Math" panose="02040503050406030204" pitchFamily="18" charset="0"/>
                          </a:rPr>
                          <m:t>C</m:t>
                        </m:r>
                      </m:e>
                      <m:sub>
                        <m:r>
                          <m:rPr>
                            <m:sty m:val="p"/>
                          </m:rPr>
                          <a:rPr lang="en-US" sz="2000" b="0" i="0" smtClean="0">
                            <a:latin typeface="Cambria Math" panose="02040503050406030204" pitchFamily="18" charset="0"/>
                          </a:rPr>
                          <m:t>i</m:t>
                        </m:r>
                      </m:sub>
                    </m:sSub>
                    <m:r>
                      <a:rPr lang="en-GB" sz="2000" i="1">
                        <a:latin typeface="Cambria Math" panose="02040503050406030204" pitchFamily="18" charset="0"/>
                      </a:rPr>
                      <m:t> </m:t>
                    </m:r>
                  </m:oMath>
                </a14:m>
                <a:r>
                  <a:rPr lang="en-GB" sz="2000" dirty="0"/>
                  <a:t>either a clause in S or </a:t>
                </a:r>
                <a:r>
                  <a:rPr lang="en-GB" sz="2000" dirty="0" err="1"/>
                  <a:t>resolvent</a:t>
                </a:r>
                <a:r>
                  <a:rPr lang="en-GB" sz="2000" dirty="0"/>
                  <a:t> of clauses preceding </a:t>
                </a:r>
                <a14:m>
                  <m:oMath xmlns:m="http://schemas.openxmlformats.org/officeDocument/2006/math">
                    <m:sSub>
                      <m:sSubPr>
                        <m:ctrlPr>
                          <a:rPr lang="en-GB" sz="2000" i="1">
                            <a:latin typeface="Cambria Math" panose="02040503050406030204" pitchFamily="18" charset="0"/>
                          </a:rPr>
                        </m:ctrlPr>
                      </m:sSubPr>
                      <m:e>
                        <m:r>
                          <m:rPr>
                            <m:sty m:val="p"/>
                          </m:rPr>
                          <a:rPr lang="en-GB" sz="2000">
                            <a:latin typeface="Cambria Math" panose="02040503050406030204" pitchFamily="18" charset="0"/>
                          </a:rPr>
                          <m:t>C</m:t>
                        </m:r>
                      </m:e>
                      <m:sub>
                        <m:r>
                          <m:rPr>
                            <m:sty m:val="p"/>
                          </m:rPr>
                          <a:rPr lang="en-US" sz="2000">
                            <a:latin typeface="Cambria Math" panose="02040503050406030204" pitchFamily="18" charset="0"/>
                          </a:rPr>
                          <m:t>i</m:t>
                        </m:r>
                      </m:sub>
                    </m:sSub>
                  </m:oMath>
                </a14:m>
                <a:r>
                  <a:rPr lang="en-GB" sz="2000" dirty="0"/>
                  <a:t>; and </a:t>
                </a:r>
                <a14:m>
                  <m:oMath xmlns:m="http://schemas.openxmlformats.org/officeDocument/2006/math">
                    <m:sSub>
                      <m:sSubPr>
                        <m:ctrlPr>
                          <a:rPr lang="en-GB" sz="2000" i="1">
                            <a:latin typeface="Cambria Math" panose="02040503050406030204" pitchFamily="18" charset="0"/>
                            <a:ea typeface="Cambria Math" panose="02040503050406030204" pitchFamily="18" charset="0"/>
                          </a:rPr>
                        </m:ctrlPr>
                      </m:sSubPr>
                      <m:e>
                        <m:r>
                          <m:rPr>
                            <m:sty m:val="p"/>
                          </m:rPr>
                          <a:rPr lang="en-GB" sz="2000" i="0">
                            <a:latin typeface="Cambria Math" panose="02040503050406030204" pitchFamily="18" charset="0"/>
                            <a:ea typeface="Cambria Math" panose="02040503050406030204" pitchFamily="18" charset="0"/>
                          </a:rPr>
                          <m:t>C</m:t>
                        </m:r>
                      </m:e>
                      <m:sub>
                        <m:r>
                          <m:rPr>
                            <m:sty m:val="p"/>
                          </m:rPr>
                          <a:rPr lang="en-GB" sz="2000" i="0">
                            <a:latin typeface="Cambria Math" panose="02040503050406030204" pitchFamily="18" charset="0"/>
                            <a:ea typeface="Cambria Math" panose="02040503050406030204" pitchFamily="18" charset="0"/>
                          </a:rPr>
                          <m:t>k</m:t>
                        </m:r>
                      </m:sub>
                    </m:sSub>
                    <m:r>
                      <a:rPr lang="en-GB" sz="2000" b="0" i="0" smtClean="0">
                        <a:latin typeface="Cambria Math" panose="02040503050406030204" pitchFamily="18" charset="0"/>
                        <a:ea typeface="Cambria Math" panose="02040503050406030204" pitchFamily="18" charset="0"/>
                      </a:rPr>
                      <m:t>=</m:t>
                    </m:r>
                    <m:r>
                      <m:rPr>
                        <m:sty m:val="p"/>
                      </m:rPr>
                      <a:rPr lang="en-GB" sz="2000" b="0" i="0" smtClean="0">
                        <a:latin typeface="Cambria Math" panose="02040503050406030204" pitchFamily="18" charset="0"/>
                        <a:ea typeface="Cambria Math" panose="02040503050406030204" pitchFamily="18" charset="0"/>
                      </a:rPr>
                      <m:t>C</m:t>
                    </m:r>
                    <m:r>
                      <a:rPr lang="en-GB" sz="2000" b="0" i="1" smtClean="0">
                        <a:latin typeface="Cambria Math" panose="02040503050406030204" pitchFamily="18" charset="0"/>
                        <a:ea typeface="Cambria Math" panose="02040503050406030204" pitchFamily="18" charset="0"/>
                      </a:rPr>
                      <m:t>.</m:t>
                    </m:r>
                  </m:oMath>
                </a14:m>
                <a:endParaRPr lang="en-GB" sz="2000" dirty="0"/>
              </a:p>
              <a:p>
                <a:r>
                  <a:rPr lang="en-GB" sz="2000" dirty="0"/>
                  <a:t>A deduction of </a:t>
                </a:r>
                <a:r>
                  <a:rPr lang="en-GB" sz="2000" dirty="0">
                    <a:latin typeface="Courier New" panose="02070309020205020404" pitchFamily="49" charset="0"/>
                    <a:cs typeface="Courier New" panose="02070309020205020404" pitchFamily="49" charset="0"/>
                  </a:rPr>
                  <a:t>□ </a:t>
                </a:r>
                <a:r>
                  <a:rPr lang="en-GB" sz="2000" dirty="0"/>
                  <a:t>(empty clause) from S is called a </a:t>
                </a:r>
                <a:r>
                  <a:rPr lang="en-GB" sz="2000" b="1" dirty="0"/>
                  <a:t>refutation</a:t>
                </a:r>
                <a:r>
                  <a:rPr lang="en-GB" sz="2000" dirty="0"/>
                  <a:t> or a </a:t>
                </a:r>
                <a:r>
                  <a:rPr lang="en-GB" sz="2000" b="1" dirty="0"/>
                  <a:t>proof</a:t>
                </a:r>
                <a:r>
                  <a:rPr lang="en-GB" sz="2000" dirty="0"/>
                  <a:t> of S.</a:t>
                </a:r>
              </a:p>
            </p:txBody>
          </p:sp>
        </mc:Choice>
        <mc:Fallback xmlns="">
          <p:sp>
            <p:nvSpPr>
              <p:cNvPr id="7" name="TextBox 6"/>
              <p:cNvSpPr txBox="1">
                <a:spLocks noRot="1" noChangeAspect="1" noMove="1" noResize="1" noEditPoints="1" noAdjustHandles="1" noChangeArrowheads="1" noChangeShapeType="1" noTextEdit="1"/>
              </p:cNvSpPr>
              <p:nvPr/>
            </p:nvSpPr>
            <p:spPr>
              <a:xfrm>
                <a:off x="457200" y="1752600"/>
                <a:ext cx="8229600" cy="1323439"/>
              </a:xfrm>
              <a:prstGeom prst="rect">
                <a:avLst/>
              </a:prstGeom>
              <a:blipFill>
                <a:blip r:embed="rId2"/>
                <a:stretch>
                  <a:fillRect l="-741" t="-2765" b="-73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33400" y="4038600"/>
                <a:ext cx="1981200" cy="1477328"/>
              </a:xfrm>
              <a:prstGeom prst="rect">
                <a:avLst/>
              </a:prstGeom>
            </p:spPr>
            <p:txBody>
              <a:bodyPr wrap="square">
                <a:spAutoFit/>
              </a:bodyPr>
              <a:lstStyle/>
              <a:p>
                <a:r>
                  <a:rPr lang="en-US" b="1" dirty="0"/>
                  <a:t>Modus </a:t>
                </a:r>
                <a:r>
                  <a:rPr lang="en-US" b="1" dirty="0" err="1"/>
                  <a:t>Tollens</a:t>
                </a:r>
                <a:r>
                  <a:rPr lang="en-US" b="1" dirty="0"/>
                  <a:t> </a:t>
                </a:r>
              </a:p>
              <a:p>
                <a14:m>
                  <m:oMath xmlns:m="http://schemas.openxmlformats.org/officeDocument/2006/math">
                    <m:r>
                      <a:rPr lang="en-US" i="1"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q</m:t>
                    </m:r>
                  </m:oMath>
                </a14:m>
                <a:r>
                  <a:rPr lang="en-US" dirty="0"/>
                  <a:t>                          </a:t>
                </a:r>
              </a:p>
              <a:p>
                <a:r>
                  <a:rPr lang="en-US" dirty="0"/>
                  <a:t>p → q </a:t>
                </a:r>
              </a:p>
              <a:p>
                <a:r>
                  <a:rPr lang="en-US" dirty="0"/>
                  <a:t>-----------</a:t>
                </a:r>
              </a:p>
              <a:p>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𝑝</m:t>
                    </m:r>
                  </m:oMath>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533400" y="4038600"/>
                <a:ext cx="1981200" cy="1477328"/>
              </a:xfrm>
              <a:prstGeom prst="rect">
                <a:avLst/>
              </a:prstGeom>
              <a:blipFill rotWithShape="0">
                <a:blip r:embed="rId3"/>
                <a:stretch>
                  <a:fillRect l="-2769" t="-2479" b="-495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438400" y="4286071"/>
                <a:ext cx="1905000" cy="12003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0"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q</m:t>
                      </m:r>
                    </m:oMath>
                  </m:oMathPara>
                </a14:m>
                <a:endParaRPr lang="en-GB" dirty="0"/>
              </a:p>
              <a:p>
                <a14:m>
                  <m:oMath xmlns:m="http://schemas.openxmlformats.org/officeDocument/2006/math">
                    <m:r>
                      <a:rPr lang="en-GB" i="0" smtClean="0">
                        <a:latin typeface="Cambria Math" panose="02040503050406030204" pitchFamily="18" charset="0"/>
                        <a:ea typeface="Cambria Math" panose="02040503050406030204" pitchFamily="18" charset="0"/>
                      </a:rPr>
                      <m:t>≡</m:t>
                    </m:r>
                    <m:r>
                      <a:rPr lang="en-GB" b="0" i="0" smtClean="0">
                        <a:latin typeface="Cambria Math" panose="02040503050406030204" pitchFamily="18" charset="0"/>
                        <a:ea typeface="Cambria Math" panose="02040503050406030204" pitchFamily="18" charset="0"/>
                      </a:rPr>
                      <m:t>        ¬</m:t>
                    </m:r>
                    <m:r>
                      <m:rPr>
                        <m:sty m:val="p"/>
                      </m:rPr>
                      <a:rPr lang="en-GB" b="0" i="0" smtClean="0">
                        <a:latin typeface="Cambria Math" panose="02040503050406030204" pitchFamily="18" charset="0"/>
                        <a:ea typeface="Cambria Math" panose="02040503050406030204" pitchFamily="18" charset="0"/>
                      </a:rPr>
                      <m:t>p</m:t>
                    </m:r>
                    <m:r>
                      <a:rPr lang="en-GB" i="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q</m:t>
                    </m:r>
                  </m:oMath>
                </a14:m>
                <a:r>
                  <a:rPr lang="en-GB" dirty="0"/>
                  <a:t> </a:t>
                </a:r>
              </a:p>
              <a:p>
                <a:r>
                  <a:rPr lang="en-GB" dirty="0"/>
                  <a:t>         ------------</a:t>
                </a:r>
              </a:p>
              <a:p>
                <a:r>
                  <a:rPr lang="en-US" b="1" dirty="0"/>
                  <a:t>           </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p</m:t>
                    </m:r>
                  </m:oMath>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2438400" y="4286071"/>
                <a:ext cx="1905000" cy="1200329"/>
              </a:xfrm>
              <a:prstGeom prst="rect">
                <a:avLst/>
              </a:prstGeom>
              <a:blipFill rotWithShape="0">
                <a:blip r:embed="rId4"/>
                <a:stretch>
                  <a:fillRect b="-659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715000" y="4267200"/>
                <a:ext cx="2590800" cy="1754326"/>
              </a:xfrm>
              <a:prstGeom prst="rect">
                <a:avLst/>
              </a:prstGeom>
              <a:noFill/>
            </p:spPr>
            <p:txBody>
              <a:bodyPr wrap="square" rtlCol="0">
                <a:spAutoFit/>
              </a:bodyPr>
              <a:lstStyle/>
              <a:p>
                <a:r>
                  <a:rPr lang="en-GB" b="0" i="0" dirty="0">
                    <a:latin typeface="Cambria Math" panose="02040503050406030204" pitchFamily="18" charset="0"/>
                    <a:ea typeface="Cambria Math" panose="02040503050406030204" pitchFamily="18" charset="0"/>
                  </a:rPr>
                  <a:t>Proof of Modus </a:t>
                </a:r>
                <a:r>
                  <a:rPr lang="en-GB" b="0" i="0" dirty="0" err="1">
                    <a:latin typeface="Cambria Math" panose="02040503050406030204" pitchFamily="18" charset="0"/>
                    <a:ea typeface="Cambria Math" panose="02040503050406030204" pitchFamily="18" charset="0"/>
                  </a:rPr>
                  <a:t>Tollens</a:t>
                </a:r>
                <a:endParaRPr lang="en-GB"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b="0" i="0"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q</m:t>
                      </m:r>
                    </m:oMath>
                  </m:oMathPara>
                </a14:m>
                <a:endParaRPr lang="en-GB" dirty="0"/>
              </a:p>
              <a:p>
                <a14:m>
                  <m:oMath xmlns:m="http://schemas.openxmlformats.org/officeDocument/2006/math">
                    <m:r>
                      <a:rPr lang="en-GB">
                        <a:latin typeface="Cambria Math" panose="02040503050406030204" pitchFamily="18" charset="0"/>
                        <a:ea typeface="Cambria Math" panose="02040503050406030204" pitchFamily="18" charset="0"/>
                      </a:rPr>
                      <m:t> </m:t>
                    </m:r>
                    <m:r>
                      <a:rPr lang="en-GB" b="0" i="0" smtClean="0">
                        <a:latin typeface="Cambria Math" panose="02040503050406030204" pitchFamily="18" charset="0"/>
                        <a:ea typeface="Cambria Math" panose="02040503050406030204" pitchFamily="18" charset="0"/>
                      </a:rPr>
                      <m:t>               ¬</m:t>
                    </m:r>
                    <m:r>
                      <m:rPr>
                        <m:sty m:val="p"/>
                      </m:rPr>
                      <a:rPr lang="en-GB" b="0" i="0" smtClean="0">
                        <a:latin typeface="Cambria Math" panose="02040503050406030204" pitchFamily="18" charset="0"/>
                        <a:ea typeface="Cambria Math" panose="02040503050406030204" pitchFamily="18" charset="0"/>
                      </a:rPr>
                      <m:t>p</m:t>
                    </m:r>
                    <m:r>
                      <a:rPr lang="en-GB" i="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q</m:t>
                    </m:r>
                  </m:oMath>
                </a14:m>
                <a:r>
                  <a:rPr lang="en-GB" dirty="0"/>
                  <a:t> </a:t>
                </a:r>
              </a:p>
              <a:p>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ea typeface="Cambria Math" panose="02040503050406030204" pitchFamily="18" charset="0"/>
                        </a:rPr>
                        <m:t>p</m:t>
                      </m:r>
                    </m:oMath>
                  </m:oMathPara>
                </a14:m>
                <a:endParaRPr lang="en-GB" dirty="0"/>
              </a:p>
              <a:p>
                <a:r>
                  <a:rPr lang="en-GB" dirty="0"/>
                  <a:t>             ------------</a:t>
                </a:r>
              </a:p>
              <a:p>
                <a:r>
                  <a:rPr lang="en-US" b="1" dirty="0"/>
                  <a:t>                </a:t>
                </a:r>
                <a:r>
                  <a:rPr lang="en-US" dirty="0"/>
                  <a:t>∴ </a:t>
                </a:r>
                <a:r>
                  <a:rPr lang="en-GB" dirty="0">
                    <a:latin typeface="Courier New" panose="02070309020205020404" pitchFamily="49" charset="0"/>
                    <a:cs typeface="Courier New" panose="02070309020205020404" pitchFamily="49" charset="0"/>
                  </a:rPr>
                  <a:t>□</a:t>
                </a:r>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5715000" y="4267200"/>
                <a:ext cx="2590800" cy="1754326"/>
              </a:xfrm>
              <a:prstGeom prst="rect">
                <a:avLst/>
              </a:prstGeom>
              <a:blipFill rotWithShape="0">
                <a:blip r:embed="rId5"/>
                <a:stretch>
                  <a:fillRect l="-2118" t="-2083" b="-4861"/>
                </a:stretch>
              </a:blipFill>
            </p:spPr>
            <p:txBody>
              <a:bodyPr/>
              <a:lstStyle/>
              <a:p>
                <a:r>
                  <a:rPr lang="en-GB">
                    <a:noFill/>
                  </a:rPr>
                  <a:t> </a:t>
                </a:r>
              </a:p>
            </p:txBody>
          </p:sp>
        </mc:Fallback>
      </mc:AlternateContent>
    </p:spTree>
    <p:extLst>
      <p:ext uri="{BB962C8B-B14F-4D97-AF65-F5344CB8AC3E}">
        <p14:creationId xmlns:p14="http://schemas.microsoft.com/office/powerpoint/2010/main" val="1128629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 (Revisit)</a:t>
            </a:r>
          </a:p>
        </p:txBody>
      </p:sp>
      <p:sp>
        <p:nvSpPr>
          <p:cNvPr id="4" name="Date Placeholder 3"/>
          <p:cNvSpPr>
            <a:spLocks noGrp="1"/>
          </p:cNvSpPr>
          <p:nvPr>
            <p:ph type="dt" sz="half" idx="10"/>
          </p:nvPr>
        </p:nvSpPr>
        <p:spPr/>
        <p:txBody>
          <a:bodyPr/>
          <a:lstStyle/>
          <a:p>
            <a:fld id="{A5CAC47C-0C6A-4B4F-9D74-348518A2F36F}" type="datetime3">
              <a:rPr lang="en-US" smtClean="0"/>
              <a:t>19 May 2025</a:t>
            </a:fld>
            <a:endParaRPr lang="en-US"/>
          </a:p>
        </p:txBody>
      </p:sp>
      <p:sp>
        <p:nvSpPr>
          <p:cNvPr id="5" name="Footer Placeholder 4"/>
          <p:cNvSpPr>
            <a:spLocks noGrp="1"/>
          </p:cNvSpPr>
          <p:nvPr>
            <p:ph type="ftr" sz="quarter" idx="11"/>
          </p:nvPr>
        </p:nvSpPr>
        <p:spPr/>
        <p:txBody>
          <a:bodyPr/>
          <a:lstStyle/>
          <a:p>
            <a:r>
              <a:rPr lang="en-US"/>
              <a:t>SCS 1302   Discrete Mathematics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28</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267628" y="1752600"/>
                <a:ext cx="3770972" cy="2246769"/>
              </a:xfrm>
              <a:prstGeom prst="rect">
                <a:avLst/>
              </a:prstGeom>
              <a:noFill/>
            </p:spPr>
            <p:txBody>
              <a:bodyPr wrap="square" rtlCol="0">
                <a:spAutoFit/>
              </a:bodyPr>
              <a:lstStyle/>
              <a:p>
                <a:r>
                  <a:rPr lang="en-US" sz="2000" dirty="0"/>
                  <a:t>Consider the valid</a:t>
                </a:r>
              </a:p>
              <a:p>
                <a:r>
                  <a:rPr lang="en-US" sz="2000" dirty="0"/>
                  <a:t> argument:</a:t>
                </a:r>
              </a:p>
              <a:p>
                <a:pPr/>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p</m:t>
                      </m:r>
                      <m:r>
                        <a:rPr lang="en-US" sz="2000" b="0" i="0" smtClean="0">
                          <a:latin typeface="Cambria Math" panose="02040503050406030204" pitchFamily="18" charset="0"/>
                        </a:rPr>
                        <m:t> →</m:t>
                      </m:r>
                      <m:d>
                        <m:dPr>
                          <m:ctrlPr>
                            <a:rPr lang="en-US" sz="2000" b="0" i="1" smtClean="0">
                              <a:latin typeface="Cambria Math" panose="02040503050406030204" pitchFamily="18" charset="0"/>
                              <a:ea typeface="Cambria Math" panose="02040503050406030204" pitchFamily="18" charset="0"/>
                            </a:rPr>
                          </m:ctrlPr>
                        </m:dPr>
                        <m:e>
                          <m:r>
                            <m:rPr>
                              <m:sty m:val="p"/>
                            </m:rPr>
                            <a:rPr lang="en-US" sz="2000" b="0" i="0" smtClean="0">
                              <a:latin typeface="Cambria Math" panose="02040503050406030204" pitchFamily="18" charset="0"/>
                              <a:ea typeface="Cambria Math" panose="02040503050406030204" pitchFamily="18" charset="0"/>
                            </a:rPr>
                            <m:t>q</m:t>
                          </m:r>
                          <m:r>
                            <a:rPr lang="en-US" sz="2000" b="0" i="0" smtClean="0">
                              <a:latin typeface="Cambria Math" panose="02040503050406030204" pitchFamily="18" charset="0"/>
                              <a:ea typeface="Cambria Math" panose="02040503050406030204" pitchFamily="18" charset="0"/>
                            </a:rPr>
                            <m:t>∨</m:t>
                          </m:r>
                          <m:r>
                            <m:rPr>
                              <m:sty m:val="p"/>
                            </m:rPr>
                            <a:rPr lang="en-GB" sz="2000" b="0" i="0" smtClean="0">
                              <a:latin typeface="Cambria Math" panose="02040503050406030204" pitchFamily="18" charset="0"/>
                              <a:ea typeface="Cambria Math" panose="02040503050406030204" pitchFamily="18" charset="0"/>
                            </a:rPr>
                            <m:t>r</m:t>
                          </m:r>
                        </m:e>
                      </m:d>
                    </m:oMath>
                  </m:oMathPara>
                </a14:m>
                <a:endParaRPr lang="en-GB" sz="20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GB" sz="2000" b="0" i="0" smtClean="0">
                          <a:latin typeface="Cambria Math" panose="02040503050406030204" pitchFamily="18" charset="0"/>
                          <a:ea typeface="Cambria Math" panose="02040503050406030204" pitchFamily="18" charset="0"/>
                        </a:rPr>
                        <m:t>s</m:t>
                      </m:r>
                      <m:r>
                        <a:rPr lang="en-US" sz="2000" b="0" i="0" smtClean="0">
                          <a:latin typeface="Cambria Math" panose="02040503050406030204" pitchFamily="18" charset="0"/>
                          <a:ea typeface="Cambria Math" panose="02040503050406030204" pitchFamily="18" charset="0"/>
                        </a:rPr>
                        <m:t> →¬</m:t>
                      </m:r>
                      <m:r>
                        <m:rPr>
                          <m:sty m:val="p"/>
                        </m:rPr>
                        <a:rPr lang="en-US" sz="2000" b="0" i="0" smtClean="0">
                          <a:latin typeface="Cambria Math" panose="02040503050406030204" pitchFamily="18" charset="0"/>
                          <a:ea typeface="Cambria Math" panose="02040503050406030204" pitchFamily="18" charset="0"/>
                        </a:rPr>
                        <m:t>r</m:t>
                      </m:r>
                    </m:oMath>
                  </m:oMathPara>
                </a14:m>
                <a:endParaRPr lang="en-GB" sz="20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GB" sz="2000" b="0" i="0" smtClean="0">
                          <a:latin typeface="Cambria Math" panose="02040503050406030204" pitchFamily="18" charset="0"/>
                        </a:rPr>
                        <m:t>p</m:t>
                      </m:r>
                      <m:r>
                        <a:rPr lang="en-US" sz="2000" i="0">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ea typeface="Cambria Math" panose="02040503050406030204" pitchFamily="18" charset="0"/>
                        </a:rPr>
                        <m:t>s</m:t>
                      </m:r>
                    </m:oMath>
                  </m:oMathPara>
                </a14:m>
                <a:endParaRPr lang="en-GB" sz="20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000" b="0" i="0" smtClean="0">
                          <a:latin typeface="Cambria Math" panose="02040503050406030204" pitchFamily="18" charset="0"/>
                        </a:rPr>
                        <m:t>−−−−−−</m:t>
                      </m:r>
                    </m:oMath>
                  </m:oMathPara>
                </a14:m>
                <a:endParaRPr lang="en-GB" sz="2000"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000" i="0" smtClean="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  </m:t>
                      </m:r>
                      <m:r>
                        <m:rPr>
                          <m:sty m:val="p"/>
                        </m:rPr>
                        <a:rPr lang="en-US" sz="2000" b="0" i="0" smtClean="0">
                          <a:latin typeface="Cambria Math" panose="02040503050406030204" pitchFamily="18" charset="0"/>
                          <a:ea typeface="Cambria Math" panose="02040503050406030204" pitchFamily="18" charset="0"/>
                        </a:rPr>
                        <m:t>q</m:t>
                      </m:r>
                      <m:r>
                        <a:rPr lang="en-US" sz="2000" b="0" i="0" smtClean="0">
                          <a:latin typeface="Cambria Math" panose="02040503050406030204" pitchFamily="18" charset="0"/>
                          <a:ea typeface="Cambria Math" panose="02040503050406030204" pitchFamily="18" charset="0"/>
                        </a:rPr>
                        <m:t> </m:t>
                      </m:r>
                    </m:oMath>
                  </m:oMathPara>
                </a14:m>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267628" y="1752600"/>
                <a:ext cx="3770972" cy="2246769"/>
              </a:xfrm>
              <a:prstGeom prst="rect">
                <a:avLst/>
              </a:prstGeom>
              <a:blipFill rotWithShape="0">
                <a:blip r:embed="rId2"/>
                <a:stretch>
                  <a:fillRect l="-1777" t="-1359" b="-108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524000" y="2512874"/>
                <a:ext cx="1905000" cy="17543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0"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p</m:t>
                      </m:r>
                      <m:r>
                        <a:rPr lang="en-GB" b="0" i="0"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m:t>
                      </m:r>
                      <m:r>
                        <m:rPr>
                          <m:sty m:val="p"/>
                        </m:rPr>
                        <a:rPr lang="en-US" i="0">
                          <a:latin typeface="Cambria Math" panose="02040503050406030204" pitchFamily="18" charset="0"/>
                          <a:ea typeface="Cambria Math" panose="02040503050406030204" pitchFamily="18" charset="0"/>
                        </a:rPr>
                        <m:t>q</m:t>
                      </m:r>
                      <m:r>
                        <a:rPr lang="en-US" i="0">
                          <a:latin typeface="Cambria Math" panose="02040503050406030204" pitchFamily="18" charset="0"/>
                          <a:ea typeface="Cambria Math" panose="02040503050406030204" pitchFamily="18" charset="0"/>
                        </a:rPr>
                        <m:t>∨</m:t>
                      </m:r>
                      <m:r>
                        <m:rPr>
                          <m:sty m:val="p"/>
                        </m:rPr>
                        <a:rPr lang="en-GB" i="0">
                          <a:latin typeface="Cambria Math" panose="02040503050406030204" pitchFamily="18" charset="0"/>
                          <a:ea typeface="Cambria Math" panose="02040503050406030204" pitchFamily="18" charset="0"/>
                        </a:rPr>
                        <m:t>r</m:t>
                      </m:r>
                    </m:oMath>
                  </m:oMathPara>
                </a14:m>
                <a:endParaRPr lang="en-GB" dirty="0"/>
              </a:p>
              <a:p>
                <a14:m>
                  <m:oMath xmlns:m="http://schemas.openxmlformats.org/officeDocument/2006/math">
                    <m:r>
                      <a:rPr lang="en-GB" i="0" smtClean="0">
                        <a:latin typeface="Cambria Math" panose="02040503050406030204" pitchFamily="18" charset="0"/>
                        <a:ea typeface="Cambria Math" panose="02040503050406030204" pitchFamily="18" charset="0"/>
                      </a:rPr>
                      <m:t>≡</m:t>
                    </m:r>
                    <m:r>
                      <a:rPr lang="en-GB" b="0" i="0" smtClean="0">
                        <a:latin typeface="Cambria Math" panose="02040503050406030204" pitchFamily="18" charset="0"/>
                        <a:ea typeface="Cambria Math" panose="02040503050406030204" pitchFamily="18" charset="0"/>
                      </a:rPr>
                      <m:t>        ¬</m:t>
                    </m:r>
                    <m:r>
                      <m:rPr>
                        <m:sty m:val="p"/>
                      </m:rPr>
                      <a:rPr lang="en-GB" b="0" i="0" smtClean="0">
                        <a:latin typeface="Cambria Math" panose="02040503050406030204" pitchFamily="18" charset="0"/>
                        <a:ea typeface="Cambria Math" panose="02040503050406030204" pitchFamily="18" charset="0"/>
                      </a:rPr>
                      <m:t>s</m:t>
                    </m:r>
                    <m:r>
                      <a:rPr lang="en-GB" i="0">
                        <a:latin typeface="Cambria Math" panose="02040503050406030204" pitchFamily="18" charset="0"/>
                        <a:ea typeface="Cambria Math" panose="02040503050406030204" pitchFamily="18" charset="0"/>
                      </a:rPr>
                      <m:t>∨</m:t>
                    </m:r>
                    <m:r>
                      <a:rPr lang="en-GB" i="0" smtClean="0">
                        <a:latin typeface="Cambria Math" panose="02040503050406030204" pitchFamily="18" charset="0"/>
                        <a:ea typeface="Cambria Math" panose="02040503050406030204" pitchFamily="18" charset="0"/>
                      </a:rPr>
                      <m:t>¬</m:t>
                    </m:r>
                    <m:r>
                      <m:rPr>
                        <m:sty m:val="p"/>
                      </m:rPr>
                      <a:rPr lang="en-GB" b="0" i="0" smtClean="0">
                        <a:latin typeface="Cambria Math" panose="02040503050406030204" pitchFamily="18" charset="0"/>
                        <a:ea typeface="Cambria Math" panose="02040503050406030204" pitchFamily="18" charset="0"/>
                      </a:rPr>
                      <m:t>r</m:t>
                    </m:r>
                  </m:oMath>
                </a14:m>
                <a:r>
                  <a:rPr lang="en-GB" dirty="0"/>
                  <a:t> </a:t>
                </a:r>
              </a:p>
              <a:p>
                <a:r>
                  <a:rPr lang="en-GB" dirty="0"/>
                  <a:t>             </a:t>
                </a:r>
                <a14:m>
                  <m:oMath xmlns:m="http://schemas.openxmlformats.org/officeDocument/2006/math">
                    <m:r>
                      <m:rPr>
                        <m:sty m:val="p"/>
                      </m:rPr>
                      <a:rPr lang="en-GB" b="0" i="0" smtClean="0">
                        <a:latin typeface="Cambria Math" panose="02040503050406030204" pitchFamily="18" charset="0"/>
                      </a:rPr>
                      <m:t>p</m:t>
                    </m:r>
                  </m:oMath>
                </a14:m>
                <a:endParaRPr lang="en-GB" dirty="0"/>
              </a:p>
              <a:p>
                <a:r>
                  <a:rPr lang="en-GB" dirty="0"/>
                  <a:t>           </a:t>
                </a:r>
                <a14:m>
                  <m:oMath xmlns:m="http://schemas.openxmlformats.org/officeDocument/2006/math">
                    <m:r>
                      <a:rPr lang="en-GB" b="0" i="0" smtClean="0">
                        <a:latin typeface="Cambria Math" panose="02040503050406030204" pitchFamily="18" charset="0"/>
                      </a:rPr>
                      <m:t>  </m:t>
                    </m:r>
                    <m:r>
                      <m:rPr>
                        <m:sty m:val="p"/>
                      </m:rPr>
                      <a:rPr lang="en-GB" b="0" i="0" smtClean="0">
                        <a:latin typeface="Cambria Math" panose="02040503050406030204" pitchFamily="18" charset="0"/>
                      </a:rPr>
                      <m:t>s</m:t>
                    </m:r>
                  </m:oMath>
                </a14:m>
                <a:endParaRPr lang="en-GB" dirty="0"/>
              </a:p>
              <a:p>
                <a:r>
                  <a:rPr lang="en-GB" dirty="0"/>
                  <a:t>        ------------</a:t>
                </a:r>
              </a:p>
              <a:p>
                <a:r>
                  <a:rPr lang="en-US" b="1" dirty="0"/>
                  <a:t>           </a:t>
                </a:r>
                <a:r>
                  <a:rPr lang="en-US" i="1" dirty="0"/>
                  <a:t>∴ </a:t>
                </a:r>
                <a14:m>
                  <m:oMath xmlns:m="http://schemas.openxmlformats.org/officeDocument/2006/math">
                    <m:r>
                      <a:rPr lang="en-GB" b="0" i="1" smtClean="0">
                        <a:latin typeface="Cambria Math" panose="02040503050406030204" pitchFamily="18" charset="0"/>
                      </a:rPr>
                      <m:t>𝑞</m:t>
                    </m:r>
                  </m:oMath>
                </a14:m>
                <a:r>
                  <a:rPr lang="en-US" i="1" dirty="0"/>
                  <a:t> </a:t>
                </a:r>
              </a:p>
            </p:txBody>
          </p:sp>
        </mc:Choice>
        <mc:Fallback xmlns="">
          <p:sp>
            <p:nvSpPr>
              <p:cNvPr id="8" name="TextBox 7"/>
              <p:cNvSpPr txBox="1">
                <a:spLocks noRot="1" noChangeAspect="1" noMove="1" noResize="1" noEditPoints="1" noAdjustHandles="1" noChangeArrowheads="1" noChangeShapeType="1" noTextEdit="1"/>
              </p:cNvSpPr>
              <p:nvPr/>
            </p:nvSpPr>
            <p:spPr>
              <a:xfrm>
                <a:off x="1524000" y="2512874"/>
                <a:ext cx="1905000" cy="1754326"/>
              </a:xfrm>
              <a:prstGeom prst="rect">
                <a:avLst/>
              </a:prstGeom>
              <a:blipFill rotWithShape="0">
                <a:blip r:embed="rId3"/>
                <a:stretch>
                  <a:fillRect b="-41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326027086"/>
                  </p:ext>
                </p:extLst>
              </p:nvPr>
            </p:nvGraphicFramePr>
            <p:xfrm>
              <a:off x="3352800" y="1600200"/>
              <a:ext cx="5715000" cy="100584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42900">
                    <a:tc>
                      <a:txBody>
                        <a:bodyPr/>
                        <a:lstStyle/>
                        <a:p>
                          <a:r>
                            <a:rPr lang="en-US" sz="1800" dirty="0"/>
                            <a:t>Step</a:t>
                          </a:r>
                        </a:p>
                      </a:txBody>
                      <a:tcPr/>
                    </a:tc>
                    <a:tc>
                      <a:txBody>
                        <a:bodyPr/>
                        <a:lstStyle/>
                        <a:p>
                          <a:r>
                            <a:rPr lang="en-US" sz="1800" dirty="0"/>
                            <a:t>Reason</a:t>
                          </a:r>
                        </a:p>
                      </a:txBody>
                      <a:tcPr/>
                    </a:tc>
                    <a:extLst>
                      <a:ext uri="{0D108BD9-81ED-4DB2-BD59-A6C34878D82A}">
                        <a16:rowId xmlns:a16="http://schemas.microsoft.com/office/drawing/2014/main" val="10000"/>
                      </a:ext>
                    </a:extLst>
                  </a:tr>
                  <a:tr h="342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lt1"/>
                              </a:solidFill>
                              <a:latin typeface="+mn-lt"/>
                              <a:ea typeface="+mn-ea"/>
                              <a:cs typeface="+mn-cs"/>
                            </a:rPr>
                            <a:t>1.</a:t>
                          </a:r>
                          <a14:m>
                            <m:oMath xmlns:m="http://schemas.openxmlformats.org/officeDocument/2006/math">
                              <m:r>
                                <a:rPr lang="en-GB" sz="1800" b="1" kern="1200" smtClean="0">
                                  <a:solidFill>
                                    <a:schemeClr val="lt1"/>
                                  </a:solidFill>
                                  <a:latin typeface="Cambria Math" panose="02040503050406030204" pitchFamily="18" charset="0"/>
                                  <a:ea typeface="+mn-ea"/>
                                  <a:cs typeface="+mn-cs"/>
                                </a:rPr>
                                <m:t>¬</m:t>
                              </m:r>
                              <m:r>
                                <a:rPr lang="en-GB" sz="1800" b="1" i="1" kern="1200" smtClean="0">
                                  <a:solidFill>
                                    <a:schemeClr val="lt1"/>
                                  </a:solidFill>
                                  <a:latin typeface="Cambria Math" panose="02040503050406030204" pitchFamily="18" charset="0"/>
                                  <a:ea typeface="+mn-ea"/>
                                  <a:cs typeface="+mn-cs"/>
                                </a:rPr>
                                <m:t>𝐩</m:t>
                              </m:r>
                              <m:r>
                                <a:rPr lang="en-GB" sz="1800" b="1" kern="1200" smtClean="0">
                                  <a:solidFill>
                                    <a:schemeClr val="lt1"/>
                                  </a:solidFill>
                                  <a:latin typeface="Cambria Math" panose="02040503050406030204" pitchFamily="18" charset="0"/>
                                  <a:ea typeface="+mn-ea"/>
                                  <a:cs typeface="+mn-cs"/>
                                </a:rPr>
                                <m:t> </m:t>
                              </m:r>
                              <m:r>
                                <a:rPr lang="en-US" sz="1800" b="1" kern="1200">
                                  <a:solidFill>
                                    <a:schemeClr val="lt1"/>
                                  </a:solidFill>
                                  <a:latin typeface="Cambria Math" panose="02040503050406030204" pitchFamily="18" charset="0"/>
                                  <a:ea typeface="+mn-ea"/>
                                  <a:cs typeface="+mn-cs"/>
                                </a:rPr>
                                <m:t>∨</m:t>
                              </m:r>
                              <m:r>
                                <a:rPr lang="en-US" sz="1800" b="1" i="1" kern="1200">
                                  <a:solidFill>
                                    <a:schemeClr val="lt1"/>
                                  </a:solidFill>
                                  <a:latin typeface="Cambria Math" panose="02040503050406030204" pitchFamily="18" charset="0"/>
                                  <a:ea typeface="+mn-ea"/>
                                  <a:cs typeface="+mn-cs"/>
                                </a:rPr>
                                <m:t>𝐪</m:t>
                              </m:r>
                              <m:r>
                                <a:rPr lang="en-US" sz="1800" b="1" kern="1200">
                                  <a:solidFill>
                                    <a:schemeClr val="lt1"/>
                                  </a:solidFill>
                                  <a:latin typeface="Cambria Math" panose="02040503050406030204" pitchFamily="18" charset="0"/>
                                  <a:ea typeface="+mn-ea"/>
                                  <a:cs typeface="+mn-cs"/>
                                </a:rPr>
                                <m:t>∨</m:t>
                              </m:r>
                              <m:r>
                                <a:rPr lang="en-GB" sz="1800" b="1" i="1" kern="1200">
                                  <a:solidFill>
                                    <a:schemeClr val="lt1"/>
                                  </a:solidFill>
                                  <a:latin typeface="Cambria Math" panose="02040503050406030204" pitchFamily="18" charset="0"/>
                                  <a:ea typeface="+mn-ea"/>
                                  <a:cs typeface="+mn-cs"/>
                                </a:rPr>
                                <m:t>𝐫</m:t>
                              </m:r>
                            </m:oMath>
                          </a14:m>
                          <a:endParaRPr lang="en-GB" sz="1800" b="1" kern="1200" dirty="0">
                            <a:solidFill>
                              <a:schemeClr val="lt1"/>
                            </a:solidFill>
                            <a:latin typeface="+mn-lt"/>
                            <a:ea typeface="+mn-ea"/>
                            <a:cs typeface="+mn-cs"/>
                          </a:endParaRPr>
                        </a:p>
                        <a:p>
                          <a:pPr lvl="0" algn="l"/>
                          <a:endParaRPr lang="en-US" sz="1800" b="1"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Premise</a:t>
                          </a:r>
                        </a:p>
                      </a:txBody>
                      <a:tcPr>
                        <a:solidFill>
                          <a:schemeClr val="accent2"/>
                        </a:solidFill>
                      </a:tcPr>
                    </a:tc>
                    <a:extLst>
                      <a:ext uri="{0D108BD9-81ED-4DB2-BD59-A6C34878D82A}">
                        <a16:rowId xmlns:a16="http://schemas.microsoft.com/office/drawing/2014/main" val="10001"/>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26027086"/>
                  </p:ext>
                </p:extLst>
              </p:nvPr>
            </p:nvGraphicFramePr>
            <p:xfrm>
              <a:off x="3352800" y="1600200"/>
              <a:ext cx="5715000" cy="1005840"/>
            </p:xfrm>
            <a:graphic>
              <a:graphicData uri="http://schemas.openxmlformats.org/drawingml/2006/table">
                <a:tbl>
                  <a:tblPr firstRow="1" bandRow="1">
                    <a:tableStyleId>{5C22544A-7EE6-4342-B048-85BDC9FD1C3A}</a:tableStyleId>
                  </a:tblPr>
                  <a:tblGrid>
                    <a:gridCol w="1676400"/>
                    <a:gridCol w="4038600"/>
                  </a:tblGrid>
                  <a:tr h="365760">
                    <a:tc>
                      <a:txBody>
                        <a:bodyPr/>
                        <a:lstStyle/>
                        <a:p>
                          <a:r>
                            <a:rPr lang="en-US" sz="1800" dirty="0" smtClean="0"/>
                            <a:t>Step</a:t>
                          </a:r>
                          <a:endParaRPr lang="en-US" sz="1800" dirty="0"/>
                        </a:p>
                      </a:txBody>
                      <a:tcPr/>
                    </a:tc>
                    <a:tc>
                      <a:txBody>
                        <a:bodyPr/>
                        <a:lstStyle/>
                        <a:p>
                          <a:r>
                            <a:rPr lang="en-US" sz="1800" dirty="0" smtClean="0"/>
                            <a:t>Reason</a:t>
                          </a:r>
                          <a:endParaRPr lang="en-US" sz="1800" dirty="0"/>
                        </a:p>
                      </a:txBody>
                      <a:tcPr/>
                    </a:tc>
                  </a:tr>
                  <a:tr h="640080">
                    <a:tc>
                      <a:txBody>
                        <a:bodyPr/>
                        <a:lstStyle/>
                        <a:p>
                          <a:endParaRPr lang="en-US"/>
                        </a:p>
                      </a:txBody>
                      <a:tcPr>
                        <a:blipFill rotWithShape="0">
                          <a:blip r:embed="rId4"/>
                          <a:stretch>
                            <a:fillRect l="-727" t="-61321" r="-242545" b="-1887"/>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Premise</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4122240770"/>
                  </p:ext>
                </p:extLst>
              </p:nvPr>
            </p:nvGraphicFramePr>
            <p:xfrm>
              <a:off x="3352800" y="2366922"/>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latin typeface="+mn-lt"/>
                              <a:ea typeface="+mn-ea"/>
                              <a:cs typeface="+mn-cs"/>
                            </a:rPr>
                            <a:t>2. </a:t>
                          </a:r>
                          <a14:m>
                            <m:oMath xmlns:m="http://schemas.openxmlformats.org/officeDocument/2006/math">
                              <m:r>
                                <a:rPr lang="en-GB" sz="1800" b="1" i="1" kern="1200" smtClean="0">
                                  <a:solidFill>
                                    <a:schemeClr val="lt1"/>
                                  </a:solidFill>
                                  <a:latin typeface="Cambria Math" panose="02040503050406030204" pitchFamily="18" charset="0"/>
                                  <a:ea typeface="+mn-ea"/>
                                  <a:cs typeface="+mn-cs"/>
                                </a:rPr>
                                <m:t>𝐩</m:t>
                              </m:r>
                            </m:oMath>
                          </a14:m>
                          <a:endParaRPr lang="en-US" sz="1800" b="0"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Premise</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4122240770"/>
                  </p:ext>
                </p:extLst>
              </p:nvPr>
            </p:nvGraphicFramePr>
            <p:xfrm>
              <a:off x="3352800" y="2366922"/>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5"/>
                          <a:stretch>
                            <a:fillRect l="-727" t="-8197" r="-242545" b="-2459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Premise</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727028104"/>
                  </p:ext>
                </p:extLst>
              </p:nvPr>
            </p:nvGraphicFramePr>
            <p:xfrm>
              <a:off x="3352800" y="2735043"/>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latin typeface="+mn-lt"/>
                              <a:ea typeface="+mn-ea"/>
                              <a:cs typeface="+mn-cs"/>
                            </a:rPr>
                            <a:t>3. </a:t>
                          </a:r>
                          <a14:m>
                            <m:oMath xmlns:m="http://schemas.openxmlformats.org/officeDocument/2006/math">
                              <m:r>
                                <a:rPr lang="en-US" sz="1800" b="1" i="1" kern="1200" smtClean="0">
                                  <a:solidFill>
                                    <a:schemeClr val="lt1"/>
                                  </a:solidFill>
                                  <a:latin typeface="Cambria Math" panose="02040503050406030204" pitchFamily="18" charset="0"/>
                                  <a:ea typeface="+mn-ea"/>
                                  <a:cs typeface="+mn-cs"/>
                                </a:rPr>
                                <m:t>𝐪</m:t>
                              </m:r>
                              <m:r>
                                <a:rPr lang="en-US" sz="1800" b="1" kern="1200">
                                  <a:solidFill>
                                    <a:schemeClr val="lt1"/>
                                  </a:solidFill>
                                  <a:latin typeface="Cambria Math" panose="02040503050406030204" pitchFamily="18" charset="0"/>
                                  <a:ea typeface="+mn-ea"/>
                                  <a:cs typeface="+mn-cs"/>
                                </a:rPr>
                                <m:t>∨</m:t>
                              </m:r>
                              <m:r>
                                <a:rPr lang="en-GB" sz="1800" b="1" i="1" kern="1200">
                                  <a:solidFill>
                                    <a:schemeClr val="lt1"/>
                                  </a:solidFill>
                                  <a:latin typeface="Cambria Math" panose="02040503050406030204" pitchFamily="18" charset="0"/>
                                  <a:ea typeface="+mn-ea"/>
                                  <a:cs typeface="+mn-cs"/>
                                </a:rPr>
                                <m:t>𝐫</m:t>
                              </m:r>
                            </m:oMath>
                          </a14:m>
                          <a:endParaRPr lang="en-GB" sz="1800" b="1"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Resolution</a:t>
                          </a:r>
                          <a:r>
                            <a:rPr lang="en-US" sz="1800" b="1" kern="1200" baseline="0" dirty="0">
                              <a:solidFill>
                                <a:schemeClr val="lt1"/>
                              </a:solidFill>
                              <a:latin typeface="+mn-lt"/>
                              <a:ea typeface="+mn-ea"/>
                              <a:cs typeface="+mn-cs"/>
                            </a:rPr>
                            <a:t> </a:t>
                          </a:r>
                          <a:r>
                            <a:rPr lang="en-US" sz="1800" b="1" kern="1200" dirty="0">
                              <a:solidFill>
                                <a:schemeClr val="lt1"/>
                              </a:solidFill>
                              <a:latin typeface="+mn-lt"/>
                              <a:ea typeface="+mn-ea"/>
                              <a:cs typeface="+mn-cs"/>
                            </a:rPr>
                            <a:t>from</a:t>
                          </a:r>
                          <a:r>
                            <a:rPr lang="en-US" sz="1800" b="1" kern="1200" baseline="0" dirty="0">
                              <a:solidFill>
                                <a:schemeClr val="lt1"/>
                              </a:solidFill>
                              <a:latin typeface="+mn-lt"/>
                              <a:ea typeface="+mn-ea"/>
                              <a:cs typeface="+mn-cs"/>
                            </a:rPr>
                            <a:t> (1) &amp; (2)</a:t>
                          </a:r>
                          <a:endParaRPr lang="en-US" sz="1800" b="1" kern="1200" dirty="0">
                            <a:solidFill>
                              <a:schemeClr val="lt1"/>
                            </a:solidFill>
                            <a:latin typeface="+mn-lt"/>
                            <a:ea typeface="+mn-ea"/>
                            <a:cs typeface="+mn-cs"/>
                          </a:endParaRP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727028104"/>
                  </p:ext>
                </p:extLst>
              </p:nvPr>
            </p:nvGraphicFramePr>
            <p:xfrm>
              <a:off x="3352800" y="2735043"/>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6"/>
                          <a:stretch>
                            <a:fillRect l="-727" t="-8197" r="-242545" b="-2623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Resolution</a:t>
                          </a:r>
                          <a:r>
                            <a:rPr lang="en-US" sz="1800" b="1" kern="1200" baseline="0" dirty="0" smtClean="0">
                              <a:solidFill>
                                <a:schemeClr val="lt1"/>
                              </a:solidFill>
                              <a:latin typeface="+mn-lt"/>
                              <a:ea typeface="+mn-ea"/>
                              <a:cs typeface="+mn-cs"/>
                            </a:rPr>
                            <a:t> </a:t>
                          </a:r>
                          <a:r>
                            <a:rPr lang="en-US" sz="1800" b="1" kern="1200" dirty="0" smtClean="0">
                              <a:solidFill>
                                <a:schemeClr val="lt1"/>
                              </a:solidFill>
                              <a:latin typeface="+mn-lt"/>
                              <a:ea typeface="+mn-ea"/>
                              <a:cs typeface="+mn-cs"/>
                            </a:rPr>
                            <a:t>from</a:t>
                          </a:r>
                          <a:r>
                            <a:rPr lang="en-US" sz="1800" b="1" kern="1200" baseline="0" dirty="0" smtClean="0">
                              <a:solidFill>
                                <a:schemeClr val="lt1"/>
                              </a:solidFill>
                              <a:latin typeface="+mn-lt"/>
                              <a:ea typeface="+mn-ea"/>
                              <a:cs typeface="+mn-cs"/>
                            </a:rPr>
                            <a:t> (1) &amp; (2)</a:t>
                          </a:r>
                          <a:endParaRPr lang="en-US" sz="1800" b="1" kern="1200" dirty="0" smtClean="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2590101965"/>
                  </p:ext>
                </p:extLst>
              </p:nvPr>
            </p:nvGraphicFramePr>
            <p:xfrm>
              <a:off x="3352800" y="3116043"/>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lt1"/>
                              </a:solidFill>
                              <a:latin typeface="+mn-lt"/>
                              <a:ea typeface="+mn-ea"/>
                              <a:cs typeface="+mn-cs"/>
                            </a:rPr>
                            <a:t>4</a:t>
                          </a:r>
                          <a:r>
                            <a:rPr lang="en-US" sz="1800" b="1" kern="1200" dirty="0">
                              <a:solidFill>
                                <a:schemeClr val="lt1"/>
                              </a:solidFill>
                              <a:latin typeface="+mn-lt"/>
                              <a:ea typeface="+mn-ea"/>
                              <a:cs typeface="+mn-cs"/>
                            </a:rPr>
                            <a:t>.</a:t>
                          </a:r>
                          <a14:m>
                            <m:oMath xmlns:m="http://schemas.openxmlformats.org/officeDocument/2006/math">
                              <m:r>
                                <a:rPr lang="en-GB" sz="1800" b="1" i="1" kern="1200" noProof="0" smtClean="0">
                                  <a:solidFill>
                                    <a:schemeClr val="lt1"/>
                                  </a:solidFill>
                                  <a:latin typeface="Cambria Math" panose="02040503050406030204" pitchFamily="18" charset="0"/>
                                  <a:ea typeface="+mn-ea"/>
                                  <a:cs typeface="+mn-cs"/>
                                </a:rPr>
                                <m:t>¬</m:t>
                              </m:r>
                              <m:r>
                                <a:rPr lang="en-GB" sz="1800" b="1" i="1" kern="1200" noProof="0" smtClean="0">
                                  <a:solidFill>
                                    <a:schemeClr val="lt1"/>
                                  </a:solidFill>
                                  <a:latin typeface="Cambria Math" panose="02040503050406030204" pitchFamily="18" charset="0"/>
                                  <a:ea typeface="+mn-ea"/>
                                  <a:cs typeface="+mn-cs"/>
                                </a:rPr>
                                <m:t>𝒔</m:t>
                              </m:r>
                              <m:r>
                                <a:rPr lang="en-GB" sz="1800" b="1" i="1" kern="1200" noProof="0">
                                  <a:solidFill>
                                    <a:schemeClr val="lt1"/>
                                  </a:solidFill>
                                  <a:latin typeface="Cambria Math" panose="02040503050406030204" pitchFamily="18" charset="0"/>
                                  <a:ea typeface="+mn-ea"/>
                                  <a:cs typeface="+mn-cs"/>
                                </a:rPr>
                                <m:t>∨</m:t>
                              </m:r>
                              <m:r>
                                <a:rPr lang="en-GB" sz="1800" b="1" i="1" kern="1200" noProof="0" smtClean="0">
                                  <a:solidFill>
                                    <a:schemeClr val="lt1"/>
                                  </a:solidFill>
                                  <a:latin typeface="Cambria Math" panose="02040503050406030204" pitchFamily="18" charset="0"/>
                                  <a:ea typeface="+mn-ea"/>
                                  <a:cs typeface="+mn-cs"/>
                                </a:rPr>
                                <m:t>¬</m:t>
                              </m:r>
                              <m:r>
                                <a:rPr lang="en-GB" sz="1800" b="1" i="1" kern="1200" noProof="0" smtClean="0">
                                  <a:solidFill>
                                    <a:schemeClr val="lt1"/>
                                  </a:solidFill>
                                  <a:latin typeface="Cambria Math" panose="02040503050406030204" pitchFamily="18" charset="0"/>
                                  <a:ea typeface="+mn-ea"/>
                                  <a:cs typeface="+mn-cs"/>
                                </a:rPr>
                                <m:t>𝒓</m:t>
                              </m:r>
                            </m:oMath>
                          </a14:m>
                          <a:endParaRPr lang="en-US" sz="1800" b="1" i="1" kern="1200" dirty="0">
                            <a:solidFill>
                              <a:schemeClr val="lt1"/>
                            </a:solidFill>
                            <a:latin typeface="+mn-lt"/>
                            <a:ea typeface="+mn-ea"/>
                            <a:cs typeface="+mn-cs"/>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Premise</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2590101965"/>
                  </p:ext>
                </p:extLst>
              </p:nvPr>
            </p:nvGraphicFramePr>
            <p:xfrm>
              <a:off x="3352800" y="3116043"/>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7"/>
                          <a:stretch>
                            <a:fillRect l="-727" t="-8197" r="-242545" b="-2459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Premise</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524680812"/>
                  </p:ext>
                </p:extLst>
              </p:nvPr>
            </p:nvGraphicFramePr>
            <p:xfrm>
              <a:off x="3352800" y="3488886"/>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lvl="0"/>
                          <a:r>
                            <a:rPr lang="en-US" sz="1800" b="0" kern="1200" dirty="0">
                              <a:solidFill>
                                <a:schemeClr val="lt1"/>
                              </a:solidFill>
                              <a:latin typeface="+mn-lt"/>
                              <a:ea typeface="+mn-ea"/>
                              <a:cs typeface="+mn-cs"/>
                            </a:rPr>
                            <a:t>5.</a:t>
                          </a:r>
                          <a:r>
                            <a:rPr lang="en-US" sz="1800" b="1" kern="1200" dirty="0">
                              <a:solidFill>
                                <a:schemeClr val="lt1"/>
                              </a:solidFill>
                              <a:latin typeface="+mn-lt"/>
                              <a:ea typeface="+mn-ea"/>
                              <a:cs typeface="+mn-cs"/>
                            </a:rPr>
                            <a:t>.</a:t>
                          </a:r>
                          <a14:m>
                            <m:oMath xmlns:m="http://schemas.openxmlformats.org/officeDocument/2006/math">
                              <m:r>
                                <a:rPr lang="en-GB" sz="1800" b="1" i="1" kern="1200" noProof="0" smtClean="0">
                                  <a:solidFill>
                                    <a:schemeClr val="lt1"/>
                                  </a:solidFill>
                                  <a:latin typeface="Cambria Math" panose="02040503050406030204" pitchFamily="18" charset="0"/>
                                  <a:ea typeface="+mn-ea"/>
                                  <a:cs typeface="+mn-cs"/>
                                </a:rPr>
                                <m:t>¬</m:t>
                              </m:r>
                              <m:r>
                                <a:rPr lang="en-GB" sz="1800" b="1" i="1" kern="1200" noProof="0" smtClean="0">
                                  <a:solidFill>
                                    <a:schemeClr val="lt1"/>
                                  </a:solidFill>
                                  <a:latin typeface="Cambria Math" panose="02040503050406030204" pitchFamily="18" charset="0"/>
                                  <a:ea typeface="+mn-ea"/>
                                  <a:cs typeface="+mn-cs"/>
                                </a:rPr>
                                <m:t>𝒔</m:t>
                              </m:r>
                              <m:r>
                                <a:rPr lang="en-GB" sz="1800" b="1" i="1" kern="1200" noProof="0">
                                  <a:solidFill>
                                    <a:schemeClr val="lt1"/>
                                  </a:solidFill>
                                  <a:latin typeface="Cambria Math" panose="02040503050406030204" pitchFamily="18" charset="0"/>
                                  <a:ea typeface="+mn-ea"/>
                                  <a:cs typeface="+mn-cs"/>
                                </a:rPr>
                                <m:t>∨</m:t>
                              </m:r>
                              <m:r>
                                <a:rPr lang="en-GB" sz="1800" b="1" i="1" kern="1200" noProof="0" smtClean="0">
                                  <a:solidFill>
                                    <a:schemeClr val="lt1"/>
                                  </a:solidFill>
                                  <a:latin typeface="Cambria Math" panose="02040503050406030204" pitchFamily="18" charset="0"/>
                                  <a:ea typeface="+mn-ea"/>
                                  <a:cs typeface="+mn-cs"/>
                                </a:rPr>
                                <m:t>𝒒</m:t>
                              </m:r>
                            </m:oMath>
                          </a14:m>
                          <a:endParaRPr lang="en-US" sz="1800" b="0" dirty="0">
                            <a:ea typeface="Cambria Math" panose="02040503050406030204" pitchFamily="18" charset="0"/>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Resolution</a:t>
                          </a:r>
                          <a:r>
                            <a:rPr lang="en-US" sz="1800" b="1" kern="1200" baseline="0" dirty="0">
                              <a:solidFill>
                                <a:schemeClr val="lt1"/>
                              </a:solidFill>
                              <a:latin typeface="+mn-lt"/>
                              <a:ea typeface="+mn-ea"/>
                              <a:cs typeface="+mn-cs"/>
                            </a:rPr>
                            <a:t> </a:t>
                          </a:r>
                          <a:r>
                            <a:rPr lang="en-US" sz="1800" b="1" kern="1200" dirty="0">
                              <a:solidFill>
                                <a:schemeClr val="lt1"/>
                              </a:solidFill>
                              <a:latin typeface="+mn-lt"/>
                              <a:ea typeface="+mn-ea"/>
                              <a:cs typeface="+mn-cs"/>
                            </a:rPr>
                            <a:t>from</a:t>
                          </a:r>
                          <a:r>
                            <a:rPr lang="en-US" sz="1800" b="1" kern="1200" baseline="0" dirty="0">
                              <a:solidFill>
                                <a:schemeClr val="lt1"/>
                              </a:solidFill>
                              <a:latin typeface="+mn-lt"/>
                              <a:ea typeface="+mn-ea"/>
                              <a:cs typeface="+mn-cs"/>
                            </a:rPr>
                            <a:t> (3) &amp; (4)</a:t>
                          </a:r>
                          <a:endParaRPr lang="en-US" sz="1800" b="1" kern="1200" dirty="0">
                            <a:solidFill>
                              <a:schemeClr val="lt1"/>
                            </a:solidFill>
                            <a:latin typeface="+mn-lt"/>
                            <a:ea typeface="+mn-ea"/>
                            <a:cs typeface="+mn-cs"/>
                          </a:endParaRP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524680812"/>
                  </p:ext>
                </p:extLst>
              </p:nvPr>
            </p:nvGraphicFramePr>
            <p:xfrm>
              <a:off x="3352800" y="3488886"/>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8"/>
                          <a:stretch>
                            <a:fillRect l="-727" t="-8197" r="-242545" b="-2459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Resolution</a:t>
                          </a:r>
                          <a:r>
                            <a:rPr lang="en-US" sz="1800" b="1" kern="1200" baseline="0" dirty="0" smtClean="0">
                              <a:solidFill>
                                <a:schemeClr val="lt1"/>
                              </a:solidFill>
                              <a:latin typeface="+mn-lt"/>
                              <a:ea typeface="+mn-ea"/>
                              <a:cs typeface="+mn-cs"/>
                            </a:rPr>
                            <a:t> </a:t>
                          </a:r>
                          <a:r>
                            <a:rPr lang="en-US" sz="1800" b="1" kern="1200" dirty="0" smtClean="0">
                              <a:solidFill>
                                <a:schemeClr val="lt1"/>
                              </a:solidFill>
                              <a:latin typeface="+mn-lt"/>
                              <a:ea typeface="+mn-ea"/>
                              <a:cs typeface="+mn-cs"/>
                            </a:rPr>
                            <a:t>from</a:t>
                          </a:r>
                          <a:r>
                            <a:rPr lang="en-US" sz="1800" b="1" kern="1200" baseline="0" dirty="0" smtClean="0">
                              <a:solidFill>
                                <a:schemeClr val="lt1"/>
                              </a:solidFill>
                              <a:latin typeface="+mn-lt"/>
                              <a:ea typeface="+mn-ea"/>
                              <a:cs typeface="+mn-cs"/>
                            </a:rPr>
                            <a:t> (3) &amp; (4)</a:t>
                          </a:r>
                          <a:endParaRPr lang="en-US" sz="1800" b="1" kern="1200" dirty="0" smtClean="0">
                            <a:solidFill>
                              <a:schemeClr val="lt1"/>
                            </a:solidFill>
                            <a:latin typeface="+mn-lt"/>
                            <a:ea typeface="+mn-ea"/>
                            <a:cs typeface="+mn-cs"/>
                          </a:endParaRPr>
                        </a:p>
                      </a:txBody>
                      <a:tcPr>
                        <a:solidFill>
                          <a:schemeClr val="accent2"/>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651563877"/>
                  </p:ext>
                </p:extLst>
              </p:nvPr>
            </p:nvGraphicFramePr>
            <p:xfrm>
              <a:off x="3352800" y="3857007"/>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lvl="0"/>
                          <a:r>
                            <a:rPr lang="en-US" sz="1800" b="0" kern="1200" dirty="0">
                              <a:solidFill>
                                <a:schemeClr val="lt1"/>
                              </a:solidFill>
                              <a:latin typeface="+mn-lt"/>
                              <a:ea typeface="+mn-ea"/>
                              <a:cs typeface="+mn-cs"/>
                            </a:rPr>
                            <a:t>6.</a:t>
                          </a:r>
                          <a14:m>
                            <m:oMath xmlns:m="http://schemas.openxmlformats.org/officeDocument/2006/math">
                              <m:r>
                                <a:rPr lang="en-GB" sz="1800" b="0" i="0" smtClean="0">
                                  <a:latin typeface="Cambria Math" panose="02040503050406030204" pitchFamily="18" charset="0"/>
                                </a:rPr>
                                <m:t>  </m:t>
                              </m:r>
                              <m:r>
                                <a:rPr lang="en-GB" sz="1800" b="0" i="1" smtClean="0">
                                  <a:latin typeface="Cambria Math" panose="02040503050406030204" pitchFamily="18" charset="0"/>
                                </a:rPr>
                                <m:t> </m:t>
                              </m:r>
                              <m:r>
                                <a:rPr lang="en-GB" sz="1800" b="0" i="1" smtClean="0">
                                  <a:latin typeface="Cambria Math" panose="02040503050406030204" pitchFamily="18" charset="0"/>
                                </a:rPr>
                                <m:t>𝑠</m:t>
                              </m:r>
                            </m:oMath>
                          </a14:m>
                          <a:endParaRPr lang="en-US" sz="1800" b="0" dirty="0">
                            <a:ea typeface="Cambria Math" panose="02040503050406030204" pitchFamily="18" charset="0"/>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Premise</a:t>
                          </a:r>
                        </a:p>
                      </a:txBody>
                      <a:tcPr>
                        <a:solidFill>
                          <a:schemeClr val="accent2"/>
                        </a:solidFill>
                      </a:tcPr>
                    </a:tc>
                    <a:extLst>
                      <a:ext uri="{0D108BD9-81ED-4DB2-BD59-A6C34878D82A}">
                        <a16:rowId xmlns:a16="http://schemas.microsoft.com/office/drawing/2014/main" val="10000"/>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651563877"/>
                  </p:ext>
                </p:extLst>
              </p:nvPr>
            </p:nvGraphicFramePr>
            <p:xfrm>
              <a:off x="3352800" y="3857007"/>
              <a:ext cx="5715000" cy="365760"/>
            </p:xfrm>
            <a:graphic>
              <a:graphicData uri="http://schemas.openxmlformats.org/drawingml/2006/table">
                <a:tbl>
                  <a:tblPr firstRow="1" bandRow="1">
                    <a:tableStyleId>{5C22544A-7EE6-4342-B048-85BDC9FD1C3A}</a:tableStyleId>
                  </a:tblPr>
                  <a:tblGrid>
                    <a:gridCol w="1676400"/>
                    <a:gridCol w="4038600"/>
                  </a:tblGrid>
                  <a:tr h="365760">
                    <a:tc>
                      <a:txBody>
                        <a:bodyPr/>
                        <a:lstStyle/>
                        <a:p>
                          <a:endParaRPr lang="en-US"/>
                        </a:p>
                      </a:txBody>
                      <a:tcPr>
                        <a:blipFill rotWithShape="0">
                          <a:blip r:embed="rId9"/>
                          <a:stretch>
                            <a:fillRect l="-727" t="-8197" r="-242545" b="-26230"/>
                          </a:stretch>
                        </a:blipFill>
                      </a:tcPr>
                    </a:tc>
                    <a:tc>
                      <a:txBody>
                        <a:bodyPr/>
                        <a:lstStyle/>
                        <a:p>
                          <a:pPr marL="0" algn="l" defTabSz="914400" rtl="0" eaLnBrk="1" latinLnBrk="0" hangingPunct="1"/>
                          <a:r>
                            <a:rPr lang="en-US" sz="1800" b="1" kern="1200" dirty="0" smtClean="0">
                              <a:solidFill>
                                <a:schemeClr val="lt1"/>
                              </a:solidFill>
                              <a:latin typeface="+mn-lt"/>
                              <a:ea typeface="+mn-ea"/>
                              <a:cs typeface="+mn-cs"/>
                            </a:rPr>
                            <a:t>Premise</a:t>
                          </a:r>
                          <a:endParaRPr lang="en-US" sz="1800" b="1" kern="1200" dirty="0">
                            <a:solidFill>
                              <a:schemeClr val="lt1"/>
                            </a:solidFill>
                            <a:latin typeface="+mn-lt"/>
                            <a:ea typeface="+mn-ea"/>
                            <a:cs typeface="+mn-cs"/>
                          </a:endParaRPr>
                        </a:p>
                      </a:txBody>
                      <a:tcPr>
                        <a:solidFill>
                          <a:schemeClr val="accent2"/>
                        </a:solidFill>
                      </a:tcPr>
                    </a:tc>
                  </a:tr>
                </a:tbl>
              </a:graphicData>
            </a:graphic>
          </p:graphicFrame>
        </mc:Fallback>
      </mc:AlternateContent>
      <p:graphicFrame>
        <p:nvGraphicFramePr>
          <p:cNvPr id="16" name="Table 15"/>
          <p:cNvGraphicFramePr>
            <a:graphicFrameLocks noGrp="1"/>
          </p:cNvGraphicFramePr>
          <p:nvPr>
            <p:extLst>
              <p:ext uri="{D42A27DB-BD31-4B8C-83A1-F6EECF244321}">
                <p14:modId xmlns:p14="http://schemas.microsoft.com/office/powerpoint/2010/main" val="4114478423"/>
              </p:ext>
            </p:extLst>
          </p:nvPr>
        </p:nvGraphicFramePr>
        <p:xfrm>
          <a:off x="3352800" y="4238007"/>
          <a:ext cx="5715000" cy="3657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04800">
                <a:tc>
                  <a:txBody>
                    <a:bodyPr/>
                    <a:lstStyle/>
                    <a:p>
                      <a:pPr lvl="0"/>
                      <a:r>
                        <a:rPr lang="en-US" sz="1800" b="0" kern="1200" dirty="0">
                          <a:solidFill>
                            <a:schemeClr val="lt1"/>
                          </a:solidFill>
                          <a:latin typeface="+mn-lt"/>
                          <a:ea typeface="+mn-ea"/>
                          <a:cs typeface="+mn-cs"/>
                        </a:rPr>
                        <a:t>7. 𝑞 </a:t>
                      </a:r>
                      <a:endParaRPr lang="en-US" sz="1800" b="0" dirty="0">
                        <a:ea typeface="Cambria Math" panose="02040503050406030204" pitchFamily="18" charset="0"/>
                      </a:endParaRPr>
                    </a:p>
                  </a:txBody>
                  <a:tcPr>
                    <a:solidFill>
                      <a:schemeClr val="accent2"/>
                    </a:solidFill>
                  </a:tcPr>
                </a:tc>
                <a:tc>
                  <a:txBody>
                    <a:bodyPr/>
                    <a:lstStyle/>
                    <a:p>
                      <a:pPr marL="0" algn="l" defTabSz="914400" rtl="0" eaLnBrk="1" latinLnBrk="0" hangingPunct="1"/>
                      <a:r>
                        <a:rPr lang="en-US" sz="1800" b="1" kern="1200" dirty="0">
                          <a:solidFill>
                            <a:schemeClr val="lt1"/>
                          </a:solidFill>
                          <a:latin typeface="+mn-lt"/>
                          <a:ea typeface="+mn-ea"/>
                          <a:cs typeface="+mn-cs"/>
                        </a:rPr>
                        <a:t>Resolution</a:t>
                      </a:r>
                      <a:r>
                        <a:rPr lang="en-US" sz="1800" b="1" kern="1200" baseline="0" dirty="0">
                          <a:solidFill>
                            <a:schemeClr val="lt1"/>
                          </a:solidFill>
                          <a:latin typeface="+mn-lt"/>
                          <a:ea typeface="+mn-ea"/>
                          <a:cs typeface="+mn-cs"/>
                        </a:rPr>
                        <a:t> </a:t>
                      </a:r>
                      <a:r>
                        <a:rPr lang="en-US" sz="1800" b="1" kern="1200" dirty="0">
                          <a:solidFill>
                            <a:schemeClr val="lt1"/>
                          </a:solidFill>
                          <a:latin typeface="+mn-lt"/>
                          <a:ea typeface="+mn-ea"/>
                          <a:cs typeface="+mn-cs"/>
                        </a:rPr>
                        <a:t>from</a:t>
                      </a:r>
                      <a:r>
                        <a:rPr lang="en-US" sz="1800" b="1" kern="1200" baseline="0" dirty="0">
                          <a:solidFill>
                            <a:schemeClr val="lt1"/>
                          </a:solidFill>
                          <a:latin typeface="+mn-lt"/>
                          <a:ea typeface="+mn-ea"/>
                          <a:cs typeface="+mn-cs"/>
                        </a:rPr>
                        <a:t> (5) &amp; (6)</a:t>
                      </a:r>
                      <a:endParaRPr lang="en-US" sz="1800" b="1" kern="1200" dirty="0">
                        <a:solidFill>
                          <a:schemeClr val="lt1"/>
                        </a:solidFill>
                        <a:latin typeface="+mn-lt"/>
                        <a:ea typeface="+mn-ea"/>
                        <a:cs typeface="+mn-cs"/>
                      </a:endParaRPr>
                    </a:p>
                  </a:txBody>
                  <a:tcPr>
                    <a:solidFill>
                      <a:schemeClr val="accent2"/>
                    </a:solidFill>
                  </a:tcPr>
                </a:tc>
                <a:extLst>
                  <a:ext uri="{0D108BD9-81ED-4DB2-BD59-A6C34878D82A}">
                    <a16:rowId xmlns:a16="http://schemas.microsoft.com/office/drawing/2014/main" val="10000"/>
                  </a:ext>
                </a:extLst>
              </a:tr>
            </a:tbl>
          </a:graphicData>
        </a:graphic>
      </p:graphicFrame>
      <p:sp>
        <p:nvSpPr>
          <p:cNvPr id="18" name="TextBox 17"/>
          <p:cNvSpPr txBox="1"/>
          <p:nvPr/>
        </p:nvSpPr>
        <p:spPr>
          <a:xfrm>
            <a:off x="457200" y="4800600"/>
            <a:ext cx="8077200" cy="1338828"/>
          </a:xfrm>
          <a:prstGeom prst="rect">
            <a:avLst/>
          </a:prstGeom>
          <a:noFill/>
        </p:spPr>
        <p:txBody>
          <a:bodyPr wrap="square" rtlCol="0">
            <a:spAutoFit/>
          </a:bodyPr>
          <a:lstStyle/>
          <a:p>
            <a:pPr>
              <a:lnSpc>
                <a:spcPct val="150000"/>
              </a:lnSpc>
            </a:pPr>
            <a:r>
              <a:rPr lang="en-GB" b="1" dirty="0"/>
              <a:t>Applications of Resolution Principle:</a:t>
            </a:r>
          </a:p>
          <a:p>
            <a:pPr marL="342900" indent="-342900">
              <a:lnSpc>
                <a:spcPct val="150000"/>
              </a:lnSpc>
              <a:buFont typeface="+mj-lt"/>
              <a:buAutoNum type="arabicPeriod"/>
            </a:pPr>
            <a:r>
              <a:rPr lang="en-GB" dirty="0"/>
              <a:t>This is very much used in the logic programing language PROLOG.</a:t>
            </a:r>
          </a:p>
          <a:p>
            <a:pPr marL="342900" indent="-342900">
              <a:lnSpc>
                <a:spcPct val="150000"/>
              </a:lnSpc>
              <a:buFont typeface="+mj-lt"/>
              <a:buAutoNum type="arabicPeriod"/>
            </a:pPr>
            <a:r>
              <a:rPr lang="en-GB" dirty="0"/>
              <a:t>It is used in artificial intelligence applications.</a:t>
            </a:r>
          </a:p>
        </p:txBody>
      </p:sp>
    </p:spTree>
    <p:extLst>
      <p:ext uri="{BB962C8B-B14F-4D97-AF65-F5344CB8AC3E}">
        <p14:creationId xmlns:p14="http://schemas.microsoft.com/office/powerpoint/2010/main" val="381368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theme/theme1.xml><?xml version="1.0" encoding="utf-8"?>
<a:theme xmlns:a="http://schemas.openxmlformats.org/drawingml/2006/main" name="Office Theme">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UCSC Masters 1">
      <a:majorFont>
        <a:latin typeface="DINPro-Bold"/>
        <a:ea typeface=""/>
        <a:cs typeface=""/>
      </a:majorFont>
      <a:minorFont>
        <a:latin typeface="DINPro-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4152</TotalTime>
  <Words>3151</Words>
  <Application>Microsoft Office PowerPoint</Application>
  <PresentationFormat>On-screen Show (4:3)</PresentationFormat>
  <Paragraphs>691</Paragraphs>
  <Slides>28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Calibri</vt:lpstr>
      <vt:lpstr>Cambria Math</vt:lpstr>
      <vt:lpstr>Courier New</vt:lpstr>
      <vt:lpstr>DINPro-Black</vt:lpstr>
      <vt:lpstr>DINPro-Bold</vt:lpstr>
      <vt:lpstr>DINPro-Light</vt:lpstr>
      <vt:lpstr>Google Sans</vt:lpstr>
      <vt:lpstr>Symbol</vt:lpstr>
      <vt:lpstr>Office Theme</vt:lpstr>
      <vt:lpstr> Lesson 3: Arguments</vt:lpstr>
      <vt:lpstr>Consistency</vt:lpstr>
      <vt:lpstr>Example</vt:lpstr>
      <vt:lpstr>Valid Argument</vt:lpstr>
      <vt:lpstr>Example</vt:lpstr>
      <vt:lpstr>Rules of Inference</vt:lpstr>
      <vt:lpstr>How to create a truth table with all possible truth values</vt:lpstr>
      <vt:lpstr>How to create a truth table with all possible truth values</vt:lpstr>
      <vt:lpstr>How to create a truth table with all possible truth values</vt:lpstr>
      <vt:lpstr>How to create a truth table with all possible truth values</vt:lpstr>
      <vt:lpstr>Example of a Valid Argument</vt:lpstr>
      <vt:lpstr>Example</vt:lpstr>
      <vt:lpstr>Example Continued</vt:lpstr>
      <vt:lpstr>Exercise</vt:lpstr>
      <vt:lpstr>Fallacy of affirming the consequence</vt:lpstr>
      <vt:lpstr>Fallacy of denying the antecedent</vt:lpstr>
      <vt:lpstr>Rules of Inference for Quantiﬁed Statements</vt:lpstr>
      <vt:lpstr>Example</vt:lpstr>
      <vt:lpstr>Example</vt:lpstr>
      <vt:lpstr>Example Continued</vt:lpstr>
      <vt:lpstr>Another Example</vt:lpstr>
      <vt:lpstr>Solution</vt:lpstr>
      <vt:lpstr>Example</vt:lpstr>
      <vt:lpstr>Example</vt:lpstr>
      <vt:lpstr>Resolvent </vt:lpstr>
      <vt:lpstr>Theorem</vt:lpstr>
      <vt:lpstr>Resolution Principle</vt:lpstr>
      <vt:lpstr>Example (Revisit)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ucsc</dc:creator>
  <cp:lastModifiedBy>damitha ravisha</cp:lastModifiedBy>
  <cp:revision>381</cp:revision>
  <dcterms:created xsi:type="dcterms:W3CDTF">2019-07-04T09:03:38Z</dcterms:created>
  <dcterms:modified xsi:type="dcterms:W3CDTF">2025-05-19T02:00:18Z</dcterms:modified>
</cp:coreProperties>
</file>