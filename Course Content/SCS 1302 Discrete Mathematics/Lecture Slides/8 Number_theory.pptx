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301" r:id="rId3"/>
    <p:sldId id="294" r:id="rId4"/>
    <p:sldId id="298" r:id="rId5"/>
    <p:sldId id="297" r:id="rId6"/>
    <p:sldId id="295" r:id="rId7"/>
    <p:sldId id="296" r:id="rId8"/>
    <p:sldId id="299" r:id="rId9"/>
    <p:sldId id="300" r:id="rId10"/>
    <p:sldId id="258" r:id="rId11"/>
    <p:sldId id="302" r:id="rId12"/>
    <p:sldId id="260" r:id="rId13"/>
    <p:sldId id="261" r:id="rId14"/>
    <p:sldId id="303" r:id="rId15"/>
    <p:sldId id="293" r:id="rId16"/>
    <p:sldId id="272" r:id="rId17"/>
    <p:sldId id="279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5" r:id="rId29"/>
    <p:sldId id="288" r:id="rId30"/>
    <p:sldId id="289" r:id="rId31"/>
    <p:sldId id="290" r:id="rId32"/>
    <p:sldId id="291" r:id="rId33"/>
    <p:sldId id="29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022C7-AEB4-4A47-B8DB-E67AF976B57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53E82-FD46-4BA1-BD02-EA44190E0B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40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3E82-FD46-4BA1-BD02-EA44190E0B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86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3E82-FD46-4BA1-BD02-EA44190E0B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94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3E82-FD46-4BA1-BD02-EA44190E0B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69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37CA0-0915-4A9B-954C-931D3A87FE0F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80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0075-AD05-4C6E-9FE0-B945BB9CAB99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8AC92-5B52-43F9-B56E-F6A70994AE08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3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5B6D3-BCEE-4383-AEF4-FF0E6CF9B798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3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FA9E2-7AA2-4425-913B-14A05173502B}" type="datetime1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2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6C7E2-1ADE-4892-B9BF-0E525B70199D}" type="datetime1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99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8518-1AD1-4DE5-9CCB-D2DD19220D5B}" type="datetime1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7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0403-2C85-4EF0-9A8F-1FFB0EB0965C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95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3E29-B4B2-4CBC-AD86-72F8120A82FA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03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E859-0FD2-485B-838A-1323D264B485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3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D1C74-578A-46CC-9B55-D0B03C70A391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67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FF9ED-94A7-4215-818D-401DF4DAE879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EB469-E287-401B-88EF-CCD166A17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7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2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Introduction to Number Theory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8856" y="4490683"/>
            <a:ext cx="9144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108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CDFB-9794-C7A7-1D38-F3386C33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3F2D5-41B9-C948-2BAA-A2DEDB4B7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346"/>
            <a:ext cx="10515600" cy="4766617"/>
          </a:xfrm>
        </p:spPr>
        <p:txBody>
          <a:bodyPr>
            <a:normAutofit/>
          </a:bodyPr>
          <a:lstStyle/>
          <a:p>
            <a:r>
              <a:rPr lang="en-US" sz="2000" b="0" i="0" u="none" strike="noStrike" baseline="0" dirty="0">
                <a:latin typeface="STIXGeneral-Regular"/>
              </a:rPr>
              <a:t>If </a:t>
            </a:r>
            <a:r>
              <a:rPr lang="en-US" sz="2000" b="0" i="1" u="none" strike="noStrike" baseline="0" dirty="0">
                <a:latin typeface="STIXGeneral-Italic"/>
              </a:rPr>
              <a:t>a </a:t>
            </a:r>
            <a:r>
              <a:rPr lang="en-US" sz="2000" b="0" i="0" u="none" strike="noStrike" baseline="0" dirty="0">
                <a:latin typeface="STIXGeneral-Regular"/>
              </a:rPr>
              <a:t>and </a:t>
            </a:r>
            <a:r>
              <a:rPr lang="en-US" sz="2000" b="0" i="1" u="none" strike="noStrike" baseline="0" dirty="0">
                <a:latin typeface="STIXGeneral-Italic"/>
              </a:rPr>
              <a:t>b </a:t>
            </a:r>
            <a:r>
              <a:rPr lang="en-US" sz="2000" b="0" i="0" u="none" strike="noStrike" baseline="0" dirty="0">
                <a:latin typeface="STIXGeneral-Regular"/>
              </a:rPr>
              <a:t>are integers with </a:t>
            </a:r>
            <a:r>
              <a:rPr lang="en-US" sz="2000" b="0" i="1" u="none" strike="noStrike" baseline="0" dirty="0">
                <a:latin typeface="STIXGeneral-Italic"/>
              </a:rPr>
              <a:t>a </a:t>
            </a:r>
            <a:r>
              <a:rPr lang="en-US" sz="2000" b="0" i="0" u="none" strike="noStrike" baseline="0" dirty="0">
                <a:latin typeface="STIXMathCalligraphy-Regular"/>
              </a:rPr>
              <a:t>≠ </a:t>
            </a:r>
            <a:r>
              <a:rPr lang="en-US" sz="2000" b="0" i="0" u="none" strike="noStrike" baseline="0" dirty="0">
                <a:latin typeface="STIXGeneral-Regular"/>
              </a:rPr>
              <a:t>0, we say that </a:t>
            </a:r>
            <a:r>
              <a:rPr lang="en-US" sz="2000" b="0" i="1" u="none" strike="noStrike" baseline="0" dirty="0">
                <a:latin typeface="STIXGeneral-Italic"/>
              </a:rPr>
              <a:t>a divides b </a:t>
            </a:r>
            <a:r>
              <a:rPr lang="en-US" sz="2000" b="0" i="0" u="none" strike="noStrike" baseline="0" dirty="0">
                <a:latin typeface="STIXGeneral-Regular"/>
              </a:rPr>
              <a:t>if there is an integer </a:t>
            </a:r>
            <a:r>
              <a:rPr lang="en-US" sz="2000" b="0" i="1" u="none" strike="noStrike" baseline="0" dirty="0">
                <a:latin typeface="STIXGeneral-Italic"/>
              </a:rPr>
              <a:t>c </a:t>
            </a:r>
            <a:r>
              <a:rPr lang="en-US" sz="2000" b="0" i="0" u="none" strike="noStrike" baseline="0" dirty="0">
                <a:latin typeface="STIXGeneral-Regular"/>
              </a:rPr>
              <a:t>such that </a:t>
            </a:r>
            <a:r>
              <a:rPr lang="en-US" sz="2000" b="0" i="1" u="none" strike="noStrike" baseline="0" dirty="0">
                <a:latin typeface="STIXGeneral-Italic"/>
              </a:rPr>
              <a:t>b </a:t>
            </a:r>
            <a:r>
              <a:rPr lang="en-US" sz="2000" b="0" i="0" u="none" strike="noStrike" baseline="0" dirty="0">
                <a:latin typeface="STIXMath-Regular"/>
              </a:rPr>
              <a:t>= </a:t>
            </a:r>
            <a:r>
              <a:rPr lang="en-US" sz="2000" b="0" i="1" u="none" strike="noStrike" baseline="0" dirty="0">
                <a:latin typeface="STIXGeneral-Italic"/>
              </a:rPr>
              <a:t>ac </a:t>
            </a:r>
            <a:r>
              <a:rPr lang="en-US" sz="2000" b="0" i="0" u="none" strike="noStrike" baseline="0" dirty="0">
                <a:latin typeface="STIXGeneral-Regular"/>
              </a:rPr>
              <a:t>(or equivalently, if </a:t>
            </a:r>
            <a:r>
              <a:rPr lang="en-US" sz="2000" b="0" i="1" u="none" strike="noStrike" baseline="0" dirty="0">
                <a:latin typeface="STIXGeneral-Italic"/>
              </a:rPr>
              <a:t>b/a </a:t>
            </a:r>
            <a:r>
              <a:rPr lang="en-US" sz="2000" b="0" i="0" u="none" strike="noStrike" baseline="0" dirty="0">
                <a:latin typeface="STIXGeneral-Regular"/>
              </a:rPr>
              <a:t>is an integer). When </a:t>
            </a:r>
            <a:r>
              <a:rPr lang="en-US" sz="2000" b="0" i="1" u="none" strike="noStrike" baseline="0" dirty="0">
                <a:latin typeface="STIXGeneral-Italic"/>
              </a:rPr>
              <a:t>a </a:t>
            </a:r>
            <a:r>
              <a:rPr lang="en-US" sz="2000" b="0" i="0" u="none" strike="noStrike" baseline="0" dirty="0">
                <a:latin typeface="STIXGeneral-Regular"/>
              </a:rPr>
              <a:t>divides </a:t>
            </a:r>
            <a:r>
              <a:rPr lang="en-US" sz="2000" b="0" i="1" u="none" strike="noStrike" baseline="0" dirty="0">
                <a:latin typeface="STIXGeneral-Italic"/>
              </a:rPr>
              <a:t>b </a:t>
            </a:r>
            <a:r>
              <a:rPr lang="en-US" sz="2000" b="0" i="0" u="none" strike="noStrike" baseline="0" dirty="0">
                <a:latin typeface="STIXGeneral-Regular"/>
              </a:rPr>
              <a:t>we say that </a:t>
            </a:r>
            <a:r>
              <a:rPr lang="en-US" sz="2000" b="0" i="1" u="none" strike="noStrike" baseline="0" dirty="0">
                <a:latin typeface="STIXGeneral-Italic"/>
              </a:rPr>
              <a:t>a </a:t>
            </a:r>
            <a:r>
              <a:rPr lang="en-US" sz="2000" b="0" i="0" u="none" strike="noStrike" baseline="0" dirty="0">
                <a:latin typeface="STIXGeneral-Regular"/>
              </a:rPr>
              <a:t>is a </a:t>
            </a:r>
            <a:r>
              <a:rPr lang="en-US" sz="2000" b="0" i="1" u="none" strike="noStrike" baseline="0" dirty="0">
                <a:latin typeface="STIXGeneral-Italic"/>
              </a:rPr>
              <a:t>factor </a:t>
            </a:r>
            <a:r>
              <a:rPr lang="en-US" sz="2000" b="0" i="0" u="none" strike="noStrike" baseline="0" dirty="0">
                <a:latin typeface="STIXGeneral-Regular"/>
              </a:rPr>
              <a:t>or </a:t>
            </a:r>
            <a:r>
              <a:rPr lang="en-US" sz="2000" b="0" i="1" u="none" strike="noStrike" baseline="0" dirty="0">
                <a:latin typeface="STIXGeneral-Italic"/>
              </a:rPr>
              <a:t>divisor </a:t>
            </a:r>
            <a:r>
              <a:rPr lang="en-US" sz="2000" b="0" i="0" u="none" strike="noStrike" baseline="0" dirty="0">
                <a:latin typeface="STIXGeneral-Regular"/>
              </a:rPr>
              <a:t>of </a:t>
            </a:r>
            <a:r>
              <a:rPr lang="en-US" sz="2000" b="0" i="1" u="none" strike="noStrike" baseline="0" dirty="0">
                <a:latin typeface="STIXGeneral-Italic"/>
              </a:rPr>
              <a:t>b</a:t>
            </a:r>
            <a:r>
              <a:rPr lang="en-US" sz="2000" b="0" i="0" u="none" strike="noStrike" baseline="0" dirty="0">
                <a:latin typeface="STIXGeneral-Regular"/>
              </a:rPr>
              <a:t>, and that </a:t>
            </a:r>
            <a:r>
              <a:rPr lang="en-US" sz="2000" b="0" i="1" u="none" strike="noStrike" baseline="0" dirty="0">
                <a:latin typeface="STIXGeneral-Italic"/>
              </a:rPr>
              <a:t>b </a:t>
            </a:r>
            <a:r>
              <a:rPr lang="en-US" sz="2000" b="0" i="0" u="none" strike="noStrike" baseline="0" dirty="0">
                <a:latin typeface="STIXGeneral-Regular"/>
              </a:rPr>
              <a:t>is a </a:t>
            </a:r>
            <a:r>
              <a:rPr lang="en-US" sz="2000" b="0" i="1" u="none" strike="noStrike" baseline="0" dirty="0">
                <a:latin typeface="STIXGeneral-Italic"/>
              </a:rPr>
              <a:t>multiple </a:t>
            </a:r>
            <a:r>
              <a:rPr lang="en-US" sz="2000" b="0" i="0" u="none" strike="noStrike" baseline="0" dirty="0">
                <a:latin typeface="STIXGeneral-Regular"/>
              </a:rPr>
              <a:t>of </a:t>
            </a:r>
            <a:r>
              <a:rPr lang="en-US" sz="2000" b="0" i="1" u="none" strike="noStrike" baseline="0" dirty="0">
                <a:latin typeface="STIXGeneral-Italic"/>
              </a:rPr>
              <a:t>a</a:t>
            </a:r>
            <a:r>
              <a:rPr lang="en-US" sz="2000" b="0" i="0" u="none" strike="noStrike" baseline="0" dirty="0">
                <a:latin typeface="STIXGeneral-Regular"/>
              </a:rPr>
              <a:t>. The notation </a:t>
            </a:r>
            <a:r>
              <a:rPr lang="en-US" sz="2000" b="0" i="1" u="none" strike="noStrike" baseline="0" dirty="0">
                <a:latin typeface="STIXGeneral-Italic"/>
              </a:rPr>
              <a:t>a </a:t>
            </a:r>
            <a:r>
              <a:rPr lang="en-US" sz="2000" b="0" i="0" u="none" strike="noStrike" baseline="0" dirty="0">
                <a:latin typeface="STIXMath-Regular"/>
              </a:rPr>
              <a:t>∣ </a:t>
            </a:r>
            <a:r>
              <a:rPr lang="en-US" sz="2000" b="0" i="1" u="none" strike="noStrike" baseline="0" dirty="0">
                <a:latin typeface="STIXGeneral-Italic"/>
              </a:rPr>
              <a:t>b </a:t>
            </a:r>
            <a:r>
              <a:rPr lang="en-US" sz="2000" b="0" i="0" u="none" strike="noStrike" baseline="0" dirty="0">
                <a:latin typeface="STIXGeneral-Regular"/>
              </a:rPr>
              <a:t>denotes that </a:t>
            </a:r>
            <a:r>
              <a:rPr lang="en-US" sz="2000" b="0" i="1" u="none" strike="noStrike" baseline="0" dirty="0">
                <a:latin typeface="STIXGeneral-Italic"/>
              </a:rPr>
              <a:t>a </a:t>
            </a:r>
            <a:r>
              <a:rPr lang="en-US" sz="2000" b="0" i="0" u="none" strike="noStrike" baseline="0" dirty="0">
                <a:latin typeface="STIXGeneral-Regular"/>
              </a:rPr>
              <a:t>divides </a:t>
            </a:r>
            <a:r>
              <a:rPr lang="en-US" sz="2000" b="0" i="1" u="none" strike="noStrike" baseline="0" dirty="0">
                <a:latin typeface="STIXGeneral-Italic"/>
              </a:rPr>
              <a:t>b</a:t>
            </a:r>
            <a:r>
              <a:rPr lang="en-US" sz="2000" b="0" i="0" u="none" strike="noStrike" baseline="0" dirty="0">
                <a:latin typeface="STIXGeneral-Regular"/>
              </a:rPr>
              <a:t>. We  write </a:t>
            </a:r>
            <a:r>
              <a:rPr lang="en-US" sz="2000" b="0" i="1" u="none" strike="noStrike" baseline="0" dirty="0">
                <a:latin typeface="STIXGeneral-Italic"/>
              </a:rPr>
              <a:t>a </a:t>
            </a:r>
            <a:r>
              <a:rPr lang="en-US" sz="2000" dirty="0"/>
              <a:t>∤ </a:t>
            </a:r>
            <a:r>
              <a:rPr lang="en-US" sz="2000" b="0" i="1" u="none" strike="noStrike" baseline="0" dirty="0">
                <a:latin typeface="STIXGeneral-Italic"/>
              </a:rPr>
              <a:t>b </a:t>
            </a:r>
            <a:r>
              <a:rPr lang="en-US" sz="2000" b="0" i="0" u="none" strike="noStrike" baseline="0" dirty="0">
                <a:latin typeface="STIXGeneral-Regular"/>
              </a:rPr>
              <a:t>when </a:t>
            </a:r>
            <a:r>
              <a:rPr lang="en-US" sz="2000" b="0" i="1" u="none" strike="noStrike" baseline="0" dirty="0">
                <a:latin typeface="STIXGeneral-Italic"/>
              </a:rPr>
              <a:t>a </a:t>
            </a:r>
            <a:r>
              <a:rPr lang="en-US" sz="2000" b="0" i="0" u="none" strike="noStrike" baseline="0" dirty="0">
                <a:latin typeface="STIXGeneral-Regular"/>
              </a:rPr>
              <a:t>does not divide </a:t>
            </a:r>
            <a:r>
              <a:rPr lang="en-US" sz="2000" b="0" i="1" u="none" strike="noStrike" baseline="0" dirty="0">
                <a:latin typeface="STIXGeneral-Italic"/>
              </a:rPr>
              <a:t>b</a:t>
            </a:r>
            <a:r>
              <a:rPr lang="en-US" sz="2000" b="0" i="0" u="none" strike="noStrike" baseline="0" dirty="0">
                <a:latin typeface="STIXGeneral-Regular"/>
              </a:rPr>
              <a:t>.</a:t>
            </a:r>
          </a:p>
          <a:p>
            <a:endParaRPr lang="en-US" sz="2000" dirty="0">
              <a:latin typeface="STIXGeneral-Regular"/>
            </a:endParaRPr>
          </a:p>
          <a:p>
            <a:pPr algn="l"/>
            <a:r>
              <a:rPr lang="en-US" sz="1800" b="0" i="0" u="none" strike="noStrike" baseline="0" dirty="0">
                <a:latin typeface="STIXGeneral-Regular"/>
              </a:rPr>
              <a:t>We can express </a:t>
            </a:r>
            <a:r>
              <a:rPr lang="en-US" sz="1800" b="0" i="1" u="none" strike="noStrike" baseline="0" dirty="0">
                <a:latin typeface="STIXGeneral-Italic"/>
              </a:rPr>
              <a:t>a </a:t>
            </a:r>
            <a:r>
              <a:rPr lang="en-US" sz="1800" b="0" i="0" u="none" strike="noStrike" baseline="0" dirty="0">
                <a:latin typeface="STIXMath-Regular"/>
              </a:rPr>
              <a:t>∣ </a:t>
            </a:r>
            <a:r>
              <a:rPr lang="en-US" sz="1800" b="0" i="1" u="none" strike="noStrike" baseline="0" dirty="0">
                <a:latin typeface="STIXGeneral-Italic"/>
              </a:rPr>
              <a:t>b </a:t>
            </a:r>
            <a:r>
              <a:rPr lang="en-US" sz="1800" b="0" i="0" u="none" strike="noStrike" baseline="0" dirty="0">
                <a:latin typeface="STIXGeneral-Regular"/>
              </a:rPr>
              <a:t>using quantifiers as </a:t>
            </a:r>
            <a:r>
              <a:rPr lang="en-US" sz="1800" b="0" i="0" u="none" strike="noStrike" baseline="0" dirty="0">
                <a:latin typeface="STIXMath-Regular"/>
              </a:rPr>
              <a:t>∃</a:t>
            </a:r>
            <a:r>
              <a:rPr lang="en-US" sz="1800" b="0" i="1" u="none" strike="noStrike" baseline="0" dirty="0">
                <a:latin typeface="STIXGeneral-Italic"/>
              </a:rPr>
              <a:t>c </a:t>
            </a:r>
            <a:r>
              <a:rPr lang="en-US" sz="1800" b="0" i="0" u="none" strike="noStrike" baseline="0" dirty="0">
                <a:latin typeface="STIXGeneral-Regular"/>
              </a:rPr>
              <a:t>(</a:t>
            </a:r>
            <a:r>
              <a:rPr lang="en-US" sz="1800" b="0" i="1" u="none" strike="noStrike" baseline="0" dirty="0">
                <a:latin typeface="STIXGeneral-Italic"/>
              </a:rPr>
              <a:t>ac </a:t>
            </a:r>
            <a:r>
              <a:rPr lang="en-US" sz="1800" b="0" i="0" u="none" strike="noStrike" baseline="0" dirty="0">
                <a:latin typeface="STIXMath-Regular"/>
              </a:rPr>
              <a:t>= </a:t>
            </a:r>
            <a:r>
              <a:rPr lang="en-US" sz="1800" b="0" i="1" u="none" strike="noStrike" baseline="0" dirty="0">
                <a:latin typeface="STIXGeneral-Italic"/>
              </a:rPr>
              <a:t>b</a:t>
            </a:r>
            <a:r>
              <a:rPr lang="en-US" sz="1800" b="0" i="0" u="none" strike="noStrike" baseline="0" dirty="0">
                <a:latin typeface="STIXGeneral-Regular"/>
              </a:rPr>
              <a:t>), where the universe of discourse is the set of integers.</a:t>
            </a:r>
          </a:p>
          <a:p>
            <a:pPr algn="l"/>
            <a:endParaRPr lang="en-US" sz="1800" dirty="0">
              <a:latin typeface="STIXGeneral-Regular"/>
            </a:endParaRPr>
          </a:p>
          <a:p>
            <a:pPr algn="l"/>
            <a:r>
              <a:rPr lang="en-US" sz="1800" dirty="0">
                <a:latin typeface="STIXGeneral-Regular"/>
              </a:rPr>
              <a:t>Example 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General-Regular"/>
              </a:rPr>
              <a:t>Determine whether 3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Math-Regular"/>
              </a:rPr>
              <a:t>∣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General-Regular"/>
              </a:rPr>
              <a:t>7 and whether 3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Math-Regular"/>
              </a:rPr>
              <a:t>∣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General-Regular"/>
              </a:rPr>
              <a:t>12.</a:t>
            </a:r>
          </a:p>
          <a:p>
            <a:pPr marL="0" indent="0" algn="l">
              <a:buNone/>
            </a:pPr>
            <a:r>
              <a:rPr lang="en-US" sz="1800" i="1" dirty="0">
                <a:solidFill>
                  <a:srgbClr val="00FFFF"/>
                </a:solidFill>
                <a:latin typeface="STIXGeneral-Italic"/>
              </a:rPr>
              <a:t>  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General-Regular"/>
              </a:rPr>
              <a:t>We see that 3 </a:t>
            </a:r>
            <a:r>
              <a:rPr lang="en-US" sz="1800" dirty="0"/>
              <a:t>∤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MathExtensions-Regular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General-Regular"/>
              </a:rPr>
              <a:t>7, because 7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Math-Regular"/>
              </a:rPr>
              <a:t>∕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General-Regular"/>
              </a:rPr>
              <a:t>3 is not an integer. On the other hand, 3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Math-Regular"/>
              </a:rPr>
              <a:t>∣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General-Regular"/>
              </a:rPr>
              <a:t>12 because  12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Math-Regular"/>
              </a:rPr>
              <a:t>∕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General-Regular"/>
              </a:rPr>
              <a:t>3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Math-Regular"/>
              </a:rPr>
              <a:t>=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TIXGeneral-Regular"/>
              </a:rPr>
              <a:t>4.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CADFC-C6ED-4592-17BB-E9416E640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0075-AD05-4C6E-9FE0-B945BB9CAB99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6B4ED-E7EA-ECBF-2094-BCBC8A01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07941-19F8-AF44-B921-E4A303CDA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61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DCFB-3061-3B6A-ABEE-9E031E406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Division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BCA301-7D12-CADB-63EC-0622D4DB0D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3851"/>
                <a:ext cx="10515600" cy="4992499"/>
              </a:xfrm>
            </p:spPr>
            <p:txBody>
              <a:bodyPr/>
              <a:lstStyle/>
              <a:p>
                <a:r>
                  <a:rPr lang="en-US" dirty="0"/>
                  <a:t>Theorem : Let a be an integer and d a positive integer. Then there are unique integers q and r, with 0≤ r &lt; d, such that a = </a:t>
                </a:r>
                <a:r>
                  <a:rPr lang="en-US" dirty="0" err="1"/>
                  <a:t>qd</a:t>
                </a:r>
                <a:r>
                  <a:rPr lang="en-US" dirty="0"/>
                  <a:t> + r.</a:t>
                </a:r>
                <a:endParaRPr lang="en-US" sz="2800" dirty="0"/>
              </a:p>
              <a:p>
                <a:r>
                  <a:rPr lang="en-US" sz="2800" b="1" dirty="0"/>
                  <a:t>Terminology:  </a:t>
                </a:r>
                <a:r>
                  <a:rPr lang="en-US" sz="2800" dirty="0"/>
                  <a:t>a – dividend  d – divisor  q – quotient   r – remainder. Also 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𝒅𝒊𝒗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800" dirty="0"/>
                  <a:t>   and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800" dirty="0"/>
                  <a:t>.</a:t>
                </a:r>
                <a:endParaRPr lang="en-US" dirty="0"/>
              </a:p>
              <a:p>
                <a:r>
                  <a:rPr lang="en-US" b="1" dirty="0"/>
                  <a:t>Note the remainder (r)  can not be a negative value. </a:t>
                </a:r>
                <a:r>
                  <a:rPr lang="en-US" dirty="0"/>
                  <a:t>The integer a is divisible by the integer d if and only if the remainder is zero when a is divided by d (</a:t>
                </a:r>
                <a:r>
                  <a:rPr lang="en-US" dirty="0" err="1"/>
                  <a:t>ie</a:t>
                </a:r>
                <a:r>
                  <a:rPr lang="en-US" dirty="0"/>
                  <a:t> a = q d). </a:t>
                </a:r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BCA301-7D12-CADB-63EC-0622D4DB0D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3851"/>
                <a:ext cx="10515600" cy="4992499"/>
              </a:xfrm>
              <a:blipFill>
                <a:blip r:embed="rId2"/>
                <a:stretch>
                  <a:fillRect l="-1043" t="-2076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39F73-E249-A57B-47D8-A83FFE0D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2B572-1DC7-4353-BEE2-2030F8A7FFFD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4523D-3C4F-D785-9000-7FAEE6CC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650A-DDA1-61CA-0276-AD2C3434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98DB039-94F5-5F6B-DFEA-A9F57DC57299}"/>
                  </a:ext>
                </a:extLst>
              </p:cNvPr>
              <p:cNvSpPr/>
              <p:nvPr/>
            </p:nvSpPr>
            <p:spPr>
              <a:xfrm>
                <a:off x="785247" y="4484505"/>
                <a:ext cx="1051560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divides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we say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is a </a:t>
                </a:r>
                <a:r>
                  <a:rPr lang="en-US" sz="2400" b="1" dirty="0"/>
                  <a:t>factor</a:t>
                </a:r>
                <a:r>
                  <a:rPr lang="en-US" sz="2400" dirty="0"/>
                  <a:t> or </a:t>
                </a:r>
                <a:r>
                  <a:rPr lang="en-US" sz="2400" b="1" dirty="0"/>
                  <a:t>divisor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, and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is a multiple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 and is denoted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98DB039-94F5-5F6B-DFEA-A9F57DC572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247" y="4484505"/>
                <a:ext cx="10515600" cy="830997"/>
              </a:xfrm>
              <a:prstGeom prst="rect">
                <a:avLst/>
              </a:prstGeom>
              <a:blipFill>
                <a:blip r:embed="rId3"/>
                <a:stretch>
                  <a:fillRect l="-928" t="-5882" r="-1217" b="-16176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4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DCFB-3061-3B6A-ABEE-9E031E4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6020"/>
          </a:xfrm>
        </p:spPr>
        <p:txBody>
          <a:bodyPr/>
          <a:lstStyle/>
          <a:p>
            <a:r>
              <a:rPr lang="en-US" dirty="0"/>
              <a:t>Modular arithmetic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39F73-E249-A57B-47D8-A83FFE0D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D353F-61F5-4B93-AC85-22F501D2A1AB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4523D-3C4F-D785-9000-7FAEE6CC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650A-DDA1-61CA-0276-AD2C3434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C686A8-3F6D-785E-B956-665EA7AD6E61}"/>
              </a:ext>
            </a:extLst>
          </p:cNvPr>
          <p:cNvSpPr/>
          <p:nvPr/>
        </p:nvSpPr>
        <p:spPr>
          <a:xfrm>
            <a:off x="588935" y="1471145"/>
            <a:ext cx="1112778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Division of an integer by a positive integer produces a </a:t>
            </a:r>
            <a:r>
              <a:rPr lang="en-US" sz="2400" b="1" dirty="0"/>
              <a:t>quotient</a:t>
            </a:r>
            <a:r>
              <a:rPr lang="en-US" sz="2400" dirty="0"/>
              <a:t> and a </a:t>
            </a:r>
            <a:r>
              <a:rPr lang="en-US" sz="2400" b="1" dirty="0"/>
              <a:t>remainder</a:t>
            </a:r>
            <a:r>
              <a:rPr lang="en-US" sz="2400" dirty="0"/>
              <a:t>. Working with these remainders leads to </a:t>
            </a:r>
            <a:r>
              <a:rPr lang="en-US" sz="2400" b="1" dirty="0"/>
              <a:t>modular arithmetic</a:t>
            </a:r>
            <a:r>
              <a:rPr lang="en-US" sz="2400" dirty="0"/>
              <a:t>, which plays an important role in mathematics and computer science.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Number theory studies the properties of integers Z = {0, ±1, ±2, . . .} and rational numbers Q = {p/q : p, q ∈ Z, q ≠ 0}</a:t>
            </a:r>
          </a:p>
        </p:txBody>
      </p:sp>
    </p:spTree>
    <p:extLst>
      <p:ext uri="{BB962C8B-B14F-4D97-AF65-F5344CB8AC3E}">
        <p14:creationId xmlns:p14="http://schemas.microsoft.com/office/powerpoint/2010/main" val="39333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FD699-59B1-2440-550E-8C315154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congruence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09B86-63BD-B067-166C-923B777F2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If a and b are integers and m is a positive integer, then a is congruent to b modulo m if m divides a − b.</a:t>
            </a:r>
          </a:p>
          <a:p>
            <a:r>
              <a:rPr lang="en-US" dirty="0"/>
              <a:t>We use the notation  a ≡ b (mod m) to indicate that </a:t>
            </a:r>
            <a:r>
              <a:rPr lang="en-US" b="1" dirty="0"/>
              <a:t>a is congruent to b modulo m</a:t>
            </a:r>
            <a:r>
              <a:rPr lang="en-US" dirty="0"/>
              <a:t>. </a:t>
            </a:r>
          </a:p>
          <a:p>
            <a:r>
              <a:rPr lang="en-US" dirty="0"/>
              <a:t>We say that a ≡ b (mod m) is a </a:t>
            </a:r>
            <a:r>
              <a:rPr lang="en-US" b="1" dirty="0"/>
              <a:t>congruence</a:t>
            </a:r>
            <a:r>
              <a:rPr lang="en-US" dirty="0"/>
              <a:t> and that m is its </a:t>
            </a:r>
            <a:r>
              <a:rPr lang="en-US" b="1" dirty="0"/>
              <a:t>modulus</a:t>
            </a:r>
            <a:r>
              <a:rPr lang="en-US" dirty="0"/>
              <a:t> (plural </a:t>
            </a:r>
            <a:r>
              <a:rPr lang="en-US" b="1" dirty="0"/>
              <a:t>moduli</a:t>
            </a:r>
            <a:r>
              <a:rPr lang="en-US" dirty="0"/>
              <a:t>). </a:t>
            </a:r>
          </a:p>
          <a:p>
            <a:r>
              <a:rPr lang="en-US" dirty="0"/>
              <a:t>If a and b are </a:t>
            </a:r>
            <a:r>
              <a:rPr lang="en-US" b="1" dirty="0"/>
              <a:t>not congruent </a:t>
            </a:r>
            <a:r>
              <a:rPr lang="en-US" dirty="0"/>
              <a:t>modulo m, we write a ≢ b (mod m).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5DCDE-D093-E9DD-DE08-76FA44AD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0CC9A-B26B-4A10-9D38-78D26DDF5789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9A46C-23E3-F9A3-A2E7-8293E980B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85888-A1FD-9CBC-0403-E90D0633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42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E149-D838-2DAA-5626-015F88F41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46AC6-46A1-B537-18FE-989D6B1BF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827"/>
            <a:ext cx="10515600" cy="45961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are the quotient (101 div 11) and remainder (101 mod 11)  when 101 is divided by 11?</a:t>
            </a:r>
          </a:p>
          <a:p>
            <a:endParaRPr lang="en-US" dirty="0"/>
          </a:p>
          <a:p>
            <a:r>
              <a:rPr lang="en-US" dirty="0"/>
              <a:t> We have 101 = 11 ⋅9+2. </a:t>
            </a:r>
          </a:p>
          <a:p>
            <a:pPr marL="0" indent="0">
              <a:buNone/>
            </a:pPr>
            <a:r>
              <a:rPr lang="en-US" dirty="0"/>
              <a:t>	Hence, the quotient when 101 is divided by 11 is 9  (101 div 11),</a:t>
            </a:r>
          </a:p>
          <a:p>
            <a:pPr marL="0" indent="0">
              <a:buNone/>
            </a:pPr>
            <a:r>
              <a:rPr lang="en-US" dirty="0"/>
              <a:t>	The remainder (101 mod 11) is 2</a:t>
            </a:r>
          </a:p>
          <a:p>
            <a:pPr marL="0" indent="0">
              <a:buNone/>
            </a:pPr>
            <a:r>
              <a:rPr lang="en-US" dirty="0"/>
              <a:t>The notation used to express the quotient (q) and the remainder(r) when  a = </a:t>
            </a:r>
            <a:r>
              <a:rPr lang="en-US" dirty="0" err="1"/>
              <a:t>dq</a:t>
            </a:r>
            <a:r>
              <a:rPr lang="en-US" dirty="0"/>
              <a:t> + r : </a:t>
            </a:r>
          </a:p>
          <a:p>
            <a:pPr marL="0" indent="0">
              <a:buNone/>
            </a:pPr>
            <a:r>
              <a:rPr lang="en-US" dirty="0"/>
              <a:t>	q = a div d,</a:t>
            </a:r>
          </a:p>
          <a:p>
            <a:pPr marL="0" indent="0">
              <a:buNone/>
            </a:pPr>
            <a:r>
              <a:rPr lang="en-US" dirty="0"/>
              <a:t> 	r = a mod 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20455-FC5A-35A1-8856-068A195C0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CFE2B-2FA8-49D4-B987-1B2F1A9559BD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24B4A-739E-C8E6-D948-8AD0FFD00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7E448-A685-4BC6-BE0A-99CC2F35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909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F7B9B-B82F-1081-C9AC-96F428DC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A051B-C06A-6343-212A-E8173FDE1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quotient and remainder when −11 is divided by 3?</a:t>
            </a:r>
          </a:p>
          <a:p>
            <a:endParaRPr lang="en-US" dirty="0"/>
          </a:p>
          <a:p>
            <a:r>
              <a:rPr lang="en-US" dirty="0"/>
              <a:t>-11 = 3 (-4) + 1   (not -11 = 3 (-3) - 2 )</a:t>
            </a:r>
          </a:p>
          <a:p>
            <a:pPr marL="0" indent="0">
              <a:buNone/>
            </a:pPr>
            <a:r>
              <a:rPr lang="en-US" dirty="0"/>
              <a:t>Quotient = -11 div 3 = -4</a:t>
            </a:r>
          </a:p>
          <a:p>
            <a:pPr marL="0" indent="0">
              <a:buNone/>
            </a:pPr>
            <a:r>
              <a:rPr lang="en-US" dirty="0"/>
              <a:t>Remainder = -11 mod 3 = 1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52A32-B70B-2EF3-BFF2-F806A893A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106E-6836-40F8-B13B-4DDB075048E2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117D6-75E4-0780-DA7B-55CBCCBE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017FC-E628-9C1D-061A-94C0BB36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23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B9A1-F5B2-619A-7178-4C81E1D21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3261"/>
          </a:xfrm>
        </p:spPr>
        <p:txBody>
          <a:bodyPr>
            <a:normAutofit fontScale="90000"/>
          </a:bodyPr>
          <a:lstStyle/>
          <a:p>
            <a:r>
              <a:rPr lang="en-US" dirty="0"/>
              <a:t>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A0F09-35A8-61CD-EF53-8E75FF639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2" y="1038386"/>
            <a:ext cx="11095495" cy="5317964"/>
          </a:xfrm>
        </p:spPr>
        <p:txBody>
          <a:bodyPr>
            <a:normAutofit fontScale="25000" lnSpcReduction="20000"/>
          </a:bodyPr>
          <a:lstStyle/>
          <a:p>
            <a:r>
              <a:rPr lang="en-US" sz="11200" dirty="0"/>
              <a:t>Let a and b be integers, and let m be a positive integer. </a:t>
            </a:r>
          </a:p>
          <a:p>
            <a:pPr marL="0" indent="0">
              <a:buNone/>
            </a:pPr>
            <a:r>
              <a:rPr lang="en-US" sz="11200" dirty="0"/>
              <a:t>Then a ≡ b (mod m) if and only if a mod m = b mod m.</a:t>
            </a:r>
          </a:p>
          <a:p>
            <a:pPr marL="0" indent="0">
              <a:buNone/>
            </a:pPr>
            <a:r>
              <a:rPr lang="en-US" sz="11200" dirty="0"/>
              <a:t> a mod m and b mod m are the remainders when a and b divided by m</a:t>
            </a:r>
          </a:p>
          <a:p>
            <a:pPr marL="0" indent="0">
              <a:buNone/>
            </a:pPr>
            <a:endParaRPr lang="en-US" sz="11200" dirty="0"/>
          </a:p>
          <a:p>
            <a:pPr marL="0" indent="0">
              <a:buNone/>
            </a:pPr>
            <a:r>
              <a:rPr lang="en-US" sz="11200" dirty="0"/>
              <a:t>Let a ≡ b (mod m) then a –b = k m for some integer k .</a:t>
            </a:r>
          </a:p>
          <a:p>
            <a:pPr marL="0" indent="0">
              <a:buNone/>
            </a:pPr>
            <a:r>
              <a:rPr lang="en-US" sz="11200" dirty="0"/>
              <a:t>Let a = q</a:t>
            </a:r>
            <a:r>
              <a:rPr lang="en-US" sz="11200" baseline="-25000" dirty="0"/>
              <a:t>1</a:t>
            </a:r>
            <a:r>
              <a:rPr lang="en-US" sz="11200" dirty="0"/>
              <a:t>m +r</a:t>
            </a:r>
            <a:r>
              <a:rPr lang="en-US" sz="11200" baseline="-25000" dirty="0"/>
              <a:t>1   </a:t>
            </a:r>
            <a:r>
              <a:rPr lang="en-US" sz="11200" dirty="0"/>
              <a:t>and</a:t>
            </a:r>
            <a:r>
              <a:rPr lang="en-US" sz="11200" baseline="-25000" dirty="0"/>
              <a:t> </a:t>
            </a:r>
            <a:r>
              <a:rPr lang="en-US" sz="11200" dirty="0"/>
              <a:t>b = q</a:t>
            </a:r>
            <a:r>
              <a:rPr lang="en-US" sz="11200" baseline="-25000" dirty="0"/>
              <a:t>2</a:t>
            </a:r>
            <a:r>
              <a:rPr lang="en-US" sz="11200" dirty="0"/>
              <a:t>m +r</a:t>
            </a:r>
            <a:r>
              <a:rPr lang="en-US" sz="11200" baseline="-25000" dirty="0"/>
              <a:t>2    </a:t>
            </a:r>
            <a:r>
              <a:rPr lang="en-US" sz="11200" dirty="0"/>
              <a:t>where</a:t>
            </a:r>
            <a:r>
              <a:rPr lang="en-US" sz="11200" baseline="-25000" dirty="0"/>
              <a:t> </a:t>
            </a:r>
            <a:r>
              <a:rPr lang="en-US" sz="11200" dirty="0"/>
              <a:t>r</a:t>
            </a:r>
            <a:r>
              <a:rPr lang="en-US" sz="11200" baseline="-25000" dirty="0"/>
              <a:t>1 </a:t>
            </a:r>
            <a:r>
              <a:rPr lang="en-US" sz="11200" dirty="0"/>
              <a:t>and</a:t>
            </a:r>
            <a:r>
              <a:rPr lang="en-US" sz="11200" baseline="-25000" dirty="0"/>
              <a:t> </a:t>
            </a:r>
            <a:r>
              <a:rPr lang="en-US" sz="11200" dirty="0"/>
              <a:t>r</a:t>
            </a:r>
            <a:r>
              <a:rPr lang="en-US" sz="11200" baseline="-25000" dirty="0"/>
              <a:t>2</a:t>
            </a:r>
            <a:r>
              <a:rPr lang="en-US" sz="11200" dirty="0"/>
              <a:t>   are less than m.</a:t>
            </a:r>
            <a:endParaRPr lang="en-US" sz="11200" baseline="-25000" dirty="0"/>
          </a:p>
          <a:p>
            <a:pPr marL="0" indent="0">
              <a:buNone/>
            </a:pPr>
            <a:r>
              <a:rPr lang="en-US" sz="11200" dirty="0"/>
              <a:t>Since</a:t>
            </a:r>
            <a:r>
              <a:rPr lang="en-US" sz="11200" baseline="-25000" dirty="0"/>
              <a:t> </a:t>
            </a:r>
            <a:r>
              <a:rPr lang="en-US" sz="11200" dirty="0"/>
              <a:t>a –b = km       q</a:t>
            </a:r>
            <a:r>
              <a:rPr lang="en-US" sz="11200" baseline="-25000" dirty="0"/>
              <a:t>1</a:t>
            </a:r>
            <a:r>
              <a:rPr lang="en-US" sz="11200" dirty="0"/>
              <a:t>m +r</a:t>
            </a:r>
            <a:r>
              <a:rPr lang="en-US" sz="11200" baseline="-25000" dirty="0"/>
              <a:t>1 </a:t>
            </a:r>
            <a:r>
              <a:rPr lang="en-US" sz="11200" dirty="0"/>
              <a:t>- (q</a:t>
            </a:r>
            <a:r>
              <a:rPr lang="en-US" sz="11200" baseline="-25000" dirty="0"/>
              <a:t>2</a:t>
            </a:r>
            <a:r>
              <a:rPr lang="en-US" sz="11200" dirty="0"/>
              <a:t>m +r</a:t>
            </a:r>
            <a:r>
              <a:rPr lang="en-US" sz="11200" baseline="-25000" dirty="0"/>
              <a:t>2</a:t>
            </a:r>
            <a:r>
              <a:rPr lang="en-US" sz="11200" dirty="0"/>
              <a:t>) = k m</a:t>
            </a:r>
          </a:p>
          <a:p>
            <a:pPr marL="0" indent="0">
              <a:buNone/>
            </a:pPr>
            <a:r>
              <a:rPr lang="en-US" sz="11200" dirty="0"/>
              <a:t>			 r</a:t>
            </a:r>
            <a:r>
              <a:rPr lang="en-US" sz="11200" baseline="-25000" dirty="0"/>
              <a:t>1 </a:t>
            </a:r>
            <a:r>
              <a:rPr lang="en-US" sz="11200" dirty="0"/>
              <a:t>- r</a:t>
            </a:r>
            <a:r>
              <a:rPr lang="en-US" sz="11200" baseline="-25000" dirty="0"/>
              <a:t>2</a:t>
            </a:r>
            <a:r>
              <a:rPr lang="en-US" sz="11200" dirty="0"/>
              <a:t> = m (k - q</a:t>
            </a:r>
            <a:r>
              <a:rPr lang="en-US" sz="11200" baseline="-25000" dirty="0"/>
              <a:t>1</a:t>
            </a:r>
            <a:r>
              <a:rPr lang="en-US" sz="11200" dirty="0"/>
              <a:t> + q</a:t>
            </a:r>
            <a:r>
              <a:rPr lang="en-US" sz="11200" baseline="-25000" dirty="0"/>
              <a:t>2 </a:t>
            </a:r>
            <a:r>
              <a:rPr lang="en-US" sz="11200" dirty="0"/>
              <a:t>)</a:t>
            </a:r>
          </a:p>
          <a:p>
            <a:pPr marL="0" indent="0">
              <a:buNone/>
            </a:pPr>
            <a:r>
              <a:rPr lang="en-US" sz="11200" dirty="0"/>
              <a:t>		 r</a:t>
            </a:r>
            <a:r>
              <a:rPr lang="en-US" sz="11200" baseline="-25000" dirty="0"/>
              <a:t>1 </a:t>
            </a:r>
            <a:r>
              <a:rPr lang="en-US" sz="11200" dirty="0"/>
              <a:t>- r</a:t>
            </a:r>
            <a:r>
              <a:rPr lang="en-US" sz="11200" baseline="-25000" dirty="0"/>
              <a:t>2</a:t>
            </a:r>
            <a:r>
              <a:rPr lang="en-US" sz="11200" dirty="0"/>
              <a:t>  is a multiple of m and both r</a:t>
            </a:r>
            <a:r>
              <a:rPr lang="en-US" sz="11200" baseline="-25000" dirty="0"/>
              <a:t>1</a:t>
            </a:r>
            <a:r>
              <a:rPr lang="en-US" sz="11200" dirty="0"/>
              <a:t> and r</a:t>
            </a:r>
            <a:r>
              <a:rPr lang="en-US" sz="11200" baseline="-25000" dirty="0"/>
              <a:t>2</a:t>
            </a:r>
            <a:r>
              <a:rPr lang="en-US" sz="11200" dirty="0"/>
              <a:t> are less than  m</a:t>
            </a:r>
          </a:p>
          <a:p>
            <a:pPr marL="0" indent="0">
              <a:buNone/>
            </a:pPr>
            <a:r>
              <a:rPr lang="en-US" sz="11200" dirty="0"/>
              <a:t>		               r</a:t>
            </a:r>
            <a:r>
              <a:rPr lang="en-US" sz="11200" baseline="-25000" dirty="0"/>
              <a:t>1</a:t>
            </a:r>
            <a:r>
              <a:rPr lang="en-US" sz="11200" dirty="0"/>
              <a:t> - r</a:t>
            </a:r>
            <a:r>
              <a:rPr lang="en-US" sz="11200" baseline="-25000" dirty="0"/>
              <a:t>2</a:t>
            </a:r>
            <a:r>
              <a:rPr lang="en-US" sz="11200" dirty="0"/>
              <a:t> = 0 x m = 0</a:t>
            </a:r>
          </a:p>
          <a:p>
            <a:pPr marL="0" indent="0">
              <a:buNone/>
            </a:pPr>
            <a:r>
              <a:rPr lang="en-US" sz="11200" dirty="0"/>
              <a:t>			r</a:t>
            </a:r>
            <a:r>
              <a:rPr lang="en-US" sz="11200" baseline="-25000" dirty="0"/>
              <a:t>1</a:t>
            </a:r>
            <a:r>
              <a:rPr lang="en-US" sz="11200" dirty="0"/>
              <a:t> =  r</a:t>
            </a:r>
            <a:r>
              <a:rPr lang="en-US" sz="11200" baseline="-25000" dirty="0"/>
              <a:t>2</a:t>
            </a:r>
            <a:r>
              <a:rPr lang="en-US" sz="11200" dirty="0"/>
              <a:t> </a:t>
            </a:r>
          </a:p>
          <a:p>
            <a:pPr marL="0" indent="0">
              <a:buNone/>
            </a:pPr>
            <a:r>
              <a:rPr lang="en-US" sz="11200" dirty="0"/>
              <a:t>		that is   a mod m = b mod 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5CC04-733E-C135-6FA5-32859F34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EBA7F-4D4E-467D-BC43-DE155363BCAF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FB0D2-092A-5D28-AB26-3826409B8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F7E5F-8344-C271-B408-781970928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90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B9A1-F5B2-619A-7178-4C81E1D21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5735"/>
          </a:xfrm>
        </p:spPr>
        <p:txBody>
          <a:bodyPr/>
          <a:lstStyle/>
          <a:p>
            <a:r>
              <a:rPr lang="en-US" dirty="0"/>
              <a:t>Theorem ……………….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A0F09-35A8-61CD-EF53-8E75FF639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860"/>
            <a:ext cx="10515600" cy="50854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dirty="0"/>
              <a:t>Now Let a mod m = b mod m = r</a:t>
            </a:r>
          </a:p>
          <a:p>
            <a:pPr marL="0" indent="0">
              <a:buNone/>
            </a:pPr>
            <a:r>
              <a:rPr lang="en-US" sz="4000" dirty="0"/>
              <a:t>Then  a = q1m +r   and b = q2m +r</a:t>
            </a:r>
          </a:p>
          <a:p>
            <a:pPr marL="0" indent="0">
              <a:buNone/>
            </a:pPr>
            <a:r>
              <a:rPr lang="en-US" sz="4000" dirty="0"/>
              <a:t>  a – b = m (q1  -  q2)</a:t>
            </a:r>
          </a:p>
          <a:p>
            <a:pPr marL="0" indent="0">
              <a:buNone/>
            </a:pPr>
            <a:r>
              <a:rPr lang="en-US" sz="4000" dirty="0"/>
              <a:t>     a – b is a multiple of m or m divides a-b.</a:t>
            </a:r>
          </a:p>
          <a:p>
            <a:pPr marL="0" indent="0">
              <a:buNone/>
            </a:pPr>
            <a:r>
              <a:rPr lang="en-US" sz="4000" dirty="0"/>
              <a:t>That is a ≡ b (mod m)</a:t>
            </a:r>
          </a:p>
          <a:p>
            <a:pPr marL="0" indent="0">
              <a:buNone/>
            </a:pPr>
            <a:endParaRPr lang="en-US" sz="5900" dirty="0"/>
          </a:p>
          <a:p>
            <a:pPr marL="0" indent="0">
              <a:buNone/>
            </a:pPr>
            <a:r>
              <a:rPr lang="en-US" sz="5900" dirty="0"/>
              <a:t>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5CC04-733E-C135-6FA5-32859F34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7B82-830B-4C3C-B0D1-C8741D04B975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FB0D2-092A-5D28-AB26-3826409B8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F7E5F-8344-C271-B408-781970928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2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Basic Facts About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38200" y="1312502"/>
                <a:ext cx="10515600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Theorem 1:</a:t>
                </a:r>
                <a:r>
                  <a:rPr lang="en-US" sz="2400" dirty="0"/>
                  <a:t>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be integers, 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. Then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then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r>
                  <a:rPr lang="en-US" sz="2400" dirty="0"/>
                  <a:t> for all integers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000" dirty="0"/>
                  <a:t>Suppose that </a:t>
                </a:r>
                <a:r>
                  <a:rPr lang="en-US" sz="2000" i="1" dirty="0"/>
                  <a:t>a </a:t>
                </a:r>
                <a:r>
                  <a:rPr lang="en-US" sz="2000" dirty="0"/>
                  <a:t>∣ </a:t>
                </a:r>
                <a:r>
                  <a:rPr lang="en-US" sz="2000" i="1" dirty="0"/>
                  <a:t>b </a:t>
                </a:r>
                <a:r>
                  <a:rPr lang="en-US" sz="2000" dirty="0"/>
                  <a:t>and </a:t>
                </a:r>
                <a:r>
                  <a:rPr lang="en-US" sz="2000" i="1" dirty="0"/>
                  <a:t>a </a:t>
                </a:r>
                <a:r>
                  <a:rPr lang="en-US" sz="2000" dirty="0"/>
                  <a:t>∣ </a:t>
                </a:r>
                <a:r>
                  <a:rPr lang="en-US" sz="2000" i="1" dirty="0"/>
                  <a:t>c</a:t>
                </a:r>
                <a:r>
                  <a:rPr lang="en-US" sz="2000" dirty="0"/>
                  <a:t>. Then, there are integers </a:t>
                </a:r>
                <a:r>
                  <a:rPr lang="en-US" sz="2000" i="1" dirty="0"/>
                  <a:t>s </a:t>
                </a:r>
                <a:r>
                  <a:rPr lang="en-US" sz="2000" dirty="0"/>
                  <a:t>and </a:t>
                </a:r>
                <a:r>
                  <a:rPr lang="en-US" sz="2000" i="1" dirty="0"/>
                  <a:t>t </a:t>
                </a:r>
                <a:r>
                  <a:rPr lang="en-US" sz="2000" dirty="0"/>
                  <a:t>with </a:t>
                </a:r>
                <a:r>
                  <a:rPr lang="en-US" sz="2000" i="1" dirty="0"/>
                  <a:t>b </a:t>
                </a:r>
                <a:r>
                  <a:rPr lang="en-US" sz="2000" dirty="0"/>
                  <a:t>= </a:t>
                </a:r>
                <a:r>
                  <a:rPr lang="en-US" sz="2000" i="1" dirty="0"/>
                  <a:t>as </a:t>
                </a:r>
                <a:r>
                  <a:rPr lang="en-US" sz="2000" dirty="0"/>
                  <a:t>and </a:t>
                </a:r>
                <a:r>
                  <a:rPr lang="en-US" sz="2000" i="1" dirty="0"/>
                  <a:t>c </a:t>
                </a:r>
                <a:r>
                  <a:rPr lang="en-US" sz="2000" dirty="0"/>
                  <a:t>= </a:t>
                </a:r>
                <a:r>
                  <a:rPr lang="en-US" sz="2000" i="1" dirty="0"/>
                  <a:t>at</a:t>
                </a:r>
                <a:r>
                  <a:rPr lang="en-US" sz="2000" dirty="0"/>
                  <a:t>. </a:t>
                </a:r>
              </a:p>
              <a:p>
                <a:r>
                  <a:rPr lang="en-US" sz="2000" dirty="0"/>
                  <a:t>Hence,  </a:t>
                </a:r>
                <a:r>
                  <a:rPr lang="en-US" sz="2000" i="1" dirty="0"/>
                  <a:t>b </a:t>
                </a:r>
                <a:r>
                  <a:rPr lang="en-US" sz="2000" dirty="0"/>
                  <a:t>+ </a:t>
                </a:r>
                <a:r>
                  <a:rPr lang="en-US" sz="2000" i="1" dirty="0"/>
                  <a:t>c </a:t>
                </a:r>
                <a:r>
                  <a:rPr lang="en-US" sz="2000" dirty="0"/>
                  <a:t>= </a:t>
                </a:r>
                <a:r>
                  <a:rPr lang="en-US" sz="2000" i="1" dirty="0"/>
                  <a:t>as </a:t>
                </a:r>
                <a:r>
                  <a:rPr lang="en-US" sz="2000" dirty="0"/>
                  <a:t>+ </a:t>
                </a:r>
                <a:r>
                  <a:rPr lang="en-US" sz="2000" i="1" dirty="0"/>
                  <a:t>at </a:t>
                </a:r>
                <a:r>
                  <a:rPr lang="en-US" sz="2000" dirty="0"/>
                  <a:t>= </a:t>
                </a:r>
                <a:r>
                  <a:rPr lang="en-US" sz="2000" i="1" dirty="0"/>
                  <a:t>a</a:t>
                </a:r>
                <a:r>
                  <a:rPr lang="en-US" sz="2000" dirty="0"/>
                  <a:t>(</a:t>
                </a:r>
                <a:r>
                  <a:rPr lang="en-US" sz="2000" i="1" dirty="0"/>
                  <a:t>s </a:t>
                </a:r>
                <a:r>
                  <a:rPr lang="en-US" sz="2000" dirty="0"/>
                  <a:t>+ </a:t>
                </a:r>
                <a:r>
                  <a:rPr lang="en-US" sz="2000" i="1" dirty="0"/>
                  <a:t>t</a:t>
                </a:r>
                <a:r>
                  <a:rPr lang="en-US" sz="2000" dirty="0"/>
                  <a:t>)</a:t>
                </a:r>
                <a:r>
                  <a:rPr lang="en-US" sz="2000" i="1" dirty="0"/>
                  <a:t>.</a:t>
                </a:r>
              </a:p>
              <a:p>
                <a:r>
                  <a:rPr lang="en-US" sz="2000" dirty="0"/>
                  <a:t>Therefore, </a:t>
                </a:r>
                <a:r>
                  <a:rPr lang="en-US" sz="2000" i="1" dirty="0"/>
                  <a:t>b + c  is </a:t>
                </a:r>
                <a:r>
                  <a:rPr lang="en-US" sz="2000" dirty="0"/>
                  <a:t>divisi</a:t>
                </a:r>
                <a:r>
                  <a:rPr lang="en-US" sz="2000" i="1" dirty="0"/>
                  <a:t>ble by  a.</a:t>
                </a:r>
              </a:p>
              <a:p>
                <a:endParaRPr lang="en-US" sz="2000" i="1" dirty="0"/>
              </a:p>
              <a:p>
                <a:r>
                  <a:rPr lang="en-US" sz="2000" i="1" dirty="0"/>
                  <a:t>Similarly part 2 and 3 can be proved.</a:t>
                </a:r>
                <a:endParaRPr lang="en-US" sz="2000" dirty="0"/>
              </a:p>
              <a:p>
                <a:pPr lvl="1"/>
                <a:endParaRPr lang="en-US" sz="2000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12502"/>
                <a:ext cx="10515600" cy="4154984"/>
              </a:xfrm>
              <a:prstGeom prst="rect">
                <a:avLst/>
              </a:prstGeom>
              <a:blipFill>
                <a:blip r:embed="rId2"/>
                <a:stretch>
                  <a:fillRect l="-928" t="-1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94AD-C966-4011-9A6B-BF9B095FC182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8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Basic Facts About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81739" y="1222135"/>
                <a:ext cx="10314904" cy="36933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Corollary 2:</a:t>
                </a:r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are integers, 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≠ 0</m:t>
                    </m:r>
                  </m:oMath>
                </a14:m>
                <a:r>
                  <a:rPr lang="en-US" sz="2400" dirty="0"/>
                  <a:t>, such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𝑚𝑏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whenever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are integers.</a:t>
                </a:r>
              </a:p>
              <a:p>
                <a:endParaRPr lang="en-US" sz="2400" dirty="0"/>
              </a:p>
              <a:p>
                <a:r>
                  <a:rPr lang="en-US" dirty="0"/>
                  <a:t>By the definition of divisibility, if  a |b , there exists an integer  k</a:t>
                </a:r>
                <a:r>
                  <a:rPr lang="en-US" baseline="-25000" dirty="0"/>
                  <a:t>1 </a:t>
                </a:r>
                <a:r>
                  <a:rPr lang="en-US" dirty="0"/>
                  <a:t>such that:</a:t>
                </a:r>
                <a:br>
                  <a:rPr lang="en-US" dirty="0"/>
                </a:br>
                <a:r>
                  <a:rPr lang="en-US" dirty="0"/>
                  <a:t>   b =  a k</a:t>
                </a:r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Similarly, since  a | c , there exists an integer k</a:t>
                </a:r>
                <a:r>
                  <a:rPr lang="en-US" baseline="-25000" dirty="0"/>
                  <a:t>2</a:t>
                </a:r>
                <a:r>
                  <a:rPr lang="en-US" dirty="0"/>
                  <a:t> such that:</a:t>
                </a:r>
                <a:br>
                  <a:rPr lang="en-US" dirty="0"/>
                </a:br>
                <a:r>
                  <a:rPr lang="en-US" dirty="0"/>
                  <a:t> c = a k</a:t>
                </a:r>
                <a:r>
                  <a:rPr lang="en-US" baseline="-25000" dirty="0"/>
                  <a:t>2</a:t>
                </a:r>
              </a:p>
              <a:p>
                <a:endParaRPr lang="en-US" baseline="-25000" dirty="0"/>
              </a:p>
              <a:p>
                <a:r>
                  <a:rPr lang="en-US" dirty="0"/>
                  <a:t>Thus  mb + </a:t>
                </a:r>
                <a:r>
                  <a:rPr lang="en-US" dirty="0" err="1"/>
                  <a:t>nc</a:t>
                </a:r>
                <a:r>
                  <a:rPr lang="en-US" dirty="0"/>
                  <a:t> = m(a k</a:t>
                </a:r>
                <a:r>
                  <a:rPr lang="en-US" baseline="-25000" dirty="0"/>
                  <a:t>1</a:t>
                </a:r>
                <a:r>
                  <a:rPr lang="en-US" dirty="0"/>
                  <a:t> ) + n (a k</a:t>
                </a:r>
                <a:r>
                  <a:rPr lang="en-US" baseline="-25000" dirty="0"/>
                  <a:t>2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                           = a (m k</a:t>
                </a:r>
                <a:r>
                  <a:rPr lang="en-US" baseline="-25000" dirty="0"/>
                  <a:t>1</a:t>
                </a:r>
                <a:r>
                  <a:rPr lang="en-US" dirty="0"/>
                  <a:t>  + n  k</a:t>
                </a:r>
                <a:r>
                  <a:rPr lang="en-US" baseline="-25000" dirty="0"/>
                  <a:t>2 </a:t>
                </a:r>
                <a:r>
                  <a:rPr lang="en-US" dirty="0"/>
                  <a:t> )</a:t>
                </a:r>
              </a:p>
              <a:p>
                <a:r>
                  <a:rPr lang="en-US" dirty="0"/>
                  <a:t>                            = a k</a:t>
                </a:r>
                <a:r>
                  <a:rPr lang="en-US" baseline="-25000" dirty="0"/>
                  <a:t>3</a:t>
                </a:r>
                <a:r>
                  <a:rPr lang="en-US" dirty="0"/>
                  <a:t>  </a:t>
                </a:r>
              </a:p>
              <a:p>
                <a:r>
                  <a:rPr lang="en-US" sz="2400" dirty="0"/>
                  <a:t>That is a | mb + </a:t>
                </a:r>
                <a:r>
                  <a:rPr lang="en-US" sz="2400" dirty="0" err="1"/>
                  <a:t>nc</a:t>
                </a:r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39" y="1222135"/>
                <a:ext cx="10314904" cy="3693319"/>
              </a:xfrm>
              <a:prstGeom prst="rect">
                <a:avLst/>
              </a:prstGeom>
              <a:blipFill>
                <a:blip r:embed="rId2"/>
                <a:stretch>
                  <a:fillRect l="-887" t="-1320" r="-355" b="-2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94AD-C966-4011-9A6B-BF9B095FC182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4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94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/>
              <a:t>Modular Arithmetic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838200" y="1373884"/>
                <a:ext cx="1013460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If a is congruent to b module m  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then b is congruent to a modulo m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73884"/>
                <a:ext cx="10134600" cy="830997"/>
              </a:xfrm>
              <a:prstGeom prst="rect">
                <a:avLst/>
              </a:prstGeom>
              <a:blipFill>
                <a:blip r:embed="rId2"/>
                <a:stretch>
                  <a:fillRect l="-963" t="-5839" b="-15328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838200" y="2574213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Example:</a:t>
            </a:r>
            <a:r>
              <a:rPr lang="en-US" sz="2400" dirty="0"/>
              <a:t> Determine whether 17 is congruent to 5 modulo 6.</a:t>
            </a:r>
          </a:p>
          <a:p>
            <a:r>
              <a:rPr lang="en-US" sz="2400" dirty="0"/>
              <a:t>17 = 5 mod 6 ?</a:t>
            </a:r>
          </a:p>
          <a:p>
            <a:r>
              <a:rPr lang="en-US" sz="2400" dirty="0"/>
              <a:t>17 – 5 = 12 = 6 *  2 hence 17 is congruent to 5 modulo 6.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E54F-DFD1-4E71-93D5-741CB218D70D}" type="datetime1">
              <a:rPr lang="en-US" smtClean="0"/>
              <a:t>6/16/2026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6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Some Basic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38199" y="2568092"/>
                <a:ext cx="1085581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Theorem 5:</a:t>
                </a:r>
                <a:r>
                  <a:rPr lang="en-US" sz="2400" dirty="0"/>
                  <a:t>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be a positive integer. The integers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 congruent modulo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( a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2400" dirty="0"/>
                  <a:t>  b mod m)  if and only if there is an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568092"/>
                <a:ext cx="10855818" cy="830997"/>
              </a:xfrm>
              <a:prstGeom prst="rect">
                <a:avLst/>
              </a:prstGeom>
              <a:blipFill>
                <a:blip r:embed="rId3"/>
                <a:stretch>
                  <a:fillRect l="-842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838200" y="3817338"/>
                <a:ext cx="4114800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Proof:</a:t>
                </a:r>
              </a:p>
              <a:p>
                <a:r>
                  <a:rPr lang="en-US" sz="2400" dirty="0"/>
                  <a:t>Suppose ( a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2400" dirty="0"/>
                  <a:t>  b mod m)</a:t>
                </a:r>
              </a:p>
              <a:p>
                <a:r>
                  <a:rPr lang="en-US" sz="2400" dirty="0"/>
                  <a:t>a – b = km for some integer k,</a:t>
                </a:r>
              </a:p>
              <a:p>
                <a:r>
                  <a:rPr lang="en-US" sz="2400" dirty="0"/>
                  <a:t>A = b + km</a:t>
                </a:r>
              </a:p>
              <a:p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17338"/>
                <a:ext cx="4114800" cy="1938992"/>
              </a:xfrm>
              <a:prstGeom prst="rect">
                <a:avLst/>
              </a:prstGeom>
              <a:blipFill>
                <a:blip r:embed="rId4"/>
                <a:stretch>
                  <a:fillRect l="-2370" t="-2516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838199" y="1215809"/>
                <a:ext cx="10855818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Definition:</a:t>
                </a:r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is a </a:t>
                </a:r>
                <a:r>
                  <a:rPr lang="en-US" sz="2400" b="1" dirty="0"/>
                  <a:t>residue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𝑚𝑜𝑑𝑢𝑙𝑜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.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, then b is called the </a:t>
                </a:r>
                <a:r>
                  <a:rPr lang="en-US" sz="2400" b="1" dirty="0"/>
                  <a:t>least non-negative residue</a:t>
                </a:r>
                <a:r>
                  <a:rPr lang="en-US" sz="2400" dirty="0"/>
                  <a:t> of a modulo m.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215809"/>
                <a:ext cx="10855818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842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2580A-71A0-4A03-9D0D-E6162343063B}" type="datetime1">
              <a:rPr lang="en-US" smtClean="0"/>
              <a:t>6/16/2026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FA2DE4-CDA1-434C-8117-ADF3C99E3FED}"/>
                  </a:ext>
                </a:extLst>
              </p:cNvPr>
              <p:cNvSpPr/>
              <p:nvPr/>
            </p:nvSpPr>
            <p:spPr>
              <a:xfrm>
                <a:off x="5528094" y="3929458"/>
                <a:ext cx="5825705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Proof:</a:t>
                </a:r>
              </a:p>
              <a:p>
                <a:r>
                  <a:rPr lang="en-US" sz="2400" dirty="0"/>
                  <a:t>Now Suppose  a= b + km for some integer k</a:t>
                </a:r>
              </a:p>
              <a:p>
                <a:r>
                  <a:rPr lang="en-US" sz="2400" dirty="0"/>
                  <a:t>a – b = km </a:t>
                </a:r>
              </a:p>
              <a:p>
                <a:r>
                  <a:rPr lang="en-US" sz="2400" dirty="0" err="1"/>
                  <a:t>ie</a:t>
                </a:r>
                <a:r>
                  <a:rPr lang="en-US" sz="2400" dirty="0"/>
                  <a:t> a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2400" dirty="0"/>
                  <a:t>  b mod m</a:t>
                </a:r>
              </a:p>
              <a:p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2FA2DE4-CDA1-434C-8117-ADF3C99E3F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094" y="3929458"/>
                <a:ext cx="5825705" cy="1938992"/>
              </a:xfrm>
              <a:prstGeom prst="rect">
                <a:avLst/>
              </a:prstGeom>
              <a:blipFill>
                <a:blip r:embed="rId6"/>
                <a:stretch>
                  <a:fillRect l="-1675" t="-2516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575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Some Basic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838200" y="1333491"/>
                <a:ext cx="10515600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Theorem 6:</a:t>
                </a:r>
                <a:r>
                  <a:rPr lang="en-US" sz="2400" dirty="0"/>
                  <a:t> 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be a positive integer.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then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400" dirty="0"/>
                  <a:t> 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33491"/>
                <a:ext cx="10515600" cy="2308324"/>
              </a:xfrm>
              <a:prstGeom prst="rect">
                <a:avLst/>
              </a:prstGeom>
              <a:blipFill>
                <a:blip r:embed="rId3"/>
                <a:stretch>
                  <a:fillRect l="-928" t="-2116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2580A-71A0-4A03-9D0D-E6162343063B}" type="datetime1">
              <a:rPr lang="en-US" smtClean="0"/>
              <a:t>6/16/2026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7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340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DBE2D-AA2D-4B10-9FA3-F7DE96F6E572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838200" y="1277471"/>
                <a:ext cx="1051560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Note:</a:t>
                </a:r>
                <a:r>
                  <a:rPr lang="en-US" sz="2800" dirty="0"/>
                  <a:t> For any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we have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endParaRPr lang="en-US" sz="2800" dirty="0"/>
              </a:p>
              <a:p>
                <a:r>
                  <a:rPr lang="en-US" sz="2800" dirty="0"/>
                  <a:t>a = m*q + r  for some integers q and r</a:t>
                </a:r>
              </a:p>
              <a:p>
                <a:r>
                  <a:rPr lang="en-US" sz="2800" dirty="0"/>
                  <a:t>But r = a mod m</a:t>
                </a:r>
              </a:p>
              <a:p>
                <a:r>
                  <a:rPr lang="en-US" sz="2800" dirty="0"/>
                  <a:t>a = m * q + a mod m</a:t>
                </a:r>
              </a:p>
              <a:p>
                <a:r>
                  <a:rPr lang="en-US" sz="2800" dirty="0"/>
                  <a:t>a – a mod m = m*q</a:t>
                </a:r>
              </a:p>
              <a:p>
                <a:r>
                  <a:rPr lang="en-US" sz="2800" dirty="0"/>
                  <a:t>a – a mod m is divisible by q</a:t>
                </a:r>
              </a:p>
              <a:p>
                <a:r>
                  <a:rPr lang="en-US" sz="2800" dirty="0"/>
                  <a:t>a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 </m:t>
                    </m:r>
                  </m:oMath>
                </a14:m>
                <a:r>
                  <a:rPr lang="en-US" sz="2800" dirty="0"/>
                  <a:t> (a mod m) (mod m)</a:t>
                </a:r>
              </a:p>
              <a:p>
                <a:r>
                  <a:rPr lang="en-US" sz="2800" dirty="0"/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77471"/>
                <a:ext cx="10515600" cy="3970318"/>
              </a:xfrm>
              <a:prstGeom prst="rect">
                <a:avLst/>
              </a:prstGeom>
              <a:blipFill>
                <a:blip r:embed="rId2"/>
                <a:stretch>
                  <a:fillRect l="-1217" t="-1536" b="-3533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17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654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 Some Applications of Theorem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838200" y="1618927"/>
                <a:ext cx="10515599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13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 ≡−4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13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≡16≡3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13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9≡−4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13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13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≡9≡−4 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13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18927"/>
                <a:ext cx="10515599" cy="4154984"/>
              </a:xfrm>
              <a:prstGeom prst="rect">
                <a:avLst/>
              </a:prstGeom>
              <a:blipFill>
                <a:blip r:embed="rId2"/>
                <a:stretch>
                  <a:fillRect l="-174" t="-1175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ADB11-C4DC-4E12-9992-5FA6181DCD67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4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6700"/>
          </a:xfrm>
        </p:spPr>
        <p:txBody>
          <a:bodyPr/>
          <a:lstStyle/>
          <a:p>
            <a:pPr algn="ctr"/>
            <a:r>
              <a:rPr lang="en-US" b="1" dirty="0"/>
              <a:t>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06E9-4AAF-4D5C-985F-6BF0F15D00C6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8201" y="1107577"/>
                <a:ext cx="10515599" cy="586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Prove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sz="2800" dirty="0"/>
                  <a:t> is divisible by 641.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107577"/>
                <a:ext cx="10515599" cy="586956"/>
              </a:xfrm>
              <a:prstGeom prst="rect">
                <a:avLst/>
              </a:prstGeom>
              <a:blipFill rotWithShape="0">
                <a:blip r:embed="rId2"/>
                <a:stretch>
                  <a:fillRect l="-1217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2176529"/>
                <a:ext cx="10515600" cy="4505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Solution: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641=640+1=5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641)</m:t>
                    </m:r>
                  </m:oMath>
                </a14:m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5 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 </m:t>
                            </m:r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641)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28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641)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(62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641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28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641)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− 2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28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641)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≡−1 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641)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US" sz="2800" dirty="0"/>
                  <a:t> is divisible by 641.</a:t>
                </a:r>
              </a:p>
              <a:p>
                <a:r>
                  <a:rPr lang="en-US" sz="2800" dirty="0"/>
                  <a:t> </a:t>
                </a:r>
              </a:p>
              <a:p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76529"/>
                <a:ext cx="10515600" cy="4505208"/>
              </a:xfrm>
              <a:prstGeom prst="rect">
                <a:avLst/>
              </a:prstGeom>
              <a:blipFill rotWithShape="0">
                <a:blip r:embed="rId3"/>
                <a:stretch>
                  <a:fillRect l="-1217" t="-1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405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81095"/>
              </a:xfrm>
            </p:spPr>
            <p:txBody>
              <a:bodyPr/>
              <a:lstStyle/>
              <a:p>
                <a:pPr algn="ctr"/>
                <a:r>
                  <a:rPr lang="en-US" b="1" dirty="0"/>
                  <a:t>Arithmetic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81095"/>
              </a:xfrm>
              <a:blipFill rotWithShape="0">
                <a:blip r:embed="rId2"/>
                <a:stretch>
                  <a:fillRect t="-19531" b="-32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43944" y="1287887"/>
                <a:ext cx="10586433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 ⋯, 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is a positive integer. We can define two arithmetic operations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/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/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2400" dirty="0"/>
                  <a:t>  by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US" sz="2400" dirty="0"/>
              </a:p>
              <a:p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2400" dirty="0"/>
                  <a:t>  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The operations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/>
                  <a:t> are called addition and multiplication modulo m and when we use these operations, we are said to be doing arithmetic modulo m.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44" y="1287887"/>
                <a:ext cx="10586433" cy="3046988"/>
              </a:xfrm>
              <a:prstGeom prst="rect">
                <a:avLst/>
              </a:prstGeom>
              <a:blipFill rotWithShape="0">
                <a:blip r:embed="rId3"/>
                <a:stretch>
                  <a:fillRect l="-922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43944" y="4715694"/>
                <a:ext cx="1070985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Example:</a:t>
                </a:r>
                <a:r>
                  <a:rPr lang="en-US" sz="2400" dirty="0"/>
                  <a:t> Use the definition of addition and multiplication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𝟏𝟏</m:t>
                        </m:r>
                      </m:sub>
                    </m:sSub>
                  </m:oMath>
                </a14:m>
                <a:r>
                  <a:rPr lang="en-US" sz="2400" dirty="0"/>
                  <a:t>  to find 8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7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44" y="4715694"/>
                <a:ext cx="10709856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911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896DB-CE53-46F1-AD94-62FF36F2BB3E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6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66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Primes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38200" y="1244733"/>
                <a:ext cx="105156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Definition:</a:t>
                </a:r>
                <a:r>
                  <a:rPr lang="en-US" sz="2400" dirty="0"/>
                  <a:t> An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greater than 1 is called </a:t>
                </a:r>
                <a:r>
                  <a:rPr lang="en-US" sz="2400" b="1" dirty="0"/>
                  <a:t>prime</a:t>
                </a:r>
                <a:r>
                  <a:rPr lang="en-US" sz="2400" dirty="0"/>
                  <a:t> if the only positive factors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are 1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. A positive integer that is greater than 1 and is not prime is called </a:t>
                </a:r>
                <a:r>
                  <a:rPr lang="en-US" sz="2400" b="1" dirty="0"/>
                  <a:t>composite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44733"/>
                <a:ext cx="10515600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928" t="-4061" r="-290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862884" y="2690336"/>
            <a:ext cx="104136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THE FUNDAMENTAL THEOREM OF ARITHMETIC:</a:t>
            </a:r>
            <a:r>
              <a:rPr lang="en-US" sz="2400" dirty="0"/>
              <a:t> Every integer greater than 1 can be written uniquely as a prime or as the product of two or more primes where the prime factors are written in order of non-decreasing size.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EC351-3493-4485-BA37-AECD8C75FCAB}" type="datetime1">
              <a:rPr lang="en-US" smtClean="0"/>
              <a:t>6/16/2026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1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The Set of all Primes is Infinite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157953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Theorem 8:</a:t>
            </a:r>
            <a:r>
              <a:rPr lang="en-US" sz="2400" dirty="0"/>
              <a:t> There are infinitely many primes.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1714915"/>
                <a:ext cx="10515600" cy="38154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Proof:</a:t>
                </a:r>
                <a:r>
                  <a:rPr lang="en-US" sz="2400" dirty="0"/>
                  <a:t>  We assume that there are only finitely many primes,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+1.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By the fundamental theorem of arithmetic,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is prime or else it can be written as the product of two or more primes.</a:t>
                </a:r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divides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for some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divides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. 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does not divide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for 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 2, ⋯,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Hence, there is a prime not in the list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. This prime is either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, if it is prime, or a prime factor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This is a contradiction because we assumed that we have listed all the primes. Consequently, there are infinitely many primes.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14915"/>
                <a:ext cx="10515600" cy="3815403"/>
              </a:xfrm>
              <a:prstGeom prst="rect">
                <a:avLst/>
              </a:prstGeom>
              <a:blipFill rotWithShape="0">
                <a:blip r:embed="rId2"/>
                <a:stretch>
                  <a:fillRect l="-928" t="-1278" b="-2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411B9-FA04-4B11-A2AF-7E7F702AE166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1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6700"/>
          </a:xfrm>
        </p:spPr>
        <p:txBody>
          <a:bodyPr/>
          <a:lstStyle/>
          <a:p>
            <a:pPr algn="ctr"/>
            <a:r>
              <a:rPr lang="en-US" b="1" dirty="0"/>
              <a:t>Greatest Common Divisor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38200" y="1273660"/>
                <a:ext cx="105156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Definition:</a:t>
                </a:r>
                <a:r>
                  <a:rPr lang="en-US" sz="2400" dirty="0"/>
                  <a:t>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be integers, not both zero. The largest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is called the greatest common divisor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and is denoted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73660"/>
                <a:ext cx="10515600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928" t="-4061" b="-6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784535" y="2780471"/>
                <a:ext cx="1051560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Definition:</a:t>
                </a:r>
                <a:r>
                  <a:rPr lang="en-US" sz="2400" dirty="0"/>
                  <a:t> The integers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 relatively prime if their greatest common divisor is 1.</a:t>
                </a: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35" y="2780471"/>
                <a:ext cx="10515600" cy="830997"/>
              </a:xfrm>
              <a:prstGeom prst="rect">
                <a:avLst/>
              </a:prstGeom>
              <a:blipFill>
                <a:blip r:embed="rId3"/>
                <a:stretch>
                  <a:fillRect l="-928" t="-5882" b="-16176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838200" y="4790639"/>
                <a:ext cx="10405056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Example:</a:t>
                </a:r>
                <a:r>
                  <a:rPr lang="en-US" sz="2400" dirty="0"/>
                  <a:t>  Integers 17 and 22 are relatively prime,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⁡(17, 22) = 1.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                   Integers 10, 17, and 21 are pairwise relatively prime.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90639"/>
                <a:ext cx="10405056" cy="830997"/>
              </a:xfrm>
              <a:prstGeom prst="rect">
                <a:avLst/>
              </a:prstGeom>
              <a:blipFill>
                <a:blip r:embed="rId4"/>
                <a:stretch>
                  <a:fillRect l="-938" t="-5882" b="-16176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784535" y="3653160"/>
                <a:ext cx="10819329" cy="8871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Definition:</a:t>
                </a:r>
                <a:r>
                  <a:rPr lang="en-US" sz="2400" dirty="0"/>
                  <a:t> The integers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are pairwise relatively prime 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dirty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 whenever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35" y="3653160"/>
                <a:ext cx="10819329" cy="887166"/>
              </a:xfrm>
              <a:prstGeom prst="rect">
                <a:avLst/>
              </a:prstGeom>
              <a:blipFill>
                <a:blip r:embed="rId5"/>
                <a:stretch>
                  <a:fillRect l="-901" t="-2055" b="-14384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B58A-1E3F-4B79-9182-D20146874AB8}" type="datetime1">
              <a:rPr lang="en-US" smtClean="0"/>
              <a:t>6/16/2026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5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94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Least Common Multiple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706191" y="1182939"/>
                <a:ext cx="10779617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Definition: </a:t>
                </a:r>
                <a:r>
                  <a:rPr lang="en-US" sz="2400" dirty="0"/>
                  <a:t>The least common multiple of the positive integers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is the smallest positive integer that can be divided by both numbers without leaving a remainder and is denoted by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𝑙𝑐𝑚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Example: Find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gcd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𝑙𝑐𝑚</m:t>
                    </m:r>
                  </m:oMath>
                </a14:m>
                <a:r>
                  <a:rPr lang="en-US" sz="2400" dirty="0"/>
                  <a:t> of 150 and 500.</a:t>
                </a:r>
              </a:p>
              <a:p>
                <a:r>
                  <a:rPr lang="en-US" sz="2400" dirty="0"/>
                  <a:t>150 = 3 x 2 x 5</a:t>
                </a:r>
                <a:r>
                  <a:rPr lang="en-US" sz="2400" baseline="30000" dirty="0"/>
                  <a:t>2</a:t>
                </a:r>
              </a:p>
              <a:p>
                <a:r>
                  <a:rPr lang="en-US" sz="2400" dirty="0"/>
                  <a:t>500 = 5</a:t>
                </a:r>
                <a:r>
                  <a:rPr lang="en-US" sz="2400" baseline="30000" dirty="0"/>
                  <a:t>3</a:t>
                </a:r>
                <a:r>
                  <a:rPr lang="en-US" sz="2400" dirty="0"/>
                  <a:t> x 2</a:t>
                </a:r>
                <a:r>
                  <a:rPr lang="en-US" sz="2400" baseline="30000" dirty="0"/>
                  <a:t>2</a:t>
                </a:r>
              </a:p>
              <a:p>
                <a:r>
                  <a:rPr lang="en-US" sz="2400" dirty="0" err="1"/>
                  <a:t>gcd</a:t>
                </a:r>
                <a:r>
                  <a:rPr lang="en-US" sz="2400" dirty="0"/>
                  <a:t> = 2x 5 </a:t>
                </a:r>
                <a:r>
                  <a:rPr lang="en-US" sz="2400" baseline="30000" dirty="0"/>
                  <a:t>2</a:t>
                </a:r>
                <a:r>
                  <a:rPr lang="en-US" sz="2400" dirty="0"/>
                  <a:t> = 50 (lowest powers of primes) </a:t>
                </a:r>
              </a:p>
              <a:p>
                <a:r>
                  <a:rPr lang="en-US" sz="2400" dirty="0"/>
                  <a:t>lcm = 2</a:t>
                </a:r>
                <a:r>
                  <a:rPr lang="en-US" sz="2400" baseline="30000" dirty="0"/>
                  <a:t>2</a:t>
                </a:r>
                <a:r>
                  <a:rPr lang="en-US" sz="2400" dirty="0"/>
                  <a:t> x 3  x 5</a:t>
                </a:r>
                <a:r>
                  <a:rPr lang="en-US" sz="2400" baseline="30000" dirty="0"/>
                  <a:t>3 </a:t>
                </a:r>
                <a:r>
                  <a:rPr lang="en-US" sz="2400" dirty="0"/>
                  <a:t>= 4 x 3 x  125 = 1500 (highest powers of primes)</a:t>
                </a:r>
              </a:p>
              <a:p>
                <a:r>
                  <a:rPr lang="en-US" sz="2400" dirty="0"/>
                  <a:t>50 X 1500 = 150 * 500 (see theorem 10)</a:t>
                </a: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91" y="1182939"/>
                <a:ext cx="10779617" cy="3785652"/>
              </a:xfrm>
              <a:prstGeom prst="rect">
                <a:avLst/>
              </a:prstGeom>
              <a:blipFill>
                <a:blip r:embed="rId2"/>
                <a:stretch>
                  <a:fillRect l="-905" t="-1288" r="-905" b="-2738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526758" y="5213396"/>
                <a:ext cx="1065834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Theorem 10:</a:t>
                </a:r>
                <a:r>
                  <a:rPr lang="en-US" sz="2400" dirty="0"/>
                  <a:t>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be positive integers.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𝑔𝑐𝑑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·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𝑙𝑐𝑚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58" y="5213396"/>
                <a:ext cx="10658341" cy="461665"/>
              </a:xfrm>
              <a:prstGeom prst="rect">
                <a:avLst/>
              </a:prstGeom>
              <a:blipFill>
                <a:blip r:embed="rId3"/>
                <a:stretch>
                  <a:fillRect l="-858" t="-10526" b="-28947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9EEFF-3B7D-4BFE-ABD4-1CF0F247618F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22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D8AF107-5507-4BBE-BD85-3B32EA30E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85660" rIns="0" bIns="2856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i-LK" altLang="si-LK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\(\text{LCM}=2^{2}\times 3^{1}\times 5^{3}=4\times 3\times 125=\mathbf{1500}\)</a:t>
            </a:r>
            <a:endParaRPr kumimoji="0" lang="si-LK" altLang="si-L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i-LK" altLang="si-L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3BC6903-6B17-4238-B13D-E988E2B84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i-LK"/>
          </a:p>
        </p:txBody>
      </p:sp>
    </p:spTree>
    <p:extLst>
      <p:ext uri="{BB962C8B-B14F-4D97-AF65-F5344CB8AC3E}">
        <p14:creationId xmlns:p14="http://schemas.microsoft.com/office/powerpoint/2010/main" val="235606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07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The Euclidean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676074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Example:</a:t>
            </a:r>
            <a:r>
              <a:rPr lang="en-US" sz="2400" dirty="0"/>
              <a:t> Let us compute the greatest common divisor of 945 and 2415.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838200" y="3429000"/>
                <a:ext cx="9392728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2415 = 945 × 2 + 525</m:t>
                    </m:r>
                    <m:func>
                      <m:func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2415,945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gcd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⁡(945,525)</m:t>
                        </m:r>
                      </m:e>
                    </m:func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945 = 525 × 1 + 420</m:t>
                    </m:r>
                  </m:oMath>
                </a14:m>
                <a:r>
                  <a:rPr lang="en-US" sz="2400" dirty="0"/>
                  <a:t>  </a:t>
                </a:r>
                <a:r>
                  <a:rPr lang="en-US" sz="2400" dirty="0" err="1"/>
                  <a:t>gcd</a:t>
                </a:r>
                <a:r>
                  <a:rPr lang="en-US" sz="2400" dirty="0"/>
                  <a:t>(954,525) = </a:t>
                </a:r>
                <a:r>
                  <a:rPr lang="en-US" sz="2400" dirty="0" err="1"/>
                  <a:t>gcd</a:t>
                </a:r>
                <a:r>
                  <a:rPr lang="en-US" sz="2400"/>
                  <a:t>(525,420)</a:t>
                </a:r>
                <a:endParaRPr lang="en-US" sz="2400" dirty="0"/>
              </a:p>
              <a:p>
                <a:pPr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525 = 420 × 1 + 105</m:t>
                    </m:r>
                  </m:oMath>
                </a14:m>
                <a:r>
                  <a:rPr lang="en-US" sz="2400" dirty="0"/>
                  <a:t>  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420 = 105 × 4 + 0.     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2415, 945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=105.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9392728" cy="1938992"/>
              </a:xfrm>
              <a:prstGeom prst="rect">
                <a:avLst/>
              </a:prstGeom>
              <a:blipFill>
                <a:blip r:embed="rId2"/>
                <a:stretch>
                  <a:fillRect l="-260" b="-3145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838200" y="1225516"/>
                <a:ext cx="10515600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/>
                  <a:t>Lemma 11:</a:t>
                </a:r>
                <a:r>
                  <a:rPr lang="en-US" sz="2800" dirty="0"/>
                  <a:t>  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𝑏𝑞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, where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800" dirty="0"/>
                  <a:t>,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 are integers. Then  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𝑔𝑐𝑑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 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𝑔𝑐𝑑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25516"/>
                <a:ext cx="10515600" cy="954107"/>
              </a:xfrm>
              <a:prstGeom prst="rect">
                <a:avLst/>
              </a:prstGeom>
              <a:blipFill>
                <a:blip r:embed="rId3"/>
                <a:stretch>
                  <a:fillRect l="-1217" t="-5732"/>
                </a:stretch>
              </a:blipFill>
            </p:spPr>
            <p:txBody>
              <a:bodyPr/>
              <a:lstStyle/>
              <a:p>
                <a:r>
                  <a:rPr lang="si-L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B7A11-D769-4EBF-808A-C2A73ADE4094}" type="datetime1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7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6336"/>
            <a:ext cx="10515600" cy="56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The Euclidean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66670" y="901519"/>
                <a:ext cx="10787130" cy="5339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Suppose that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200" dirty="0"/>
                  <a:t> with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2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r>
                  <a:rPr lang="en-US" sz="2200" dirty="0"/>
                  <a:t>Successive application of the division algorithm gives</a:t>
                </a:r>
                <a:endParaRPr lang="pt-BR" sz="22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     0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      0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</m:t>
                    </m:r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⋮</m:t>
                    </m:r>
                  </m:oMath>
                </a14:m>
                <a:r>
                  <a:rPr lang="pt-BR" sz="22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      0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t-BR" sz="22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2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Since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 ≥0</m:t>
                    </m:r>
                  </m:oMath>
                </a14:m>
                <a:r>
                  <a:rPr lang="pt-BR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200" dirty="0"/>
                  <a:t> for some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200" dirty="0"/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Form the above lemma, we have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gcd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⋯=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gcd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gcd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func>
                      </m:e>
                    </m:func>
                  </m:oMath>
                </a14:m>
                <a:endParaRPr lang="pt-BR" sz="2200" dirty="0"/>
              </a:p>
              <a:p>
                <a:pPr>
                  <a:lnSpc>
                    <a:spcPct val="150000"/>
                  </a:lnSpc>
                </a:pPr>
                <a:r>
                  <a:rPr lang="en-US" sz="2200" dirty="0"/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is the last nonzero remainder in the sequence of divisions.</a:t>
                </a:r>
                <a:endParaRPr lang="pt-BR" sz="2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70" y="901519"/>
                <a:ext cx="10787130" cy="5339923"/>
              </a:xfrm>
              <a:prstGeom prst="rect">
                <a:avLst/>
              </a:prstGeom>
              <a:blipFill rotWithShape="0">
                <a:blip r:embed="rId2"/>
                <a:stretch>
                  <a:fillRect l="-734" t="-799" b="-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CA634-C13A-4F00-93CF-EEE03096AD1F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50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07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gcds</a:t>
            </a:r>
            <a:r>
              <a:rPr lang="en-US" b="1" dirty="0"/>
              <a:t> as Linear Combinations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38199" y="1074140"/>
                <a:ext cx="1067551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BÉZOUT’S Theorem 12:</a:t>
                </a:r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 positive integers, then there exist integers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𝑠𝑎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𝑡𝑏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074140"/>
                <a:ext cx="10675513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856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2036886"/>
                <a:ext cx="105156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Example:</a:t>
                </a:r>
                <a:r>
                  <a:rPr lang="en-US" sz="2400" dirty="0"/>
                  <a:t> Express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⁡(252, 198)=18 </m:t>
                    </m:r>
                  </m:oMath>
                </a14:m>
                <a:r>
                  <a:rPr lang="en-US" sz="2400" dirty="0"/>
                  <a:t>as a linear combination of 252 and 198.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36886"/>
                <a:ext cx="1051560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92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167684" y="2661409"/>
                <a:ext cx="3352801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252 = 1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198+54</m:t>
                      </m:r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198=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54 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+ 36</m:t>
                      </m:r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54 = 1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36 + 18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36 = 2 · 18.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252, 54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84" y="2661409"/>
                <a:ext cx="3352801" cy="286232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84895" y="2550012"/>
                <a:ext cx="570534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18=54 −1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×36</m:t>
                      </m:r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=54 −1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198−3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×54</m:t>
                          </m:r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b="0" dirty="0"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=4×54−1×198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0" dirty="0"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=4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252−1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×198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−1×198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b="0" dirty="0"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×252−5×198.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895" y="2550012"/>
                <a:ext cx="5705340" cy="286232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10177" y="5628066"/>
                <a:ext cx="99671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Hence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dirty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252, 198</m:t>
                            </m:r>
                          </m:e>
                        </m:d>
                      </m:e>
                    </m:func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𝟐𝟓𝟐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−5×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𝟏𝟗𝟖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177" y="5628066"/>
                <a:ext cx="9967176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979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CD0F0-1C4C-480B-A432-F08610BCF843}" type="datetime1">
              <a:rPr lang="en-US" smtClean="0"/>
              <a:t>6/16/2026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5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03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Applications BÉZOUT’S Theorem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53791" y="1293818"/>
                <a:ext cx="1053491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Lemma 13:</a:t>
                </a:r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are positive integers such that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𝑏𝑐</m:t>
                    </m:r>
                  </m:oMath>
                </a14:m>
                <a:r>
                  <a:rPr lang="en-US" sz="2400" dirty="0"/>
                  <a:t>,  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91" y="1293818"/>
                <a:ext cx="10534919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926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53791" y="2294463"/>
                <a:ext cx="1080000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Lemma 14:</a:t>
                </a:r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is a prime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, 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 an integer,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for some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91" y="2294463"/>
                <a:ext cx="10800009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903" t="-5839" r="-734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53791" y="3289314"/>
                <a:ext cx="1080000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Theorem 15:</a:t>
                </a:r>
                <a:r>
                  <a:rPr lang="en-US" sz="2400" dirty="0"/>
                  <a:t>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be a positive integer and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 be integers.                              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= 1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≡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91" y="3289314"/>
                <a:ext cx="10800009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903" t="-5882" r="-3104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0D5A-2D37-445F-BB27-CA23453889E2}" type="datetime1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2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458"/>
          </a:xfrm>
        </p:spPr>
        <p:txBody>
          <a:bodyPr/>
          <a:lstStyle/>
          <a:p>
            <a:pPr algn="ctr"/>
            <a:r>
              <a:rPr lang="en-US" b="1" dirty="0"/>
              <a:t>Solving Linear Congruence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48047" y="4033119"/>
                <a:ext cx="105156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Example:</a:t>
                </a:r>
                <a:r>
                  <a:rPr lang="en-US" sz="2400" dirty="0"/>
                  <a:t> What are the solutions of the linear congruence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≡ 4 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47" y="4033119"/>
                <a:ext cx="10515600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92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69701" y="1249248"/>
                <a:ext cx="11243257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 congruence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called a linear congruence,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a variable.</a:t>
                </a:r>
              </a:p>
              <a:p>
                <a:r>
                  <a:rPr lang="en-US" sz="2400" dirty="0"/>
                  <a:t>Finding all integers x that satisfy this congruence is known as solving this linear congruence.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If there exists an integer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sz="2400" dirty="0"/>
                  <a:t>such that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/>
                  <a:t> is said to be an inverse</a:t>
                </a:r>
              </a:p>
              <a:p>
                <a:r>
                  <a:rPr lang="en-US" sz="2400" dirty="0"/>
                  <a:t>of a modulo m.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01" y="1249248"/>
                <a:ext cx="11243257" cy="2677656"/>
              </a:xfrm>
              <a:prstGeom prst="rect">
                <a:avLst/>
              </a:prstGeom>
              <a:blipFill rotWithShape="0">
                <a:blip r:embed="rId3"/>
                <a:stretch>
                  <a:fillRect l="-86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69701" y="5169626"/>
                <a:ext cx="1068409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Theorem 16:</a:t>
                </a:r>
                <a:r>
                  <a:rPr lang="en-US" sz="2400" dirty="0"/>
                  <a:t>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sz="2400" dirty="0"/>
                  <a:t>.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are relatively prime then there exists a unique integer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 &lt; </m:t>
                    </m:r>
                    <m:acc>
                      <m:accPr>
                        <m:chr m:val="̅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01" y="5169626"/>
                <a:ext cx="10684099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913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001F8-3813-494E-9105-F407C840045E}" type="datetime1">
              <a:rPr lang="en-US" smtClean="0"/>
              <a:t>6/16/2026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63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9579"/>
          </a:xfrm>
        </p:spPr>
        <p:txBody>
          <a:bodyPr/>
          <a:lstStyle/>
          <a:p>
            <a:pPr algn="ctr"/>
            <a:r>
              <a:rPr lang="en-US" b="1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325381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Find an inverse of 101 modulo 4620.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1" y="2175386"/>
                <a:ext cx="3901224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4620=45·101+75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101 = 1 · 75 + 26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75 = 2 · 26 + 23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26=1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 23 + 3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23 = 7 · 3 + 2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3 = 1 · 2 + 1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 = 2 · 1.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          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2175386"/>
                <a:ext cx="3901224" cy="267765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CB414-89DC-4381-BEE3-A32E70B9EDB7}" type="datetime1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0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716700"/>
              </a:xfrm>
            </p:spPr>
            <p:txBody>
              <a:bodyPr/>
              <a:lstStyle/>
              <a:p>
                <a:pPr algn="ctr"/>
                <a:r>
                  <a:rPr lang="en-US" b="1" dirty="0"/>
                  <a:t>Euler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b="1" dirty="0"/>
                  <a:t>-function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716700"/>
              </a:xfrm>
              <a:blipFill rotWithShape="0">
                <a:blip r:embed="rId2"/>
                <a:stretch>
                  <a:fillRect t="-25641" b="-40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5223-8CF7-4184-BDD4-7326D4CDE4F3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38200" y="1257611"/>
                <a:ext cx="1051560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Definition:</a:t>
                </a:r>
                <a:r>
                  <a:rPr lang="en-US" sz="2400" dirty="0"/>
                  <a:t> The Euler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400" dirty="0"/>
                  <a:t>-function is the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 defined by 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the number of integers in {1, 2, . . . , n − 1} which are relatively prime to n.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57611"/>
                <a:ext cx="10515600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928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38200" y="2355690"/>
                <a:ext cx="10515600" cy="33089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Proposition 17: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is prime,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is prime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any integer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&gt;1,</m:t>
                    </m:r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 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sz="2400" dirty="0"/>
                  <a:t> is the prime power factorization, then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r>
                  <a:rPr lang="en-US" sz="2400" dirty="0"/>
                  <a:t>Example:  Find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(1000)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55690"/>
                <a:ext cx="10515600" cy="3308919"/>
              </a:xfrm>
              <a:prstGeom prst="rect">
                <a:avLst/>
              </a:prstGeom>
              <a:blipFill rotWithShape="0">
                <a:blip r:embed="rId4"/>
                <a:stretch>
                  <a:fillRect l="-928" t="-1473" b="-3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68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66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Complete and Reduced residue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A6363-BB1E-4124-AD84-49927E78E49C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38200" y="1467032"/>
                <a:ext cx="10515600" cy="1634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Definition</a:t>
                </a:r>
                <a:r>
                  <a:rPr lang="en-US" sz="2400" dirty="0"/>
                  <a:t>: For a positive integer n, a reduced residue system mod n is a set of numbers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sz="2400" dirty="0"/>
                  <a:t> such that 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457200" indent="-457200">
                  <a:buAutoNum type="arabicPeriod"/>
                </a:pPr>
                <a:r>
                  <a:rPr lang="en-US" sz="2400" dirty="0"/>
                  <a:t>For each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67032"/>
                <a:ext cx="10515600" cy="1634999"/>
              </a:xfrm>
              <a:prstGeom prst="rect">
                <a:avLst/>
              </a:prstGeom>
              <a:blipFill rotWithShape="0">
                <a:blip r:embed="rId2"/>
                <a:stretch>
                  <a:fillRect l="-928" t="-2985" b="-7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38200" y="3376292"/>
                <a:ext cx="1051560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Example: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{1, 5, 7, 11} </m:t>
                    </m:r>
                  </m:oMath>
                </a14:m>
                <a:r>
                  <a:rPr lang="en-US" sz="2400" dirty="0"/>
                  <a:t>is a reduced residue system mod 12.  {−11, 17, 31,−1} is also another reduced residue system for mod 12.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76292"/>
                <a:ext cx="10515600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928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838200" y="4792508"/>
                <a:ext cx="1051560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Definition:</a:t>
                </a:r>
                <a:r>
                  <a:rPr lang="en-US" sz="2400" dirty="0"/>
                  <a:t> For a positive integer n, a complete residue system mod n is a set of numbers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0, 1, 2, 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92508"/>
                <a:ext cx="10515600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928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48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94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Basic Results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4421C-0694-4139-82B6-18B5153F06BE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38200" y="1148026"/>
                <a:ext cx="1090733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Lemma 18</a:t>
                </a:r>
                <a:r>
                  <a:rPr lang="en-US" sz="2400" dirty="0"/>
                  <a:t>: Let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,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be a reduced residue system mod n.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{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is a reduced residue system mod n.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is a reduced residue system mod n.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48026"/>
                <a:ext cx="10907332" cy="1200329"/>
              </a:xfrm>
              <a:prstGeom prst="rect">
                <a:avLst/>
              </a:prstGeom>
              <a:blipFill rotWithShape="0">
                <a:blip r:embed="rId2"/>
                <a:stretch>
                  <a:fillRect l="-894" t="-4061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38200" y="2690336"/>
                <a:ext cx="1090733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Corollary 19</a:t>
                </a:r>
                <a:r>
                  <a:rPr lang="en-US" sz="2400" dirty="0"/>
                  <a:t>: 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,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{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be a reduced residue system mod n. Suppose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, and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be any integer.                       </a:t>
                </a:r>
              </a:p>
              <a:p>
                <a:r>
                  <a:rPr lang="en-US" sz="2400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{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is a reduced residue system mod n.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90336"/>
                <a:ext cx="10907332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894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66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458"/>
          </a:xfrm>
        </p:spPr>
        <p:txBody>
          <a:bodyPr/>
          <a:lstStyle/>
          <a:p>
            <a:pPr algn="ctr"/>
            <a:r>
              <a:rPr lang="en-US" b="1" dirty="0"/>
              <a:t>Euler Theorem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42D3-86D9-40CC-AC84-880B3FF516B8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38200" y="1190050"/>
                <a:ext cx="10515600" cy="7539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2400" b="1" dirty="0"/>
                  <a:t>Theorem 20:</a:t>
                </a:r>
                <a:r>
                  <a:rPr lang="pt-BR" sz="2400" dirty="0"/>
                  <a:t> (Euler) Let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&gt;0,  </m:t>
                    </m:r>
                    <m:r>
                      <m:rPr>
                        <m:sty m:val="p"/>
                      </m:rPr>
                      <a:rPr lang="pt-BR" sz="2400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pt-BR" sz="2400" dirty="0"/>
                  <a:t>.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B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90050"/>
                <a:ext cx="10515600" cy="753989"/>
              </a:xfrm>
              <a:prstGeom prst="rect">
                <a:avLst/>
              </a:prstGeom>
              <a:blipFill rotWithShape="0">
                <a:blip r:embed="rId2"/>
                <a:stretch>
                  <a:fillRect l="-928" t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38200" y="1872620"/>
                <a:ext cx="10515600" cy="4922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Proof:</a:t>
                </a:r>
                <a:r>
                  <a:rPr lang="en-US" sz="2400" dirty="0"/>
                  <a:t> 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,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{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be a reduced residue system mod n. We may assume that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’s lie in the range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{1, . . . 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1}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{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, is another reduced residue system mod n. Since this is the same set of numbers mod n as the original system, the two systems must have the same product mod 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×⋯ 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×⋯ ×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×⋯ 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∵ </m:t>
                          </m:r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gcd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 &amp;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applying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theorem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endParaRPr lang="en-US" sz="2400" dirty="0">
                  <a:ea typeface="Cambria Math" panose="02040503050406030204" pitchFamily="18" charset="0"/>
                </a:endParaRPr>
              </a:p>
              <a:p>
                <a:r>
                  <a:rPr lang="en-US" sz="2400" b="0" dirty="0">
                    <a:ea typeface="Cambria Math" panose="02040503050406030204" pitchFamily="18" charset="0"/>
                  </a:rPr>
                  <a:t>That is;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pt-B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.</a:t>
                </a:r>
              </a:p>
              <a:p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en-US" sz="2400" dirty="0"/>
                  <a:t> 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2620"/>
                <a:ext cx="10515600" cy="4922053"/>
              </a:xfrm>
              <a:prstGeom prst="rect">
                <a:avLst/>
              </a:prstGeom>
              <a:blipFill rotWithShape="0">
                <a:blip r:embed="rId3"/>
                <a:stretch>
                  <a:fillRect l="-928" t="-990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53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9579"/>
          </a:xfrm>
        </p:spPr>
        <p:txBody>
          <a:bodyPr/>
          <a:lstStyle/>
          <a:p>
            <a:pPr algn="ctr"/>
            <a:r>
              <a:rPr lang="en-US" b="1" dirty="0"/>
              <a:t>Applications of Euler’s Theorem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5E14-41C5-42B1-B765-54075F41560E}" type="datetime1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(33)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B469-E287-401B-88EF-CCD166A174C5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38200" y="2729192"/>
                <a:ext cx="1051559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Example 1:</a:t>
                </a:r>
                <a:r>
                  <a:rPr lang="en-US" sz="2400" dirty="0"/>
                  <a:t> Find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40.</m:t>
                    </m:r>
                  </m:oMath>
                </a14:m>
                <a:endParaRPr lang="en-US" sz="2400" b="0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=16 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9,40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</m:t>
                    </m:r>
                  </m:oMath>
                </a14:m>
                <a:r>
                  <a:rPr lang="en-US" sz="2400" dirty="0"/>
                  <a:t>Hence by Euler’s Theorem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40)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29192"/>
                <a:ext cx="10515599" cy="830997"/>
              </a:xfrm>
              <a:prstGeom prst="rect">
                <a:avLst/>
              </a:prstGeom>
              <a:blipFill rotWithShape="0">
                <a:blip r:embed="rId2"/>
                <a:stretch>
                  <a:fillRect l="-928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38200" y="3836762"/>
                <a:ext cx="1051559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Example 2:</a:t>
                </a:r>
                <a:r>
                  <a:rPr lang="en-US" sz="2400" dirty="0"/>
                  <a:t> 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222</m:t>
                        </m:r>
                      </m:sup>
                    </m:sSup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11.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36762"/>
                <a:ext cx="10515599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92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40157" y="1280202"/>
                <a:ext cx="10413641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Theorem 21 (Fermat's Little Theorem):</a:t>
                </a:r>
                <a:r>
                  <a:rPr lang="en-US" sz="2400" dirty="0"/>
                  <a:t> Let p be any prime number and suppose that p does not divide a. 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157" y="1280202"/>
                <a:ext cx="10413641" cy="1200329"/>
              </a:xfrm>
              <a:prstGeom prst="rect">
                <a:avLst/>
              </a:prstGeom>
              <a:blipFill rotWithShape="0">
                <a:blip r:embed="rId4"/>
                <a:stretch>
                  <a:fillRect l="-878" t="-4061" b="-3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838200" y="4865723"/>
                <a:ext cx="1041364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sz="2400" b="1" dirty="0"/>
                  <a:t>Example 3:</a:t>
                </a:r>
                <a:r>
                  <a:rPr lang="da-DK" sz="2400" dirty="0"/>
                  <a:t> Solve </a:t>
                </a:r>
                <a14:m>
                  <m:oMath xmlns:m="http://schemas.openxmlformats.org/officeDocument/2006/math">
                    <m:r>
                      <a:rPr lang="da-DK" sz="2400" i="1" dirty="0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da-DK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a-DK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da-DK" sz="2400" i="1" dirty="0" smtClean="0">
                        <a:latin typeface="Cambria Math" panose="02040503050406030204" pitchFamily="18" charset="0"/>
                      </a:rPr>
                      <m:t>7 (</m:t>
                    </m:r>
                    <m:r>
                      <a:rPr lang="da-DK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da-DK" sz="2400" i="1" dirty="0" smtClean="0">
                        <a:latin typeface="Cambria Math" panose="02040503050406030204" pitchFamily="18" charset="0"/>
                      </a:rPr>
                      <m:t> 32).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65723"/>
                <a:ext cx="10413640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93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82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7880</TotalTime>
  <Words>3747</Words>
  <Application>Microsoft Office PowerPoint</Application>
  <PresentationFormat>Widescreen</PresentationFormat>
  <Paragraphs>371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Google Sans</vt:lpstr>
      <vt:lpstr>Iskoola Pota</vt:lpstr>
      <vt:lpstr>STIXGeneral-Italic</vt:lpstr>
      <vt:lpstr>STIXGeneral-Regular</vt:lpstr>
      <vt:lpstr>STIXMathCalligraphy-Regular</vt:lpstr>
      <vt:lpstr>STIXMathExtensions-Regular</vt:lpstr>
      <vt:lpstr>STIXMath-Regular</vt:lpstr>
      <vt:lpstr>Office Theme</vt:lpstr>
      <vt:lpstr>Introduction to Number Theory</vt:lpstr>
      <vt:lpstr>Division</vt:lpstr>
      <vt:lpstr>The Division Algorithm</vt:lpstr>
      <vt:lpstr>Modular arithmetic</vt:lpstr>
      <vt:lpstr>congruence</vt:lpstr>
      <vt:lpstr>Example </vt:lpstr>
      <vt:lpstr>Example</vt:lpstr>
      <vt:lpstr>Theorem</vt:lpstr>
      <vt:lpstr>Theorem ……………….</vt:lpstr>
      <vt:lpstr>Basic Facts About Division</vt:lpstr>
      <vt:lpstr>Basic Facts About Division</vt:lpstr>
      <vt:lpstr>Modular Arithmetic</vt:lpstr>
      <vt:lpstr>Some Basic Results</vt:lpstr>
      <vt:lpstr>Some Basic Results</vt:lpstr>
      <vt:lpstr>Example</vt:lpstr>
      <vt:lpstr> Some Applications of Theorem 6</vt:lpstr>
      <vt:lpstr>Example</vt:lpstr>
      <vt:lpstr>Arithmetic on Z_m</vt:lpstr>
      <vt:lpstr>Primes</vt:lpstr>
      <vt:lpstr>The Set of all Primes is Infinite</vt:lpstr>
      <vt:lpstr>Greatest Common Divisor</vt:lpstr>
      <vt:lpstr>Least Common Multiple</vt:lpstr>
      <vt:lpstr>The Euclidean Algorithm</vt:lpstr>
      <vt:lpstr>The Euclidean Algorithm</vt:lpstr>
      <vt:lpstr>gcds as Linear Combinations</vt:lpstr>
      <vt:lpstr>Applications BÉZOUT’S Theorem</vt:lpstr>
      <vt:lpstr>Solving Linear Congruence</vt:lpstr>
      <vt:lpstr>Example</vt:lpstr>
      <vt:lpstr>Euler φ-function</vt:lpstr>
      <vt:lpstr>Complete and Reduced residue system</vt:lpstr>
      <vt:lpstr>Basic Results</vt:lpstr>
      <vt:lpstr>Euler Theorem</vt:lpstr>
      <vt:lpstr>Applications of Euler’s Theorem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Lab1 SC</cp:lastModifiedBy>
  <cp:revision>215</cp:revision>
  <dcterms:created xsi:type="dcterms:W3CDTF">2017-04-05T04:55:23Z</dcterms:created>
  <dcterms:modified xsi:type="dcterms:W3CDTF">2026-06-16T06:01:32Z</dcterms:modified>
</cp:coreProperties>
</file>