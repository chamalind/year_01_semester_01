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6"/>
  </p:notesMasterIdLst>
  <p:sldIdLst>
    <p:sldId id="319" r:id="rId3"/>
    <p:sldId id="352" r:id="rId4"/>
    <p:sldId id="38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83" r:id="rId16"/>
    <p:sldId id="363" r:id="rId17"/>
    <p:sldId id="364" r:id="rId18"/>
    <p:sldId id="365" r:id="rId19"/>
    <p:sldId id="384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7" r:id="rId28"/>
    <p:sldId id="373" r:id="rId29"/>
    <p:sldId id="374" r:id="rId30"/>
    <p:sldId id="378" r:id="rId31"/>
    <p:sldId id="376" r:id="rId32"/>
    <p:sldId id="380" r:id="rId33"/>
    <p:sldId id="381" r:id="rId34"/>
    <p:sldId id="37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78639-0D19-45B0-A86B-EC65E962A62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4BB1-ADCC-4275-BBC4-8A0D60650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26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86000"/>
            <a:ext cx="7772400" cy="46037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r>
              <a:rPr lang="en-US" dirty="0"/>
              <a:t>&lt;COURSE CODE &amp; COURSE NAME&gt;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52800"/>
            <a:ext cx="7772400" cy="381000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&lt;Handout #&gt; - &lt;Topic&gt;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85800" y="457200"/>
            <a:ext cx="7772400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COMPUTER SCIENCE/</a:t>
            </a:r>
            <a:endParaRPr lang="en-US" sz="2400" baseline="0" dirty="0">
              <a:solidFill>
                <a:schemeClr val="bg1"/>
              </a:solidFill>
              <a:latin typeface="+mn-lt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SCIENCE IN COMPUTER SCIENCE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85800" y="6074282"/>
            <a:ext cx="777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UNIVERSITY OF COLOMBO SCHOOL OF COMPUTING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436882"/>
            <a:ext cx="1269999" cy="9524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410200"/>
            <a:ext cx="800872" cy="941082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3667-863C-48F5-8AA7-135ABE36FF9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3429000"/>
            <a:ext cx="9144000" cy="2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446087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6CC1-0BC9-4E60-9716-9C1AA5DE2B1E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634A-A1AC-4642-B7C5-4939F4B6CECE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7883A-2A18-46BF-94B3-582D4D0EDF82}" type="datetime3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34947-06A7-48E7-A52D-E4572D4CE177}" type="datetime3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BB88-AFD7-4DFF-B641-86AD7A2A1623}" type="datetime3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449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FBE33-69D9-40D4-9CFA-B1A3488DF9EC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516E-346C-4B28-AB41-0AB3696AB26E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1A3B-1113-46E7-9F11-BEA114FD7047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77BE5-B376-47F5-972F-463DBF141E5A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B8FE-2656-4FC9-BC14-EE7856F41770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3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CF0BC-BD9A-4F11-9354-14F9C039A915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ACD3-C977-4D5D-AA78-057AE1D0038A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E34A9-E2DC-401C-82C9-44803608369D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10" name="SmartArt Placeholder 9"/>
          <p:cNvSpPr>
            <a:spLocks noGrp="1"/>
          </p:cNvSpPr>
          <p:nvPr>
            <p:ph type="dgm" sz="quarter" idx="15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SmartArt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939B-B9B4-466B-A68F-AD28DBCC8B10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martArt Placeholder 7"/>
          <p:cNvSpPr>
            <a:spLocks noGrp="1"/>
          </p:cNvSpPr>
          <p:nvPr>
            <p:ph type="dgm" sz="quarter" idx="16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SmartArt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8216-2504-4EA2-B8D2-FC2F4D592489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6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BB6CD-6437-4EEA-893B-46E021006161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7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D625-2464-47A7-8281-987D0C1B611C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67600" y="0"/>
            <a:ext cx="1371600" cy="6172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7543800" y="274638"/>
            <a:ext cx="12954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9342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D0C7-50FB-4848-BF04-E8111910549A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066800" y="6454833"/>
            <a:ext cx="4495800" cy="2507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49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2121" y="6400800"/>
            <a:ext cx="1092679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1AF47EE-96FC-4B97-B70F-C446B9D6F427}" type="datetime3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00800"/>
            <a:ext cx="44958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SCS 1204   Discrete Mathematics I      Prof. D D Karunaratna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400800"/>
            <a:ext cx="7620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|        </a:t>
            </a:r>
            <a:fld id="{0CA841A6-7C02-4C92-B6EE-5DBCC2AD53D0}" type="slidenum">
              <a:rPr lang="en-US" smtClean="0"/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226233"/>
            <a:ext cx="609600" cy="457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1066800" y="6400800"/>
            <a:ext cx="80772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0.png"/><Relationship Id="rId2" Type="http://schemas.openxmlformats.org/officeDocument/2006/relationships/image" Target="../media/image48.png"/><Relationship Id="rId1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Lesson 6:  Functions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Topics to be covered. </a:t>
            </a:r>
            <a:endParaRPr lang="en-US" b="1" dirty="0"/>
          </a:p>
          <a:p>
            <a:pPr lvl="1"/>
            <a:r>
              <a:rPr lang="en-US" altLang="en-GB" b="1" dirty="0"/>
              <a:t>Defintion of a function</a:t>
            </a:r>
            <a:endParaRPr lang="en-GB" b="1" dirty="0"/>
          </a:p>
          <a:p>
            <a:pPr lvl="1"/>
            <a:r>
              <a:rPr lang="en-GB" b="1" dirty="0"/>
              <a:t>One-to-One Functions</a:t>
            </a:r>
            <a:endParaRPr lang="en-GB" b="1" dirty="0"/>
          </a:p>
          <a:p>
            <a:pPr lvl="1"/>
            <a:r>
              <a:rPr lang="en-GB" b="1" dirty="0"/>
              <a:t>Onto Functions</a:t>
            </a:r>
            <a:endParaRPr lang="en-GB" b="1" dirty="0"/>
          </a:p>
          <a:p>
            <a:pPr lvl="1"/>
            <a:r>
              <a:rPr lang="en-GB" b="1" dirty="0"/>
              <a:t>Inverse Functions</a:t>
            </a:r>
            <a:endParaRPr lang="en-GB" b="1" dirty="0"/>
          </a:p>
          <a:p>
            <a:pPr lvl="1"/>
            <a:r>
              <a:rPr lang="en-GB" b="1" dirty="0"/>
              <a:t>Composition of Functions</a:t>
            </a:r>
            <a:endParaRPr lang="en-GB" b="1" dirty="0"/>
          </a:p>
          <a:p>
            <a:pPr lvl="1"/>
            <a:r>
              <a:rPr lang="en-GB" b="1" dirty="0"/>
              <a:t>Some Important Functions</a:t>
            </a:r>
            <a:endParaRPr lang="en-GB" b="1" dirty="0"/>
          </a:p>
          <a:p>
            <a:pPr lvl="1"/>
            <a:r>
              <a:rPr lang="en-GB" b="1" dirty="0"/>
              <a:t>Partial Functions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E837-69D4-4C50-BEDB-FED93C0BA39D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B7E7-7E90-4FA5-8586-EA08387CB1D9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524000" y="1630680"/>
            <a:ext cx="4572000" cy="2407920"/>
            <a:chOff x="2403273" y="838200"/>
            <a:chExt cx="4226127" cy="3017520"/>
          </a:xfrm>
        </p:grpSpPr>
        <p:grpSp>
          <p:nvGrpSpPr>
            <p:cNvPr id="8" name="Group 7"/>
            <p:cNvGrpSpPr/>
            <p:nvPr/>
          </p:nvGrpSpPr>
          <p:grpSpPr>
            <a:xfrm>
              <a:off x="2403273" y="838200"/>
              <a:ext cx="4226127" cy="2597992"/>
              <a:chOff x="1598598" y="983408"/>
              <a:chExt cx="4226127" cy="2597992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4724400" y="983408"/>
                <a:ext cx="1100325" cy="25908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1598598" y="990600"/>
                <a:ext cx="1144602" cy="259080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905000" y="1143000"/>
                <a:ext cx="689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Linda</a:t>
                </a:r>
                <a:endParaRPr lang="en-US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905000" y="1524000"/>
                <a:ext cx="5897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Max</a:t>
                </a:r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1905000" y="1828800"/>
                <a:ext cx="7082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Kathy</a:t>
                </a:r>
                <a:endParaRPr lang="en-US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905000" y="2193982"/>
                <a:ext cx="6828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Peter</a:t>
                </a:r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905000" y="2907268"/>
                <a:ext cx="643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Jams</a:t>
                </a:r>
                <a:endParaRPr lang="en-US" dirty="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905000" y="2559338"/>
                <a:ext cx="7344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sym typeface="Symbol" panose="05050102010706020507" pitchFamily="18" charset="2"/>
                  </a:rPr>
                  <a:t>Nimal</a:t>
                </a:r>
                <a:endParaRPr lang="en-US" dirty="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105400" y="1559941"/>
                <a:ext cx="309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B</a:t>
                </a:r>
                <a:endParaRPr lang="en-US" dirty="0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092484" y="1109930"/>
                <a:ext cx="317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A</a:t>
                </a:r>
                <a:endParaRPr lang="en-US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100500" y="2087588"/>
                <a:ext cx="3080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C</a:t>
                </a:r>
                <a:endParaRPr lang="en-US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122652" y="2553412"/>
                <a:ext cx="3273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D</a:t>
                </a:r>
                <a:endParaRPr lang="en-US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145614" y="2977541"/>
                <a:ext cx="290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F</a:t>
                </a:r>
                <a:endParaRPr lang="en-US" dirty="0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>
                <a:off x="2494713" y="1371600"/>
                <a:ext cx="2650901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endCxn id="20" idx="1"/>
              </p:cNvCxnSpPr>
              <p:nvPr/>
            </p:nvCxnSpPr>
            <p:spPr>
              <a:xfrm flipV="1">
                <a:off x="2438400" y="1294596"/>
                <a:ext cx="2654084" cy="458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endCxn id="19" idx="1"/>
              </p:cNvCxnSpPr>
              <p:nvPr/>
            </p:nvCxnSpPr>
            <p:spPr>
              <a:xfrm flipV="1">
                <a:off x="2548125" y="1744607"/>
                <a:ext cx="2557275" cy="3429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endCxn id="23" idx="1"/>
              </p:cNvCxnSpPr>
              <p:nvPr/>
            </p:nvCxnSpPr>
            <p:spPr>
              <a:xfrm>
                <a:off x="2548125" y="2456920"/>
                <a:ext cx="2597489" cy="7052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V="1">
                <a:off x="2594612" y="1828800"/>
                <a:ext cx="2551002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2494713" y="3162207"/>
                <a:ext cx="2686887" cy="1143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2819400" y="3307080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X</a:t>
              </a:r>
              <a:endParaRPr lang="en-US" sz="28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7854" y="3332500"/>
              <a:ext cx="5591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Y</a:t>
              </a:r>
              <a:endParaRPr lang="en-US" sz="28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228600" y="4312384"/>
                <a:ext cx="8686800" cy="1938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/>
                  <a:t>Definition: </a:t>
                </a:r>
                <a:r>
                  <a:rPr lang="en-US" sz="2000" dirty="0"/>
                  <a:t>Let </a:t>
                </a:r>
                <a:r>
                  <a:rPr lang="en-US" sz="2000" i="1" dirty="0"/>
                  <a:t>X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Y</a:t>
                </a:r>
                <a:r>
                  <a:rPr lang="en-US" sz="2000" dirty="0"/>
                  <a:t> be nonempty sets. A function </a:t>
                </a:r>
                <a:r>
                  <a:rPr lang="en-US" sz="2000" i="1" dirty="0"/>
                  <a:t>f</a:t>
                </a:r>
                <a:r>
                  <a:rPr lang="en-US" sz="2000" dirty="0"/>
                  <a:t>  from </a:t>
                </a:r>
                <a:r>
                  <a:rPr lang="en-US" sz="2000" i="1" dirty="0"/>
                  <a:t>X</a:t>
                </a:r>
                <a:r>
                  <a:rPr lang="en-US" sz="2000" dirty="0"/>
                  <a:t> to </a:t>
                </a:r>
                <a:r>
                  <a:rPr lang="en-US" sz="2000" i="1" dirty="0"/>
                  <a:t>Y</a:t>
                </a:r>
                <a:r>
                  <a:rPr lang="en-US" sz="2000" dirty="0"/>
                  <a:t> is an assignment of exactly one element of </a:t>
                </a:r>
                <a:r>
                  <a:rPr lang="en-US" sz="2000" i="1" dirty="0"/>
                  <a:t>Y</a:t>
                </a:r>
                <a:r>
                  <a:rPr lang="en-US" sz="2000" dirty="0"/>
                  <a:t> to each element of </a:t>
                </a:r>
                <a:r>
                  <a:rPr lang="en-US" sz="2000" i="1" dirty="0"/>
                  <a:t>X</a:t>
                </a:r>
                <a:r>
                  <a:rPr lang="en-US" sz="2000" dirty="0"/>
                  <a:t>. We write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if </a:t>
                </a:r>
                <a:r>
                  <a:rPr lang="en-US" sz="2000" i="1" dirty="0"/>
                  <a:t>b</a:t>
                </a:r>
                <a:r>
                  <a:rPr lang="en-US" sz="2000" dirty="0"/>
                  <a:t> is the unique element of </a:t>
                </a:r>
                <a:r>
                  <a:rPr lang="en-US" sz="2000" i="1" dirty="0"/>
                  <a:t>Y</a:t>
                </a:r>
                <a:r>
                  <a:rPr lang="en-US" sz="2000" dirty="0"/>
                  <a:t> assigned by the function </a:t>
                </a:r>
                <a:r>
                  <a:rPr lang="en-US" sz="2000" i="1" dirty="0"/>
                  <a:t>f </a:t>
                </a:r>
                <a:r>
                  <a:rPr lang="en-US" sz="2000" dirty="0"/>
                  <a:t>to the element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of </a:t>
                </a:r>
                <a:r>
                  <a:rPr lang="en-US" sz="2000" i="1" dirty="0"/>
                  <a:t>X</a:t>
                </a:r>
                <a:r>
                  <a:rPr lang="en-US" sz="2000" dirty="0"/>
                  <a:t>. If </a:t>
                </a:r>
                <a:r>
                  <a:rPr lang="en-US" sz="2000" i="1" dirty="0"/>
                  <a:t>f</a:t>
                </a:r>
                <a:r>
                  <a:rPr lang="en-US" sz="2000" dirty="0"/>
                  <a:t> is a function from </a:t>
                </a:r>
                <a:r>
                  <a:rPr lang="en-US" sz="2000" i="1" dirty="0"/>
                  <a:t>X</a:t>
                </a:r>
                <a:r>
                  <a:rPr lang="en-US" sz="2000" dirty="0"/>
                  <a:t> to </a:t>
                </a:r>
                <a:r>
                  <a:rPr lang="en-US" sz="2000" i="1" dirty="0"/>
                  <a:t>Y</a:t>
                </a:r>
                <a:r>
                  <a:rPr lang="en-US" sz="2000" dirty="0"/>
                  <a:t>, we write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  <a:p>
                <a:pPr algn="just"/>
                <a:r>
                  <a:rPr lang="en-US" sz="2000" dirty="0"/>
                  <a:t>Functions are sometimes also called mappings or transformations.</a:t>
                </a:r>
                <a:endParaRPr lang="en-US" sz="2000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312384"/>
                <a:ext cx="8686800" cy="1938020"/>
              </a:xfrm>
              <a:prstGeom prst="rect">
                <a:avLst/>
              </a:prstGeom>
              <a:blipFill rotWithShape="1">
                <a:blip r:embed="rId1"/>
                <a:stretch>
                  <a:fillRect t="-1217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Rquirement of functions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sz="2400"/>
              <a:t>An element of the set X cannot be mapped with two different elements in y as shown in the following figure.</a:t>
            </a:r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Every element of the set x must be mapped with an element with Y subjected to the above condition.</a:t>
            </a:r>
            <a:endParaRPr lang="en-US" sz="2400"/>
          </a:p>
          <a:p>
            <a:r>
              <a:rPr lang="en-US" sz="2400"/>
              <a:t>However there may be lements in y which are not assigned with elements of x  from the function.</a:t>
            </a:r>
            <a:endParaRPr lang="en-US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45E3667-863C-48F5-8AA7-135ABE36FF9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A841A6-7C02-4C92-B6EE-5DBCC2AD53D0}" type="slidenum">
              <a:rPr lang="en-US" smtClean="0"/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1524000" y="2514600"/>
            <a:ext cx="4572000" cy="2407920"/>
            <a:chOff x="2403273" y="838200"/>
            <a:chExt cx="4226127" cy="3017520"/>
          </a:xfrm>
        </p:grpSpPr>
        <p:grpSp>
          <p:nvGrpSpPr>
            <p:cNvPr id="31" name="Group 30"/>
            <p:cNvGrpSpPr/>
            <p:nvPr/>
          </p:nvGrpSpPr>
          <p:grpSpPr>
            <a:xfrm>
              <a:off x="2403273" y="838200"/>
              <a:ext cx="4226127" cy="2597992"/>
              <a:chOff x="1598598" y="983408"/>
              <a:chExt cx="4226127" cy="2597992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4724400" y="983408"/>
                <a:ext cx="1100325" cy="25908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598598" y="990600"/>
                <a:ext cx="1144602" cy="259080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12"/>
              <p:cNvSpPr/>
              <p:nvPr/>
            </p:nvSpPr>
            <p:spPr>
              <a:xfrm>
                <a:off x="1905000" y="1143000"/>
                <a:ext cx="689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Linda</a:t>
                </a:r>
                <a:endParaRPr lang="en-US" dirty="0"/>
              </a:p>
            </p:txBody>
          </p:sp>
          <p:sp>
            <p:nvSpPr>
              <p:cNvPr id="40" name="Rectangle 18"/>
              <p:cNvSpPr/>
              <p:nvPr/>
            </p:nvSpPr>
            <p:spPr>
              <a:xfrm>
                <a:off x="5105400" y="1559941"/>
                <a:ext cx="309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B</a:t>
                </a:r>
                <a:endParaRPr lang="en-US" dirty="0"/>
              </a:p>
            </p:txBody>
          </p:sp>
          <p:sp>
            <p:nvSpPr>
              <p:cNvPr id="41" name="Rectangle 19"/>
              <p:cNvSpPr/>
              <p:nvPr/>
            </p:nvSpPr>
            <p:spPr>
              <a:xfrm>
                <a:off x="5092484" y="1109930"/>
                <a:ext cx="317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A</a:t>
                </a:r>
                <a:endParaRPr lang="en-US" dirty="0"/>
              </a:p>
            </p:txBody>
          </p:sp>
          <p:sp>
            <p:nvSpPr>
              <p:cNvPr id="42" name="Rectangle 20"/>
              <p:cNvSpPr/>
              <p:nvPr/>
            </p:nvSpPr>
            <p:spPr>
              <a:xfrm>
                <a:off x="5100500" y="2087588"/>
                <a:ext cx="3080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C</a:t>
                </a:r>
                <a:endParaRPr lang="en-US" dirty="0"/>
              </a:p>
            </p:txBody>
          </p:sp>
          <p:sp>
            <p:nvSpPr>
              <p:cNvPr id="43" name="Rectangle 21"/>
              <p:cNvSpPr/>
              <p:nvPr/>
            </p:nvSpPr>
            <p:spPr>
              <a:xfrm>
                <a:off x="5122652" y="2553412"/>
                <a:ext cx="3273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D</a:t>
                </a:r>
                <a:endParaRPr lang="en-US" dirty="0"/>
              </a:p>
            </p:txBody>
          </p:sp>
          <p:sp>
            <p:nvSpPr>
              <p:cNvPr id="44" name="Rectangle 22"/>
              <p:cNvSpPr/>
              <p:nvPr/>
            </p:nvSpPr>
            <p:spPr>
              <a:xfrm>
                <a:off x="5145614" y="2977541"/>
                <a:ext cx="290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F</a:t>
                </a:r>
                <a:endParaRPr lang="en-US" dirty="0"/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>
                <a:off x="2494713" y="1371600"/>
                <a:ext cx="2650901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V="1">
                <a:off x="2458944" y="1365065"/>
                <a:ext cx="2661286" cy="1328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8"/>
            <p:cNvSpPr txBox="1"/>
            <p:nvPr/>
          </p:nvSpPr>
          <p:spPr>
            <a:xfrm>
              <a:off x="2819400" y="3307080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X</a:t>
              </a:r>
              <a:endParaRPr lang="en-US" sz="2800" b="1" dirty="0"/>
            </a:p>
          </p:txBody>
        </p:sp>
        <p:sp>
          <p:nvSpPr>
            <p:cNvPr id="52" name="TextBox 9"/>
            <p:cNvSpPr txBox="1"/>
            <p:nvPr/>
          </p:nvSpPr>
          <p:spPr>
            <a:xfrm>
              <a:off x="5917854" y="3332500"/>
              <a:ext cx="5591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Y</a:t>
              </a:r>
              <a:endParaRPr 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6D17-3D63-435C-B11E-587F81290455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2460237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86600" y="2435412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Codomain</a:t>
            </a:r>
            <a:endParaRPr lang="en-US" sz="2800" b="1" dirty="0"/>
          </a:p>
        </p:txBody>
      </p:sp>
      <p:cxnSp>
        <p:nvCxnSpPr>
          <p:cNvPr id="9" name="Straight Arrow Connector 8"/>
          <p:cNvCxnSpPr>
            <a:stCxn id="7" idx="2"/>
            <a:endCxn id="19" idx="2"/>
          </p:cNvCxnSpPr>
          <p:nvPr/>
        </p:nvCxnSpPr>
        <p:spPr>
          <a:xfrm>
            <a:off x="1485900" y="2983457"/>
            <a:ext cx="1069773" cy="2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2"/>
            <a:endCxn id="18" idx="6"/>
          </p:cNvCxnSpPr>
          <p:nvPr/>
        </p:nvCxnSpPr>
        <p:spPr>
          <a:xfrm flipH="1">
            <a:off x="7010400" y="2958632"/>
            <a:ext cx="1104900" cy="46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555673" y="1524000"/>
            <a:ext cx="4454727" cy="2587812"/>
            <a:chOff x="2555673" y="917388"/>
            <a:chExt cx="4226127" cy="3045012"/>
          </a:xfrm>
        </p:grpSpPr>
        <p:grpSp>
          <p:nvGrpSpPr>
            <p:cNvPr id="12" name="Group 11"/>
            <p:cNvGrpSpPr/>
            <p:nvPr/>
          </p:nvGrpSpPr>
          <p:grpSpPr>
            <a:xfrm>
              <a:off x="2555673" y="917388"/>
              <a:ext cx="4226127" cy="3045012"/>
              <a:chOff x="2555673" y="772180"/>
              <a:chExt cx="4226127" cy="3045012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2555673" y="1219200"/>
                <a:ext cx="4226127" cy="2597992"/>
                <a:chOff x="1598598" y="983408"/>
                <a:chExt cx="4226127" cy="2597992"/>
              </a:xfrm>
            </p:grpSpPr>
            <p:sp>
              <p:nvSpPr>
                <p:cNvPr id="18" name="Oval 17"/>
                <p:cNvSpPr/>
                <p:nvPr/>
              </p:nvSpPr>
              <p:spPr>
                <a:xfrm>
                  <a:off x="4724400" y="983408"/>
                  <a:ext cx="1100325" cy="25908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1598598" y="990600"/>
                  <a:ext cx="1144602" cy="2590800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1905000" y="1143000"/>
                  <a:ext cx="68961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Linda</a:t>
                  </a:r>
                  <a:endParaRPr lang="en-US" dirty="0"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1905000" y="1524000"/>
                  <a:ext cx="58971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Max</a:t>
                  </a:r>
                  <a:endParaRPr lang="en-US" dirty="0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1905000" y="1828800"/>
                  <a:ext cx="70820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Kathy</a:t>
                  </a:r>
                  <a:endParaRPr lang="en-US" dirty="0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1905000" y="2193982"/>
                  <a:ext cx="6828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Peter</a:t>
                  </a:r>
                  <a:endParaRPr lang="en-US" dirty="0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1905000" y="2907268"/>
                  <a:ext cx="64312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Jams</a:t>
                  </a:r>
                  <a:endParaRPr lang="en-US" dirty="0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1905000" y="2559338"/>
                  <a:ext cx="7344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err="1">
                      <a:sym typeface="Symbol" panose="05050102010706020507" pitchFamily="18" charset="2"/>
                    </a:rPr>
                    <a:t>Nimal</a:t>
                  </a:r>
                  <a:endParaRPr lang="en-US" dirty="0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5105400" y="1559941"/>
                  <a:ext cx="3097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B</a:t>
                  </a:r>
                  <a:endParaRPr lang="en-US" dirty="0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5092484" y="1109930"/>
                  <a:ext cx="3177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A</a:t>
                  </a:r>
                  <a:endParaRPr lang="en-US" dirty="0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5100500" y="2087588"/>
                  <a:ext cx="30809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C</a:t>
                  </a:r>
                  <a:endParaRPr lang="en-US" dirty="0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5122652" y="2553412"/>
                  <a:ext cx="32733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D</a:t>
                  </a:r>
                  <a:endParaRPr lang="en-US" dirty="0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5145614" y="2977541"/>
                  <a:ext cx="2904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ym typeface="Symbol" panose="05050102010706020507" pitchFamily="18" charset="2"/>
                    </a:rPr>
                    <a:t>F</a:t>
                  </a:r>
                  <a:endParaRPr lang="en-US" dirty="0"/>
                </a:p>
              </p:txBody>
            </p:sp>
            <p:cxnSp>
              <p:nvCxnSpPr>
                <p:cNvPr id="31" name="Straight Arrow Connector 30"/>
                <p:cNvCxnSpPr/>
                <p:nvPr/>
              </p:nvCxnSpPr>
              <p:spPr>
                <a:xfrm>
                  <a:off x="2494713" y="1371600"/>
                  <a:ext cx="2650901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/>
                <p:cNvCxnSpPr>
                  <a:endCxn id="27" idx="1"/>
                </p:cNvCxnSpPr>
                <p:nvPr/>
              </p:nvCxnSpPr>
              <p:spPr>
                <a:xfrm flipV="1">
                  <a:off x="2438400" y="1294596"/>
                  <a:ext cx="2654084" cy="45800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endCxn id="26" idx="1"/>
                </p:cNvCxnSpPr>
                <p:nvPr/>
              </p:nvCxnSpPr>
              <p:spPr>
                <a:xfrm flipV="1">
                  <a:off x="2548125" y="1744607"/>
                  <a:ext cx="2557275" cy="3429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/>
                <p:cNvCxnSpPr>
                  <a:endCxn id="30" idx="1"/>
                </p:cNvCxnSpPr>
                <p:nvPr/>
              </p:nvCxnSpPr>
              <p:spPr>
                <a:xfrm>
                  <a:off x="2548125" y="2456920"/>
                  <a:ext cx="2597489" cy="70528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/>
                <p:nvPr/>
              </p:nvCxnSpPr>
              <p:spPr>
                <a:xfrm flipV="1">
                  <a:off x="2594612" y="1828800"/>
                  <a:ext cx="2551002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2494713" y="3162207"/>
                  <a:ext cx="2686887" cy="11439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/>
              <p:cNvSpPr txBox="1"/>
              <p:nvPr/>
            </p:nvSpPr>
            <p:spPr>
              <a:xfrm>
                <a:off x="2971800" y="777240"/>
                <a:ext cx="533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X</a:t>
                </a:r>
                <a:endParaRPr lang="en-US" sz="2800" b="1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019800" y="772180"/>
                <a:ext cx="533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Y</a:t>
                </a:r>
                <a:endParaRPr lang="en-US" sz="2800" b="1" dirty="0"/>
              </a:p>
            </p:txBody>
          </p:sp>
        </p:grpSp>
        <p:cxnSp>
          <p:nvCxnSpPr>
            <p:cNvPr id="13" name="Straight Arrow Connector 12"/>
            <p:cNvCxnSpPr/>
            <p:nvPr/>
          </p:nvCxnSpPr>
          <p:spPr>
            <a:xfrm>
              <a:off x="3700275" y="1219200"/>
              <a:ext cx="17861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495800" y="1153180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f</a:t>
              </a:r>
              <a:endParaRPr lang="en-US" sz="28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76200" y="4109383"/>
                <a:ext cx="8839200" cy="2306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we say that </a:t>
                </a:r>
                <a:r>
                  <a:rPr lang="en-US" sz="2400" i="1" dirty="0"/>
                  <a:t>b</a:t>
                </a:r>
                <a:r>
                  <a:rPr lang="en-US" sz="2400" dirty="0"/>
                  <a:t> is the </a:t>
                </a:r>
                <a:r>
                  <a:rPr lang="en-US" sz="2400" b="1" dirty="0"/>
                  <a:t>image</a:t>
                </a:r>
                <a:r>
                  <a:rPr lang="en-US" sz="2400" dirty="0"/>
                  <a:t> of </a:t>
                </a:r>
                <a:r>
                  <a:rPr lang="en-US" sz="2400" i="1" dirty="0"/>
                  <a:t>a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a</a:t>
                </a:r>
                <a:r>
                  <a:rPr lang="en-US" sz="2400" dirty="0"/>
                  <a:t> is a </a:t>
                </a:r>
                <a:r>
                  <a:rPr lang="en-US" sz="2400" b="1" dirty="0"/>
                  <a:t>pre-image</a:t>
                </a:r>
                <a:r>
                  <a:rPr lang="en-US" sz="2400" dirty="0"/>
                  <a:t> of </a:t>
                </a:r>
                <a:r>
                  <a:rPr lang="en-US" sz="2400" i="1" dirty="0"/>
                  <a:t>b</a:t>
                </a:r>
                <a:r>
                  <a:rPr lang="en-US" sz="2400" dirty="0"/>
                  <a:t>. </a:t>
                </a:r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range</a:t>
                </a:r>
                <a:r>
                  <a:rPr lang="en-US" sz="2400" dirty="0"/>
                  <a:t>, or image, of </a:t>
                </a:r>
                <a:r>
                  <a:rPr lang="en-US" sz="2400" i="1" dirty="0"/>
                  <a:t>f</a:t>
                </a:r>
                <a:r>
                  <a:rPr lang="en-US" sz="2400" dirty="0"/>
                  <a:t>  </a:t>
                </a:r>
                <a:r>
                  <a:rPr lang="en-US" sz="2400" dirty="0">
                    <a:sym typeface="+mn-ea"/>
                  </a:rPr>
                  <a:t>denoted by Range(f) </a:t>
                </a:r>
                <a:r>
                  <a:rPr lang="en-US" sz="2400" dirty="0"/>
                  <a:t>is the set of all images of elements of </a:t>
                </a:r>
                <a:r>
                  <a:rPr lang="en-US" sz="2400" i="1" dirty="0"/>
                  <a:t>X</a:t>
                </a:r>
                <a:r>
                  <a:rPr lang="en-US" sz="2400" dirty="0"/>
                  <a:t> and is .</a:t>
                </a:r>
                <a:endParaRPr lang="en-US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𝑠𝑜𝑚𝑒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i="1" smtClean="0">
                  <a:latin typeface="Cambria Math" panose="02040503050406030204" pitchFamily="18" charset="0"/>
                </a:endParaRPr>
              </a:p>
              <a:p>
                <a:pPr marL="457200" lvl="1" indent="457200"/>
                <a:r>
                  <a:rPr lang="en-US" sz="2400" dirty="0"/>
                  <a:t>Range(f)  </a:t>
                </a:r>
                <a:r>
                  <a:rPr lang="en-US" altLang="en-US" sz="2400" dirty="0"/>
                  <a:t>⊆ </a:t>
                </a:r>
                <a:r>
                  <a:rPr lang="en-US" sz="2400" dirty="0"/>
                  <a:t>Codomain(f)</a:t>
                </a:r>
                <a:endParaRPr lang="en-US" sz="2400" dirty="0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4109383"/>
                <a:ext cx="8839200" cy="2306955"/>
              </a:xfrm>
              <a:prstGeom prst="rect">
                <a:avLst/>
              </a:prstGeom>
              <a:blipFill rotWithShape="1">
                <a:blip r:embed="rId1"/>
                <a:stretch>
                  <a:fillRect t="-1637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884F-9C4E-4664-8E83-88D5DD1D4A8A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600418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domain, codomain and range of the following functions: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57200" y="2372360"/>
                <a:ext cx="8305800" cy="408051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 </a:t>
                </a:r>
                <a:r>
                  <a:rPr lang="en-US" sz="2000" dirty="0"/>
                  <a:t>Let </a:t>
                </a:r>
                <a:r>
                  <a:rPr lang="en-US" sz="2000" i="1" dirty="0"/>
                  <a:t>f </a:t>
                </a:r>
                <a:r>
                  <a:rPr lang="en-US" sz="2000" dirty="0"/>
                  <a:t>be the function that assigns the last two bits of a bit string of length 2 or greater to that string. For example,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11010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/>
                  <a:t>. </a:t>
                </a: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The domain of f is the set of all bit strings of length 2 or greater.</a:t>
                </a: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The codomain and range are the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 </a:t>
                </a: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 assign the square of an integer to this integer. Then,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domain of f is the set of all integers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codomain of f is the set of all integers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range of f is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⋯⋯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72360"/>
                <a:ext cx="8305800" cy="4080510"/>
              </a:xfrm>
              <a:prstGeom prst="rect">
                <a:avLst/>
              </a:prstGeom>
              <a:blipFill rotWithShape="1">
                <a:blip r:embed="rId1"/>
                <a:stretch>
                  <a:fillRect t="-5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to one function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CA5B-889C-41D7-8025-96EC6F067D0F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607403"/>
            <a:ext cx="822960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Some functions never assign the same </a:t>
            </a:r>
            <a:r>
              <a:rPr lang="en-US" sz="2000" dirty="0">
                <a:sym typeface="+mn-ea"/>
              </a:rPr>
              <a:t>co-domain </a:t>
            </a:r>
            <a:r>
              <a:rPr lang="en-US" sz="2000" dirty="0"/>
              <a:t>value to two different domain elements. These functions are said to be one-to-one.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81000" y="2724785"/>
                <a:ext cx="8229600" cy="111061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just"/>
                <a:r>
                  <a:rPr lang="en-US" dirty="0"/>
                  <a:t> </a:t>
                </a:r>
                <a:r>
                  <a:rPr lang="en-US" sz="2000" b="1" dirty="0"/>
                  <a:t>Definition:</a:t>
                </a:r>
                <a:r>
                  <a:rPr lang="en-US" sz="2000" dirty="0"/>
                  <a:t> A function </a:t>
                </a:r>
                <a:r>
                  <a:rPr lang="en-US" sz="2000" i="1" dirty="0"/>
                  <a:t>f </a:t>
                </a:r>
                <a:r>
                  <a:rPr lang="en-US" sz="2000" dirty="0"/>
                  <a:t>is said to be one–to-one, or an injunction, if and only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implies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for all </a:t>
                </a:r>
                <a:r>
                  <a:rPr lang="en-US" sz="2000" i="1" dirty="0"/>
                  <a:t>a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b</a:t>
                </a:r>
                <a:r>
                  <a:rPr lang="en-US" sz="2000" dirty="0"/>
                  <a:t> in the domain of </a:t>
                </a:r>
                <a:r>
                  <a:rPr lang="en-US" sz="2000" i="1" dirty="0"/>
                  <a:t>f</a:t>
                </a:r>
                <a:r>
                  <a:rPr lang="en-US" sz="2000" dirty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24785"/>
                <a:ext cx="8229600" cy="1110615"/>
              </a:xfrm>
              <a:prstGeom prst="rect">
                <a:avLst/>
              </a:prstGeom>
              <a:blipFill rotWithShape="1">
                <a:blip r:embed="rId1"/>
                <a:stretch>
                  <a:fillRect t="-21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57200" y="3962400"/>
                <a:ext cx="8077200" cy="23114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Remark:</a:t>
                </a:r>
                <a:r>
                  <a:rPr lang="en-US" sz="2000" dirty="0"/>
                  <a:t> We can express that f is one-to-one using quantiﬁers as follows:</a:t>
                </a:r>
                <a:endParaRPr lang="en-US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)→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                                         </a:t>
                </a:r>
                <a:endParaRPr lang="en-US" sz="2000" dirty="0"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⇔ 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where the universe of discourse is the domain of the function.</a:t>
                </a:r>
                <a:endParaRPr lang="en-US" sz="20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62400"/>
                <a:ext cx="8077200" cy="2311400"/>
              </a:xfrm>
              <a:prstGeom prst="rect">
                <a:avLst/>
              </a:prstGeom>
              <a:blipFill rotWithShape="1">
                <a:blip r:embed="rId2"/>
                <a:stretch>
                  <a:fillRect t="-10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A4DB-DDAD-4674-9F67-79BAEAD47A9D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52600"/>
                <a:ext cx="83058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Determine whether the function </a:t>
                </a:r>
                <a:r>
                  <a:rPr lang="en-US" sz="2400" i="1" dirty="0"/>
                  <a:t>f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is one-to-one. </a:t>
                </a:r>
                <a:endParaRPr lang="en-US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52600"/>
                <a:ext cx="8305800" cy="1200329"/>
              </a:xfrm>
              <a:prstGeom prst="rect">
                <a:avLst/>
              </a:prstGeom>
              <a:blipFill rotWithShape="1">
                <a:blip r:embed="rId1"/>
                <a:stretch>
                  <a:fillRect t="-3121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555673" y="2827401"/>
            <a:ext cx="3557171" cy="2277999"/>
            <a:chOff x="2555673" y="2827401"/>
            <a:chExt cx="3557171" cy="2277999"/>
          </a:xfrm>
        </p:grpSpPr>
        <p:sp>
          <p:nvSpPr>
            <p:cNvPr id="8" name="Oval 7"/>
            <p:cNvSpPr/>
            <p:nvPr/>
          </p:nvSpPr>
          <p:spPr>
            <a:xfrm>
              <a:off x="2555673" y="2903601"/>
              <a:ext cx="1206516" cy="2201799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963694" y="303311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71800" y="350520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76518" y="3953322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63694" y="441052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d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953000" y="2827401"/>
              <a:ext cx="1159844" cy="220179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54609" y="331736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340995" y="2934926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349444" y="376579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372794" y="4161673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4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96998" y="4522121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5</a:t>
              </a:r>
              <a:endParaRPr lang="en-US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3276600" y="3304258"/>
              <a:ext cx="2120398" cy="10183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276600" y="3686701"/>
              <a:ext cx="2120398" cy="9614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3276600" y="3139562"/>
              <a:ext cx="2120398" cy="964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3276600" y="3989438"/>
              <a:ext cx="2120398" cy="5681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457200" y="5297269"/>
            <a:ext cx="83058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The function f is </a:t>
            </a:r>
            <a:r>
              <a:rPr lang="en-GB" sz="2400" b="1" dirty="0"/>
              <a:t>one to one </a:t>
            </a:r>
            <a:r>
              <a:rPr lang="en-GB" sz="2400" dirty="0"/>
              <a:t>because f </a:t>
            </a:r>
            <a:r>
              <a:rPr lang="en-US" altLang="en-GB" sz="2400" dirty="0"/>
              <a:t>assignes</a:t>
            </a:r>
            <a:r>
              <a:rPr lang="en-GB" sz="2400" dirty="0"/>
              <a:t> different values </a:t>
            </a:r>
            <a:r>
              <a:rPr lang="en-US" altLang="en-GB" sz="2400" dirty="0"/>
              <a:t>to</a:t>
            </a:r>
            <a:r>
              <a:rPr lang="en-GB" sz="2400" dirty="0"/>
              <a:t> the elements of its domain.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5506-710F-48EB-9A18-D2B812C79BF1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828800"/>
                <a:ext cx="8229600" cy="3754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the set of real numbers to itself is one-to-one. </a:t>
                </a:r>
                <a:endParaRPr lang="en-US" sz="20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/>
                  <a:t>Suppose that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.</a:t>
                </a:r>
                <a:endParaRPr lang="en-US" sz="20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/>
                  <a:t>Hence, f is one to one.</a:t>
                </a:r>
                <a:endParaRPr lang="en-US" sz="2000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the set of integers to the set of integers is one-to-one. </a:t>
                </a:r>
                <a:endParaRPr lang="en-US" sz="2000" dirty="0"/>
              </a:p>
              <a:p>
                <a:r>
                  <a:rPr lang="en-GB" sz="2000" b="0" dirty="0"/>
                  <a:t>    Since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and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 it follows that f is not one to one.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28800"/>
                <a:ext cx="8229600" cy="3754874"/>
              </a:xfrm>
              <a:prstGeom prst="rect">
                <a:avLst/>
              </a:prstGeom>
              <a:blipFill rotWithShape="1">
                <a:blip r:embed="rId1"/>
                <a:stretch>
                  <a:fillRect t="-626" b="-62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6477000" y="2129135"/>
            <a:ext cx="2438400" cy="2138065"/>
            <a:chOff x="6477000" y="2129135"/>
            <a:chExt cx="2438400" cy="2138065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7620000" y="2362200"/>
              <a:ext cx="0" cy="1905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477000" y="3352800"/>
              <a:ext cx="2133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6705600" y="2362200"/>
              <a:ext cx="1676400" cy="1676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8382004" y="3200400"/>
                  <a:ext cx="5333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4" y="3200400"/>
                  <a:ext cx="533396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239000" y="2129135"/>
                  <a:ext cx="5333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2129135"/>
                  <a:ext cx="533396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Onto 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0787C-A53B-4816-86C8-614EA5F484CA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54076"/>
                <a:ext cx="8229600" cy="1938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/>
                  <a:t>Definition: </a:t>
                </a:r>
                <a:r>
                  <a:rPr lang="en-US" sz="2000" dirty="0"/>
                  <a:t>A function </a:t>
                </a:r>
                <a:r>
                  <a:rPr lang="en-US" sz="2000" i="1" dirty="0"/>
                  <a:t>f</a:t>
                </a:r>
                <a:r>
                  <a:rPr lang="en-US" sz="2000" dirty="0"/>
                  <a:t> from </a:t>
                </a:r>
                <a:r>
                  <a:rPr lang="en-US" sz="2000" i="1" dirty="0"/>
                  <a:t>A</a:t>
                </a:r>
                <a:r>
                  <a:rPr lang="en-US" sz="2000" dirty="0"/>
                  <a:t> to </a:t>
                </a:r>
                <a:r>
                  <a:rPr lang="en-US" sz="2000" i="1" dirty="0"/>
                  <a:t>B </a:t>
                </a:r>
                <a:r>
                  <a:rPr lang="en-US" sz="2000" dirty="0"/>
                  <a:t>is called </a:t>
                </a:r>
                <a:r>
                  <a:rPr lang="en-US" sz="2000" b="1" dirty="0"/>
                  <a:t>onto</a:t>
                </a:r>
                <a:r>
                  <a:rPr lang="en-US" sz="2000" dirty="0"/>
                  <a:t>, or a </a:t>
                </a:r>
                <a:r>
                  <a:rPr lang="en-US" sz="2000" b="1" dirty="0"/>
                  <a:t>surjection</a:t>
                </a:r>
                <a:r>
                  <a:rPr lang="en-US" sz="2000" dirty="0"/>
                  <a:t>, if and only if for every element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there is an element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  <a:p>
                <a:pPr algn="just"/>
                <a:r>
                  <a:rPr lang="en-US" sz="2000" dirty="0"/>
                  <a:t>That is; </a:t>
                </a:r>
                <a:endParaRPr lang="en-US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onto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𝑅𝑎𝑛𝑔𝑒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 = 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𝑑𝑜𝑚𝑎𝑖𝑛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54076"/>
                <a:ext cx="8229600" cy="1938020"/>
              </a:xfrm>
              <a:prstGeom prst="rect">
                <a:avLst/>
              </a:prstGeom>
              <a:blipFill rotWithShape="1">
                <a:blip r:embed="rId1"/>
                <a:stretch>
                  <a:fillRect t="-1240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81000" y="3623310"/>
                <a:ext cx="8229600" cy="106807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sz="2000" b="1" dirty="0"/>
                  <a:t>Example:</a:t>
                </a:r>
                <a:r>
                  <a:rPr lang="en-US" sz="2000" dirty="0"/>
                  <a:t>  Let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be the function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deﬁned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/>
                  <a:t>Is </a:t>
                </a:r>
                <a:r>
                  <a:rPr lang="en-US" sz="2000" i="1" dirty="0"/>
                  <a:t>f </a:t>
                </a:r>
                <a:r>
                  <a:rPr lang="en-US" sz="2000" dirty="0"/>
                  <a:t>an onto function? 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623310"/>
                <a:ext cx="8229600" cy="1068070"/>
              </a:xfrm>
              <a:prstGeom prst="rect">
                <a:avLst/>
              </a:prstGeom>
              <a:blipFill rotWithShape="1">
                <a:blip r:embed="rId2"/>
                <a:stretch>
                  <a:fillRect t="-22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762000" y="4633496"/>
            <a:ext cx="3276600" cy="1767304"/>
            <a:chOff x="762000" y="4633496"/>
            <a:chExt cx="3276600" cy="1767304"/>
          </a:xfrm>
        </p:grpSpPr>
        <p:sp>
          <p:nvSpPr>
            <p:cNvPr id="9" name="Oval 8"/>
            <p:cNvSpPr/>
            <p:nvPr/>
          </p:nvSpPr>
          <p:spPr>
            <a:xfrm>
              <a:off x="762000" y="4654065"/>
              <a:ext cx="1254327" cy="174673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70022" y="4633496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78128" y="5105577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82846" y="5553699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70022" y="601089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d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2832084" y="4665102"/>
              <a:ext cx="1206516" cy="150709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40105" y="479461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48211" y="526670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52929" y="571482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H="1">
              <a:off x="1419367" y="4794619"/>
              <a:ext cx="63561" cy="912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419367" y="4885899"/>
              <a:ext cx="1933433" cy="1037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419367" y="5266700"/>
              <a:ext cx="1933433" cy="2082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endCxn id="15" idx="1"/>
            </p:cNvCxnSpPr>
            <p:nvPr/>
          </p:nvCxnSpPr>
          <p:spPr>
            <a:xfrm flipV="1">
              <a:off x="1419367" y="4979285"/>
              <a:ext cx="1820738" cy="7355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1419367" y="5923031"/>
              <a:ext cx="1828844" cy="2491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4114800" y="4856440"/>
            <a:ext cx="4572000" cy="13220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dirty="0"/>
              <a:t>Because all three elements of the codomain are images of elements in the domain, f is </a:t>
            </a:r>
            <a:r>
              <a:rPr lang="en-US" altLang="en-GB" sz="2000" dirty="0"/>
              <a:t>an </a:t>
            </a:r>
            <a:r>
              <a:rPr lang="en-GB" sz="2000" dirty="0"/>
              <a:t>onto</a:t>
            </a:r>
            <a:r>
              <a:rPr lang="en-US" altLang="en-GB" sz="2000" dirty="0"/>
              <a:t> function</a:t>
            </a:r>
            <a:r>
              <a:rPr lang="en-GB" sz="2000" dirty="0"/>
              <a:t>.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1A68-153F-41D1-99E6-8C7AA4180AA5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SCS 1204   Discrete Mathematics I      Prof. D D Karunaratna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3545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Is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the set of real numbers to the set of real numbers onto?</a:t>
                </a:r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b="1" dirty="0"/>
                  <a:t>Solution:</a:t>
                </a: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be arbitrary. </a:t>
                </a:r>
                <a:endParaRPr lang="en-US" sz="2000" dirty="0"/>
              </a:p>
              <a:p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 and f(x) = y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r>
                  <a:rPr lang="en-US" sz="2000" dirty="0"/>
                  <a:t>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such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that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Therefore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onto.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3545205"/>
              </a:xfrm>
              <a:prstGeom prst="rect">
                <a:avLst/>
              </a:prstGeom>
              <a:blipFill rotWithShape="1">
                <a:blip r:embed="rId1"/>
                <a:stretch>
                  <a:fillRect t="-6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6172200" y="2057400"/>
            <a:ext cx="2743200" cy="1981200"/>
            <a:chOff x="6172200" y="2057400"/>
            <a:chExt cx="2743200" cy="1981200"/>
          </a:xfrm>
        </p:grpSpPr>
        <p:sp>
          <p:nvSpPr>
            <p:cNvPr id="9" name="Oval 8"/>
            <p:cNvSpPr/>
            <p:nvPr/>
          </p:nvSpPr>
          <p:spPr>
            <a:xfrm>
              <a:off x="6172200" y="2057400"/>
              <a:ext cx="2743200" cy="1981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553200" y="2416466"/>
                  <a:ext cx="2083279" cy="12840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sz="20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</m:oMath>
                    </m:oMathPara>
                  </a14:m>
                  <a:endParaRPr lang="en-GB" sz="2000" b="0" dirty="0">
                    <a:ea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GB" sz="2000" dirty="0"/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2416466"/>
                  <a:ext cx="2083279" cy="128406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457200" y="4840069"/>
                <a:ext cx="8458200" cy="1328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Is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from the set of integers to the set of integers onto? </a:t>
                </a:r>
                <a:endParaRPr lang="en-US" sz="2000" dirty="0"/>
              </a:p>
              <a:p>
                <a:r>
                  <a:rPr lang="en-GB" sz="2000" dirty="0"/>
                  <a:t>The function f is not onto because there is no integer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40069"/>
                <a:ext cx="8458200" cy="1328420"/>
              </a:xfrm>
              <a:prstGeom prst="rect">
                <a:avLst/>
              </a:prstGeom>
              <a:blipFill rotWithShape="1">
                <a:blip r:embed="rId3"/>
                <a:stretch>
                  <a:fillRect t="-125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to one correspondence or  </a:t>
            </a:r>
            <a:r>
              <a:rPr lang="en-GB" dirty="0" err="1"/>
              <a:t>Bijection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EB7E-4DC3-4F9C-B65B-B548FD7D2165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57470"/>
                <a:ext cx="8382000" cy="6451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defRPr/>
                </a:pPr>
                <a:r>
                  <a:rPr lang="en-US" sz="2000" b="1" dirty="0">
                    <a:sym typeface="Symbol" panose="05050102010706020507" pitchFamily="18" charset="2"/>
                  </a:rPr>
                  <a:t>Definition: </a:t>
                </a:r>
                <a:r>
                  <a:rPr lang="en-US" sz="2000" dirty="0">
                    <a:sym typeface="Symbol" panose="05050102010706020507" pitchFamily="18" charset="2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⟶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US" sz="2000" b="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is a </a:t>
                </a:r>
                <a:r>
                  <a:rPr lang="en-US" sz="2000" dirty="0" err="1">
                    <a:sym typeface="Symbol" panose="05050102010706020507" pitchFamily="18" charset="2"/>
                  </a:rPr>
                  <a:t>bijection</a:t>
                </a:r>
                <a:r>
                  <a:rPr lang="en-US" sz="2000" dirty="0">
                    <a:sym typeface="Symbol" panose="05050102010706020507" pitchFamily="18" charset="2"/>
                  </a:rPr>
                  <a:t>, if and only if it is both one to one and onto.</a:t>
                </a:r>
                <a:endParaRPr lang="en-US" sz="20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57470"/>
                <a:ext cx="8382000" cy="645160"/>
              </a:xfrm>
              <a:prstGeom prst="rect">
                <a:avLst/>
              </a:prstGeom>
              <a:blipFill rotWithShape="1">
                <a:blip r:embed="rId1"/>
                <a:stretch>
                  <a:fillRect t="-7645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57200" y="2819400"/>
                <a:ext cx="83820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Example:</a:t>
                </a:r>
                <a:endParaRPr lang="en-US" sz="2000" b="1" dirty="0"/>
              </a:p>
              <a:p>
                <a:r>
                  <a:rPr lang="en-US" sz="2000" b="1" dirty="0"/>
                  <a:t> </a:t>
                </a:r>
                <a:r>
                  <a:rPr lang="en-US" sz="2000" dirty="0"/>
                  <a:t>Let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be the function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f</a:t>
                </a:r>
                <a:r>
                  <a:rPr lang="en-US" sz="2000" dirty="0"/>
                  <a:t> a </a:t>
                </a:r>
                <a:r>
                  <a:rPr lang="en-US" sz="2000" dirty="0" err="1"/>
                  <a:t>bijection</a:t>
                </a:r>
                <a:r>
                  <a:rPr lang="en-US" sz="2000" dirty="0"/>
                  <a:t>? 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19400"/>
                <a:ext cx="8382000" cy="1015663"/>
              </a:xfrm>
              <a:prstGeom prst="rect">
                <a:avLst/>
              </a:prstGeom>
              <a:blipFill rotWithShape="1">
                <a:blip r:embed="rId2"/>
                <a:stretch>
                  <a:fillRect t="-2313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685800" y="3970401"/>
            <a:ext cx="3076389" cy="2201799"/>
            <a:chOff x="685800" y="3970401"/>
            <a:chExt cx="3076389" cy="2201799"/>
          </a:xfrm>
        </p:grpSpPr>
        <p:sp>
          <p:nvSpPr>
            <p:cNvPr id="9" name="Oval 8"/>
            <p:cNvSpPr/>
            <p:nvPr/>
          </p:nvSpPr>
          <p:spPr>
            <a:xfrm>
              <a:off x="685800" y="3970401"/>
              <a:ext cx="1206516" cy="2201799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93821" y="409991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1927" y="457200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06645" y="5020122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93821" y="547732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d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2555673" y="3970401"/>
              <a:ext cx="1206516" cy="2201799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963694" y="409991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971800" y="457200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76518" y="502012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63694" y="547732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4</a:t>
              </a:r>
              <a:endParaRPr lang="en-US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1406727" y="4343400"/>
              <a:ext cx="1565073" cy="129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1406727" y="4800600"/>
              <a:ext cx="15650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1406727" y="4343400"/>
              <a:ext cx="1641273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1406727" y="5181600"/>
              <a:ext cx="1641273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3886116" y="4343638"/>
                <a:ext cx="4420870" cy="1014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dirty="0"/>
                  <a:t>The function f is one to one and </a:t>
                </a:r>
                <a:endParaRPr lang="en-GB" sz="2000" dirty="0"/>
              </a:p>
              <a:p>
                <a:r>
                  <a:rPr lang="en-GB" sz="2000" dirty="0"/>
                  <a:t>onto.</a:t>
                </a:r>
                <a:endParaRPr lang="en-GB" sz="2000" dirty="0"/>
              </a:p>
              <a:p>
                <a:r>
                  <a:rPr lang="en-GB" sz="2000" dirty="0">
                    <a:latin typeface="Times New Roman" panose="02020603050405020304" pitchFamily="18" charset="0"/>
                  </a:rPr>
                  <a:t>Hence,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000" dirty="0"/>
                  <a:t> is a </a:t>
                </a:r>
                <a:r>
                  <a:rPr lang="en-GB" sz="2000" dirty="0" err="1"/>
                  <a:t>bijection</a:t>
                </a:r>
                <a:r>
                  <a:rPr lang="en-GB" sz="2000" dirty="0"/>
                  <a:t>.</a:t>
                </a:r>
                <a:endParaRPr lang="en-GB" sz="2000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116" y="4343638"/>
                <a:ext cx="4420870" cy="1014730"/>
              </a:xfrm>
              <a:prstGeom prst="rect">
                <a:avLst/>
              </a:prstGeom>
              <a:blipFill rotWithShape="1">
                <a:blip r:embed="rId3"/>
                <a:stretch>
                  <a:fillRect l="-12" t="-2339" r="-1884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0C0C-CE12-42E0-8FB0-478BA2781566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04800" y="1676400"/>
                <a:ext cx="8686800" cy="824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dirty="0"/>
                  <a:t>Consider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⟶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/>
                  <a:t> defined by </a:t>
                </a:r>
                <a:endParaRPr lang="en-GB" dirty="0"/>
              </a:p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  <a:r>
                  <a:rPr lang="en-US" altLang="en-GB" dirty="0"/>
                  <a:t> </a:t>
                </a:r>
                <a:r>
                  <a:rPr lang="en-GB" dirty="0">
                    <a:sym typeface="+mn-ea"/>
                  </a:rPr>
                  <a:t>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ym typeface="+mn-ea"/>
                  </a:rPr>
                  <a:t>a </a:t>
                </a:r>
                <a:r>
                  <a:rPr lang="en-GB" dirty="0" err="1">
                    <a:sym typeface="+mn-ea"/>
                  </a:rPr>
                  <a:t>bijection</a:t>
                </a:r>
                <a:r>
                  <a:rPr lang="en-GB" dirty="0">
                    <a:sym typeface="+mn-ea"/>
                  </a:rPr>
                  <a:t>? Justify your answer.</a:t>
                </a:r>
                <a:endParaRPr lang="en-GB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76400"/>
                <a:ext cx="8686800" cy="824230"/>
              </a:xfrm>
              <a:prstGeom prst="rect">
                <a:avLst/>
              </a:prstGeom>
              <a:blipFill rotWithShape="1">
                <a:blip r:embed="rId1"/>
                <a:stretch>
                  <a:fillRect t="-200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4800" y="2666767"/>
                <a:ext cx="4191000" cy="223139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some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nor/>
                      </m:rPr>
                      <a:rPr lang="en-GB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one to one.</a:t>
                </a:r>
                <a:endParaRPr lang="en-GB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666767"/>
                <a:ext cx="4191000" cy="2231390"/>
              </a:xfrm>
              <a:prstGeom prst="rect">
                <a:avLst/>
              </a:prstGeom>
              <a:blipFill rotWithShape="1">
                <a:blip r:embed="rId2"/>
                <a:stretch>
                  <a:fillRect l="-121" t="-758" r="-106" b="-2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0" y="2623185"/>
                <a:ext cx="4495800" cy="323024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= </m:t>
                    </m:r>
                    <m:r>
                      <a:rPr lang="en-US" alt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GB" dirty="0"/>
                  <a:t>Since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GB" dirty="0"/>
                  <a:t>Since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US" alt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ym typeface="+mn-ea"/>
                  </a:rPr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(∵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∃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 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onto</a:t>
                </a:r>
                <a:endParaRPr lang="en-GB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23185"/>
                <a:ext cx="4495800" cy="3230245"/>
              </a:xfrm>
              <a:prstGeom prst="rect">
                <a:avLst/>
              </a:prstGeom>
              <a:blipFill rotWithShape="1">
                <a:blip r:embed="rId3"/>
                <a:stretch>
                  <a:fillRect l="-113" t="-511" r="-99" b="-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143000" y="6046748"/>
                <a:ext cx="7162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Since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000" dirty="0"/>
                  <a:t> is one to one and onto,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000" dirty="0"/>
                  <a:t> is a </a:t>
                </a:r>
                <a:r>
                  <a:rPr lang="en-GB" sz="2000" dirty="0" err="1"/>
                  <a:t>bijection</a:t>
                </a:r>
                <a:r>
                  <a:rPr lang="en-GB" sz="2000" dirty="0"/>
                  <a:t>.</a:t>
                </a:r>
                <a:endParaRPr lang="en-GB" sz="2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046748"/>
                <a:ext cx="7162800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5942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18B7-C81F-478A-8153-1BF76A412DAC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20840"/>
                <a:ext cx="8229600" cy="4681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Give an example of a function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to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that is</a:t>
                </a:r>
                <a:endParaRPr lang="en-US" sz="200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one-to-one but not onto: </a:t>
                </a:r>
                <a:endParaRPr lang="en-US" sz="2000" dirty="0"/>
              </a:p>
              <a:p>
                <a:r>
                  <a:rPr lang="en-US" sz="2000" dirty="0"/>
                  <a:t>     Define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  <a:p>
                <a:r>
                  <a:rPr lang="en-US" sz="2000" dirty="0"/>
                  <a:t>    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one to one but not onto. </a:t>
                </a:r>
                <a:endParaRPr lang="en-US" sz="2000" dirty="0"/>
              </a:p>
              <a:p>
                <a:r>
                  <a:rPr lang="en-US" sz="2000" dirty="0"/>
                  <a:t>There is no number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en-GB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GB" sz="2000" i="1">
                        <a:latin typeface="Cambria Math" panose="02040503050406030204" pitchFamily="18" charset="0"/>
                      </a:rPr>
                      <m:t>𝑑𝑜𝑚𝑎𝑖𝑛</m:t>
                    </m:r>
                    <m:r>
                      <a:rPr lang="en-US" alt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that maps to 1 in the codomain</a:t>
                </a:r>
                <a:endParaRPr lang="en-US" sz="2000" dirty="0"/>
              </a:p>
              <a:p>
                <a:r>
                  <a:rPr lang="en-US" sz="2000" dirty="0"/>
                  <a:t>       </a:t>
                </a: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onto but not one-to-one:</a:t>
                </a:r>
                <a:endParaRPr lang="en-US" sz="2000" dirty="0"/>
              </a:p>
              <a:p>
                <a:r>
                  <a:rPr lang="en-US" sz="2000" dirty="0"/>
                  <a:t>     Define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not one to one, but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onto.</a:t>
                </a:r>
                <a:endParaRPr lang="en-US" sz="2000" dirty="0"/>
              </a:p>
              <a:p>
                <a:pPr indent="457200"/>
                <a:r>
                  <a:rPr lang="en-US" sz="2000" dirty="0"/>
                  <a:t>f(2) = 2-1 = 1 = f(1)</a:t>
                </a:r>
                <a:endParaRPr lang="en-US" sz="2000" dirty="0"/>
              </a:p>
              <a:p>
                <a:endParaRPr lang="en-US" sz="2000" dirty="0"/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20840"/>
                <a:ext cx="8229600" cy="4681855"/>
              </a:xfrm>
              <a:prstGeom prst="rect">
                <a:avLst/>
              </a:prstGeom>
              <a:blipFill rotWithShape="1">
                <a:blip r:embed="rId1"/>
                <a:stretch>
                  <a:fillRect t="-488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718B7-C81F-478A-8153-1BF76A412DAC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20840"/>
                <a:ext cx="8229600" cy="1901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Give an example of a function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to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that is</a:t>
                </a:r>
                <a:endParaRPr lang="en-US" sz="200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both onto and one-to-one (but different from the identity function)</a:t>
                </a:r>
                <a:endParaRPr lang="en-US" sz="2000" dirty="0"/>
              </a:p>
              <a:p>
                <a:r>
                  <a:rPr lang="en-US" sz="2000" dirty="0"/>
                  <a:t>     Define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sty m:val="p"/>
                                </m:rPr>
                                <a:rPr lang="en-GB" sz="2000" i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odd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sty m:val="p"/>
                                </m:rPr>
                                <a:rPr lang="en-GB" sz="2000" i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even</m:t>
                              </m:r>
                            </m:e>
                          </m:mr>
                        </m: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20840"/>
                <a:ext cx="8229600" cy="1901825"/>
              </a:xfrm>
              <a:prstGeom prst="rect">
                <a:avLst/>
              </a:prstGeom>
              <a:blipFill rotWithShape="1">
                <a:blip r:embed="rId1"/>
                <a:stretch>
                  <a:fillRect t="-1201" b="3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Inverse 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5248-8BDC-4CC1-924B-CEEE994DABFE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607403"/>
            <a:ext cx="8153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ym typeface="Symbol" panose="05050102010706020507" pitchFamily="18" charset="2"/>
              </a:rPr>
              <a:t>An interesting property of </a:t>
            </a:r>
            <a:r>
              <a:rPr lang="en-US" sz="2000" dirty="0" err="1">
                <a:sym typeface="Symbol" panose="05050102010706020507" pitchFamily="18" charset="2"/>
              </a:rPr>
              <a:t>bijections</a:t>
            </a:r>
            <a:r>
              <a:rPr lang="en-US" sz="2000" dirty="0">
                <a:sym typeface="Symbol" panose="05050102010706020507" pitchFamily="18" charset="2"/>
              </a:rPr>
              <a:t> is that they have an </a:t>
            </a:r>
            <a:r>
              <a:rPr lang="en-US" sz="2000" b="1" dirty="0">
                <a:sym typeface="Symbol" panose="05050102010706020507" pitchFamily="18" charset="2"/>
              </a:rPr>
              <a:t>inverse function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  <a:endParaRPr lang="en-US" sz="20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57200" y="2455545"/>
                <a:ext cx="8153400" cy="1652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/>
                  <a:t>Definition: </a:t>
                </a:r>
                <a:r>
                  <a:rPr lang="en-US" sz="2000" dirty="0"/>
                  <a:t>Let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be a </a:t>
                </a:r>
                <a:r>
                  <a:rPr lang="en-US" sz="2000" dirty="0" err="1"/>
                  <a:t>bijection</a:t>
                </a:r>
                <a:r>
                  <a:rPr lang="en-US" sz="2000" dirty="0"/>
                  <a:t> from the set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to the set </a:t>
                </a:r>
                <a:r>
                  <a:rPr lang="en-US" sz="2000" i="1" dirty="0"/>
                  <a:t>B</a:t>
                </a:r>
                <a:r>
                  <a:rPr lang="en-US" sz="2000" dirty="0"/>
                  <a:t>. The inverse function of </a:t>
                </a:r>
                <a:r>
                  <a:rPr lang="en-US" sz="2000" i="1" dirty="0"/>
                  <a:t>f</a:t>
                </a:r>
                <a:r>
                  <a:rPr lang="en-US" sz="2000" dirty="0"/>
                  <a:t> is the function that assigns to an element </a:t>
                </a:r>
                <a:r>
                  <a:rPr lang="en-US" sz="2000" i="1" dirty="0"/>
                  <a:t>b</a:t>
                </a:r>
                <a:r>
                  <a:rPr lang="en-US" sz="2000" dirty="0"/>
                  <a:t> belonging to </a:t>
                </a:r>
                <a:r>
                  <a:rPr lang="en-US" sz="2000" i="1" dirty="0"/>
                  <a:t>B</a:t>
                </a:r>
                <a:r>
                  <a:rPr lang="en-US" sz="2000" dirty="0"/>
                  <a:t> an unique element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in </a:t>
                </a:r>
                <a:r>
                  <a:rPr lang="en-US" sz="2000" i="1" dirty="0"/>
                  <a:t>A</a:t>
                </a:r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 The inverse function of </a:t>
                </a:r>
                <a:r>
                  <a:rPr lang="en-US" sz="2000" i="1" dirty="0"/>
                  <a:t>f</a:t>
                </a:r>
                <a:r>
                  <a:rPr lang="en-US" sz="2000" dirty="0"/>
                  <a:t>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. Hence,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000" dirty="0"/>
                  <a:t> 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 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55545"/>
                <a:ext cx="8153400" cy="1652905"/>
              </a:xfrm>
              <a:prstGeom prst="rect">
                <a:avLst/>
              </a:prstGeom>
              <a:blipFill rotWithShape="1">
                <a:blip r:embed="rId1"/>
                <a:stretch>
                  <a:fillRect t="-14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5791200" y="4249057"/>
            <a:ext cx="1832421" cy="17888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524000" y="4254023"/>
            <a:ext cx="2184555" cy="17888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ym typeface="Symbol" panose="05050102010706020507" pitchFamily="18" charset="2"/>
              </a:rPr>
              <a:t>Linda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6601356" y="4569709"/>
                <a:ext cx="1323444" cy="2550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356" y="4569709"/>
                <a:ext cx="1323444" cy="255015"/>
              </a:xfrm>
              <a:prstGeom prst="rect">
                <a:avLst/>
              </a:prstGeom>
              <a:blipFill rotWithShape="1">
                <a:blip r:embed="rId2"/>
                <a:stretch>
                  <a:fillRect l="-40" t="-98" b="-254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6627479" y="4684891"/>
            <a:ext cx="85468" cy="315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224083" y="4703920"/>
            <a:ext cx="85468" cy="315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856602" y="4572683"/>
                <a:ext cx="1538416" cy="2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602" y="4572683"/>
                <a:ext cx="1538416" cy="255015"/>
              </a:xfrm>
              <a:prstGeom prst="rect">
                <a:avLst/>
              </a:prstGeom>
              <a:blipFill rotWithShape="1">
                <a:blip r:embed="rId3"/>
                <a:stretch>
                  <a:fillRect l="-32" t="-4501" r="20" b="-292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 bwMode="auto">
          <a:xfrm>
            <a:off x="3278935" y="4384749"/>
            <a:ext cx="3333235" cy="313494"/>
          </a:xfrm>
          <a:custGeom>
            <a:avLst/>
            <a:gdLst>
              <a:gd name="T0" fmla="*/ 0 w 2654"/>
              <a:gd name="T1" fmla="*/ 2147483647 h 286"/>
              <a:gd name="T2" fmla="*/ 2147483647 w 2654"/>
              <a:gd name="T3" fmla="*/ 2147483647 h 286"/>
              <a:gd name="T4" fmla="*/ 2147483647 w 2654"/>
              <a:gd name="T5" fmla="*/ 2147483647 h 286"/>
              <a:gd name="T6" fmla="*/ 0 60000 65536"/>
              <a:gd name="T7" fmla="*/ 0 60000 65536"/>
              <a:gd name="T8" fmla="*/ 0 60000 65536"/>
              <a:gd name="T9" fmla="*/ 0 w 2654"/>
              <a:gd name="T10" fmla="*/ 0 h 286"/>
              <a:gd name="T11" fmla="*/ 2654 w 2654"/>
              <a:gd name="T12" fmla="*/ 286 h 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54" h="286">
                <a:moveTo>
                  <a:pt x="0" y="286"/>
                </a:moveTo>
                <a:cubicBezTo>
                  <a:pt x="451" y="147"/>
                  <a:pt x="902" y="8"/>
                  <a:pt x="1344" y="4"/>
                </a:cubicBezTo>
                <a:cubicBezTo>
                  <a:pt x="1786" y="0"/>
                  <a:pt x="2437" y="220"/>
                  <a:pt x="2654" y="263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/>
          <p:nvPr/>
        </p:nvSpPr>
        <p:spPr bwMode="auto">
          <a:xfrm rot="10800000">
            <a:off x="3312099" y="4740477"/>
            <a:ext cx="3333235" cy="313494"/>
          </a:xfrm>
          <a:custGeom>
            <a:avLst/>
            <a:gdLst>
              <a:gd name="T0" fmla="*/ 0 w 2654"/>
              <a:gd name="T1" fmla="*/ 2147483647 h 286"/>
              <a:gd name="T2" fmla="*/ 2147483647 w 2654"/>
              <a:gd name="T3" fmla="*/ 2147483647 h 286"/>
              <a:gd name="T4" fmla="*/ 2147483647 w 2654"/>
              <a:gd name="T5" fmla="*/ 2147483647 h 286"/>
              <a:gd name="T6" fmla="*/ 0 60000 65536"/>
              <a:gd name="T7" fmla="*/ 0 60000 65536"/>
              <a:gd name="T8" fmla="*/ 0 60000 65536"/>
              <a:gd name="T9" fmla="*/ 0 w 2654"/>
              <a:gd name="T10" fmla="*/ 0 h 286"/>
              <a:gd name="T11" fmla="*/ 2654 w 2654"/>
              <a:gd name="T12" fmla="*/ 286 h 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54" h="286">
                <a:moveTo>
                  <a:pt x="0" y="286"/>
                </a:moveTo>
                <a:cubicBezTo>
                  <a:pt x="451" y="147"/>
                  <a:pt x="902" y="8"/>
                  <a:pt x="1344" y="4"/>
                </a:cubicBezTo>
                <a:cubicBezTo>
                  <a:pt x="1786" y="0"/>
                  <a:pt x="2437" y="220"/>
                  <a:pt x="2654" y="263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648200" y="5181600"/>
            <a:ext cx="854676" cy="318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f</a:t>
            </a:r>
            <a:endParaRPr lang="en-US" sz="24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506097" y="5791200"/>
                <a:ext cx="854676" cy="324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400" b="1" i="1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97" y="5791200"/>
                <a:ext cx="854676" cy="324524"/>
              </a:xfrm>
              <a:prstGeom prst="rect">
                <a:avLst/>
              </a:prstGeom>
              <a:blipFill rotWithShape="1">
                <a:blip r:embed="rId4"/>
                <a:stretch>
                  <a:fillRect l="-16" r="12" b="-2699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241059" y="4038600"/>
            <a:ext cx="598273" cy="36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US" sz="2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138616" y="4045629"/>
            <a:ext cx="598273" cy="36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US" sz="2800" b="1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581400" y="5562600"/>
            <a:ext cx="2286000" cy="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" idx="3"/>
            <a:endCxn id="11" idx="5"/>
          </p:cNvCxnSpPr>
          <p:nvPr/>
        </p:nvCxnSpPr>
        <p:spPr>
          <a:xfrm flipH="1">
            <a:off x="3388634" y="5775967"/>
            <a:ext cx="2670918" cy="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12" grpId="0"/>
      <p:bldP spid="15" grpId="0"/>
      <p:bldP spid="16" grpId="0" animBg="1"/>
      <p:bldP spid="17" grpId="0" animBg="1"/>
      <p:bldP spid="20" grpId="0"/>
      <p:bldP spid="21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5CD1-9C1E-4B3E-84CA-AC1AB49DAD04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52600"/>
                <a:ext cx="838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Let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be the function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.  Is </a:t>
                </a:r>
                <a:r>
                  <a:rPr lang="en-US" sz="2000" i="1" dirty="0"/>
                  <a:t>f </a:t>
                </a:r>
                <a:r>
                  <a:rPr lang="en-US" sz="2000" dirty="0"/>
                  <a:t>invertible, and if it is, what is its inverse?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52600"/>
                <a:ext cx="8382000" cy="707886"/>
              </a:xfrm>
              <a:prstGeom prst="rect">
                <a:avLst/>
              </a:prstGeom>
              <a:blipFill rotWithShape="1">
                <a:blip r:embed="rId1"/>
                <a:stretch>
                  <a:fillRect t="-3319" b="-356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685799" y="2819400"/>
            <a:ext cx="2362201" cy="2045970"/>
            <a:chOff x="685799" y="2819400"/>
            <a:chExt cx="2362201" cy="2045970"/>
          </a:xfrm>
        </p:grpSpPr>
        <p:sp>
          <p:nvSpPr>
            <p:cNvPr id="8" name="Oval 7"/>
            <p:cNvSpPr/>
            <p:nvPr/>
          </p:nvSpPr>
          <p:spPr>
            <a:xfrm>
              <a:off x="685800" y="2819400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65221" y="294891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73327" y="342099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78045" y="386912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2286000" y="2848968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65421" y="2978486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73527" y="3450567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478245" y="389868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178127" y="3200400"/>
              <a:ext cx="12954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178127" y="3581400"/>
              <a:ext cx="129540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1066800" y="3200400"/>
              <a:ext cx="1524000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85799" y="4343400"/>
                  <a:ext cx="2286001" cy="5219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en-US" sz="2800" b="1" dirty="0"/>
                    <a:t>  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sz="2800" b="1" dirty="0"/>
                    <a:t>   </a:t>
                  </a:r>
                  <a:endParaRPr lang="en-US" sz="2800" b="1" dirty="0"/>
                </a:p>
              </p:txBody>
            </p:sp>
          </mc:Choice>
          <mc:Fallback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799" y="4343400"/>
                  <a:ext cx="2286001" cy="52197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/>
          <p:cNvGrpSpPr/>
          <p:nvPr/>
        </p:nvGrpSpPr>
        <p:grpSpPr>
          <a:xfrm>
            <a:off x="5105400" y="2819325"/>
            <a:ext cx="2819400" cy="2072715"/>
            <a:chOff x="5105400" y="2819325"/>
            <a:chExt cx="2819400" cy="2072715"/>
          </a:xfrm>
        </p:grpSpPr>
        <p:sp>
          <p:nvSpPr>
            <p:cNvPr id="16" name="Oval 15"/>
            <p:cNvSpPr/>
            <p:nvPr/>
          </p:nvSpPr>
          <p:spPr>
            <a:xfrm>
              <a:off x="7162800" y="2819325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42221" y="2948843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50327" y="342092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55045" y="386904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5486400" y="2819325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665821" y="2948843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73927" y="342092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78645" y="3869046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cxnSp>
          <p:nvCxnSpPr>
            <p:cNvPr id="32" name="Straight Arrow Connector 31"/>
            <p:cNvCxnSpPr>
              <a:endCxn id="19" idx="1"/>
            </p:cNvCxnSpPr>
            <p:nvPr/>
          </p:nvCxnSpPr>
          <p:spPr>
            <a:xfrm>
              <a:off x="5978727" y="3200400"/>
              <a:ext cx="1376318" cy="8533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V="1">
              <a:off x="5986833" y="3200400"/>
              <a:ext cx="1363494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5978727" y="3657600"/>
              <a:ext cx="13716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105400" y="4343400"/>
                  <a:ext cx="2819400" cy="5486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sz="2800" b="1" dirty="0"/>
                    <a:t>  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en-US" sz="2800" b="1" dirty="0"/>
                    <a:t>   </a:t>
                  </a:r>
                  <a:endParaRPr lang="en-US" sz="2800" b="1" dirty="0"/>
                </a:p>
              </p:txBody>
            </p:sp>
          </mc:Choice>
          <mc:Fallback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4343400"/>
                  <a:ext cx="2819400" cy="54864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8719-02AC-454C-813B-1D05BC193564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00200"/>
                <a:ext cx="8229600" cy="201485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Let </a:t>
                </a:r>
                <a:r>
                  <a:rPr lang="en-US" sz="2200" i="1" dirty="0"/>
                  <a:t>f </a:t>
                </a:r>
                <a:r>
                  <a:rPr lang="en-US" sz="2200" dirty="0"/>
                  <a:t>be the function from R to R with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.  Is </a:t>
                </a:r>
                <a:r>
                  <a:rPr lang="en-US" sz="2200" i="1" dirty="0"/>
                  <a:t>f</a:t>
                </a:r>
                <a:r>
                  <a:rPr lang="en-US" sz="2200" dirty="0"/>
                  <a:t> invertible?</a:t>
                </a:r>
                <a:endParaRPr lang="en-US" sz="2200" dirty="0"/>
              </a:p>
              <a:p>
                <a:endParaRPr lang="en-US" sz="2000" dirty="0"/>
              </a:p>
              <a:p>
                <a:r>
                  <a:rPr lang="en-GB" sz="2000" dirty="0"/>
                  <a:t>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000" dirty="0"/>
                  <a:t>, f is not one-to-one. If </a:t>
                </a:r>
                <a:r>
                  <a:rPr lang="en-US" altLang="en-GB" sz="2000" dirty="0"/>
                  <a:t>f has </a:t>
                </a:r>
                <a:r>
                  <a:rPr lang="en-GB" sz="2000" dirty="0"/>
                  <a:t>an inverse function </a:t>
                </a:r>
                <a:r>
                  <a:rPr lang="en-US" altLang="en-GB" sz="2000" dirty="0"/>
                  <a:t>th</a:t>
                </a:r>
                <a:r>
                  <a:rPr lang="en-GB" sz="2000" dirty="0"/>
                  <a:t>it would have to assign two elements</a:t>
                </a:r>
                <a:r>
                  <a:rPr lang="en-US" altLang="en-GB" sz="2000" dirty="0"/>
                  <a:t> 1 and -1</a:t>
                </a:r>
                <a:r>
                  <a:rPr lang="en-GB" sz="2000" dirty="0"/>
                  <a:t> to 1. Hence,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not invertible.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2014855"/>
              </a:xfrm>
              <a:prstGeom prst="rect">
                <a:avLst/>
              </a:prstGeom>
              <a:blipFill rotWithShape="1">
                <a:blip r:embed="rId1"/>
                <a:stretch>
                  <a:fillRect t="-11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8719-02AC-454C-813B-1D05BC193564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800" y="1676400"/>
                <a:ext cx="838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be the function defined by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 Is </a:t>
                </a:r>
                <a:r>
                  <a:rPr lang="en-US" i="1" dirty="0"/>
                  <a:t>f</a:t>
                </a:r>
                <a:r>
                  <a:rPr lang="en-US" dirty="0"/>
                  <a:t> invertible?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76400"/>
                <a:ext cx="8382000" cy="646331"/>
              </a:xfrm>
              <a:prstGeom prst="rect">
                <a:avLst/>
              </a:prstGeom>
              <a:blipFill rotWithShape="1">
                <a:blip r:embed="rId1"/>
                <a:stretch>
                  <a:fillRect t="-1670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81000" y="2438400"/>
                <a:ext cx="3429000" cy="175432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one to one.</a:t>
                </a:r>
                <a:endParaRPr lang="en-GB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438400"/>
                <a:ext cx="342900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48" t="-941" r="-130" b="-2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191000" y="2438400"/>
                <a:ext cx="4267200" cy="148553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.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.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  <a:endParaRPr lang="en-GB" dirty="0"/>
              </a:p>
              <a:p>
                <a:r>
                  <a:rPr lang="en-GB" dirty="0"/>
                  <a:t>That is;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s.t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onto.</a:t>
                </a:r>
                <a:endParaRPr lang="en-GB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438400"/>
                <a:ext cx="4267200" cy="1485535"/>
              </a:xfrm>
              <a:prstGeom prst="rect">
                <a:avLst/>
              </a:prstGeom>
              <a:blipFill rotWithShape="1">
                <a:blip r:embed="rId3"/>
                <a:stretch>
                  <a:fillRect l="-119" t="-1111" r="-104" b="-2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05460" y="4648200"/>
                <a:ext cx="7772400" cy="6699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Since, f is one to one and onto f is invertible and </a:t>
                </a:r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GB" b="0" i="1" smtClean="0">
                        <a:latin typeface="Cambria Math" panose="02040503050406030204" pitchFamily="18" charset="0"/>
                      </a:rPr>
                      <m:t> 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  <a:endParaRPr lang="en-GB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" y="4648200"/>
                <a:ext cx="7772400" cy="669925"/>
              </a:xfrm>
              <a:prstGeom prst="rect">
                <a:avLst/>
              </a:prstGeom>
              <a:blipFill rotWithShape="1">
                <a:blip r:embed="rId4"/>
                <a:stretch>
                  <a:fillRect l="-65" t="-2464" r="-57" b="-6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Compositions of 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7208-5ED0-48B3-B548-CE3CFA0E4B83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4735422"/>
                <a:ext cx="8229600" cy="1512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000" b="1" dirty="0">
                    <a:sym typeface="Symbol" panose="05050102010706020507" pitchFamily="18" charset="2"/>
                  </a:rPr>
                  <a:t>Definition:</a:t>
                </a:r>
                <a:r>
                  <a:rPr lang="en-US" sz="2000" dirty="0">
                    <a:sym typeface="Symbol" panose="05050102010706020507" pitchFamily="18" charset="2"/>
                  </a:rPr>
                  <a:t> The </a:t>
                </a:r>
                <a:r>
                  <a:rPr lang="en-US" sz="2000" b="1" dirty="0">
                    <a:sym typeface="Symbol" panose="05050102010706020507" pitchFamily="18" charset="2"/>
                  </a:rPr>
                  <a:t>composition</a:t>
                </a:r>
                <a:r>
                  <a:rPr lang="en-US" sz="2000" dirty="0">
                    <a:sym typeface="Symbol" panose="05050102010706020507" pitchFamily="18" charset="2"/>
                  </a:rPr>
                  <a:t> of two functions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and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denoted by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is defined by </a:t>
                </a:r>
                <a:endParaRPr lang="en-US" sz="2000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∘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𝑔</m:t>
                          </m:r>
                        </m:e>
                      </m:d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𝑓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for</m:t>
                      </m:r>
                      <m:r>
                        <a:rPr lang="en-US" sz="2000" b="0" i="0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all</m:t>
                      </m:r>
                      <m:r>
                        <a:rPr lang="en-US" sz="2000" b="0" i="0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sz="2000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2000" dirty="0">
                    <a:sym typeface="Symbol" panose="05050102010706020507" pitchFamily="18" charset="2"/>
                  </a:rPr>
                  <a:t>Note that the composition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cannot be deﬁned unless the range of </a:t>
                </a:r>
                <a:r>
                  <a:rPr lang="en-US" sz="2000" i="1" dirty="0">
                    <a:sym typeface="Symbol" panose="05050102010706020507" pitchFamily="18" charset="2"/>
                  </a:rPr>
                  <a:t>g</a:t>
                </a:r>
                <a:r>
                  <a:rPr lang="en-US" sz="2000" dirty="0">
                    <a:sym typeface="Symbol" panose="05050102010706020507" pitchFamily="18" charset="2"/>
                  </a:rPr>
                  <a:t> is a subset of the domain of </a:t>
                </a:r>
                <a:r>
                  <a:rPr lang="en-US" sz="2000" i="1" dirty="0">
                    <a:sym typeface="Symbol" panose="05050102010706020507" pitchFamily="18" charset="2"/>
                  </a:rPr>
                  <a:t>f</a:t>
                </a:r>
                <a:r>
                  <a:rPr lang="en-US" sz="2000" dirty="0">
                    <a:sym typeface="Symbol" panose="05050102010706020507" pitchFamily="18" charset="2"/>
                  </a:rPr>
                  <a:t>. </a:t>
                </a:r>
                <a:endParaRPr lang="en-US" sz="20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35422"/>
                <a:ext cx="8229600" cy="1512978"/>
              </a:xfrm>
              <a:prstGeom prst="rect">
                <a:avLst/>
              </a:prstGeom>
              <a:blipFill rotWithShape="1">
                <a:blip r:embed="rId1"/>
                <a:stretch>
                  <a:fillRect t="-32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1524001" y="2037194"/>
            <a:ext cx="1143000" cy="17888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ym typeface="Symbol" panose="05050102010706020507" pitchFamily="18" charset="2"/>
              </a:rPr>
              <a:t>Linda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600200" y="2586335"/>
                <a:ext cx="8049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en-GB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586335"/>
                <a:ext cx="804928" cy="707886"/>
              </a:xfrm>
              <a:prstGeom prst="rect">
                <a:avLst/>
              </a:prstGeom>
              <a:blipFill rotWithShape="1">
                <a:blip r:embed="rId2"/>
                <a:stretch>
                  <a:fillRect t="-87" r="48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05000" y="3743980"/>
            <a:ext cx="313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US" sz="2800" b="1" dirty="0"/>
          </a:p>
        </p:txBody>
      </p:sp>
      <p:sp>
        <p:nvSpPr>
          <p:cNvPr id="11" name="Oval 10"/>
          <p:cNvSpPr/>
          <p:nvPr/>
        </p:nvSpPr>
        <p:spPr>
          <a:xfrm>
            <a:off x="4038600" y="2039466"/>
            <a:ext cx="1143000" cy="17888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ym typeface="Symbol" panose="05050102010706020507" pitchFamily="18" charset="2"/>
              </a:rPr>
              <a:t>Linda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224272" y="2590800"/>
                <a:ext cx="8049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en-GB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72" y="2590800"/>
                <a:ext cx="804928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31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419600" y="3743980"/>
            <a:ext cx="313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US" sz="2800" b="1" dirty="0"/>
          </a:p>
        </p:txBody>
      </p:sp>
      <p:sp>
        <p:nvSpPr>
          <p:cNvPr id="14" name="Oval 13"/>
          <p:cNvSpPr/>
          <p:nvPr/>
        </p:nvSpPr>
        <p:spPr>
          <a:xfrm>
            <a:off x="6553200" y="2057400"/>
            <a:ext cx="1143000" cy="17888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ym typeface="Symbol" panose="05050102010706020507" pitchFamily="18" charset="2"/>
              </a:rPr>
              <a:t>Linda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629399" y="2606541"/>
                <a:ext cx="8049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en-GB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399" y="2606541"/>
                <a:ext cx="804928" cy="707886"/>
              </a:xfrm>
              <a:prstGeom prst="rect">
                <a:avLst/>
              </a:prstGeom>
              <a:blipFill rotWithShape="1">
                <a:blip r:embed="rId4"/>
                <a:stretch>
                  <a:fillRect l="-79" t="-71" r="-17939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925972" y="3765588"/>
            <a:ext cx="313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endParaRPr lang="en-US" sz="2800" b="1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667001" y="3581400"/>
            <a:ext cx="1371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181601" y="3581400"/>
            <a:ext cx="1371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192171" y="3505200"/>
                <a:ext cx="355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171" y="3505200"/>
                <a:ext cx="355955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7" r="107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706772" y="3505200"/>
                <a:ext cx="3130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72" y="3505200"/>
                <a:ext cx="313028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9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 34"/>
          <p:cNvSpPr/>
          <p:nvPr/>
        </p:nvSpPr>
        <p:spPr bwMode="auto">
          <a:xfrm rot="10800000" flipH="1">
            <a:off x="2405128" y="3657601"/>
            <a:ext cx="4426993" cy="696821"/>
          </a:xfrm>
          <a:custGeom>
            <a:avLst/>
            <a:gdLst>
              <a:gd name="T0" fmla="*/ 0 w 2654"/>
              <a:gd name="T1" fmla="*/ 2147483647 h 286"/>
              <a:gd name="T2" fmla="*/ 2147483647 w 2654"/>
              <a:gd name="T3" fmla="*/ 2147483647 h 286"/>
              <a:gd name="T4" fmla="*/ 2147483647 w 2654"/>
              <a:gd name="T5" fmla="*/ 2147483647 h 286"/>
              <a:gd name="T6" fmla="*/ 0 60000 65536"/>
              <a:gd name="T7" fmla="*/ 0 60000 65536"/>
              <a:gd name="T8" fmla="*/ 0 60000 65536"/>
              <a:gd name="T9" fmla="*/ 0 w 2654"/>
              <a:gd name="T10" fmla="*/ 0 h 286"/>
              <a:gd name="T11" fmla="*/ 2654 w 2654"/>
              <a:gd name="T12" fmla="*/ 286 h 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54" h="286">
                <a:moveTo>
                  <a:pt x="0" y="286"/>
                </a:moveTo>
                <a:cubicBezTo>
                  <a:pt x="451" y="147"/>
                  <a:pt x="902" y="8"/>
                  <a:pt x="1344" y="4"/>
                </a:cubicBezTo>
                <a:cubicBezTo>
                  <a:pt x="1786" y="0"/>
                  <a:pt x="2437" y="220"/>
                  <a:pt x="2654" y="263"/>
                </a:cubicBezTo>
              </a:path>
            </a:pathLst>
          </a:custGeom>
          <a:ln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4224273" y="4277380"/>
                <a:ext cx="9573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73" y="4277380"/>
                <a:ext cx="957328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26" t="-4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>
            <a:off x="1981200" y="2819400"/>
            <a:ext cx="2590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4732628" y="2819400"/>
            <a:ext cx="2193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 bwMode="auto">
          <a:xfrm>
            <a:off x="1981200" y="1883392"/>
            <a:ext cx="4944772" cy="885074"/>
          </a:xfrm>
          <a:custGeom>
            <a:avLst/>
            <a:gdLst>
              <a:gd name="T0" fmla="*/ 0 w 2654"/>
              <a:gd name="T1" fmla="*/ 2147483647 h 286"/>
              <a:gd name="T2" fmla="*/ 2147483647 w 2654"/>
              <a:gd name="T3" fmla="*/ 2147483647 h 286"/>
              <a:gd name="T4" fmla="*/ 2147483647 w 2654"/>
              <a:gd name="T5" fmla="*/ 2147483647 h 286"/>
              <a:gd name="T6" fmla="*/ 0 60000 65536"/>
              <a:gd name="T7" fmla="*/ 0 60000 65536"/>
              <a:gd name="T8" fmla="*/ 0 60000 65536"/>
              <a:gd name="T9" fmla="*/ 0 w 2654"/>
              <a:gd name="T10" fmla="*/ 0 h 286"/>
              <a:gd name="T11" fmla="*/ 2654 w 2654"/>
              <a:gd name="T12" fmla="*/ 286 h 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54" h="286">
                <a:moveTo>
                  <a:pt x="0" y="286"/>
                </a:moveTo>
                <a:cubicBezTo>
                  <a:pt x="451" y="147"/>
                  <a:pt x="902" y="8"/>
                  <a:pt x="1344" y="4"/>
                </a:cubicBezTo>
                <a:cubicBezTo>
                  <a:pt x="1786" y="0"/>
                  <a:pt x="2437" y="220"/>
                  <a:pt x="2654" y="263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3810000" y="1516040"/>
                <a:ext cx="15919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1516040"/>
                <a:ext cx="1591972" cy="400110"/>
              </a:xfrm>
              <a:prstGeom prst="rect">
                <a:avLst/>
              </a:prstGeom>
              <a:blipFill rotWithShape="1">
                <a:blip r:embed="rId8"/>
                <a:stretch>
                  <a:fillRect t="-74" r="2" b="8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20" grpId="0"/>
      <p:bldP spid="21" grpId="0"/>
      <p:bldP spid="35" grpId="0" animBg="1"/>
      <p:bldP spid="36" grpId="0"/>
      <p:bldP spid="48" grpId="0" animBg="1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C7E0-8FD7-41E4-8742-51E9E11D8AEB}" type="datetime3">
              <a:rPr lang="en-US" smtClean="0"/>
            </a:fld>
            <a:r>
              <a:rPr lang="en-US"/>
              <a:t>  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00200"/>
                <a:ext cx="8382000" cy="16300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Let </a:t>
                </a:r>
                <a:r>
                  <a:rPr lang="en-US" sz="2000" i="1" dirty="0"/>
                  <a:t>g</a:t>
                </a:r>
                <a:r>
                  <a:rPr lang="en-US" sz="2000" dirty="0"/>
                  <a:t> be the function from the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to itself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/>
                  <a:t>Let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be the function from the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to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. What is the composition of </a:t>
                </a:r>
                <a:r>
                  <a:rPr lang="en-US" sz="2000" i="1" dirty="0"/>
                  <a:t>f </a:t>
                </a:r>
                <a:r>
                  <a:rPr lang="en-US" sz="2000" dirty="0"/>
                  <a:t>and </a:t>
                </a:r>
                <a:r>
                  <a:rPr lang="en-US" sz="2000" i="1" dirty="0"/>
                  <a:t>g</a:t>
                </a:r>
                <a:r>
                  <a:rPr lang="en-US" sz="2000" dirty="0"/>
                  <a:t>, and what is the composition of </a:t>
                </a:r>
                <a:r>
                  <a:rPr lang="en-US" sz="2000" i="1" dirty="0"/>
                  <a:t>g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f  ?</a:t>
                </a:r>
                <a:r>
                  <a:rPr lang="en-US" sz="2000" dirty="0"/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382000" cy="1630045"/>
              </a:xfrm>
              <a:prstGeom prst="rect">
                <a:avLst/>
              </a:prstGeom>
              <a:blipFill rotWithShape="1">
                <a:blip r:embed="rId1"/>
                <a:stretch>
                  <a:fillRect t="-14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533400" y="3470910"/>
            <a:ext cx="4114800" cy="1840755"/>
            <a:chOff x="533400" y="2981980"/>
            <a:chExt cx="4114800" cy="2120313"/>
          </a:xfrm>
        </p:grpSpPr>
        <p:sp>
          <p:nvSpPr>
            <p:cNvPr id="8" name="Oval 7"/>
            <p:cNvSpPr/>
            <p:nvPr/>
          </p:nvSpPr>
          <p:spPr>
            <a:xfrm>
              <a:off x="533401" y="2981980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12822" y="3111498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20928" y="3583579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25646" y="4031701"/>
              <a:ext cx="300082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2133601" y="3011548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13022" y="3141066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21128" y="3613147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25846" y="4061269"/>
              <a:ext cx="300082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c</a:t>
              </a:r>
              <a:endParaRPr lang="en-US" dirty="0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025728" y="3362980"/>
              <a:ext cx="12954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1025728" y="3743980"/>
              <a:ext cx="129540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914401" y="3362980"/>
              <a:ext cx="1524000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33400" y="4419600"/>
                  <a:ext cx="609602" cy="601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/>
                    <a:t> </a:t>
                  </a:r>
                  <a14:m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endParaRPr lang="en-US" sz="2800" b="1" dirty="0"/>
                </a:p>
              </p:txBody>
            </p:sp>
          </mc:Choice>
          <mc:Fallback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" y="4419600"/>
                  <a:ext cx="609602" cy="60124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19"/>
            <p:cNvSpPr/>
            <p:nvPr/>
          </p:nvSpPr>
          <p:spPr>
            <a:xfrm>
              <a:off x="3886200" y="2999096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65621" y="3128614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073727" y="3600695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078445" y="4048817"/>
              <a:ext cx="312906" cy="424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 23"/>
                <p:cNvSpPr/>
                <p:nvPr/>
              </p:nvSpPr>
              <p:spPr>
                <a:xfrm>
                  <a:off x="4024186" y="4474192"/>
                  <a:ext cx="521297" cy="6012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GB" sz="28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186" y="4474192"/>
                  <a:ext cx="521297" cy="60124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>
              <a:off x="990600" y="4648200"/>
              <a:ext cx="13715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15770" y="4572000"/>
                  <a:ext cx="355955" cy="5302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5770" y="4572000"/>
                  <a:ext cx="355955" cy="53029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209800" y="4419600"/>
                  <a:ext cx="609602" cy="601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/>
                    <a:t> </a:t>
                  </a:r>
                  <a14:m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endParaRPr lang="en-US" sz="2800" b="1" dirty="0"/>
                </a:p>
              </p:txBody>
            </p:sp>
          </mc:Choice>
          <mc:Fallback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4419600"/>
                  <a:ext cx="609602" cy="60124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>
              <a:off x="2743200" y="4643735"/>
              <a:ext cx="13715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3268371" y="4567535"/>
                  <a:ext cx="313028" cy="5302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371" y="4567535"/>
                  <a:ext cx="313028" cy="53029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/>
            <p:cNvCxnSpPr/>
            <p:nvPr/>
          </p:nvCxnSpPr>
          <p:spPr>
            <a:xfrm>
              <a:off x="2625928" y="3362980"/>
              <a:ext cx="1488871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2625928" y="3743980"/>
              <a:ext cx="1488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2625928" y="3362980"/>
              <a:ext cx="1488871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/>
          <p:cNvSpPr/>
          <p:nvPr/>
        </p:nvSpPr>
        <p:spPr>
          <a:xfrm>
            <a:off x="5867400" y="2971800"/>
            <a:ext cx="762000" cy="152407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6046821" y="310131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a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6054927" y="357339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b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6059645" y="402152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5867399" y="4409420"/>
                <a:ext cx="609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399" y="4409420"/>
                <a:ext cx="60960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04" t="-9827" b="1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/>
          <p:cNvSpPr/>
          <p:nvPr/>
        </p:nvSpPr>
        <p:spPr>
          <a:xfrm>
            <a:off x="7696200" y="3007056"/>
            <a:ext cx="762000" cy="152407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7875621" y="313657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1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7883727" y="360865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2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888445" y="405677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3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7834186" y="4482152"/>
                <a:ext cx="5212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GB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186" y="4482152"/>
                <a:ext cx="521297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37" t="-62" r="29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>
            <a:off x="6477001" y="4648200"/>
            <a:ext cx="1371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6629400" y="4572000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4572000"/>
                <a:ext cx="1066800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6359727" y="3362980"/>
            <a:ext cx="1565073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359727" y="3362980"/>
            <a:ext cx="1565073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6359727" y="4201180"/>
            <a:ext cx="1565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33400" y="5401270"/>
            <a:ext cx="815340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Note that g ◦ f is not defined, because the range of f</a:t>
            </a:r>
            <a:r>
              <a:rPr lang="en-US" altLang="en-GB" sz="2000" dirty="0"/>
              <a:t>=(1,2,3} </a:t>
            </a:r>
            <a:r>
              <a:rPr lang="en-GB" sz="2000" dirty="0"/>
              <a:t>is not a subset of the domain of g</a:t>
            </a:r>
            <a:r>
              <a:rPr lang="en-US" altLang="en-GB" sz="2000" dirty="0"/>
              <a:t> ={a,b,c}</a:t>
            </a:r>
            <a:r>
              <a:rPr lang="en-GB" sz="2000" dirty="0"/>
              <a:t>.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 animBg="1"/>
      <p:bldP spid="38" grpId="0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/>
      <p:bldP spid="48" grpId="0"/>
      <p:bldP spid="5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1A0CB-D416-47B1-91C5-69505869C22F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676400"/>
            <a:ext cx="8382000" cy="12547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GB" sz="2000" dirty="0"/>
              <a:t>Let f and g be the functions from the set of integers to the set of integers deﬁned by 𝑓(𝑥)= 2𝑥 +3 and 𝑔(𝑥)= 3𝑥 +2. What is the composition of f and g? What is the composition of g and f ?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09600" y="3048000"/>
                <a:ext cx="4032250" cy="2399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be arbitrary.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GB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GB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</m:d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4032250" cy="2399665"/>
              </a:xfrm>
              <a:prstGeom prst="rect">
                <a:avLst/>
              </a:prstGeom>
              <a:blipFill rotWithShape="1">
                <a:blip r:embed="rId1"/>
                <a:stretch>
                  <a:fillRect l="-126" t="-212" r="-110" b="-1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823460" y="3048000"/>
                <a:ext cx="3863340" cy="2399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be arbitrary.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GB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000" b="1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460" y="3048000"/>
                <a:ext cx="3863340" cy="2399665"/>
              </a:xfrm>
              <a:prstGeom prst="rect">
                <a:avLst/>
              </a:prstGeom>
              <a:blipFill rotWithShape="1">
                <a:blip r:embed="rId2"/>
                <a:stretch>
                  <a:fillRect l="-131" t="-212" r="-115" b="-1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57200" y="5388114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Note that even though f ◦ g and g ◦ f are defined for the functions f and g,</a:t>
            </a:r>
            <a:r>
              <a:rPr lang="en-GB" sz="2000" i="1" dirty="0"/>
              <a:t> f </a:t>
            </a:r>
            <a:r>
              <a:rPr lang="en-GB" sz="2000" dirty="0"/>
              <a:t>◦ </a:t>
            </a:r>
            <a:r>
              <a:rPr lang="en-GB" sz="2000" i="1" dirty="0"/>
              <a:t>g </a:t>
            </a:r>
            <a:r>
              <a:rPr lang="en-GB" sz="2000" dirty="0"/>
              <a:t>and </a:t>
            </a:r>
            <a:r>
              <a:rPr lang="en-GB" sz="2000" i="1" dirty="0"/>
              <a:t>g </a:t>
            </a:r>
            <a:r>
              <a:rPr lang="en-GB" sz="2000" dirty="0"/>
              <a:t>◦ </a:t>
            </a:r>
            <a:r>
              <a:rPr lang="en-GB" sz="2000" i="1" dirty="0"/>
              <a:t>f </a:t>
            </a:r>
            <a:r>
              <a:rPr lang="en-GB" sz="2000" dirty="0"/>
              <a:t>are not equal.   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Examples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3614-DA5A-41FB-8D4E-8A61FB557320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07403"/>
                <a:ext cx="8229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both one to one functions. Show that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is one to one.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7403"/>
                <a:ext cx="8229600" cy="707886"/>
              </a:xfrm>
              <a:prstGeom prst="rect">
                <a:avLst/>
              </a:prstGeom>
              <a:blipFill rotWithShape="1">
                <a:blip r:embed="rId1"/>
                <a:stretch>
                  <a:fillRect t="-3350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57200" y="2292362"/>
                <a:ext cx="8229600" cy="2921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Solution:</a:t>
                </a:r>
                <a:r>
                  <a:rPr lang="en-US" sz="2000" dirty="0"/>
                  <a:t> Assume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.</a:t>
                </a:r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 Def.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)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(∵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Hence,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Therefore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is one-to-one.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92362"/>
                <a:ext cx="8229600" cy="2921762"/>
              </a:xfrm>
              <a:prstGeom prst="rect">
                <a:avLst/>
              </a:prstGeom>
              <a:blipFill rotWithShape="1">
                <a:blip r:embed="rId2"/>
                <a:stretch>
                  <a:fillRect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57200" y="5464314"/>
                <a:ext cx="8382000" cy="70788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Exercise:</a:t>
                </a: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both onto functions. Show that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is onto.</a:t>
                </a:r>
                <a:endParaRPr lang="en-US" sz="20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64314"/>
                <a:ext cx="8382000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61" t="-3339" r="-53" b="-6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Identity Function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FB1E-9C15-4E06-96DD-588440DE5D86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04800" y="1642408"/>
                <a:ext cx="8382000" cy="255333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/>
                  <a:t>Definition:</a:t>
                </a:r>
                <a:r>
                  <a:rPr lang="en-US" sz="2000" dirty="0"/>
                  <a:t> Let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be a non-empty set. The </a:t>
                </a:r>
                <a:r>
                  <a:rPr lang="en-US" sz="2000" b="1" dirty="0"/>
                  <a:t>identity function</a:t>
                </a:r>
                <a:r>
                  <a:rPr lang="en-US" sz="2000" dirty="0"/>
                  <a:t> on </a:t>
                </a:r>
                <a:r>
                  <a:rPr lang="en-US" sz="2000" i="1" dirty="0"/>
                  <a:t>A</a:t>
                </a:r>
                <a:r>
                  <a:rPr lang="en-US" sz="2000" dirty="0"/>
                  <a:t> is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 In other words, the identity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is the function that assigns each element to itself. </a:t>
                </a:r>
                <a:endParaRPr lang="en-US" sz="2000" dirty="0"/>
              </a:p>
              <a:p>
                <a:pPr algn="just"/>
                <a:endParaRPr lang="en-US" sz="2000" dirty="0"/>
              </a:p>
              <a:p>
                <a:pPr algn="just"/>
                <a:r>
                  <a:rPr lang="en-US" sz="2000" dirty="0">
                    <a:sym typeface="+mn-ea"/>
                  </a:rPr>
                  <a:t>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ym typeface="+mn-ea"/>
                  </a:rPr>
                  <a:t>  is one-to-one and onto, so it is a </a:t>
                </a:r>
                <a:r>
                  <a:rPr lang="en-US" sz="2000" dirty="0" err="1">
                    <a:sym typeface="+mn-ea"/>
                  </a:rPr>
                  <a:t>bijection</a:t>
                </a:r>
                <a:r>
                  <a:rPr lang="en-US" sz="2000" dirty="0">
                    <a:sym typeface="+mn-ea"/>
                  </a:rPr>
                  <a:t>. </a:t>
                </a:r>
                <a:endParaRPr lang="en-US" sz="2000" dirty="0"/>
              </a:p>
              <a:p>
                <a:pPr algn="just"/>
                <a:endParaRPr lang="en-US" sz="2000" dirty="0"/>
              </a:p>
              <a:p>
                <a:pPr algn="just"/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42408"/>
                <a:ext cx="8382000" cy="2553335"/>
              </a:xfrm>
              <a:prstGeom prst="rect">
                <a:avLst/>
              </a:prstGeom>
              <a:blipFill rotWithShape="1">
                <a:blip r:embed="rId1"/>
                <a:stretch>
                  <a:fillRect l="-61" t="-932" r="-53" b="-1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800" y="3541379"/>
                <a:ext cx="8382000" cy="3288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When the composition of a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and its inverse, if exists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formed, in either order, an identity function is obtained.</a:t>
                </a:r>
                <a:endParaRPr lang="en-US" sz="2000" dirty="0"/>
              </a:p>
              <a:p>
                <a:r>
                  <a:rPr lang="en-US" sz="2000" dirty="0"/>
                  <a:t> </a:t>
                </a:r>
                <a:endParaRPr lang="en-US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</m:oMath>
                  </m:oMathPara>
                </a14:m>
                <a:endParaRPr lang="en-US" sz="2000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000" b="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     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                        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b="0" i="1">
                    <a:latin typeface="Cambria Math" panose="02040503050406030204" pitchFamily="18" charset="0"/>
                  </a:rPr>
                  <a:t> = b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i="1">
                  <a:latin typeface="Cambria Math" panose="02040503050406030204" pitchFamily="18" charset="0"/>
                </a:endParaRPr>
              </a:p>
              <a:p>
                <a:r>
                  <a:rPr lang="en-US" sz="2000" b="0" i="1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Hence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541379"/>
                <a:ext cx="8382000" cy="3288665"/>
              </a:xfrm>
              <a:prstGeom prst="rect">
                <a:avLst/>
              </a:prstGeom>
              <a:blipFill rotWithShape="1">
                <a:blip r:embed="rId2"/>
                <a:stretch>
                  <a:fillRect l="-61" t="-733" r="-53" b="-1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Graphs of 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5897E-CCC5-4890-A792-D286D457A76C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27537"/>
                <a:ext cx="8229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</a:t>
                </a:r>
                <a:r>
                  <a:rPr lang="en-US" sz="2000" dirty="0"/>
                  <a:t>  Let </a:t>
                </a:r>
                <a:r>
                  <a:rPr lang="en-US" sz="2000" i="1" dirty="0"/>
                  <a:t>f </a:t>
                </a:r>
                <a:r>
                  <a:rPr lang="en-US" sz="2000" dirty="0"/>
                  <a:t>be a function from the set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to the set </a:t>
                </a:r>
                <a:r>
                  <a:rPr lang="en-US" sz="2000" i="1" dirty="0"/>
                  <a:t>B</a:t>
                </a:r>
                <a:r>
                  <a:rPr lang="en-US" sz="2000" dirty="0"/>
                  <a:t>. The graph of the function </a:t>
                </a:r>
                <a:r>
                  <a:rPr lang="en-US" sz="2000" i="1" dirty="0"/>
                  <a:t>f</a:t>
                </a:r>
                <a:r>
                  <a:rPr lang="en-US" sz="2000" dirty="0"/>
                  <a:t> is denoted by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and is the set of ordered pairs    </a:t>
                </a:r>
                <a:endParaRPr lang="en-US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{(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|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27537"/>
                <a:ext cx="8229600" cy="1015663"/>
              </a:xfrm>
              <a:prstGeom prst="rect">
                <a:avLst/>
              </a:prstGeom>
              <a:blipFill rotWithShape="1">
                <a:blip r:embed="rId1"/>
                <a:stretch>
                  <a:fillRect t="-2346" b="-2450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457200" y="3400961"/>
                <a:ext cx="358140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Example: </a:t>
                </a:r>
                <a:r>
                  <a:rPr lang="en-US" sz="2000" dirty="0"/>
                  <a:t>Display the graph of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from the set of real numbers to the set of real numbers. </a:t>
                </a:r>
                <a:endParaRPr lang="en-US" sz="20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00961"/>
                <a:ext cx="3581400" cy="1323439"/>
              </a:xfrm>
              <a:prstGeom prst="rect">
                <a:avLst/>
              </a:prstGeom>
              <a:blipFill rotWithShape="1">
                <a:blip r:embed="rId2"/>
                <a:stretch>
                  <a:fillRect t="-1816" b="-185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4953000" y="2819400"/>
            <a:ext cx="3886200" cy="3429000"/>
            <a:chOff x="4953000" y="2819400"/>
            <a:chExt cx="3886200" cy="3429000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715000" y="2819400"/>
              <a:ext cx="1600200" cy="327660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4953000" y="4572000"/>
              <a:ext cx="3886200" cy="76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 flipV="1">
              <a:off x="6629400" y="2971800"/>
              <a:ext cx="228600" cy="3276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8526172" y="4572000"/>
                  <a:ext cx="313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6172" y="4572000"/>
                  <a:ext cx="313028" cy="40011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6324600" y="2895600"/>
                  <a:ext cx="313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600" y="2895600"/>
                  <a:ext cx="313028" cy="40011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7162800" y="2971800"/>
                  <a:ext cx="16764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800" y="2971800"/>
                  <a:ext cx="1676400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381000" y="4927937"/>
                <a:ext cx="413414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GB" sz="2000" b="0" dirty="0"/>
                  <a:t>     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27937"/>
                <a:ext cx="4134145" cy="1015663"/>
              </a:xfrm>
              <a:prstGeom prst="rect">
                <a:avLst/>
              </a:prstGeom>
              <a:blipFill rotWithShape="1">
                <a:blip r:embed="rId6"/>
                <a:stretch>
                  <a:fillRect t="-33" r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" y="109220"/>
            <a:ext cx="8384540" cy="1444625"/>
          </a:xfrm>
        </p:spPr>
        <p:txBody>
          <a:bodyPr>
            <a:normAutofit/>
          </a:bodyPr>
          <a:lstStyle/>
          <a:p>
            <a:r>
              <a:rPr lang="en-GB" sz="2800" dirty="0"/>
              <a:t>The Image and Inverse Image of a Subset of the Domain &amp; the Codomain Respectively</a:t>
            </a:r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56E1-1D71-4D4A-A21D-DE1088A445F0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52600"/>
                <a:ext cx="8229600" cy="2813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 </a:t>
                </a:r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be a function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. </a:t>
                </a:r>
                <a:endParaRPr lang="en-US" sz="2200" dirty="0"/>
              </a:p>
              <a:p>
                <a:pPr algn="just"/>
                <a:endParaRPr lang="en-US" sz="22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image of </a:t>
                </a:r>
                <a:r>
                  <a:rPr lang="en-US" sz="2200" i="1" dirty="0"/>
                  <a:t>S</a:t>
                </a:r>
                <a:r>
                  <a:rPr lang="en-US" sz="2200" dirty="0"/>
                  <a:t> under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is the subset of </a:t>
                </a:r>
                <a:r>
                  <a:rPr lang="en-US" sz="2200" i="1" dirty="0"/>
                  <a:t>B</a:t>
                </a:r>
                <a:r>
                  <a:rPr lang="en-US" sz="2200" dirty="0"/>
                  <a:t> that consists of the images of the elements of </a:t>
                </a:r>
                <a:r>
                  <a:rPr lang="en-US" sz="2200" i="1" dirty="0"/>
                  <a:t>S</a:t>
                </a:r>
                <a:r>
                  <a:rPr lang="en-US" sz="2200" dirty="0"/>
                  <a:t>, and is denoted  by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b="0" dirty="0"/>
              </a:p>
              <a:p>
                <a:pPr algn="ctr"/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)|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dirty="0"/>
              </a:p>
              <a:p>
                <a:pPr algn="ctr"/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52600"/>
                <a:ext cx="8229600" cy="2813591"/>
              </a:xfrm>
              <a:prstGeom prst="rect">
                <a:avLst/>
              </a:prstGeom>
              <a:blipFill rotWithShape="1">
                <a:blip r:embed="rId1"/>
                <a:stretch>
                  <a:fillRect t="-1083" b="-103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-2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E54CC-E7BD-418E-AEE7-331DC2A1DF99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828800"/>
                <a:ext cx="8229600" cy="3968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Let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/>
                  <a:t> be the function defined by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/>
                  <a:t>. Find </a:t>
                </a:r>
                <a:endParaRPr lang="en-GB" sz="24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lang="en-GB" sz="24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</m:d>
                  </m:oMath>
                </a14:m>
                <a:r>
                  <a:rPr lang="en-GB" sz="2400" dirty="0"/>
                  <a:t>.</a:t>
                </a:r>
                <a:endParaRPr lang="en-GB" sz="24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endParaRPr lang="en-GB" sz="24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GB" sz="24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400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GB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| 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28800"/>
                <a:ext cx="8229600" cy="3968522"/>
              </a:xfrm>
              <a:prstGeom prst="rect">
                <a:avLst/>
              </a:prstGeom>
              <a:blipFill rotWithShape="1">
                <a:blip r:embed="rId1"/>
                <a:stretch>
                  <a:fillRect t="-944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-1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07266-098A-4F33-8069-B1AD2180BAE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536065"/>
                <a:ext cx="8229600" cy="1322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 dirty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GB" sz="2000" dirty="0"/>
                  <a:t> be a function from the set A to the set B. Let S and T be subsets of A. Show that</a:t>
                </a:r>
                <a:endParaRPr lang="en-GB" sz="2000" dirty="0"/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36065"/>
                <a:ext cx="8229600" cy="1322070"/>
              </a:xfrm>
              <a:prstGeom prst="rect">
                <a:avLst/>
              </a:prstGeom>
              <a:blipFill rotWithShape="1">
                <a:blip r:embed="rId1"/>
                <a:stretch>
                  <a:fillRect t="-17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4800" y="3276600"/>
                <a:ext cx="4267200" cy="28613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Solution for 1:</a:t>
                </a:r>
                <a:endParaRPr lang="en-GB" sz="2000" b="1" dirty="0"/>
              </a:p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 b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 b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GB" sz="20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or  </a:t>
                </a:r>
                <a:endParaRPr lang="en-GB" sz="2000" dirty="0"/>
              </a:p>
              <a:p>
                <a:r>
                  <a:rPr lang="en-GB" sz="2000" dirty="0"/>
                  <a:t>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 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76600"/>
                <a:ext cx="4267200" cy="2861310"/>
              </a:xfrm>
              <a:prstGeom prst="rect">
                <a:avLst/>
              </a:prstGeom>
              <a:blipFill rotWithShape="1">
                <a:blip r:embed="rId2"/>
                <a:stretch>
                  <a:fillRect l="-119" t="-821" r="-104" b="-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876800" y="3274060"/>
                <a:ext cx="4038600" cy="308419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noAutofit/>
              </a:bodyPr>
              <a:lstStyle/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or </a:t>
                </a:r>
                <a:endParaRPr lang="en-GB" sz="2000" dirty="0"/>
              </a:p>
              <a:p>
                <a:r>
                  <a:rPr lang="en-GB" sz="2000" dirty="0"/>
                  <a:t>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GB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GB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r>
                  <a:rPr lang="en-GB" sz="20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)⊆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274060"/>
                <a:ext cx="4038600" cy="3084195"/>
              </a:xfrm>
              <a:prstGeom prst="rect">
                <a:avLst/>
              </a:prstGeom>
              <a:blipFill rotWithShape="1">
                <a:blip r:embed="rId3"/>
                <a:stretch>
                  <a:fillRect l="-126" t="-762" r="-110" b="-1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for 2: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6C2F-E5B6-4BE1-9AE9-4D694B33C159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00200"/>
                <a:ext cx="82296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 and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2000" dirty="0"/>
                  <a:t> s.t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 and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1938992"/>
              </a:xfrm>
              <a:prstGeom prst="rect">
                <a:avLst/>
              </a:prstGeom>
              <a:blipFill rotWithShape="1">
                <a:blip r:embed="rId1"/>
                <a:stretch>
                  <a:fillRect t="-1212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3886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 f be the function defined by the following diagram: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33400" y="5725180"/>
                <a:ext cx="609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725180"/>
                <a:ext cx="609602" cy="523220"/>
              </a:xfrm>
              <a:prstGeom prst="rect">
                <a:avLst/>
              </a:prstGeom>
              <a:blipFill rotWithShape="1">
                <a:blip r:embed="rId2"/>
                <a:stretch>
                  <a:fillRect t="-97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209799" y="5704820"/>
                <a:ext cx="609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799" y="5704820"/>
                <a:ext cx="60960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04" t="-9827" b="1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533401" y="4267200"/>
            <a:ext cx="2438399" cy="1544435"/>
            <a:chOff x="533401" y="4267200"/>
            <a:chExt cx="2438399" cy="1544435"/>
          </a:xfrm>
        </p:grpSpPr>
        <p:sp>
          <p:nvSpPr>
            <p:cNvPr id="9" name="Oval 8"/>
            <p:cNvSpPr/>
            <p:nvPr/>
          </p:nvSpPr>
          <p:spPr>
            <a:xfrm>
              <a:off x="533401" y="4287560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12822" y="441707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20928" y="51170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2209800" y="4267200"/>
              <a:ext cx="762000" cy="1524075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89221" y="439671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a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97327" y="509670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b</a:t>
              </a:r>
              <a:endParaRPr lang="en-US" dirty="0"/>
            </a:p>
          </p:txBody>
        </p:sp>
        <p:cxnSp>
          <p:nvCxnSpPr>
            <p:cNvPr id="18" name="Straight Arrow Connector 17"/>
            <p:cNvCxnSpPr>
              <a:endCxn id="14" idx="1"/>
            </p:cNvCxnSpPr>
            <p:nvPr/>
          </p:nvCxnSpPr>
          <p:spPr>
            <a:xfrm flipV="1">
              <a:off x="1033834" y="4581384"/>
              <a:ext cx="1355387" cy="66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1025728" y="4648200"/>
              <a:ext cx="1371599" cy="609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67200" y="4396718"/>
                <a:ext cx="4419600" cy="147732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dirty="0"/>
                  <a:t>  and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dirty="0"/>
                  <a:t>.  Then</a:t>
                </a:r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396718"/>
                <a:ext cx="441960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115" t="-1159" r="-101" b="-2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-2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716-D09B-47C7-8C94-B1BBABBAE715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39669"/>
                <a:ext cx="82296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GB" dirty="0"/>
                  <a:t> be a </a:t>
                </a:r>
                <a:r>
                  <a:rPr lang="en-GB" b="1" dirty="0"/>
                  <a:t>one-to-one</a:t>
                </a:r>
                <a:r>
                  <a:rPr lang="en-GB" dirty="0"/>
                  <a:t> function from the set A to the set B. Let S and T be subsets of A. Show that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dirty="0"/>
                  <a:t>. </a:t>
                </a:r>
                <a:endParaRPr lang="en-GB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39669"/>
                <a:ext cx="8229600" cy="646331"/>
              </a:xfrm>
              <a:prstGeom prst="rect">
                <a:avLst/>
              </a:prstGeom>
              <a:blipFill rotWithShape="1">
                <a:blip r:embed="rId1"/>
                <a:stretch>
                  <a:fillRect t="-25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362200"/>
                <a:ext cx="8229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Solution:</a:t>
                </a:r>
                <a:r>
                  <a:rPr lang="en-GB" dirty="0"/>
                  <a:t> We know from exercise -1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a function from A to B. </a:t>
                </a:r>
                <a:endParaRPr lang="en-GB" dirty="0"/>
              </a:p>
              <a:p>
                <a:r>
                  <a:rPr lang="en-GB" dirty="0"/>
                  <a:t>Now we shall show that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)⊆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one-to-one.</a:t>
                </a:r>
                <a:endParaRPr lang="en-GB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62200"/>
                <a:ext cx="8229600" cy="923330"/>
              </a:xfrm>
              <a:prstGeom prst="rect">
                <a:avLst/>
              </a:prstGeom>
              <a:blipFill rotWithShape="1">
                <a:blip r:embed="rId2"/>
                <a:stretch>
                  <a:fillRect t="-1788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276600"/>
                <a:ext cx="8229600" cy="327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dirty="0"/>
                  <a:t>Let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 and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s.t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s.t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 </a:t>
                </a:r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s.t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(∵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one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one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)⊆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r>
                  <a:rPr lang="en-GB" dirty="0"/>
                  <a:t> </a:t>
                </a:r>
                <a:endParaRPr lang="en-GB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76600"/>
                <a:ext cx="8229600" cy="3277820"/>
              </a:xfrm>
              <a:prstGeom prst="rect">
                <a:avLst/>
              </a:prstGeom>
              <a:blipFill rotWithShape="1">
                <a:blip r:embed="rId3"/>
                <a:stretch>
                  <a:fillRect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69E5-450F-4D28-9A36-C55A7FA9DD9F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Let f be a function from A to B. Let S and T be subsets of B. Show that</a:t>
                </a:r>
                <a:endParaRPr lang="en-GB" sz="20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)∩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GB" sz="2000" dirty="0"/>
                  <a:t>.</a:t>
                </a:r>
                <a:endParaRPr lang="en-GB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1323439"/>
              </a:xfrm>
              <a:prstGeom prst="rect">
                <a:avLst/>
              </a:prstGeom>
              <a:blipFill rotWithShape="1">
                <a:blip r:embed="rId1"/>
                <a:stretch>
                  <a:fillRect t="-1775" b="-2129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4800" y="3048000"/>
                <a:ext cx="4191000" cy="3170099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a)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48000"/>
                <a:ext cx="4191000" cy="3170099"/>
              </a:xfrm>
              <a:prstGeom prst="rect">
                <a:avLst/>
              </a:prstGeom>
              <a:blipFill rotWithShape="1">
                <a:blip r:embed="rId2"/>
                <a:stretch>
                  <a:fillRect l="-121" t="-741" r="-106" b="-1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876800" y="2616637"/>
                <a:ext cx="4191000" cy="3631763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c)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m:rPr>
                        <m:nor/>
                      </m:rPr>
                      <a:rPr lang="en-GB" sz="20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m:rPr>
                        <m:nor/>
                      </m:rPr>
                      <a:rPr lang="en-GB" sz="20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</a:t>
                </a:r>
                <a:endParaRPr lang="en-GB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616637"/>
                <a:ext cx="4191000" cy="3631763"/>
              </a:xfrm>
              <a:prstGeom prst="rect">
                <a:avLst/>
              </a:prstGeom>
              <a:blipFill rotWithShape="1">
                <a:blip r:embed="rId3"/>
                <a:stretch>
                  <a:fillRect l="-121" t="-659" r="-106" b="-1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 Functions: Floor Function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5853-75CD-49A7-B35B-CD73A0D4801F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82137" y="1771471"/>
                <a:ext cx="8229599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The </a:t>
                </a:r>
                <a:r>
                  <a:rPr lang="en-GB" sz="2400" b="1" dirty="0"/>
                  <a:t>floor</a:t>
                </a:r>
                <a:r>
                  <a:rPr lang="en-GB" sz="2400" dirty="0"/>
                  <a:t> function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smtClean="0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⟶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  assigns to the real number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the largest integer that is less than or equal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. The value of a floor function 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is denoted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400" dirty="0"/>
                  <a:t> </a:t>
                </a:r>
                <a:endParaRPr lang="en-GB" sz="2400" dirty="0"/>
              </a:p>
              <a:p>
                <a:r>
                  <a:rPr lang="en-GB" sz="2400" dirty="0"/>
                  <a:t>The floor function is often also called the greatest integer function.</a:t>
                </a:r>
                <a:endParaRPr lang="en-GB" sz="2400" dirty="0"/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</a:t>
                </a:r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GB" sz="2400" dirty="0"/>
                  <a:t> </a:t>
                </a:r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GB" sz="2400" dirty="0"/>
                  <a:t> </a:t>
                </a:r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⏌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sz="2400" dirty="0"/>
                  <a:t> .</a:t>
                </a:r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37" y="1771471"/>
                <a:ext cx="8229599" cy="4893647"/>
              </a:xfrm>
              <a:prstGeom prst="rect">
                <a:avLst/>
              </a:prstGeom>
              <a:blipFill rotWithShape="1">
                <a:blip r:embed="rId1"/>
                <a:stretch>
                  <a:fillRect l="-6" t="-775" r="6" b="-55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800600" y="4114800"/>
            <a:ext cx="3276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599" y="4267200"/>
            <a:ext cx="609601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7.25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768859" y="4294414"/>
            <a:ext cx="2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13613" y="4239581"/>
            <a:ext cx="2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714849" y="5053096"/>
            <a:ext cx="3276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7848" y="5205496"/>
            <a:ext cx="609601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12.4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683108" y="5232710"/>
            <a:ext cx="60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59804" y="51778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-13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 Functions: Ceiling Function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79F1-D2DF-4A31-96F3-B9AB5D27D62D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828800"/>
                <a:ext cx="82296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The </a:t>
                </a:r>
                <a:r>
                  <a:rPr lang="en-GB" sz="2400" b="1" dirty="0"/>
                  <a:t>Ceiling</a:t>
                </a:r>
                <a:r>
                  <a:rPr lang="en-GB" sz="2400" dirty="0"/>
                  <a:t> function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⟶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 assigns to the real number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the smallest integer that is greater than or equal to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. The value of a ceiling function at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is denoted by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400" dirty="0"/>
                  <a:t> </a:t>
                </a:r>
                <a:endParaRPr lang="en-GB" sz="2400" dirty="0"/>
              </a:p>
              <a:p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400" dirty="0"/>
              </a:p>
              <a:p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GB" sz="2400" dirty="0"/>
              </a:p>
              <a:p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28800"/>
                <a:ext cx="8229600" cy="3416320"/>
              </a:xfrm>
              <a:prstGeom prst="rect">
                <a:avLst/>
              </a:prstGeom>
              <a:blipFill rotWithShape="1">
                <a:blip r:embed="rId1"/>
                <a:stretch>
                  <a:fillRect t="-1041" b="-847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4800600" y="4114800"/>
            <a:ext cx="3276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599" y="4267200"/>
            <a:ext cx="609601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768859" y="4294414"/>
            <a:ext cx="2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13613" y="4239581"/>
            <a:ext cx="2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800600" y="4981128"/>
            <a:ext cx="3276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599" y="5133528"/>
            <a:ext cx="609601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68859" y="5160742"/>
            <a:ext cx="39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1" y="5105909"/>
            <a:ext cx="42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Functions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459B-F451-43D2-917A-3723D0D0559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Prof. D D Karunaratna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589544"/>
            <a:ext cx="82296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 </a:t>
            </a:r>
            <a:r>
              <a:rPr lang="en-US" sz="2000" b="1" dirty="0"/>
              <a:t>Definition:</a:t>
            </a:r>
            <a:r>
              <a:rPr lang="en-US" sz="2000" dirty="0"/>
              <a:t> A partial function </a:t>
            </a:r>
            <a:r>
              <a:rPr lang="en-US" sz="2000" i="1" dirty="0"/>
              <a:t>f</a:t>
            </a:r>
            <a:r>
              <a:rPr lang="en-US" sz="2000" dirty="0"/>
              <a:t> from a set </a:t>
            </a:r>
            <a:r>
              <a:rPr lang="en-US" sz="2000" i="1" dirty="0"/>
              <a:t>A</a:t>
            </a:r>
            <a:r>
              <a:rPr lang="en-US" sz="2000" dirty="0"/>
              <a:t> to a set </a:t>
            </a:r>
            <a:r>
              <a:rPr lang="en-US" sz="2000" i="1" dirty="0"/>
              <a:t>B</a:t>
            </a:r>
            <a:r>
              <a:rPr lang="en-US" sz="2000" dirty="0"/>
              <a:t> is an assignment to each element </a:t>
            </a:r>
            <a:r>
              <a:rPr lang="en-US" sz="2000" i="1" dirty="0"/>
              <a:t>a</a:t>
            </a:r>
            <a:r>
              <a:rPr lang="en-US" sz="2000" dirty="0"/>
              <a:t> in a subset of </a:t>
            </a:r>
            <a:r>
              <a:rPr lang="en-US" sz="2000" i="1" dirty="0"/>
              <a:t>A</a:t>
            </a:r>
            <a:r>
              <a:rPr lang="en-US" sz="2000" dirty="0"/>
              <a:t>, called the domain of deﬁnition of </a:t>
            </a:r>
            <a:r>
              <a:rPr lang="en-US" sz="2000" i="1" dirty="0"/>
              <a:t>f</a:t>
            </a:r>
            <a:r>
              <a:rPr lang="en-US" sz="2000" dirty="0"/>
              <a:t>, of a unique element </a:t>
            </a:r>
            <a:r>
              <a:rPr lang="en-US" sz="2000" i="1" dirty="0"/>
              <a:t>b</a:t>
            </a:r>
            <a:r>
              <a:rPr lang="en-US" sz="2000" dirty="0"/>
              <a:t> in </a:t>
            </a:r>
            <a:r>
              <a:rPr lang="en-US" sz="2000" i="1" dirty="0"/>
              <a:t>B</a:t>
            </a:r>
            <a:r>
              <a:rPr lang="en-US" sz="2000" dirty="0"/>
              <a:t>. The sets </a:t>
            </a:r>
            <a:r>
              <a:rPr lang="en-US" sz="2000" i="1" dirty="0"/>
              <a:t>A</a:t>
            </a:r>
            <a:r>
              <a:rPr lang="en-US" sz="2000" dirty="0"/>
              <a:t> and </a:t>
            </a:r>
            <a:r>
              <a:rPr lang="en-US" sz="2000" i="1" dirty="0"/>
              <a:t>B</a:t>
            </a:r>
            <a:r>
              <a:rPr lang="en-US" sz="2000" dirty="0"/>
              <a:t> are called the domain and codomain of </a:t>
            </a:r>
            <a:r>
              <a:rPr lang="en-US" sz="2000" i="1" dirty="0"/>
              <a:t>f</a:t>
            </a:r>
            <a:r>
              <a:rPr lang="en-US" sz="2000" dirty="0"/>
              <a:t>, respectively. We say that </a:t>
            </a:r>
            <a:r>
              <a:rPr lang="en-US" sz="2000" i="1" dirty="0"/>
              <a:t>f</a:t>
            </a:r>
            <a:r>
              <a:rPr lang="en-US" sz="2000" dirty="0"/>
              <a:t> is undeﬁned for elements in A that are not in the domain of deﬁnition of </a:t>
            </a:r>
            <a:r>
              <a:rPr lang="en-US" sz="2000" i="1" dirty="0"/>
              <a:t>f</a:t>
            </a:r>
            <a:r>
              <a:rPr lang="en-US" sz="2000" dirty="0"/>
              <a:t>. When the domain of deﬁnition of </a:t>
            </a:r>
            <a:r>
              <a:rPr lang="en-US" sz="2000" i="1" dirty="0"/>
              <a:t>f</a:t>
            </a:r>
            <a:r>
              <a:rPr lang="en-US" sz="2000" dirty="0"/>
              <a:t> equals </a:t>
            </a:r>
            <a:r>
              <a:rPr lang="en-US" sz="2000" i="1" dirty="0"/>
              <a:t>A</a:t>
            </a:r>
            <a:r>
              <a:rPr lang="en-US" sz="2000" dirty="0"/>
              <a:t>, we say that </a:t>
            </a:r>
            <a:r>
              <a:rPr lang="en-US" sz="2000" i="1" dirty="0"/>
              <a:t>f</a:t>
            </a:r>
            <a:r>
              <a:rPr lang="en-US" sz="2000" dirty="0"/>
              <a:t> is a total function.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57200" y="4066718"/>
                <a:ext cx="8229600" cy="1038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Example: </a:t>
                </a:r>
                <a:r>
                  <a:rPr lang="en-US" sz="2000" dirty="0"/>
                  <a:t>The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is a partial function from </a:t>
                </a:r>
                <a:r>
                  <a:rPr lang="en-US" sz="2000" i="1" dirty="0"/>
                  <a:t>Z</a:t>
                </a:r>
                <a:r>
                  <a:rPr lang="en-US" sz="2000" dirty="0"/>
                  <a:t> to </a:t>
                </a:r>
                <a:r>
                  <a:rPr lang="en-US" sz="2000" i="1" dirty="0"/>
                  <a:t>R</a:t>
                </a:r>
                <a:r>
                  <a:rPr lang="en-US" sz="2000" dirty="0"/>
                  <a:t> where the domain of deﬁnition is the set of nonnegative integers. Note that </a:t>
                </a:r>
                <a:r>
                  <a:rPr lang="en-US" sz="2000" i="1" dirty="0"/>
                  <a:t>f</a:t>
                </a:r>
                <a:r>
                  <a:rPr lang="en-US" sz="2000" dirty="0"/>
                  <a:t> is undeﬁned for negative integers. </a:t>
                </a:r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66718"/>
                <a:ext cx="8229600" cy="1038682"/>
              </a:xfrm>
              <a:prstGeom prst="rect">
                <a:avLst/>
              </a:prstGeom>
              <a:blipFill rotWithShape="1">
                <a:blip r:embed="rId1"/>
                <a:stretch>
                  <a:fillRect t="-201" b="-258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300324" y="5257800"/>
                <a:ext cx="3490876" cy="373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24" y="5257800"/>
                <a:ext cx="3490876" cy="373436"/>
              </a:xfrm>
              <a:prstGeom prst="rect">
                <a:avLst/>
              </a:prstGeom>
              <a:blipFill rotWithShape="1">
                <a:blip r:embed="rId2"/>
                <a:stretch>
                  <a:fillRect l="-10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UCSC Masters 1">
      <a:majorFont>
        <a:latin typeface="DINPro-Bold"/>
        <a:ea typeface=""/>
        <a:cs typeface=""/>
      </a:majorFont>
      <a:minorFont>
        <a:latin typeface="DINPro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15840</Words>
  <Application>WPS Presentation</Application>
  <PresentationFormat>On-screen Show (4:3)</PresentationFormat>
  <Paragraphs>895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SimSun</vt:lpstr>
      <vt:lpstr>Wingdings</vt:lpstr>
      <vt:lpstr>DINPro-Black</vt:lpstr>
      <vt:lpstr>Segoe Print</vt:lpstr>
      <vt:lpstr>Symbol</vt:lpstr>
      <vt:lpstr>Cambria Math</vt:lpstr>
      <vt:lpstr>DINPro-Light</vt:lpstr>
      <vt:lpstr>DINPro-Bold</vt:lpstr>
      <vt:lpstr>Microsoft YaHei</vt:lpstr>
      <vt:lpstr>Arial Unicode MS</vt:lpstr>
      <vt:lpstr>Calibri</vt:lpstr>
      <vt:lpstr>Times New Roman</vt:lpstr>
      <vt:lpstr>Office Theme</vt:lpstr>
      <vt:lpstr> Lesson 6:  Functions</vt:lpstr>
      <vt:lpstr>Functions</vt:lpstr>
      <vt:lpstr>Rquirement of functions</vt:lpstr>
      <vt:lpstr>Terminology</vt:lpstr>
      <vt:lpstr>Examples</vt:lpstr>
      <vt:lpstr>One to one function</vt:lpstr>
      <vt:lpstr>Example</vt:lpstr>
      <vt:lpstr>Examples</vt:lpstr>
      <vt:lpstr>Onto Functions</vt:lpstr>
      <vt:lpstr>Examples</vt:lpstr>
      <vt:lpstr>One to one correspondence or  Bijection</vt:lpstr>
      <vt:lpstr>Example</vt:lpstr>
      <vt:lpstr>Exercise </vt:lpstr>
      <vt:lpstr>Exercise </vt:lpstr>
      <vt:lpstr>Inverse Functions</vt:lpstr>
      <vt:lpstr>Example</vt:lpstr>
      <vt:lpstr>Examples</vt:lpstr>
      <vt:lpstr>Examples</vt:lpstr>
      <vt:lpstr>Compositions of Functions</vt:lpstr>
      <vt:lpstr>Example</vt:lpstr>
      <vt:lpstr>Example</vt:lpstr>
      <vt:lpstr>More Examples</vt:lpstr>
      <vt:lpstr>Identity Function</vt:lpstr>
      <vt:lpstr>The Graphs of Functions</vt:lpstr>
      <vt:lpstr>The Image and Inverse Image of a Subset of the Domain &amp; the Codomain Respectively</vt:lpstr>
      <vt:lpstr>Example -2</vt:lpstr>
      <vt:lpstr>Exercise -1</vt:lpstr>
      <vt:lpstr>Solution for 2:</vt:lpstr>
      <vt:lpstr>Exercise -2</vt:lpstr>
      <vt:lpstr>Example</vt:lpstr>
      <vt:lpstr>Special Functions: Floor Function</vt:lpstr>
      <vt:lpstr>Special Functions: Ceiling Function</vt:lpstr>
      <vt:lpstr>Partial Functions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ucsc</dc:creator>
  <cp:lastModifiedBy>Prof Damitha Karunaratna</cp:lastModifiedBy>
  <cp:revision>428</cp:revision>
  <dcterms:created xsi:type="dcterms:W3CDTF">2019-07-04T09:03:00Z</dcterms:created>
  <dcterms:modified xsi:type="dcterms:W3CDTF">2025-08-26T01:27:07Z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A02B65581F484D3BB1A3D9D5E761B4F6_13</vt:lpwstr>
  </property>
  <property fmtid="{D5CDD505-2E9C-101B-9397-08002B2CF9AE}" pid="3" name="KSOProductBuildVer">
    <vt:lpwstr>1033-12.2.0.22530</vt:lpwstr>
  </property>
</Properties>
</file>