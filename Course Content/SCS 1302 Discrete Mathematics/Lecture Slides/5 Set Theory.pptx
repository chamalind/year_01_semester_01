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DE6D2"/>
          </a:solidFill>
        </a:fill>
      </a:tcStyle>
    </a:wholeTbl>
    <a:band2H>
      <a:tcTxStyle b="def" i="def"/>
      <a:tcStyle>
        <a:tcBdr/>
        <a:fill>
          <a:solidFill>
            <a:srgbClr val="F6F3E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E4EB"/>
          </a:solidFill>
        </a:fill>
      </a:tcStyle>
    </a:wholeTbl>
    <a:band2H>
      <a:tcTxStyle b="def" i="def"/>
      <a:tcStyle>
        <a:tcBdr/>
        <a:fill>
          <a:solidFill>
            <a:srgbClr val="EAF2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D6E7"/>
          </a:solidFill>
        </a:fill>
      </a:tcStyle>
    </a:wholeTbl>
    <a:band2H>
      <a:tcTxStyle b="def" i="def"/>
      <a:tcStyle>
        <a:tcBdr/>
        <a:fill>
          <a:solidFill>
            <a:srgbClr val="F0EB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2" name="Shape 27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Rectangle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Rectangle 6"/>
          <p:cNvSpPr/>
          <p:nvPr/>
        </p:nvSpPr>
        <p:spPr>
          <a:xfrm>
            <a:off x="0" y="0"/>
            <a:ext cx="9144000" cy="42672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&lt;COURSE CODE &amp; COURSE NAME&gt;"/>
          <p:cNvSpPr txBox="1"/>
          <p:nvPr>
            <p:ph type="title" hasCustomPrompt="1"/>
          </p:nvPr>
        </p:nvSpPr>
        <p:spPr>
          <a:xfrm>
            <a:off x="685800" y="2286000"/>
            <a:ext cx="7772400" cy="460375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pPr/>
            <a:r>
              <a:t>&lt;COURSE CODE &amp; COURSE NAME&gt;</a:t>
            </a:r>
          </a:p>
        </p:txBody>
      </p:sp>
      <p:sp>
        <p:nvSpPr>
          <p:cNvPr id="22" name="Body Level One…"/>
          <p:cNvSpPr txBox="1"/>
          <p:nvPr>
            <p:ph type="body" sz="quarter" idx="1" hasCustomPrompt="1"/>
          </p:nvPr>
        </p:nvSpPr>
        <p:spPr>
          <a:xfrm>
            <a:off x="685800" y="3352800"/>
            <a:ext cx="7772400" cy="381000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1pPr>
            <a:lvl2pPr marL="0" indent="4572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2pPr>
            <a:lvl3pPr marL="0" indent="9144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3pPr>
            <a:lvl4pPr marL="0" indent="13716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4pPr>
            <a:lvl5pPr marL="0" indent="18288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5pPr>
          </a:lstStyle>
          <a:p>
            <a:pPr/>
            <a:r>
              <a:t>&lt;Handout #&gt; - &lt;Topic&gt;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TextBox 7"/>
          <p:cNvSpPr txBox="1"/>
          <p:nvPr/>
        </p:nvSpPr>
        <p:spPr>
          <a:xfrm>
            <a:off x="731519" y="495528"/>
            <a:ext cx="7680962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MASTER OF COMPUTER SCIENCE/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MASTER OF SCIENCE IN COMPUTER SCIENCE</a:t>
            </a:r>
          </a:p>
        </p:txBody>
      </p:sp>
      <p:sp>
        <p:nvSpPr>
          <p:cNvPr id="24" name="TextBox 16"/>
          <p:cNvSpPr txBox="1"/>
          <p:nvPr/>
        </p:nvSpPr>
        <p:spPr>
          <a:xfrm>
            <a:off x="731519" y="6074281"/>
            <a:ext cx="768096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645773"/>
                </a:solidFill>
              </a:defRPr>
            </a:lvl1pPr>
          </a:lstStyle>
          <a:p>
            <a:pPr/>
            <a:r>
              <a:t>UNIVERSITY OF COLOMBO SCHOOL OF COMPUTING</a:t>
            </a:r>
          </a:p>
        </p:txBody>
      </p:sp>
      <p:pic>
        <p:nvPicPr>
          <p:cNvPr id="2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58000" y="5436882"/>
            <a:ext cx="1270000" cy="952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18" descr="Picture 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5410200"/>
            <a:ext cx="800872" cy="941082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lide Number"/>
          <p:cNvSpPr txBox="1"/>
          <p:nvPr>
            <p:ph type="sldNum" sz="quarter" idx="2"/>
          </p:nvPr>
        </p:nvSpPr>
        <p:spPr>
          <a:xfrm>
            <a:off x="4419600" y="5988050"/>
            <a:ext cx="21336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&lt;COURSE CODE &amp; COURSE NAME&gt;"/>
          <p:cNvSpPr txBox="1"/>
          <p:nvPr>
            <p:ph type="title" hasCustomPrompt="1"/>
          </p:nvPr>
        </p:nvSpPr>
        <p:spPr>
          <a:xfrm>
            <a:off x="685800" y="2286000"/>
            <a:ext cx="7772400" cy="460375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</a:lstStyle>
          <a:p>
            <a:pPr/>
            <a:r>
              <a:t>&lt;COURSE CODE &amp; COURSE NAME&gt;</a:t>
            </a:r>
          </a:p>
        </p:txBody>
      </p:sp>
      <p:sp>
        <p:nvSpPr>
          <p:cNvPr id="35" name="Body Level One…"/>
          <p:cNvSpPr txBox="1"/>
          <p:nvPr>
            <p:ph type="body" sz="quarter" idx="1" hasCustomPrompt="1"/>
          </p:nvPr>
        </p:nvSpPr>
        <p:spPr>
          <a:xfrm>
            <a:off x="685800" y="3352800"/>
            <a:ext cx="7772400" cy="381000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1pPr>
            <a:lvl2pPr marL="0" indent="4572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2pPr>
            <a:lvl3pPr marL="0" indent="9144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3pPr>
            <a:lvl4pPr marL="0" indent="13716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4pPr>
            <a:lvl5pPr marL="0" indent="1828800" algn="ctr">
              <a:spcBef>
                <a:spcPts val="500"/>
              </a:spcBef>
              <a:buSzTx/>
              <a:buFontTx/>
              <a:buNone/>
              <a:defRPr b="1" sz="2400">
                <a:solidFill>
                  <a:srgbClr val="FFFFFF"/>
                </a:solidFill>
              </a:defRPr>
            </a:lvl5pPr>
          </a:lstStyle>
          <a:p>
            <a:pPr/>
            <a:r>
              <a:t>&lt;Handout #&gt; - &lt;Topic&gt;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4419600" y="5988050"/>
            <a:ext cx="21336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4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Rectangle 9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" name="Rectangle 7"/>
          <p:cNvSpPr/>
          <p:nvPr/>
        </p:nvSpPr>
        <p:spPr>
          <a:xfrm>
            <a:off x="0" y="3429000"/>
            <a:ext cx="9144000" cy="25400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>
              <a:defRPr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 hasCustomPrompt="1"/>
          </p:nvPr>
        </p:nvSpPr>
        <p:spPr>
          <a:xfrm>
            <a:off x="722312" y="2906713"/>
            <a:ext cx="7772401" cy="4460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>
                <a:solidFill>
                  <a:srgbClr val="645773"/>
                </a:solidFill>
              </a:defRPr>
            </a:lvl1pPr>
            <a:lvl2pPr marL="0" indent="457200">
              <a:spcBef>
                <a:spcPts val="500"/>
              </a:spcBef>
              <a:buSzTx/>
              <a:buFontTx/>
              <a:buNone/>
              <a:defRPr sz="2400">
                <a:solidFill>
                  <a:srgbClr val="645773"/>
                </a:solidFill>
              </a:defRPr>
            </a:lvl2pPr>
            <a:lvl3pPr marL="0" indent="914400">
              <a:spcBef>
                <a:spcPts val="500"/>
              </a:spcBef>
              <a:buSzTx/>
              <a:buFontTx/>
              <a:buNone/>
              <a:defRPr sz="2400">
                <a:solidFill>
                  <a:srgbClr val="645773"/>
                </a:solidFill>
              </a:defRPr>
            </a:lvl3pPr>
            <a:lvl4pPr marL="0" indent="1371600">
              <a:spcBef>
                <a:spcPts val="500"/>
              </a:spcBef>
              <a:buSzTx/>
              <a:buFontTx/>
              <a:buNone/>
              <a:defRPr sz="2400">
                <a:solidFill>
                  <a:srgbClr val="645773"/>
                </a:solidFill>
              </a:defRPr>
            </a:lvl4pPr>
            <a:lvl5pPr marL="0" indent="1828800">
              <a:spcBef>
                <a:spcPts val="500"/>
              </a:spcBef>
              <a:buSzTx/>
              <a:buFontTx/>
              <a:buNone/>
              <a:defRPr sz="2400">
                <a:solidFill>
                  <a:srgbClr val="645773"/>
                </a:solidFill>
              </a:defRPr>
            </a:lvl5pPr>
          </a:lstStyle>
          <a:p>
            <a:pPr/>
            <a:r>
              <a:t>Click to edit master text styles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72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457200" y="1722438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Text Placeholder 4"/>
          <p:cNvSpPr/>
          <p:nvPr>
            <p:ph type="body" sz="quarter" idx="21"/>
          </p:nvPr>
        </p:nvSpPr>
        <p:spPr>
          <a:xfrm>
            <a:off x="4645025" y="1722438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645773"/>
                </a:solidFill>
              </a:defRPr>
            </a:pP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8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1" name="Rectangle 4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CLICK TO EDIT MASTER TITLE STYLE"/>
          <p:cNvSpPr txBox="1"/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645773"/>
                </a:solidFill>
              </a:defRPr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24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Text Placeholder 3"/>
          <p:cNvSpPr/>
          <p:nvPr>
            <p:ph type="body" sz="half" idx="21"/>
          </p:nvPr>
        </p:nvSpPr>
        <p:spPr>
          <a:xfrm>
            <a:off x="457199" y="1676400"/>
            <a:ext cx="3008315" cy="44497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645773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9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40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 algn="ctr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 algn="ctr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 algn="ctr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 algn="ctr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1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4" name="Body Level One…"/>
          <p:cNvSpPr txBox="1"/>
          <p:nvPr>
            <p:ph type="body" sz="half" idx="1"/>
          </p:nvPr>
        </p:nvSpPr>
        <p:spPr>
          <a:xfrm>
            <a:off x="457200" y="1676400"/>
            <a:ext cx="4038600" cy="44196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/>
            </a:lvl1pPr>
            <a:lvl2pPr marL="774700" indent="-317500">
              <a:spcBef>
                <a:spcPts val="400"/>
              </a:spcBef>
              <a:defRPr sz="2000"/>
            </a:lvl2pPr>
            <a:lvl3pPr marL="1200150" indent="-285750">
              <a:spcBef>
                <a:spcPts val="400"/>
              </a:spcBef>
              <a:defRPr sz="2000"/>
            </a:lvl3pPr>
            <a:lvl4pPr marL="1698171" indent="-326571">
              <a:spcBef>
                <a:spcPts val="400"/>
              </a:spcBef>
              <a:defRPr sz="2000"/>
            </a:lvl4pPr>
            <a:lvl5pPr marL="2155371" indent="-326571">
              <a:spcBef>
                <a:spcPts val="40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Picture Placeholder 6"/>
          <p:cNvSpPr/>
          <p:nvPr>
            <p:ph type="pic" sz="half" idx="21"/>
          </p:nvPr>
        </p:nvSpPr>
        <p:spPr>
          <a:xfrm>
            <a:off x="4648200" y="1676400"/>
            <a:ext cx="4038600" cy="4419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645773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 algn="ctr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 algn="ctr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 algn="ctr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 algn="ctr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8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1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2" name="Body Level One…"/>
          <p:cNvSpPr txBox="1"/>
          <p:nvPr>
            <p:ph type="body" sz="half" idx="1"/>
          </p:nvPr>
        </p:nvSpPr>
        <p:spPr>
          <a:xfrm>
            <a:off x="457200" y="1676400"/>
            <a:ext cx="4038600" cy="44196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/>
            </a:lvl1pPr>
            <a:lvl2pPr marL="774700" indent="-317500">
              <a:spcBef>
                <a:spcPts val="400"/>
              </a:spcBef>
              <a:defRPr sz="2000"/>
            </a:lvl2pPr>
            <a:lvl3pPr marL="1200150" indent="-285750">
              <a:spcBef>
                <a:spcPts val="400"/>
              </a:spcBef>
              <a:defRPr sz="2000"/>
            </a:lvl3pPr>
            <a:lvl4pPr marL="1698171" indent="-326571">
              <a:spcBef>
                <a:spcPts val="400"/>
              </a:spcBef>
              <a:defRPr sz="2000"/>
            </a:lvl4pPr>
            <a:lvl5pPr marL="2155371" indent="-326571">
              <a:spcBef>
                <a:spcPts val="40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645773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5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 algn="ctr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 algn="ctr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 algn="ctr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 algn="ctr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9" name="Body Level One…"/>
          <p:cNvSpPr txBox="1"/>
          <p:nvPr>
            <p:ph type="body" sz="half" idx="1"/>
          </p:nvPr>
        </p:nvSpPr>
        <p:spPr>
          <a:xfrm>
            <a:off x="457200" y="1676400"/>
            <a:ext cx="4038600" cy="44196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/>
            </a:lvl1pPr>
            <a:lvl2pPr marL="774700" indent="-317500">
              <a:spcBef>
                <a:spcPts val="400"/>
              </a:spcBef>
              <a:defRPr sz="2000"/>
            </a:lvl2pPr>
            <a:lvl3pPr marL="1200150" indent="-285750">
              <a:spcBef>
                <a:spcPts val="400"/>
              </a:spcBef>
              <a:defRPr sz="2000"/>
            </a:lvl3pPr>
            <a:lvl4pPr marL="1698171" indent="-326571">
              <a:spcBef>
                <a:spcPts val="400"/>
              </a:spcBef>
              <a:defRPr sz="2000"/>
            </a:lvl4pPr>
            <a:lvl5pPr marL="2155371" indent="-326571">
              <a:spcBef>
                <a:spcPts val="40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8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645773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 algn="ctr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 algn="ctr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 algn="ctr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 algn="ctr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2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6" name="Body Level One…"/>
          <p:cNvSpPr txBox="1"/>
          <p:nvPr>
            <p:ph type="body" sz="half" idx="1"/>
          </p:nvPr>
        </p:nvSpPr>
        <p:spPr>
          <a:xfrm>
            <a:off x="457200" y="1676400"/>
            <a:ext cx="4038600" cy="44196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/>
            </a:lvl1pPr>
            <a:lvl2pPr marL="774700" indent="-317500">
              <a:spcBef>
                <a:spcPts val="400"/>
              </a:spcBef>
              <a:defRPr sz="2000"/>
            </a:lvl2pPr>
            <a:lvl3pPr marL="1200150" indent="-285750">
              <a:spcBef>
                <a:spcPts val="400"/>
              </a:spcBef>
              <a:defRPr sz="2000"/>
            </a:lvl3pPr>
            <a:lvl4pPr marL="1698171" indent="-326571">
              <a:spcBef>
                <a:spcPts val="400"/>
              </a:spcBef>
              <a:defRPr sz="2000"/>
            </a:lvl4pPr>
            <a:lvl5pPr marL="2155371" indent="-326571">
              <a:spcBef>
                <a:spcPts val="40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Rectangle 7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645773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9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 algn="ctr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 algn="ctr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 algn="ctr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 algn="ctr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1" name="Media Placeholder 8"/>
          <p:cNvSpPr/>
          <p:nvPr>
            <p:ph type="media" sz="half" idx="21"/>
          </p:nvPr>
        </p:nvSpPr>
        <p:spPr>
          <a:xfrm>
            <a:off x="1828800" y="609600"/>
            <a:ext cx="5410200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2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4" name="Body Level One…"/>
          <p:cNvSpPr txBox="1"/>
          <p:nvPr>
            <p:ph type="body" sz="half" idx="1"/>
          </p:nvPr>
        </p:nvSpPr>
        <p:spPr>
          <a:xfrm>
            <a:off x="457200" y="1676400"/>
            <a:ext cx="4038600" cy="4419600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/>
            </a:lvl1pPr>
            <a:lvl2pPr marL="774700" indent="-317500">
              <a:spcBef>
                <a:spcPts val="400"/>
              </a:spcBef>
              <a:defRPr sz="2000"/>
            </a:lvl2pPr>
            <a:lvl3pPr marL="1200150" indent="-285750">
              <a:spcBef>
                <a:spcPts val="400"/>
              </a:spcBef>
              <a:defRPr sz="2000"/>
            </a:lvl3pPr>
            <a:lvl4pPr marL="1698171" indent="-326571">
              <a:spcBef>
                <a:spcPts val="400"/>
              </a:spcBef>
              <a:defRPr sz="2000"/>
            </a:lvl4pPr>
            <a:lvl5pPr marL="2155371" indent="-326571">
              <a:spcBef>
                <a:spcPts val="40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5" name="Media Placeholder 6"/>
          <p:cNvSpPr/>
          <p:nvPr>
            <p:ph type="media" sz="half" idx="21"/>
          </p:nvPr>
        </p:nvSpPr>
        <p:spPr>
          <a:xfrm>
            <a:off x="4648200" y="1676400"/>
            <a:ext cx="4038600" cy="4419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/>
          <p:nvPr/>
        </p:nvSpPr>
        <p:spPr>
          <a:xfrm>
            <a:off x="1066800" y="6454833"/>
            <a:ext cx="4495800" cy="250768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Rectangle 6"/>
          <p:cNvSpPr/>
          <p:nvPr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rgbClr val="64577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6226233"/>
            <a:ext cx="6096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traight Connector 9"/>
          <p:cNvSpPr/>
          <p:nvPr/>
        </p:nvSpPr>
        <p:spPr>
          <a:xfrm>
            <a:off x="1066800" y="6400800"/>
            <a:ext cx="8077201" cy="0"/>
          </a:xfrm>
          <a:prstGeom prst="line">
            <a:avLst/>
          </a:prstGeom>
          <a:ln w="12700">
            <a:solidFill>
              <a:srgbClr val="6457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" name="CLICK TO EDIT MASTER TITLE STYLE"/>
          <p:cNvSpPr txBox="1"/>
          <p:nvPr>
            <p:ph type="title" hasCustomPrompt="1"/>
          </p:nvPr>
        </p:nvSpPr>
        <p:spPr>
          <a:xfrm>
            <a:off x="457200" y="304800"/>
            <a:ext cx="8229600" cy="12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41397" y="6494489"/>
            <a:ext cx="245404" cy="2269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SCS1302</a:t>
            </a:r>
          </a:p>
        </p:txBody>
      </p:sp>
      <p:sp>
        <p:nvSpPr>
          <p:cNvPr id="275" name="Subtitle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400"/>
              </a:spcBef>
              <a:defRPr sz="1800"/>
            </a:lvl1pPr>
          </a:lstStyle>
          <a:p>
            <a:pPr/>
            <a:r>
              <a:t>Set Theory</a:t>
            </a:r>
          </a:p>
        </p:txBody>
      </p:sp>
      <p:sp>
        <p:nvSpPr>
          <p:cNvPr id="276" name="TextBox 5"/>
          <p:cNvSpPr txBox="1"/>
          <p:nvPr/>
        </p:nvSpPr>
        <p:spPr>
          <a:xfrm>
            <a:off x="731519" y="1600199"/>
            <a:ext cx="7680962" cy="3837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200"/>
            </a:pPr>
            <a:r>
              <a:t>Bachelor of Science in Computer Science</a:t>
            </a:r>
            <a:br/>
            <a:r>
              <a:t>University of Colombo School of Computing</a:t>
            </a:r>
          </a:p>
          <a:p>
            <a:pPr algn="ctr">
              <a:defRPr b="1" sz="3200"/>
            </a:pPr>
          </a:p>
          <a:p>
            <a:pPr algn="ctr">
              <a:defRPr b="1" sz="3200"/>
            </a:pPr>
            <a:r>
              <a:t>Set Theory</a:t>
            </a:r>
          </a:p>
          <a:p>
            <a:pPr algn="ctr">
              <a:defRPr sz="3200"/>
            </a:pPr>
          </a:p>
          <a:p>
            <a:pPr algn="ctr">
              <a:defRPr sz="3200"/>
            </a:pPr>
            <a:r>
              <a:t>Prof. D D Karunaratna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27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 </a:t>
            </a:r>
            <a:r>
              <a:t>Week  01:  Set Theory</a:t>
            </a:r>
          </a:p>
        </p:txBody>
      </p:sp>
      <p:sp>
        <p:nvSpPr>
          <p:cNvPr id="280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Topics to be covered. 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Definition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Representation of Sets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Null set and Universal set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Set Identity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Set Operations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Venn Diagrams</a:t>
            </a:r>
          </a:p>
          <a:p>
            <a:pPr lvl="1" marL="742950" indent="-285750">
              <a:spcBef>
                <a:spcPts val="600"/>
              </a:spcBef>
              <a:defRPr b="1" sz="2800"/>
            </a:pPr>
            <a:r>
              <a:t>Power Sets</a:t>
            </a:r>
          </a:p>
        </p:txBody>
      </p:sp>
      <p:sp>
        <p:nvSpPr>
          <p:cNvPr id="28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282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28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Definition </a:t>
            </a:r>
          </a:p>
        </p:txBody>
      </p:sp>
      <p:sp>
        <p:nvSpPr>
          <p:cNvPr id="286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287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8" name="Rectangle 6"/>
          <p:cNvSpPr txBox="1"/>
          <p:nvPr/>
        </p:nvSpPr>
        <p:spPr>
          <a:xfrm>
            <a:off x="464819" y="4531940"/>
            <a:ext cx="8138162" cy="2072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b="1" sz="3200"/>
            </a:pPr>
            <a:r>
              <a:t>Definition:</a:t>
            </a:r>
            <a:r>
              <a:rPr b="0"/>
              <a:t>   Any </a:t>
            </a:r>
            <a:r>
              <a:t>well-defined</a:t>
            </a:r>
            <a:r>
              <a:rPr b="0"/>
              <a:t> collection of </a:t>
            </a:r>
            <a:r>
              <a:t>distinct objects </a:t>
            </a:r>
            <a:r>
              <a:rPr b="0"/>
              <a:t>is called a set. The elements of a set are called its </a:t>
            </a:r>
            <a:r>
              <a:t>members</a:t>
            </a:r>
            <a:r>
              <a:rPr b="0"/>
              <a:t>. The order of items in a set is not important.</a:t>
            </a:r>
            <a:endParaRPr b="0"/>
          </a:p>
        </p:txBody>
      </p:sp>
      <p:sp>
        <p:nvSpPr>
          <p:cNvPr id="289" name="Rectangle 7"/>
          <p:cNvSpPr txBox="1"/>
          <p:nvPr/>
        </p:nvSpPr>
        <p:spPr>
          <a:xfrm>
            <a:off x="464819" y="1807467"/>
            <a:ext cx="8138162" cy="170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800"/>
            </a:pPr>
            <a:r>
              <a:t>Set is one of the fundamental discrete structures in mathematics.</a:t>
            </a:r>
          </a:p>
          <a:p>
            <a:pPr marL="285750" indent="-285750">
              <a:buSzPct val="100000"/>
              <a:buFont typeface="Arial"/>
              <a:buChar char="•"/>
              <a:defRPr sz="2800"/>
            </a:pPr>
            <a:r>
              <a:t>Sets are used to group (usually similar) objects together.</a:t>
            </a:r>
          </a:p>
        </p:txBody>
      </p:sp>
      <p:sp>
        <p:nvSpPr>
          <p:cNvPr id="290" name="TextBox 10"/>
          <p:cNvSpPr txBox="1"/>
          <p:nvPr/>
        </p:nvSpPr>
        <p:spPr>
          <a:xfrm>
            <a:off x="485503" y="3533816"/>
            <a:ext cx="8138161" cy="884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Example1:A={‘Amal’, ‘Bimal’, ‘Dias’, ‘Ganesh’} is a set of names.</a:t>
            </a:r>
          </a:p>
          <a:p>
            <a:pPr/>
            <a:r>
              <a:t>Example2:B={1,3,5,7,9} is the set of odd natural numbers between 1 and 10.</a:t>
            </a:r>
          </a:p>
          <a:p>
            <a:pPr/>
            <a:r>
              <a:t>Example3:C={2,4,6,8,10} is the set of even natural numbers between 1 and 10.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293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A set has to be well-defined</a:t>
            </a:r>
          </a:p>
        </p:txBody>
      </p:sp>
      <p:sp>
        <p:nvSpPr>
          <p:cNvPr id="294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defRPr sz="2900">
                <a:solidFill>
                  <a:srgbClr val="374151"/>
                </a:solidFill>
              </a:defRPr>
            </a:pPr>
            <a:r>
              <a:t>When defining a set, it's important to ensure that every element is described in a way that leaves no room for ambiguity or confusion. 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SzTx/>
              <a:buNone/>
              <a:defRPr sz="2900">
                <a:solidFill>
                  <a:srgbClr val="374151"/>
                </a:solidFill>
              </a:defRPr>
            </a:pPr>
            <a:r>
              <a:t>Given any object there should  be no confusion in identifying whether it is a member of the set or not. 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>
                <a:solidFill>
                  <a:srgbClr val="374151"/>
                </a:solidFill>
              </a:defRPr>
            </a:pPr>
            <a:r>
              <a:t>For example, consider the set of "positive integers less than 10." This is a well-defined set because it is clear which integers meet the criteria – 1, 2, 3, 4, 5, 6, 7, 8, and 9. There is no ambiguity about which numbers should be included.</a:t>
            </a:r>
          </a:p>
        </p:txBody>
      </p:sp>
      <p:sp>
        <p:nvSpPr>
          <p:cNvPr id="295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296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29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A set has to be well-defined …..</a:t>
            </a:r>
          </a:p>
        </p:txBody>
      </p:sp>
      <p:sp>
        <p:nvSpPr>
          <p:cNvPr id="300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74151"/>
                </a:solidFill>
              </a:defRPr>
            </a:lvl1pPr>
          </a:lstStyle>
          <a:p>
            <a:pPr/>
            <a:r>
              <a:t>Consider the set of "interesting books." This is not a well-defined set because the criteria for what makes a book "interesting" can vary from person to person. Without a clear and universally agreed-upon definition of what constitutes an interesting book, different people might include different books in the set, leading to ambiguity.</a:t>
            </a:r>
          </a:p>
        </p:txBody>
      </p:sp>
      <p:sp>
        <p:nvSpPr>
          <p:cNvPr id="30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02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0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Elements of a set</a:t>
            </a:r>
          </a:p>
        </p:txBody>
      </p:sp>
      <p:sp>
        <p:nvSpPr>
          <p:cNvPr id="306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None/>
            </a:pPr>
            <a:r>
              <a:t>The number of elements in a set can be</a:t>
            </a:r>
          </a:p>
          <a:p>
            <a:pPr>
              <a:lnSpc>
                <a:spcPct val="90000"/>
              </a:lnSpc>
            </a:pPr>
            <a:r>
              <a:t>Empty</a:t>
            </a:r>
          </a:p>
          <a:p>
            <a:pPr>
              <a:lnSpc>
                <a:spcPct val="90000"/>
              </a:lnSpc>
            </a:pPr>
            <a:r>
              <a:t>Finite</a:t>
            </a:r>
          </a:p>
          <a:p>
            <a:pPr>
              <a:lnSpc>
                <a:spcPct val="90000"/>
              </a:lnSpc>
            </a:pPr>
            <a:r>
              <a:t>In-finite</a:t>
            </a:r>
          </a:p>
        </p:txBody>
      </p:sp>
      <p:sp>
        <p:nvSpPr>
          <p:cNvPr id="307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08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11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Quiz</a:t>
            </a:r>
          </a:p>
        </p:txBody>
      </p:sp>
      <p:sp>
        <p:nvSpPr>
          <p:cNvPr id="312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/>
            <a:r>
              <a:t>Consider the following collection.</a:t>
            </a:r>
          </a:p>
          <a:p>
            <a:pPr marL="0" indent="0">
              <a:buSzTx/>
              <a:buNone/>
            </a:pPr>
            <a:r>
              <a:t>A={‘Amal’, ‘Bimal’, ’Amal’, ‘Dias’, ‘Ganesh’}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	Is this collection of objects a set?</a:t>
            </a:r>
          </a:p>
        </p:txBody>
      </p:sp>
      <p:sp>
        <p:nvSpPr>
          <p:cNvPr id="313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14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17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Ways of Describing Sets</a:t>
            </a:r>
          </a:p>
        </p:txBody>
      </p:sp>
      <p:sp>
        <p:nvSpPr>
          <p:cNvPr id="318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19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0" name="Rectangle 6"/>
          <p:cNvSpPr txBox="1"/>
          <p:nvPr/>
        </p:nvSpPr>
        <p:spPr>
          <a:xfrm>
            <a:off x="502919" y="1828800"/>
            <a:ext cx="8138162" cy="468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90000"/>
              </a:lnSpc>
              <a:buSzPct val="100000"/>
              <a:buFont typeface="Arial"/>
              <a:buChar char="•"/>
              <a:defRPr sz="2400"/>
            </a:pPr>
            <a:r>
              <a:t>List the elements between braces:  S = {a, b, c, d}</a:t>
            </a:r>
          </a:p>
          <a:p>
            <a:pPr marL="285750" indent="-285750">
              <a:lnSpc>
                <a:spcPct val="90000"/>
              </a:lnSpc>
              <a:buSzPct val="100000"/>
              <a:buFont typeface="Arial"/>
              <a:buChar char="•"/>
              <a:defRPr sz="2400"/>
            </a:pPr>
          </a:p>
          <a:p>
            <a:pPr lvl="2" marL="342900" indent="-342900">
              <a:lnSpc>
                <a:spcPct val="90000"/>
              </a:lnSpc>
              <a:buSzPct val="100000"/>
              <a:buFont typeface="Arial"/>
              <a:buChar char="•"/>
              <a:defRPr sz="2400"/>
            </a:pPr>
            <a:r>
              <a:t>Brace notation with ellipses:</a:t>
            </a:r>
          </a:p>
          <a:p>
            <a:pPr lvl="2" indent="0">
              <a:lnSpc>
                <a:spcPct val="9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</m:oMath>
              </m:oMathPara>
            </a14:m>
          </a:p>
          <a:p>
            <a:pPr lvl="2" indent="0">
              <a:lnSpc>
                <a:spcPct val="9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ℤ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</a:p>
          <a:p>
            <a:pPr lvl="2" indent="0">
              <a:lnSpc>
                <a:spcPct val="90000"/>
              </a:lnSpc>
              <a:defRPr sz="2400"/>
            </a:pPr>
          </a:p>
          <a:p>
            <a:pPr lvl="2" marL="342900" indent="-342900">
              <a:lnSpc>
                <a:spcPct val="90000"/>
              </a:lnSpc>
              <a:buSzPct val="100000"/>
              <a:buFont typeface="Arial"/>
              <a:buChar char="•"/>
              <a:defRPr sz="2400"/>
            </a:pPr>
            <a:r>
              <a:t>Verbal description:</a:t>
            </a:r>
          </a:p>
          <a:p>
            <a:pPr lvl="2" indent="0">
              <a:lnSpc>
                <a:spcPct val="90000"/>
              </a:lnSpc>
              <a:defRPr sz="2400"/>
            </a:pPr>
            <a:r>
              <a:t>             “A is the set of all integers from 1 to 100, inclusive”</a:t>
            </a:r>
          </a:p>
          <a:p>
            <a:pPr lvl="2" indent="0">
              <a:lnSpc>
                <a:spcPct val="90000"/>
              </a:lnSpc>
              <a:defRPr sz="2400"/>
            </a:pPr>
          </a:p>
          <a:p>
            <a:pPr lvl="2" marL="342900" indent="-342900">
              <a:lnSpc>
                <a:spcPct val="90000"/>
              </a:lnSpc>
              <a:buSzPct val="100000"/>
              <a:buFont typeface="Arial"/>
              <a:buChar char="•"/>
              <a:defRPr sz="2400"/>
            </a:pPr>
            <a:r>
              <a:t>Set builder notation:</a:t>
            </a:r>
          </a:p>
          <a:p>
            <a:pPr lvl="2" indent="0">
              <a:lnSpc>
                <a:spcPct val="9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m:rPr>
                          <m:nor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isaninteger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e>
                  </m:d>
                </m:oMath>
              </m:oMathPara>
            </a14:m>
          </a:p>
          <a:p>
            <a:pPr lvl="2" indent="0">
              <a:lnSpc>
                <a:spcPct val="9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ℚ</m:t>
                      </m:r>
                    </m:e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sup>
                  </m:s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m:rPr>
                          <m:nor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forsomepositiveintegers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m:rPr>
                          <m:nor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23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Notation</a:t>
            </a:r>
          </a:p>
        </p:txBody>
      </p:sp>
      <p:sp>
        <p:nvSpPr>
          <p:cNvPr id="324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25" name="Slide Number Placeholder 5"/>
          <p:cNvSpPr txBox="1"/>
          <p:nvPr>
            <p:ph type="sldNum" sz="quarter" idx="2"/>
          </p:nvPr>
        </p:nvSpPr>
        <p:spPr>
          <a:xfrm>
            <a:off x="8512028" y="6494489"/>
            <a:ext cx="17477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6" name="Rectangle 8"/>
          <p:cNvSpPr txBox="1"/>
          <p:nvPr/>
        </p:nvSpPr>
        <p:spPr>
          <a:xfrm>
            <a:off x="731519" y="1981199"/>
            <a:ext cx="7604762" cy="472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Usually, sets are denoted with upper-case letters and the members of a set with lower-case letters. </a:t>
            </a:r>
          </a:p>
          <a:p>
            <a:pPr>
              <a:defRPr sz="2800"/>
            </a:pPr>
          </a:p>
          <a:p>
            <a:pPr>
              <a:lnSpc>
                <a:spcPct val="90000"/>
              </a:lnSpc>
              <a:defRPr sz="28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means that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>
                <a:latin typeface="Arial"/>
                <a:ea typeface="Arial"/>
                <a:cs typeface="Arial"/>
                <a:sym typeface="Arial"/>
              </a:rPr>
              <a:t> is a member of the set 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defRPr sz="28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means that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>
                <a:latin typeface="Arial"/>
                <a:ea typeface="Arial"/>
                <a:cs typeface="Arial"/>
                <a:sym typeface="Arial"/>
              </a:rPr>
              <a:t> is not a member of the set 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defRPr sz="2800"/>
            </a:pPr>
          </a:p>
          <a:p>
            <a:pPr>
              <a:lnSpc>
                <a:spcPct val="90000"/>
              </a:lnSpc>
              <a:defRPr sz="2800"/>
            </a:pPr>
            <a:r>
              <a:t>The number of members in a set is called its </a:t>
            </a:r>
            <a:r>
              <a:rPr b="1"/>
              <a:t>cardinality </a:t>
            </a:r>
            <a:r>
              <a:t>denoted as |</a:t>
            </a:r>
            <a:r>
              <a:rPr b="1"/>
              <a:t>A|.</a:t>
            </a:r>
            <a:endParaRPr b="1"/>
          </a:p>
          <a:p>
            <a:pPr>
              <a:lnSpc>
                <a:spcPct val="90000"/>
              </a:lnSpc>
              <a:defRPr sz="2800"/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2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Null Set: (Empty set)</a:t>
            </a:r>
          </a:p>
        </p:txBody>
      </p:sp>
      <p:sp>
        <p:nvSpPr>
          <p:cNvPr id="330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/>
            <a:r>
              <a:t>Is the set with no elements.</a:t>
            </a:r>
          </a:p>
          <a:p>
            <a:pPr/>
            <a:r>
              <a:t>Notation: Φ, { }</a:t>
            </a:r>
          </a:p>
          <a:p>
            <a:pPr/>
            <a:r>
              <a:t>Note:  {0} is not an empty set. Why?</a:t>
            </a:r>
          </a:p>
        </p:txBody>
      </p:sp>
      <p:sp>
        <p:nvSpPr>
          <p:cNvPr id="33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32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3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Universal Set:</a:t>
            </a:r>
          </a:p>
        </p:txBody>
      </p:sp>
      <p:sp>
        <p:nvSpPr>
          <p:cNvPr id="336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/>
            <a:r>
              <a:t>Denoted by 𝕌, universal set is the set of all elements under consideration.</a:t>
            </a:r>
          </a:p>
          <a:p>
            <a:pPr marL="0" indent="0">
              <a:buSzTx/>
              <a:buNone/>
            </a:pPr>
            <a:r>
              <a:t>Example:</a:t>
            </a:r>
          </a:p>
          <a:p>
            <a:pPr marL="0" indent="0">
              <a:buSzTx/>
              <a:buNone/>
            </a:pPr>
            <a:r>
              <a:t>	Let</a:t>
            </a:r>
          </a:p>
          <a:p>
            <a:pPr marL="0" indent="0">
              <a:buSzTx/>
              <a:buNone/>
            </a:pPr>
            <a:r>
              <a:t>	A={‘Amal’, ‘Bimal’, ‘Dias’, ‘Ganesh’} </a:t>
            </a:r>
          </a:p>
          <a:p>
            <a:pPr marL="0" indent="0">
              <a:buSzTx/>
              <a:buNone/>
            </a:pPr>
            <a:r>
              <a:t> If A contains few names from a given class, then 𝕌 is the set of all names in the class.</a:t>
            </a:r>
          </a:p>
        </p:txBody>
      </p:sp>
      <p:sp>
        <p:nvSpPr>
          <p:cNvPr id="337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38" name="Slide Number Placeholder 5"/>
          <p:cNvSpPr txBox="1"/>
          <p:nvPr>
            <p:ph type="sldNum" sz="quarter" idx="2"/>
          </p:nvPr>
        </p:nvSpPr>
        <p:spPr>
          <a:xfrm>
            <a:off x="8448404" y="6494489"/>
            <a:ext cx="238396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41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Equality of Sets</a:t>
            </a:r>
          </a:p>
        </p:txBody>
      </p:sp>
      <p:sp>
        <p:nvSpPr>
          <p:cNvPr id="342" name="Content Placeholder 2"/>
          <p:cNvSpPr txBox="1"/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/>
          <a:lstStyle/>
          <a:p>
            <a:pPr/>
            <a:r>
              <a:t>Two sets A and B are equal if and only if both A and B contain the same elements.</a:t>
            </a:r>
          </a:p>
          <a:p>
            <a:pPr marL="0" indent="0">
              <a:buSzTx/>
              <a:buNone/>
            </a:pPr>
            <a:r>
              <a:t>	A={‘Amal’, ‘Bimal’, ‘Dias’, ‘Ganesh’}</a:t>
            </a:r>
          </a:p>
          <a:p>
            <a:pPr marL="0" indent="0">
              <a:buSzTx/>
              <a:buNone/>
            </a:pPr>
            <a:r>
              <a:t>	 B={‘Ganesh’ ,‘Bimal’, ‘Amal’, ‘Dias’} </a:t>
            </a:r>
          </a:p>
          <a:p>
            <a:pPr marL="0" indent="0">
              <a:buSzTx/>
              <a:buNone/>
            </a:pPr>
            <a:r>
              <a:t>	A and B sets are equal</a:t>
            </a:r>
          </a:p>
        </p:txBody>
      </p:sp>
      <p:sp>
        <p:nvSpPr>
          <p:cNvPr id="343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44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47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Some Special Sets</a:t>
            </a:r>
          </a:p>
        </p:txBody>
      </p:sp>
      <p:sp>
        <p:nvSpPr>
          <p:cNvPr id="348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49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0" name="TextBox 6"/>
          <p:cNvSpPr txBox="1"/>
          <p:nvPr/>
        </p:nvSpPr>
        <p:spPr>
          <a:xfrm>
            <a:off x="502919" y="1789092"/>
            <a:ext cx="844296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The Null Set or Empty Set</a:t>
            </a:r>
          </a:p>
        </p:txBody>
      </p:sp>
      <p:sp>
        <p:nvSpPr>
          <p:cNvPr id="351" name="Rectangle 7"/>
          <p:cNvSpPr txBox="1"/>
          <p:nvPr/>
        </p:nvSpPr>
        <p:spPr>
          <a:xfrm>
            <a:off x="502920" y="2743200"/>
            <a:ext cx="8376996" cy="44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The Universal Set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  <p:sp>
        <p:nvSpPr>
          <p:cNvPr id="352" name="Rectangle 8"/>
          <p:cNvSpPr txBox="1"/>
          <p:nvPr/>
        </p:nvSpPr>
        <p:spPr>
          <a:xfrm>
            <a:off x="502919" y="3962400"/>
            <a:ext cx="8214362" cy="191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Singleton set: </a:t>
            </a:r>
            <a:r>
              <a:rPr b="0"/>
              <a:t>A set with one element is called a singleton set. </a:t>
            </a:r>
            <a:endParaRPr b="0"/>
          </a:p>
          <a:p>
            <a:pPr>
              <a:defRPr sz="2400"/>
            </a:pPr>
          </a:p>
          <a:p>
            <a:pPr>
              <a:defRPr sz="2400"/>
            </a:pPr>
            <a:r>
              <a:t>Example: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e>
                </m:d>
              </m:oMath>
            </a14:m>
            <a:r>
              <a:t> is a singleton set with the empty set as its only element.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52" grpId="3"/>
      <p:bldP build="whole" bldLvl="1" animBg="1" rev="0" advAuto="0" spid="350" grpId="1"/>
      <p:bldP build="whole" bldLvl="1" animBg="1" rev="0" advAuto="0" spid="351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5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Subsets</a:t>
            </a:r>
          </a:p>
        </p:txBody>
      </p:sp>
      <p:sp>
        <p:nvSpPr>
          <p:cNvPr id="356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57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8" name="Rectangle 6"/>
          <p:cNvSpPr txBox="1"/>
          <p:nvPr/>
        </p:nvSpPr>
        <p:spPr>
          <a:xfrm>
            <a:off x="502919" y="1729870"/>
            <a:ext cx="8214362" cy="1465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b="1" sz="2400"/>
            </a:pPr>
            <a:r>
              <a:t>Definition: </a:t>
            </a:r>
            <a:r>
              <a:rPr b="0"/>
              <a:t>The set A is a subset of B if and only if every element of A is also an element of B, and is  denoted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r>
              <a:rPr b="0"/>
              <a:t> </a:t>
            </a:r>
            <a:br>
              <a:rPr b="0"/>
            </a:br>
            <a:r>
              <a:rPr b="0"/>
              <a:t>That is;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</m:oMath>
            </a14:m>
            <a:r>
              <a:rPr b="0"/>
              <a:t>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  <p:sp>
        <p:nvSpPr>
          <p:cNvPr id="359" name="Rectangle 7"/>
          <p:cNvSpPr txBox="1"/>
          <p:nvPr/>
        </p:nvSpPr>
        <p:spPr>
          <a:xfrm>
            <a:off x="350519" y="2970073"/>
            <a:ext cx="8290562" cy="158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Definition:</a:t>
            </a:r>
            <a:r>
              <a:rPr b="0"/>
              <a:t> If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</m:oMath>
            </a14:m>
            <a:r>
              <a:rPr b="0"/>
              <a:t> B but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rPr b="0"/>
              <a:t> then we say A is a proper subset of B, denoted A </a:t>
            </a:r>
            <a:r>
              <a:rPr b="0">
                <a:latin typeface="Symbol"/>
                <a:ea typeface="Symbol"/>
                <a:cs typeface="Symbol"/>
                <a:sym typeface="Symbol"/>
              </a:rPr>
              <a:t>Ì</a:t>
            </a:r>
            <a:r>
              <a:rPr b="0"/>
              <a:t> B or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⊊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rPr b="0"/>
              <a:t>.</a:t>
            </a:r>
            <a:endParaRPr b="0"/>
          </a:p>
          <a:p>
            <a:pPr lvl="1">
              <a:defRPr sz="2400"/>
            </a:pPr>
            <a:r>
              <a:t>A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Ì</a:t>
            </a:r>
            <a:r>
              <a:t> B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∃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360" name="TextBox 8"/>
          <p:cNvSpPr txBox="1"/>
          <p:nvPr/>
        </p:nvSpPr>
        <p:spPr>
          <a:xfrm>
            <a:off x="655319" y="4233207"/>
            <a:ext cx="8061962" cy="190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Note:</a:t>
            </a:r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 The assertion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 is always false.                                  Hence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</m:oMath>
            </a14:m>
            <a:r>
              <a:t> is always true.</a:t>
            </a:r>
          </a:p>
          <a:p>
            <a:pPr>
              <a:defRPr sz="2400"/>
            </a:pPr>
            <a:r>
              <a:t>      Therefore,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</m:oMath>
            </a14:m>
            <a:r>
              <a:t> is a subset of every set.</a:t>
            </a:r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For any set A, A is always a subset of itself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60" grpId="3"/>
      <p:bldP build="whole" bldLvl="1" animBg="1" rev="0" advAuto="0" spid="358" grpId="1"/>
      <p:bldP build="whole" bldLvl="1" animBg="1" rev="0" advAuto="0" spid="359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63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Subsets</a:t>
            </a:r>
          </a:p>
        </p:txBody>
      </p:sp>
      <p:sp>
        <p:nvSpPr>
          <p:cNvPr id="364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65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6" name="Rectangle 6"/>
          <p:cNvSpPr txBox="1"/>
          <p:nvPr/>
        </p:nvSpPr>
        <p:spPr>
          <a:xfrm>
            <a:off x="502919" y="1729870"/>
            <a:ext cx="8214362" cy="2444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b="1" sz="2400"/>
            </a:pPr>
            <a:r>
              <a:t>Definition: </a:t>
            </a:r>
            <a:r>
              <a:rPr b="0"/>
              <a:t>The set A is a subset of B if and only if every element of A is also an element of B, and is  denoted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r>
              <a:rPr b="0"/>
              <a:t> </a:t>
            </a:r>
            <a:br>
              <a:rPr b="0"/>
            </a:br>
            <a:r>
              <a:rPr b="0"/>
              <a:t>That is;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</m:oMath>
            </a14:m>
            <a:r>
              <a:rPr b="0"/>
              <a:t>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  <a:p>
            <a:pPr>
              <a:lnSpc>
                <a:spcPct val="90000"/>
              </a:lnSpc>
              <a:defRPr sz="2400"/>
            </a:pPr>
          </a:p>
          <a:p>
            <a:pPr>
              <a:lnSpc>
                <a:spcPct val="90000"/>
              </a:lnSpc>
              <a:defRPr sz="2400"/>
            </a:pPr>
            <a:r>
              <a:t>How to prove  that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</m:oMath>
            </a14:m>
            <a:r>
              <a:t> for any set A</a:t>
            </a:r>
          </a:p>
          <a:p>
            <a:pPr>
              <a:lnSpc>
                <a:spcPct val="90000"/>
              </a:lnSpc>
              <a:defRPr sz="2400"/>
            </a:pPr>
            <a:r>
              <a:t>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</m:oMath>
            </a14:m>
            <a:r>
              <a:t>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  <p:sp>
        <p:nvSpPr>
          <p:cNvPr id="367" name="TextBox 8"/>
          <p:cNvSpPr txBox="1"/>
          <p:nvPr/>
        </p:nvSpPr>
        <p:spPr>
          <a:xfrm>
            <a:off x="655319" y="4233207"/>
            <a:ext cx="8061962" cy="190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Note:</a:t>
            </a:r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 The assertion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 is always false.                                  Hence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</m:oMath>
            </a14:m>
            <a:r>
              <a:t> is always true.</a:t>
            </a:r>
          </a:p>
          <a:p>
            <a:pPr>
              <a:defRPr sz="2400"/>
            </a:pPr>
            <a:r>
              <a:t>      Therefore,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</m:oMath>
            </a14:m>
            <a:r>
              <a:t> is a subset of every set.</a:t>
            </a:r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For any set A, A is always a subset of itself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6" grpId="1"/>
      <p:bldP build="p" bldLvl="5" animBg="1" rev="0" advAuto="0" spid="367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70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Venn Diagrams</a:t>
            </a:r>
          </a:p>
        </p:txBody>
      </p:sp>
      <p:sp>
        <p:nvSpPr>
          <p:cNvPr id="37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72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3" name="Rectangle 6"/>
          <p:cNvSpPr txBox="1"/>
          <p:nvPr/>
        </p:nvSpPr>
        <p:spPr>
          <a:xfrm>
            <a:off x="502919" y="1639430"/>
            <a:ext cx="8138161" cy="18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➢"/>
              <a:defRPr sz="2400"/>
            </a:pPr>
            <a:r>
              <a:t> A  graphical way of representing sets(John Venn).</a:t>
            </a:r>
          </a:p>
          <a:p>
            <a:pPr marL="285750" indent="-285750">
              <a:buSzPct val="100000"/>
              <a:buChar char="➢"/>
              <a:defRPr sz="2400"/>
            </a:pPr>
            <a:r>
              <a:t> The universal set U, which contains all the objects under consideration, is represented by a rectangle.</a:t>
            </a:r>
          </a:p>
          <a:p>
            <a:pPr marL="285750" indent="-285750">
              <a:buSzPct val="100000"/>
              <a:buChar char="➢"/>
              <a:defRPr sz="2400"/>
            </a:pPr>
            <a:r>
              <a:t> Inside this rectangle, circles or other geometrical ﬁgures are used to represent sets.</a:t>
            </a:r>
          </a:p>
        </p:txBody>
      </p:sp>
      <p:grpSp>
        <p:nvGrpSpPr>
          <p:cNvPr id="384" name="Group 7"/>
          <p:cNvGrpSpPr/>
          <p:nvPr/>
        </p:nvGrpSpPr>
        <p:grpSpPr>
          <a:xfrm>
            <a:off x="1468210" y="3664803"/>
            <a:ext cx="6711720" cy="2508112"/>
            <a:chOff x="0" y="0"/>
            <a:chExt cx="6711718" cy="2508111"/>
          </a:xfrm>
        </p:grpSpPr>
        <p:sp>
          <p:nvSpPr>
            <p:cNvPr id="374" name="Rectangle 8"/>
            <p:cNvSpPr/>
            <p:nvPr/>
          </p:nvSpPr>
          <p:spPr>
            <a:xfrm>
              <a:off x="0" y="245589"/>
              <a:ext cx="3160080" cy="2262523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96874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952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5" name="Oval 9"/>
            <p:cNvSpPr/>
            <p:nvPr/>
          </p:nvSpPr>
          <p:spPr>
            <a:xfrm>
              <a:off x="520646" y="1015536"/>
              <a:ext cx="2086847" cy="1422159"/>
            </a:xfrm>
            <a:prstGeom prst="ellipse">
              <a:avLst/>
            </a:prstGeom>
            <a:solidFill>
              <a:srgbClr val="00B0F0"/>
            </a:solidFill>
            <a:ln w="25400" cap="flat">
              <a:solidFill>
                <a:srgbClr val="96874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chemeClr val="accent4"/>
                  </a:solidFill>
                </a:defRPr>
              </a:pPr>
            </a:p>
          </p:txBody>
        </p:sp>
        <p:sp>
          <p:nvSpPr>
            <p:cNvPr id="376" name="TextBox 10"/>
            <p:cNvSpPr txBox="1"/>
            <p:nvPr/>
          </p:nvSpPr>
          <p:spPr>
            <a:xfrm>
              <a:off x="745238" y="1629650"/>
              <a:ext cx="147057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77" name="TextBox 11"/>
            <p:cNvSpPr txBox="1"/>
            <p:nvPr/>
          </p:nvSpPr>
          <p:spPr>
            <a:xfrm>
              <a:off x="1102983" y="1468041"/>
              <a:ext cx="147057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78" name="TextBox 12"/>
            <p:cNvSpPr txBox="1"/>
            <p:nvPr/>
          </p:nvSpPr>
          <p:spPr>
            <a:xfrm>
              <a:off x="1281856" y="1888224"/>
              <a:ext cx="147057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379" name="TextBox 13"/>
            <p:cNvSpPr txBox="1"/>
            <p:nvPr/>
          </p:nvSpPr>
          <p:spPr>
            <a:xfrm>
              <a:off x="1699225" y="1542583"/>
              <a:ext cx="147057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o</a:t>
              </a:r>
            </a:p>
          </p:txBody>
        </p:sp>
        <p:sp>
          <p:nvSpPr>
            <p:cNvPr id="380" name="TextBox 14"/>
            <p:cNvSpPr txBox="1"/>
            <p:nvPr/>
          </p:nvSpPr>
          <p:spPr>
            <a:xfrm>
              <a:off x="1930308" y="1821597"/>
              <a:ext cx="147058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381" name="Straight Arrow Connector 15"/>
            <p:cNvSpPr/>
            <p:nvPr/>
          </p:nvSpPr>
          <p:spPr>
            <a:xfrm flipH="1">
              <a:off x="2249747" y="1105660"/>
              <a:ext cx="1462921" cy="36238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2" name="TextBox 16"/>
            <p:cNvSpPr txBox="1"/>
            <p:nvPr/>
          </p:nvSpPr>
          <p:spPr>
            <a:xfrm>
              <a:off x="3712668" y="920995"/>
              <a:ext cx="2023002" cy="357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2400"/>
              </a:pPr>
              <a:r>
                <a:t>V =</a:t>
              </a:r>
              <a14:m>
                <m:oMath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</m:oMath>
              </a14:m>
              <a:endParaRPr sz="2200"/>
            </a:p>
          </p:txBody>
        </p:sp>
        <p:sp>
          <p:nvSpPr>
            <p:cNvPr id="383" name="TextBox 17"/>
            <p:cNvSpPr txBox="1"/>
            <p:nvPr/>
          </p:nvSpPr>
          <p:spPr>
            <a:xfrm>
              <a:off x="2844709" y="0"/>
              <a:ext cx="3867010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 – The English   Alphabet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4" grpId="2"/>
      <p:bldP build="whole" bldLvl="1" animBg="1" rev="0" advAuto="0" spid="37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387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Subsets</a:t>
            </a:r>
          </a:p>
        </p:txBody>
      </p:sp>
      <p:sp>
        <p:nvSpPr>
          <p:cNvPr id="388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389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0" name="Rectangle 6"/>
          <p:cNvSpPr/>
          <p:nvPr/>
        </p:nvSpPr>
        <p:spPr>
          <a:xfrm>
            <a:off x="457200" y="1905000"/>
            <a:ext cx="5334000" cy="289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9687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Straight Arrow Connector 7"/>
          <p:cNvSpPr/>
          <p:nvPr/>
        </p:nvSpPr>
        <p:spPr>
          <a:xfrm flipH="1">
            <a:off x="4952999" y="2169392"/>
            <a:ext cx="1447801" cy="49760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2" name="Straight Arrow Connector 8"/>
          <p:cNvSpPr/>
          <p:nvPr/>
        </p:nvSpPr>
        <p:spPr>
          <a:xfrm flipH="1" flipV="1">
            <a:off x="3047999" y="4130147"/>
            <a:ext cx="3276601" cy="365653"/>
          </a:xfrm>
          <a:prstGeom prst="line">
            <a:avLst/>
          </a:prstGeom>
          <a:ln w="25400">
            <a:solidFill>
              <a:srgbClr val="0070C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3" name="TextBox 9"/>
          <p:cNvSpPr txBox="1"/>
          <p:nvPr/>
        </p:nvSpPr>
        <p:spPr>
          <a:xfrm>
            <a:off x="6248399" y="4278867"/>
            <a:ext cx="2197169" cy="3749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4,5</m:t>
                      </m:r>
                    </m:e>
                  </m:d>
                </m:oMath>
              </m:oMathPara>
            </a14:m>
            <a:endParaRPr sz="2400"/>
          </a:p>
        </p:txBody>
      </p:sp>
      <p:sp>
        <p:nvSpPr>
          <p:cNvPr id="394" name="TextBox 10"/>
          <p:cNvSpPr txBox="1"/>
          <p:nvPr/>
        </p:nvSpPr>
        <p:spPr>
          <a:xfrm>
            <a:off x="6400800" y="1981200"/>
            <a:ext cx="1963418" cy="37490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e>
                  </m:d>
                </m:oMath>
              </m:oMathPara>
            </a14:m>
            <a:endParaRPr sz="2400"/>
          </a:p>
        </p:txBody>
      </p:sp>
      <p:sp>
        <p:nvSpPr>
          <p:cNvPr id="395" name="Straight Arrow Connector 11"/>
          <p:cNvSpPr/>
          <p:nvPr/>
        </p:nvSpPr>
        <p:spPr>
          <a:xfrm flipH="1">
            <a:off x="3505199" y="3266420"/>
            <a:ext cx="2895601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" name="TextBox 12"/>
          <p:cNvSpPr txBox="1"/>
          <p:nvPr/>
        </p:nvSpPr>
        <p:spPr>
          <a:xfrm>
            <a:off x="6532108" y="3124200"/>
            <a:ext cx="1346485" cy="37490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e>
                  </m:d>
                </m:oMath>
              </m:oMathPara>
            </a14:m>
            <a:endParaRPr sz="2400"/>
          </a:p>
        </p:txBody>
      </p:sp>
      <p:grpSp>
        <p:nvGrpSpPr>
          <p:cNvPr id="400" name="Group 16"/>
          <p:cNvGrpSpPr/>
          <p:nvPr/>
        </p:nvGrpSpPr>
        <p:grpSpPr>
          <a:xfrm>
            <a:off x="1181100" y="1929452"/>
            <a:ext cx="4495801" cy="2496782"/>
            <a:chOff x="0" y="0"/>
            <a:chExt cx="4495799" cy="2496781"/>
          </a:xfrm>
        </p:grpSpPr>
        <p:sp>
          <p:nvSpPr>
            <p:cNvPr id="397" name="Oval 19"/>
            <p:cNvSpPr/>
            <p:nvPr/>
          </p:nvSpPr>
          <p:spPr>
            <a:xfrm>
              <a:off x="0" y="33598"/>
              <a:ext cx="2798856" cy="2167099"/>
            </a:xfrm>
            <a:prstGeom prst="ellipse">
              <a:avLst/>
            </a:prstGeom>
            <a:solidFill>
              <a:srgbClr val="33CCFF">
                <a:alpha val="50000"/>
              </a:srgb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chemeClr val="accent2"/>
                  </a:solidFill>
                </a:defRPr>
              </a:pPr>
            </a:p>
          </p:txBody>
        </p:sp>
        <p:sp>
          <p:nvSpPr>
            <p:cNvPr id="398" name="Oval 17"/>
            <p:cNvSpPr/>
            <p:nvPr/>
          </p:nvSpPr>
          <p:spPr>
            <a:xfrm>
              <a:off x="0" y="16799"/>
              <a:ext cx="2798856" cy="2479983"/>
            </a:xfrm>
            <a:prstGeom prst="ellipse">
              <a:avLst/>
            </a:prstGeom>
            <a:solidFill>
              <a:srgbClr val="C9C2D1"/>
            </a:solidFill>
            <a:ln w="9525" cap="flat">
              <a:solidFill>
                <a:srgbClr val="C9C2D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chemeClr val="accent2"/>
                  </a:solidFill>
                </a:defRPr>
              </a:pPr>
            </a:p>
          </p:txBody>
        </p:sp>
        <p:sp>
          <p:nvSpPr>
            <p:cNvPr id="399" name="Oval 20"/>
            <p:cNvSpPr/>
            <p:nvPr/>
          </p:nvSpPr>
          <p:spPr>
            <a:xfrm>
              <a:off x="1696944" y="0"/>
              <a:ext cx="2798856" cy="2167099"/>
            </a:xfrm>
            <a:prstGeom prst="ellipse">
              <a:avLst/>
            </a:prstGeom>
            <a:solidFill>
              <a:srgbClr val="CC0000">
                <a:alpha val="50000"/>
              </a:srgb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401" name="TextBox 17"/>
          <p:cNvSpPr txBox="1"/>
          <p:nvPr/>
        </p:nvSpPr>
        <p:spPr>
          <a:xfrm>
            <a:off x="1798319" y="22961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1</a:t>
            </a:r>
          </a:p>
        </p:txBody>
      </p:sp>
      <p:sp>
        <p:nvSpPr>
          <p:cNvPr id="402" name="TextBox 18"/>
          <p:cNvSpPr txBox="1"/>
          <p:nvPr/>
        </p:nvSpPr>
        <p:spPr>
          <a:xfrm>
            <a:off x="1417319" y="27533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2</a:t>
            </a:r>
          </a:p>
        </p:txBody>
      </p:sp>
      <p:sp>
        <p:nvSpPr>
          <p:cNvPr id="403" name="TextBox 19"/>
          <p:cNvSpPr txBox="1"/>
          <p:nvPr/>
        </p:nvSpPr>
        <p:spPr>
          <a:xfrm>
            <a:off x="2026919" y="32105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4</a:t>
            </a:r>
          </a:p>
        </p:txBody>
      </p:sp>
      <p:sp>
        <p:nvSpPr>
          <p:cNvPr id="404" name="TextBox 20"/>
          <p:cNvSpPr txBox="1"/>
          <p:nvPr/>
        </p:nvSpPr>
        <p:spPr>
          <a:xfrm>
            <a:off x="3169919" y="30581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5</a:t>
            </a:r>
          </a:p>
        </p:txBody>
      </p:sp>
      <p:sp>
        <p:nvSpPr>
          <p:cNvPr id="405" name="TextBox 21"/>
          <p:cNvSpPr txBox="1"/>
          <p:nvPr/>
        </p:nvSpPr>
        <p:spPr>
          <a:xfrm>
            <a:off x="3169919" y="23723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3</a:t>
            </a:r>
          </a:p>
        </p:txBody>
      </p:sp>
      <p:sp>
        <p:nvSpPr>
          <p:cNvPr id="406" name="TextBox 22"/>
          <p:cNvSpPr txBox="1"/>
          <p:nvPr/>
        </p:nvSpPr>
        <p:spPr>
          <a:xfrm>
            <a:off x="4312919" y="32867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7</a:t>
            </a:r>
          </a:p>
        </p:txBody>
      </p:sp>
      <p:sp>
        <p:nvSpPr>
          <p:cNvPr id="407" name="TextBox 23"/>
          <p:cNvSpPr txBox="1"/>
          <p:nvPr/>
        </p:nvSpPr>
        <p:spPr>
          <a:xfrm>
            <a:off x="4160519" y="2448579"/>
            <a:ext cx="28956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6</a:t>
            </a:r>
          </a:p>
        </p:txBody>
      </p:sp>
      <p:sp>
        <p:nvSpPr>
          <p:cNvPr id="408" name="TextBox 25"/>
          <p:cNvSpPr txBox="1"/>
          <p:nvPr/>
        </p:nvSpPr>
        <p:spPr>
          <a:xfrm>
            <a:off x="1153777" y="4993957"/>
            <a:ext cx="3934222" cy="2795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𝑇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𝑒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𝑛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⊆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𝑎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𝑛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𝑑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⊆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</m:oMath>
              </m:oMathPara>
            </a14:m>
            <a:endParaRPr sz="2800"/>
          </a:p>
        </p:txBody>
      </p:sp>
      <p:sp>
        <p:nvSpPr>
          <p:cNvPr id="409" name="Rectangle 26"/>
          <p:cNvSpPr txBox="1"/>
          <p:nvPr/>
        </p:nvSpPr>
        <p:spPr>
          <a:xfrm>
            <a:off x="960120" y="5650467"/>
            <a:ext cx="5224435" cy="51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But</a:t>
            </a: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⊈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⊈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𝑎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𝑛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𝑑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⊈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567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9" grpId="2"/>
      <p:bldP build="whole" bldLvl="1" animBg="1" rev="0" advAuto="0" spid="40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12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Equality of two Sets</a:t>
            </a:r>
          </a:p>
        </p:txBody>
      </p:sp>
      <p:sp>
        <p:nvSpPr>
          <p:cNvPr id="413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14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5" name="Rectangle 6"/>
          <p:cNvSpPr txBox="1"/>
          <p:nvPr/>
        </p:nvSpPr>
        <p:spPr>
          <a:xfrm>
            <a:off x="502919" y="1882270"/>
            <a:ext cx="8290562" cy="1105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b="1" sz="2400"/>
            </a:pPr>
            <a:r>
              <a:t>Definition: </a:t>
            </a:r>
            <a:r>
              <a:rPr b="0"/>
              <a:t>Two sets A and B are said to be equal if both sets have the same elements and is denoted by  A = B.        If sets ‘A’ and ‘B’ are not equal we write A </a:t>
            </a:r>
            <a:r>
              <a:rPr b="0">
                <a:latin typeface="Symbol"/>
                <a:ea typeface="Symbol"/>
                <a:cs typeface="Symbol"/>
                <a:sym typeface="Symbol"/>
              </a:rPr>
              <a:t>¹</a:t>
            </a:r>
            <a:r>
              <a:rPr b="0"/>
              <a:t> B.</a:t>
            </a:r>
          </a:p>
        </p:txBody>
      </p:sp>
      <p:sp>
        <p:nvSpPr>
          <p:cNvPr id="416" name="TextBox 7"/>
          <p:cNvSpPr txBox="1"/>
          <p:nvPr/>
        </p:nvSpPr>
        <p:spPr>
          <a:xfrm>
            <a:off x="455771" y="3455313"/>
            <a:ext cx="4589961" cy="2741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⇔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⊆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𝑎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𝑛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𝑑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⊆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</m:oMath>
              </m:oMathPara>
            </a14:m>
            <a:endParaRPr sz="2800"/>
          </a:p>
        </p:txBody>
      </p:sp>
      <p:sp>
        <p:nvSpPr>
          <p:cNvPr id="417" name="TextBox 8"/>
          <p:cNvSpPr txBox="1"/>
          <p:nvPr/>
        </p:nvSpPr>
        <p:spPr>
          <a:xfrm>
            <a:off x="990599" y="4161847"/>
            <a:ext cx="8280573" cy="466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800"/>
            </a:pPr>
            <a:r>
              <a:t> </a:t>
            </a: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⇔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d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𝑎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𝑛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𝑑</m:t>
                </m:r>
                <m:d>
                  <m:d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e>
                </m:d>
              </m:oMath>
            </a14:m>
            <a:endParaRPr sz="2567"/>
          </a:p>
        </p:txBody>
      </p:sp>
      <p:sp>
        <p:nvSpPr>
          <p:cNvPr id="418" name="Rectangle 9"/>
          <p:cNvSpPr txBox="1"/>
          <p:nvPr/>
        </p:nvSpPr>
        <p:spPr>
          <a:xfrm>
            <a:off x="1172184" y="4963179"/>
            <a:ext cx="3446832" cy="3033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⇔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∀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  <a:endParaRPr sz="28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5" grpId="1"/>
      <p:bldP build="whole" bldLvl="1" animBg="1" rev="0" advAuto="0" spid="416" grpId="2"/>
      <p:bldP build="whole" bldLvl="1" animBg="1" rev="0" advAuto="0" spid="418" grpId="4"/>
      <p:bldP build="whole" bldLvl="1" animBg="1" rev="0" advAuto="0" spid="417" grpId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21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Power Set</a:t>
            </a:r>
          </a:p>
        </p:txBody>
      </p:sp>
      <p:sp>
        <p:nvSpPr>
          <p:cNvPr id="422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23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24" name="Rectangle 6"/>
          <p:cNvSpPr txBox="1"/>
          <p:nvPr/>
        </p:nvSpPr>
        <p:spPr>
          <a:xfrm>
            <a:off x="502919" y="1816971"/>
            <a:ext cx="8442962" cy="80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6600"/>
                </a:solidFill>
              </a:defRPr>
            </a:pPr>
            <a:r>
              <a:t>Definition:</a:t>
            </a:r>
            <a:r>
              <a:rPr>
                <a:solidFill>
                  <a:srgbClr val="000000"/>
                </a:solidFill>
              </a:rPr>
              <a:t> The set of all subset of a set A, denoted P(A) or </a:t>
            </a:r>
            <a14:m>
              <m:oMath>
                <m:sSup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  <m:sup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sup>
                </m:sSup>
              </m:oMath>
            </a14:m>
            <a:r>
              <a:rPr>
                <a:solidFill>
                  <a:srgbClr val="000000"/>
                </a:solidFill>
              </a:rPr>
              <a:t>, is called the </a:t>
            </a:r>
            <a:r>
              <a:rPr i="1">
                <a:solidFill>
                  <a:schemeClr val="accent1"/>
                </a:solidFill>
              </a:rPr>
              <a:t>power set</a:t>
            </a:r>
            <a:r>
              <a:rPr>
                <a:solidFill>
                  <a:srgbClr val="000000"/>
                </a:solidFill>
              </a:rPr>
              <a:t> of A.</a:t>
            </a:r>
            <a:endParaRPr sz="2200"/>
          </a:p>
        </p:txBody>
      </p:sp>
      <p:sp>
        <p:nvSpPr>
          <p:cNvPr id="425" name="Rectangle 7"/>
          <p:cNvSpPr txBox="1"/>
          <p:nvPr/>
        </p:nvSpPr>
        <p:spPr>
          <a:xfrm>
            <a:off x="502919" y="2857084"/>
            <a:ext cx="7604762" cy="858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What is the power set of the set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e>
                </m:d>
              </m:oMath>
            </a14:m>
            <a:r>
              <a:t>? </a:t>
            </a:r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2200"/>
          </a:p>
        </p:txBody>
      </p:sp>
      <p:sp>
        <p:nvSpPr>
          <p:cNvPr id="426" name="Rectangle 8"/>
          <p:cNvSpPr txBox="1"/>
          <p:nvPr/>
        </p:nvSpPr>
        <p:spPr>
          <a:xfrm>
            <a:off x="502919" y="3969603"/>
            <a:ext cx="8138162" cy="804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 </a:t>
            </a:r>
            <a:r>
              <a:rPr sz="2400"/>
              <a:t>What is the power set of the empty set? What is the power set of the set {∅}? </a:t>
            </a:r>
          </a:p>
        </p:txBody>
      </p:sp>
      <p:sp>
        <p:nvSpPr>
          <p:cNvPr id="427" name="Rectangle 9"/>
          <p:cNvSpPr txBox="1"/>
          <p:nvPr/>
        </p:nvSpPr>
        <p:spPr>
          <a:xfrm>
            <a:off x="502919" y="5181599"/>
            <a:ext cx="8138162" cy="804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Theorem:</a:t>
            </a:r>
            <a:r>
              <a:rPr>
                <a:solidFill>
                  <a:srgbClr val="000000"/>
                </a:solidFill>
              </a:rPr>
              <a:t>  If a set has n elements, then its power set has </a:t>
            </a:r>
            <a14:m>
              <m:oMath>
                <m:sSup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  <m:sup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p>
                </m:sSup>
              </m:oMath>
            </a14:m>
            <a:r>
              <a:rPr>
                <a:solidFill>
                  <a:srgbClr val="000000"/>
                </a:solidFill>
              </a:rPr>
              <a:t> elements.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25" grpId="2"/>
      <p:bldP build="whole" bldLvl="1" animBg="1" rev="0" advAuto="0" spid="426" grpId="3"/>
      <p:bldP build="whole" bldLvl="1" animBg="1" rev="0" advAuto="0" spid="424" grpId="1"/>
      <p:bldP build="whole" bldLvl="1" animBg="1" rev="0" advAuto="0" spid="427" grpId="4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30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The Size of a Set</a:t>
            </a:r>
          </a:p>
        </p:txBody>
      </p:sp>
      <p:sp>
        <p:nvSpPr>
          <p:cNvPr id="43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32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3" name="Rectangle 6"/>
          <p:cNvSpPr txBox="1"/>
          <p:nvPr/>
        </p:nvSpPr>
        <p:spPr>
          <a:xfrm>
            <a:off x="502919" y="1613118"/>
            <a:ext cx="8138162" cy="1217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Definition:  </a:t>
            </a:r>
            <a:r>
              <a:rPr>
                <a:solidFill>
                  <a:srgbClr val="000000"/>
                </a:solidFill>
              </a:rPr>
              <a:t>Let S be a set. If there are n elements in S where n is a nonnegative integer, we say that S is a ﬁnite set and that n is the cardinality of S and  is denoted by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|"/>
                    <m:endChr m:val="|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e>
                </m:d>
              </m:oMath>
            </a14:m>
            <a:r>
              <a:rPr>
                <a:solidFill>
                  <a:srgbClr val="000000"/>
                </a:solidFill>
              </a:rPr>
              <a:t>.</a:t>
            </a:r>
            <a:endParaRPr sz="2200"/>
          </a:p>
        </p:txBody>
      </p:sp>
      <p:sp>
        <p:nvSpPr>
          <p:cNvPr id="434" name="TextBox 7"/>
          <p:cNvSpPr txBox="1"/>
          <p:nvPr/>
        </p:nvSpPr>
        <p:spPr>
          <a:xfrm>
            <a:off x="502919" y="3283803"/>
            <a:ext cx="8290562" cy="87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Example:</a:t>
            </a:r>
            <a:r>
              <a:rPr>
                <a:solidFill>
                  <a:srgbClr val="000000"/>
                </a:solidFill>
              </a:rPr>
              <a:t> Let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e>
                </m:d>
              </m:oMath>
            </a14:m>
            <a:r>
              <a:rPr>
                <a:solidFill>
                  <a:srgbClr val="000000"/>
                </a:solidFill>
              </a:rPr>
              <a:t>. Then 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|"/>
                    <m:endChr m:val="|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4.</m:t>
                </m:r>
              </m:oMath>
            </a14:m>
          </a:p>
          <a:p>
            <a:pPr>
              <a:defRPr sz="2400"/>
            </a:pPr>
            <a:r>
              <a:t>Because the null set has no elements, it follows that|∅|= 0. </a:t>
            </a:r>
          </a:p>
        </p:txBody>
      </p:sp>
      <p:sp>
        <p:nvSpPr>
          <p:cNvPr id="435" name="Rectangle 8"/>
          <p:cNvSpPr txBox="1"/>
          <p:nvPr/>
        </p:nvSpPr>
        <p:spPr>
          <a:xfrm>
            <a:off x="579120" y="4429779"/>
            <a:ext cx="8423037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Definition: </a:t>
            </a:r>
            <a:r>
              <a:rPr>
                <a:solidFill>
                  <a:srgbClr val="000000"/>
                </a:solidFill>
              </a:rPr>
              <a:t>A set is said to be inﬁnite if  the number of element </a:t>
            </a:r>
            <a:endParaRPr>
              <a:solidFill>
                <a:srgbClr val="000000"/>
              </a:solidFill>
            </a:endParaRPr>
          </a:p>
          <a:p>
            <a:pPr>
              <a:defRPr sz="2400"/>
            </a:pPr>
            <a:r>
              <a:t>it has is not ﬁnite.</a:t>
            </a:r>
          </a:p>
        </p:txBody>
      </p:sp>
      <p:sp>
        <p:nvSpPr>
          <p:cNvPr id="436" name="Rectangle 9"/>
          <p:cNvSpPr txBox="1"/>
          <p:nvPr/>
        </p:nvSpPr>
        <p:spPr>
          <a:xfrm>
            <a:off x="579119" y="5269467"/>
            <a:ext cx="806196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Example:</a:t>
            </a:r>
            <a:r>
              <a:rPr>
                <a:solidFill>
                  <a:srgbClr val="000000"/>
                </a:solidFill>
              </a:rPr>
              <a:t>   The set of all natural numbers is inﬁnite.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6" grpId="4"/>
      <p:bldP build="whole" bldLvl="1" animBg="1" rev="0" advAuto="0" spid="433" grpId="1"/>
      <p:bldP build="whole" bldLvl="1" animBg="1" rev="0" advAuto="0" spid="435" grpId="3"/>
      <p:bldP build="whole" bldLvl="1" animBg="1" rev="0" advAuto="0" spid="434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3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Truth Sets and Quantiﬁers</a:t>
            </a:r>
          </a:p>
        </p:txBody>
      </p:sp>
      <p:sp>
        <p:nvSpPr>
          <p:cNvPr id="440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41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2" name="Rectangle 6"/>
          <p:cNvSpPr txBox="1"/>
          <p:nvPr/>
        </p:nvSpPr>
        <p:spPr>
          <a:xfrm>
            <a:off x="502919" y="1695270"/>
            <a:ext cx="8138162" cy="10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Given a predicate P, and a domain D, we deﬁne the truth set of P to be the set of elements x in D for which P(x) is true. The truth set of P(x) is denoted by </a:t>
            </a: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d>
              </m:oMath>
            </a14:m>
            <a:r>
              <a:t>. </a:t>
            </a:r>
            <a:endParaRPr sz="1833"/>
          </a:p>
        </p:txBody>
      </p:sp>
      <p:sp>
        <p:nvSpPr>
          <p:cNvPr id="443" name="TextBox 7"/>
          <p:cNvSpPr txBox="1"/>
          <p:nvPr/>
        </p:nvSpPr>
        <p:spPr>
          <a:xfrm>
            <a:off x="502919" y="2762070"/>
            <a:ext cx="8138162" cy="987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>
                <a:solidFill>
                  <a:srgbClr val="FF0000"/>
                </a:solidFill>
              </a:defRPr>
            </a:pPr>
            <a:r>
              <a:t>Example:</a:t>
            </a:r>
            <a:r>
              <a:rPr>
                <a:solidFill>
                  <a:srgbClr val="000000"/>
                </a:solidFill>
              </a:rPr>
              <a:t> Find the truth sets of the predicates P(x) , Q(x), and R(x), where the domain is the set of integers and P(x) is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"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“</m:t>
                </m:r>
              </m:oMath>
            </a14:m>
            <a:r>
              <a:rPr>
                <a:solidFill>
                  <a:srgbClr val="000000"/>
                </a:solidFill>
              </a:rPr>
              <a:t>,  Q(x) is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"</m:t>
                </m:r>
                <m:sSu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e>
                  <m:su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“</m:t>
                </m:r>
              </m:oMath>
            </a14:m>
            <a:r>
              <a:rPr>
                <a:solidFill>
                  <a:srgbClr val="000000"/>
                </a:solidFill>
              </a:rPr>
              <a:t>, “ and R(x) is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"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“</m:t>
                </m:r>
              </m:oMath>
            </a14:m>
            <a:r>
              <a:rPr>
                <a:solidFill>
                  <a:srgbClr val="000000"/>
                </a:solidFill>
              </a:rPr>
              <a:t>.  </a:t>
            </a:r>
            <a:endParaRPr sz="1833"/>
          </a:p>
        </p:txBody>
      </p:sp>
      <p:sp>
        <p:nvSpPr>
          <p:cNvPr id="444" name="TextBox 8"/>
          <p:cNvSpPr txBox="1"/>
          <p:nvPr/>
        </p:nvSpPr>
        <p:spPr>
          <a:xfrm>
            <a:off x="502919" y="3888937"/>
            <a:ext cx="8138162" cy="110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The truth set of P = </a:t>
            </a: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begChr m:val="|"/>
                        <m:endChr m:val="|"/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  <a:p>
            <a:pPr>
              <a:defRPr sz="2000"/>
            </a:pPr>
            <a:r>
              <a:t>The truth set of Q = </a:t>
            </a: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sSup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  <a:p>
            <a:pPr>
              <a:defRPr sz="2000"/>
            </a:pPr>
            <a:r>
              <a:t>The truth set of R = </a:t>
            </a: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begChr m:val="|"/>
                        <m:endChr m:val="|"/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ℕ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1833"/>
          </a:p>
        </p:txBody>
      </p:sp>
      <p:sp>
        <p:nvSpPr>
          <p:cNvPr id="445" name="Rectangle 9"/>
          <p:cNvSpPr txBox="1"/>
          <p:nvPr/>
        </p:nvSpPr>
        <p:spPr>
          <a:xfrm>
            <a:off x="502919" y="5105399"/>
            <a:ext cx="8366762" cy="987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FF0000"/>
                </a:solidFill>
              </a:defRPr>
            </a:pPr>
            <a:r>
              <a:t>Note: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is true over the domain U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the truth set of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∃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is true over the domain U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the truth set of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.</a:t>
            </a:r>
            <a:endParaRPr sz="1833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44" grpId="3"/>
      <p:bldP build="whole" bldLvl="1" animBg="1" rev="0" advAuto="0" spid="443" grpId="2"/>
      <p:bldP build="whole" bldLvl="1" animBg="1" rev="0" advAuto="0" spid="442" grpId="1"/>
      <p:bldP build="whole" bldLvl="1" animBg="1" rev="0" advAuto="0" spid="445" grpId="4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48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Set Operations</a:t>
            </a:r>
          </a:p>
        </p:txBody>
      </p:sp>
      <p:sp>
        <p:nvSpPr>
          <p:cNvPr id="449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50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1" name="Rectangle 6"/>
          <p:cNvSpPr txBox="1"/>
          <p:nvPr/>
        </p:nvSpPr>
        <p:spPr>
          <a:xfrm>
            <a:off x="502919" y="1712892"/>
            <a:ext cx="8138162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Two, or more, sets can be combined using different set operations such as </a:t>
            </a:r>
            <a:r>
              <a:rPr>
                <a:solidFill>
                  <a:srgbClr val="FF0000"/>
                </a:solidFill>
              </a:rPr>
              <a:t>Union</a:t>
            </a:r>
            <a:r>
              <a:t>, </a:t>
            </a:r>
            <a:r>
              <a:rPr>
                <a:solidFill>
                  <a:srgbClr val="FF0000"/>
                </a:solidFill>
              </a:rPr>
              <a:t>Intersection</a:t>
            </a:r>
            <a:r>
              <a:t>, </a:t>
            </a:r>
            <a:r>
              <a:rPr>
                <a:solidFill>
                  <a:srgbClr val="FF0000"/>
                </a:solidFill>
              </a:rPr>
              <a:t>Complement</a:t>
            </a:r>
            <a:r>
              <a:t>, etc.</a:t>
            </a:r>
          </a:p>
        </p:txBody>
      </p:sp>
      <p:sp>
        <p:nvSpPr>
          <p:cNvPr id="452" name="Rectangle 7"/>
          <p:cNvSpPr txBox="1"/>
          <p:nvPr/>
        </p:nvSpPr>
        <p:spPr>
          <a:xfrm>
            <a:off x="502919" y="2824270"/>
            <a:ext cx="8290562" cy="758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sz="2400"/>
            </a:pPr>
            <a:r>
              <a:t>Propositional calculus and set theory are both instances of an algebraic system called a </a:t>
            </a:r>
            <a:r>
              <a:rPr i="1">
                <a:solidFill>
                  <a:srgbClr val="FF0000"/>
                </a:solidFill>
              </a:rPr>
              <a:t>Boolean Algebra</a:t>
            </a:r>
            <a:r>
              <a:t>.</a:t>
            </a:r>
          </a:p>
        </p:txBody>
      </p:sp>
      <p:sp>
        <p:nvSpPr>
          <p:cNvPr id="453" name="Rectangle 8"/>
          <p:cNvSpPr txBox="1"/>
          <p:nvPr/>
        </p:nvSpPr>
        <p:spPr>
          <a:xfrm>
            <a:off x="502919" y="3893403"/>
            <a:ext cx="8138162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The operators in set theory are defined in terms of the corresponding operator in propositional calculus.</a:t>
            </a:r>
          </a:p>
        </p:txBody>
      </p:sp>
      <p:sp>
        <p:nvSpPr>
          <p:cNvPr id="454" name="Rectangle 9"/>
          <p:cNvSpPr txBox="1"/>
          <p:nvPr/>
        </p:nvSpPr>
        <p:spPr>
          <a:xfrm>
            <a:off x="502919" y="4989493"/>
            <a:ext cx="7985762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As always there must be a universe U. All sets are assumed to be subsets of U.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3" grpId="3"/>
      <p:bldP build="whole" bldLvl="1" animBg="1" rev="0" advAuto="0" spid="452" grpId="2"/>
      <p:bldP build="whole" bldLvl="1" animBg="1" rev="0" advAuto="0" spid="451" grpId="1"/>
      <p:bldP build="whole" bldLvl="1" animBg="1" rev="0" advAuto="0" spid="454" grpId="4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57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Union &amp; Intersection</a:t>
            </a:r>
          </a:p>
        </p:txBody>
      </p:sp>
      <p:sp>
        <p:nvSpPr>
          <p:cNvPr id="458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59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0" name="Rectangle 6"/>
          <p:cNvSpPr txBox="1"/>
          <p:nvPr/>
        </p:nvSpPr>
        <p:spPr>
          <a:xfrm>
            <a:off x="502919" y="1613118"/>
            <a:ext cx="8366762" cy="158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Union: </a:t>
            </a:r>
            <a:r>
              <a:rPr>
                <a:solidFill>
                  <a:srgbClr val="000000"/>
                </a:solidFill>
              </a:rPr>
              <a:t>The union of two sets A and B, denoted by A∪B, is the set of all elements that are either in A or in B, or in both.</a:t>
            </a:r>
            <a:endParaRPr>
              <a:solidFill>
                <a:srgbClr val="000000"/>
              </a:solidFill>
            </a:endParaRPr>
          </a:p>
          <a:p>
            <a:pPr>
              <a:defRPr sz="2400"/>
            </a:pPr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  <a:endParaRPr sz="2200"/>
          </a:p>
        </p:txBody>
      </p:sp>
      <p:sp>
        <p:nvSpPr>
          <p:cNvPr id="461" name="Rectangle 7"/>
          <p:cNvSpPr txBox="1"/>
          <p:nvPr/>
        </p:nvSpPr>
        <p:spPr>
          <a:xfrm>
            <a:off x="502919" y="3524070"/>
            <a:ext cx="8366762" cy="155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Intersection:</a:t>
            </a:r>
            <a:r>
              <a:rPr>
                <a:solidFill>
                  <a:srgbClr val="000000"/>
                </a:solidFill>
              </a:rPr>
              <a:t> The intersection of two sets A and B, denoted by A∩B, is the set containing those elements in both A and B.</a:t>
            </a:r>
            <a:endParaRPr>
              <a:solidFill>
                <a:srgbClr val="000000"/>
              </a:solidFill>
            </a:endParaRPr>
          </a:p>
          <a:p>
            <a:pPr>
              <a:defRPr sz="2400"/>
            </a:pPr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  <a:endParaRPr sz="2200"/>
          </a:p>
        </p:txBody>
      </p:sp>
      <p:sp>
        <p:nvSpPr>
          <p:cNvPr id="462" name="Rectangle 8"/>
          <p:cNvSpPr txBox="1"/>
          <p:nvPr/>
        </p:nvSpPr>
        <p:spPr>
          <a:xfrm>
            <a:off x="426719" y="5558135"/>
            <a:ext cx="8595362" cy="44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</a:defRPr>
            </a:pPr>
            <a:r>
              <a:t>Disjoint Sets: </a:t>
            </a:r>
            <a:r>
              <a:rPr>
                <a:solidFill>
                  <a:srgbClr val="000000"/>
                </a:solidFill>
              </a:rPr>
              <a:t>Two sets A, B are called disjoint if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</m:oMath>
            </a14:m>
            <a:r>
              <a:rPr>
                <a:solidFill>
                  <a:srgbClr val="000000"/>
                </a:solidFill>
              </a:rPr>
              <a:t>.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0" grpId="1"/>
      <p:bldP build="whole" bldLvl="1" animBg="1" rev="0" advAuto="0" spid="461" grpId="2"/>
      <p:bldP build="whole" bldLvl="1" animBg="1" rev="0" advAuto="0" spid="462" grpId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6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Complement</a:t>
            </a:r>
          </a:p>
        </p:txBody>
      </p:sp>
      <p:sp>
        <p:nvSpPr>
          <p:cNvPr id="466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67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8" name="Rectangle 6"/>
          <p:cNvSpPr txBox="1"/>
          <p:nvPr/>
        </p:nvSpPr>
        <p:spPr>
          <a:xfrm>
            <a:off x="350519" y="1642408"/>
            <a:ext cx="8595362" cy="1301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 </a:t>
            </a:r>
            <a:r>
              <a:rPr sz="2000">
                <a:solidFill>
                  <a:srgbClr val="FF0000"/>
                </a:solidFill>
              </a:rPr>
              <a:t>Definition:</a:t>
            </a:r>
            <a:r>
              <a:rPr sz="2000"/>
              <a:t> Let A and B be sets. The </a:t>
            </a:r>
            <a:r>
              <a:rPr sz="2000">
                <a:solidFill>
                  <a:srgbClr val="FF0000"/>
                </a:solidFill>
              </a:rPr>
              <a:t>difference of A and B</a:t>
            </a:r>
            <a:r>
              <a:rPr sz="2000"/>
              <a:t>, denoted by A - B, is the set containing those elements that are in A but not in B. The difference of A and B is also called the </a:t>
            </a:r>
            <a:r>
              <a:rPr sz="2000">
                <a:solidFill>
                  <a:srgbClr val="FF0000"/>
                </a:solidFill>
              </a:rPr>
              <a:t>complement of B with respect to A</a:t>
            </a:r>
            <a:r>
              <a:rPr sz="2000"/>
              <a:t>.</a:t>
            </a:r>
            <a:endParaRPr sz="2000"/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  <a:endParaRPr sz="1833"/>
          </a:p>
        </p:txBody>
      </p:sp>
      <p:sp>
        <p:nvSpPr>
          <p:cNvPr id="469" name="Rectangle 7"/>
          <p:cNvSpPr txBox="1"/>
          <p:nvPr/>
        </p:nvSpPr>
        <p:spPr>
          <a:xfrm>
            <a:off x="502919" y="3328377"/>
            <a:ext cx="8290562" cy="132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 </a:t>
            </a:r>
            <a:r>
              <a:rPr>
                <a:solidFill>
                  <a:srgbClr val="FF0000"/>
                </a:solidFill>
              </a:rPr>
              <a:t>Definition: </a:t>
            </a:r>
            <a:r>
              <a:t>Let U be the universal set. The </a:t>
            </a:r>
            <a:r>
              <a:rPr>
                <a:solidFill>
                  <a:srgbClr val="FF0000"/>
                </a:solidFill>
              </a:rPr>
              <a:t>complement of the set A</a:t>
            </a:r>
            <a:r>
              <a:t>, denoted by </a:t>
            </a:r>
            <a14:m>
              <m:oMath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</m:oMath>
            </a14:m>
            <a:r>
              <a:t> or </a:t>
            </a:r>
            <a14:m>
              <m:oMath>
                <m:sSu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sup>
                </m:sSup>
              </m:oMath>
            </a14:m>
            <a:r>
              <a:t>, is the complement of A with respect to U. Therefore, the complement of the set A is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</m:oMath>
            </a14:m>
            <a:r>
              <a:t>.  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𝑈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d>
                </m:oMath>
              </m:oMathPara>
            </a14:m>
            <a:endParaRPr sz="1833"/>
          </a:p>
        </p:txBody>
      </p:sp>
      <p:sp>
        <p:nvSpPr>
          <p:cNvPr id="470" name="Rectangle 8"/>
          <p:cNvSpPr txBox="1"/>
          <p:nvPr/>
        </p:nvSpPr>
        <p:spPr>
          <a:xfrm>
            <a:off x="502919" y="5029200"/>
            <a:ext cx="8138162" cy="124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FF0000"/>
                </a:solidFill>
              </a:defRPr>
            </a:pPr>
            <a:r>
              <a:t>Definition: </a:t>
            </a:r>
            <a:r>
              <a:rPr>
                <a:solidFill>
                  <a:srgbClr val="000000"/>
                </a:solidFill>
              </a:rPr>
              <a:t>Let A, B be two sets.</a:t>
            </a:r>
            <a:r>
              <a:t> </a:t>
            </a:r>
            <a:r>
              <a:rPr>
                <a:solidFill>
                  <a:srgbClr val="000000"/>
                </a:solidFill>
              </a:rPr>
              <a:t>The </a:t>
            </a:r>
            <a:r>
              <a:t>symmetric difference of A and B, </a:t>
            </a:r>
            <a:r>
              <a:rPr>
                <a:solidFill>
                  <a:srgbClr val="000000"/>
                </a:solidFill>
              </a:rPr>
              <a:t>denoted by  A </a:t>
            </a:r>
            <a:r>
              <a:rPr>
                <a:solidFill>
                  <a:srgbClr val="000000"/>
                </a:solidFill>
                <a:latin typeface="Symbol"/>
                <a:ea typeface="Symbol"/>
                <a:cs typeface="Symbol"/>
                <a:sym typeface="Symbol"/>
              </a:rPr>
              <a:t>Å </a:t>
            </a:r>
            <a:r>
              <a:rPr>
                <a:solidFill>
                  <a:srgbClr val="000000"/>
                </a:solidFill>
              </a:rPr>
              <a:t>B, is the set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  <a:p>
            <a:pPr>
              <a:lnSpc>
                <a:spcPct val="90000"/>
              </a:lnSpc>
              <a:defRPr sz="2000"/>
            </a:pPr>
          </a:p>
          <a:p>
            <a:pPr>
              <a:lnSpc>
                <a:spcPct val="90000"/>
              </a:lnSpc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⊕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e>
                  </m:d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1833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9" grpId="2"/>
      <p:bldP build="whole" bldLvl="1" animBg="1" rev="0" advAuto="0" spid="470" grpId="3"/>
      <p:bldP build="whole" bldLvl="1" animBg="1" rev="0" advAuto="0" spid="46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73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sp>
        <p:nvSpPr>
          <p:cNvPr id="474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475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6" name="Rectangle 6"/>
          <p:cNvSpPr txBox="1"/>
          <p:nvPr/>
        </p:nvSpPr>
        <p:spPr>
          <a:xfrm>
            <a:off x="426719" y="1676399"/>
            <a:ext cx="8138162" cy="901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Let 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</m:oMath>
            </a14:m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and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2200"/>
          </a:p>
        </p:txBody>
      </p:sp>
      <p:sp>
        <p:nvSpPr>
          <p:cNvPr id="477" name="Rectangle 28"/>
          <p:cNvSpPr txBox="1"/>
          <p:nvPr/>
        </p:nvSpPr>
        <p:spPr>
          <a:xfrm>
            <a:off x="350519" y="2844576"/>
            <a:ext cx="4480562" cy="271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Find the following sets:</a:t>
            </a:r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e>
                  </m:d>
                </m:oMath>
              </m:oMathPara>
            </a14:m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e>
                  </m:d>
                </m:oMath>
              </m:oMathPara>
            </a14:m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e>
                  </m:d>
                </m:oMath>
              </m:oMathPara>
            </a14:m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−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8,10</m:t>
                      </m:r>
                    </m:e>
                  </m:d>
                </m:oMath>
              </m:oMathPara>
            </a14:m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sup>
                  </m:s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e>
                  </m:d>
                </m:oMath>
              </m:oMathPara>
            </a14:m>
          </a:p>
          <a:p>
            <a:pPr marL="471600" indent="-471600">
              <a:buSzPct val="100000"/>
              <a:buAutoNum type="arabicPeriod" startAt="1"/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⊕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𝐵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2200"/>
          </a:p>
        </p:txBody>
      </p:sp>
      <p:grpSp>
        <p:nvGrpSpPr>
          <p:cNvPr id="496" name="Group 2"/>
          <p:cNvGrpSpPr/>
          <p:nvPr/>
        </p:nvGrpSpPr>
        <p:grpSpPr>
          <a:xfrm>
            <a:off x="5334000" y="1676399"/>
            <a:ext cx="3810000" cy="2749836"/>
            <a:chOff x="0" y="0"/>
            <a:chExt cx="3810000" cy="2749834"/>
          </a:xfrm>
        </p:grpSpPr>
        <p:sp>
          <p:nvSpPr>
            <p:cNvPr id="478" name="Rectangle 10"/>
            <p:cNvSpPr/>
            <p:nvPr/>
          </p:nvSpPr>
          <p:spPr>
            <a:xfrm>
              <a:off x="0" y="380999"/>
              <a:ext cx="3810000" cy="236883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96874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81" name="Group 16"/>
            <p:cNvGrpSpPr/>
            <p:nvPr/>
          </p:nvGrpSpPr>
          <p:grpSpPr>
            <a:xfrm>
              <a:off x="380999" y="620534"/>
              <a:ext cx="3124575" cy="2046467"/>
              <a:chOff x="0" y="0"/>
              <a:chExt cx="3124574" cy="2046466"/>
            </a:xfrm>
          </p:grpSpPr>
          <p:sp>
            <p:nvSpPr>
              <p:cNvPr id="479" name="Oval 17"/>
              <p:cNvSpPr/>
              <p:nvPr/>
            </p:nvSpPr>
            <p:spPr>
              <a:xfrm>
                <a:off x="0" y="0"/>
                <a:ext cx="2144978" cy="2046466"/>
              </a:xfrm>
              <a:prstGeom prst="ellipse">
                <a:avLst/>
              </a:prstGeom>
              <a:solidFill>
                <a:srgbClr val="C9C2D1"/>
              </a:solidFill>
              <a:ln w="9525" cap="flat">
                <a:solidFill>
                  <a:srgbClr val="C9C2D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solidFill>
                      <a:schemeClr val="accent2"/>
                    </a:solidFill>
                  </a:defRPr>
                </a:pPr>
              </a:p>
            </p:txBody>
          </p:sp>
          <p:sp>
            <p:nvSpPr>
              <p:cNvPr id="480" name="Oval 20"/>
              <p:cNvSpPr/>
              <p:nvPr/>
            </p:nvSpPr>
            <p:spPr>
              <a:xfrm>
                <a:off x="1300498" y="-1"/>
                <a:ext cx="1824077" cy="1729608"/>
              </a:xfrm>
              <a:prstGeom prst="ellipse">
                <a:avLst/>
              </a:prstGeom>
              <a:solidFill>
                <a:srgbClr val="CC0000">
                  <a:alpha val="50000"/>
                </a:srgbClr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482" name="TextBox 15"/>
            <p:cNvSpPr/>
            <p:nvPr/>
          </p:nvSpPr>
          <p:spPr>
            <a:xfrm>
              <a:off x="807719" y="9245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83" name="TextBox 16"/>
            <p:cNvSpPr/>
            <p:nvPr/>
          </p:nvSpPr>
          <p:spPr>
            <a:xfrm>
              <a:off x="502919" y="13055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84" name="TextBox 17"/>
            <p:cNvSpPr/>
            <p:nvPr/>
          </p:nvSpPr>
          <p:spPr>
            <a:xfrm>
              <a:off x="960119" y="15341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485" name="TextBox 18"/>
            <p:cNvSpPr/>
            <p:nvPr/>
          </p:nvSpPr>
          <p:spPr>
            <a:xfrm>
              <a:off x="1950720" y="15341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486" name="TextBox 19"/>
            <p:cNvSpPr/>
            <p:nvPr/>
          </p:nvSpPr>
          <p:spPr>
            <a:xfrm>
              <a:off x="1950720" y="10007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87" name="TextBox 20"/>
            <p:cNvSpPr/>
            <p:nvPr/>
          </p:nvSpPr>
          <p:spPr>
            <a:xfrm>
              <a:off x="2788920" y="1371600"/>
              <a:ext cx="599459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488" name="TextBox 21"/>
            <p:cNvSpPr/>
            <p:nvPr/>
          </p:nvSpPr>
          <p:spPr>
            <a:xfrm>
              <a:off x="2636520" y="7721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489" name="TextBox 22"/>
            <p:cNvSpPr/>
            <p:nvPr/>
          </p:nvSpPr>
          <p:spPr>
            <a:xfrm>
              <a:off x="198119" y="21437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90" name="TextBox 23"/>
            <p:cNvSpPr/>
            <p:nvPr/>
          </p:nvSpPr>
          <p:spPr>
            <a:xfrm>
              <a:off x="45719" y="15341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491" name="TextBox 24"/>
            <p:cNvSpPr/>
            <p:nvPr/>
          </p:nvSpPr>
          <p:spPr>
            <a:xfrm>
              <a:off x="2865120" y="2296179"/>
              <a:ext cx="289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492" name="TextBox 25"/>
            <p:cNvSpPr/>
            <p:nvPr/>
          </p:nvSpPr>
          <p:spPr>
            <a:xfrm>
              <a:off x="3398520" y="2209800"/>
              <a:ext cx="28956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493" name="TextBox 26"/>
            <p:cNvSpPr/>
            <p:nvPr/>
          </p:nvSpPr>
          <p:spPr>
            <a:xfrm>
              <a:off x="1066800" y="543579"/>
              <a:ext cx="3810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94" name="TextBox 27"/>
            <p:cNvSpPr/>
            <p:nvPr/>
          </p:nvSpPr>
          <p:spPr>
            <a:xfrm>
              <a:off x="2286000" y="380999"/>
              <a:ext cx="3810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95" name="TextBox 29"/>
            <p:cNvSpPr/>
            <p:nvPr/>
          </p:nvSpPr>
          <p:spPr>
            <a:xfrm>
              <a:off x="3276600" y="-1"/>
              <a:ext cx="3810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U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6" grpId="1"/>
      <p:bldP build="p" bldLvl="5" animBg="1" rev="0" advAuto="0" spid="477" grpId="3"/>
      <p:bldP build="whole" bldLvl="1" animBg="1" rev="0" advAuto="0" spid="476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49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Set Identities</a:t>
            </a:r>
          </a:p>
        </p:txBody>
      </p:sp>
      <p:sp>
        <p:nvSpPr>
          <p:cNvPr id="500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01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502" name="Table 6"/>
          <p:cNvGraphicFramePr/>
          <p:nvPr/>
        </p:nvGraphicFramePr>
        <p:xfrm>
          <a:off x="457200" y="1621807"/>
          <a:ext cx="8458200" cy="76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Identity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Identity laws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03" name="Table 2"/>
          <p:cNvGraphicFramePr/>
          <p:nvPr/>
        </p:nvGraphicFramePr>
        <p:xfrm>
          <a:off x="457200" y="2399727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Domination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Table 7"/>
          <p:cNvGraphicFramePr/>
          <p:nvPr/>
        </p:nvGraphicFramePr>
        <p:xfrm>
          <a:off x="457200" y="2778455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Idempotent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5" name="Table 8"/>
          <p:cNvGraphicFramePr/>
          <p:nvPr/>
        </p:nvGraphicFramePr>
        <p:xfrm>
          <a:off x="457200" y="3165144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Complementation law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6" name="Table 9"/>
          <p:cNvGraphicFramePr/>
          <p:nvPr/>
        </p:nvGraphicFramePr>
        <p:xfrm>
          <a:off x="457200" y="3638263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Commutative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7" name="Table 10"/>
          <p:cNvGraphicFramePr/>
          <p:nvPr/>
        </p:nvGraphicFramePr>
        <p:xfrm>
          <a:off x="457200" y="3984007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Associative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8" name="Table 11"/>
          <p:cNvGraphicFramePr/>
          <p:nvPr/>
        </p:nvGraphicFramePr>
        <p:xfrm>
          <a:off x="457200" y="4628863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Distributive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Table 12"/>
          <p:cNvGraphicFramePr/>
          <p:nvPr/>
        </p:nvGraphicFramePr>
        <p:xfrm>
          <a:off x="457200" y="5230503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De Morgan’s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Table 13"/>
          <p:cNvGraphicFramePr/>
          <p:nvPr/>
        </p:nvGraphicFramePr>
        <p:xfrm>
          <a:off x="457200" y="5646759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Absorption laws 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EBE3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Table 14"/>
          <p:cNvGraphicFramePr/>
          <p:nvPr/>
        </p:nvGraphicFramePr>
        <p:xfrm>
          <a:off x="457200" y="6014111"/>
          <a:ext cx="8458200" cy="381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9530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8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Complement laws</a:t>
                      </a:r>
                    </a:p>
                  </a:txBody>
                  <a:tcPr marL="45720" marR="45720" marT="45720" marB="45720" anchor="t" anchorCtr="0" horzOverflow="overflow">
                    <a:lnB w="38100">
                      <a:solidFill>
                        <a:srgbClr val="FFFFFF"/>
                      </a:solidFill>
                    </a:lnB>
                    <a:solidFill>
                      <a:srgbClr val="C3C2C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8" grpId="7"/>
      <p:bldP build="whole" bldLvl="1" animBg="1" rev="0" advAuto="0" spid="507" grpId="6"/>
      <p:bldP build="whole" bldLvl="1" animBg="1" rev="0" advAuto="0" spid="506" grpId="5"/>
      <p:bldP build="whole" bldLvl="1" animBg="1" rev="0" advAuto="0" spid="505" grpId="4"/>
      <p:bldP build="whole" bldLvl="1" animBg="1" rev="0" advAuto="0" spid="504" grpId="3"/>
      <p:bldP build="whole" bldLvl="1" animBg="1" rev="0" advAuto="0" spid="503" grpId="2"/>
      <p:bldP build="whole" bldLvl="1" animBg="1" rev="0" advAuto="0" spid="502" grpId="1"/>
      <p:bldP build="whole" bldLvl="1" animBg="1" rev="0" advAuto="0" spid="511" grpId="10"/>
      <p:bldP build="whole" bldLvl="1" animBg="1" rev="0" advAuto="0" spid="510" grpId="9"/>
      <p:bldP build="whole" bldLvl="1" animBg="1" rev="0" advAuto="0" spid="509" grpId="8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14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Prove that </a:t>
            </a:r>
            <a14:m>
              <m:oMath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t>  (Usual method)</a:t>
            </a:r>
            <a:endParaRPr sz="2934"/>
          </a:p>
        </p:txBody>
      </p:sp>
      <p:sp>
        <p:nvSpPr>
          <p:cNvPr id="515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16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7" name="Rectangle 6"/>
          <p:cNvSpPr txBox="1"/>
          <p:nvPr/>
        </p:nvSpPr>
        <p:spPr>
          <a:xfrm>
            <a:off x="502919" y="1608197"/>
            <a:ext cx="8138162" cy="681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We will prove that the two sets </a:t>
            </a:r>
            <a14:m>
              <m:oMath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</m:oMath>
            </a14:m>
            <a:r>
              <a:t> and </a:t>
            </a:r>
            <a14:m>
              <m:oMath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t> are equal by showing that each set is a subset of the other. </a:t>
            </a:r>
            <a:endParaRPr sz="1833"/>
          </a:p>
        </p:txBody>
      </p:sp>
      <p:sp>
        <p:nvSpPr>
          <p:cNvPr id="518" name="TextBox 7"/>
          <p:cNvSpPr txBox="1"/>
          <p:nvPr/>
        </p:nvSpPr>
        <p:spPr>
          <a:xfrm>
            <a:off x="609600" y="2438400"/>
            <a:ext cx="3352800" cy="2895849"/>
          </a:xfrm>
          <a:prstGeom prst="rect">
            <a:avLst/>
          </a:prstGeom>
          <a:solidFill>
            <a:srgbClr val="F4F3F6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Let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</m:oMath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m:rPr>
                      <m:sty m:val="p"/>
                    </m:rP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∉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¬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¬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⟹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∨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t>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∨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bar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bar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∴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t>.</a:t>
            </a:r>
            <a:endParaRPr sz="1833"/>
          </a:p>
        </p:txBody>
      </p:sp>
      <p:sp>
        <p:nvSpPr>
          <p:cNvPr id="519" name="TextBox 8"/>
          <p:cNvSpPr txBox="1"/>
          <p:nvPr/>
        </p:nvSpPr>
        <p:spPr>
          <a:xfrm>
            <a:off x="5029200" y="2442549"/>
            <a:ext cx="3276600" cy="2931368"/>
          </a:xfrm>
          <a:prstGeom prst="rect">
            <a:avLst/>
          </a:prstGeom>
          <a:solidFill>
            <a:srgbClr val="F4F3F6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Let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m:rPr>
                      <m:sty m:val="p"/>
                    </m:rP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∨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bar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¬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¬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m:rPr>
                      <m:sty m:val="p"/>
                    </m:rP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∉</m:t>
                  </m:r>
                  <m:d>
                    <m: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d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⟹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∈</m:t>
                  </m:r>
                  <m:bar>
                    <m:bar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d>
                        <m:d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bar>
                </m:oMath>
              </m:oMathPara>
            </a14:m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∴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t>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⊆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</m:oMath>
            </a14:m>
            <a:r>
              <a:t>.</a:t>
            </a:r>
            <a:endParaRPr sz="1833"/>
          </a:p>
        </p:txBody>
      </p:sp>
      <p:sp>
        <p:nvSpPr>
          <p:cNvPr id="520" name="TextBox 9"/>
          <p:cNvSpPr txBox="1"/>
          <p:nvPr/>
        </p:nvSpPr>
        <p:spPr>
          <a:xfrm>
            <a:off x="1371600" y="5791199"/>
            <a:ext cx="3657600" cy="389222"/>
          </a:xfrm>
          <a:prstGeom prst="rect">
            <a:avLst/>
          </a:prstGeom>
          <a:solidFill>
            <a:srgbClr val="F4F3F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Therefore   </a:t>
            </a:r>
            <a14:m>
              <m:oMath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rPr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t> </a:t>
            </a:r>
            <a:endParaRPr sz="1833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5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5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7" grpId="1"/>
      <p:bldP build="p" bldLvl="5" animBg="1" rev="0" advAuto="0" spid="519" grpId="3"/>
      <p:bldP build="whole" bldLvl="1" animBg="1" rev="0" advAuto="0" spid="520" grpId="4"/>
      <p:bldP build="p" bldLvl="5" animBg="1" rev="0" advAuto="0" spid="518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23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Prove that </a:t>
            </a:r>
            <a14:m>
              <m:oMath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xmlns:a="http://schemas.openxmlformats.org/drawingml/2006/main" sz="3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∩</m:t>
                </m:r>
                <m:bar>
                  <m:bar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br>
              <a:rPr b="0" sz="2934">
                <a:latin typeface="Cambria Math"/>
                <a:ea typeface="Cambria Math"/>
                <a:cs typeface="Cambria Math"/>
                <a:sym typeface="Cambria Math"/>
              </a:rPr>
            </a:br>
            <a:r>
              <a:t>(Set Builder Method)</a:t>
            </a:r>
            <a:endParaRPr sz="2934"/>
          </a:p>
        </p:txBody>
      </p:sp>
      <p:sp>
        <p:nvSpPr>
          <p:cNvPr id="524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25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6" name="Rectangle 6"/>
          <p:cNvSpPr txBox="1"/>
          <p:nvPr/>
        </p:nvSpPr>
        <p:spPr>
          <a:xfrm>
            <a:off x="2667000" y="4606171"/>
            <a:ext cx="4088531" cy="6560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bar>
                            <m:barPr>
                              <m:ctrlPr>
                                <a:rPr xmlns:a="http://schemas.openxmlformats.org/drawingml/2006/mai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pos m:val="top"/>
                            </m:barPr>
                            <m:e>
                              <m:r>
                                <a:rPr xmlns:a="http://schemas.openxmlformats.org/drawingml/2006/mai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bar>
                            <m:barPr>
                              <m:ctrlPr>
                                <a:rPr xmlns:a="http://schemas.openxmlformats.org/drawingml/2006/mai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pos m:val="top"/>
                            </m:barPr>
                            <m:e>
                              <m:r>
                                <a:rPr xmlns:a="http://schemas.openxmlformats.org/drawingml/2006/mai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</m:e>
                  </m:d>
                </m:oMath>
              </m:oMathPara>
            </a14:m>
            <a:endParaRPr sz="2800"/>
          </a:p>
        </p:txBody>
      </p:sp>
      <p:sp>
        <p:nvSpPr>
          <p:cNvPr id="527" name="Rectangle 7"/>
          <p:cNvSpPr txBox="1"/>
          <p:nvPr/>
        </p:nvSpPr>
        <p:spPr>
          <a:xfrm>
            <a:off x="2754520" y="5206691"/>
            <a:ext cx="3014423" cy="4373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bar>
                        <m:bar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d>
                </m:oMath>
              </m:oMathPara>
            </a14:m>
            <a:endParaRPr sz="2800"/>
          </a:p>
        </p:txBody>
      </p:sp>
      <p:sp>
        <p:nvSpPr>
          <p:cNvPr id="528" name="TextBox 8"/>
          <p:cNvSpPr txBox="1"/>
          <p:nvPr/>
        </p:nvSpPr>
        <p:spPr>
          <a:xfrm>
            <a:off x="2805277" y="5919192"/>
            <a:ext cx="1206275" cy="3192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bar>
                    <m:bar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bar>
                    <m:bar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e>
                  </m:bar>
                </m:oMath>
              </m:oMathPara>
            </a14:m>
            <a:endParaRPr sz="2800"/>
          </a:p>
        </p:txBody>
      </p:sp>
      <p:sp>
        <p:nvSpPr>
          <p:cNvPr id="529" name="TextBox 9"/>
          <p:cNvSpPr txBox="1"/>
          <p:nvPr/>
        </p:nvSpPr>
        <p:spPr>
          <a:xfrm>
            <a:off x="1561341" y="1721923"/>
            <a:ext cx="4248078" cy="4414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bar>
                    <m:bar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ba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  <a:endParaRPr sz="2800"/>
          </a:p>
        </p:txBody>
      </p:sp>
      <p:sp>
        <p:nvSpPr>
          <p:cNvPr id="530" name="TextBox 10"/>
          <p:cNvSpPr txBox="1"/>
          <p:nvPr/>
        </p:nvSpPr>
        <p:spPr>
          <a:xfrm>
            <a:off x="2760339" y="2382667"/>
            <a:ext cx="4101615" cy="7498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ctrlPr>
                                <a:rPr xmlns:a="http://schemas.openxmlformats.org/drawingml/2006/mai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xmlns:a="http://schemas.openxmlformats.org/drawingml/2006/mai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xmlns:a="http://schemas.openxmlformats.org/drawingml/2006/mai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xmlns:a="http://schemas.openxmlformats.org/drawingml/2006/main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e>
                  </m:d>
                </m:oMath>
              </m:oMathPara>
            </a14:m>
            <a:endParaRPr sz="3200"/>
          </a:p>
        </p:txBody>
      </p:sp>
      <p:sp>
        <p:nvSpPr>
          <p:cNvPr id="531" name="Rectangle 11"/>
          <p:cNvSpPr txBox="1"/>
          <p:nvPr/>
        </p:nvSpPr>
        <p:spPr>
          <a:xfrm>
            <a:off x="2771682" y="2916067"/>
            <a:ext cx="3795360" cy="4373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  <a:endParaRPr sz="2800"/>
          </a:p>
        </p:txBody>
      </p:sp>
      <p:sp>
        <p:nvSpPr>
          <p:cNvPr id="532" name="Rectangle 12"/>
          <p:cNvSpPr txBox="1"/>
          <p:nvPr/>
        </p:nvSpPr>
        <p:spPr>
          <a:xfrm>
            <a:off x="2855398" y="3493401"/>
            <a:ext cx="4265304" cy="4373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  <a:endParaRPr sz="2800"/>
          </a:p>
        </p:txBody>
      </p:sp>
      <p:sp>
        <p:nvSpPr>
          <p:cNvPr id="533" name="Rectangle 13"/>
          <p:cNvSpPr txBox="1"/>
          <p:nvPr/>
        </p:nvSpPr>
        <p:spPr>
          <a:xfrm>
            <a:off x="2814690" y="4069248"/>
            <a:ext cx="3799074" cy="4373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e>
                  </m:d>
                </m:oMath>
              </m:oMathPara>
            </a14:m>
            <a:endParaRPr sz="28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0" grpId="2"/>
      <p:bldP build="whole" bldLvl="1" animBg="1" rev="0" advAuto="0" spid="533" grpId="5"/>
      <p:bldP build="whole" bldLvl="1" animBg="1" rev="0" advAuto="0" spid="531" grpId="3"/>
      <p:bldP build="whole" bldLvl="1" animBg="1" rev="0" advAuto="0" spid="526" grpId="6"/>
      <p:bldP build="whole" bldLvl="1" animBg="1" rev="0" advAuto="0" spid="532" grpId="4"/>
      <p:bldP build="whole" bldLvl="1" animBg="1" rev="0" advAuto="0" spid="528" grpId="8"/>
      <p:bldP build="whole" bldLvl="1" animBg="1" rev="0" advAuto="0" spid="527" grpId="7"/>
      <p:bldP build="whole" bldLvl="1" animBg="1" rev="0" advAuto="0" spid="529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36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Prove that </a:t>
            </a:r>
            <a14:m>
              <m:oMath>
                <m:bar>
                  <m:bar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3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3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3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3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endParaRPr sz="3300"/>
          </a:p>
        </p:txBody>
      </p:sp>
      <p:sp>
        <p:nvSpPr>
          <p:cNvPr id="537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38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49" name="Group 2"/>
          <p:cNvGrpSpPr/>
          <p:nvPr/>
        </p:nvGrpSpPr>
        <p:grpSpPr>
          <a:xfrm>
            <a:off x="5562600" y="3886199"/>
            <a:ext cx="3581400" cy="2362201"/>
            <a:chOff x="0" y="0"/>
            <a:chExt cx="3581400" cy="2362200"/>
          </a:xfrm>
        </p:grpSpPr>
        <p:sp>
          <p:nvSpPr>
            <p:cNvPr id="539" name="Rectangle 6"/>
            <p:cNvSpPr/>
            <p:nvPr/>
          </p:nvSpPr>
          <p:spPr>
            <a:xfrm>
              <a:off x="0" y="69565"/>
              <a:ext cx="3581400" cy="229263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96874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42" name="Group 16"/>
            <p:cNvGrpSpPr/>
            <p:nvPr/>
          </p:nvGrpSpPr>
          <p:grpSpPr>
            <a:xfrm>
              <a:off x="152399" y="232901"/>
              <a:ext cx="3124575" cy="2046466"/>
              <a:chOff x="0" y="0"/>
              <a:chExt cx="3124574" cy="2046466"/>
            </a:xfrm>
          </p:grpSpPr>
          <p:sp>
            <p:nvSpPr>
              <p:cNvPr id="540" name="Oval 17"/>
              <p:cNvSpPr/>
              <p:nvPr/>
            </p:nvSpPr>
            <p:spPr>
              <a:xfrm>
                <a:off x="0" y="0"/>
                <a:ext cx="2144978" cy="2046466"/>
              </a:xfrm>
              <a:prstGeom prst="ellipse">
                <a:avLst/>
              </a:prstGeom>
              <a:solidFill>
                <a:srgbClr val="C9C2D1"/>
              </a:solidFill>
              <a:ln w="9525" cap="flat">
                <a:solidFill>
                  <a:srgbClr val="C9C2D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solidFill>
                      <a:schemeClr val="accent2"/>
                    </a:solidFill>
                  </a:defRPr>
                </a:pPr>
              </a:p>
            </p:txBody>
          </p:sp>
          <p:sp>
            <p:nvSpPr>
              <p:cNvPr id="541" name="Oval 20"/>
              <p:cNvSpPr/>
              <p:nvPr/>
            </p:nvSpPr>
            <p:spPr>
              <a:xfrm>
                <a:off x="1300498" y="-1"/>
                <a:ext cx="1824077" cy="1729608"/>
              </a:xfrm>
              <a:prstGeom prst="ellipse">
                <a:avLst/>
              </a:prstGeom>
              <a:solidFill>
                <a:srgbClr val="CC0000">
                  <a:alpha val="50000"/>
                </a:srgbClr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543" name="TextBox 10"/>
            <p:cNvSpPr txBox="1"/>
            <p:nvPr/>
          </p:nvSpPr>
          <p:spPr>
            <a:xfrm>
              <a:off x="76199" y="76199"/>
              <a:ext cx="381001" cy="486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44" name="TextBox 11"/>
            <p:cNvSpPr txBox="1"/>
            <p:nvPr/>
          </p:nvSpPr>
          <p:spPr>
            <a:xfrm>
              <a:off x="2057400" y="-1"/>
              <a:ext cx="381001" cy="486208"/>
            </a:xfrm>
            <a:prstGeom prst="rect">
              <a:avLst/>
            </a:prstGeom>
            <a:solidFill>
              <a:srgbClr val="FFFF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545" name="TextBox 12"/>
            <p:cNvSpPr txBox="1"/>
            <p:nvPr/>
          </p:nvSpPr>
          <p:spPr>
            <a:xfrm>
              <a:off x="609599" y="1000779"/>
              <a:ext cx="381001" cy="486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46" name="TextBox 13"/>
            <p:cNvSpPr txBox="1"/>
            <p:nvPr/>
          </p:nvSpPr>
          <p:spPr>
            <a:xfrm>
              <a:off x="2438400" y="619779"/>
              <a:ext cx="381001" cy="486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47" name="TextBox 14"/>
            <p:cNvSpPr txBox="1"/>
            <p:nvPr/>
          </p:nvSpPr>
          <p:spPr>
            <a:xfrm>
              <a:off x="1676400" y="848379"/>
              <a:ext cx="381001" cy="486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48" name="TextBox 15"/>
            <p:cNvSpPr txBox="1"/>
            <p:nvPr/>
          </p:nvSpPr>
          <p:spPr>
            <a:xfrm>
              <a:off x="838199" y="10179"/>
              <a:ext cx="381001" cy="486208"/>
            </a:xfrm>
            <a:prstGeom prst="rect">
              <a:avLst/>
            </a:prstGeom>
            <a:solidFill>
              <a:srgbClr val="FFFF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A</a:t>
              </a:r>
            </a:p>
          </p:txBody>
        </p:sp>
      </p:grpSp>
      <p:graphicFrame>
        <p:nvGraphicFramePr>
          <p:cNvPr id="550" name="Table 16"/>
          <p:cNvGraphicFramePr/>
          <p:nvPr/>
        </p:nvGraphicFramePr>
        <p:xfrm>
          <a:off x="812321" y="1758377"/>
          <a:ext cx="1295401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47700"/>
                <a:gridCol w="647700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51" name="Table 17"/>
          <p:cNvGraphicFramePr/>
          <p:nvPr/>
        </p:nvGraphicFramePr>
        <p:xfrm>
          <a:off x="2107720" y="1758377"/>
          <a:ext cx="914401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914400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AB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52" name="Table 18"/>
          <p:cNvGraphicFramePr/>
          <p:nvPr/>
        </p:nvGraphicFramePr>
        <p:xfrm>
          <a:off x="3030080" y="1758377"/>
          <a:ext cx="1066801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66800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3" name="Table 19"/>
          <p:cNvGraphicFramePr/>
          <p:nvPr/>
        </p:nvGraphicFramePr>
        <p:xfrm>
          <a:off x="4088920" y="1758377"/>
          <a:ext cx="647701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47700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54" name="Table 20"/>
          <p:cNvGraphicFramePr/>
          <p:nvPr/>
        </p:nvGraphicFramePr>
        <p:xfrm>
          <a:off x="4747424" y="1753424"/>
          <a:ext cx="647701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47700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55" name="Table 21"/>
          <p:cNvGraphicFramePr/>
          <p:nvPr/>
        </p:nvGraphicFramePr>
        <p:xfrm>
          <a:off x="5384320" y="1753424"/>
          <a:ext cx="1168880" cy="1854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168879"/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556" name="TextBox 22"/>
          <p:cNvSpPr txBox="1"/>
          <p:nvPr/>
        </p:nvSpPr>
        <p:spPr>
          <a:xfrm>
            <a:off x="807719" y="4267199"/>
            <a:ext cx="3794762" cy="448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Hence  </a:t>
            </a:r>
            <a14:m>
              <m:oMath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bar>
              </m:oMath>
            </a14:m>
            <a:r>
              <a:t>. 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55" grpId="6"/>
      <p:bldP build="whole" bldLvl="1" animBg="1" rev="0" advAuto="0" spid="554" grpId="5"/>
      <p:bldP build="whole" bldLvl="1" animBg="1" rev="0" advAuto="0" spid="553" grpId="4"/>
      <p:bldP build="whole" bldLvl="1" animBg="1" rev="0" advAuto="0" spid="552" grpId="3"/>
      <p:bldP build="whole" bldLvl="1" animBg="1" rev="0" advAuto="0" spid="551" grpId="2"/>
      <p:bldP build="whole" bldLvl="1" animBg="1" rev="0" advAuto="0" spid="550" grpId="1"/>
      <p:bldP build="whole" bldLvl="1" animBg="1" rev="0" advAuto="0" spid="556" grpId="7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59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Show that </a:t>
            </a:r>
            <a14:m>
              <m:oMath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32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3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br>
              <a:rPr b="0" sz="2934">
                <a:latin typeface="Cambria Math"/>
                <a:ea typeface="Cambria Math"/>
                <a:cs typeface="Cambria Math"/>
                <a:sym typeface="Cambria Math"/>
              </a:rPr>
            </a:br>
            <a:r>
              <a:t>Using Membership table Method </a:t>
            </a:r>
            <a:endParaRPr sz="2934"/>
          </a:p>
        </p:txBody>
      </p:sp>
      <p:sp>
        <p:nvSpPr>
          <p:cNvPr id="560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61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562" name="Table 6"/>
          <p:cNvGraphicFramePr/>
          <p:nvPr/>
        </p:nvGraphicFramePr>
        <p:xfrm>
          <a:off x="228600" y="1676400"/>
          <a:ext cx="1828800" cy="44957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85800"/>
                <a:gridCol w="609600"/>
                <a:gridCol w="533400"/>
              </a:tblGrid>
              <a:tr h="499532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63" name="Table 7"/>
          <p:cNvGraphicFramePr/>
          <p:nvPr/>
        </p:nvGraphicFramePr>
        <p:xfrm>
          <a:off x="2057400" y="1676400"/>
          <a:ext cx="838200" cy="449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838199"/>
              </a:tblGrid>
              <a:tr h="499532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64" name="Table 8"/>
          <p:cNvGraphicFramePr/>
          <p:nvPr/>
        </p:nvGraphicFramePr>
        <p:xfrm>
          <a:off x="2895600" y="1676400"/>
          <a:ext cx="1524000" cy="449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524000"/>
              </a:tblGrid>
              <a:tr h="499532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65" name="Table 9"/>
          <p:cNvGraphicFramePr/>
          <p:nvPr/>
        </p:nvGraphicFramePr>
        <p:xfrm>
          <a:off x="4419600" y="1676395"/>
          <a:ext cx="1063978" cy="449580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63978"/>
              </a:tblGrid>
              <a:tr h="499534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66" name="Table 10"/>
          <p:cNvGraphicFramePr/>
          <p:nvPr/>
        </p:nvGraphicFramePr>
        <p:xfrm>
          <a:off x="5486400" y="1676401"/>
          <a:ext cx="1063978" cy="449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63978"/>
              </a:tblGrid>
              <a:tr h="499532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/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567" name="Table 11"/>
          <p:cNvGraphicFramePr/>
          <p:nvPr/>
        </p:nvGraphicFramePr>
        <p:xfrm>
          <a:off x="6553200" y="1676395"/>
          <a:ext cx="2373490" cy="449580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73489"/>
              </a:tblGrid>
              <a:tr h="499534">
                <a:tc>
                  <a:txBody>
                    <a:bodyPr/>
                    <a:lstStyle/>
                    <a:p>
                      <a:pPr algn="ctr">
                        <a:defRPr b="0" sz="2000">
                          <a:latin typeface="Cambria Math"/>
                          <a:ea typeface="Cambria Math"/>
                          <a:cs typeface="Cambria Math"/>
                          <a:sym typeface="Cambria Math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995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7" grpId="6"/>
      <p:bldP build="whole" bldLvl="1" animBg="1" rev="0" advAuto="0" spid="565" grpId="4"/>
      <p:bldP build="whole" bldLvl="1" animBg="1" rev="0" advAuto="0" spid="563" grpId="2"/>
      <p:bldP build="whole" bldLvl="1" animBg="1" rev="0" advAuto="0" spid="566" grpId="5"/>
      <p:bldP build="whole" bldLvl="1" animBg="1" rev="0" advAuto="0" spid="562" grpId="1"/>
      <p:bldP build="whole" bldLvl="1" animBg="1" rev="0" advAuto="0" spid="564" grpId="3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70" name="Title 1"/>
          <p:cNvSpPr txBox="1"/>
          <p:nvPr>
            <p:ph type="title"/>
          </p:nvPr>
        </p:nvSpPr>
        <p:spPr>
          <a:xfrm>
            <a:off x="152400" y="304799"/>
            <a:ext cx="8763000" cy="1249364"/>
          </a:xfrm>
          <a:prstGeom prst="rect">
            <a:avLst/>
          </a:prstGeom>
        </p:spPr>
        <p:txBody>
          <a:bodyPr/>
          <a:lstStyle/>
          <a:p>
            <a:pPr/>
            <a:r>
              <a:t>Show that </a:t>
            </a:r>
            <a14:m>
              <m:oMath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endParaRPr sz="3300"/>
          </a:p>
        </p:txBody>
      </p:sp>
      <p:sp>
        <p:nvSpPr>
          <p:cNvPr id="57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72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3" name="Rectangle 6"/>
          <p:cNvSpPr txBox="1"/>
          <p:nvPr/>
        </p:nvSpPr>
        <p:spPr>
          <a:xfrm>
            <a:off x="883919" y="1600200"/>
            <a:ext cx="7376162" cy="4271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400"/>
            </a:pPr>
            <a:r>
              <a:t>Let 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t> </a:t>
            </a: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∨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∨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∴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∀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</a:p>
          <a:p>
            <a:pPr>
              <a:lnSpc>
                <a:spcPct val="150000"/>
              </a:lnSpc>
              <a:defRPr sz="2400"/>
            </a:pPr>
            <a:r>
              <a:t>Therefore,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</m:oMath>
            </a14:m>
            <a:r>
              <a:t>.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73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76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sp>
        <p:nvSpPr>
          <p:cNvPr id="577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78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9" name="Rectangle 6"/>
          <p:cNvSpPr txBox="1"/>
          <p:nvPr/>
        </p:nvSpPr>
        <p:spPr>
          <a:xfrm>
            <a:off x="502919" y="1828799"/>
            <a:ext cx="8138162" cy="84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Let A, B, C be sets. Using the set identities, Show that</a:t>
            </a:r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bar>
                    <m:bar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e>
                  </m:ba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bar>
                        <m:bar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bar>
                    <m:bar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pos m:val="top"/>
                    </m:bar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</m:ba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2200"/>
          </a:p>
        </p:txBody>
      </p:sp>
      <p:sp>
        <p:nvSpPr>
          <p:cNvPr id="580" name="TextBox 7"/>
          <p:cNvSpPr txBox="1"/>
          <p:nvPr/>
        </p:nvSpPr>
        <p:spPr>
          <a:xfrm>
            <a:off x="685800" y="3177018"/>
            <a:ext cx="6970531" cy="35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d>
                      <m:d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e>
                </m:ba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(by De Morgan’s law)</a:t>
            </a:r>
            <a:endParaRPr sz="2200"/>
          </a:p>
        </p:txBody>
      </p:sp>
      <p:sp>
        <p:nvSpPr>
          <p:cNvPr id="581" name="Rectangle 8"/>
          <p:cNvSpPr txBox="1"/>
          <p:nvPr/>
        </p:nvSpPr>
        <p:spPr>
          <a:xfrm>
            <a:off x="2261818" y="3827629"/>
            <a:ext cx="5602367" cy="491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( by De Morgan’s law) </a:t>
            </a:r>
            <a:endParaRPr sz="2200"/>
          </a:p>
        </p:txBody>
      </p:sp>
      <p:sp>
        <p:nvSpPr>
          <p:cNvPr id="582" name="Rectangle 9"/>
          <p:cNvSpPr txBox="1"/>
          <p:nvPr/>
        </p:nvSpPr>
        <p:spPr>
          <a:xfrm>
            <a:off x="2297391" y="4340547"/>
            <a:ext cx="5675911" cy="491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(by Commutative law) </a:t>
            </a:r>
            <a:endParaRPr sz="2200"/>
          </a:p>
        </p:txBody>
      </p:sp>
      <p:sp>
        <p:nvSpPr>
          <p:cNvPr id="583" name="Rectangle 10"/>
          <p:cNvSpPr txBox="1"/>
          <p:nvPr/>
        </p:nvSpPr>
        <p:spPr>
          <a:xfrm>
            <a:off x="2279642" y="4951574"/>
            <a:ext cx="5523512" cy="491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ctrlP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bar>
                  <m:bar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pos m:val="top"/>
                  </m:bar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</m:ba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(by Commutative law) 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1" grpId="2"/>
      <p:bldP build="whole" bldLvl="1" animBg="1" rev="0" advAuto="0" spid="583" grpId="4"/>
      <p:bldP build="whole" bldLvl="1" animBg="1" rev="0" advAuto="0" spid="580" grpId="1"/>
      <p:bldP build="whole" bldLvl="1" animBg="1" rev="0" advAuto="0" spid="582" grpId="3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86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 Show that </a:t>
            </a:r>
            <a:br/>
            <a14:m>
              <m:oMath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3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e>
                </m:d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3600" i="1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endParaRPr sz="3300"/>
          </a:p>
        </p:txBody>
      </p:sp>
      <p:sp>
        <p:nvSpPr>
          <p:cNvPr id="587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88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9" name="TextBox 6"/>
          <p:cNvSpPr txBox="1"/>
          <p:nvPr/>
        </p:nvSpPr>
        <p:spPr>
          <a:xfrm>
            <a:off x="274319" y="1524000"/>
            <a:ext cx="6512081" cy="4669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𝑅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𝑅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e>
                </m:d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>
              <a:defRPr sz="2400"/>
            </a:pPr>
            <a:r>
              <a:t>Therefore,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𝑄</m:t>
                </m:r>
              </m:oMath>
            </a14:m>
            <a:r>
              <a:t>.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9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592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Example </a:t>
            </a:r>
          </a:p>
        </p:txBody>
      </p:sp>
      <p:sp>
        <p:nvSpPr>
          <p:cNvPr id="593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594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5" name="TextBox 6"/>
          <p:cNvSpPr txBox="1"/>
          <p:nvPr/>
        </p:nvSpPr>
        <p:spPr>
          <a:xfrm>
            <a:off x="502919" y="1600199"/>
            <a:ext cx="8138162" cy="102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For any three subsets A, B, C of a universal set U, show that  </a:t>
            </a:r>
          </a:p>
          <a:p>
            <a:pPr marL="314400" indent="-314400">
              <a:buSzPct val="100000"/>
              <a:buAutoNum type="arabicPeriod" startAt="1"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14400" indent="-314400">
              <a:buSzPct val="100000"/>
              <a:buAutoNum type="arabicPeriod" startAt="1"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.</a:t>
            </a:r>
            <a:endParaRPr sz="1833"/>
          </a:p>
        </p:txBody>
      </p:sp>
      <p:sp>
        <p:nvSpPr>
          <p:cNvPr id="596" name="TextBox 7"/>
          <p:cNvSpPr txBox="1"/>
          <p:nvPr/>
        </p:nvSpPr>
        <p:spPr>
          <a:xfrm>
            <a:off x="304800" y="2737641"/>
            <a:ext cx="2362200" cy="2207305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:r>
              <a:t>1.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∉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limUp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⟺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∴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m:rPr>
                    <m:nor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TextBox 8"/>
          <p:cNvSpPr txBox="1"/>
          <p:nvPr/>
        </p:nvSpPr>
        <p:spPr>
          <a:xfrm>
            <a:off x="3657600" y="3034022"/>
            <a:ext cx="5029200" cy="2829726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2.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</m:oMath>
            </a14:m>
            <a:r>
              <a:t>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d>
                          <m:dPr>
                            <m:ctrlPr>
                              <a:rPr xmlns:a="http://schemas.openxmlformats.org/drawingml/2006/ma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xmlns:a="http://schemas.openxmlformats.org/drawingml/2006/ma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xmlns:a="http://schemas.openxmlformats.org/drawingml/2006/ma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xmlns:a="http://schemas.openxmlformats.org/drawingml/2006/ma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(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is associative)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000"/>
            </a:pPr>
            <a:r>
              <a:t>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limUpp>
                  <m:e>
                    <m:d>
                      <m:dPr>
                        <m:ctrl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limUp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t>     ( De Morgan’s Law) </a:t>
            </a:r>
          </a:p>
          <a:p>
            <a:pPr>
              <a:defRPr sz="2000"/>
            </a:pPr>
            <a:r>
              <a:t>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limUpp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limUp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t>    ( De Morgan’s Law) </a:t>
            </a:r>
          </a:p>
          <a:p>
            <a:pPr>
              <a:defRPr sz="2000"/>
            </a:pPr>
            <a:r>
              <a:t>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t>            (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 is associative)</a:t>
            </a:r>
          </a:p>
          <a:p>
            <a:pPr/>
          </a:p>
          <a:p>
            <a:pPr/>
            <a:r>
              <a:t>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∴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5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97" grpId="2"/>
      <p:bldP build="p" bldLvl="5" animBg="1" rev="0" advAuto="0" spid="596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00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Exercise</a:t>
            </a:r>
          </a:p>
        </p:txBody>
      </p:sp>
      <p:sp>
        <p:nvSpPr>
          <p:cNvPr id="601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02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3" name="Rectangle 6"/>
          <p:cNvSpPr txBox="1"/>
          <p:nvPr/>
        </p:nvSpPr>
        <p:spPr>
          <a:xfrm>
            <a:off x="502919" y="1676400"/>
            <a:ext cx="8138162" cy="44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Using set identities, show that </a:t>
            </a:r>
            <a14:m>
              <m:oMath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</m:d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t>.</a:t>
            </a:r>
            <a:endParaRPr sz="2200"/>
          </a:p>
        </p:txBody>
      </p:sp>
      <p:sp>
        <p:nvSpPr>
          <p:cNvPr id="604" name="Rectangle 7"/>
          <p:cNvSpPr txBox="1"/>
          <p:nvPr/>
        </p:nvSpPr>
        <p:spPr>
          <a:xfrm>
            <a:off x="579119" y="2285999"/>
            <a:ext cx="8061962" cy="359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d>
                      <m:dPr>
                        <m:ctrl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        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endParaRPr sz="1650"/>
          </a:p>
        </p:txBody>
      </p:sp>
      <p:sp>
        <p:nvSpPr>
          <p:cNvPr id="605" name="TextBox 9"/>
          <p:cNvSpPr txBox="1"/>
          <p:nvPr/>
        </p:nvSpPr>
        <p:spPr>
          <a:xfrm>
            <a:off x="2438399" y="2761420"/>
            <a:ext cx="5480626" cy="582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limUpp>
                  <m:e>
                    <m:d>
                      <m:dPr>
                        <m:ctrl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limUpp>
                          <m:e>
                            <m: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¯</m:t>
                            </m:r>
                          </m:lim>
                        </m:limUpp>
                      </m:e>
                    </m:d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         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06" name="TextBox 10"/>
          <p:cNvSpPr txBox="1"/>
          <p:nvPr/>
        </p:nvSpPr>
        <p:spPr>
          <a:xfrm>
            <a:off x="2438399" y="3218620"/>
            <a:ext cx="5726283" cy="566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De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Morgan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’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07" name="TextBox 11"/>
          <p:cNvSpPr txBox="1"/>
          <p:nvPr/>
        </p:nvSpPr>
        <p:spPr>
          <a:xfrm>
            <a:off x="2438399" y="3637002"/>
            <a:ext cx="5657750" cy="688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d>
                      <m:dPr>
                        <m:ctrl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limUpp>
                          <m:e>
                            <m: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¯</m:t>
                            </m:r>
                          </m:lim>
                        </m:limUpp>
                      </m:e>
                    </m:d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d>
                      <m:dPr>
                        <m:ctrl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limUpp>
                          <m:e>
                            <m: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xmlns:a="http://schemas.openxmlformats.org/drawingml/2006/mai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¯</m:t>
                            </m:r>
                          </m:lim>
                        </m:limUpp>
                      </m:e>
                    </m:d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istributive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08" name="TextBox 12"/>
          <p:cNvSpPr txBox="1"/>
          <p:nvPr/>
        </p:nvSpPr>
        <p:spPr>
          <a:xfrm>
            <a:off x="2438399" y="4018002"/>
            <a:ext cx="5452231" cy="566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Associative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09" name="TextBox 13"/>
          <p:cNvSpPr txBox="1"/>
          <p:nvPr/>
        </p:nvSpPr>
        <p:spPr>
          <a:xfrm>
            <a:off x="2438399" y="4399002"/>
            <a:ext cx="5608340" cy="566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Idempotent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10" name="TextBox 14"/>
          <p:cNvSpPr txBox="1"/>
          <p:nvPr/>
        </p:nvSpPr>
        <p:spPr>
          <a:xfrm>
            <a:off x="2438399" y="4780002"/>
            <a:ext cx="5538102" cy="566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["/>
                    <m:endChr m:val="]"/>
                  </m:dPr>
                  <m:e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Upp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lim>
                        <m:r>
                          <m:rPr>
                            <m:sty m:val="p"/>
                          </m:rP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¯</m:t>
                        </m:r>
                      </m:lim>
                    </m:limUp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d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    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Distributive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11" name="TextBox 15"/>
          <p:cNvSpPr txBox="1"/>
          <p:nvPr/>
        </p:nvSpPr>
        <p:spPr>
          <a:xfrm>
            <a:off x="2438399" y="5161002"/>
            <a:ext cx="5500436" cy="534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limUpp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                      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Absorption</m:t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Law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  <p:sp>
        <p:nvSpPr>
          <p:cNvPr id="612" name="TextBox 16"/>
          <p:cNvSpPr txBox="1"/>
          <p:nvPr/>
        </p:nvSpPr>
        <p:spPr>
          <a:xfrm>
            <a:off x="2438399" y="5542002"/>
            <a:ext cx="5386162" cy="534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                                       (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∵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limUpp>
                  <m:e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¯</m:t>
                    </m:r>
                  </m:lim>
                </m:limUp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     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06" grpId="3"/>
      <p:bldP build="whole" bldLvl="1" animBg="1" rev="0" advAuto="0" spid="609" grpId="6"/>
      <p:bldP build="whole" bldLvl="1" animBg="1" rev="0" advAuto="0" spid="604" grpId="1"/>
      <p:bldP build="whole" bldLvl="1" animBg="1" rev="0" advAuto="0" spid="608" grpId="5"/>
      <p:bldP build="whole" bldLvl="1" animBg="1" rev="0" advAuto="0" spid="612" grpId="9"/>
      <p:bldP build="whole" bldLvl="1" animBg="1" rev="0" advAuto="0" spid="611" grpId="8"/>
      <p:bldP build="whole" bldLvl="1" animBg="1" rev="0" advAuto="0" spid="605" grpId="2"/>
      <p:bldP build="whole" bldLvl="1" animBg="1" rev="0" advAuto="0" spid="610" grpId="7"/>
      <p:bldP build="whole" bldLvl="1" animBg="1" rev="0" advAuto="0" spid="607" grpId="4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1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Generalized Unions and Intersections </a:t>
            </a:r>
          </a:p>
        </p:txBody>
      </p:sp>
      <p:sp>
        <p:nvSpPr>
          <p:cNvPr id="616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17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8" name="TextBox 6"/>
          <p:cNvSpPr txBox="1"/>
          <p:nvPr/>
        </p:nvSpPr>
        <p:spPr>
          <a:xfrm>
            <a:off x="502919" y="1695024"/>
            <a:ext cx="8138162" cy="4377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Let  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</m:oMath>
            </a14:m>
            <a:r>
              <a:t> be </a:t>
            </a:r>
            <a:r>
              <a:rPr i="1"/>
              <a:t>n</a:t>
            </a:r>
            <a:r>
              <a:t> sets.  Then</a:t>
            </a:r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The union of the sets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</m:oMath>
            </a14:m>
            <a:r>
              <a:rPr baseline="-25000"/>
              <a:t>  </a:t>
            </a:r>
            <a:r>
              <a:t>is the set that contains those elements that are members of at least one set in the collection.</a:t>
            </a:r>
          </a:p>
          <a:p>
            <a:pPr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⋯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⋃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/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e>
                  </m:d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</a:p>
          <a:p>
            <a:pPr marL="457200" indent="-457200">
              <a:buSzPct val="100000"/>
              <a:buFont typeface="Arial"/>
              <a:buChar char="•"/>
              <a:defRPr sz="2400"/>
            </a:pPr>
            <a:r>
              <a:t>The intersection of the sets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…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</m:oMath>
            </a14:m>
            <a:r>
              <a:rPr baseline="-25000"/>
              <a:t>  </a:t>
            </a:r>
            <a:r>
              <a:t>is the set that contains those elements that are members of all the sets in the collection.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algn="ctr">
              <a:defRPr sz="24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⋯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⋂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egChr m:val="{"/>
                          <m:endChr m:val="}"/>
                        </m:d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e>
                              <m:r>
                                <a:rPr xmlns:a="http://schemas.openxmlformats.org/drawingml/2006/ma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xmlns:a="http://schemas.openxmlformats.org/drawingml/2006/mai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/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e>
                  </m:nary>
                </m:oMath>
              </m:oMathPara>
            </a14:m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618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21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sp>
        <p:nvSpPr>
          <p:cNvPr id="622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23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4" name="TextBox 6"/>
          <p:cNvSpPr txBox="1"/>
          <p:nvPr/>
        </p:nvSpPr>
        <p:spPr>
          <a:xfrm>
            <a:off x="283766" y="1552968"/>
            <a:ext cx="8747761" cy="4676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1900"/>
            </a:pPr>
            <a:r>
              <a:t>For </a:t>
            </a: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𝑖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2,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3,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 let  </a:t>
            </a: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e>
                </m:d>
              </m:oMath>
            </a14:m>
            <a:r>
              <a:t>. Then find</a:t>
            </a:r>
          </a:p>
          <a:p>
            <a:pPr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nary>
                    <m:naryPr>
                      <m:ctrlP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⋃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m:rPr>
                      <m:sty m:val="p"/>
                    </m:rP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m:rPr>
                      <m:sty m:val="p"/>
                    </m:rP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m:rPr>
                      <m:sty m:val="p"/>
                    </m:rP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nary>
                    <m:naryPr>
                      <m:ctrlP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⋂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2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</a:p>
          <a:p>
            <a:pPr>
              <a:defRPr sz="1900"/>
            </a:pPr>
          </a:p>
          <a:p>
            <a:pPr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e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p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e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p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⋮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e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p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900"/>
            </a:pPr>
          </a:p>
          <a:p>
            <a:pPr>
              <a:lnSpc>
                <a:spcPct val="150000"/>
              </a:lnSpc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∴</m:t>
                </m:r>
                <m:nary>
                  <m:nary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chr m:val="⋃"/>
                    <m:limLoc m:val="undOvr"/>
                    <m:grow m:val="0"/>
                    <m:subHide m:val="off"/>
                    <m:supHide m:val="off"/>
                  </m:naryPr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p>
                  <m:e>
                    <m:sSub>
                      <m:e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</m:nary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defRPr sz="19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nary>
                  <m:nary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chr m:val="⋂"/>
                    <m:limLoc m:val="undOvr"/>
                    <m:grow m:val="0"/>
                    <m:subHide m:val="off"/>
                    <m:supHide m:val="off"/>
                  </m:naryPr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p>
                  <m:e>
                    <m:sSub>
                      <m:e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xmlns:a="http://schemas.openxmlformats.org/drawingml/2006/main" sz="2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e>
                </m:nary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e>
                  <m:sup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p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6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62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27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sp>
        <p:nvSpPr>
          <p:cNvPr id="628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29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0" name="Rectangle 6"/>
          <p:cNvSpPr txBox="1"/>
          <p:nvPr/>
        </p:nvSpPr>
        <p:spPr>
          <a:xfrm>
            <a:off x="502919" y="1676400"/>
            <a:ext cx="8138162" cy="118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/>
            </a:pPr>
            <a:r>
              <a:t>For </a:t>
            </a: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𝑖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2,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3,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 let  </a:t>
            </a:r>
            <a14:m>
              <m:oMath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e>
                </m:d>
              </m:oMath>
            </a14:m>
            <a:r>
              <a:t>. Then find</a:t>
            </a:r>
          </a:p>
          <a:p>
            <a:pPr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nary>
                    <m:naryPr>
                      <m:ctrlP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⋃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m:rPr>
                      <m:sty m:val="p"/>
                    </m:rP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m:rPr>
                      <m:sty m:val="p"/>
                    </m:rP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m:rPr>
                      <m:sty m:val="p"/>
                    </m:rP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nary>
                    <m:naryPr>
                      <m:ctrlP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⋂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2017"/>
          </a:p>
        </p:txBody>
      </p:sp>
      <p:sp>
        <p:nvSpPr>
          <p:cNvPr id="631" name="Rectangle 7"/>
          <p:cNvSpPr txBox="1"/>
          <p:nvPr/>
        </p:nvSpPr>
        <p:spPr>
          <a:xfrm>
            <a:off x="655319" y="3049249"/>
            <a:ext cx="2651762" cy="179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⋮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e>
                </m:d>
              </m:oMath>
            </a14:m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2200"/>
            </a:pPr>
            <a:r>
              <a:t> </a:t>
            </a:r>
            <a14:m>
              <m:oMath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⋮</m:t>
                </m:r>
              </m:oMath>
            </a14:m>
            <a:endParaRPr sz="2017"/>
          </a:p>
        </p:txBody>
      </p:sp>
      <p:sp>
        <p:nvSpPr>
          <p:cNvPr id="632" name="TextBox 8"/>
          <p:cNvSpPr txBox="1"/>
          <p:nvPr/>
        </p:nvSpPr>
        <p:spPr>
          <a:xfrm>
            <a:off x="3886200" y="4190999"/>
            <a:ext cx="4038600" cy="1595527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∴</m:t>
                  </m:r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/>
                  </m:r>
                  <m:nary>
                    <m:naryPr>
                      <m:ctrlP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⋃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e>
                  </m:nary>
                  <m:sSup>
                    <m:e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</m:e>
                    <m:sup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sup>
                  </m:sSup>
                </m:oMath>
              </m:oMathPara>
            </a14:m>
          </a:p>
          <a:p>
            <a:pPr/>
          </a:p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nary>
                    <m:naryPr>
                      <m:ctrlP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chr m:val="⋂"/>
                      <m:limLoc m:val="undOvr"/>
                      <m:grow m:val="0"/>
                      <m:subHide m:val="off"/>
                      <m:supHide m:val="off"/>
                    </m:naryPr>
                    <m:sub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  <m:e>
                      <m:sSub>
                        <m:e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r>
                        <a:rPr xmlns:a="http://schemas.openxmlformats.org/drawingml/2006/mai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e>
                  </m:d>
                  <m:r>
                    <a:rPr xmlns:a="http://schemas.openxmlformats.org/drawingml/2006/main" sz="1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165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631" grpId="1"/>
      <p:bldP build="p" bldLvl="5" animBg="1" rev="0" advAuto="0" spid="632" grpId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35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Computer Representation of Sets</a:t>
            </a:r>
          </a:p>
        </p:txBody>
      </p:sp>
      <p:sp>
        <p:nvSpPr>
          <p:cNvPr id="636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37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8" name="Rectangle 6"/>
          <p:cNvSpPr txBox="1"/>
          <p:nvPr/>
        </p:nvSpPr>
        <p:spPr>
          <a:xfrm>
            <a:off x="350519" y="1676399"/>
            <a:ext cx="8519162" cy="2488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If we store the elements of the set in an unordered fashion, the operations of computing the union, intersection, or difference of two sets would be time-consuming.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Assume that the universal set U is </a:t>
            </a:r>
            <a:r>
              <a:rPr b="1"/>
              <a:t>finite</a:t>
            </a:r>
            <a:r>
              <a:t>. Let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⋯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</m:oMath>
            </a14:m>
            <a:r>
              <a:t> be an arbitrary ordering of the elements of U. Then any subset A of U can be represented with the bit string of length n, where the i</a:t>
            </a:r>
            <a:r>
              <a:rPr baseline="30000"/>
              <a:t>th</a:t>
            </a:r>
            <a:r>
              <a:t> bit in this string is 1 if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belongs to A and is 0 if 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does not belong to A.</a:t>
            </a:r>
            <a:endParaRPr sz="1833"/>
          </a:p>
        </p:txBody>
      </p:sp>
      <p:sp>
        <p:nvSpPr>
          <p:cNvPr id="639" name="TextBox 8"/>
          <p:cNvSpPr txBox="1"/>
          <p:nvPr/>
        </p:nvSpPr>
        <p:spPr>
          <a:xfrm>
            <a:off x="502919" y="4495800"/>
            <a:ext cx="8366762" cy="159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/>
            </a:pPr>
            <a:r>
              <a:t>Example:</a:t>
            </a:r>
            <a:r>
              <a:rPr b="0" sz="1800"/>
              <a:t> </a:t>
            </a:r>
            <a:r>
              <a:rPr b="0"/>
              <a:t>Let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</m:d>
              </m:oMath>
            </a14:m>
            <a:r>
              <a:rPr b="0"/>
              <a:t>. Then</a:t>
            </a:r>
            <a:endParaRPr b="0"/>
          </a:p>
          <a:p>
            <a:pPr>
              <a:defRPr sz="2000"/>
            </a:pPr>
            <a:r>
              <a:t>The subset of all odd integers in U is represented by the bit string of length 10 “1010101010”.</a:t>
            </a:r>
          </a:p>
          <a:p>
            <a:pPr>
              <a:defRPr sz="2000"/>
            </a:pPr>
            <a:r>
              <a:t>the subset of integers not exceeding 5 in U is represented by the bit string “1111100000”.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639" grpId="2"/>
      <p:bldP build="p" bldLvl="5" animBg="1" rev="0" advAuto="0" spid="638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Footer Placeholder 4"/>
          <p:cNvSpPr txBox="1"/>
          <p:nvPr/>
        </p:nvSpPr>
        <p:spPr>
          <a:xfrm>
            <a:off x="1112519" y="6494489"/>
            <a:ext cx="44043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000"/>
            </a:lvl1pPr>
          </a:lstStyle>
          <a:p>
            <a:pPr/>
            <a:r>
              <a:t>SCS 1302  Discrete Mathematics I      Prof D D Karunaratna</a:t>
            </a:r>
          </a:p>
        </p:txBody>
      </p:sp>
      <p:sp>
        <p:nvSpPr>
          <p:cNvPr id="642" name="Title 1"/>
          <p:cNvSpPr txBox="1"/>
          <p:nvPr>
            <p:ph type="title"/>
          </p:nvPr>
        </p:nvSpPr>
        <p:spPr>
          <a:xfrm>
            <a:off x="457200" y="304799"/>
            <a:ext cx="8229600" cy="1249364"/>
          </a:xfrm>
          <a:prstGeom prst="rect">
            <a:avLst/>
          </a:prstGeom>
        </p:spPr>
        <p:txBody>
          <a:bodyPr/>
          <a:lstStyle/>
          <a:p>
            <a:pPr/>
            <a:r>
              <a:t>Set Operations on Bit Strings</a:t>
            </a:r>
          </a:p>
        </p:txBody>
      </p:sp>
      <p:sp>
        <p:nvSpPr>
          <p:cNvPr id="643" name="Date Placeholder 3"/>
          <p:cNvSpPr txBox="1"/>
          <p:nvPr/>
        </p:nvSpPr>
        <p:spPr>
          <a:xfrm>
            <a:off x="6877840" y="6494489"/>
            <a:ext cx="10012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>
              <a:defRPr b="1" sz="1000">
                <a:solidFill>
                  <a:srgbClr val="808080"/>
                </a:solidFill>
              </a:defRPr>
            </a:lvl1pPr>
          </a:lstStyle>
          <a:p>
            <a:pPr/>
            <a:r>
              <a:t>29 July 2025</a:t>
            </a:r>
          </a:p>
        </p:txBody>
      </p:sp>
      <p:sp>
        <p:nvSpPr>
          <p:cNvPr id="644" name="Slide Number Placeholder 5"/>
          <p:cNvSpPr txBox="1"/>
          <p:nvPr>
            <p:ph type="sldNum" sz="quarter" idx="2"/>
          </p:nvPr>
        </p:nvSpPr>
        <p:spPr>
          <a:xfrm>
            <a:off x="8441397" y="6494489"/>
            <a:ext cx="245403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5" name="TextBox 6"/>
          <p:cNvSpPr txBox="1"/>
          <p:nvPr/>
        </p:nvSpPr>
        <p:spPr>
          <a:xfrm>
            <a:off x="502919" y="1828800"/>
            <a:ext cx="8138162" cy="1343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/>
            </a:pPr>
            <a:r>
              <a:t>Example:</a:t>
            </a:r>
            <a:r>
              <a:rPr b="0"/>
              <a:t> Let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{"/>
                    <m:endChr m:val="}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</m:d>
              </m:oMath>
            </a14:m>
            <a:r>
              <a:rPr b="0"/>
              <a:t>. </a:t>
            </a:r>
            <a:endParaRPr b="0"/>
          </a:p>
          <a:p>
            <a:pPr>
              <a:defRPr sz="2000"/>
            </a:pPr>
            <a:r>
              <a:t>Then the bit strings representation for the sets </a:t>
            </a:r>
            <a14:m>
              <m:oMath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5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 and     </a:t>
            </a:r>
            <a14:m>
              <m:oMath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5,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7,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9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  <a:r>
              <a:t> are 1111100000 and 1010101010.</a:t>
            </a:r>
          </a:p>
          <a:p>
            <a:pPr>
              <a:defRPr sz="2000"/>
            </a:pPr>
            <a:r>
              <a:t>Find the bit string representation for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sSu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sup>
                </m:sSu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endParaRPr sz="1833"/>
          </a:p>
        </p:txBody>
      </p:sp>
      <p:sp>
        <p:nvSpPr>
          <p:cNvPr id="646" name="TextBox 7"/>
          <p:cNvSpPr txBox="1"/>
          <p:nvPr/>
        </p:nvSpPr>
        <p:spPr>
          <a:xfrm>
            <a:off x="502919" y="3429000"/>
            <a:ext cx="8214362" cy="2795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/>
            </a:pPr>
            <a:r>
              <a:t>Solution: </a:t>
            </a:r>
          </a:p>
          <a:p>
            <a:pPr>
              <a:defRPr sz="2000"/>
            </a:pPr>
            <a:r>
              <a:t>Representation for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∪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rPr b="1"/>
              <a:t> = (</a:t>
            </a:r>
            <a:r>
              <a:t>1111100000)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∨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1010101010</m:t>
                </m:r>
              </m:oMath>
            </a14:m>
            <a:r>
              <a:rPr b="1"/>
              <a:t>)</a:t>
            </a:r>
            <a:endParaRPr b="1"/>
          </a:p>
          <a:p>
            <a:pPr>
              <a:defRPr b="1" sz="2000"/>
            </a:pPr>
            <a:r>
              <a:t>                                        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1111101010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  <a:p>
            <a:pPr>
              <a:defRPr b="1" sz="2000"/>
            </a:pPr>
          </a:p>
          <a:p>
            <a:pPr>
              <a:defRPr sz="2000"/>
            </a:pPr>
            <a:r>
              <a:t>Representation for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t> = (1111100000)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∧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1010101010</m:t>
                </m:r>
              </m:oMath>
            </a14:m>
            <a:r>
              <a:rPr b="1"/>
              <a:t>)  </a:t>
            </a:r>
            <a:endParaRPr b="1"/>
          </a:p>
          <a:p>
            <a:pPr>
              <a:defRPr b="1" sz="2000"/>
            </a:pPr>
            <a:r>
              <a:t>                                      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r>
              <a:t> </a:t>
            </a:r>
          </a:p>
          <a:p>
            <a:pPr>
              <a:defRPr b="1" sz="2000"/>
            </a:pPr>
            <a:r>
              <a:t>  </a:t>
            </a:r>
          </a:p>
          <a:p>
            <a:pPr>
              <a:defRPr sz="2000"/>
            </a:pPr>
            <a:r>
              <a:t>Representation for </a:t>
            </a:r>
            <a14:m>
              <m:oMath>
                <m:sSup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e>
                  <m:sup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sup>
                </m:sSup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𝑈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𝐴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1111111111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1111100000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endParaRPr b="1"/>
          </a:p>
          <a:p>
            <a:pPr>
              <a:defRPr b="1" sz="2000"/>
            </a:pPr>
            <a:r>
              <a:t>                                                 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0000011111.</m:t>
                </m:r>
              </m:oMath>
            </a14:m>
            <a:r>
              <a:rPr b="0"/>
              <a:t> </a:t>
            </a:r>
            <a:endParaRPr sz="1833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45" grpId="1"/>
      <p:bldP build="p" bldLvl="5" animBg="1" rev="0" advAuto="0" spid="646" grpId="2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